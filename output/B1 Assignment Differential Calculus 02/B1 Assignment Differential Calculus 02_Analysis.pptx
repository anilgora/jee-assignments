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 id="522" r:id="rId274"/>
    <p:sldId id="523" r:id="rId275"/>
    <p:sldId id="524" r:id="rId276"/>
    <p:sldId id="525" r:id="rId277"/>
    <p:sldId id="526" r:id="rId278"/>
    <p:sldId id="527" r:id="rId279"/>
    <p:sldId id="528" r:id="rId280"/>
    <p:sldId id="529" r:id="rId281"/>
    <p:sldId id="530" r:id="rId282"/>
    <p:sldId id="531" r:id="rId283"/>
    <p:sldId id="532" r:id="rId284"/>
    <p:sldId id="533" r:id="rId285"/>
    <p:sldId id="534" r:id="rId286"/>
    <p:sldId id="535" r:id="rId287"/>
    <p:sldId id="536" r:id="rId288"/>
    <p:sldId id="537" r:id="rId289"/>
    <p:sldId id="538" r:id="rId290"/>
    <p:sldId id="539" r:id="rId291"/>
    <p:sldId id="540" r:id="rId292"/>
    <p:sldId id="541" r:id="rId293"/>
    <p:sldId id="542" r:id="rId294"/>
    <p:sldId id="543" r:id="rId295"/>
    <p:sldId id="544" r:id="rId296"/>
    <p:sldId id="545" r:id="rId297"/>
    <p:sldId id="546" r:id="rId298"/>
    <p:sldId id="547" r:id="rId299"/>
    <p:sldId id="548" r:id="rId300"/>
    <p:sldId id="549" r:id="rId301"/>
    <p:sldId id="550" r:id="rId302"/>
    <p:sldId id="551" r:id="rId303"/>
    <p:sldId id="552" r:id="rId304"/>
    <p:sldId id="553" r:id="rId305"/>
    <p:sldId id="554" r:id="rId306"/>
    <p:sldId id="555" r:id="rId307"/>
    <p:sldId id="556" r:id="rId308"/>
    <p:sldId id="557" r:id="rId309"/>
    <p:sldId id="558" r:id="rId310"/>
    <p:sldId id="559" r:id="rId311"/>
    <p:sldId id="560" r:id="rId312"/>
    <p:sldId id="561" r:id="rId313"/>
    <p:sldId id="562" r:id="rId314"/>
    <p:sldId id="563" r:id="rId315"/>
    <p:sldId id="564" r:id="rId316"/>
    <p:sldId id="565" r:id="rId317"/>
    <p:sldId id="566" r:id="rId318"/>
    <p:sldId id="567" r:id="rId319"/>
    <p:sldId id="568" r:id="rId320"/>
    <p:sldId id="569" r:id="rId321"/>
    <p:sldId id="570" r:id="rId322"/>
    <p:sldId id="571" r:id="rId323"/>
    <p:sldId id="572" r:id="rId324"/>
    <p:sldId id="573" r:id="rId325"/>
    <p:sldId id="574" r:id="rId326"/>
    <p:sldId id="575" r:id="rId327"/>
    <p:sldId id="576" r:id="rId328"/>
    <p:sldId id="577" r:id="rId329"/>
    <p:sldId id="578" r:id="rId330"/>
    <p:sldId id="579" r:id="rId331"/>
    <p:sldId id="580" r:id="rId332"/>
    <p:sldId id="581" r:id="rId333"/>
    <p:sldId id="582" r:id="rId334"/>
    <p:sldId id="583" r:id="rId335"/>
    <p:sldId id="584" r:id="rId336"/>
    <p:sldId id="585" r:id="rId337"/>
    <p:sldId id="586" r:id="rId3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 Id="rId248" Type="http://schemas.openxmlformats.org/officeDocument/2006/relationships/slide" Target="slides/slide241.xml"/><Relationship Id="rId249" Type="http://schemas.openxmlformats.org/officeDocument/2006/relationships/slide" Target="slides/slide242.xml"/><Relationship Id="rId250" Type="http://schemas.openxmlformats.org/officeDocument/2006/relationships/slide" Target="slides/slide243.xml"/><Relationship Id="rId251" Type="http://schemas.openxmlformats.org/officeDocument/2006/relationships/slide" Target="slides/slide244.xml"/><Relationship Id="rId252" Type="http://schemas.openxmlformats.org/officeDocument/2006/relationships/slide" Target="slides/slide245.xml"/><Relationship Id="rId253" Type="http://schemas.openxmlformats.org/officeDocument/2006/relationships/slide" Target="slides/slide246.xml"/><Relationship Id="rId254" Type="http://schemas.openxmlformats.org/officeDocument/2006/relationships/slide" Target="slides/slide247.xml"/><Relationship Id="rId255" Type="http://schemas.openxmlformats.org/officeDocument/2006/relationships/slide" Target="slides/slide248.xml"/><Relationship Id="rId256" Type="http://schemas.openxmlformats.org/officeDocument/2006/relationships/slide" Target="slides/slide249.xml"/><Relationship Id="rId257" Type="http://schemas.openxmlformats.org/officeDocument/2006/relationships/slide" Target="slides/slide250.xml"/><Relationship Id="rId258" Type="http://schemas.openxmlformats.org/officeDocument/2006/relationships/slide" Target="slides/slide251.xml"/><Relationship Id="rId259" Type="http://schemas.openxmlformats.org/officeDocument/2006/relationships/slide" Target="slides/slide252.xml"/><Relationship Id="rId260" Type="http://schemas.openxmlformats.org/officeDocument/2006/relationships/slide" Target="slides/slide253.xml"/><Relationship Id="rId261" Type="http://schemas.openxmlformats.org/officeDocument/2006/relationships/slide" Target="slides/slide254.xml"/><Relationship Id="rId262" Type="http://schemas.openxmlformats.org/officeDocument/2006/relationships/slide" Target="slides/slide255.xml"/><Relationship Id="rId263" Type="http://schemas.openxmlformats.org/officeDocument/2006/relationships/slide" Target="slides/slide256.xml"/><Relationship Id="rId264" Type="http://schemas.openxmlformats.org/officeDocument/2006/relationships/slide" Target="slides/slide257.xml"/><Relationship Id="rId265" Type="http://schemas.openxmlformats.org/officeDocument/2006/relationships/slide" Target="slides/slide258.xml"/><Relationship Id="rId266" Type="http://schemas.openxmlformats.org/officeDocument/2006/relationships/slide" Target="slides/slide259.xml"/><Relationship Id="rId267" Type="http://schemas.openxmlformats.org/officeDocument/2006/relationships/slide" Target="slides/slide260.xml"/><Relationship Id="rId268" Type="http://schemas.openxmlformats.org/officeDocument/2006/relationships/slide" Target="slides/slide261.xml"/><Relationship Id="rId269" Type="http://schemas.openxmlformats.org/officeDocument/2006/relationships/slide" Target="slides/slide262.xml"/><Relationship Id="rId270" Type="http://schemas.openxmlformats.org/officeDocument/2006/relationships/slide" Target="slides/slide263.xml"/><Relationship Id="rId271" Type="http://schemas.openxmlformats.org/officeDocument/2006/relationships/slide" Target="slides/slide264.xml"/><Relationship Id="rId272" Type="http://schemas.openxmlformats.org/officeDocument/2006/relationships/slide" Target="slides/slide265.xml"/><Relationship Id="rId273" Type="http://schemas.openxmlformats.org/officeDocument/2006/relationships/slide" Target="slides/slide266.xml"/><Relationship Id="rId274" Type="http://schemas.openxmlformats.org/officeDocument/2006/relationships/slide" Target="slides/slide267.xml"/><Relationship Id="rId275" Type="http://schemas.openxmlformats.org/officeDocument/2006/relationships/slide" Target="slides/slide268.xml"/><Relationship Id="rId276" Type="http://schemas.openxmlformats.org/officeDocument/2006/relationships/slide" Target="slides/slide269.xml"/><Relationship Id="rId277" Type="http://schemas.openxmlformats.org/officeDocument/2006/relationships/slide" Target="slides/slide270.xml"/><Relationship Id="rId278" Type="http://schemas.openxmlformats.org/officeDocument/2006/relationships/slide" Target="slides/slide271.xml"/><Relationship Id="rId279" Type="http://schemas.openxmlformats.org/officeDocument/2006/relationships/slide" Target="slides/slide272.xml"/><Relationship Id="rId280" Type="http://schemas.openxmlformats.org/officeDocument/2006/relationships/slide" Target="slides/slide273.xml"/><Relationship Id="rId281" Type="http://schemas.openxmlformats.org/officeDocument/2006/relationships/slide" Target="slides/slide274.xml"/><Relationship Id="rId282" Type="http://schemas.openxmlformats.org/officeDocument/2006/relationships/slide" Target="slides/slide275.xml"/><Relationship Id="rId283" Type="http://schemas.openxmlformats.org/officeDocument/2006/relationships/slide" Target="slides/slide276.xml"/><Relationship Id="rId284" Type="http://schemas.openxmlformats.org/officeDocument/2006/relationships/slide" Target="slides/slide277.xml"/><Relationship Id="rId285" Type="http://schemas.openxmlformats.org/officeDocument/2006/relationships/slide" Target="slides/slide278.xml"/><Relationship Id="rId286" Type="http://schemas.openxmlformats.org/officeDocument/2006/relationships/slide" Target="slides/slide279.xml"/><Relationship Id="rId287" Type="http://schemas.openxmlformats.org/officeDocument/2006/relationships/slide" Target="slides/slide280.xml"/><Relationship Id="rId288" Type="http://schemas.openxmlformats.org/officeDocument/2006/relationships/slide" Target="slides/slide281.xml"/><Relationship Id="rId289" Type="http://schemas.openxmlformats.org/officeDocument/2006/relationships/slide" Target="slides/slide282.xml"/><Relationship Id="rId290" Type="http://schemas.openxmlformats.org/officeDocument/2006/relationships/slide" Target="slides/slide283.xml"/><Relationship Id="rId291" Type="http://schemas.openxmlformats.org/officeDocument/2006/relationships/slide" Target="slides/slide284.xml"/><Relationship Id="rId292" Type="http://schemas.openxmlformats.org/officeDocument/2006/relationships/slide" Target="slides/slide285.xml"/><Relationship Id="rId293" Type="http://schemas.openxmlformats.org/officeDocument/2006/relationships/slide" Target="slides/slide286.xml"/><Relationship Id="rId294" Type="http://schemas.openxmlformats.org/officeDocument/2006/relationships/slide" Target="slides/slide287.xml"/><Relationship Id="rId295" Type="http://schemas.openxmlformats.org/officeDocument/2006/relationships/slide" Target="slides/slide288.xml"/><Relationship Id="rId296" Type="http://schemas.openxmlformats.org/officeDocument/2006/relationships/slide" Target="slides/slide289.xml"/><Relationship Id="rId297" Type="http://schemas.openxmlformats.org/officeDocument/2006/relationships/slide" Target="slides/slide290.xml"/><Relationship Id="rId298" Type="http://schemas.openxmlformats.org/officeDocument/2006/relationships/slide" Target="slides/slide291.xml"/><Relationship Id="rId299" Type="http://schemas.openxmlformats.org/officeDocument/2006/relationships/slide" Target="slides/slide292.xml"/><Relationship Id="rId300" Type="http://schemas.openxmlformats.org/officeDocument/2006/relationships/slide" Target="slides/slide293.xml"/><Relationship Id="rId301" Type="http://schemas.openxmlformats.org/officeDocument/2006/relationships/slide" Target="slides/slide294.xml"/><Relationship Id="rId302" Type="http://schemas.openxmlformats.org/officeDocument/2006/relationships/slide" Target="slides/slide295.xml"/><Relationship Id="rId303" Type="http://schemas.openxmlformats.org/officeDocument/2006/relationships/slide" Target="slides/slide296.xml"/><Relationship Id="rId304" Type="http://schemas.openxmlformats.org/officeDocument/2006/relationships/slide" Target="slides/slide297.xml"/><Relationship Id="rId305" Type="http://schemas.openxmlformats.org/officeDocument/2006/relationships/slide" Target="slides/slide298.xml"/><Relationship Id="rId306" Type="http://schemas.openxmlformats.org/officeDocument/2006/relationships/slide" Target="slides/slide299.xml"/><Relationship Id="rId307" Type="http://schemas.openxmlformats.org/officeDocument/2006/relationships/slide" Target="slides/slide300.xml"/><Relationship Id="rId308" Type="http://schemas.openxmlformats.org/officeDocument/2006/relationships/slide" Target="slides/slide301.xml"/><Relationship Id="rId309" Type="http://schemas.openxmlformats.org/officeDocument/2006/relationships/slide" Target="slides/slide302.xml"/><Relationship Id="rId310" Type="http://schemas.openxmlformats.org/officeDocument/2006/relationships/slide" Target="slides/slide303.xml"/><Relationship Id="rId311" Type="http://schemas.openxmlformats.org/officeDocument/2006/relationships/slide" Target="slides/slide304.xml"/><Relationship Id="rId312" Type="http://schemas.openxmlformats.org/officeDocument/2006/relationships/slide" Target="slides/slide305.xml"/><Relationship Id="rId313" Type="http://schemas.openxmlformats.org/officeDocument/2006/relationships/slide" Target="slides/slide306.xml"/><Relationship Id="rId314" Type="http://schemas.openxmlformats.org/officeDocument/2006/relationships/slide" Target="slides/slide307.xml"/><Relationship Id="rId315" Type="http://schemas.openxmlformats.org/officeDocument/2006/relationships/slide" Target="slides/slide308.xml"/><Relationship Id="rId316" Type="http://schemas.openxmlformats.org/officeDocument/2006/relationships/slide" Target="slides/slide309.xml"/><Relationship Id="rId317" Type="http://schemas.openxmlformats.org/officeDocument/2006/relationships/slide" Target="slides/slide310.xml"/><Relationship Id="rId318" Type="http://schemas.openxmlformats.org/officeDocument/2006/relationships/slide" Target="slides/slide311.xml"/><Relationship Id="rId319" Type="http://schemas.openxmlformats.org/officeDocument/2006/relationships/slide" Target="slides/slide312.xml"/><Relationship Id="rId320" Type="http://schemas.openxmlformats.org/officeDocument/2006/relationships/slide" Target="slides/slide313.xml"/><Relationship Id="rId321" Type="http://schemas.openxmlformats.org/officeDocument/2006/relationships/slide" Target="slides/slide314.xml"/><Relationship Id="rId322" Type="http://schemas.openxmlformats.org/officeDocument/2006/relationships/slide" Target="slides/slide315.xml"/><Relationship Id="rId323" Type="http://schemas.openxmlformats.org/officeDocument/2006/relationships/slide" Target="slides/slide316.xml"/><Relationship Id="rId324" Type="http://schemas.openxmlformats.org/officeDocument/2006/relationships/slide" Target="slides/slide317.xml"/><Relationship Id="rId325" Type="http://schemas.openxmlformats.org/officeDocument/2006/relationships/slide" Target="slides/slide318.xml"/><Relationship Id="rId326" Type="http://schemas.openxmlformats.org/officeDocument/2006/relationships/slide" Target="slides/slide319.xml"/><Relationship Id="rId327" Type="http://schemas.openxmlformats.org/officeDocument/2006/relationships/slide" Target="slides/slide320.xml"/><Relationship Id="rId328" Type="http://schemas.openxmlformats.org/officeDocument/2006/relationships/slide" Target="slides/slide321.xml"/><Relationship Id="rId329" Type="http://schemas.openxmlformats.org/officeDocument/2006/relationships/slide" Target="slides/slide322.xml"/><Relationship Id="rId330" Type="http://schemas.openxmlformats.org/officeDocument/2006/relationships/slide" Target="slides/slide323.xml"/><Relationship Id="rId331" Type="http://schemas.openxmlformats.org/officeDocument/2006/relationships/slide" Target="slides/slide324.xml"/><Relationship Id="rId332" Type="http://schemas.openxmlformats.org/officeDocument/2006/relationships/slide" Target="slides/slide325.xml"/><Relationship Id="rId333" Type="http://schemas.openxmlformats.org/officeDocument/2006/relationships/slide" Target="slides/slide326.xml"/><Relationship Id="rId334" Type="http://schemas.openxmlformats.org/officeDocument/2006/relationships/slide" Target="slides/slide327.xml"/><Relationship Id="rId335" Type="http://schemas.openxmlformats.org/officeDocument/2006/relationships/slide" Target="slides/slide328.xml"/><Relationship Id="rId336" Type="http://schemas.openxmlformats.org/officeDocument/2006/relationships/slide" Target="slides/slide329.xml"/><Relationship Id="rId337" Type="http://schemas.openxmlformats.org/officeDocument/2006/relationships/slide" Target="slides/slide330.xml"/><Relationship Id="rId338" Type="http://schemas.openxmlformats.org/officeDocument/2006/relationships/slide" Target="slides/slide33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Level</c:v>
                </c:pt>
              </c:strCache>
            </c:strRef>
          </c:tx>
          <c:dPt>
            <c:idx val="0"/>
            <c:spPr>
              <a:solidFill>
                <a:srgbClr val="93C47D"/>
              </a:solidFill>
              <a:ln w="9525">
                <a:solidFill>
                  <a:srgbClr val="111827"/>
                </a:solidFill>
              </a:ln>
            </c:spPr>
          </c:dPt>
          <c:dPt>
            <c:idx val="1"/>
            <c:spPr>
              <a:solidFill>
                <a:srgbClr val="B6D7A8"/>
              </a:solidFill>
              <a:ln w="9525">
                <a:solidFill>
                  <a:srgbClr val="111827"/>
                </a:solidFill>
              </a:ln>
            </c:spPr>
          </c:dPt>
          <c:dPt>
            <c:idx val="2"/>
            <c:spPr>
              <a:solidFill>
                <a:srgbClr val="B6D7A8"/>
              </a:solidFill>
              <a:ln w="9525">
                <a:solidFill>
                  <a:srgbClr val="111827"/>
                </a:solidFill>
              </a:ln>
            </c:spPr>
          </c:dPt>
          <c:dPt>
            <c:idx val="3"/>
            <c:spPr>
              <a:solidFill>
                <a:srgbClr val="FFD966"/>
              </a:solidFill>
              <a:ln w="9525">
                <a:solidFill>
                  <a:srgbClr val="111827"/>
                </a:solidFill>
              </a:ln>
            </c:spPr>
          </c:dPt>
          <c:dPt>
            <c:idx val="4"/>
            <c:spPr>
              <a:solidFill>
                <a:srgbClr val="F6B26B"/>
              </a:solidFill>
              <a:ln w="9525">
                <a:solidFill>
                  <a:srgbClr val="111827"/>
                </a:solidFill>
              </a:ln>
            </c:spPr>
          </c:dPt>
          <c:dPt>
            <c:idx val="5"/>
            <c:spPr>
              <a:solidFill>
                <a:srgbClr val="B6D7A8"/>
              </a:solidFill>
              <a:ln w="9525">
                <a:solidFill>
                  <a:srgbClr val="111827"/>
                </a:solidFill>
              </a:ln>
            </c:spPr>
          </c:dPt>
          <c:dPt>
            <c:idx val="6"/>
            <c:spPr>
              <a:solidFill>
                <a:srgbClr val="B6D7A8"/>
              </a:solidFill>
              <a:ln w="9525">
                <a:solidFill>
                  <a:srgbClr val="111827"/>
                </a:solidFill>
              </a:ln>
            </c:spPr>
          </c:dPt>
          <c:dPt>
            <c:idx val="7"/>
            <c:spPr>
              <a:solidFill>
                <a:srgbClr val="B6D7A8"/>
              </a:solidFill>
              <a:ln w="9525">
                <a:solidFill>
                  <a:srgbClr val="111827"/>
                </a:solidFill>
              </a:ln>
            </c:spPr>
          </c:dPt>
          <c:dPt>
            <c:idx val="8"/>
            <c:spPr>
              <a:solidFill>
                <a:srgbClr val="B6D7A8"/>
              </a:solidFill>
              <a:ln w="9525">
                <a:solidFill>
                  <a:srgbClr val="111827"/>
                </a:solidFill>
              </a:ln>
            </c:spPr>
          </c:dPt>
          <c:dPt>
            <c:idx val="9"/>
            <c:spPr>
              <a:solidFill>
                <a:srgbClr val="F6B26B"/>
              </a:solidFill>
              <a:ln w="9525">
                <a:solidFill>
                  <a:srgbClr val="111827"/>
                </a:solidFill>
              </a:ln>
            </c:spPr>
          </c:dPt>
          <c:dPt>
            <c:idx val="10"/>
            <c:spPr>
              <a:solidFill>
                <a:srgbClr val="FFD966"/>
              </a:solidFill>
              <a:ln w="9525">
                <a:solidFill>
                  <a:srgbClr val="111827"/>
                </a:solidFill>
              </a:ln>
            </c:spPr>
          </c:dPt>
          <c:dPt>
            <c:idx val="11"/>
            <c:spPr>
              <a:solidFill>
                <a:srgbClr val="F6B26B"/>
              </a:solidFill>
              <a:ln w="9525">
                <a:solidFill>
                  <a:srgbClr val="111827"/>
                </a:solidFill>
              </a:ln>
            </c:spPr>
          </c:dPt>
          <c:dPt>
            <c:idx val="12"/>
            <c:spPr>
              <a:solidFill>
                <a:srgbClr val="FFD966"/>
              </a:solidFill>
              <a:ln w="9525">
                <a:solidFill>
                  <a:srgbClr val="111827"/>
                </a:solidFill>
              </a:ln>
            </c:spPr>
          </c:dPt>
          <c:dPt>
            <c:idx val="13"/>
            <c:spPr>
              <a:solidFill>
                <a:srgbClr val="FFD966"/>
              </a:solidFill>
              <a:ln w="9525">
                <a:solidFill>
                  <a:srgbClr val="111827"/>
                </a:solidFill>
              </a:ln>
            </c:spPr>
          </c:dPt>
          <c:dPt>
            <c:idx val="14"/>
            <c:spPr>
              <a:solidFill>
                <a:srgbClr val="FFD966"/>
              </a:solidFill>
              <a:ln w="9525">
                <a:solidFill>
                  <a:srgbClr val="111827"/>
                </a:solidFill>
              </a:ln>
            </c:spPr>
          </c:dPt>
          <c:dPt>
            <c:idx val="15"/>
            <c:spPr>
              <a:solidFill>
                <a:srgbClr val="F6B26B"/>
              </a:solidFill>
              <a:ln w="9525">
                <a:solidFill>
                  <a:srgbClr val="111827"/>
                </a:solidFill>
              </a:ln>
            </c:spPr>
          </c:dPt>
          <c:dPt>
            <c:idx val="16"/>
            <c:spPr>
              <a:solidFill>
                <a:srgbClr val="F6B26B"/>
              </a:solidFill>
              <a:ln w="9525">
                <a:solidFill>
                  <a:srgbClr val="111827"/>
                </a:solidFill>
              </a:ln>
            </c:spPr>
          </c:dPt>
          <c:dPt>
            <c:idx val="17"/>
            <c:spPr>
              <a:solidFill>
                <a:srgbClr val="B6D7A8"/>
              </a:solidFill>
              <a:ln w="9525">
                <a:solidFill>
                  <a:srgbClr val="111827"/>
                </a:solidFill>
              </a:ln>
            </c:spPr>
          </c:dPt>
          <c:dPt>
            <c:idx val="18"/>
            <c:spPr>
              <a:solidFill>
                <a:srgbClr val="FFD966"/>
              </a:solidFill>
              <a:ln w="9525">
                <a:solidFill>
                  <a:srgbClr val="111827"/>
                </a:solidFill>
              </a:ln>
            </c:spPr>
          </c:dPt>
          <c:dPt>
            <c:idx val="19"/>
            <c:spPr>
              <a:solidFill>
                <a:srgbClr val="FFD966"/>
              </a:solidFill>
              <a:ln w="9525">
                <a:solidFill>
                  <a:srgbClr val="111827"/>
                </a:solidFill>
              </a:ln>
            </c:spPr>
          </c:dPt>
          <c:dPt>
            <c:idx val="20"/>
            <c:spPr>
              <a:solidFill>
                <a:srgbClr val="FFD966"/>
              </a:solidFill>
              <a:ln w="9525">
                <a:solidFill>
                  <a:srgbClr val="111827"/>
                </a:solidFill>
              </a:ln>
            </c:spPr>
          </c:dPt>
          <c:dPt>
            <c:idx val="21"/>
            <c:spPr>
              <a:solidFill>
                <a:srgbClr val="B6D7A8"/>
              </a:solidFill>
              <a:ln w="9525">
                <a:solidFill>
                  <a:srgbClr val="111827"/>
                </a:solidFill>
              </a:ln>
            </c:spPr>
          </c:dPt>
          <c:dPt>
            <c:idx val="22"/>
            <c:spPr>
              <a:solidFill>
                <a:srgbClr val="F6B26B"/>
              </a:solidFill>
              <a:ln w="9525">
                <a:solidFill>
                  <a:srgbClr val="111827"/>
                </a:solidFill>
              </a:ln>
            </c:spPr>
          </c:dPt>
          <c:dPt>
            <c:idx val="23"/>
            <c:spPr>
              <a:solidFill>
                <a:srgbClr val="F6B26B"/>
              </a:solidFill>
              <a:ln w="9525">
                <a:solidFill>
                  <a:srgbClr val="111827"/>
                </a:solidFill>
              </a:ln>
            </c:spPr>
          </c:dPt>
          <c:dPt>
            <c:idx val="24"/>
            <c:spPr>
              <a:solidFill>
                <a:srgbClr val="F6B26B"/>
              </a:solidFill>
              <a:ln w="9525">
                <a:solidFill>
                  <a:srgbClr val="111827"/>
                </a:solidFill>
              </a:ln>
            </c:spPr>
          </c:dPt>
          <c:dPt>
            <c:idx val="25"/>
            <c:spPr>
              <a:solidFill>
                <a:srgbClr val="FFD966"/>
              </a:solidFill>
              <a:ln w="9525">
                <a:solidFill>
                  <a:srgbClr val="111827"/>
                </a:solidFill>
              </a:ln>
            </c:spPr>
          </c:dPt>
          <c:dPt>
            <c:idx val="26"/>
            <c:spPr>
              <a:solidFill>
                <a:srgbClr val="FFD966"/>
              </a:solidFill>
              <a:ln w="9525">
                <a:solidFill>
                  <a:srgbClr val="111827"/>
                </a:solidFill>
              </a:ln>
            </c:spPr>
          </c:dPt>
          <c:dPt>
            <c:idx val="27"/>
            <c:spPr>
              <a:solidFill>
                <a:srgbClr val="E88080"/>
              </a:solidFill>
              <a:ln w="9525">
                <a:solidFill>
                  <a:srgbClr val="111827"/>
                </a:solidFill>
              </a:ln>
            </c:spPr>
          </c:dPt>
          <c:dPt>
            <c:idx val="28"/>
            <c:spPr>
              <a:solidFill>
                <a:srgbClr val="F6B26B"/>
              </a:solidFill>
              <a:ln w="9525">
                <a:solidFill>
                  <a:srgbClr val="111827"/>
                </a:solidFill>
              </a:ln>
            </c:spPr>
          </c:dPt>
          <c:dPt>
            <c:idx val="29"/>
            <c:spPr>
              <a:solidFill>
                <a:srgbClr val="E88080"/>
              </a:solidFill>
              <a:ln w="9525">
                <a:solidFill>
                  <a:srgbClr val="111827"/>
                </a:solidFill>
              </a:ln>
            </c:spPr>
          </c:dPt>
          <c:dPt>
            <c:idx val="30"/>
            <c:spPr>
              <a:solidFill>
                <a:srgbClr val="FFD966"/>
              </a:solidFill>
              <a:ln w="9525">
                <a:solidFill>
                  <a:srgbClr val="111827"/>
                </a:solidFill>
              </a:ln>
            </c:spPr>
          </c:dPt>
          <c:dPt>
            <c:idx val="31"/>
            <c:spPr>
              <a:solidFill>
                <a:srgbClr val="F6B26B"/>
              </a:solidFill>
              <a:ln w="9525">
                <a:solidFill>
                  <a:srgbClr val="111827"/>
                </a:solidFill>
              </a:ln>
            </c:spPr>
          </c:dPt>
          <c:dPt>
            <c:idx val="32"/>
            <c:spPr>
              <a:solidFill>
                <a:srgbClr val="FFD966"/>
              </a:solidFill>
              <a:ln w="9525">
                <a:solidFill>
                  <a:srgbClr val="111827"/>
                </a:solidFill>
              </a:ln>
            </c:spPr>
          </c:dPt>
          <c:dPt>
            <c:idx val="33"/>
            <c:spPr>
              <a:solidFill>
                <a:srgbClr val="E88080"/>
              </a:solidFill>
              <a:ln w="9525">
                <a:solidFill>
                  <a:srgbClr val="111827"/>
                </a:solidFill>
              </a:ln>
            </c:spPr>
          </c:dPt>
          <c:dPt>
            <c:idx val="34"/>
            <c:spPr>
              <a:solidFill>
                <a:srgbClr val="FFD966"/>
              </a:solidFill>
              <a:ln w="9525">
                <a:solidFill>
                  <a:srgbClr val="111827"/>
                </a:solidFill>
              </a:ln>
            </c:spPr>
          </c:dPt>
          <c:dPt>
            <c:idx val="35"/>
            <c:spPr>
              <a:solidFill>
                <a:srgbClr val="FFD966"/>
              </a:solidFill>
              <a:ln w="9525">
                <a:solidFill>
                  <a:srgbClr val="111827"/>
                </a:solidFill>
              </a:ln>
            </c:spPr>
          </c:dPt>
          <c:dPt>
            <c:idx val="36"/>
            <c:spPr>
              <a:solidFill>
                <a:srgbClr val="FFD966"/>
              </a:solidFill>
              <a:ln w="9525">
                <a:solidFill>
                  <a:srgbClr val="111827"/>
                </a:solidFill>
              </a:ln>
            </c:spPr>
          </c:dPt>
          <c:dPt>
            <c:idx val="37"/>
            <c:spPr>
              <a:solidFill>
                <a:srgbClr val="F6B26B"/>
              </a:solidFill>
              <a:ln w="9525">
                <a:solidFill>
                  <a:srgbClr val="111827"/>
                </a:solidFill>
              </a:ln>
            </c:spPr>
          </c:dPt>
          <c:dPt>
            <c:idx val="38"/>
            <c:spPr>
              <a:solidFill>
                <a:srgbClr val="F6B26B"/>
              </a:solidFill>
              <a:ln w="9525">
                <a:solidFill>
                  <a:srgbClr val="111827"/>
                </a:solidFill>
              </a:ln>
            </c:spPr>
          </c:dPt>
          <c:dPt>
            <c:idx val="39"/>
            <c:spPr>
              <a:solidFill>
                <a:srgbClr val="F6B26B"/>
              </a:solidFill>
              <a:ln w="9525">
                <a:solidFill>
                  <a:srgbClr val="111827"/>
                </a:solidFill>
              </a:ln>
            </c:spPr>
          </c:dPt>
          <c:dPt>
            <c:idx val="40"/>
            <c:spPr>
              <a:solidFill>
                <a:srgbClr val="E88080"/>
              </a:solidFill>
              <a:ln w="9525">
                <a:solidFill>
                  <a:srgbClr val="111827"/>
                </a:solidFill>
              </a:ln>
            </c:spPr>
          </c:dPt>
          <c:dPt>
            <c:idx val="41"/>
            <c:spPr>
              <a:solidFill>
                <a:srgbClr val="FFD966"/>
              </a:solidFill>
              <a:ln w="9525">
                <a:solidFill>
                  <a:srgbClr val="111827"/>
                </a:solidFill>
              </a:ln>
            </c:spPr>
          </c:dPt>
          <c:dPt>
            <c:idx val="42"/>
            <c:spPr>
              <a:solidFill>
                <a:srgbClr val="F6B26B"/>
              </a:solidFill>
              <a:ln w="9525">
                <a:solidFill>
                  <a:srgbClr val="111827"/>
                </a:solidFill>
              </a:ln>
            </c:spPr>
          </c:dPt>
          <c:dPt>
            <c:idx val="43"/>
            <c:spPr>
              <a:solidFill>
                <a:srgbClr val="F6B26B"/>
              </a:solidFill>
              <a:ln w="9525">
                <a:solidFill>
                  <a:srgbClr val="111827"/>
                </a:solidFill>
              </a:ln>
            </c:spPr>
          </c:dPt>
          <c:dPt>
            <c:idx val="44"/>
            <c:spPr>
              <a:solidFill>
                <a:srgbClr val="F6B26B"/>
              </a:solidFill>
              <a:ln w="9525">
                <a:solidFill>
                  <a:srgbClr val="111827"/>
                </a:solidFill>
              </a:ln>
            </c:spPr>
          </c:dPt>
          <c:dPt>
            <c:idx val="45"/>
            <c:spPr>
              <a:solidFill>
                <a:srgbClr val="FFD966"/>
              </a:solidFill>
              <a:ln w="9525">
                <a:solidFill>
                  <a:srgbClr val="111827"/>
                </a:solidFill>
              </a:ln>
            </c:spPr>
          </c:dPt>
          <c:dPt>
            <c:idx val="46"/>
            <c:spPr>
              <a:solidFill>
                <a:srgbClr val="F6B26B"/>
              </a:solidFill>
              <a:ln w="9525">
                <a:solidFill>
                  <a:srgbClr val="111827"/>
                </a:solidFill>
              </a:ln>
            </c:spPr>
          </c:dPt>
          <c:dPt>
            <c:idx val="47"/>
            <c:spPr>
              <a:solidFill>
                <a:srgbClr val="E88080"/>
              </a:solidFill>
              <a:ln w="9525">
                <a:solidFill>
                  <a:srgbClr val="111827"/>
                </a:solidFill>
              </a:ln>
            </c:spPr>
          </c:dPt>
          <c:dPt>
            <c:idx val="48"/>
            <c:spPr>
              <a:solidFill>
                <a:srgbClr val="FFD966"/>
              </a:solidFill>
              <a:ln w="9525">
                <a:solidFill>
                  <a:srgbClr val="111827"/>
                </a:solidFill>
              </a:ln>
            </c:spPr>
          </c:dPt>
          <c:dPt>
            <c:idx val="49"/>
            <c:spPr>
              <a:solidFill>
                <a:srgbClr val="FFD966"/>
              </a:solidFill>
              <a:ln w="9525">
                <a:solidFill>
                  <a:srgbClr val="111827"/>
                </a:solidFill>
              </a:ln>
            </c:spPr>
          </c:dPt>
          <c:dPt>
            <c:idx val="50"/>
            <c:spPr>
              <a:solidFill>
                <a:srgbClr val="FFD966"/>
              </a:solidFill>
              <a:ln w="9525">
                <a:solidFill>
                  <a:srgbClr val="111827"/>
                </a:solidFill>
              </a:ln>
            </c:spPr>
          </c:dPt>
          <c:cat>
            <c:strRef>
              <c:f>Sheet1!$A$2:$A$52</c:f>
              <c:strCache>
                <c:ptCount val="51"/>
                <c:pt idx="0">
                  <c:v>Q1</c:v>
                </c:pt>
                <c:pt idx="1">
                  <c:v>Q2</c:v>
                </c:pt>
                <c:pt idx="2">
                  <c:v>Q3</c:v>
                </c:pt>
                <c:pt idx="3">
                  <c:v>Q4</c:v>
                </c:pt>
                <c:pt idx="4">
                  <c:v>Q5</c:v>
                </c:pt>
                <c:pt idx="5">
                  <c:v>Q6</c:v>
                </c:pt>
                <c:pt idx="6">
                  <c:v>Q7</c:v>
                </c:pt>
                <c:pt idx="7">
                  <c:v>Q8</c:v>
                </c:pt>
                <c:pt idx="8">
                  <c:v>Q9</c:v>
                </c:pt>
                <c:pt idx="9">
                  <c:v>Q10</c:v>
                </c:pt>
                <c:pt idx="10">
                  <c:v>Q11</c:v>
                </c:pt>
                <c:pt idx="11">
                  <c:v>Q12</c:v>
                </c:pt>
                <c:pt idx="12">
                  <c:v>Q13</c:v>
                </c:pt>
                <c:pt idx="13">
                  <c:v>Q14</c:v>
                </c:pt>
                <c:pt idx="14">
                  <c:v>Q15</c:v>
                </c:pt>
                <c:pt idx="15">
                  <c:v>Q16</c:v>
                </c:pt>
                <c:pt idx="16">
                  <c:v>Q17</c:v>
                </c:pt>
                <c:pt idx="17">
                  <c:v>Q18</c:v>
                </c:pt>
                <c:pt idx="18">
                  <c:v>Q19</c:v>
                </c:pt>
                <c:pt idx="19">
                  <c:v>Q20</c:v>
                </c:pt>
                <c:pt idx="20">
                  <c:v>Q21</c:v>
                </c:pt>
                <c:pt idx="21">
                  <c:v>Q22</c:v>
                </c:pt>
                <c:pt idx="22">
                  <c:v>Q23</c:v>
                </c:pt>
                <c:pt idx="23">
                  <c:v>Q24</c:v>
                </c:pt>
                <c:pt idx="24">
                  <c:v>Q25</c:v>
                </c:pt>
                <c:pt idx="25">
                  <c:v>Q26</c:v>
                </c:pt>
                <c:pt idx="26">
                  <c:v>Q27</c:v>
                </c:pt>
                <c:pt idx="27">
                  <c:v>Q28</c:v>
                </c:pt>
                <c:pt idx="28">
                  <c:v>Q29</c:v>
                </c:pt>
                <c:pt idx="29">
                  <c:v>Q30</c:v>
                </c:pt>
                <c:pt idx="30">
                  <c:v>Q31</c:v>
                </c:pt>
                <c:pt idx="31">
                  <c:v>Q32</c:v>
                </c:pt>
                <c:pt idx="32">
                  <c:v>Q33</c:v>
                </c:pt>
                <c:pt idx="33">
                  <c:v>Q34</c:v>
                </c:pt>
                <c:pt idx="34">
                  <c:v>Q35</c:v>
                </c:pt>
                <c:pt idx="35">
                  <c:v>Q36</c:v>
                </c:pt>
                <c:pt idx="36">
                  <c:v>Q37</c:v>
                </c:pt>
                <c:pt idx="37">
                  <c:v>Q38</c:v>
                </c:pt>
                <c:pt idx="38">
                  <c:v>Q39</c:v>
                </c:pt>
                <c:pt idx="39">
                  <c:v>Q40</c:v>
                </c:pt>
                <c:pt idx="40">
                  <c:v>Q41</c:v>
                </c:pt>
                <c:pt idx="41">
                  <c:v>Q42</c:v>
                </c:pt>
                <c:pt idx="42">
                  <c:v>Q43</c:v>
                </c:pt>
                <c:pt idx="43">
                  <c:v>Q44</c:v>
                </c:pt>
                <c:pt idx="44">
                  <c:v>Q45</c:v>
                </c:pt>
                <c:pt idx="45">
                  <c:v>Q46</c:v>
                </c:pt>
                <c:pt idx="46">
                  <c:v>Q47</c:v>
                </c:pt>
                <c:pt idx="47">
                  <c:v>Q48</c:v>
                </c:pt>
                <c:pt idx="48">
                  <c:v>Q49</c:v>
                </c:pt>
                <c:pt idx="49">
                  <c:v>Q50</c:v>
                </c:pt>
                <c:pt idx="50">
                  <c:v>Q51</c:v>
                </c:pt>
              </c:strCache>
            </c:strRef>
          </c:cat>
          <c:val>
            <c:numRef>
              <c:f>Sheet1!$B$2:$B$52</c:f>
              <c:numCache>
                <c:formatCode>General</c:formatCode>
                <c:ptCount val="51"/>
                <c:pt idx="0">
                  <c:v>0.0</c:v>
                </c:pt>
                <c:pt idx="1">
                  <c:v>1.0</c:v>
                </c:pt>
                <c:pt idx="2">
                  <c:v>1.0</c:v>
                </c:pt>
                <c:pt idx="3">
                  <c:v>2.0</c:v>
                </c:pt>
                <c:pt idx="4">
                  <c:v>3.0</c:v>
                </c:pt>
                <c:pt idx="5">
                  <c:v>1.0</c:v>
                </c:pt>
                <c:pt idx="6">
                  <c:v>1.0</c:v>
                </c:pt>
                <c:pt idx="7">
                  <c:v>1.0</c:v>
                </c:pt>
                <c:pt idx="8">
                  <c:v>1.0</c:v>
                </c:pt>
                <c:pt idx="9">
                  <c:v>3.0</c:v>
                </c:pt>
                <c:pt idx="10">
                  <c:v>2.0</c:v>
                </c:pt>
                <c:pt idx="11">
                  <c:v>3.0</c:v>
                </c:pt>
                <c:pt idx="12">
                  <c:v>2.0</c:v>
                </c:pt>
                <c:pt idx="13">
                  <c:v>2.0</c:v>
                </c:pt>
                <c:pt idx="14">
                  <c:v>2.0</c:v>
                </c:pt>
                <c:pt idx="15">
                  <c:v>3.0</c:v>
                </c:pt>
                <c:pt idx="16">
                  <c:v>3.0</c:v>
                </c:pt>
                <c:pt idx="17">
                  <c:v>1.0</c:v>
                </c:pt>
                <c:pt idx="18">
                  <c:v>2.0</c:v>
                </c:pt>
                <c:pt idx="19">
                  <c:v>2.0</c:v>
                </c:pt>
                <c:pt idx="20">
                  <c:v>2.5</c:v>
                </c:pt>
                <c:pt idx="21">
                  <c:v>1.0</c:v>
                </c:pt>
                <c:pt idx="22">
                  <c:v>3.0</c:v>
                </c:pt>
                <c:pt idx="23">
                  <c:v>3.0</c:v>
                </c:pt>
                <c:pt idx="24">
                  <c:v>3.0</c:v>
                </c:pt>
                <c:pt idx="25">
                  <c:v>2.0</c:v>
                </c:pt>
                <c:pt idx="26">
                  <c:v>2.0</c:v>
                </c:pt>
                <c:pt idx="27">
                  <c:v>4.0</c:v>
                </c:pt>
                <c:pt idx="28">
                  <c:v>3.0</c:v>
                </c:pt>
                <c:pt idx="29">
                  <c:v>4.0</c:v>
                </c:pt>
                <c:pt idx="30">
                  <c:v>2.0</c:v>
                </c:pt>
                <c:pt idx="31">
                  <c:v>3.0</c:v>
                </c:pt>
                <c:pt idx="32">
                  <c:v>2.0</c:v>
                </c:pt>
                <c:pt idx="33">
                  <c:v>4.0</c:v>
                </c:pt>
                <c:pt idx="34">
                  <c:v>2.0</c:v>
                </c:pt>
                <c:pt idx="35">
                  <c:v>2.0</c:v>
                </c:pt>
                <c:pt idx="36">
                  <c:v>2.0</c:v>
                </c:pt>
                <c:pt idx="37">
                  <c:v>3.0</c:v>
                </c:pt>
                <c:pt idx="38">
                  <c:v>3.0</c:v>
                </c:pt>
                <c:pt idx="39">
                  <c:v>3.0</c:v>
                </c:pt>
                <c:pt idx="40">
                  <c:v>4.0</c:v>
                </c:pt>
                <c:pt idx="41">
                  <c:v>2.0</c:v>
                </c:pt>
                <c:pt idx="42">
                  <c:v>3.0</c:v>
                </c:pt>
                <c:pt idx="43">
                  <c:v>3.0</c:v>
                </c:pt>
                <c:pt idx="44">
                  <c:v>3.0</c:v>
                </c:pt>
                <c:pt idx="45">
                  <c:v>2.0</c:v>
                </c:pt>
                <c:pt idx="46">
                  <c:v>3.0</c:v>
                </c:pt>
                <c:pt idx="47">
                  <c:v>4.0</c:v>
                </c:pt>
                <c:pt idx="48">
                  <c:v>2.0</c:v>
                </c:pt>
                <c:pt idx="49">
                  <c:v>2.0</c:v>
                </c:pt>
                <c:pt idx="50">
                  <c:v>2.0</c:v>
                </c:pt>
              </c:numCache>
            </c:numRef>
          </c:val>
        </c:ser>
        <c:dLbls>
          <c:numFmt formatCode="0.0#" sourceLinked="0"/>
          <c:txPr>
            <a:bodyPr/>
            <a:lstStyle/>
            <a:p>
              <a:pPr>
                <a:defRPr sz="2000" b="1">
                  <a:solidFill>
                    <a:srgbClr val="111827"/>
                  </a:solidFill>
                  <a:latin typeface="Aria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txPr>
          <a:bodyPr/>
          <a:lstStyle/>
          <a:p>
            <a:pPr>
              <a:defRPr sz="2000" b="1">
                <a:latin typeface="Arial"/>
              </a:defRPr>
            </a:pPr>
          </a:p>
        </c:txPr>
        <c:crossAx val="-2113994440"/>
        <c:crosses val="autoZero"/>
        <c:auto val="1"/>
        <c:lblAlgn val="ctr"/>
        <c:lblOffset val="100"/>
        <c:noMultiLvlLbl val="0"/>
      </c:catAx>
      <c:valAx>
        <c:axId val="-2113994440"/>
        <c:scaling>
          <c:max val="5.5"/>
          <c:min val="0.0"/>
        </c:scaling>
        <c:delete val="0"/>
        <c:axPos val="l"/>
        <c:majorGridlines>
          <c:spPr>
            <a:ln>
              <a:solidFill>
                <a:srgbClr val="D1D5DB"/>
              </a:solidFill>
            </a:ln>
          </c:spPr>
        </c:majorGridlines>
        <c:title>
          <c:tx>
            <c:rich>
              <a:bodyPr/>
              <a:lstStyle/>
              <a:p>
                <a:r>
                  <a:rPr sz="2000"/>
                  <a:t>Level</a:t>
                </a:r>
              </a:p>
            </c:rich>
          </c:tx>
          <c:layout/>
          <c:overlay val="0"/>
        </c:title>
        <c:majorTickMark val="out"/>
        <c:minorTickMark val="none"/>
        <c:tickLblPos val="nextTo"/>
        <c:txPr>
          <a:bodyPr/>
          <a:lstStyle/>
          <a:p>
            <a:pPr>
              <a:defRPr sz="2000">
                <a:latin typeface="Arial"/>
              </a:defRPr>
            </a:pPr>
          </a:p>
        </c:txPr>
        <c:crossAx val="-2068027336"/>
        <c:crosses val="autoZero"/>
        <c:majorUnit val="1.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2.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5.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7.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question as printed defines f(x)=dy/dx, but the PDF's working (and the key B) uses f(x)=(dy/dx)/(2x)=tan^-1 x; with f=dy/dx the expression is 2x tan^-1 x + cot^-1 x, not constant. The working is correct for the intended f; the missing 1/(2x) is noted in the solution.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PDF working and answer (A) are correct. Question defect: the point (1,1) does not satisfy 32x^2y^2=(x+y)^4 (32 vs 16). A remark to this effect was added; the result y''=0 holds at every point of the curve.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PDF working is correct but it evaluates the QUOTIENT y''/(y')^n; the question as printed has the PRODUCT y''(y')^n, which is constant for n=-4 (not an option). The key D (n=4) matches the quotient reading, so the question text is probably misprinted. Kept answer D and added a bullet saying so.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PDF says 'g is even so there is an extremum at x=0' and 'number of extrema for x&gt;0 is 2' without proof. Evenness alone does not give an extremum at 0; added f'(0)=-11/72 != 0 (corner max) and the derivative computation showing exactly 2 extrema for x&gt;0. Answer 5 unchanged.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PDF computed f'(t)=(t-1)(2t+1) and f'(-1)=2; the correct derivative is (t-1)(3t+1) (since (t-1)^2+2(t+1)(t-1)=(t-1)(3t+1)) and f'(-1)=4. Conclusions unchanged. PDF text also had garbled characters ('isnotempty') and did not check (C) explicitly; f(-2)=-9&lt;0 added. Kept answer 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proves only that f(x) &gt; f(0) for x != 0 (option A) and stops; it never rules out (B), (C), (D) and has a typo '(-eps, eps){0}' for (-eps,eps)\{0}. I added the MVT sign steps with explicit inequalities and the counterexample f = pi x^2/(1+x^2) for (C), (D). No result of the PDF was wrong.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piecewise formulas for f and f' are correct but it stops there and never evaluates statements (i)-(iii). I added the three verdicts (statement (iii) is false: f is increasing there). Answer key (B) is right.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argument for (C) ('graph has to change concavity, which is not possible') was only a sketch; I replaced it by the rigorous MVT inequality f(x) &gt;= f(0) + x/2017 -&gt; infinity. Statements (A), (B), (D) and the key (A, B, C) are correct.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key 'A, D' is wrong: options (C) m^m n^n k^(m+n)/(m+n)^(m+n) and (D) k^(m+n) m^m n^n/(m+n)^(m+n) are the identical expression, so (C) is also correct; the key should be (A, C, D). The PDF working also has a typo (f'(x,y)mx^{m-1}... missing '=' and the factorisation) and omits the check that x = mk/(m+n) is a maximum and the evaluation of the maximum value; I added these.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writes "g''(2) = 1/f'(0) = 1/ln2 = log2 e" in the middle, which should be g'(2); it then gives g''(2) = -log2 e without evaluating -f''(0)/f'(0)^3 (f''(0) = (ln2)^2 is never computed). I fixed the label and added the evaluation and the invertibility check. Final answer (B, D)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writes $3f'(x)(f(x))^2&gt;0$. This is only $\ge0$: it is $0$ at a point where $f(x)=0$ if $f$ has a zero. The conclusion (D) is unchanged because a derivative that is positive except at one isolated point still gives a strictly increasing function.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Two slips in the PDF. (1) It writes LMVT as $g'(c)=\frac{f(1)-f(0)}{1-0}$; it must be $\frac{g(1)-g(0)}{1-0}$ with $g=f^n$ (the next line, $\frac{2^n-1}{1}$, is correct). (2) The GM is written as $\sqrt[n]{2^{1+2+\dots+n}}$; the exponents of $1,2,\dots,2^{n-1}$ add to $0+1+\dots+(n-1)=\frac{n(n-1)}{2}$ (the PDF's next line uses this). The result and the answer are unchanged.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PDF has no usable solution for this question; the solution was written by Claude.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PDF has no usable solution for this question; the solution was written by Claude.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set $g'(x)=0$, got $x=\pm1$ and evaluated $f(1)$. That only finds stationary points of $g=x+\frac{1}{x}$, not of $f$ (and $f(-1)=0$, not $16$). Corrected: study $h(g)=\frac{(g+2)^2}{g^2-g-1}$, $h'(g)=\frac{-5g(g+2)}{(g^2-g-1)^2}$, decreasing for $g\ge2$, so the maximum is at $g=2$ ($x=1$). The answer 16 is right.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applies Rolle to $f''$ and claims $f'''=0$ has six roots, which is not justified (Rolle on $f'$ gives six roots of $f''$; $f'''$ would only get five and is not needed). It also states $13$ roots of $h=f'f''$ but jumps to the answer $12$ without the final Rolle step. Corrected accordingly; the answer $12$ is right.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only proves that there is at most one solution (increasing versus decreasing) and says 'only one solution is possible', but never shows that a solution exists. Added: $x=2$ satisfies the equation ($f(f(2))=2=\frac{4}{4-8+6}$) so there is exactly one. The answer 1 is right.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solution is garbled (notation lost) and omits three steps: the value $k=6$ from the inverse-trigonometric expression, $f(0)=\frac{1}{3}$, and $f'(0)=\frac{4}{3}$ obtained from the limit. These are added; the rest is unchanged. The answer $2$ is right.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wrote $f(0)=\sin1+(-1)$ (it is $\sin1+1$) and used a strict inequality $f(0)&gt;f(0^+)$, which would exclude $\lambda=1$ although the PDF's list includes it. Correct condition is $\sin\lambda\le\sin1$ (equality allowed, since $f'(0^+)=-1&lt;0$), and the left side is shown to be increasing. The list $\lambda=0,1,3,4,5,6$ and the answer $6$ are right (also verified as the global maximum numerically).</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also lists f(1) and f(-1) as if they were candidates for the extremes; x=±1 lie outside the domain [-3,-2]∪[2,3] and are irrelevant. The working now says so and uses only the endpoint values. The answer 0 is unchanged.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question is garbled in the PDF: it prints h(x)=(a+bx^2)/x^{5/3} and never says what to find. The PDF's own working uses h(x)=ax^{-5/4}+bx^{1/4}, i.e. (a+bx^{3/2})/x^{5/4} (with the printed h one would get (a/b)^2=25, not the key 5), and the quantity a^2/(5b^2 g'(-7/6)) appears in a misplaced fragment with value 5. The question text was reconstructed to match the PDF's working and key; the working itself is unchanged except for the added uniqueness remark.</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working is correct but only states each count (4 roots of f, 3 of g, 5 of gg', 4 of the final equation). The justifications were added: roots of f are not roots of g, why g has a root between consecutive roots of f (Rolle on f/g), why the roots of g' are new, and the identity (g')^2+gg''=(gg')'. No error in the result.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argument is right but ends with a duplicated, garbled fragment ('xcept at x=0. As one traces the graph leftward...'); it was dropped. The PDF also asserts that the graph 'must become concave down at least once' without a reason; the convexity argument (a convex function vanishing at both ends cannot be positive) was added. Answers unchanged.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solution is cut off in case (3i): after '(1-sqrt a)^2. This is smallest when sqrt a is closest to 1 and so xa + yb ...' it continues with unrelated text about the GCD, xa+yb and the Chinese remainder theorem (belonging to a different problem). Cases (1), (2), (3) and the start of (3i) are kept; the rest of (3i), case (3ii) and the final comparison with 1/12 were written and checked numerically (min of L-S is 0.08579 at a=1/2).</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final line has two slips: the denominator is written (3V(1)+8)^3 where it should be (3V(1)+8)^{2/3} (so that it equals (h+2)^2=9), and the answer is given as 19/27 'meters per second' although the rate is given per hour; the correct unit is metres per hour. The value 19/27 is right.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a:lstStyle>
            <a:lvl1pPr>
              <a:defRPr sz="4000">
                <a:solidFill>
                  <a:srgbClr val="FFFFFF"/>
                </a:solidFill>
              </a:defRPr>
            </a:lvl1pPr>
          </a:lstStyle>
          <a:p>
            <a:pPr algn="ctr">
              <a:defRPr sz="4000">
                <a:solidFill>
                  <a:srgbClr val="FFFFFF"/>
                </a:solidFill>
              </a:defRPr>
            </a:pPr>
            <a:r>
              <a:rPr sz="4000" b="1">
                <a:solidFill>
                  <a:srgbClr val="FFFFFF"/>
                </a:solidFill>
                <a:latin typeface="Arial"/>
              </a:rPr>
              <a:t>B1 Assignment Differential Calculus 02 — Paper Analysis</a:t>
            </a:r>
            <a:endParaRPr sz="4000">
              <a:solidFill>
                <a:srgbClr val="FFFFFF"/>
              </a:solidFill>
            </a:endParaRPr>
          </a:p>
          <a:p>
            <a:pPr algn="ctr"/>
            <a:r>
              <a:rPr sz="2200">
                <a:solidFill>
                  <a:srgbClr val="FFFFFF"/>
                </a:solidFill>
                <a:latin typeface="Arial"/>
              </a:rPr>
              <a:t>Detailed solutions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Q01 – Q14</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No marking scheme printed; JEE Advanced default of 4 marks assumed</a:t>
            </a:r>
            <a:endParaRPr sz="2800">
              <a:solidFill>
                <a:srgbClr val="FFFFFF"/>
              </a:solidFill>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93C47D"/>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0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9192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&amp;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oMath>
                </a14:m>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(C)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π</m:t>
                    </m:r>
                  </m:oMath>
                </a14:m>
                <a:endParaRPr sz="2400">
                  <a:solidFill>
                    <a:srgbClr val="111827"/>
                  </a:solidFill>
                </a:endParaRPr>
              </a:p>
            </p:txBody>
          </p:sp>
        </mc:Choice>
        <mc:Fallback>
          <p:sp>
            <p:nvSpPr>
              <p:cNvPr id="4" name="Rounded Rectangle 3"/>
              <p:cNvSpPr/>
              <p:nvPr/>
            </p:nvSpPr>
            <p:spPr>
              <a:xfrm>
                <a:off x="731520" y="1280160"/>
                <a:ext cx="10725912" cy="19192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$y=(1+x^2)\tan^{-1}x-x$</a:t>
                </a:r>
                <a:r>
                  <a:rPr sz="2400" b="0">
                    <a:solidFill>
                      <a:srgbClr val="111827"/>
                    </a:solidFill>
                    <a:latin typeface="Arial"/>
                  </a:rPr>
                  <a:t> &amp; </a:t>
                </a:r>
                <a:r>
                  <a:rPr lang="en-IN" sz="2400">
                    <a:solidFill>
                      <a:srgbClr val="111827"/>
                    </a:solidFill>
                    <a:latin typeface="Cambria Math" panose="02040503050406030204" pitchFamily="18" charset="0"/>
                  </a:rPr>
                  <a:t>$f(x)=\frac{dy}{dx}$</a:t>
                </a:r>
                <a:r>
                  <a:rPr sz="2400" b="0">
                    <a:solidFill>
                      <a:srgbClr val="111827"/>
                    </a:solidFill>
                    <a:latin typeface="Arial"/>
                  </a:rPr>
                  <a:t>, then </a:t>
                </a:r>
                <a:r>
                  <a:rPr lang="en-IN" sz="2400">
                    <a:solidFill>
                      <a:srgbClr val="111827"/>
                    </a:solidFill>
                    <a:latin typeface="Cambria Math" panose="02040503050406030204" pitchFamily="18" charset="0"/>
                  </a:rPr>
                  <a:t>$f(x)+\cot^{-1}x$</a:t>
                </a:r>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$0$</a:t>
                </a:r>
                <a:r>
                  <a:rPr sz="2400" b="0">
                    <a:solidFill>
                      <a:srgbClr val="111827"/>
                    </a:solidFill>
                    <a:latin typeface="Arial"/>
                  </a:rPr>
                  <a:t>   (B) </a:t>
                </a:r>
                <a:r>
                  <a:rPr lang="en-IN" sz="2400">
                    <a:solidFill>
                      <a:srgbClr val="111827"/>
                    </a:solidFill>
                    <a:latin typeface="Cambria Math" panose="02040503050406030204" pitchFamily="18" charset="0"/>
                  </a:rPr>
                  <a:t>$\frac{\pi}{2}$</a:t>
                </a:r>
                <a:r>
                  <a:rPr sz="2400" b="0">
                    <a:solidFill>
                      <a:srgbClr val="111827"/>
                    </a:solidFill>
                    <a:latin typeface="Arial"/>
                  </a:rPr>
                  <a:t>   (C) </a:t>
                </a:r>
                <a:r>
                  <a:rPr lang="en-IN" sz="2400">
                    <a:solidFill>
                      <a:srgbClr val="111827"/>
                    </a:solidFill>
                    <a:latin typeface="Cambria Math" panose="02040503050406030204" pitchFamily="18" charset="0"/>
                  </a:rPr>
                  <a:t>$-\frac{\pi}{2}$</a:t>
                </a:r>
                <a:r>
                  <a:rPr sz="2400" b="0">
                    <a:solidFill>
                      <a:srgbClr val="111827"/>
                    </a:solidFill>
                    <a:latin typeface="Arial"/>
                  </a:rPr>
                  <a:t>   (D) </a:t>
                </a:r>
                <a:r>
                  <a:rPr lang="en-IN" sz="2400">
                    <a:solidFill>
                      <a:srgbClr val="111827"/>
                    </a:solidFill>
                    <a:latin typeface="Cambria Math" panose="02040503050406030204" pitchFamily="18" charset="0"/>
                  </a:rPr>
                  <a:t>$\pi$</a:t>
                </a:r>
                <a:endParaRPr sz="2400">
                  <a:solidFill>
                    <a:srgbClr val="111827"/>
                  </a:solidFill>
                </a:endParaRPr>
              </a:p>
            </p:txBody>
          </p:sp>
        </mc:Fallback>
      </mc:AlternateContent>
      <p:sp>
        <p:nvSpPr>
          <p:cNvPr id="5" name="Rectangle 4"/>
          <p:cNvSpPr/>
          <p:nvPr/>
        </p:nvSpPr>
        <p:spPr>
          <a:xfrm>
            <a:off x="731520" y="3427984"/>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Product rule and derivative of inverse trigonometric functions, Inverse trigonometric identities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0(Easier than JEE Main Level)</a:t>
            </a:r>
            <a:endParaRPr sz="2400">
              <a:solidFill>
                <a:srgbClr val="111827"/>
              </a:solidFill>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93C47D"/>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0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cancels, so </a:t>
                </a:r>
                <a14:m>
                  <m:oMath xmlns:m="http://schemas.openxmlformats.org/officeDocument/2006/math">
                    <m:sSup>
                      <m:e>
                        <m:r>
                          <a:rPr lang="en-IN" sz="2400" i="1">
                            <a:solidFill>
                              <a:srgbClr val="78350F"/>
                            </a:solidFill>
                            <a:latin typeface="Cambria Math" panose="02040503050406030204" pitchFamily="18" charset="0"/>
                          </a:rPr>
                          <m:t>𝑦</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𝑥</m:t>
                    </m:r>
                    <m:sSup>
                      <m:e>
                        <m:r>
                          <m:rPr>
                            <m:sty m:val="p"/>
                          </m:rPr>
                          <a:rPr lang="en-IN" sz="2400">
                            <a:solidFill>
                              <a:srgbClr val="78350F"/>
                            </a:solidFill>
                            <a:latin typeface="Cambria Math" panose="02040503050406030204" pitchFamily="18" charset="0"/>
                          </a:rPr>
                          <m:t>tan</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r>
                      <a:rPr lang="en-IN" sz="2400" i="1">
                        <a:solidFill>
                          <a:srgbClr val="78350F"/>
                        </a:solidFill>
                        <a:latin typeface="Cambria Math" panose="02040503050406030204" pitchFamily="18" charset="0"/>
                      </a:rPr>
                      <m:t>𝑥</m:t>
                    </m:r>
                  </m:oMath>
                </a14:m>
                <a:r>
                  <a:rPr sz="2400" b="0">
                    <a:solidFill>
                      <a:srgbClr val="78350F"/>
                    </a:solidFill>
                    <a:latin typeface="Arial"/>
                  </a:rPr>
                  <a:t>; dividing by </a:t>
                </a:r>
                <a14:m>
                  <m:oMath xmlns:m="http://schemas.openxmlformats.org/officeDocument/2006/math">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𝑥</m:t>
                    </m:r>
                  </m:oMath>
                </a14:m>
                <a:r>
                  <a:rPr sz="2400" b="0">
                    <a:solidFill>
                      <a:srgbClr val="78350F"/>
                    </a:solidFill>
                    <a:latin typeface="Arial"/>
                  </a:rPr>
                  <a:t> leaves </a:t>
                </a:r>
                <a14:m>
                  <m:oMath xmlns:m="http://schemas.openxmlformats.org/officeDocument/2006/math">
                    <m:sSup>
                      <m:e>
                        <m:r>
                          <m:rPr>
                            <m:sty m:val="p"/>
                          </m:rPr>
                          <a:rPr lang="en-IN" sz="2400">
                            <a:solidFill>
                              <a:srgbClr val="78350F"/>
                            </a:solidFill>
                            <a:latin typeface="Cambria Math" panose="02040503050406030204" pitchFamily="18" charset="0"/>
                          </a:rPr>
                          <m:t>tan</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r>
                      <a:rPr lang="en-IN" sz="2400" i="1">
                        <a:solidFill>
                          <a:srgbClr val="78350F"/>
                        </a:solidFill>
                        <a:latin typeface="Cambria Math" panose="02040503050406030204" pitchFamily="18" charset="0"/>
                      </a:rPr>
                      <m:t>𝑥</m:t>
                    </m:r>
                  </m:oMath>
                </a14:m>
                <a:r>
                  <a:rPr sz="2400" b="0">
                    <a:solidFill>
                      <a:srgbClr val="78350F"/>
                    </a:solidFill>
                    <a:latin typeface="Arial"/>
                  </a:rPr>
                  <a:t>, which pairs with </a:t>
                </a:r>
                <a14:m>
                  <m:oMath xmlns:m="http://schemas.openxmlformats.org/officeDocument/2006/math">
                    <m:sSup>
                      <m:e>
                        <m:r>
                          <m:rPr>
                            <m:sty m:val="p"/>
                          </m:rPr>
                          <a:rPr lang="en-IN" sz="2400">
                            <a:solidFill>
                              <a:srgbClr val="78350F"/>
                            </a:solidFill>
                            <a:latin typeface="Cambria Math" panose="02040503050406030204" pitchFamily="18" charset="0"/>
                          </a:rPr>
                          <m:t>cot</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r>
                      <a:rPr lang="en-IN" sz="2400" i="1">
                        <a:solidFill>
                          <a:srgbClr val="78350F"/>
                        </a:solidFill>
                        <a:latin typeface="Cambria Math" panose="02040503050406030204" pitchFamily="18" charset="0"/>
                      </a:rPr>
                      <m:t>𝑥</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a:t>
                </a:r>
                <a:r>
                  <a:rPr lang="en-IN" sz="2400">
                    <a:solidFill>
                      <a:srgbClr val="78350F"/>
                    </a:solidFill>
                    <a:latin typeface="Cambria Math" panose="02040503050406030204" pitchFamily="18" charset="0"/>
                  </a:rPr>
                  <a:t>$+1-1$</a:t>
                </a:r>
                <a:r>
                  <a:rPr sz="2400" b="0">
                    <a:solidFill>
                      <a:srgbClr val="78350F"/>
                    </a:solidFill>
                    <a:latin typeface="Arial"/>
                  </a:rPr>
                  <a:t> cancels, so </a:t>
                </a:r>
                <a:r>
                  <a:rPr lang="en-IN" sz="2400">
                    <a:solidFill>
                      <a:srgbClr val="78350F"/>
                    </a:solidFill>
                    <a:latin typeface="Cambria Math" panose="02040503050406030204" pitchFamily="18" charset="0"/>
                  </a:rPr>
                  <a:t>$y'=2x\tan^{-1}x$</a:t>
                </a:r>
                <a:r>
                  <a:rPr sz="2400" b="0">
                    <a:solidFill>
                      <a:srgbClr val="78350F"/>
                    </a:solidFill>
                    <a:latin typeface="Arial"/>
                  </a:rPr>
                  <a:t>; dividing by </a:t>
                </a:r>
                <a:r>
                  <a:rPr lang="en-IN" sz="2400">
                    <a:solidFill>
                      <a:srgbClr val="78350F"/>
                    </a:solidFill>
                    <a:latin typeface="Cambria Math" panose="02040503050406030204" pitchFamily="18" charset="0"/>
                  </a:rPr>
                  <a:t>$2x$</a:t>
                </a:r>
                <a:r>
                  <a:rPr sz="2400" b="0">
                    <a:solidFill>
                      <a:srgbClr val="78350F"/>
                    </a:solidFill>
                    <a:latin typeface="Arial"/>
                  </a:rPr>
                  <a:t> leaves </a:t>
                </a:r>
                <a:r>
                  <a:rPr lang="en-IN" sz="2400">
                    <a:solidFill>
                      <a:srgbClr val="78350F"/>
                    </a:solidFill>
                    <a:latin typeface="Cambria Math" panose="02040503050406030204" pitchFamily="18" charset="0"/>
                  </a:rPr>
                  <a:t>$\tan^{-1}x$</a:t>
                </a:r>
                <a:r>
                  <a:rPr sz="2400" b="0">
                    <a:solidFill>
                      <a:srgbClr val="78350F"/>
                    </a:solidFill>
                    <a:latin typeface="Arial"/>
                  </a:rPr>
                  <a:t>, which pairs with </a:t>
                </a:r>
                <a:r>
                  <a:rPr lang="en-IN" sz="2400">
                    <a:solidFill>
                      <a:srgbClr val="78350F"/>
                    </a:solidFill>
                    <a:latin typeface="Cambria Math" panose="02040503050406030204" pitchFamily="18" charset="0"/>
                  </a:rPr>
                  <a:t>$\cot^{-1}x$</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Differentiate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by the product rule: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As printed,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oMath>
                </a14:m>
                <a:r>
                  <a:rPr sz="2400" b="0">
                    <a:solidFill>
                      <a:srgbClr val="111827"/>
                    </a:solidFill>
                    <a:latin typeface="Arial"/>
                  </a:rPr>
                  <a:t> would give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oMath>
                </a14:m>
                <a:r>
                  <a:rPr sz="2400" b="0">
                    <a:solidFill>
                      <a:srgbClr val="111827"/>
                    </a:solidFill>
                    <a:latin typeface="Arial"/>
                  </a:rPr>
                  <a:t>, which is not constant and matches no option; the intended definition (used in the PDF's working) is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den>
                    </m:f>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Differentiate </a:t>
                </a:r>
                <a:r>
                  <a:rPr lang="en-IN" sz="2400">
                    <a:solidFill>
                      <a:srgbClr val="111827"/>
                    </a:solidFill>
                    <a:latin typeface="Cambria Math" panose="02040503050406030204" pitchFamily="18" charset="0"/>
                  </a:rPr>
                  <a:t>$y=(1+x^2)\tan^{-1}x-x$</a:t>
                </a:r>
                <a:r>
                  <a:rPr sz="2400" b="0">
                    <a:solidFill>
                      <a:srgbClr val="111827"/>
                    </a:solidFill>
                    <a:latin typeface="Arial"/>
                  </a:rPr>
                  <a:t> by the product rule: </a:t>
                </a:r>
                <a:r>
                  <a:rPr lang="en-IN" sz="2400">
                    <a:solidFill>
                      <a:srgbClr val="111827"/>
                    </a:solidFill>
                    <a:latin typeface="Cambria Math" panose="02040503050406030204" pitchFamily="18" charset="0"/>
                  </a:rPr>
                  <a:t>$\frac{dy}{dx}=2x\tan^{-1}x+(1+x^2)\cdot\frac{1}{1+x^2}-1$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$\frac{dy}{dx}=2x\tan^{-1}x+1-1=2x\tan^{-1}x$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As printed, </a:t>
                </a:r>
                <a:r>
                  <a:rPr lang="en-IN" sz="2400">
                    <a:solidFill>
                      <a:srgbClr val="111827"/>
                    </a:solidFill>
                    <a:latin typeface="Cambria Math" panose="02040503050406030204" pitchFamily="18" charset="0"/>
                  </a:rPr>
                  <a:t>$f(x)=\frac{dy}{dx}$</a:t>
                </a:r>
                <a:r>
                  <a:rPr sz="2400" b="0">
                    <a:solidFill>
                      <a:srgbClr val="111827"/>
                    </a:solidFill>
                    <a:latin typeface="Arial"/>
                  </a:rPr>
                  <a:t> would give </a:t>
                </a:r>
                <a:r>
                  <a:rPr lang="en-IN" sz="2400">
                    <a:solidFill>
                      <a:srgbClr val="111827"/>
                    </a:solidFill>
                    <a:latin typeface="Cambria Math" panose="02040503050406030204" pitchFamily="18" charset="0"/>
                  </a:rPr>
                  <a:t>$2x\tan^{-1}x+\cot^{-1}x$</a:t>
                </a:r>
                <a:r>
                  <a:rPr sz="2400" b="0">
                    <a:solidFill>
                      <a:srgbClr val="111827"/>
                    </a:solidFill>
                    <a:latin typeface="Arial"/>
                  </a:rPr>
                  <a:t>, which is not constant and matches no option; the intended definition (used in the PDF's working) is </a:t>
                </a:r>
                <a:r>
                  <a:rPr lang="en-IN" sz="2400">
                    <a:solidFill>
                      <a:srgbClr val="111827"/>
                    </a:solidFill>
                    <a:latin typeface="Cambria Math" panose="02040503050406030204" pitchFamily="18" charset="0"/>
                  </a:rPr>
                  <a:t>$f(x)=\frac{1}{2x}\frac{dy}{dx}$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93C47D"/>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0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that definition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for every real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which is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that definition </a:t>
                </a:r>
                <a:r>
                  <a:rPr lang="en-IN" sz="2400">
                    <a:solidFill>
                      <a:srgbClr val="111827"/>
                    </a:solidFill>
                    <a:latin typeface="Cambria Math" panose="02040503050406030204" pitchFamily="18" charset="0"/>
                  </a:rPr>
                  <a:t>$f(x)=\frac{dy}{2x\,dx}=\tan^{-1}x$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$f(x)+\cot^{-1}x=\tan^{-1}x+\cot^{-1}x=\frac{\pi}{2}$</a:t>
                </a:r>
                <a:r>
                  <a:rPr sz="2400" b="0">
                    <a:solidFill>
                      <a:srgbClr val="111827"/>
                    </a:solidFill>
                    <a:latin typeface="Arial"/>
                  </a:rPr>
                  <a:t> for every real </a:t>
                </a:r>
                <a:r>
                  <a:rPr lang="en-IN" sz="2400">
                    <a:solidFill>
                      <a:srgbClr val="111827"/>
                    </a:solidFill>
                    <a:latin typeface="Cambria Math" panose="02040503050406030204" pitchFamily="18" charset="0"/>
                  </a:rPr>
                  <a:t>$x$</a:t>
                </a:r>
                <a:r>
                  <a:rPr sz="2400" b="0">
                    <a:solidFill>
                      <a:srgbClr val="111827"/>
                    </a:solidFill>
                    <a:latin typeface="Arial"/>
                  </a:rPr>
                  <a:t>, which is option (B).</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a:t>
            </a:r>
            <a:endParaRPr sz="2800">
              <a:solidFill>
                <a:srgbClr val="15803D"/>
              </a:solidFill>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93C47D"/>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0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for all real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(with </a:t>
                </a:r>
                <a14:m>
                  <m:oMath xmlns:m="http://schemas.openxmlformats.org/officeDocument/2006/math">
                    <m:sSup>
                      <m:e>
                        <m:r>
                          <m:rPr>
                            <m:sty m:val="p"/>
                          </m:rPr>
                          <a:rPr lang="en-IN" sz="2400">
                            <a:solidFill>
                              <a:srgbClr val="111827"/>
                            </a:solidFill>
                            <a:latin typeface="Cambria Math" panose="02040503050406030204" pitchFamily="18" charset="0"/>
                          </a:rPr>
                          <m:t>cot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similarly </a:t>
                </a:r>
                <a14:m>
                  <m:oMath xmlns:m="http://schemas.openxmlformats.org/officeDocument/2006/math">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so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oMath>
                </a14:m>
                <a:r>
                  <a:rPr sz="2400" b="0">
                    <a:solidFill>
                      <a:srgbClr val="111827"/>
                    </a:solidFill>
                    <a:latin typeface="Arial"/>
                  </a:rPr>
                  <a:t> the second product-rule term is exactly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and cancels the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term's derivative.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Equivalent integral: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(integration by parts).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compare a printed definition with what the options require; a missing factor such as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den>
                    </m:f>
                  </m:oMath>
                </a14:m>
                <a:r>
                  <a:rPr sz="2400" b="0">
                    <a:solidFill>
                      <a:srgbClr val="111827"/>
                    </a:solidFill>
                    <a:latin typeface="Arial"/>
                  </a:rPr>
                  <a:t> is the usual reason an expression fails to simplify.</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$\tan^{-1}x+\cot^{-1}x=\frac{\pi}{2}$</a:t>
                </a:r>
                <a:r>
                  <a:rPr sz="2400" b="0">
                    <a:solidFill>
                      <a:srgbClr val="111827"/>
                    </a:solidFill>
                    <a:latin typeface="Arial"/>
                  </a:rPr>
                  <a:t> for all real </a:t>
                </a:r>
                <a:r>
                  <a:rPr lang="en-IN" sz="2400">
                    <a:solidFill>
                      <a:srgbClr val="111827"/>
                    </a:solidFill>
                    <a:latin typeface="Cambria Math" panose="02040503050406030204" pitchFamily="18" charset="0"/>
                  </a:rPr>
                  <a:t>$x$</a:t>
                </a:r>
                <a:r>
                  <a:rPr sz="2400" b="0">
                    <a:solidFill>
                      <a:srgbClr val="111827"/>
                    </a:solidFill>
                    <a:latin typeface="Arial"/>
                  </a:rPr>
                  <a:t> (with </a:t>
                </a:r>
                <a:r>
                  <a:rPr lang="en-IN" sz="2400">
                    <a:solidFill>
                      <a:srgbClr val="111827"/>
                    </a:solidFill>
                    <a:latin typeface="Cambria Math" panose="02040503050406030204" pitchFamily="18" charset="0"/>
                  </a:rPr>
                  <a:t>$\cot^{-1}x\in(0,\pi)$</a:t>
                </a:r>
                <a:r>
                  <a:rPr sz="2400" b="0">
                    <a:solidFill>
                      <a:srgbClr val="111827"/>
                    </a:solidFill>
                    <a:latin typeface="Arial"/>
                  </a:rPr>
                  <a:t>); similarly </a:t>
                </a:r>
                <a:r>
                  <a:rPr lang="en-IN" sz="2400">
                    <a:solidFill>
                      <a:srgbClr val="111827"/>
                    </a:solidFill>
                    <a:latin typeface="Cambria Math" panose="02040503050406030204" pitchFamily="18" charset="0"/>
                  </a:rPr>
                  <a:t>$\sin^{-1}x+\cos^{-1}x=\frac{\pi}{2}$</a:t>
                </a:r>
                <a:r>
                  <a:rPr sz="2400" b="0">
                    <a:solidFill>
                      <a:srgbClr val="111827"/>
                    </a:solidFill>
                    <a:latin typeface="Arial"/>
                  </a:rPr>
                  <a:t> on </a:t>
                </a:r>
                <a:r>
                  <a:rPr lang="en-IN" sz="2400">
                    <a:solidFill>
                      <a:srgbClr val="111827"/>
                    </a:solidFill>
                    <a:latin typeface="Cambria Math" panose="02040503050406030204" pitchFamily="18" charset="0"/>
                  </a:rPr>
                  <a:t>$[-1,1]$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$\frac{d}{dx}\tan^{-1}x=\frac{1}{1+x^2}$</a:t>
                </a:r>
                <a:r>
                  <a:rPr sz="2400" b="0">
                    <a:solidFill>
                      <a:srgbClr val="111827"/>
                    </a:solidFill>
                    <a:latin typeface="Arial"/>
                  </a:rPr>
                  <a:t>, so in </a:t>
                </a:r>
                <a:r>
                  <a:rPr lang="en-IN" sz="2400">
                    <a:solidFill>
                      <a:srgbClr val="111827"/>
                    </a:solidFill>
                    <a:latin typeface="Cambria Math" panose="02040503050406030204" pitchFamily="18" charset="0"/>
                  </a:rPr>
                  <a:t>$(1+x^2)\tan^{-1}x$</a:t>
                </a:r>
                <a:r>
                  <a:rPr sz="2400" b="0">
                    <a:solidFill>
                      <a:srgbClr val="111827"/>
                    </a:solidFill>
                    <a:latin typeface="Arial"/>
                  </a:rPr>
                  <a:t> the second product-rule term is exactly </a:t>
                </a:r>
                <a:r>
                  <a:rPr lang="en-IN" sz="2400">
                    <a:solidFill>
                      <a:srgbClr val="111827"/>
                    </a:solidFill>
                    <a:latin typeface="Cambria Math" panose="02040503050406030204" pitchFamily="18" charset="0"/>
                  </a:rPr>
                  <a:t>$1$</a:t>
                </a:r>
                <a:r>
                  <a:rPr sz="2400" b="0">
                    <a:solidFill>
                      <a:srgbClr val="111827"/>
                    </a:solidFill>
                    <a:latin typeface="Arial"/>
                  </a:rPr>
                  <a:t> and cancels the </a:t>
                </a:r>
                <a:r>
                  <a:rPr lang="en-IN" sz="2400">
                    <a:solidFill>
                      <a:srgbClr val="111827"/>
                    </a:solidFill>
                    <a:latin typeface="Cambria Math" panose="02040503050406030204" pitchFamily="18" charset="0"/>
                  </a:rPr>
                  <a:t>$-x$</a:t>
                </a:r>
                <a:r>
                  <a:rPr sz="2400" b="0">
                    <a:solidFill>
                      <a:srgbClr val="111827"/>
                    </a:solidFill>
                    <a:latin typeface="Arial"/>
                  </a:rPr>
                  <a:t> term's derivative.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Equivalent integral: </a:t>
                </a:r>
                <a:r>
                  <a:rPr lang="en-IN" sz="2400">
                    <a:solidFill>
                      <a:srgbClr val="111827"/>
                    </a:solidFill>
                    <a:latin typeface="Cambria Math" panose="02040503050406030204" pitchFamily="18" charset="0"/>
                  </a:rPr>
                  <a:t>$\int 2x\tan^{-1}x\,dx=(1+x^2)\tan^{-1}x-x+C$</a:t>
                </a:r>
                <a:r>
                  <a:rPr sz="2400" b="0">
                    <a:solidFill>
                      <a:srgbClr val="111827"/>
                    </a:solidFill>
                    <a:latin typeface="Arial"/>
                  </a:rPr>
                  <a:t> (integration by parts).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compare a printed definition with what the options require; a missing factor such as </a:t>
                </a:r>
                <a:r>
                  <a:rPr lang="en-IN" sz="2400">
                    <a:solidFill>
                      <a:srgbClr val="111827"/>
                    </a:solidFill>
                    <a:latin typeface="Cambria Math" panose="02040503050406030204" pitchFamily="18" charset="0"/>
                  </a:rPr>
                  <a:t>$\frac{1}{2x}$</a:t>
                </a:r>
                <a:r>
                  <a:rPr sz="2400" b="0">
                    <a:solidFill>
                      <a:srgbClr val="111827"/>
                    </a:solidFill>
                    <a:latin typeface="Arial"/>
                  </a:rPr>
                  <a:t> is the usual reason an expression fails to simplify.</a:t>
                </a:r>
                <a:endParaRPr sz="2400">
                  <a:solidFill>
                    <a:srgbClr val="111827"/>
                  </a:solidFill>
                </a:endParaRPr>
              </a:p>
            </p:txBody>
          </p:sp>
        </mc:Fallback>
      </mc:AlternateContent>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9192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For the curve </a:t>
                </a:r>
                <a14:m>
                  <m:oMath xmlns:m="http://schemas.openxmlformats.org/officeDocument/2006/math">
                    <m:r>
                      <a:rPr lang="en-IN" sz="2400" i="1">
                        <a:solidFill>
                          <a:srgbClr val="111827"/>
                        </a:solidFill>
                        <a:latin typeface="Cambria Math" panose="02040503050406030204" pitchFamily="18" charset="0"/>
                      </a:rPr>
                      <m:t>32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oMath>
                </a14:m>
                <a:r>
                  <a:rPr sz="2400" b="0">
                    <a:solidFill>
                      <a:srgbClr val="111827"/>
                    </a:solidFill>
                    <a:latin typeface="Arial"/>
                  </a:rPr>
                  <a:t> the value of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(C)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endParaRPr sz="2400">
                  <a:solidFill>
                    <a:srgbClr val="111827"/>
                  </a:solidFill>
                </a:endParaRPr>
              </a:p>
            </p:txBody>
          </p:sp>
        </mc:Choice>
        <mc:Fallback>
          <p:sp>
            <p:nvSpPr>
              <p:cNvPr id="4" name="Rounded Rectangle 3"/>
              <p:cNvSpPr/>
              <p:nvPr/>
            </p:nvSpPr>
            <p:spPr>
              <a:xfrm>
                <a:off x="731520" y="1280160"/>
                <a:ext cx="10725912" cy="19192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For the curve </a:t>
                </a:r>
                <a:r>
                  <a:rPr lang="en-IN" sz="2400">
                    <a:solidFill>
                      <a:srgbClr val="111827"/>
                    </a:solidFill>
                    <a:latin typeface="Cambria Math" panose="02040503050406030204" pitchFamily="18" charset="0"/>
                  </a:rPr>
                  <a:t>$32x^2y^2=(x+y)^4$</a:t>
                </a:r>
                <a:r>
                  <a:rPr sz="2400" b="0">
                    <a:solidFill>
                      <a:srgbClr val="111827"/>
                    </a:solidFill>
                    <a:latin typeface="Arial"/>
                  </a:rPr>
                  <a:t> the value of </a:t>
                </a:r>
                <a:r>
                  <a:rPr lang="en-IN" sz="2400">
                    <a:solidFill>
                      <a:srgbClr val="111827"/>
                    </a:solidFill>
                    <a:latin typeface="Cambria Math" panose="02040503050406030204" pitchFamily="18" charset="0"/>
                  </a:rPr>
                  <a:t>$\frac{d^2y}{dx^2}$</a:t>
                </a:r>
                <a:r>
                  <a:rPr sz="2400" b="0">
                    <a:solidFill>
                      <a:srgbClr val="111827"/>
                    </a:solidFill>
                    <a:latin typeface="Arial"/>
                  </a:rPr>
                  <a:t> at </a:t>
                </a:r>
                <a:r>
                  <a:rPr lang="en-IN" sz="2400">
                    <a:solidFill>
                      <a:srgbClr val="111827"/>
                    </a:solidFill>
                    <a:latin typeface="Cambria Math" panose="02040503050406030204" pitchFamily="18" charset="0"/>
                  </a:rPr>
                  <a:t>$(1,1)$</a:t>
                </a:r>
                <a:r>
                  <a:rPr sz="2400" b="0">
                    <a:solidFill>
                      <a:srgbClr val="111827"/>
                    </a:solidFill>
                    <a:latin typeface="Arial"/>
                  </a:rPr>
                  <a:t>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$0$</a:t>
                </a:r>
                <a:r>
                  <a:rPr sz="2400" b="0">
                    <a:solidFill>
                      <a:srgbClr val="111827"/>
                    </a:solidFill>
                    <a:latin typeface="Arial"/>
                  </a:rPr>
                  <a:t>   (B) </a:t>
                </a:r>
                <a:r>
                  <a:rPr lang="en-IN" sz="2400">
                    <a:solidFill>
                      <a:srgbClr val="111827"/>
                    </a:solidFill>
                    <a:latin typeface="Cambria Math" panose="02040503050406030204" pitchFamily="18" charset="0"/>
                  </a:rPr>
                  <a:t>$1$</a:t>
                </a:r>
                <a:r>
                  <a:rPr sz="2400" b="0">
                    <a:solidFill>
                      <a:srgbClr val="111827"/>
                    </a:solidFill>
                    <a:latin typeface="Arial"/>
                  </a:rPr>
                  <a:t>   (C) </a:t>
                </a:r>
                <a:r>
                  <a:rPr lang="en-IN" sz="2400">
                    <a:solidFill>
                      <a:srgbClr val="111827"/>
                    </a:solidFill>
                    <a:latin typeface="Cambria Math" panose="02040503050406030204" pitchFamily="18" charset="0"/>
                  </a:rPr>
                  <a:t>$-1$</a:t>
                </a:r>
                <a:r>
                  <a:rPr sz="2400" b="0">
                    <a:solidFill>
                      <a:srgbClr val="111827"/>
                    </a:solidFill>
                    <a:latin typeface="Arial"/>
                  </a:rPr>
                  <a:t>   (D) </a:t>
                </a:r>
                <a:r>
                  <a:rPr lang="en-IN" sz="2400">
                    <a:solidFill>
                      <a:srgbClr val="111827"/>
                    </a:solidFill>
                    <a:latin typeface="Cambria Math" panose="02040503050406030204" pitchFamily="18" charset="0"/>
                  </a:rPr>
                  <a:t>$\frac{1}{2}$</a:t>
                </a:r>
                <a:endParaRPr sz="2400">
                  <a:solidFill>
                    <a:srgbClr val="111827"/>
                  </a:solidFill>
                </a:endParaRPr>
              </a:p>
            </p:txBody>
          </p:sp>
        </mc:Fallback>
      </mc:AlternateContent>
      <p:sp>
        <p:nvSpPr>
          <p:cNvPr id="5" name="Rectangle 4"/>
          <p:cNvSpPr/>
          <p:nvPr/>
        </p:nvSpPr>
        <p:spPr>
          <a:xfrm>
            <a:off x="731520" y="3427984"/>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Implicit differentiation, Homogeneous equation as a pair of lines through the origin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homogeneous equation </a:t>
                </a:r>
                <a14:m>
                  <m:oMath xmlns:m="http://schemas.openxmlformats.org/officeDocument/2006/math">
                    <m:r>
                      <a:rPr lang="en-IN" sz="2400" i="1">
                        <a:solidFill>
                          <a:srgbClr val="78350F"/>
                        </a:solidFill>
                        <a:latin typeface="Cambria Math" panose="02040503050406030204" pitchFamily="18" charset="0"/>
                      </a:rPr>
                      <m:t>𝐹</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is a set of lines through the origin, so </a:t>
                </a:r>
                <a14:m>
                  <m:oMath xmlns:m="http://schemas.openxmlformats.org/officeDocument/2006/math">
                    <m:sSup>
                      <m:e>
                        <m:r>
                          <a:rPr lang="en-IN" sz="2400" i="1">
                            <a:solidFill>
                              <a:srgbClr val="78350F"/>
                            </a:solidFill>
                            <a:latin typeface="Cambria Math" panose="02040503050406030204" pitchFamily="18" charset="0"/>
                          </a:rPr>
                          <m:t>𝑦</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𝑦</m:t>
                        </m:r>
                      </m:num>
                      <m:den>
                        <m:r>
                          <a:rPr lang="en-IN" sz="2400" i="1">
                            <a:solidFill>
                              <a:srgbClr val="78350F"/>
                            </a:solidFill>
                            <a:latin typeface="Cambria Math" panose="02040503050406030204" pitchFamily="18" charset="0"/>
                          </a:rPr>
                          <m:t>𝑥</m:t>
                        </m:r>
                      </m:den>
                    </m:f>
                  </m:oMath>
                </a14:m>
                <a:r>
                  <a:rPr sz="2400" b="0">
                    <a:solidFill>
                      <a:srgbClr val="78350F"/>
                    </a:solidFill>
                    <a:latin typeface="Arial"/>
                  </a:rPr>
                  <a:t> and </a:t>
                </a:r>
                <a14:m>
                  <m:oMath xmlns:m="http://schemas.openxmlformats.org/officeDocument/2006/math">
                    <m:sSup>
                      <m:e>
                        <m:r>
                          <a:rPr lang="en-IN" sz="2400" i="1">
                            <a:solidFill>
                              <a:srgbClr val="78350F"/>
                            </a:solidFill>
                            <a:latin typeface="Cambria Math" panose="02040503050406030204" pitchFamily="18" charset="0"/>
                          </a:rPr>
                          <m:t>𝑦</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homogeneous equation </a:t>
                </a:r>
                <a:r>
                  <a:rPr lang="en-IN" sz="2400">
                    <a:solidFill>
                      <a:srgbClr val="78350F"/>
                    </a:solidFill>
                    <a:latin typeface="Cambria Math" panose="02040503050406030204" pitchFamily="18" charset="0"/>
                  </a:rPr>
                  <a:t>$F(x,y)=0$</a:t>
                </a:r>
                <a:r>
                  <a:rPr sz="2400" b="0">
                    <a:solidFill>
                      <a:srgbClr val="78350F"/>
                    </a:solidFill>
                    <a:latin typeface="Arial"/>
                  </a:rPr>
                  <a:t> is a set of lines through the origin, so </a:t>
                </a:r>
                <a:r>
                  <a:rPr lang="en-IN" sz="2400">
                    <a:solidFill>
                      <a:srgbClr val="78350F"/>
                    </a:solidFill>
                    <a:latin typeface="Cambria Math" panose="02040503050406030204" pitchFamily="18" charset="0"/>
                  </a:rPr>
                  <a:t>$y'=\frac{y}{x}$</a:t>
                </a:r>
                <a:r>
                  <a:rPr sz="2400" b="0">
                    <a:solidFill>
                      <a:srgbClr val="78350F"/>
                    </a:solidFill>
                    <a:latin typeface="Arial"/>
                  </a:rPr>
                  <a:t> and </a:t>
                </a:r>
                <a:r>
                  <a:rPr lang="en-IN" sz="2400">
                    <a:solidFill>
                      <a:srgbClr val="78350F"/>
                    </a:solidFill>
                    <a:latin typeface="Cambria Math" panose="02040503050406030204" pitchFamily="18" charset="0"/>
                  </a:rPr>
                  <a:t>$y''=0$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Both sides of </a:t>
                </a:r>
                <a14:m>
                  <m:oMath xmlns:m="http://schemas.openxmlformats.org/officeDocument/2006/math">
                    <m:r>
                      <a:rPr lang="en-IN" sz="2400" i="1">
                        <a:solidFill>
                          <a:srgbClr val="111827"/>
                        </a:solidFill>
                        <a:latin typeface="Cambria Math" panose="02040503050406030204" pitchFamily="18" charset="0"/>
                      </a:rPr>
                      <m:t>32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oMath>
                </a14:m>
                <a:r>
                  <a:rPr sz="2400" b="0">
                    <a:solidFill>
                      <a:srgbClr val="111827"/>
                    </a:solidFill>
                    <a:latin typeface="Arial"/>
                  </a:rPr>
                  <a:t> are homogeneous of degree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in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so the equation is unchanged under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Putting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𝑥</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32</m:t>
                    </m:r>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oMath>
                </a14:m>
                <a:r>
                  <a:rPr sz="2400" b="0">
                    <a:solidFill>
                      <a:srgbClr val="111827"/>
                    </a:solidFill>
                    <a:latin typeface="Arial"/>
                  </a:rPr>
                  <a:t>, a condition on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alone; hence the curve is a set of straight lines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𝑥</m:t>
                    </m:r>
                  </m:oMath>
                </a14:m>
                <a:r>
                  <a:rPr sz="2400" b="0">
                    <a:solidFill>
                      <a:srgbClr val="111827"/>
                    </a:solidFill>
                    <a:latin typeface="Arial"/>
                  </a:rPr>
                  <a:t> through the origin, each with constant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 such a line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Both sides of </a:t>
                </a:r>
                <a:r>
                  <a:rPr lang="en-IN" sz="2400">
                    <a:solidFill>
                      <a:srgbClr val="111827"/>
                    </a:solidFill>
                    <a:latin typeface="Cambria Math" panose="02040503050406030204" pitchFamily="18" charset="0"/>
                  </a:rPr>
                  <a:t>$32x^2y^2=(x+y)^4$</a:t>
                </a:r>
                <a:r>
                  <a:rPr sz="2400" b="0">
                    <a:solidFill>
                      <a:srgbClr val="111827"/>
                    </a:solidFill>
                    <a:latin typeface="Arial"/>
                  </a:rPr>
                  <a:t> are homogeneous of degree </a:t>
                </a:r>
                <a:r>
                  <a:rPr lang="en-IN" sz="2400">
                    <a:solidFill>
                      <a:srgbClr val="111827"/>
                    </a:solidFill>
                    <a:latin typeface="Cambria Math" panose="02040503050406030204" pitchFamily="18" charset="0"/>
                  </a:rPr>
                  <a:t>$4$</a:t>
                </a:r>
                <a:r>
                  <a:rPr sz="2400" b="0">
                    <a:solidFill>
                      <a:srgbClr val="111827"/>
                    </a:solidFill>
                    <a:latin typeface="Arial"/>
                  </a:rPr>
                  <a:t> in </a:t>
                </a:r>
                <a:r>
                  <a:rPr lang="en-IN" sz="2400">
                    <a:solidFill>
                      <a:srgbClr val="111827"/>
                    </a:solidFill>
                    <a:latin typeface="Cambria Math" panose="02040503050406030204" pitchFamily="18" charset="0"/>
                  </a:rPr>
                  <a:t>$x,y$</a:t>
                </a:r>
                <a:r>
                  <a:rPr sz="2400" b="0">
                    <a:solidFill>
                      <a:srgbClr val="111827"/>
                    </a:solidFill>
                    <a:latin typeface="Arial"/>
                  </a:rPr>
                  <a:t>, so the equation is unchanged under </a:t>
                </a:r>
                <a:r>
                  <a:rPr lang="en-IN" sz="2400">
                    <a:solidFill>
                      <a:srgbClr val="111827"/>
                    </a:solidFill>
                    <a:latin typeface="Cambria Math" panose="02040503050406030204" pitchFamily="18" charset="0"/>
                  </a:rPr>
                  <a:t>$(x,y)\to(\lambda x,\lambda 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Putting </a:t>
                </a:r>
                <a:r>
                  <a:rPr lang="en-IN" sz="2400">
                    <a:solidFill>
                      <a:srgbClr val="111827"/>
                    </a:solidFill>
                    <a:latin typeface="Cambria Math" panose="02040503050406030204" pitchFamily="18" charset="0"/>
                  </a:rPr>
                  <a:t>$y=mx$</a:t>
                </a:r>
                <a:r>
                  <a:rPr sz="2400" b="0">
                    <a:solidFill>
                      <a:srgbClr val="111827"/>
                    </a:solidFill>
                    <a:latin typeface="Arial"/>
                  </a:rPr>
                  <a:t> gives </a:t>
                </a:r>
                <a:r>
                  <a:rPr lang="en-IN" sz="2400">
                    <a:solidFill>
                      <a:srgbClr val="111827"/>
                    </a:solidFill>
                    <a:latin typeface="Cambria Math" panose="02040503050406030204" pitchFamily="18" charset="0"/>
                  </a:rPr>
                  <a:t>$32m^2=(1+m)^4$</a:t>
                </a:r>
                <a:r>
                  <a:rPr sz="2400" b="0">
                    <a:solidFill>
                      <a:srgbClr val="111827"/>
                    </a:solidFill>
                    <a:latin typeface="Arial"/>
                  </a:rPr>
                  <a:t>, a condition on </a:t>
                </a:r>
                <a:r>
                  <a:rPr lang="en-IN" sz="2400">
                    <a:solidFill>
                      <a:srgbClr val="111827"/>
                    </a:solidFill>
                    <a:latin typeface="Cambria Math" panose="02040503050406030204" pitchFamily="18" charset="0"/>
                  </a:rPr>
                  <a:t>$m$</a:t>
                </a:r>
                <a:r>
                  <a:rPr sz="2400" b="0">
                    <a:solidFill>
                      <a:srgbClr val="111827"/>
                    </a:solidFill>
                    <a:latin typeface="Arial"/>
                  </a:rPr>
                  <a:t> alone; hence the curve is a set of straight lines </a:t>
                </a:r>
                <a:r>
                  <a:rPr lang="en-IN" sz="2400">
                    <a:solidFill>
                      <a:srgbClr val="111827"/>
                    </a:solidFill>
                    <a:latin typeface="Cambria Math" panose="02040503050406030204" pitchFamily="18" charset="0"/>
                  </a:rPr>
                  <a:t>$y=mx$</a:t>
                </a:r>
                <a:r>
                  <a:rPr sz="2400" b="0">
                    <a:solidFill>
                      <a:srgbClr val="111827"/>
                    </a:solidFill>
                    <a:latin typeface="Arial"/>
                  </a:rPr>
                  <a:t> through the origin, each with constant </a:t>
                </a:r>
                <a:r>
                  <a:rPr lang="en-IN" sz="2400">
                    <a:solidFill>
                      <a:srgbClr val="111827"/>
                    </a:solidFill>
                    <a:latin typeface="Cambria Math" panose="02040503050406030204" pitchFamily="18" charset="0"/>
                  </a:rPr>
                  <a:t>$m$</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 such a line </a:t>
                </a:r>
                <a:r>
                  <a:rPr lang="en-IN" sz="2400">
                    <a:solidFill>
                      <a:srgbClr val="111827"/>
                    </a:solidFill>
                    <a:latin typeface="Cambria Math" panose="02040503050406030204" pitchFamily="18" charset="0"/>
                  </a:rPr>
                  <a:t>$\frac{dy}{dx}=m=\frac{y}{x}$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Differentiating again,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(equivalently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𝑥</m:t>
                    </m:r>
                  </m:oMath>
                </a14:m>
                <a:r>
                  <a:rPr sz="2400" b="0">
                    <a:solidFill>
                      <a:srgbClr val="111827"/>
                    </a:solidFill>
                    <a:latin typeface="Arial"/>
                  </a:rPr>
                  <a:t> is linear).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every point of the curve, giving option (A). (As printed,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32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so it is not on the curve; the intended answer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is unaffected.)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Differentiating again, </a:t>
                </a:r>
                <a:r>
                  <a:rPr lang="en-IN" sz="2400">
                    <a:solidFill>
                      <a:srgbClr val="111827"/>
                    </a:solidFill>
                    <a:latin typeface="Cambria Math" panose="02040503050406030204" pitchFamily="18" charset="0"/>
                  </a:rPr>
                  <a:t>$\frac{d^2y}{dx^2}=\frac{x\,y'-y}{x^2}=\frac{y-y}{x^2}=0$</a:t>
                </a:r>
                <a:r>
                  <a:rPr sz="2400" b="0">
                    <a:solidFill>
                      <a:srgbClr val="111827"/>
                    </a:solidFill>
                    <a:latin typeface="Arial"/>
                  </a:rPr>
                  <a:t> (equivalently </a:t>
                </a:r>
                <a:r>
                  <a:rPr lang="en-IN" sz="2400">
                    <a:solidFill>
                      <a:srgbClr val="111827"/>
                    </a:solidFill>
                    <a:latin typeface="Cambria Math" panose="02040503050406030204" pitchFamily="18" charset="0"/>
                  </a:rPr>
                  <a:t>$y=mx$</a:t>
                </a:r>
                <a:r>
                  <a:rPr sz="2400" b="0">
                    <a:solidFill>
                      <a:srgbClr val="111827"/>
                    </a:solidFill>
                    <a:latin typeface="Arial"/>
                  </a:rPr>
                  <a:t> is linear).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$\frac{d^2y}{dx^2}=0$</a:t>
                </a:r>
                <a:r>
                  <a:rPr sz="2400" b="0">
                    <a:solidFill>
                      <a:srgbClr val="111827"/>
                    </a:solidFill>
                    <a:latin typeface="Arial"/>
                  </a:rPr>
                  <a:t> at every point of the curve, giving option (A). (As printed, </a:t>
                </a:r>
                <a:r>
                  <a:rPr lang="en-IN" sz="2400">
                    <a:solidFill>
                      <a:srgbClr val="111827"/>
                    </a:solidFill>
                    <a:latin typeface="Cambria Math" panose="02040503050406030204" pitchFamily="18" charset="0"/>
                  </a:rPr>
                  <a:t>$(1,1)$</a:t>
                </a:r>
                <a:r>
                  <a:rPr sz="2400" b="0">
                    <a:solidFill>
                      <a:srgbClr val="111827"/>
                    </a:solidFill>
                    <a:latin typeface="Arial"/>
                  </a:rPr>
                  <a:t> gives </a:t>
                </a:r>
                <a:r>
                  <a:rPr lang="en-IN" sz="2400">
                    <a:solidFill>
                      <a:srgbClr val="111827"/>
                    </a:solidFill>
                    <a:latin typeface="Cambria Math" panose="02040503050406030204" pitchFamily="18" charset="0"/>
                  </a:rPr>
                  <a:t>$32\neq16$</a:t>
                </a:r>
                <a:r>
                  <a:rPr sz="2400" b="0">
                    <a:solidFill>
                      <a:srgbClr val="111827"/>
                    </a:solidFill>
                    <a:latin typeface="Arial"/>
                  </a:rPr>
                  <a:t>, so it is not on the curve; the intended answer </a:t>
                </a:r>
                <a:r>
                  <a:rPr lang="en-IN" sz="2400">
                    <a:solidFill>
                      <a:srgbClr val="111827"/>
                    </a:solidFill>
                    <a:latin typeface="Cambria Math" panose="02040503050406030204" pitchFamily="18" charset="0"/>
                  </a:rPr>
                  <a:t>$0$</a:t>
                </a:r>
                <a:r>
                  <a:rPr sz="2400" b="0">
                    <a:solidFill>
                      <a:srgbClr val="111827"/>
                    </a:solidFill>
                    <a:latin typeface="Arial"/>
                  </a:rPr>
                  <a:t> is unaffected.)</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a:t>
            </a:r>
            <a:endParaRPr sz="2800">
              <a:solidFill>
                <a:srgbClr val="15803D"/>
              </a:solidFill>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Factorise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4</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32</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sSup>
                      <m:e>
                        <m:r>
                          <a:rPr lang="en-IN" sz="2400" i="1">
                            <a:solidFill>
                              <a:srgbClr val="78350F"/>
                            </a:solidFill>
                            <a:latin typeface="Cambria Math" panose="02040503050406030204" pitchFamily="18" charset="0"/>
                          </a:rPr>
                          <m:t>𝑦</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into two homogeneous quadratics, which show explicitly that the curve is four lines through the origin.</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Factorise </a:t>
                </a:r>
                <a:r>
                  <a:rPr lang="en-IN" sz="2400">
                    <a:solidFill>
                      <a:srgbClr val="78350F"/>
                    </a:solidFill>
                    <a:latin typeface="Cambria Math" panose="02040503050406030204" pitchFamily="18" charset="0"/>
                  </a:rPr>
                  <a:t>$(x+y)^4-32x^2y^2$</a:t>
                </a:r>
                <a:r>
                  <a:rPr sz="2400" b="0">
                    <a:solidFill>
                      <a:srgbClr val="78350F"/>
                    </a:solidFill>
                    <a:latin typeface="Arial"/>
                  </a:rPr>
                  <a:t> into two homogeneous quadratics, which show explicitly that the curve is four lines through the origin.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e>
                    </m:d>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e>
                    </m:d>
                  </m:oMath>
                </a14:m>
                <a:r>
                  <a:rPr sz="2400" b="0">
                    <a:solidFill>
                      <a:srgbClr val="111827"/>
                    </a:solidFill>
                    <a:latin typeface="Arial"/>
                  </a:rPr>
                  <a:t>, a difference of squares since </a:t>
                </a:r>
                <a14:m>
                  <m:oMath xmlns:m="http://schemas.openxmlformats.org/officeDocument/2006/math">
                    <m:r>
                      <a:rPr lang="en-IN" sz="2400" i="1">
                        <a:solidFill>
                          <a:srgbClr val="111827"/>
                        </a:solidFill>
                        <a:latin typeface="Cambria Math" panose="02040503050406030204" pitchFamily="18" charset="0"/>
                      </a:rPr>
                      <m:t>32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factors are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each homogeneous of degree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Each, with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𝑥</m:t>
                    </m:r>
                  </m:oMath>
                </a14:m>
                <a:r>
                  <a:rPr sz="2400" b="0">
                    <a:solidFill>
                      <a:srgbClr val="111827"/>
                    </a:solidFill>
                    <a:latin typeface="Arial"/>
                  </a:rPr>
                  <a:t>, is </a:t>
                </a:r>
                <a14:m>
                  <m:oMath xmlns:m="http://schemas.openxmlformats.org/officeDocument/2006/math">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with discriminant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two real slopes each: four real lines through the origin.</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a:t>
                </a:r>
                <a:r>
                  <a:rPr lang="en-IN" sz="2400">
                    <a:solidFill>
                      <a:srgbClr val="111827"/>
                    </a:solidFill>
                    <a:latin typeface="Cambria Math" panose="02040503050406030204" pitchFamily="18" charset="0"/>
                  </a:rPr>
                  <a:t>$(x+y)^4-32x^2y^2=\left[(x+y)^2-4\sqrt2\,xy\right]\left[(x+y)^2+4\sqrt2\,xy\right]$</a:t>
                </a:r>
                <a:r>
                  <a:rPr sz="2400" b="0">
                    <a:solidFill>
                      <a:srgbClr val="111827"/>
                    </a:solidFill>
                    <a:latin typeface="Arial"/>
                  </a:rPr>
                  <a:t>, a difference of squares since </a:t>
                </a:r>
                <a:r>
                  <a:rPr lang="en-IN" sz="2400">
                    <a:solidFill>
                      <a:srgbClr val="111827"/>
                    </a:solidFill>
                    <a:latin typeface="Cambria Math" panose="02040503050406030204" pitchFamily="18" charset="0"/>
                  </a:rPr>
                  <a:t>$32x^2y^2=(4\sqrt2\,xy)^2$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factors are </a:t>
                </a:r>
                <a:r>
                  <a:rPr lang="en-IN" sz="2400">
                    <a:solidFill>
                      <a:srgbClr val="111827"/>
                    </a:solidFill>
                    <a:latin typeface="Cambria Math" panose="02040503050406030204" pitchFamily="18" charset="0"/>
                  </a:rPr>
                  <a:t>$x^2+(2-4\sqrt2)xy+y^2$</a:t>
                </a:r>
                <a:r>
                  <a:rPr sz="2400" b="0">
                    <a:solidFill>
                      <a:srgbClr val="111827"/>
                    </a:solidFill>
                    <a:latin typeface="Arial"/>
                  </a:rPr>
                  <a:t> and </a:t>
                </a:r>
                <a:r>
                  <a:rPr lang="en-IN" sz="2400">
                    <a:solidFill>
                      <a:srgbClr val="111827"/>
                    </a:solidFill>
                    <a:latin typeface="Cambria Math" panose="02040503050406030204" pitchFamily="18" charset="0"/>
                  </a:rPr>
                  <a:t>$x^2+(2+4\sqrt2)xy+y^2$</a:t>
                </a:r>
                <a:r>
                  <a:rPr sz="2400" b="0">
                    <a:solidFill>
                      <a:srgbClr val="111827"/>
                    </a:solidFill>
                    <a:latin typeface="Arial"/>
                  </a:rPr>
                  <a:t>, each homogeneous of degree </a:t>
                </a:r>
                <a:r>
                  <a:rPr lang="en-IN" sz="2400">
                    <a:solidFill>
                      <a:srgbClr val="111827"/>
                    </a:solidFill>
                    <a:latin typeface="Cambria Math" panose="02040503050406030204" pitchFamily="18" charset="0"/>
                  </a:rPr>
                  <a: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Each, with </a:t>
                </a:r>
                <a:r>
                  <a:rPr lang="en-IN" sz="2400">
                    <a:solidFill>
                      <a:srgbClr val="111827"/>
                    </a:solidFill>
                    <a:latin typeface="Cambria Math" panose="02040503050406030204" pitchFamily="18" charset="0"/>
                  </a:rPr>
                  <a:t>$y=mx$</a:t>
                </a:r>
                <a:r>
                  <a:rPr sz="2400" b="0">
                    <a:solidFill>
                      <a:srgbClr val="111827"/>
                    </a:solidFill>
                    <a:latin typeface="Arial"/>
                  </a:rPr>
                  <a:t>, is </a:t>
                </a:r>
                <a:r>
                  <a:rPr lang="en-IN" sz="2400">
                    <a:solidFill>
                      <a:srgbClr val="111827"/>
                    </a:solidFill>
                    <a:latin typeface="Cambria Math" panose="02040503050406030204" pitchFamily="18" charset="0"/>
                  </a:rPr>
                  <a:t>$m^2+(2\mp4\sqrt2)m+1=0$</a:t>
                </a:r>
                <a:r>
                  <a:rPr sz="2400" b="0">
                    <a:solidFill>
                      <a:srgbClr val="111827"/>
                    </a:solidFill>
                    <a:latin typeface="Arial"/>
                  </a:rPr>
                  <a:t> with discriminant </a:t>
                </a:r>
                <a:r>
                  <a:rPr lang="en-IN" sz="2400">
                    <a:solidFill>
                      <a:srgbClr val="111827"/>
                    </a:solidFill>
                    <a:latin typeface="Cambria Math" panose="02040503050406030204" pitchFamily="18" charset="0"/>
                  </a:rPr>
                  <a:t>$(2\mp4\sqrt2)^2-4&gt;0$</a:t>
                </a:r>
                <a:r>
                  <a:rPr sz="2400" b="0">
                    <a:solidFill>
                      <a:srgbClr val="111827"/>
                    </a:solidFill>
                    <a:latin typeface="Arial"/>
                  </a:rPr>
                  <a:t>, so two real slopes each: four real lines through the origin.</a:t>
                </a:r>
                <a:endParaRPr sz="2400">
                  <a:solidFill>
                    <a:srgbClr val="111827"/>
                  </a:solidFill>
                </a:endParaRPr>
              </a:p>
            </p:txBody>
          </p:sp>
        </mc:Fallback>
      </mc:AlternateContent>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On each line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𝑥</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constant,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every point of the curve: option (A).</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On each line </a:t>
                </a:r>
                <a:r>
                  <a:rPr lang="en-IN" sz="2400">
                    <a:solidFill>
                      <a:srgbClr val="111827"/>
                    </a:solidFill>
                    <a:latin typeface="Cambria Math" panose="02040503050406030204" pitchFamily="18" charset="0"/>
                  </a:rPr>
                  <a:t>$y=mx$</a:t>
                </a:r>
                <a:r>
                  <a:rPr sz="2400" b="0">
                    <a:solidFill>
                      <a:srgbClr val="111827"/>
                    </a:solidFill>
                    <a:latin typeface="Arial"/>
                  </a:rPr>
                  <a:t> with </a:t>
                </a:r>
                <a:r>
                  <a:rPr lang="en-IN" sz="2400">
                    <a:solidFill>
                      <a:srgbClr val="111827"/>
                    </a:solidFill>
                    <a:latin typeface="Cambria Math" panose="02040503050406030204" pitchFamily="18" charset="0"/>
                  </a:rPr>
                  <a:t>$m$</a:t>
                </a:r>
                <a:r>
                  <a:rPr sz="2400" b="0">
                    <a:solidFill>
                      <a:srgbClr val="111827"/>
                    </a:solidFill>
                    <a:latin typeface="Arial"/>
                  </a:rPr>
                  <a:t> constant, </a:t>
                </a:r>
                <a:r>
                  <a:rPr lang="en-IN" sz="2400">
                    <a:solidFill>
                      <a:srgbClr val="111827"/>
                    </a:solidFill>
                    <a:latin typeface="Cambria Math" panose="02040503050406030204" pitchFamily="18" charset="0"/>
                  </a:rPr>
                  <a:t>$y'=m$</a:t>
                </a:r>
                <a:r>
                  <a:rPr sz="2400" b="0">
                    <a:solidFill>
                      <a:srgbClr val="111827"/>
                    </a:solidFill>
                    <a:latin typeface="Arial"/>
                  </a:rPr>
                  <a:t> and </a:t>
                </a:r>
                <a:r>
                  <a:rPr lang="en-IN" sz="2400">
                    <a:solidFill>
                      <a:srgbClr val="111827"/>
                    </a:solidFill>
                    <a:latin typeface="Cambria Math" panose="02040503050406030204" pitchFamily="18" charset="0"/>
                  </a:rPr>
                  <a:t>$y''=0$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$\frac{d^2y}{dx^2}=0$</a:t>
                </a:r>
                <a:r>
                  <a:rPr sz="2400" b="0">
                    <a:solidFill>
                      <a:srgbClr val="111827"/>
                    </a:solidFill>
                    <a:latin typeface="Arial"/>
                  </a:rPr>
                  <a:t> at every point of the curve: option (A).</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a:t>
            </a:r>
            <a:endParaRPr sz="2800">
              <a:solidFill>
                <a:srgbClr val="15803D"/>
              </a:solidFill>
            </a:endParaR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𝐹</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 homogeneous polynomial, then </a:t>
                </a:r>
                <a14:m>
                  <m:oMath xmlns:m="http://schemas.openxmlformats.org/officeDocument/2006/math">
                    <m:r>
                      <a:rPr lang="en-IN" sz="2400" i="1">
                        <a:solidFill>
                          <a:srgbClr val="111827"/>
                        </a:solidFill>
                        <a:latin typeface="Cambria Math" panose="02040503050406030204" pitchFamily="18" charset="0"/>
                      </a:rPr>
                      <m:t>𝐹</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a union of lines through the origin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𝑥</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a root of </a:t>
                </a:r>
                <a14:m>
                  <m:oMath xmlns:m="http://schemas.openxmlformats.org/officeDocument/2006/math">
                    <m:r>
                      <a:rPr lang="en-IN" sz="2400" i="1">
                        <a:solidFill>
                          <a:srgbClr val="111827"/>
                        </a:solidFill>
                        <a:latin typeface="Cambria Math" panose="02040503050406030204" pitchFamily="18" charset="0"/>
                      </a:rPr>
                      <m:t>𝐹</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Euler: for </a:t>
                </a:r>
                <a14:m>
                  <m:oMath xmlns:m="http://schemas.openxmlformats.org/officeDocument/2006/math">
                    <m:r>
                      <a:rPr lang="en-IN" sz="2400" i="1">
                        <a:solidFill>
                          <a:srgbClr val="111827"/>
                        </a:solidFill>
                        <a:latin typeface="Cambria Math" panose="02040503050406030204" pitchFamily="18" charset="0"/>
                      </a:rPr>
                      <m:t>𝐹</m:t>
                    </m:r>
                  </m:oMath>
                </a14:m>
                <a:r>
                  <a:rPr sz="2400" b="0">
                    <a:solidFill>
                      <a:srgbClr val="111827"/>
                    </a:solidFill>
                    <a:latin typeface="Arial"/>
                  </a:rPr>
                  <a:t> homogeneous of degree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𝑥</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𝑦</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𝐹</m:t>
                    </m:r>
                  </m:oMath>
                </a14:m>
                <a:r>
                  <a:rPr sz="2400" b="0">
                    <a:solidFill>
                      <a:srgbClr val="111827"/>
                    </a:solidFill>
                    <a:latin typeface="Arial"/>
                  </a:rPr>
                  <a:t>; on </a:t>
                </a:r>
                <a14:m>
                  <m:oMath xmlns:m="http://schemas.openxmlformats.org/officeDocument/2006/math">
                    <m:r>
                      <a:rPr lang="en-IN" sz="2400" i="1">
                        <a:solidFill>
                          <a:srgbClr val="111827"/>
                        </a:solidFill>
                        <a:latin typeface="Cambria Math" panose="02040503050406030204" pitchFamily="18" charset="0"/>
                      </a:rPr>
                      <m:t>𝐹</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this gives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𝑥</m:t>
                            </m:r>
                          </m:sub>
                        </m:sSub>
                      </m:num>
                      <m:den>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𝑦</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 line through the origin has zero second derivative.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that the given point lies on the curve; here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does not, but the conclusion holds at every point that does.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$F(x,y)$</a:t>
                </a:r>
                <a:r>
                  <a:rPr sz="2400" b="0">
                    <a:solidFill>
                      <a:srgbClr val="111827"/>
                    </a:solidFill>
                    <a:latin typeface="Arial"/>
                  </a:rPr>
                  <a:t> is a homogeneous polynomial, then </a:t>
                </a:r>
                <a:r>
                  <a:rPr lang="en-IN" sz="2400">
                    <a:solidFill>
                      <a:srgbClr val="111827"/>
                    </a:solidFill>
                    <a:latin typeface="Cambria Math" panose="02040503050406030204" pitchFamily="18" charset="0"/>
                  </a:rPr>
                  <a:t>$F(x,y)=0$</a:t>
                </a:r>
                <a:r>
                  <a:rPr sz="2400" b="0">
                    <a:solidFill>
                      <a:srgbClr val="111827"/>
                    </a:solidFill>
                    <a:latin typeface="Arial"/>
                  </a:rPr>
                  <a:t> is a union of lines through the origin (</a:t>
                </a:r>
                <a:r>
                  <a:rPr lang="en-IN" sz="2400">
                    <a:solidFill>
                      <a:srgbClr val="111827"/>
                    </a:solidFill>
                    <a:latin typeface="Cambria Math" panose="02040503050406030204" pitchFamily="18" charset="0"/>
                  </a:rPr>
                  <a:t>$y=mx$</a:t>
                </a:r>
                <a:r>
                  <a:rPr sz="2400" b="0">
                    <a:solidFill>
                      <a:srgbClr val="111827"/>
                    </a:solidFill>
                    <a:latin typeface="Arial"/>
                  </a:rPr>
                  <a:t> with </a:t>
                </a:r>
                <a:r>
                  <a:rPr lang="en-IN" sz="2400">
                    <a:solidFill>
                      <a:srgbClr val="111827"/>
                    </a:solidFill>
                    <a:latin typeface="Cambria Math" panose="02040503050406030204" pitchFamily="18" charset="0"/>
                  </a:rPr>
                  <a:t>$m$</a:t>
                </a:r>
                <a:r>
                  <a:rPr sz="2400" b="0">
                    <a:solidFill>
                      <a:srgbClr val="111827"/>
                    </a:solidFill>
                    <a:latin typeface="Arial"/>
                  </a:rPr>
                  <a:t> a root of </a:t>
                </a:r>
                <a:r>
                  <a:rPr lang="en-IN" sz="2400">
                    <a:solidFill>
                      <a:srgbClr val="111827"/>
                    </a:solidFill>
                    <a:latin typeface="Cambria Math" panose="02040503050406030204" pitchFamily="18" charset="0"/>
                  </a:rPr>
                  <a:t>$F(1,m)=0$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Euler: for </a:t>
                </a:r>
                <a:r>
                  <a:rPr lang="en-IN" sz="2400">
                    <a:solidFill>
                      <a:srgbClr val="111827"/>
                    </a:solidFill>
                    <a:latin typeface="Cambria Math" panose="02040503050406030204" pitchFamily="18" charset="0"/>
                  </a:rPr>
                  <a:t>$F$</a:t>
                </a:r>
                <a:r>
                  <a:rPr sz="2400" b="0">
                    <a:solidFill>
                      <a:srgbClr val="111827"/>
                    </a:solidFill>
                    <a:latin typeface="Arial"/>
                  </a:rPr>
                  <a:t> homogeneous of degree </a:t>
                </a:r>
                <a:r>
                  <a:rPr lang="en-IN" sz="2400">
                    <a:solidFill>
                      <a:srgbClr val="111827"/>
                    </a:solidFill>
                    <a:latin typeface="Cambria Math" panose="02040503050406030204" pitchFamily="18" charset="0"/>
                  </a:rPr>
                  <a:t>$n$</a:t>
                </a:r>
                <a:r>
                  <a:rPr sz="2400" b="0">
                    <a:solidFill>
                      <a:srgbClr val="111827"/>
                    </a:solidFill>
                    <a:latin typeface="Arial"/>
                  </a:rPr>
                  <a:t>, </a:t>
                </a:r>
                <a:r>
                  <a:rPr lang="en-IN" sz="2400">
                    <a:solidFill>
                      <a:srgbClr val="111827"/>
                    </a:solidFill>
                    <a:latin typeface="Cambria Math" panose="02040503050406030204" pitchFamily="18" charset="0"/>
                  </a:rPr>
                  <a:t>$xF_x+yF_y=nF$</a:t>
                </a:r>
                <a:r>
                  <a:rPr sz="2400" b="0">
                    <a:solidFill>
                      <a:srgbClr val="111827"/>
                    </a:solidFill>
                    <a:latin typeface="Arial"/>
                  </a:rPr>
                  <a:t>; on </a:t>
                </a:r>
                <a:r>
                  <a:rPr lang="en-IN" sz="2400">
                    <a:solidFill>
                      <a:srgbClr val="111827"/>
                    </a:solidFill>
                    <a:latin typeface="Cambria Math" panose="02040503050406030204" pitchFamily="18" charset="0"/>
                  </a:rPr>
                  <a:t>$F=0$</a:t>
                </a:r>
                <a:r>
                  <a:rPr sz="2400" b="0">
                    <a:solidFill>
                      <a:srgbClr val="111827"/>
                    </a:solidFill>
                    <a:latin typeface="Arial"/>
                  </a:rPr>
                  <a:t> this gives </a:t>
                </a:r>
                <a:r>
                  <a:rPr lang="en-IN" sz="2400">
                    <a:solidFill>
                      <a:srgbClr val="111827"/>
                    </a:solidFill>
                    <a:latin typeface="Cambria Math" panose="02040503050406030204" pitchFamily="18" charset="0"/>
                  </a:rPr>
                  <a:t>$y'=-\frac{F_x}{F_y}=\frac{y}{x}$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$y'=\frac{y}{x}$</a:t>
                </a:r>
                <a:r>
                  <a:rPr sz="2400" b="0">
                    <a:solidFill>
                      <a:srgbClr val="111827"/>
                    </a:solidFill>
                    <a:latin typeface="Arial"/>
                  </a:rPr>
                  <a:t>: </a:t>
                </a:r>
                <a:r>
                  <a:rPr lang="en-IN" sz="2400">
                    <a:solidFill>
                      <a:srgbClr val="111827"/>
                    </a:solidFill>
                    <a:latin typeface="Cambria Math" panose="02040503050406030204" pitchFamily="18" charset="0"/>
                  </a:rPr>
                  <a:t>$y''=\frac{xy'-y}{x^2}=0$</a:t>
                </a:r>
                <a:r>
                  <a:rPr sz="2400" b="0">
                    <a:solidFill>
                      <a:srgbClr val="111827"/>
                    </a:solidFill>
                    <a:latin typeface="Arial"/>
                  </a:rPr>
                  <a:t>. A line through the origin has zero second derivative.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that the given point lies on the curve; here </a:t>
                </a:r>
                <a:r>
                  <a:rPr lang="en-IN" sz="2400">
                    <a:solidFill>
                      <a:srgbClr val="111827"/>
                    </a:solidFill>
                    <a:latin typeface="Cambria Math" panose="02040503050406030204" pitchFamily="18" charset="0"/>
                  </a:rPr>
                  <a:t>$(1,1)$</a:t>
                </a:r>
                <a:r>
                  <a:rPr sz="2400" b="0">
                    <a:solidFill>
                      <a:srgbClr val="111827"/>
                    </a:solidFill>
                    <a:latin typeface="Arial"/>
                  </a:rPr>
                  <a:t> does not, but the conclusion holds at every point that does.</a:t>
                </a:r>
                <a:endParaRPr sz="2400">
                  <a:solidFill>
                    <a:srgbClr val="111827"/>
                  </a:solidFill>
                </a:endParaRPr>
              </a:p>
            </p:txBody>
          </p:sp>
        </mc:Fallback>
      </mc:AlternateContent>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2910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and value of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e>
                    </m:d>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e>
                        </m:d>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is constant, then value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4</m:t>
                    </m:r>
                  </m:oMath>
                </a14:m>
                <a:endParaRPr sz="2400">
                  <a:solidFill>
                    <a:srgbClr val="111827"/>
                  </a:solidFill>
                </a:endParaRPr>
              </a:p>
            </p:txBody>
          </p:sp>
        </mc:Choice>
        <mc:Fallback>
          <p:sp>
            <p:nvSpPr>
              <p:cNvPr id="4" name="Rounded Rectangle 3"/>
              <p:cNvSpPr/>
              <p:nvPr/>
            </p:nvSpPr>
            <p:spPr>
              <a:xfrm>
                <a:off x="731520" y="1280160"/>
                <a:ext cx="10725912" cy="22910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$x=2+t^3$</a:t>
                </a:r>
                <a:r>
                  <a:rPr sz="2400" b="0">
                    <a:solidFill>
                      <a:srgbClr val="111827"/>
                    </a:solidFill>
                    <a:latin typeface="Arial"/>
                  </a:rPr>
                  <a:t>, </a:t>
                </a:r>
                <a:r>
                  <a:rPr lang="en-IN" sz="2400">
                    <a:solidFill>
                      <a:srgbClr val="111827"/>
                    </a:solidFill>
                    <a:latin typeface="Cambria Math" panose="02040503050406030204" pitchFamily="18" charset="0"/>
                  </a:rPr>
                  <a:t>$y=3t^2$</a:t>
                </a:r>
                <a:r>
                  <a:rPr sz="2400" b="0">
                    <a:solidFill>
                      <a:srgbClr val="111827"/>
                    </a:solidFill>
                    <a:latin typeface="Arial"/>
                  </a:rPr>
                  <a:t> and value of </a:t>
                </a:r>
                <a:r>
                  <a:rPr lang="en-IN" sz="2400">
                    <a:solidFill>
                      <a:srgbClr val="111827"/>
                    </a:solidFill>
                    <a:latin typeface="Cambria Math" panose="02040503050406030204" pitchFamily="18" charset="0"/>
                  </a:rPr>
                  <a:t>$\left(\frac{d^2y}{dx^2}\right)\left(\frac{dy}{dx}\right)^n$</a:t>
                </a:r>
                <a:r>
                  <a:rPr sz="2400" b="0">
                    <a:solidFill>
                      <a:srgbClr val="111827"/>
                    </a:solidFill>
                    <a:latin typeface="Arial"/>
                  </a:rPr>
                  <a:t> is constant, then value of </a:t>
                </a:r>
                <a:r>
                  <a:rPr lang="en-IN" sz="2400">
                    <a:solidFill>
                      <a:srgbClr val="111827"/>
                    </a:solidFill>
                    <a:latin typeface="Cambria Math" panose="02040503050406030204" pitchFamily="18" charset="0"/>
                  </a:rPr>
                  <a:t>$n$</a:t>
                </a:r>
                <a:r>
                  <a:rPr sz="2400" b="0">
                    <a:solidFill>
                      <a:srgbClr val="111827"/>
                    </a:solidFill>
                    <a:latin typeface="Arial"/>
                  </a:rPr>
                  <a:t>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a:t>
                </a:r>
                <a:r>
                  <a:rPr sz="2400" b="0">
                    <a:solidFill>
                      <a:srgbClr val="111827"/>
                    </a:solidFill>
                    <a:latin typeface="Arial"/>
                  </a:rPr>
                  <a:t>   (B) </a:t>
                </a:r>
                <a:r>
                  <a:rPr lang="en-IN" sz="2400">
                    <a:solidFill>
                      <a:srgbClr val="111827"/>
                    </a:solidFill>
                    <a:latin typeface="Cambria Math" panose="02040503050406030204" pitchFamily="18" charset="0"/>
                  </a:rPr>
                  <a:t>$2$</a:t>
                </a:r>
                <a:r>
                  <a:rPr sz="2400" b="0">
                    <a:solidFill>
                      <a:srgbClr val="111827"/>
                    </a:solidFill>
                    <a:latin typeface="Arial"/>
                  </a:rPr>
                  <a:t>   (C) </a:t>
                </a:r>
                <a:r>
                  <a:rPr lang="en-IN" sz="2400">
                    <a:solidFill>
                      <a:srgbClr val="111827"/>
                    </a:solidFill>
                    <a:latin typeface="Cambria Math" panose="02040503050406030204" pitchFamily="18" charset="0"/>
                  </a:rPr>
                  <a:t>$3$</a:t>
                </a:r>
                <a:r>
                  <a:rPr sz="2400" b="0">
                    <a:solidFill>
                      <a:srgbClr val="111827"/>
                    </a:solidFill>
                    <a:latin typeface="Arial"/>
                  </a:rPr>
                  <a:t>   (D) </a:t>
                </a:r>
                <a:r>
                  <a:rPr lang="en-IN" sz="2400">
                    <a:solidFill>
                      <a:srgbClr val="111827"/>
                    </a:solidFill>
                    <a:latin typeface="Cambria Math" panose="02040503050406030204" pitchFamily="18" charset="0"/>
                  </a:rPr>
                  <a:t>$4$</a:t>
                </a:r>
                <a:endParaRPr sz="2400">
                  <a:solidFill>
                    <a:srgbClr val="111827"/>
                  </a:solidFill>
                </a:endParaRPr>
              </a:p>
            </p:txBody>
          </p:sp>
        </mc:Fallback>
      </mc:AlternateContent>
      <p:sp>
        <p:nvSpPr>
          <p:cNvPr id="5" name="Rectangle 4"/>
          <p:cNvSpPr/>
          <p:nvPr/>
        </p:nvSpPr>
        <p:spPr>
          <a:xfrm>
            <a:off x="731520" y="3799839"/>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Parametric differentiation and second derivative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Get </a:t>
                </a:r>
                <a14:m>
                  <m:oMath xmlns:m="http://schemas.openxmlformats.org/officeDocument/2006/math">
                    <m:sSup>
                      <m:e>
                        <m:r>
                          <a:rPr lang="en-IN" sz="2400" i="1">
                            <a:solidFill>
                              <a:srgbClr val="78350F"/>
                            </a:solidFill>
                            <a:latin typeface="Cambria Math" panose="02040503050406030204" pitchFamily="18" charset="0"/>
                          </a:rPr>
                          <m:t>𝑦</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𝑑</m:t>
                        </m:r>
                      </m:num>
                      <m:den>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𝑡</m:t>
                        </m:r>
                      </m:den>
                    </m:f>
                    <m:d>
                      <m:dPr>
                        <m:begChr m:val="("/>
                        <m:sepChr m:val=""/>
                        <m:endChr m:val=")"/>
                        <m:grow/>
                        <m:ctrlPr>
                          <a:rPr lang="en-IN" sz="2400" i="1">
                            <a:solidFill>
                              <a:srgbClr val="78350F"/>
                            </a:solidFill>
                            <a:latin typeface="Cambria Math" panose="02040503050406030204" pitchFamily="18" charset="0"/>
                          </a:rPr>
                        </m:ctrlPr>
                      </m:dPr>
                      <m:e>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𝑦</m:t>
                            </m:r>
                          </m:num>
                          <m:den>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𝑥</m:t>
                            </m:r>
                          </m:den>
                        </m:f>
                      </m:e>
                    </m:d>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𝑡</m:t>
                        </m:r>
                      </m:num>
                      <m:den>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𝑥</m:t>
                        </m:r>
                      </m:den>
                    </m:f>
                  </m:oMath>
                </a14:m>
                <a:r>
                  <a:rPr sz="2400" b="0">
                    <a:solidFill>
                      <a:srgbClr val="78350F"/>
                    </a:solidFill>
                    <a:latin typeface="Arial"/>
                  </a:rPr>
                  <a:t> and match the powers of </a:t>
                </a:r>
                <a14:m>
                  <m:oMath xmlns:m="http://schemas.openxmlformats.org/officeDocument/2006/math">
                    <m:r>
                      <a:rPr lang="en-IN" sz="2400" i="1">
                        <a:solidFill>
                          <a:srgbClr val="78350F"/>
                        </a:solidFill>
                        <a:latin typeface="Cambria Math" panose="02040503050406030204" pitchFamily="18" charset="0"/>
                      </a:rPr>
                      <m:t>𝑡</m:t>
                    </m:r>
                  </m:oMath>
                </a14:m>
                <a:r>
                  <a:rPr sz="2400" b="0">
                    <a:solidFill>
                      <a:srgbClr val="78350F"/>
                    </a:solidFill>
                    <a:latin typeface="Arial"/>
                  </a:rPr>
                  <a:t> in </a:t>
                </a:r>
                <a14:m>
                  <m:oMath xmlns:m="http://schemas.openxmlformats.org/officeDocument/2006/math">
                    <m:sSup>
                      <m:e>
                        <m:r>
                          <a:rPr lang="en-IN" sz="2400" i="1">
                            <a:solidFill>
                              <a:srgbClr val="78350F"/>
                            </a:solidFill>
                            <a:latin typeface="Cambria Math" panose="02040503050406030204" pitchFamily="18" charset="0"/>
                          </a:rPr>
                          <m:t>𝑦</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and </a:t>
                </a:r>
                <a14:m>
                  <m:oMath xmlns:m="http://schemas.openxmlformats.org/officeDocument/2006/math">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𝑦</m:t>
                        </m:r>
                      </m:e>
                      <m:sup>
                        <m:r>
                          <m:rPr>
                            <m:sty m:val="p"/>
                          </m:rPr>
                          <a:rPr lang="en-IN" sz="2400">
                            <a:solidFill>
                              <a:srgbClr val="78350F"/>
                            </a:solidFill>
                            <a:latin typeface="Cambria Math" panose="02040503050406030204" pitchFamily="18" charset="0"/>
                          </a:rPr>
                          <m:t>′</m:t>
                        </m:r>
                      </m:sup>
                    </m:sSup>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𝑛</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Get </a:t>
                </a:r>
                <a:r>
                  <a:rPr lang="en-IN" sz="2400">
                    <a:solidFill>
                      <a:srgbClr val="78350F"/>
                    </a:solidFill>
                    <a:latin typeface="Cambria Math" panose="02040503050406030204" pitchFamily="18" charset="0"/>
                  </a:rPr>
                  <a:t>$y''=\frac{d}{dt}\left(\frac{dy}{dx}\right)\cdot\frac{dt}{dx}$</a:t>
                </a:r>
                <a:r>
                  <a:rPr sz="2400" b="0">
                    <a:solidFill>
                      <a:srgbClr val="78350F"/>
                    </a:solidFill>
                    <a:latin typeface="Arial"/>
                  </a:rPr>
                  <a:t> and match the powers of </a:t>
                </a:r>
                <a:r>
                  <a:rPr lang="en-IN" sz="2400">
                    <a:solidFill>
                      <a:srgbClr val="78350F"/>
                    </a:solidFill>
                    <a:latin typeface="Cambria Math" panose="02040503050406030204" pitchFamily="18" charset="0"/>
                  </a:rPr>
                  <a:t>$t$</a:t>
                </a:r>
                <a:r>
                  <a:rPr sz="2400" b="0">
                    <a:solidFill>
                      <a:srgbClr val="78350F"/>
                    </a:solidFill>
                    <a:latin typeface="Arial"/>
                  </a:rPr>
                  <a:t> in </a:t>
                </a:r>
                <a:r>
                  <a:rPr lang="en-IN" sz="2400">
                    <a:solidFill>
                      <a:srgbClr val="78350F"/>
                    </a:solidFill>
                    <a:latin typeface="Cambria Math" panose="02040503050406030204" pitchFamily="18" charset="0"/>
                  </a:rPr>
                  <a:t>$y''$</a:t>
                </a:r>
                <a:r>
                  <a:rPr sz="2400" b="0">
                    <a:solidFill>
                      <a:srgbClr val="78350F"/>
                    </a:solidFill>
                    <a:latin typeface="Arial"/>
                  </a:rPr>
                  <a:t> and </a:t>
                </a:r>
                <a:r>
                  <a:rPr lang="en-IN" sz="2400">
                    <a:solidFill>
                      <a:srgbClr val="78350F"/>
                    </a:solidFill>
                    <a:latin typeface="Cambria Math" panose="02040503050406030204" pitchFamily="18" charset="0"/>
                  </a:rPr>
                  <a:t>$(y')^n$</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give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𝑡</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𝑡</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𝑡</m:t>
                            </m:r>
                          </m:den>
                        </m:f>
                      </m:e>
                    </m:d>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e>
                        </m: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this is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4</m:t>
                            </m:r>
                          </m:sup>
                        </m:sSup>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$x=2+t^3,\ y=3t^2$</a:t>
                </a:r>
                <a:r>
                  <a:rPr sz="2400" b="0">
                    <a:solidFill>
                      <a:srgbClr val="111827"/>
                    </a:solidFill>
                    <a:latin typeface="Arial"/>
                  </a:rPr>
                  <a:t> give </a:t>
                </a:r>
                <a:r>
                  <a:rPr lang="en-IN" sz="2400">
                    <a:solidFill>
                      <a:srgbClr val="111827"/>
                    </a:solidFill>
                    <a:latin typeface="Cambria Math" panose="02040503050406030204" pitchFamily="18" charset="0"/>
                  </a:rPr>
                  <a:t>$\frac{dx}{dt}=3t^2$</a:t>
                </a:r>
                <a:r>
                  <a:rPr sz="2400" b="0">
                    <a:solidFill>
                      <a:srgbClr val="111827"/>
                    </a:solidFill>
                    <a:latin typeface="Arial"/>
                  </a:rPr>
                  <a:t> and </a:t>
                </a:r>
                <a:r>
                  <a:rPr lang="en-IN" sz="2400">
                    <a:solidFill>
                      <a:srgbClr val="111827"/>
                    </a:solidFill>
                    <a:latin typeface="Cambria Math" panose="02040503050406030204" pitchFamily="18" charset="0"/>
                  </a:rPr>
                  <a:t>$\frac{dy}{dt}=6t$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$\frac{dy}{dx}=\frac{6t}{3t^2}=\frac{2}{t}$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$\frac{d^2y}{dx^2}=\frac{d}{dt}\left(\frac{2}{t}\right)\frac{dt}{dx}=-\frac{2}{t^2}\cdot\frac{dt}{dx}=-\frac{2}{t^2\left(\frac{dx}{dt}\right)}$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$\frac{dx}{dt}=3t^2$</a:t>
                </a:r>
                <a:r>
                  <a:rPr sz="2400" b="0">
                    <a:solidFill>
                      <a:srgbClr val="111827"/>
                    </a:solidFill>
                    <a:latin typeface="Arial"/>
                  </a:rPr>
                  <a:t> this is </a:t>
                </a:r>
                <a:r>
                  <a:rPr lang="en-IN" sz="2400">
                    <a:solidFill>
                      <a:srgbClr val="111827"/>
                    </a:solidFill>
                    <a:latin typeface="Cambria Math" panose="02040503050406030204" pitchFamily="18" charset="0"/>
                  </a:rPr>
                  <a:t>$\frac{d^2y}{dx^2}=-\frac{2}{3t^4}$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product exactly as printed,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num>
                      <m:den>
                        <m:r>
                          <a:rPr lang="en-IN" sz="2400" i="1">
                            <a:solidFill>
                              <a:srgbClr val="111827"/>
                            </a:solidFill>
                            <a:latin typeface="Cambria Math" panose="02040503050406030204" pitchFamily="18" charset="0"/>
                          </a:rPr>
                          <m:t>3</m:t>
                        </m:r>
                      </m:den>
                    </m:f>
                    <m:sSup>
                      <m:e>
                        <m:r>
                          <a:rPr lang="en-IN" sz="2400" i="1">
                            <a:solidFill>
                              <a:srgbClr val="111827"/>
                            </a:solidFill>
                            <a:latin typeface="Cambria Math" panose="02040503050406030204" pitchFamily="18" charset="0"/>
                          </a:rPr>
                          <m:t>𝑡</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up>
                    </m:sSup>
                  </m:oMath>
                </a14:m>
                <a:r>
                  <a:rPr sz="2400" b="0">
                    <a:solidFill>
                      <a:srgbClr val="111827"/>
                    </a:solidFill>
                    <a:latin typeface="Arial"/>
                  </a:rPr>
                  <a:t>, is constant only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which is not an option. The key and the PDF's working use the quotient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num>
                      <m:den>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num>
                      <m:den>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4</m:t>
                            </m:r>
                          </m:sup>
                        </m:sSup>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𝑡</m:t>
                                    </m:r>
                                  </m:den>
                                </m:f>
                              </m:e>
                            </m:d>
                          </m:e>
                          <m:sup>
                            <m:r>
                              <a:rPr lang="en-IN" sz="2400" i="1">
                                <a:solidFill>
                                  <a:srgbClr val="111827"/>
                                </a:solidFill>
                                <a:latin typeface="Cambria Math" panose="02040503050406030204" pitchFamily="18" charset="0"/>
                              </a:rPr>
                              <m:t>𝑛</m:t>
                            </m:r>
                          </m:sup>
                        </m:sSup>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up>
                        </m:sSup>
                      </m:num>
                      <m:den>
                        <m:r>
                          <a:rPr lang="en-IN" sz="2400" i="1">
                            <a:solidFill>
                              <a:srgbClr val="111827"/>
                            </a:solidFill>
                            <a:latin typeface="Cambria Math" panose="02040503050406030204" pitchFamily="18" charset="0"/>
                          </a:rPr>
                          <m:t>3</m:t>
                        </m:r>
                      </m:den>
                    </m:f>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is constant iff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product exactly as printed, </a:t>
                </a:r>
                <a:r>
                  <a:rPr lang="en-IN" sz="2400">
                    <a:solidFill>
                      <a:srgbClr val="111827"/>
                    </a:solidFill>
                    <a:latin typeface="Cambria Math" panose="02040503050406030204" pitchFamily="18" charset="0"/>
                  </a:rPr>
                  <a:t>$y''\,(y')^n=-\frac{2^{n+1}}{3}t^{-4-n}$</a:t>
                </a:r>
                <a:r>
                  <a:rPr sz="2400" b="0">
                    <a:solidFill>
                      <a:srgbClr val="111827"/>
                    </a:solidFill>
                    <a:latin typeface="Arial"/>
                  </a:rPr>
                  <a:t>, is constant only for </a:t>
                </a:r>
                <a:r>
                  <a:rPr lang="en-IN" sz="2400">
                    <a:solidFill>
                      <a:srgbClr val="111827"/>
                    </a:solidFill>
                    <a:latin typeface="Cambria Math" panose="02040503050406030204" pitchFamily="18" charset="0"/>
                  </a:rPr>
                  <a:t>$n=-4$</a:t>
                </a:r>
                <a:r>
                  <a:rPr sz="2400" b="0">
                    <a:solidFill>
                      <a:srgbClr val="111827"/>
                    </a:solidFill>
                    <a:latin typeface="Arial"/>
                  </a:rPr>
                  <a:t>, which is not an option. The key and the PDF's working use the quotient </a:t>
                </a:r>
                <a:r>
                  <a:rPr lang="en-IN" sz="2400">
                    <a:solidFill>
                      <a:srgbClr val="111827"/>
                    </a:solidFill>
                    <a:latin typeface="Cambria Math" panose="02040503050406030204" pitchFamily="18" charset="0"/>
                  </a:rPr>
                  <a:t>$\frac{y''}{(y')^n}$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$\frac{y''}{(y')^n}=\frac{-2}{3t^4\left(\frac{2}{t}\right)^n}=-\frac{2^{1-n}}{3}\,t^{\,n-4}$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is constant iff </a:t>
                </a:r>
                <a:r>
                  <a:rPr lang="en-IN" sz="2400">
                    <a:solidFill>
                      <a:srgbClr val="111827"/>
                    </a:solidFill>
                    <a:latin typeface="Cambria Math" panose="02040503050406030204" pitchFamily="18" charset="0"/>
                  </a:rPr>
                  <a:t>$n-4=0$</a:t>
                </a:r>
                <a:r>
                  <a:rPr sz="2400" b="0">
                    <a:solidFill>
                      <a:srgbClr val="111827"/>
                    </a:solidFill>
                    <a:latin typeface="Arial"/>
                  </a:rPr>
                  <a:t>, so </a:t>
                </a:r>
                <a:r>
                  <a:rPr lang="en-IN" sz="2400">
                    <a:solidFill>
                      <a:srgbClr val="111827"/>
                    </a:solidFill>
                    <a:latin typeface="Cambria Math" panose="02040503050406030204" pitchFamily="18" charset="0"/>
                  </a:rPr>
                  <a:t>$n=4$</a:t>
                </a:r>
                <a:r>
                  <a:rPr sz="2400" b="0">
                    <a:solidFill>
                      <a:srgbClr val="111827"/>
                    </a:solidFill>
                    <a:latin typeface="Arial"/>
                  </a:rPr>
                  <a:t>: option (D).</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a:t>
            </a:r>
            <a:endParaRPr sz="2800">
              <a:solidFill>
                <a:srgbClr val="15803D"/>
              </a:solidFill>
            </a:endParaR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Eliminate the parameter: </a:t>
                </a:r>
                <a14:m>
                  <m:oMath xmlns:m="http://schemas.openxmlformats.org/officeDocument/2006/math">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sup>
                    </m:sSup>
                  </m:oMath>
                </a14:m>
                <a:r>
                  <a:rPr sz="2400" b="0">
                    <a:solidFill>
                      <a:srgbClr val="78350F"/>
                    </a:solidFill>
                    <a:latin typeface="Arial"/>
                  </a:rPr>
                  <a:t> gives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sup>
                    </m:sSup>
                  </m:oMath>
                </a14:m>
                <a:r>
                  <a:rPr sz="2400" b="0">
                    <a:solidFill>
                      <a:srgbClr val="78350F"/>
                    </a:solidFill>
                    <a:latin typeface="Arial"/>
                  </a:rPr>
                  <a:t>, and then only power-rule derivatives are needed.</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Eliminate the parameter: </a:t>
                </a:r>
                <a:r>
                  <a:rPr lang="en-IN" sz="2400">
                    <a:solidFill>
                      <a:srgbClr val="78350F"/>
                    </a:solidFill>
                    <a:latin typeface="Cambria Math" panose="02040503050406030204" pitchFamily="18" charset="0"/>
                  </a:rPr>
                  <a:t>$t=(x-2)^{1/3}$</a:t>
                </a:r>
                <a:r>
                  <a:rPr sz="2400" b="0">
                    <a:solidFill>
                      <a:srgbClr val="78350F"/>
                    </a:solidFill>
                    <a:latin typeface="Arial"/>
                  </a:rPr>
                  <a:t> gives </a:t>
                </a:r>
                <a:r>
                  <a:rPr lang="en-IN" sz="2400">
                    <a:solidFill>
                      <a:srgbClr val="78350F"/>
                    </a:solidFill>
                    <a:latin typeface="Cambria Math" panose="02040503050406030204" pitchFamily="18" charset="0"/>
                  </a:rPr>
                  <a:t>$y=3(x-2)^{2/3}$</a:t>
                </a:r>
                <a:r>
                  <a:rPr sz="2400" b="0">
                    <a:solidFill>
                      <a:srgbClr val="78350F"/>
                    </a:solidFill>
                    <a:latin typeface="Arial"/>
                  </a:rPr>
                  <a:t>, and then only power-rule derivatives are needed.</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a:t>
                </a:r>
                <a:r>
                  <a:rPr lang="en-IN" sz="2400">
                    <a:solidFill>
                      <a:srgbClr val="111827"/>
                    </a:solidFill>
                    <a:latin typeface="Cambria Math" panose="02040503050406030204" pitchFamily="18" charset="0"/>
                  </a:rPr>
                  <a:t>$x=2+t^3$</a:t>
                </a:r>
                <a:r>
                  <a:rPr sz="2400" b="0">
                    <a:solidFill>
                      <a:srgbClr val="111827"/>
                    </a:solidFill>
                    <a:latin typeface="Arial"/>
                  </a:rPr>
                  <a:t>, </a:t>
                </a:r>
                <a:r>
                  <a:rPr lang="en-IN" sz="2400">
                    <a:solidFill>
                      <a:srgbClr val="111827"/>
                    </a:solidFill>
                    <a:latin typeface="Cambria Math" panose="02040503050406030204" pitchFamily="18" charset="0"/>
                  </a:rPr>
                  <a:t>$t=(x-2)^{1/3}$</a:t>
                </a:r>
                <a:r>
                  <a:rPr sz="2400" b="0">
                    <a:solidFill>
                      <a:srgbClr val="111827"/>
                    </a:solidFill>
                    <a:latin typeface="Arial"/>
                  </a:rPr>
                  <a:t>, so </a:t>
                </a:r>
                <a:r>
                  <a:rPr lang="en-IN" sz="2400">
                    <a:solidFill>
                      <a:srgbClr val="111827"/>
                    </a:solidFill>
                    <a:latin typeface="Cambria Math" panose="02040503050406030204" pitchFamily="18" charset="0"/>
                  </a:rPr>
                  <a:t>$y=3t^2=3(x-2)^{2/3}$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$\frac{dy}{dx}=2(x-2)^{-1/3}$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$\frac{d^2y}{dx^2}=-\frac{2}{3}(x-2)^{-4/3}$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quotient is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num>
                      <m:den>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up>
                    </m:sSup>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3</m:t>
                            </m:r>
                          </m:den>
                        </m:f>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 is constant iff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(the printed product would need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option (D) as in the key.</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quotient is </a:t>
                </a:r>
                <a:r>
                  <a:rPr lang="en-IN" sz="2400">
                    <a:solidFill>
                      <a:srgbClr val="111827"/>
                    </a:solidFill>
                    <a:latin typeface="Cambria Math" panose="02040503050406030204" pitchFamily="18" charset="0"/>
                  </a:rPr>
                  <a:t>$\frac{y''}{(y')^n}=-\frac{2}{3}\cdot2^{-n}\,(x-2)^{-\frac43+\frac n3}$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 is constant iff </a:t>
                </a:r>
                <a:r>
                  <a:rPr lang="en-IN" sz="2400">
                    <a:solidFill>
                      <a:srgbClr val="111827"/>
                    </a:solidFill>
                    <a:latin typeface="Cambria Math" panose="02040503050406030204" pitchFamily="18" charset="0"/>
                  </a:rPr>
                  <a:t>$-\frac43+\frac n3=0$</a:t>
                </a:r>
                <a:r>
                  <a:rPr sz="2400" b="0">
                    <a:solidFill>
                      <a:srgbClr val="111827"/>
                    </a:solidFill>
                    <a:latin typeface="Arial"/>
                  </a:rPr>
                  <a:t>, i.e. </a:t>
                </a:r>
                <a:r>
                  <a:rPr lang="en-IN" sz="2400">
                    <a:solidFill>
                      <a:srgbClr val="111827"/>
                    </a:solidFill>
                    <a:latin typeface="Cambria Math" panose="02040503050406030204" pitchFamily="18" charset="0"/>
                  </a:rPr>
                  <a:t>$n=4$</a:t>
                </a:r>
                <a:r>
                  <a:rPr sz="2400" b="0">
                    <a:solidFill>
                      <a:srgbClr val="111827"/>
                    </a:solidFill>
                    <a:latin typeface="Arial"/>
                  </a:rPr>
                  <a:t> (the printed product would need </a:t>
                </a:r>
                <a:r>
                  <a:rPr lang="en-IN" sz="2400">
                    <a:solidFill>
                      <a:srgbClr val="111827"/>
                    </a:solidFill>
                    <a:latin typeface="Cambria Math" panose="02040503050406030204" pitchFamily="18" charset="0"/>
                  </a:rPr>
                  <a:t>$-\frac43-\frac n3=0$</a:t>
                </a:r>
                <a:r>
                  <a:rPr sz="2400" b="0">
                    <a:solidFill>
                      <a:srgbClr val="111827"/>
                    </a:solidFill>
                    <a:latin typeface="Arial"/>
                  </a:rPr>
                  <a:t>, </a:t>
                </a:r>
                <a:r>
                  <a:rPr lang="en-IN" sz="2400">
                    <a:solidFill>
                      <a:srgbClr val="111827"/>
                    </a:solidFill>
                    <a:latin typeface="Cambria Math" panose="02040503050406030204" pitchFamily="18" charset="0"/>
                  </a:rPr>
                  <a:t>$n=-4$</a:t>
                </a:r>
                <a:r>
                  <a:rPr sz="2400" b="0">
                    <a:solidFill>
                      <a:srgbClr val="111827"/>
                    </a:solidFill>
                    <a:latin typeface="Arial"/>
                  </a:rPr>
                  <a:t>): option (D) as in the key.</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a:t>
            </a:r>
            <a:endParaRPr sz="2800">
              <a:solidFill>
                <a:srgbClr val="15803D"/>
              </a:solidFill>
            </a:endParaR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Parametric derivatives: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num>
                      <m:den>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den>
                    </m:f>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num>
                      <m:den>
                        <m:sSup>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e>
                          <m:sup>
                            <m:r>
                              <a:rPr lang="en-IN" sz="2400" i="1">
                                <a:solidFill>
                                  <a:srgbClr val="111827"/>
                                </a:solidFill>
                                <a:latin typeface="Cambria Math" panose="02040503050406030204" pitchFamily="18" charset="0"/>
                              </a:rPr>
                              <m:t>3</m:t>
                            </m:r>
                          </m:sup>
                        </m:sSup>
                      </m:den>
                    </m:f>
                  </m:oMath>
                </a14:m>
                <a:r>
                  <a:rPr sz="2400" b="0">
                    <a:solidFill>
                      <a:srgbClr val="111827"/>
                    </a:solidFill>
                    <a:latin typeface="Arial"/>
                  </a:rPr>
                  <a:t>. Here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27</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6</m:t>
                            </m:r>
                          </m:sup>
                        </m:sSup>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4</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Common error: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always differentiate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oMath>
                </a14:m>
                <a:r>
                  <a:rPr sz="2400" b="0">
                    <a:solidFill>
                      <a:srgbClr val="111827"/>
                    </a:solidFill>
                    <a:latin typeface="Arial"/>
                  </a:rPr>
                  <a:t> with respect to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 and then multiply by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both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are monomials in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 an expression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𝑘</m:t>
                        </m:r>
                      </m:sup>
                    </m:sSup>
                  </m:oMath>
                </a14:m>
                <a:r>
                  <a:rPr sz="2400" b="0">
                    <a:solidFill>
                      <a:srgbClr val="111827"/>
                    </a:solidFill>
                    <a:latin typeface="Arial"/>
                  </a:rPr>
                  <a:t> is constant exactly when the exponents of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 cancel.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 is easily eliminated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oMath>
                </a14:m>
                <a:r>
                  <a:rPr sz="2400" b="0">
                    <a:solidFill>
                      <a:srgbClr val="111827"/>
                    </a:solidFill>
                    <a:latin typeface="Arial"/>
                  </a:rPr>
                  <a:t> here), differentiate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directly as a cross-check.</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Parametric derivatives: </a:t>
                </a:r>
                <a:r>
                  <a:rPr lang="en-IN" sz="2400">
                    <a:solidFill>
                      <a:srgbClr val="111827"/>
                    </a:solidFill>
                    <a:latin typeface="Cambria Math" panose="02040503050406030204" pitchFamily="18" charset="0"/>
                  </a:rPr>
                  <a:t>$y'=\frac{\dot y}{\dot x}$</a:t>
                </a:r>
                <a:r>
                  <a:rPr sz="2400" b="0">
                    <a:solidFill>
                      <a:srgbClr val="111827"/>
                    </a:solidFill>
                    <a:latin typeface="Arial"/>
                  </a:rPr>
                  <a:t> and </a:t>
                </a:r>
                <a:r>
                  <a:rPr lang="en-IN" sz="2400">
                    <a:solidFill>
                      <a:srgbClr val="111827"/>
                    </a:solidFill>
                    <a:latin typeface="Cambria Math" panose="02040503050406030204" pitchFamily="18" charset="0"/>
                  </a:rPr>
                  <a:t>$y''=\frac{\dot x\,\ddot y-\dot y\,\ddot x}{\dot x^{3}}$</a:t>
                </a:r>
                <a:r>
                  <a:rPr sz="2400" b="0">
                    <a:solidFill>
                      <a:srgbClr val="111827"/>
                    </a:solidFill>
                    <a:latin typeface="Arial"/>
                  </a:rPr>
                  <a:t>. Here </a:t>
                </a:r>
                <a:r>
                  <a:rPr lang="en-IN" sz="2400">
                    <a:solidFill>
                      <a:srgbClr val="111827"/>
                    </a:solidFill>
                    <a:latin typeface="Cambria Math" panose="02040503050406030204" pitchFamily="18" charset="0"/>
                  </a:rPr>
                  <a:t>$\frac{3t^2\cdot6-6t\cdot6t}{27t^6}=-\frac{2}{3t^4}$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Common error: </a:t>
                </a:r>
                <a:r>
                  <a:rPr lang="en-IN" sz="2400">
                    <a:solidFill>
                      <a:srgbClr val="111827"/>
                    </a:solidFill>
                    <a:latin typeface="Cambria Math" panose="02040503050406030204" pitchFamily="18" charset="0"/>
                  </a:rPr>
                  <a:t>$y''\ne\frac{d^2y/dt^2}{d^2x/dt^2}$</a:t>
                </a:r>
                <a:r>
                  <a:rPr sz="2400" b="0">
                    <a:solidFill>
                      <a:srgbClr val="111827"/>
                    </a:solidFill>
                    <a:latin typeface="Arial"/>
                  </a:rPr>
                  <a:t>; always differentiate </a:t>
                </a:r>
                <a:r>
                  <a:rPr lang="en-IN" sz="2400">
                    <a:solidFill>
                      <a:srgbClr val="111827"/>
                    </a:solidFill>
                    <a:latin typeface="Cambria Math" panose="02040503050406030204" pitchFamily="18" charset="0"/>
                  </a:rPr>
                  <a:t>$\frac{dy}{dx}$</a:t>
                </a:r>
                <a:r>
                  <a:rPr sz="2400" b="0">
                    <a:solidFill>
                      <a:srgbClr val="111827"/>
                    </a:solidFill>
                    <a:latin typeface="Arial"/>
                  </a:rPr>
                  <a:t> with respect to </a:t>
                </a:r>
                <a:r>
                  <a:rPr lang="en-IN" sz="2400">
                    <a:solidFill>
                      <a:srgbClr val="111827"/>
                    </a:solidFill>
                    <a:latin typeface="Cambria Math" panose="02040503050406030204" pitchFamily="18" charset="0"/>
                  </a:rPr>
                  <a:t>$t$</a:t>
                </a:r>
                <a:r>
                  <a:rPr sz="2400" b="0">
                    <a:solidFill>
                      <a:srgbClr val="111827"/>
                    </a:solidFill>
                    <a:latin typeface="Arial"/>
                  </a:rPr>
                  <a:t> and then multiply by </a:t>
                </a:r>
                <a:r>
                  <a:rPr lang="en-IN" sz="2400">
                    <a:solidFill>
                      <a:srgbClr val="111827"/>
                    </a:solidFill>
                    <a:latin typeface="Cambria Math" panose="02040503050406030204" pitchFamily="18" charset="0"/>
                  </a:rPr>
                  <a:t>$\frac{dt}{dx}$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both </a:t>
                </a:r>
                <a:r>
                  <a:rPr lang="en-IN" sz="2400">
                    <a:solidFill>
                      <a:srgbClr val="111827"/>
                    </a:solidFill>
                    <a:latin typeface="Cambria Math" panose="02040503050406030204" pitchFamily="18" charset="0"/>
                  </a:rPr>
                  <a:t>$y'$</a:t>
                </a:r>
                <a:r>
                  <a:rPr sz="2400" b="0">
                    <a:solidFill>
                      <a:srgbClr val="111827"/>
                    </a:solidFill>
                    <a:latin typeface="Arial"/>
                  </a:rPr>
                  <a:t> and </a:t>
                </a:r>
                <a:r>
                  <a:rPr lang="en-IN" sz="2400">
                    <a:solidFill>
                      <a:srgbClr val="111827"/>
                    </a:solidFill>
                    <a:latin typeface="Cambria Math" panose="02040503050406030204" pitchFamily="18" charset="0"/>
                  </a:rPr>
                  <a:t>$y''$</a:t>
                </a:r>
                <a:r>
                  <a:rPr sz="2400" b="0">
                    <a:solidFill>
                      <a:srgbClr val="111827"/>
                    </a:solidFill>
                    <a:latin typeface="Arial"/>
                  </a:rPr>
                  <a:t> are monomials in </a:t>
                </a:r>
                <a:r>
                  <a:rPr lang="en-IN" sz="2400">
                    <a:solidFill>
                      <a:srgbClr val="111827"/>
                    </a:solidFill>
                    <a:latin typeface="Cambria Math" panose="02040503050406030204" pitchFamily="18" charset="0"/>
                  </a:rPr>
                  <a:t>$t$</a:t>
                </a:r>
                <a:r>
                  <a:rPr sz="2400" b="0">
                    <a:solidFill>
                      <a:srgbClr val="111827"/>
                    </a:solidFill>
                    <a:latin typeface="Arial"/>
                  </a:rPr>
                  <a:t>, an expression </a:t>
                </a:r>
                <a:r>
                  <a:rPr lang="en-IN" sz="2400">
                    <a:solidFill>
                      <a:srgbClr val="111827"/>
                    </a:solidFill>
                    <a:latin typeface="Cambria Math" panose="02040503050406030204" pitchFamily="18" charset="0"/>
                  </a:rPr>
                  <a:t>$y''(y')^k$</a:t>
                </a:r>
                <a:r>
                  <a:rPr sz="2400" b="0">
                    <a:solidFill>
                      <a:srgbClr val="111827"/>
                    </a:solidFill>
                    <a:latin typeface="Arial"/>
                  </a:rPr>
                  <a:t> is constant exactly when the exponents of </a:t>
                </a:r>
                <a:r>
                  <a:rPr lang="en-IN" sz="2400">
                    <a:solidFill>
                      <a:srgbClr val="111827"/>
                    </a:solidFill>
                    <a:latin typeface="Cambria Math" panose="02040503050406030204" pitchFamily="18" charset="0"/>
                  </a:rPr>
                  <a:t>$t$</a:t>
                </a:r>
                <a:r>
                  <a:rPr sz="2400" b="0">
                    <a:solidFill>
                      <a:srgbClr val="111827"/>
                    </a:solidFill>
                    <a:latin typeface="Arial"/>
                  </a:rPr>
                  <a:t> cancel.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$t$</a:t>
                </a:r>
                <a:r>
                  <a:rPr sz="2400" b="0">
                    <a:solidFill>
                      <a:srgbClr val="111827"/>
                    </a:solidFill>
                    <a:latin typeface="Arial"/>
                  </a:rPr>
                  <a:t> is easily eliminated (</a:t>
                </a:r>
                <a:r>
                  <a:rPr lang="en-IN" sz="2400">
                    <a:solidFill>
                      <a:srgbClr val="111827"/>
                    </a:solidFill>
                    <a:latin typeface="Cambria Math" panose="02040503050406030204" pitchFamily="18" charset="0"/>
                  </a:rPr>
                  <a:t>$t=(x-2)^{1/3}$</a:t>
                </a:r>
                <a:r>
                  <a:rPr sz="2400" b="0">
                    <a:solidFill>
                      <a:srgbClr val="111827"/>
                    </a:solidFill>
                    <a:latin typeface="Arial"/>
                  </a:rPr>
                  <a:t> here), differentiate </a:t>
                </a:r>
                <a:r>
                  <a:rPr lang="en-IN" sz="2400">
                    <a:solidFill>
                      <a:srgbClr val="111827"/>
                    </a:solidFill>
                    <a:latin typeface="Cambria Math" panose="02040503050406030204" pitchFamily="18" charset="0"/>
                  </a:rPr>
                  <a:t>$y(x)$</a:t>
                </a:r>
                <a:r>
                  <a:rPr sz="2400" b="0">
                    <a:solidFill>
                      <a:srgbClr val="111827"/>
                    </a:solidFill>
                    <a:latin typeface="Arial"/>
                  </a:rPr>
                  <a:t> directly as a cross-check.</a:t>
                </a:r>
                <a:endParaRPr sz="2400">
                  <a:solidFill>
                    <a:srgbClr val="111827"/>
                  </a:solidFill>
                </a:endParaRPr>
              </a:p>
            </p:txBody>
          </p:sp>
        </mc:Fallback>
      </mc:AlternateContent>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80949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then number of local extremas for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(D) None of these</a:t>
                </a:r>
                <a:endParaRPr sz="2400">
                  <a:solidFill>
                    <a:srgbClr val="111827"/>
                  </a:solidFill>
                </a:endParaRPr>
              </a:p>
            </p:txBody>
          </p:sp>
        </mc:Choice>
        <mc:Fallback>
          <p:sp>
            <p:nvSpPr>
              <p:cNvPr id="4" name="Rounded Rectangle 3"/>
              <p:cNvSpPr/>
              <p:nvPr/>
            </p:nvSpPr>
            <p:spPr>
              <a:xfrm>
                <a:off x="731520" y="1280160"/>
                <a:ext cx="10725912" cy="180949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$f(x)=\frac{(x-1)(x-2)}{(x-3)(x-4)}$</a:t>
                </a:r>
                <a:r>
                  <a:rPr sz="2400" b="0">
                    <a:solidFill>
                      <a:srgbClr val="111827"/>
                    </a:solidFill>
                    <a:latin typeface="Arial"/>
                  </a:rPr>
                  <a:t>, then number of local extremas for </a:t>
                </a:r>
                <a:r>
                  <a:rPr lang="en-IN" sz="2400">
                    <a:solidFill>
                      <a:srgbClr val="111827"/>
                    </a:solidFill>
                    <a:latin typeface="Cambria Math" panose="02040503050406030204" pitchFamily="18" charset="0"/>
                  </a:rPr>
                  <a:t>$g(x)$</a:t>
                </a:r>
                <a:r>
                  <a:rPr sz="2400" b="0">
                    <a:solidFill>
                      <a:srgbClr val="111827"/>
                    </a:solidFill>
                    <a:latin typeface="Arial"/>
                  </a:rPr>
                  <a:t>, where </a:t>
                </a:r>
                <a:r>
                  <a:rPr lang="en-IN" sz="2400">
                    <a:solidFill>
                      <a:srgbClr val="111827"/>
                    </a:solidFill>
                    <a:latin typeface="Cambria Math" panose="02040503050406030204" pitchFamily="18" charset="0"/>
                  </a:rPr>
                  <a:t>$g(x)=f(|x|)$</a:t>
                </a:r>
                <a:r>
                  <a:rPr sz="2400" b="0">
                    <a:solidFill>
                      <a:srgbClr val="111827"/>
                    </a:solidFill>
                    <a:latin typeface="Arial"/>
                  </a:rPr>
                  <a:t>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$3$</a:t>
                </a:r>
                <a:r>
                  <a:rPr sz="2400" b="0">
                    <a:solidFill>
                      <a:srgbClr val="111827"/>
                    </a:solidFill>
                    <a:latin typeface="Arial"/>
                  </a:rPr>
                  <a:t>   (B) </a:t>
                </a:r>
                <a:r>
                  <a:rPr lang="en-IN" sz="2400">
                    <a:solidFill>
                      <a:srgbClr val="111827"/>
                    </a:solidFill>
                    <a:latin typeface="Cambria Math" panose="02040503050406030204" pitchFamily="18" charset="0"/>
                  </a:rPr>
                  <a:t>$4$</a:t>
                </a:r>
                <a:r>
                  <a:rPr sz="2400" b="0">
                    <a:solidFill>
                      <a:srgbClr val="111827"/>
                    </a:solidFill>
                    <a:latin typeface="Arial"/>
                  </a:rPr>
                  <a:t>   (C) </a:t>
                </a:r>
                <a:r>
                  <a:rPr lang="en-IN" sz="2400">
                    <a:solidFill>
                      <a:srgbClr val="111827"/>
                    </a:solidFill>
                    <a:latin typeface="Cambria Math" panose="02040503050406030204" pitchFamily="18" charset="0"/>
                  </a:rPr>
                  <a:t>$5$</a:t>
                </a:r>
                <a:r>
                  <a:rPr sz="2400" b="0">
                    <a:solidFill>
                      <a:srgbClr val="111827"/>
                    </a:solidFill>
                    <a:latin typeface="Arial"/>
                  </a:rPr>
                  <a:t>   (D) None of these</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318255"/>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Graph of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even functions, Local extrema of rational functions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Choice>
        <mc:Fallback>
          <p:sp>
            <p:nvSpPr>
              <p:cNvPr id="5" name="Rectangle 4"/>
              <p:cNvSpPr/>
              <p:nvPr/>
            </p:nvSpPr>
            <p:spPr>
              <a:xfrm>
                <a:off x="731520" y="3318255"/>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Graph of </a:t>
                </a:r>
                <a:r>
                  <a:rPr lang="en-IN" sz="2400">
                    <a:solidFill>
                      <a:srgbClr val="111827"/>
                    </a:solidFill>
                    <a:latin typeface="Cambria Math" panose="02040503050406030204" pitchFamily="18" charset="0"/>
                  </a:rPr>
                  <a:t>$f(|x|)$</a:t>
                </a:r>
                <a:r>
                  <a:rPr sz="2400" b="0">
                    <a:solidFill>
                      <a:srgbClr val="111827"/>
                    </a:solidFill>
                    <a:latin typeface="Arial"/>
                  </a:rPr>
                  <a:t> and even functions, Local extrema of rational functions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Fallback>
      </mc:AlternateContent>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𝑔</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is even: extrema for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&gt;</m:t>
                    </m:r>
                    <m:r>
                      <a:rPr lang="en-IN" sz="2400" i="1">
                        <a:solidFill>
                          <a:srgbClr val="78350F"/>
                        </a:solidFill>
                        <a:latin typeface="Cambria Math" panose="02040503050406030204" pitchFamily="18" charset="0"/>
                      </a:rPr>
                      <m:t>0</m:t>
                    </m:r>
                  </m:oMath>
                </a14:m>
                <a:r>
                  <a:rPr sz="2400" b="0">
                    <a:solidFill>
                      <a:srgbClr val="78350F"/>
                    </a:solidFill>
                    <a:latin typeface="Arial"/>
                  </a:rPr>
                  <a:t> are mirrored, and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makes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a corner extremum.</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$g(x)=f(|x|)$</a:t>
                </a:r>
                <a:r>
                  <a:rPr sz="2400" b="0">
                    <a:solidFill>
                      <a:srgbClr val="78350F"/>
                    </a:solidFill>
                    <a:latin typeface="Arial"/>
                  </a:rPr>
                  <a:t> is even: extrema for </a:t>
                </a:r>
                <a:r>
                  <a:rPr lang="en-IN" sz="2400">
                    <a:solidFill>
                      <a:srgbClr val="78350F"/>
                    </a:solidFill>
                    <a:latin typeface="Cambria Math" panose="02040503050406030204" pitchFamily="18" charset="0"/>
                  </a:rPr>
                  <a:t>$x&gt;0$</a:t>
                </a:r>
                <a:r>
                  <a:rPr sz="2400" b="0">
                    <a:solidFill>
                      <a:srgbClr val="78350F"/>
                    </a:solidFill>
                    <a:latin typeface="Arial"/>
                  </a:rPr>
                  <a:t> are mirrored, and </a:t>
                </a:r>
                <a:r>
                  <a:rPr lang="en-IN" sz="2400">
                    <a:solidFill>
                      <a:srgbClr val="78350F"/>
                    </a:solidFill>
                    <a:latin typeface="Cambria Math" panose="02040503050406030204" pitchFamily="18" charset="0"/>
                  </a:rPr>
                  <a:t>$f'(0)\neq0$</a:t>
                </a:r>
                <a:r>
                  <a:rPr sz="2400" b="0">
                    <a:solidFill>
                      <a:srgbClr val="78350F"/>
                    </a:solidFill>
                    <a:latin typeface="Arial"/>
                  </a:rPr>
                  <a:t> makes </a:t>
                </a:r>
                <a:r>
                  <a:rPr lang="en-IN" sz="2400">
                    <a:solidFill>
                      <a:srgbClr val="78350F"/>
                    </a:solidFill>
                    <a:latin typeface="Cambria Math" panose="02040503050406030204" pitchFamily="18" charset="0"/>
                  </a:rPr>
                  <a:t>$x=0$</a:t>
                </a:r>
                <a:r>
                  <a:rPr sz="2400" b="0">
                    <a:solidFill>
                      <a:srgbClr val="78350F"/>
                    </a:solidFill>
                    <a:latin typeface="Arial"/>
                  </a:rPr>
                  <a:t> a corner extremum.</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is an even function, so the number of extrema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equals the number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72</m:t>
                        </m:r>
                      </m:den>
                    </m:f>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decreases to the right of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and (by evenness) increases to its left: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a local maximum. (Evenness alone does not force an extremum; here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does.)</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$g(x)=f(|x|)=\frac{(|x|-1)(|x|-2)}{(|x|-3)(|x|-4)}$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a:t>
                </a:r>
                <a:r>
                  <a:rPr sz="2400" b="0">
                    <a:solidFill>
                      <a:srgbClr val="111827"/>
                    </a:solidFill>
                    <a:latin typeface="Arial"/>
                  </a:rPr>
                  <a:t> is an even function, so the number of extrema for </a:t>
                </a:r>
                <a:r>
                  <a:rPr lang="en-IN" sz="2400">
                    <a:solidFill>
                      <a:srgbClr val="111827"/>
                    </a:solidFill>
                    <a:latin typeface="Cambria Math" panose="02040503050406030204" pitchFamily="18" charset="0"/>
                  </a:rPr>
                  <a:t>$x&gt;0$</a:t>
                </a:r>
                <a:r>
                  <a:rPr sz="2400" b="0">
                    <a:solidFill>
                      <a:srgbClr val="111827"/>
                    </a:solidFill>
                    <a:latin typeface="Arial"/>
                  </a:rPr>
                  <a:t> equals the number for </a:t>
                </a:r>
                <a:r>
                  <a:rPr lang="en-IN" sz="2400">
                    <a:solidFill>
                      <a:srgbClr val="111827"/>
                    </a:solidFill>
                    <a:latin typeface="Cambria Math" panose="02040503050406030204" pitchFamily="18" charset="0"/>
                  </a:rPr>
                  <a:t>$x&lt;0$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$x=0$</a:t>
                </a:r>
                <a:r>
                  <a:rPr sz="2400" b="0">
                    <a:solidFill>
                      <a:srgbClr val="111827"/>
                    </a:solidFill>
                    <a:latin typeface="Arial"/>
                  </a:rPr>
                  <a:t>: </a:t>
                </a:r>
                <a:r>
                  <a:rPr lang="en-IN" sz="2400">
                    <a:solidFill>
                      <a:srgbClr val="111827"/>
                    </a:solidFill>
                    <a:latin typeface="Cambria Math" panose="02040503050406030204" pitchFamily="18" charset="0"/>
                  </a:rPr>
                  <a:t>$g(0)=\frac16$</a:t>
                </a:r>
                <a:r>
                  <a:rPr sz="2400" b="0">
                    <a:solidFill>
                      <a:srgbClr val="111827"/>
                    </a:solidFill>
                    <a:latin typeface="Arial"/>
                  </a:rPr>
                  <a:t>. For </a:t>
                </a:r>
                <a:r>
                  <a:rPr lang="en-IN" sz="2400">
                    <a:solidFill>
                      <a:srgbClr val="111827"/>
                    </a:solidFill>
                    <a:latin typeface="Cambria Math" panose="02040503050406030204" pitchFamily="18" charset="0"/>
                  </a:rPr>
                  <a:t>$x&gt;0$</a:t>
                </a:r>
                <a:r>
                  <a:rPr sz="2400" b="0">
                    <a:solidFill>
                      <a:srgbClr val="111827"/>
                    </a:solidFill>
                    <a:latin typeface="Arial"/>
                  </a:rPr>
                  <a:t>, </a:t>
                </a:r>
                <a:r>
                  <a:rPr lang="en-IN" sz="2400">
                    <a:solidFill>
                      <a:srgbClr val="111827"/>
                    </a:solidFill>
                    <a:latin typeface="Cambria Math" panose="02040503050406030204" pitchFamily="18" charset="0"/>
                  </a:rPr>
                  <a:t>$g(x)=f(x)$</a:t>
                </a:r>
                <a:r>
                  <a:rPr sz="2400" b="0">
                    <a:solidFill>
                      <a:srgbClr val="111827"/>
                    </a:solidFill>
                    <a:latin typeface="Arial"/>
                  </a:rPr>
                  <a:t> and </a:t>
                </a:r>
                <a:r>
                  <a:rPr lang="en-IN" sz="2400">
                    <a:solidFill>
                      <a:srgbClr val="111827"/>
                    </a:solidFill>
                    <a:latin typeface="Cambria Math" panose="02040503050406030204" pitchFamily="18" charset="0"/>
                  </a:rPr>
                  <a:t>$f'(0)=-\frac{11}{72}&lt;0$</a:t>
                </a:r>
                <a:r>
                  <a:rPr sz="2400" b="0">
                    <a:solidFill>
                      <a:srgbClr val="111827"/>
                    </a:solidFill>
                    <a:latin typeface="Arial"/>
                  </a:rPr>
                  <a:t>, so </a:t>
                </a:r>
                <a:r>
                  <a:rPr lang="en-IN" sz="2400">
                    <a:solidFill>
                      <a:srgbClr val="111827"/>
                    </a:solidFill>
                    <a:latin typeface="Cambria Math" panose="02040503050406030204" pitchFamily="18" charset="0"/>
                  </a:rPr>
                  <a:t>$g$</a:t>
                </a:r>
                <a:r>
                  <a:rPr sz="2400" b="0">
                    <a:solidFill>
                      <a:srgbClr val="111827"/>
                    </a:solidFill>
                    <a:latin typeface="Arial"/>
                  </a:rPr>
                  <a:t> decreases to the right of </a:t>
                </a:r>
                <a:r>
                  <a:rPr lang="en-IN" sz="2400">
                    <a:solidFill>
                      <a:srgbClr val="111827"/>
                    </a:solidFill>
                    <a:latin typeface="Cambria Math" panose="02040503050406030204" pitchFamily="18" charset="0"/>
                  </a:rPr>
                  <a:t>$0$</a:t>
                </a:r>
                <a:r>
                  <a:rPr sz="2400" b="0">
                    <a:solidFill>
                      <a:srgbClr val="111827"/>
                    </a:solidFill>
                    <a:latin typeface="Arial"/>
                  </a:rPr>
                  <a:t> and (by evenness) increases to its left: </a:t>
                </a:r>
                <a:r>
                  <a:rPr lang="en-IN" sz="2400">
                    <a:solidFill>
                      <a:srgbClr val="111827"/>
                    </a:solidFill>
                    <a:latin typeface="Cambria Math" panose="02040503050406030204" pitchFamily="18" charset="0"/>
                  </a:rPr>
                  <a:t>$x=0$</a:t>
                </a:r>
                <a:r>
                  <a:rPr sz="2400" b="0">
                    <a:solidFill>
                      <a:srgbClr val="111827"/>
                    </a:solidFill>
                    <a:latin typeface="Arial"/>
                  </a:rPr>
                  <a:t> is a local maximum. (Evenness alone does not force an extremum; here </a:t>
                </a:r>
                <a:r>
                  <a:rPr lang="en-IN" sz="2400">
                    <a:solidFill>
                      <a:srgbClr val="111827"/>
                    </a:solidFill>
                    <a:latin typeface="Cambria Math" panose="02040503050406030204" pitchFamily="18" charset="0"/>
                  </a:rPr>
                  <a:t>$f'(0)\neq0$</a:t>
                </a:r>
                <a:r>
                  <a:rPr sz="2400" b="0">
                    <a:solidFill>
                      <a:srgbClr val="111827"/>
                    </a:solidFill>
                    <a:latin typeface="Arial"/>
                  </a:rPr>
                  <a:t> does.)</a:t>
                </a:r>
                <a:endParaRPr sz="2400">
                  <a:solidFill>
                    <a:srgbClr val="111827"/>
                  </a:solidFill>
                </a:endParaRPr>
              </a:p>
            </p:txBody>
          </p:sp>
        </mc:Fallback>
      </mc:AlternateContent>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3.37</m:t>
                    </m:r>
                  </m:oMath>
                </a14:m>
                <a:r>
                  <a:rPr sz="2400" b="0">
                    <a:solidFill>
                      <a:srgbClr val="111827"/>
                    </a:solidFill>
                    <a:latin typeface="Arial"/>
                  </a:rPr>
                  <a:t>: two simple roots, both positive and different from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changes sign at each: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extrema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symmetry there are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more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and one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number of local extrema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$x&gt;0$</a:t>
                </a:r>
                <a:r>
                  <a:rPr sz="2400" b="0">
                    <a:solidFill>
                      <a:srgbClr val="111827"/>
                    </a:solidFill>
                    <a:latin typeface="Arial"/>
                  </a:rPr>
                  <a:t>, </a:t>
                </a:r>
                <a:r>
                  <a:rPr lang="en-IN" sz="2400">
                    <a:solidFill>
                      <a:srgbClr val="111827"/>
                    </a:solidFill>
                    <a:latin typeface="Cambria Math" panose="02040503050406030204" pitchFamily="18" charset="0"/>
                  </a:rPr>
                  <a:t>$g(x)=f(x)=\frac{(x-1)(x-2)}{(x-3)(x-4)}$</a:t>
                </a:r>
                <a:r>
                  <a:rPr sz="2400" b="0">
                    <a:solidFill>
                      <a:srgbClr val="111827"/>
                    </a:solidFill>
                    <a:latin typeface="Arial"/>
                  </a:rPr>
                  <a:t> and </a:t>
                </a:r>
                <a:r>
                  <a:rPr lang="en-IN" sz="2400">
                    <a:solidFill>
                      <a:srgbClr val="111827"/>
                    </a:solidFill>
                    <a:latin typeface="Cambria Math" panose="02040503050406030204" pitchFamily="18" charset="0"/>
                  </a:rPr>
                  <a:t>$f'(x)=\frac{(2x-3)(x^2-7x+12)-(x^2-3x+2)(2x-7)}{(x-3)^2(x-4)^2}=\frac{-2(2x^2-10x+11)}{(x-3)^2(x-4)^2}$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$2x^2-10x+11=0$</a:t>
                </a:r>
                <a:r>
                  <a:rPr sz="2400" b="0">
                    <a:solidFill>
                      <a:srgbClr val="111827"/>
                    </a:solidFill>
                    <a:latin typeface="Arial"/>
                  </a:rPr>
                  <a:t> gives </a:t>
                </a:r>
                <a:r>
                  <a:rPr lang="en-IN" sz="2400">
                    <a:solidFill>
                      <a:srgbClr val="111827"/>
                    </a:solidFill>
                    <a:latin typeface="Cambria Math" panose="02040503050406030204" pitchFamily="18" charset="0"/>
                  </a:rPr>
                  <a:t>$x=\frac{5\pm\sqrt3}{2}\approx1.63,\ 3.37$</a:t>
                </a:r>
                <a:r>
                  <a:rPr sz="2400" b="0">
                    <a:solidFill>
                      <a:srgbClr val="111827"/>
                    </a:solidFill>
                    <a:latin typeface="Arial"/>
                  </a:rPr>
                  <a:t>: two simple roots, both positive and different from </a:t>
                </a:r>
                <a:r>
                  <a:rPr lang="en-IN" sz="2400">
                    <a:solidFill>
                      <a:srgbClr val="111827"/>
                    </a:solidFill>
                    <a:latin typeface="Cambria Math" panose="02040503050406030204" pitchFamily="18" charset="0"/>
                  </a:rPr>
                  <a:t>$3,4$</a:t>
                </a:r>
                <a:r>
                  <a:rPr sz="2400" b="0">
                    <a:solidFill>
                      <a:srgbClr val="111827"/>
                    </a:solidFill>
                    <a:latin typeface="Arial"/>
                  </a:rPr>
                  <a:t>, so </a:t>
                </a:r>
                <a:r>
                  <a:rPr lang="en-IN" sz="2400">
                    <a:solidFill>
                      <a:srgbClr val="111827"/>
                    </a:solidFill>
                    <a:latin typeface="Cambria Math" panose="02040503050406030204" pitchFamily="18" charset="0"/>
                  </a:rPr>
                  <a:t>$f'$</a:t>
                </a:r>
                <a:r>
                  <a:rPr sz="2400" b="0">
                    <a:solidFill>
                      <a:srgbClr val="111827"/>
                    </a:solidFill>
                    <a:latin typeface="Arial"/>
                  </a:rPr>
                  <a:t> changes sign at each: </a:t>
                </a:r>
                <a:r>
                  <a:rPr lang="en-IN" sz="2400">
                    <a:solidFill>
                      <a:srgbClr val="111827"/>
                    </a:solidFill>
                    <a:latin typeface="Cambria Math" panose="02040503050406030204" pitchFamily="18" charset="0"/>
                  </a:rPr>
                  <a:t>$2$</a:t>
                </a:r>
                <a:r>
                  <a:rPr sz="2400" b="0">
                    <a:solidFill>
                      <a:srgbClr val="111827"/>
                    </a:solidFill>
                    <a:latin typeface="Arial"/>
                  </a:rPr>
                  <a:t> extrema for </a:t>
                </a:r>
                <a:r>
                  <a:rPr lang="en-IN" sz="2400">
                    <a:solidFill>
                      <a:srgbClr val="111827"/>
                    </a:solidFill>
                    <a:latin typeface="Cambria Math" panose="02040503050406030204" pitchFamily="18" charset="0"/>
                  </a:rPr>
                  <a:t>$x&gt;0$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symmetry there are </a:t>
                </a:r>
                <a:r>
                  <a:rPr lang="en-IN" sz="2400">
                    <a:solidFill>
                      <a:srgbClr val="111827"/>
                    </a:solidFill>
                    <a:latin typeface="Cambria Math" panose="02040503050406030204" pitchFamily="18" charset="0"/>
                  </a:rPr>
                  <a:t>$2$</a:t>
                </a:r>
                <a:r>
                  <a:rPr sz="2400" b="0">
                    <a:solidFill>
                      <a:srgbClr val="111827"/>
                    </a:solidFill>
                    <a:latin typeface="Arial"/>
                  </a:rPr>
                  <a:t> more for </a:t>
                </a:r>
                <a:r>
                  <a:rPr lang="en-IN" sz="2400">
                    <a:solidFill>
                      <a:srgbClr val="111827"/>
                    </a:solidFill>
                    <a:latin typeface="Cambria Math" panose="02040503050406030204" pitchFamily="18" charset="0"/>
                  </a:rPr>
                  <a:t>$x&lt;0$</a:t>
                </a:r>
                <a:r>
                  <a:rPr sz="2400" b="0">
                    <a:solidFill>
                      <a:srgbClr val="111827"/>
                    </a:solidFill>
                    <a:latin typeface="Arial"/>
                  </a:rPr>
                  <a:t>, and one at </a:t>
                </a:r>
                <a:r>
                  <a:rPr lang="en-IN" sz="2400">
                    <a:solidFill>
                      <a:srgbClr val="111827"/>
                    </a:solidFill>
                    <a:latin typeface="Cambria Math" panose="02040503050406030204" pitchFamily="18" charset="0"/>
                  </a:rPr>
                  <a:t>$x=0$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number of local extrema </a:t>
                </a:r>
                <a:r>
                  <a:rPr lang="en-IN" sz="2400">
                    <a:solidFill>
                      <a:srgbClr val="111827"/>
                    </a:solidFill>
                    <a:latin typeface="Cambria Math" panose="02040503050406030204" pitchFamily="18" charset="0"/>
                  </a:rPr>
                  <a:t>$=2+2+1=5$</a:t>
                </a:r>
                <a:r>
                  <a:rPr sz="2400" b="0">
                    <a:solidFill>
                      <a:srgbClr val="111827"/>
                    </a:solidFill>
                    <a:latin typeface="Arial"/>
                  </a:rPr>
                  <a:t>: option (C).</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a:t>
            </a:r>
            <a:endParaRPr sz="2800">
              <a:solidFill>
                <a:srgbClr val="15803D"/>
              </a:solidFill>
            </a:endParaRP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Split </a:t>
                </a:r>
                <a14:m>
                  <m:oMath xmlns:m="http://schemas.openxmlformats.org/officeDocument/2006/math">
                    <m:r>
                      <a:rPr lang="en-IN" sz="2400" i="1">
                        <a:solidFill>
                          <a:srgbClr val="78350F"/>
                        </a:solidFill>
                        <a:latin typeface="Cambria Math" panose="02040503050406030204" pitchFamily="18" charset="0"/>
                      </a:rPr>
                      <m:t>𝑓</m:t>
                    </m:r>
                  </m:oMath>
                </a14:m>
                <a:r>
                  <a:rPr sz="2400" b="0">
                    <a:solidFill>
                      <a:srgbClr val="78350F"/>
                    </a:solidFill>
                    <a:latin typeface="Arial"/>
                  </a:rPr>
                  <a:t> into partial fractions,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m:t>
                        </m:r>
                      </m:num>
                      <m:den>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6</m:t>
                        </m:r>
                      </m:num>
                      <m:den>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den>
                    </m:f>
                  </m:oMath>
                </a14:m>
                <a:r>
                  <a:rPr sz="2400" b="0">
                    <a:solidFill>
                      <a:srgbClr val="78350F"/>
                    </a:solidFill>
                    <a:latin typeface="Arial"/>
                  </a:rPr>
                  <a:t>, so that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becomes the simple equation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Split </a:t>
                </a:r>
                <a:r>
                  <a:rPr lang="en-IN" sz="2400">
                    <a:solidFill>
                      <a:srgbClr val="78350F"/>
                    </a:solidFill>
                    <a:latin typeface="Cambria Math" panose="02040503050406030204" pitchFamily="18" charset="0"/>
                  </a:rPr>
                  <a:t>$f$</a:t>
                </a:r>
                <a:r>
                  <a:rPr sz="2400" b="0">
                    <a:solidFill>
                      <a:srgbClr val="78350F"/>
                    </a:solidFill>
                    <a:latin typeface="Arial"/>
                  </a:rPr>
                  <a:t> into partial fractions, </a:t>
                </a:r>
                <a:r>
                  <a:rPr lang="en-IN" sz="2400">
                    <a:solidFill>
                      <a:srgbClr val="78350F"/>
                    </a:solidFill>
                    <a:latin typeface="Cambria Math" panose="02040503050406030204" pitchFamily="18" charset="0"/>
                  </a:rPr>
                  <a:t>$f=1-\frac{2}{x-3}+\frac{6}{x-4}$</a:t>
                </a:r>
                <a:r>
                  <a:rPr sz="2400" b="0">
                    <a:solidFill>
                      <a:srgbClr val="78350F"/>
                    </a:solidFill>
                    <a:latin typeface="Arial"/>
                  </a:rPr>
                  <a:t>, so that </a:t>
                </a:r>
                <a:r>
                  <a:rPr lang="en-IN" sz="2400">
                    <a:solidFill>
                      <a:srgbClr val="78350F"/>
                    </a:solidFill>
                    <a:latin typeface="Cambria Math" panose="02040503050406030204" pitchFamily="18" charset="0"/>
                  </a:rPr>
                  <a:t>$f'=0$</a:t>
                </a:r>
                <a:r>
                  <a:rPr sz="2400" b="0">
                    <a:solidFill>
                      <a:srgbClr val="78350F"/>
                    </a:solidFill>
                    <a:latin typeface="Arial"/>
                  </a:rPr>
                  <a:t> becomes the simple equation </a:t>
                </a:r>
                <a:r>
                  <a:rPr lang="en-IN" sz="2400">
                    <a:solidFill>
                      <a:srgbClr val="78350F"/>
                    </a:solidFill>
                    <a:latin typeface="Cambria Math" panose="02040503050406030204" pitchFamily="18" charset="0"/>
                  </a:rPr>
                  <a:t>$(x-4)^2=3(x-3)^2$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which is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iff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two roots are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both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not equal to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changes sign at each, so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has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extrema on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$f(x)=1+\frac{4x-10}{(x-3)(x-4)}=1-\frac{2}{x-3}+\frac{6}{x-4}$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$f'(x)=\frac{2}{(x-3)^2}-\frac{6}{(x-4)^2}$</a:t>
                </a:r>
                <a:r>
                  <a:rPr sz="2400" b="0">
                    <a:solidFill>
                      <a:srgbClr val="111827"/>
                    </a:solidFill>
                    <a:latin typeface="Arial"/>
                  </a:rPr>
                  <a:t>, which is </a:t>
                </a:r>
                <a:r>
                  <a:rPr lang="en-IN" sz="2400">
                    <a:solidFill>
                      <a:srgbClr val="111827"/>
                    </a:solidFill>
                    <a:latin typeface="Cambria Math" panose="02040503050406030204" pitchFamily="18" charset="0"/>
                  </a:rPr>
                  <a:t>$0$</a:t>
                </a:r>
                <a:r>
                  <a:rPr sz="2400" b="0">
                    <a:solidFill>
                      <a:srgbClr val="111827"/>
                    </a:solidFill>
                    <a:latin typeface="Arial"/>
                  </a:rPr>
                  <a:t> iff </a:t>
                </a:r>
                <a:r>
                  <a:rPr lang="en-IN" sz="2400">
                    <a:solidFill>
                      <a:srgbClr val="111827"/>
                    </a:solidFill>
                    <a:latin typeface="Cambria Math" panose="02040503050406030204" pitchFamily="18" charset="0"/>
                  </a:rPr>
                  <a:t>$(x-4)^2=3(x-3)^2$</a:t>
                </a:r>
                <a:r>
                  <a:rPr sz="2400" b="0">
                    <a:solidFill>
                      <a:srgbClr val="111827"/>
                    </a:solidFill>
                    <a:latin typeface="Arial"/>
                  </a:rPr>
                  <a:t>, i.e. </a:t>
                </a:r>
                <a:r>
                  <a:rPr lang="en-IN" sz="2400">
                    <a:solidFill>
                      <a:srgbClr val="111827"/>
                    </a:solidFill>
                    <a:latin typeface="Cambria Math" panose="02040503050406030204" pitchFamily="18" charset="0"/>
                  </a:rPr>
                  <a:t>$x-4=\pm\sqrt3\,(x-3)$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two roots are </a:t>
                </a:r>
                <a:r>
                  <a:rPr lang="en-IN" sz="2400">
                    <a:solidFill>
                      <a:srgbClr val="111827"/>
                    </a:solidFill>
                    <a:latin typeface="Cambria Math" panose="02040503050406030204" pitchFamily="18" charset="0"/>
                  </a:rPr>
                  <a:t>$x=\frac{5\pm\sqrt3}{2}$</a:t>
                </a:r>
                <a:r>
                  <a:rPr sz="2400" b="0">
                    <a:solidFill>
                      <a:srgbClr val="111827"/>
                    </a:solidFill>
                    <a:latin typeface="Arial"/>
                  </a:rPr>
                  <a:t>, both in </a:t>
                </a:r>
                <a:r>
                  <a:rPr lang="en-IN" sz="2400">
                    <a:solidFill>
                      <a:srgbClr val="111827"/>
                    </a:solidFill>
                    <a:latin typeface="Cambria Math" panose="02040503050406030204" pitchFamily="18" charset="0"/>
                  </a:rPr>
                  <a:t>$(0,\infty)$</a:t>
                </a:r>
                <a:r>
                  <a:rPr sz="2400" b="0">
                    <a:solidFill>
                      <a:srgbClr val="111827"/>
                    </a:solidFill>
                    <a:latin typeface="Arial"/>
                  </a:rPr>
                  <a:t> and not equal to </a:t>
                </a:r>
                <a:r>
                  <a:rPr lang="en-IN" sz="2400">
                    <a:solidFill>
                      <a:srgbClr val="111827"/>
                    </a:solidFill>
                    <a:latin typeface="Cambria Math" panose="02040503050406030204" pitchFamily="18" charset="0"/>
                  </a:rPr>
                  <a:t>$3,4$</a:t>
                </a:r>
                <a:r>
                  <a:rPr sz="2400" b="0">
                    <a:solidFill>
                      <a:srgbClr val="111827"/>
                    </a:solidFill>
                    <a:latin typeface="Arial"/>
                  </a:rPr>
                  <a:t>; </a:t>
                </a:r>
                <a:r>
                  <a:rPr lang="en-IN" sz="2400">
                    <a:solidFill>
                      <a:srgbClr val="111827"/>
                    </a:solidFill>
                    <a:latin typeface="Cambria Math" panose="02040503050406030204" pitchFamily="18" charset="0"/>
                  </a:rPr>
                  <a:t>$f'$</a:t>
                </a:r>
                <a:r>
                  <a:rPr sz="2400" b="0">
                    <a:solidFill>
                      <a:srgbClr val="111827"/>
                    </a:solidFill>
                    <a:latin typeface="Arial"/>
                  </a:rPr>
                  <a:t> changes sign at each, so </a:t>
                </a:r>
                <a:r>
                  <a:rPr lang="en-IN" sz="2400">
                    <a:solidFill>
                      <a:srgbClr val="111827"/>
                    </a:solidFill>
                    <a:latin typeface="Cambria Math" panose="02040503050406030204" pitchFamily="18" charset="0"/>
                  </a:rPr>
                  <a:t>$f$</a:t>
                </a:r>
                <a:r>
                  <a:rPr sz="2400" b="0">
                    <a:solidFill>
                      <a:srgbClr val="111827"/>
                    </a:solidFill>
                    <a:latin typeface="Arial"/>
                  </a:rPr>
                  <a:t> has </a:t>
                </a:r>
                <a:r>
                  <a:rPr lang="en-IN" sz="2400">
                    <a:solidFill>
                      <a:srgbClr val="111827"/>
                    </a:solidFill>
                    <a:latin typeface="Cambria Math" panose="02040503050406030204" pitchFamily="18" charset="0"/>
                  </a:rPr>
                  <a:t>$2$</a:t>
                </a:r>
                <a:r>
                  <a:rPr sz="2400" b="0">
                    <a:solidFill>
                      <a:srgbClr val="111827"/>
                    </a:solidFill>
                    <a:latin typeface="Arial"/>
                  </a:rPr>
                  <a:t> extrema on </a:t>
                </a:r>
                <a:r>
                  <a:rPr lang="en-IN" sz="2400">
                    <a:solidFill>
                      <a:srgbClr val="111827"/>
                    </a:solidFill>
                    <a:latin typeface="Cambria Math" panose="02040503050406030204" pitchFamily="18" charset="0"/>
                  </a:rPr>
                  <a:t>$x&gt;0$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even, so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more extrema on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72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has a corner maximum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option (C).</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$g(x)=f(|x|)$</a:t>
                </a:r>
                <a:r>
                  <a:rPr sz="2400" b="0">
                    <a:solidFill>
                      <a:srgbClr val="111827"/>
                    </a:solidFill>
                    <a:latin typeface="Arial"/>
                  </a:rPr>
                  <a:t> is even, so </a:t>
                </a:r>
                <a:r>
                  <a:rPr lang="en-IN" sz="2400">
                    <a:solidFill>
                      <a:srgbClr val="111827"/>
                    </a:solidFill>
                    <a:latin typeface="Cambria Math" panose="02040503050406030204" pitchFamily="18" charset="0"/>
                  </a:rPr>
                  <a:t>$2$</a:t>
                </a:r>
                <a:r>
                  <a:rPr sz="2400" b="0">
                    <a:solidFill>
                      <a:srgbClr val="111827"/>
                    </a:solidFill>
                    <a:latin typeface="Arial"/>
                  </a:rPr>
                  <a:t> more extrema on </a:t>
                </a:r>
                <a:r>
                  <a:rPr lang="en-IN" sz="2400">
                    <a:solidFill>
                      <a:srgbClr val="111827"/>
                    </a:solidFill>
                    <a:latin typeface="Cambria Math" panose="02040503050406030204" pitchFamily="18" charset="0"/>
                  </a:rPr>
                  <a:t>$x&lt;0$</a:t>
                </a:r>
                <a:r>
                  <a:rPr sz="2400" b="0">
                    <a:solidFill>
                      <a:srgbClr val="111827"/>
                    </a:solidFill>
                    <a:latin typeface="Arial"/>
                  </a:rPr>
                  <a:t>; and </a:t>
                </a:r>
                <a:r>
                  <a:rPr lang="en-IN" sz="2400">
                    <a:solidFill>
                      <a:srgbClr val="111827"/>
                    </a:solidFill>
                    <a:latin typeface="Cambria Math" panose="02040503050406030204" pitchFamily="18" charset="0"/>
                  </a:rPr>
                  <a:t>$f'(0)=\frac{2}{9}-\frac{6}{16}=-\frac{11}{72}\neq0$</a:t>
                </a:r>
                <a:r>
                  <a:rPr sz="2400" b="0">
                    <a:solidFill>
                      <a:srgbClr val="111827"/>
                    </a:solidFill>
                    <a:latin typeface="Arial"/>
                  </a:rPr>
                  <a:t>, so </a:t>
                </a:r>
                <a:r>
                  <a:rPr lang="en-IN" sz="2400">
                    <a:solidFill>
                      <a:srgbClr val="111827"/>
                    </a:solidFill>
                    <a:latin typeface="Cambria Math" panose="02040503050406030204" pitchFamily="18" charset="0"/>
                  </a:rPr>
                  <a:t>$g$</a:t>
                </a:r>
                <a:r>
                  <a:rPr sz="2400" b="0">
                    <a:solidFill>
                      <a:srgbClr val="111827"/>
                    </a:solidFill>
                    <a:latin typeface="Arial"/>
                  </a:rPr>
                  <a:t> has a corner maximum at </a:t>
                </a:r>
                <a:r>
                  <a:rPr lang="en-IN" sz="2400">
                    <a:solidFill>
                      <a:srgbClr val="111827"/>
                    </a:solidFill>
                    <a:latin typeface="Cambria Math" panose="02040503050406030204" pitchFamily="18" charset="0"/>
                  </a:rPr>
                  <a:t>$x=0$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$=2+2+1=5$</a:t>
                </a:r>
                <a:r>
                  <a:rPr sz="2400" b="0">
                    <a:solidFill>
                      <a:srgbClr val="111827"/>
                    </a:solidFill>
                    <a:latin typeface="Arial"/>
                  </a:rPr>
                  <a:t>: option (C).</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a:t>
            </a:r>
            <a:endParaRPr sz="2800">
              <a:solidFill>
                <a:srgbClr val="15803D"/>
              </a:solidFill>
            </a:endParaRP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graph of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the part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together with its mirror image in the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-axis; extrema on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are copied to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has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extrema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exists,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has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extrema (the point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a corner extremum: max if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min if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If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check separately.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rational function the critical points are zeros of the numerator of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poles (here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are not extrema.</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den>
                    </m:f>
                  </m:oMath>
                </a14:m>
                <a:r>
                  <a:rPr sz="2400" b="0">
                    <a:solidFill>
                      <a:srgbClr val="111827"/>
                    </a:solidFill>
                    <a:latin typeface="Arial"/>
                  </a:rPr>
                  <a:t> makes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easy: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𝐵</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graph of </a:t>
                </a:r>
                <a:r>
                  <a:rPr lang="en-IN" sz="2400">
                    <a:solidFill>
                      <a:srgbClr val="111827"/>
                    </a:solidFill>
                    <a:latin typeface="Cambria Math" panose="02040503050406030204" pitchFamily="18" charset="0"/>
                  </a:rPr>
                  <a:t>$g(x)=f(|x|)$</a:t>
                </a:r>
                <a:r>
                  <a:rPr sz="2400" b="0">
                    <a:solidFill>
                      <a:srgbClr val="111827"/>
                    </a:solidFill>
                    <a:latin typeface="Arial"/>
                  </a:rPr>
                  <a:t> is the part of </a:t>
                </a:r>
                <a:r>
                  <a:rPr lang="en-IN" sz="2400">
                    <a:solidFill>
                      <a:srgbClr val="111827"/>
                    </a:solidFill>
                    <a:latin typeface="Cambria Math" panose="02040503050406030204" pitchFamily="18" charset="0"/>
                  </a:rPr>
                  <a:t>$f$</a:t>
                </a:r>
                <a:r>
                  <a:rPr sz="2400" b="0">
                    <a:solidFill>
                      <a:srgbClr val="111827"/>
                    </a:solidFill>
                    <a:latin typeface="Arial"/>
                  </a:rPr>
                  <a:t> for </a:t>
                </a:r>
                <a:r>
                  <a:rPr lang="en-IN" sz="2400">
                    <a:solidFill>
                      <a:srgbClr val="111827"/>
                    </a:solidFill>
                    <a:latin typeface="Cambria Math" panose="02040503050406030204" pitchFamily="18" charset="0"/>
                  </a:rPr>
                  <a:t>$x\ge0$</a:t>
                </a:r>
                <a:r>
                  <a:rPr sz="2400" b="0">
                    <a:solidFill>
                      <a:srgbClr val="111827"/>
                    </a:solidFill>
                    <a:latin typeface="Arial"/>
                  </a:rPr>
                  <a:t> together with its mirror image in the </a:t>
                </a:r>
                <a:r>
                  <a:rPr lang="en-IN" sz="2400">
                    <a:solidFill>
                      <a:srgbClr val="111827"/>
                    </a:solidFill>
                    <a:latin typeface="Cambria Math" panose="02040503050406030204" pitchFamily="18" charset="0"/>
                  </a:rPr>
                  <a:t>$y$</a:t>
                </a:r>
                <a:r>
                  <a:rPr sz="2400" b="0">
                    <a:solidFill>
                      <a:srgbClr val="111827"/>
                    </a:solidFill>
                    <a:latin typeface="Arial"/>
                  </a:rPr>
                  <a:t>-axis; extrema on </a:t>
                </a:r>
                <a:r>
                  <a:rPr lang="en-IN" sz="2400">
                    <a:solidFill>
                      <a:srgbClr val="111827"/>
                    </a:solidFill>
                    <a:latin typeface="Cambria Math" panose="02040503050406030204" pitchFamily="18" charset="0"/>
                  </a:rPr>
                  <a:t>$x&gt;0$</a:t>
                </a:r>
                <a:r>
                  <a:rPr sz="2400" b="0">
                    <a:solidFill>
                      <a:srgbClr val="111827"/>
                    </a:solidFill>
                    <a:latin typeface="Arial"/>
                  </a:rPr>
                  <a:t> are copied to </a:t>
                </a:r>
                <a:r>
                  <a:rPr lang="en-IN" sz="2400">
                    <a:solidFill>
                      <a:srgbClr val="111827"/>
                    </a:solidFill>
                    <a:latin typeface="Cambria Math" panose="02040503050406030204" pitchFamily="18" charset="0"/>
                  </a:rPr>
                  <a:t>$x&lt;0$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$f$</a:t>
                </a:r>
                <a:r>
                  <a:rPr sz="2400" b="0">
                    <a:solidFill>
                      <a:srgbClr val="111827"/>
                    </a:solidFill>
                    <a:latin typeface="Arial"/>
                  </a:rPr>
                  <a:t> has </a:t>
                </a:r>
                <a:r>
                  <a:rPr lang="en-IN" sz="2400">
                    <a:solidFill>
                      <a:srgbClr val="111827"/>
                    </a:solidFill>
                    <a:latin typeface="Cambria Math" panose="02040503050406030204" pitchFamily="18" charset="0"/>
                  </a:rPr>
                  <a:t>$k$</a:t>
                </a:r>
                <a:r>
                  <a:rPr sz="2400" b="0">
                    <a:solidFill>
                      <a:srgbClr val="111827"/>
                    </a:solidFill>
                    <a:latin typeface="Arial"/>
                  </a:rPr>
                  <a:t> extrema on </a:t>
                </a:r>
                <a:r>
                  <a:rPr lang="en-IN" sz="2400">
                    <a:solidFill>
                      <a:srgbClr val="111827"/>
                    </a:solidFill>
                    <a:latin typeface="Cambria Math" panose="02040503050406030204" pitchFamily="18" charset="0"/>
                  </a:rPr>
                  <a:t>$(0,\infty)$</a:t>
                </a:r>
                <a:r>
                  <a:rPr sz="2400" b="0">
                    <a:solidFill>
                      <a:srgbClr val="111827"/>
                    </a:solidFill>
                    <a:latin typeface="Arial"/>
                  </a:rPr>
                  <a:t> and </a:t>
                </a:r>
                <a:r>
                  <a:rPr lang="en-IN" sz="2400">
                    <a:solidFill>
                      <a:srgbClr val="111827"/>
                    </a:solidFill>
                    <a:latin typeface="Cambria Math" panose="02040503050406030204" pitchFamily="18" charset="0"/>
                  </a:rPr>
                  <a:t>$f'(0)\neq0$</a:t>
                </a:r>
                <a:r>
                  <a:rPr sz="2400" b="0">
                    <a:solidFill>
                      <a:srgbClr val="111827"/>
                    </a:solidFill>
                    <a:latin typeface="Arial"/>
                  </a:rPr>
                  <a:t> exists, </a:t>
                </a:r>
                <a:r>
                  <a:rPr lang="en-IN" sz="2400">
                    <a:solidFill>
                      <a:srgbClr val="111827"/>
                    </a:solidFill>
                    <a:latin typeface="Cambria Math" panose="02040503050406030204" pitchFamily="18" charset="0"/>
                  </a:rPr>
                  <a:t>$g=f(|x|)$</a:t>
                </a:r>
                <a:r>
                  <a:rPr sz="2400" b="0">
                    <a:solidFill>
                      <a:srgbClr val="111827"/>
                    </a:solidFill>
                    <a:latin typeface="Arial"/>
                  </a:rPr>
                  <a:t> has </a:t>
                </a:r>
                <a:r>
                  <a:rPr lang="en-IN" sz="2400">
                    <a:solidFill>
                      <a:srgbClr val="111827"/>
                    </a:solidFill>
                    <a:latin typeface="Cambria Math" panose="02040503050406030204" pitchFamily="18" charset="0"/>
                  </a:rPr>
                  <a:t>$2k+1$</a:t>
                </a:r>
                <a:r>
                  <a:rPr sz="2400" b="0">
                    <a:solidFill>
                      <a:srgbClr val="111827"/>
                    </a:solidFill>
                    <a:latin typeface="Arial"/>
                  </a:rPr>
                  <a:t> extrema (the point </a:t>
                </a:r>
                <a:r>
                  <a:rPr lang="en-IN" sz="2400">
                    <a:solidFill>
                      <a:srgbClr val="111827"/>
                    </a:solidFill>
                    <a:latin typeface="Cambria Math" panose="02040503050406030204" pitchFamily="18" charset="0"/>
                  </a:rPr>
                  <a:t>$x=0$</a:t>
                </a:r>
                <a:r>
                  <a:rPr sz="2400" b="0">
                    <a:solidFill>
                      <a:srgbClr val="111827"/>
                    </a:solidFill>
                    <a:latin typeface="Arial"/>
                  </a:rPr>
                  <a:t> is a corner extremum: max if </a:t>
                </a:r>
                <a:r>
                  <a:rPr lang="en-IN" sz="2400">
                    <a:solidFill>
                      <a:srgbClr val="111827"/>
                    </a:solidFill>
                    <a:latin typeface="Cambria Math" panose="02040503050406030204" pitchFamily="18" charset="0"/>
                  </a:rPr>
                  <a:t>$f'(0)&lt;0$</a:t>
                </a:r>
                <a:r>
                  <a:rPr sz="2400" b="0">
                    <a:solidFill>
                      <a:srgbClr val="111827"/>
                    </a:solidFill>
                    <a:latin typeface="Arial"/>
                  </a:rPr>
                  <a:t>, min if </a:t>
                </a:r>
                <a:r>
                  <a:rPr lang="en-IN" sz="2400">
                    <a:solidFill>
                      <a:srgbClr val="111827"/>
                    </a:solidFill>
                    <a:latin typeface="Cambria Math" panose="02040503050406030204" pitchFamily="18" charset="0"/>
                  </a:rPr>
                  <a:t>$f'(0)&gt;0$</a:t>
                </a:r>
                <a:r>
                  <a:rPr sz="2400" b="0">
                    <a:solidFill>
                      <a:srgbClr val="111827"/>
                    </a:solidFill>
                    <a:latin typeface="Arial"/>
                  </a:rPr>
                  <a:t>). If </a:t>
                </a:r>
                <a:r>
                  <a:rPr lang="en-IN" sz="2400">
                    <a:solidFill>
                      <a:srgbClr val="111827"/>
                    </a:solidFill>
                    <a:latin typeface="Cambria Math" panose="02040503050406030204" pitchFamily="18" charset="0"/>
                  </a:rPr>
                  <a:t>$f'(0)=0$</a:t>
                </a:r>
                <a:r>
                  <a:rPr sz="2400" b="0">
                    <a:solidFill>
                      <a:srgbClr val="111827"/>
                    </a:solidFill>
                    <a:latin typeface="Arial"/>
                  </a:rPr>
                  <a:t> check separately.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rational function the critical points are zeros of the numerator of </a:t>
                </a:r>
                <a:r>
                  <a:rPr lang="en-IN" sz="2400">
                    <a:solidFill>
                      <a:srgbClr val="111827"/>
                    </a:solidFill>
                    <a:latin typeface="Cambria Math" panose="02040503050406030204" pitchFamily="18" charset="0"/>
                  </a:rPr>
                  <a:t>$f'$</a:t>
                </a:r>
                <a:r>
                  <a:rPr sz="2400" b="0">
                    <a:solidFill>
                      <a:srgbClr val="111827"/>
                    </a:solidFill>
                    <a:latin typeface="Arial"/>
                  </a:rPr>
                  <a:t>; poles (here </a:t>
                </a:r>
                <a:r>
                  <a:rPr lang="en-IN" sz="2400">
                    <a:solidFill>
                      <a:srgbClr val="111827"/>
                    </a:solidFill>
                    <a:latin typeface="Cambria Math" panose="02040503050406030204" pitchFamily="18" charset="0"/>
                  </a:rPr>
                  <a:t>$x=3,4$</a:t>
                </a:r>
                <a:r>
                  <a:rPr sz="2400" b="0">
                    <a:solidFill>
                      <a:srgbClr val="111827"/>
                    </a:solidFill>
                    <a:latin typeface="Arial"/>
                  </a:rPr>
                  <a:t>) are not extrema.</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$\frac{(x-a)(x-b)}{(x-c)(x-d)}=1+\frac{A}{x-c}+\frac{B}{x-d}$</a:t>
                </a:r>
                <a:r>
                  <a:rPr sz="2400" b="0">
                    <a:solidFill>
                      <a:srgbClr val="111827"/>
                    </a:solidFill>
                    <a:latin typeface="Arial"/>
                  </a:rPr>
                  <a:t> makes </a:t>
                </a:r>
                <a:r>
                  <a:rPr lang="en-IN" sz="2400">
                    <a:solidFill>
                      <a:srgbClr val="111827"/>
                    </a:solidFill>
                    <a:latin typeface="Cambria Math" panose="02040503050406030204" pitchFamily="18" charset="0"/>
                  </a:rPr>
                  <a:t>$f'$</a:t>
                </a:r>
                <a:r>
                  <a:rPr sz="2400" b="0">
                    <a:solidFill>
                      <a:srgbClr val="111827"/>
                    </a:solidFill>
                    <a:latin typeface="Arial"/>
                  </a:rPr>
                  <a:t> easy: </a:t>
                </a:r>
                <a:r>
                  <a:rPr lang="en-IN" sz="2400">
                    <a:solidFill>
                      <a:srgbClr val="111827"/>
                    </a:solidFill>
                    <a:latin typeface="Cambria Math" panose="02040503050406030204" pitchFamily="18" charset="0"/>
                  </a:rPr>
                  <a:t>$f'=-\frac{A}{(x-c)^2}-\frac{B}{(x-d)^2}$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008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value of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 for which </a:t>
                </a:r>
                <a14:m>
                  <m:oMath xmlns:m="http://schemas.openxmlformats.org/officeDocument/2006/math">
                    <m:f>
                      <m:fPr>
                        <m:type m:val="bar"/>
                        <m:ctrlPr>
                          <a:rPr lang="en-IN" sz="2400" i="1">
                            <a:solidFill>
                              <a:srgbClr val="111827"/>
                            </a:solidFill>
                            <a:latin typeface="Cambria Math" panose="02040503050406030204" pitchFamily="18" charset="0"/>
                          </a:rPr>
                        </m:ctrlPr>
                      </m:fPr>
                      <m:num>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e>
                            <m:r>
                              <m:rPr>
                                <m:sty m:val="p"/>
                              </m:rPr>
                              <a:rPr lang="en-IN" sz="2400">
                                <a:solidFill>
                                  <a:srgbClr val="111827"/>
                                </a:solidFill>
                                <a:latin typeface="Cambria Math" panose="02040503050406030204" pitchFamily="18" charset="0"/>
                              </a:rPr>
                              <m:t>(</m:t>
                            </m:r>
                          </m:e>
                        </m:nary>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ad>
                          <m:radPr>
                            <m:degHide m:val="on"/>
                            <m:ctrlPr>
                              <a:rPr lang="en-IN" sz="2400" i="1">
                                <a:solidFill>
                                  <a:srgbClr val="111827"/>
                                </a:solidFill>
                                <a:latin typeface="Cambria Math" panose="02040503050406030204" pitchFamily="18" charset="0"/>
                              </a:rPr>
                            </m:ctrlPr>
                          </m:radPr>
                          <m:deg/>
                          <m:e>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e>
                                <m:r>
                                  <m:rPr>
                                    <m:sty m:val="p"/>
                                  </m:rPr>
                                  <a:rPr lang="en-IN" sz="2400">
                                    <a:solidFill>
                                      <a:srgbClr val="111827"/>
                                    </a:solidFill>
                                    <a:latin typeface="Cambria Math" panose="02040503050406030204" pitchFamily="18" charset="0"/>
                                  </a:rPr>
                                  <m:t>(</m:t>
                                </m:r>
                              </m:e>
                            </m:nary>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e>
                        </m:rad>
                      </m:den>
                    </m:f>
                  </m:oMath>
                </a14:m>
                <a:r>
                  <a:rPr sz="2400" b="0">
                    <a:solidFill>
                      <a:srgbClr val="111827"/>
                    </a:solidFill>
                    <a:latin typeface="Arial"/>
                  </a:rPr>
                  <a:t> is maximum lies in the interval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(B)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   (C)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(D)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e>
                    </m:d>
                  </m:oMath>
                </a14:m>
                <a:endParaRPr sz="2400">
                  <a:solidFill>
                    <a:srgbClr val="111827"/>
                  </a:solidFill>
                </a:endParaRPr>
              </a:p>
            </p:txBody>
          </p:sp>
        </mc:Choice>
        <mc:Fallback>
          <p:sp>
            <p:nvSpPr>
              <p:cNvPr id="4" name="Rounded Rectangle 3"/>
              <p:cNvSpPr/>
              <p:nvPr/>
            </p:nvSpPr>
            <p:spPr>
              <a:xfrm>
                <a:off x="731520" y="1280160"/>
                <a:ext cx="10725912" cy="24008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value of </a:t>
                </a:r>
                <a:r>
                  <a:rPr lang="en-IN" sz="2400">
                    <a:solidFill>
                      <a:srgbClr val="111827"/>
                    </a:solidFill>
                    <a:latin typeface="Cambria Math" panose="02040503050406030204" pitchFamily="18" charset="0"/>
                  </a:rPr>
                  <a:t>$t$</a:t>
                </a:r>
                <a:r>
                  <a:rPr sz="2400" b="0">
                    <a:solidFill>
                      <a:srgbClr val="111827"/>
                    </a:solidFill>
                    <a:latin typeface="Arial"/>
                  </a:rPr>
                  <a:t> for which </a:t>
                </a:r>
                <a:r>
                  <a:rPr lang="en-IN" sz="2400">
                    <a:solidFill>
                      <a:srgbClr val="111827"/>
                    </a:solidFill>
                    <a:latin typeface="Cambria Math" panose="02040503050406030204" pitchFamily="18" charset="0"/>
                  </a:rPr>
                  <a:t>$\frac{\int_0^{\pi/2}(\sin x+t\cos x)\,dx}{\sqrt{\int_0^{\pi/2}(\sin x+t\cos x)^2\,dx}}$</a:t>
                </a:r>
                <a:r>
                  <a:rPr sz="2400" b="0">
                    <a:solidFill>
                      <a:srgbClr val="111827"/>
                    </a:solidFill>
                    <a:latin typeface="Arial"/>
                  </a:rPr>
                  <a:t> is maximum lies in the interval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$\left(0,\frac12\right)$</a:t>
                </a:r>
                <a:r>
                  <a:rPr sz="2400" b="0">
                    <a:solidFill>
                      <a:srgbClr val="111827"/>
                    </a:solidFill>
                    <a:latin typeface="Arial"/>
                  </a:rPr>
                  <a:t>   (B) </a:t>
                </a:r>
                <a:r>
                  <a:rPr lang="en-IN" sz="2400">
                    <a:solidFill>
                      <a:srgbClr val="111827"/>
                    </a:solidFill>
                    <a:latin typeface="Cambria Math" panose="02040503050406030204" pitchFamily="18" charset="0"/>
                  </a:rPr>
                  <a:t>$\left(\frac12,\frac34\right)$</a:t>
                </a:r>
                <a:r>
                  <a:rPr sz="2400" b="0">
                    <a:solidFill>
                      <a:srgbClr val="111827"/>
                    </a:solidFill>
                    <a:latin typeface="Arial"/>
                  </a:rPr>
                  <a:t>   (C) </a:t>
                </a:r>
                <a:r>
                  <a:rPr lang="en-IN" sz="2400">
                    <a:solidFill>
                      <a:srgbClr val="111827"/>
                    </a:solidFill>
                    <a:latin typeface="Cambria Math" panose="02040503050406030204" pitchFamily="18" charset="0"/>
                  </a:rPr>
                  <a:t>$\left(\frac34,\frac32\right)$</a:t>
                </a:r>
                <a:r>
                  <a:rPr sz="2400" b="0">
                    <a:solidFill>
                      <a:srgbClr val="111827"/>
                    </a:solidFill>
                    <a:latin typeface="Arial"/>
                  </a:rPr>
                  <a:t>   (D) </a:t>
                </a:r>
                <a:r>
                  <a:rPr lang="en-IN" sz="2400">
                    <a:solidFill>
                      <a:srgbClr val="111827"/>
                    </a:solidFill>
                    <a:latin typeface="Cambria Math" panose="02040503050406030204" pitchFamily="18" charset="0"/>
                  </a:rPr>
                  <a:t>$\left(\frac32,\frac52\right)$</a:t>
                </a:r>
                <a:endParaRPr sz="2400">
                  <a:solidFill>
                    <a:srgbClr val="111827"/>
                  </a:solidFill>
                </a:endParaRPr>
              </a:p>
            </p:txBody>
          </p:sp>
        </mc:Fallback>
      </mc:AlternateContent>
      <p:sp>
        <p:nvSpPr>
          <p:cNvPr id="5" name="Rectangle 4"/>
          <p:cNvSpPr/>
          <p:nvPr/>
        </p:nvSpPr>
        <p:spPr>
          <a:xfrm>
            <a:off x="731520" y="3909567"/>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Definite integrals of trigonometric functions, Maximum of a function of a parameter</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Integrate to get a function of </a:t>
                </a:r>
                <a14:m>
                  <m:oMath xmlns:m="http://schemas.openxmlformats.org/officeDocument/2006/math">
                    <m:r>
                      <a:rPr lang="en-IN" sz="2400" i="1">
                        <a:solidFill>
                          <a:srgbClr val="78350F"/>
                        </a:solidFill>
                        <a:latin typeface="Cambria Math" panose="02040503050406030204" pitchFamily="18" charset="0"/>
                      </a:rPr>
                      <m:t>𝑡</m:t>
                    </m:r>
                  </m:oMath>
                </a14:m>
                <a:r>
                  <a:rPr sz="2400" b="0">
                    <a:solidFill>
                      <a:srgbClr val="78350F"/>
                    </a:solidFill>
                    <a:latin typeface="Arial"/>
                  </a:rPr>
                  <a:t>, maximise its square (the quantity is positive near the maximum): the derivative has factor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Integrate to get a function of </a:t>
                </a:r>
                <a:r>
                  <a:rPr lang="en-IN" sz="2400">
                    <a:solidFill>
                      <a:srgbClr val="78350F"/>
                    </a:solidFill>
                    <a:latin typeface="Cambria Math" panose="02040503050406030204" pitchFamily="18" charset="0"/>
                  </a:rPr>
                  <a:t>$t$</a:t>
                </a:r>
                <a:r>
                  <a:rPr sz="2400" b="0">
                    <a:solidFill>
                      <a:srgbClr val="78350F"/>
                    </a:solidFill>
                    <a:latin typeface="Arial"/>
                  </a:rPr>
                  <a:t>, maximise its square (the quantity is positive near the maximum): the derivative has factor </a:t>
                </a:r>
                <a:r>
                  <a:rPr lang="en-IN" sz="2400">
                    <a:solidFill>
                      <a:srgbClr val="78350F"/>
                    </a:solidFill>
                    <a:latin typeface="Cambria Math" panose="02040503050406030204" pitchFamily="18" charset="0"/>
                  </a:rPr>
                  <a:t>$(1+t)(1-t)$</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e>
                        <m:r>
                          <m:rPr>
                            <m:sty m:val="p"/>
                          </m:rPr>
                          <a:rPr lang="en-IN" sz="2400">
                            <a:solidFill>
                              <a:srgbClr val="111827"/>
                            </a:solidFill>
                            <a:latin typeface="Cambria Math" panose="02040503050406030204" pitchFamily="18" charset="0"/>
                          </a:rPr>
                          <m:t>(</m:t>
                        </m:r>
                      </m:e>
                    </m:nary>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e>
                        <m:r>
                          <m:rPr>
                            <m:sty m:val="p"/>
                          </m:rPr>
                          <a:rPr lang="en-IN" sz="2400">
                            <a:solidFill>
                              <a:srgbClr val="111827"/>
                            </a:solidFill>
                            <a:latin typeface="Cambria Math" panose="02040503050406030204" pitchFamily="18" charset="0"/>
                          </a:rPr>
                          <m:t>(</m:t>
                        </m:r>
                      </m:e>
                    </m:nary>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oMath>
                </a14:m>
                <a:r>
                  <a:rPr sz="2400" b="0">
                    <a:solidFill>
                      <a:srgbClr val="111827"/>
                    </a:solidFill>
                    <a:latin typeface="Arial"/>
                  </a:rPr>
                  <a:t>, using </a:t>
                </a:r>
                <a14:m>
                  <m:oMath xmlns:m="http://schemas.openxmlformats.org/officeDocument/2006/math">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num>
                      <m:den>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e>
                        </m:rad>
                      </m:den>
                    </m:f>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&gt;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hence the maximum of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occurs at some </a:t>
                </a:r>
                <a14:m>
                  <m:oMath xmlns:m="http://schemas.openxmlformats.org/officeDocument/2006/math">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&gt;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$\int_0^{\pi/2}(\sin x+t\cos x)\,dx=1+t$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$\int_0^{\pi/2}(\sin x+t\cos x)^2dx=\frac{\pi}{4}(1+t^2)+t$</a:t>
                </a:r>
                <a:r>
                  <a:rPr sz="2400" b="0">
                    <a:solidFill>
                      <a:srgbClr val="111827"/>
                    </a:solidFill>
                    <a:latin typeface="Arial"/>
                  </a:rPr>
                  <a:t>, using </a:t>
                </a:r>
                <a:r>
                  <a:rPr lang="en-IN" sz="2400">
                    <a:solidFill>
                      <a:srgbClr val="111827"/>
                    </a:solidFill>
                    <a:latin typeface="Cambria Math" panose="02040503050406030204" pitchFamily="18" charset="0"/>
                  </a:rPr>
                  <a:t>$\int\sin^2x=\int\cos^2x=\frac\pi4$</a:t>
                </a:r>
                <a:r>
                  <a:rPr sz="2400" b="0">
                    <a:solidFill>
                      <a:srgbClr val="111827"/>
                    </a:solidFill>
                    <a:latin typeface="Arial"/>
                  </a:rPr>
                  <a:t> and </a:t>
                </a:r>
                <a:r>
                  <a:rPr lang="en-IN" sz="2400">
                    <a:solidFill>
                      <a:srgbClr val="111827"/>
                    </a:solidFill>
                    <a:latin typeface="Cambria Math" panose="02040503050406030204" pitchFamily="18" charset="0"/>
                  </a:rPr>
                  <a:t>$\int2t\sin x\cos x=t$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$y(t)=\frac{1+t}{\sqrt{\frac{\pi}{4}(1+t^2)+t}}$</a:t>
                </a:r>
                <a:r>
                  <a:rPr sz="2400" b="0">
                    <a:solidFill>
                      <a:srgbClr val="111827"/>
                    </a:solidFill>
                    <a:latin typeface="Arial"/>
                  </a:rPr>
                  <a:t>, and </a:t>
                </a:r>
                <a:r>
                  <a:rPr lang="en-IN" sz="2400">
                    <a:solidFill>
                      <a:srgbClr val="111827"/>
                    </a:solidFill>
                    <a:latin typeface="Cambria Math" panose="02040503050406030204" pitchFamily="18" charset="0"/>
                  </a:rPr>
                  <a:t>$y^2(t)=\frac{(1+t)^2}{\frac\pi4(1+t^2)+t}$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$y(t)&gt;0$</a:t>
                </a:r>
                <a:r>
                  <a:rPr sz="2400" b="0">
                    <a:solidFill>
                      <a:srgbClr val="111827"/>
                    </a:solidFill>
                    <a:latin typeface="Arial"/>
                  </a:rPr>
                  <a:t> for </a:t>
                </a:r>
                <a:r>
                  <a:rPr lang="en-IN" sz="2400">
                    <a:solidFill>
                      <a:srgbClr val="111827"/>
                    </a:solidFill>
                    <a:latin typeface="Cambria Math" panose="02040503050406030204" pitchFamily="18" charset="0"/>
                  </a:rPr>
                  <a:t>$t&gt;-1$</a:t>
                </a:r>
                <a:r>
                  <a:rPr sz="2400" b="0">
                    <a:solidFill>
                      <a:srgbClr val="111827"/>
                    </a:solidFill>
                    <a:latin typeface="Arial"/>
                  </a:rPr>
                  <a:t> and </a:t>
                </a:r>
                <a:r>
                  <a:rPr lang="en-IN" sz="2400">
                    <a:solidFill>
                      <a:srgbClr val="111827"/>
                    </a:solidFill>
                    <a:latin typeface="Cambria Math" panose="02040503050406030204" pitchFamily="18" charset="0"/>
                  </a:rPr>
                  <a:t>$y(t)\le0$</a:t>
                </a:r>
                <a:r>
                  <a:rPr sz="2400" b="0">
                    <a:solidFill>
                      <a:srgbClr val="111827"/>
                    </a:solidFill>
                    <a:latin typeface="Arial"/>
                  </a:rPr>
                  <a:t> for </a:t>
                </a:r>
                <a:r>
                  <a:rPr lang="en-IN" sz="2400">
                    <a:solidFill>
                      <a:srgbClr val="111827"/>
                    </a:solidFill>
                    <a:latin typeface="Cambria Math" panose="02040503050406030204" pitchFamily="18" charset="0"/>
                  </a:rPr>
                  <a:t>$t\le-1$</a:t>
                </a:r>
                <a:r>
                  <a:rPr sz="2400" b="0">
                    <a:solidFill>
                      <a:srgbClr val="111827"/>
                    </a:solidFill>
                    <a:latin typeface="Arial"/>
                  </a:rPr>
                  <a:t>, hence the maximum of </a:t>
                </a:r>
                <a:r>
                  <a:rPr lang="en-IN" sz="2400">
                    <a:solidFill>
                      <a:srgbClr val="111827"/>
                    </a:solidFill>
                    <a:latin typeface="Cambria Math" panose="02040503050406030204" pitchFamily="18" charset="0"/>
                  </a:rPr>
                  <a:t>$y$</a:t>
                </a:r>
                <a:r>
                  <a:rPr sz="2400" b="0">
                    <a:solidFill>
                      <a:srgbClr val="111827"/>
                    </a:solidFill>
                    <a:latin typeface="Arial"/>
                  </a:rPr>
                  <a:t> occurs at some </a:t>
                </a:r>
                <a:r>
                  <a:rPr lang="en-IN" sz="2400">
                    <a:solidFill>
                      <a:srgbClr val="111827"/>
                    </a:solidFill>
                    <a:latin typeface="Cambria Math" panose="02040503050406030204" pitchFamily="18" charset="0"/>
                  </a:rPr>
                  <a:t>$t_0&gt;-1$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&gt;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attain their maximum at the same </a:t>
                </a:r>
                <a14:m>
                  <m:oMath xmlns:m="http://schemas.openxmlformats.org/officeDocument/2006/math">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0</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𝐷</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num>
                      <m:den>
                        <m:sSup>
                          <m:e>
                            <m:r>
                              <a:rPr lang="en-IN" sz="2400" i="1">
                                <a:solidFill>
                                  <a:srgbClr val="111827"/>
                                </a:solidFill>
                                <a:latin typeface="Cambria Math" panose="02040503050406030204" pitchFamily="18" charset="0"/>
                              </a:rPr>
                              <m:t>𝐷</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e>
                        </m:d>
                      </m:num>
                      <m:den>
                        <m:sSup>
                          <m:e>
                            <m:r>
                              <a:rPr lang="en-IN" sz="2400" i="1">
                                <a:solidFill>
                                  <a:srgbClr val="111827"/>
                                </a:solidFill>
                                <a:latin typeface="Cambria Math" panose="02040503050406030204" pitchFamily="18" charset="0"/>
                              </a:rPr>
                              <m:t>𝐷</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num>
                      <m:den>
                        <m:sSup>
                          <m:e>
                            <m:r>
                              <a:rPr lang="en-IN" sz="2400" i="1">
                                <a:solidFill>
                                  <a:srgbClr val="111827"/>
                                </a:solidFill>
                                <a:latin typeface="Cambria Math" panose="02040503050406030204" pitchFamily="18" charset="0"/>
                              </a:rPr>
                              <m:t>𝐷</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increases 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decreases for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maximum 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minimum 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$t&gt;-1$</a:t>
                </a:r>
                <a:r>
                  <a:rPr sz="2400" b="0">
                    <a:solidFill>
                      <a:srgbClr val="111827"/>
                    </a:solidFill>
                    <a:latin typeface="Arial"/>
                  </a:rPr>
                  <a:t>, </a:t>
                </a:r>
                <a:r>
                  <a:rPr lang="en-IN" sz="2400">
                    <a:solidFill>
                      <a:srgbClr val="111827"/>
                    </a:solidFill>
                    <a:latin typeface="Cambria Math" panose="02040503050406030204" pitchFamily="18" charset="0"/>
                  </a:rPr>
                  <a:t>$y$</a:t>
                </a:r>
                <a:r>
                  <a:rPr sz="2400" b="0">
                    <a:solidFill>
                      <a:srgbClr val="111827"/>
                    </a:solidFill>
                    <a:latin typeface="Arial"/>
                  </a:rPr>
                  <a:t> and </a:t>
                </a:r>
                <a:r>
                  <a:rPr lang="en-IN" sz="2400">
                    <a:solidFill>
                      <a:srgbClr val="111827"/>
                    </a:solidFill>
                    <a:latin typeface="Cambria Math" panose="02040503050406030204" pitchFamily="18" charset="0"/>
                  </a:rPr>
                  <a:t>$y^2$</a:t>
                </a:r>
                <a:r>
                  <a:rPr sz="2400" b="0">
                    <a:solidFill>
                      <a:srgbClr val="111827"/>
                    </a:solidFill>
                    <a:latin typeface="Arial"/>
                  </a:rPr>
                  <a:t> attain their maximum at the same </a:t>
                </a:r>
                <a:r>
                  <a:rPr lang="en-IN" sz="2400">
                    <a:solidFill>
                      <a:srgbClr val="111827"/>
                    </a:solidFill>
                    <a:latin typeface="Cambria Math" panose="02040503050406030204" pitchFamily="18" charset="0"/>
                  </a:rPr>
                  <a:t>$t_0$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$D=\frac\pi4(1+t^2)+t$</a:t>
                </a:r>
                <a:r>
                  <a:rPr sz="2400" b="0">
                    <a:solidFill>
                      <a:srgbClr val="111827"/>
                    </a:solidFill>
                    <a:latin typeface="Arial"/>
                  </a:rPr>
                  <a:t>: </a:t>
                </a:r>
                <a:r>
                  <a:rPr lang="en-IN" sz="2400">
                    <a:solidFill>
                      <a:srgbClr val="111827"/>
                    </a:solidFill>
                    <a:latin typeface="Cambria Math" panose="02040503050406030204" pitchFamily="18" charset="0"/>
                  </a:rPr>
                  <a:t>$\frac{d}{dt}y^2=\frac{2(t+1)}{D}-\frac{(t+1)^2\left(\frac\pi2t+1\right)}{D^2}$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$=\frac{(1+t)\left[\frac\pi2(1+t^2)+2t-(t+1)\left(\frac\pi2t+1\right)\right]}{D^2}=\frac{(1+t)(1-t)\left(\frac\pi2-1\right)}{D^2}$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$\frac\pi2-1&gt;0$</a:t>
                </a:r>
                <a:r>
                  <a:rPr sz="2400" b="0">
                    <a:solidFill>
                      <a:srgbClr val="111827"/>
                    </a:solidFill>
                    <a:latin typeface="Arial"/>
                  </a:rPr>
                  <a:t>, </a:t>
                </a:r>
                <a:r>
                  <a:rPr lang="en-IN" sz="2400">
                    <a:solidFill>
                      <a:srgbClr val="111827"/>
                    </a:solidFill>
                    <a:latin typeface="Cambria Math" panose="02040503050406030204" pitchFamily="18" charset="0"/>
                  </a:rPr>
                  <a:t>$y^2$</a:t>
                </a:r>
                <a:r>
                  <a:rPr sz="2400" b="0">
                    <a:solidFill>
                      <a:srgbClr val="111827"/>
                    </a:solidFill>
                    <a:latin typeface="Arial"/>
                  </a:rPr>
                  <a:t> increases on </a:t>
                </a:r>
                <a:r>
                  <a:rPr lang="en-IN" sz="2400">
                    <a:solidFill>
                      <a:srgbClr val="111827"/>
                    </a:solidFill>
                    <a:latin typeface="Cambria Math" panose="02040503050406030204" pitchFamily="18" charset="0"/>
                  </a:rPr>
                  <a:t>$(-1,1)$</a:t>
                </a:r>
                <a:r>
                  <a:rPr sz="2400" b="0">
                    <a:solidFill>
                      <a:srgbClr val="111827"/>
                    </a:solidFill>
                    <a:latin typeface="Arial"/>
                  </a:rPr>
                  <a:t> and decreases for </a:t>
                </a:r>
                <a:r>
                  <a:rPr lang="en-IN" sz="2400">
                    <a:solidFill>
                      <a:srgbClr val="111827"/>
                    </a:solidFill>
                    <a:latin typeface="Cambria Math" panose="02040503050406030204" pitchFamily="18" charset="0"/>
                  </a:rPr>
                  <a:t>$t&gt;1$</a:t>
                </a:r>
                <a:r>
                  <a:rPr sz="2400" b="0">
                    <a:solidFill>
                      <a:srgbClr val="111827"/>
                    </a:solidFill>
                    <a:latin typeface="Arial"/>
                  </a:rPr>
                  <a:t>: maximum at </a:t>
                </a:r>
                <a:r>
                  <a:rPr lang="en-IN" sz="2400">
                    <a:solidFill>
                      <a:srgbClr val="111827"/>
                    </a:solidFill>
                    <a:latin typeface="Cambria Math" panose="02040503050406030204" pitchFamily="18" charset="0"/>
                  </a:rPr>
                  <a:t>$t=1$</a:t>
                </a:r>
                <a:r>
                  <a:rPr sz="2400" b="0">
                    <a:solidFill>
                      <a:srgbClr val="111827"/>
                    </a:solidFill>
                    <a:latin typeface="Arial"/>
                  </a:rPr>
                  <a:t> and minimum at </a:t>
                </a:r>
                <a:r>
                  <a:rPr lang="en-IN" sz="2400">
                    <a:solidFill>
                      <a:srgbClr val="111827"/>
                    </a:solidFill>
                    <a:latin typeface="Cambria Math" panose="02040503050406030204" pitchFamily="18" charset="0"/>
                  </a:rPr>
                  <a:t>$t=-1$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$t_0=1\in\left(\frac34,\frac32\right)$</a:t>
                </a:r>
                <a:r>
                  <a:rPr sz="2400" b="0">
                    <a:solidFill>
                      <a:srgbClr val="111827"/>
                    </a:solidFill>
                    <a:latin typeface="Arial"/>
                  </a:rPr>
                  <a:t>: option (C).</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a:t>
            </a:r>
            <a:endParaRPr sz="2800">
              <a:solidFill>
                <a:srgbClr val="15803D"/>
              </a:solidFill>
            </a:endParaRP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Cauchy–Schwarz: the ratio is </a:t>
                </a:r>
                <a14:m>
                  <m:oMath xmlns:m="http://schemas.openxmlformats.org/officeDocument/2006/math">
                    <m:f>
                      <m:fPr>
                        <m:type m:val="bar"/>
                        <m:ctrlPr>
                          <a:rPr lang="en-IN" sz="2400" i="1">
                            <a:solidFill>
                              <a:srgbClr val="78350F"/>
                            </a:solidFill>
                            <a:latin typeface="Cambria Math" panose="02040503050406030204" pitchFamily="18" charset="0"/>
                          </a:rPr>
                        </m:ctrlPr>
                      </m:fPr>
                      <m:num>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𝑢</m:t>
                        </m:r>
                      </m:num>
                      <m:den>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𝑢</m:t>
                        </m:r>
                        <m:r>
                          <m:rPr>
                            <m:sty m:val="p"/>
                          </m:rPr>
                          <a:rPr lang="en-IN" sz="2400">
                            <a:solidFill>
                              <a:srgbClr val="78350F"/>
                            </a:solidFill>
                            <a:latin typeface="Cambria Math" panose="02040503050406030204" pitchFamily="18" charset="0"/>
                          </a:rPr>
                          <m:t>∥</m:t>
                        </m:r>
                      </m:den>
                    </m:f>
                  </m:oMath>
                </a14:m>
                <a:r>
                  <a:rPr sz="2400" b="0">
                    <a:solidFill>
                      <a:srgbClr val="78350F"/>
                    </a:solidFill>
                    <a:latin typeface="Arial"/>
                  </a:rPr>
                  <a:t>, bounded by the length of the best approximation of </a:t>
                </a:r>
                <a14:m>
                  <m:oMath xmlns:m="http://schemas.openxmlformats.org/officeDocument/2006/math">
                    <m:r>
                      <a:rPr lang="en-IN" sz="2400" i="1">
                        <a:solidFill>
                          <a:srgbClr val="78350F"/>
                        </a:solidFill>
                        <a:latin typeface="Cambria Math" panose="02040503050406030204" pitchFamily="18" charset="0"/>
                      </a:rPr>
                      <m:t>1</m:t>
                    </m:r>
                  </m:oMath>
                </a14:m>
                <a:r>
                  <a:rPr sz="2400" b="0">
                    <a:solidFill>
                      <a:srgbClr val="78350F"/>
                    </a:solidFill>
                    <a:latin typeface="Arial"/>
                  </a:rPr>
                  <a:t> by </a:t>
                </a:r>
                <a14:m>
                  <m:oMath xmlns:m="http://schemas.openxmlformats.org/officeDocument/2006/math">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𝑥</m:t>
                    </m:r>
                  </m:oMath>
                </a14:m>
                <a:r>
                  <a:rPr sz="2400" b="0">
                    <a:solidFill>
                      <a:srgbClr val="78350F"/>
                    </a:solidFill>
                    <a:latin typeface="Arial"/>
                  </a:rPr>
                  <a:t>, with equality when </a:t>
                </a:r>
                <a14:m>
                  <m:oMath xmlns:m="http://schemas.openxmlformats.org/officeDocument/2006/math">
                    <m:r>
                      <a:rPr lang="en-IN" sz="2400" i="1">
                        <a:solidFill>
                          <a:srgbClr val="78350F"/>
                        </a:solidFill>
                        <a:latin typeface="Cambria Math" panose="02040503050406030204" pitchFamily="18" charset="0"/>
                      </a:rPr>
                      <m:t>𝑢</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𝑥</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Cauchy–Schwarz: the ratio is </a:t>
                </a:r>
                <a:r>
                  <a:rPr lang="en-IN" sz="2400">
                    <a:solidFill>
                      <a:srgbClr val="78350F"/>
                    </a:solidFill>
                    <a:latin typeface="Cambria Math" panose="02040503050406030204" pitchFamily="18" charset="0"/>
                  </a:rPr>
                  <a:t>$\frac{\int u}{\|u\|}$</a:t>
                </a:r>
                <a:r>
                  <a:rPr sz="2400" b="0">
                    <a:solidFill>
                      <a:srgbClr val="78350F"/>
                    </a:solidFill>
                    <a:latin typeface="Arial"/>
                  </a:rPr>
                  <a:t>, bounded by the length of the best approximation of </a:t>
                </a:r>
                <a:r>
                  <a:rPr lang="en-IN" sz="2400">
                    <a:solidFill>
                      <a:srgbClr val="78350F"/>
                    </a:solidFill>
                    <a:latin typeface="Cambria Math" panose="02040503050406030204" pitchFamily="18" charset="0"/>
                  </a:rPr>
                  <a:t>$1$</a:t>
                </a:r>
                <a:r>
                  <a:rPr sz="2400" b="0">
                    <a:solidFill>
                      <a:srgbClr val="78350F"/>
                    </a:solidFill>
                    <a:latin typeface="Arial"/>
                  </a:rPr>
                  <a:t> by </a:t>
                </a:r>
                <a:r>
                  <a:rPr lang="en-IN" sz="2400">
                    <a:solidFill>
                      <a:srgbClr val="78350F"/>
                    </a:solidFill>
                    <a:latin typeface="Cambria Math" panose="02040503050406030204" pitchFamily="18" charset="0"/>
                  </a:rPr>
                  <a:t>$\sin x,\cos x$</a:t>
                </a:r>
                <a:r>
                  <a:rPr sz="2400" b="0">
                    <a:solidFill>
                      <a:srgbClr val="78350F"/>
                    </a:solidFill>
                    <a:latin typeface="Arial"/>
                  </a:rPr>
                  <a:t>, with equality when </a:t>
                </a:r>
                <a:r>
                  <a:rPr lang="en-IN" sz="2400">
                    <a:solidFill>
                      <a:srgbClr val="78350F"/>
                    </a:solidFill>
                    <a:latin typeface="Cambria Math" panose="02040503050406030204" pitchFamily="18" charset="0"/>
                  </a:rPr>
                  <a:t>$u\propto\sin x+\cos x$</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a:rPr lang="en-IN" sz="2400" i="1">
                        <a:solidFill>
                          <a:srgbClr val="111827"/>
                        </a:solidFill>
                        <a:latin typeface="Cambria Math" panose="02040503050406030204" pitchFamily="18" charset="0"/>
                      </a:rPr>
                      <m:t>𝑐</m:t>
                    </m:r>
                  </m:oMath>
                </a14:m>
                <a:r>
                  <a:rPr sz="2400" b="0">
                    <a:solidFill>
                      <a:srgbClr val="111827"/>
                    </a:solidFill>
                    <a:latin typeface="Arial"/>
                  </a:rPr>
                  <a:t>; all integrals are over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The ratio is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ad>
                          <m:radPr>
                            <m:degHide m:val="on"/>
                            <m:ctrlPr>
                              <a:rPr lang="en-IN" sz="2400" i="1">
                                <a:solidFill>
                                  <a:srgbClr val="111827"/>
                                </a:solidFill>
                                <a:latin typeface="Cambria Math" panose="02040503050406030204" pitchFamily="18" charset="0"/>
                              </a:rPr>
                            </m:ctrlPr>
                          </m:radPr>
                          <m:deg/>
                          <m:e>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Take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α</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every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a:rPr lang="en-IN" sz="2400" i="1">
                        <a:solidFill>
                          <a:srgbClr val="111827"/>
                        </a:solidFill>
                        <a:latin typeface="Cambria Math" panose="02040503050406030204" pitchFamily="18" charset="0"/>
                      </a:rPr>
                      <m:t>𝑐</m:t>
                    </m:r>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$s=\sin x$</a:t>
                </a:r>
                <a:r>
                  <a:rPr sz="2400" b="0">
                    <a:solidFill>
                      <a:srgbClr val="111827"/>
                    </a:solidFill>
                    <a:latin typeface="Arial"/>
                  </a:rPr>
                  <a:t>, </a:t>
                </a:r>
                <a:r>
                  <a:rPr lang="en-IN" sz="2400">
                    <a:solidFill>
                      <a:srgbClr val="111827"/>
                    </a:solidFill>
                    <a:latin typeface="Cambria Math" panose="02040503050406030204" pitchFamily="18" charset="0"/>
                  </a:rPr>
                  <a:t>$c=\cos x$</a:t>
                </a:r>
                <a:r>
                  <a:rPr sz="2400" b="0">
                    <a:solidFill>
                      <a:srgbClr val="111827"/>
                    </a:solidFill>
                    <a:latin typeface="Arial"/>
                  </a:rPr>
                  <a:t>, </a:t>
                </a:r>
                <a:r>
                  <a:rPr lang="en-IN" sz="2400">
                    <a:solidFill>
                      <a:srgbClr val="111827"/>
                    </a:solidFill>
                    <a:latin typeface="Cambria Math" panose="02040503050406030204" pitchFamily="18" charset="0"/>
                  </a:rPr>
                  <a:t>$u=s+tc$</a:t>
                </a:r>
                <a:r>
                  <a:rPr sz="2400" b="0">
                    <a:solidFill>
                      <a:srgbClr val="111827"/>
                    </a:solidFill>
                    <a:latin typeface="Arial"/>
                  </a:rPr>
                  <a:t>; all integrals are over </a:t>
                </a:r>
                <a:r>
                  <a:rPr lang="en-IN" sz="2400">
                    <a:solidFill>
                      <a:srgbClr val="111827"/>
                    </a:solidFill>
                    <a:latin typeface="Cambria Math" panose="02040503050406030204" pitchFamily="18" charset="0"/>
                  </a:rPr>
                  <a:t>$\left[0,\frac\pi2\right]$</a:t>
                </a:r>
                <a:r>
                  <a:rPr sz="2400" b="0">
                    <a:solidFill>
                      <a:srgbClr val="111827"/>
                    </a:solidFill>
                    <a:latin typeface="Arial"/>
                  </a:rPr>
                  <a:t>. The ratio is </a:t>
                </a:r>
                <a:r>
                  <a:rPr lang="en-IN" sz="2400">
                    <a:solidFill>
                      <a:srgbClr val="111827"/>
                    </a:solidFill>
                    <a:latin typeface="Cambria Math" panose="02040503050406030204" pitchFamily="18" charset="0"/>
                  </a:rPr>
                  <a:t>$\frac{\int u\,dx}{\sqrt{\int u^2dx}}$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Use </a:t>
                </a:r>
                <a:r>
                  <a:rPr lang="en-IN" sz="2400">
                    <a:solidFill>
                      <a:srgbClr val="111827"/>
                    </a:solidFill>
                    <a:latin typeface="Cambria Math" panose="02040503050406030204" pitchFamily="18" charset="0"/>
                  </a:rPr>
                  <a:t>$\int s=\int c=1$</a:t>
                </a:r>
                <a:r>
                  <a:rPr sz="2400" b="0">
                    <a:solidFill>
                      <a:srgbClr val="111827"/>
                    </a:solidFill>
                    <a:latin typeface="Arial"/>
                  </a:rPr>
                  <a:t>, </a:t>
                </a:r>
                <a:r>
                  <a:rPr lang="en-IN" sz="2400">
                    <a:solidFill>
                      <a:srgbClr val="111827"/>
                    </a:solidFill>
                    <a:latin typeface="Cambria Math" panose="02040503050406030204" pitchFamily="18" charset="0"/>
                  </a:rPr>
                  <a:t>$\int s^2=\int c^2=\frac\pi4$</a:t>
                </a:r>
                <a:r>
                  <a:rPr sz="2400" b="0">
                    <a:solidFill>
                      <a:srgbClr val="111827"/>
                    </a:solidFill>
                    <a:latin typeface="Arial"/>
                  </a:rPr>
                  <a:t>, </a:t>
                </a:r>
                <a:r>
                  <a:rPr lang="en-IN" sz="2400">
                    <a:solidFill>
                      <a:srgbClr val="111827"/>
                    </a:solidFill>
                    <a:latin typeface="Cambria Math" panose="02040503050406030204" pitchFamily="18" charset="0"/>
                  </a:rPr>
                  <a:t>$\int sc=\frac12$</a:t>
                </a:r>
                <a:r>
                  <a:rPr sz="2400" b="0">
                    <a:solidFill>
                      <a:srgbClr val="111827"/>
                    </a:solidFill>
                    <a:latin typeface="Arial"/>
                  </a:rPr>
                  <a:t>. Take </a:t>
                </a:r>
                <a:r>
                  <a:rPr lang="en-IN" sz="2400">
                    <a:solidFill>
                      <a:srgbClr val="111827"/>
                    </a:solidFill>
                    <a:latin typeface="Cambria Math" panose="02040503050406030204" pitchFamily="18" charset="0"/>
                  </a:rPr>
                  <a:t>$p=\alpha(s+c)$</a:t>
                </a:r>
                <a:r>
                  <a:rPr sz="2400" b="0">
                    <a:solidFill>
                      <a:srgbClr val="111827"/>
                    </a:solidFill>
                    <a:latin typeface="Arial"/>
                  </a:rPr>
                  <a:t> with </a:t>
                </a:r>
                <a:r>
                  <a:rPr lang="en-IN" sz="2400">
                    <a:solidFill>
                      <a:srgbClr val="111827"/>
                    </a:solidFill>
                    <a:latin typeface="Cambria Math" panose="02040503050406030204" pitchFamily="18" charset="0"/>
                  </a:rPr>
                  <a:t>$\alpha\left(\frac\pi4+\frac12\right)=1$</a:t>
                </a:r>
                <a:r>
                  <a:rPr sz="2400" b="0">
                    <a:solidFill>
                      <a:srgbClr val="111827"/>
                    </a:solidFill>
                    <a:latin typeface="Arial"/>
                  </a:rPr>
                  <a:t>, i.e. </a:t>
                </a:r>
                <a:r>
                  <a:rPr lang="en-IN" sz="2400">
                    <a:solidFill>
                      <a:srgbClr val="111827"/>
                    </a:solidFill>
                    <a:latin typeface="Cambria Math" panose="02040503050406030204" pitchFamily="18" charset="0"/>
                  </a:rPr>
                  <a:t>$\alpha=\frac{4}{\pi+2}$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$\int(1-p)s\,dx=\int(1-p)c\,dx=0$</a:t>
                </a:r>
                <a:r>
                  <a:rPr sz="2400" b="0">
                    <a:solidFill>
                      <a:srgbClr val="111827"/>
                    </a:solidFill>
                    <a:latin typeface="Arial"/>
                  </a:rPr>
                  <a:t>, so </a:t>
                </a:r>
                <a:r>
                  <a:rPr lang="en-IN" sz="2400">
                    <a:solidFill>
                      <a:srgbClr val="111827"/>
                    </a:solidFill>
                    <a:latin typeface="Cambria Math" panose="02040503050406030204" pitchFamily="18" charset="0"/>
                  </a:rPr>
                  <a:t>$\int(1-p)u\,dx=0$</a:t>
                </a:r>
                <a:r>
                  <a:rPr sz="2400" b="0">
                    <a:solidFill>
                      <a:srgbClr val="111827"/>
                    </a:solidFill>
                    <a:latin typeface="Arial"/>
                  </a:rPr>
                  <a:t> for every </a:t>
                </a:r>
                <a:r>
                  <a:rPr lang="en-IN" sz="2400">
                    <a:solidFill>
                      <a:srgbClr val="111827"/>
                    </a:solidFill>
                    <a:latin typeface="Cambria Math" panose="02040503050406030204" pitchFamily="18" charset="0"/>
                  </a:rPr>
                  <a:t>$u=s+tc$</a:t>
                </a:r>
                <a:r>
                  <a:rPr sz="2400" b="0">
                    <a:solidFill>
                      <a:srgbClr val="111827"/>
                    </a:solidFill>
                    <a:latin typeface="Arial"/>
                  </a:rPr>
                  <a:t>, i.e. </a:t>
                </a:r>
                <a:r>
                  <a:rPr lang="en-IN" sz="2400">
                    <a:solidFill>
                      <a:srgbClr val="111827"/>
                    </a:solidFill>
                    <a:latin typeface="Cambria Math" panose="02040503050406030204" pitchFamily="18" charset="0"/>
                  </a:rPr>
                  <a:t>$\int u\,dx=\int u\,p\,dx$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Cauchy–Schwarz: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e>
                    </m:rad>
                    <m:rad>
                      <m:radPr>
                        <m:degHide m:val="on"/>
                        <m:ctrlPr>
                          <a:rPr lang="en-IN" sz="2400" i="1">
                            <a:solidFill>
                              <a:srgbClr val="111827"/>
                            </a:solidFill>
                            <a:latin typeface="Cambria Math" panose="02040503050406030204" pitchFamily="18" charset="0"/>
                          </a:rPr>
                        </m:ctrlPr>
                      </m:radPr>
                      <m:deg/>
                      <m:e>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e>
                    </m:rad>
                  </m:oMath>
                </a14:m>
                <a:r>
                  <a:rPr sz="2400" b="0">
                    <a:solidFill>
                      <a:srgbClr val="111827"/>
                    </a:solidFill>
                    <a:latin typeface="Arial"/>
                  </a:rPr>
                  <a:t>, so the ratio is at most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e>
                    </m:rad>
                  </m:oMath>
                </a14:m>
                <a:r>
                  <a:rPr sz="2400" b="0">
                    <a:solidFill>
                      <a:srgbClr val="111827"/>
                    </a:solidFill>
                    <a:latin typeface="Arial"/>
                  </a:rPr>
                  <a:t>, with equality iff </a:t>
                </a:r>
                <a14:m>
                  <m:oMath xmlns:m="http://schemas.openxmlformats.org/officeDocument/2006/math">
                    <m:r>
                      <a:rPr lang="en-IN" sz="2400" i="1">
                        <a:solidFill>
                          <a:srgbClr val="111827"/>
                        </a:solidFill>
                        <a:latin typeface="Cambria Math" panose="02040503050406030204" pitchFamily="18" charset="0"/>
                      </a:rPr>
                      <m:t>𝑢</m:t>
                    </m:r>
                  </m:oMath>
                </a14:m>
                <a:r>
                  <a:rPr sz="2400" b="0">
                    <a:solidFill>
                      <a:srgbClr val="111827"/>
                    </a:solidFill>
                    <a:latin typeface="Arial"/>
                  </a:rPr>
                  <a:t> is a positive multiple of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a:rPr lang="en-IN" sz="2400" i="1">
                        <a:solidFill>
                          <a:srgbClr val="111827"/>
                        </a:solidFill>
                        <a:latin typeface="Cambria Math" panose="02040503050406030204" pitchFamily="18" charset="0"/>
                      </a:rPr>
                      <m:t>𝑐</m:t>
                    </m:r>
                  </m:oMath>
                </a14:m>
                <a:r>
                  <a:rPr sz="2400" b="0">
                    <a:solidFill>
                      <a:srgbClr val="111827"/>
                    </a:solidFill>
                    <a:latin typeface="Arial"/>
                  </a:rPr>
                  <a:t> is a multiple of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exactly when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maximum is 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(value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e>
                    </m:rad>
                  </m:oMath>
                </a14:m>
                <a:r>
                  <a:rPr sz="2400" b="0">
                    <a:solidFill>
                      <a:srgbClr val="111827"/>
                    </a:solidFill>
                    <a:latin typeface="Arial"/>
                  </a:rPr>
                  <a:t>, agreeing with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option (C).</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Cauchy–Schwarz: </a:t>
                </a:r>
                <a:r>
                  <a:rPr lang="en-IN" sz="2400">
                    <a:solidFill>
                      <a:srgbClr val="111827"/>
                    </a:solidFill>
                    <a:latin typeface="Cambria Math" panose="02040503050406030204" pitchFamily="18" charset="0"/>
                  </a:rPr>
                  <a:t>$\int up\,dx\le\sqrt{\int u^2dx}\sqrt{\int p^2dx}$</a:t>
                </a:r>
                <a:r>
                  <a:rPr sz="2400" b="0">
                    <a:solidFill>
                      <a:srgbClr val="111827"/>
                    </a:solidFill>
                    <a:latin typeface="Arial"/>
                  </a:rPr>
                  <a:t>, so the ratio is at most </a:t>
                </a:r>
                <a:r>
                  <a:rPr lang="en-IN" sz="2400">
                    <a:solidFill>
                      <a:srgbClr val="111827"/>
                    </a:solidFill>
                    <a:latin typeface="Cambria Math" panose="02040503050406030204" pitchFamily="18" charset="0"/>
                  </a:rPr>
                  <a:t>$\sqrt{\int p^2dx}$</a:t>
                </a:r>
                <a:r>
                  <a:rPr sz="2400" b="0">
                    <a:solidFill>
                      <a:srgbClr val="111827"/>
                    </a:solidFill>
                    <a:latin typeface="Arial"/>
                  </a:rPr>
                  <a:t>, with equality iff </a:t>
                </a:r>
                <a:r>
                  <a:rPr lang="en-IN" sz="2400">
                    <a:solidFill>
                      <a:srgbClr val="111827"/>
                    </a:solidFill>
                    <a:latin typeface="Cambria Math" panose="02040503050406030204" pitchFamily="18" charset="0"/>
                  </a:rPr>
                  <a:t>$u$</a:t>
                </a:r>
                <a:r>
                  <a:rPr sz="2400" b="0">
                    <a:solidFill>
                      <a:srgbClr val="111827"/>
                    </a:solidFill>
                    <a:latin typeface="Arial"/>
                  </a:rPr>
                  <a:t> is a positive multiple of </a:t>
                </a:r>
                <a:r>
                  <a:rPr lang="en-IN" sz="2400">
                    <a:solidFill>
                      <a:srgbClr val="111827"/>
                    </a:solidFill>
                    <a:latin typeface="Cambria Math" panose="02040503050406030204" pitchFamily="18" charset="0"/>
                  </a:rPr>
                  <a:t>$p$</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$u=s+tc$</a:t>
                </a:r>
                <a:r>
                  <a:rPr sz="2400" b="0">
                    <a:solidFill>
                      <a:srgbClr val="111827"/>
                    </a:solidFill>
                    <a:latin typeface="Arial"/>
                  </a:rPr>
                  <a:t> is a multiple of </a:t>
                </a:r>
                <a:r>
                  <a:rPr lang="en-IN" sz="2400">
                    <a:solidFill>
                      <a:srgbClr val="111827"/>
                    </a:solidFill>
                    <a:latin typeface="Cambria Math" panose="02040503050406030204" pitchFamily="18" charset="0"/>
                  </a:rPr>
                  <a:t>$p\propto s+c$</a:t>
                </a:r>
                <a:r>
                  <a:rPr sz="2400" b="0">
                    <a:solidFill>
                      <a:srgbClr val="111827"/>
                    </a:solidFill>
                    <a:latin typeface="Arial"/>
                  </a:rPr>
                  <a:t> exactly when </a:t>
                </a:r>
                <a:r>
                  <a:rPr lang="en-IN" sz="2400">
                    <a:solidFill>
                      <a:srgbClr val="111827"/>
                    </a:solidFill>
                    <a:latin typeface="Cambria Math" panose="02040503050406030204" pitchFamily="18" charset="0"/>
                  </a:rPr>
                  <a:t>$t=1$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maximum is at </a:t>
                </a:r>
                <a:r>
                  <a:rPr lang="en-IN" sz="2400">
                    <a:solidFill>
                      <a:srgbClr val="111827"/>
                    </a:solidFill>
                    <a:latin typeface="Cambria Math" panose="02040503050406030204" pitchFamily="18" charset="0"/>
                  </a:rPr>
                  <a:t>$t=1\in\left(\frac34,\frac32\right)$</a:t>
                </a:r>
                <a:r>
                  <a:rPr sz="2400" b="0">
                    <a:solidFill>
                      <a:srgbClr val="111827"/>
                    </a:solidFill>
                    <a:latin typeface="Arial"/>
                  </a:rPr>
                  <a:t> (value </a:t>
                </a:r>
                <a:r>
                  <a:rPr lang="en-IN" sz="2400">
                    <a:solidFill>
                      <a:srgbClr val="111827"/>
                    </a:solidFill>
                    <a:latin typeface="Cambria Math" panose="02040503050406030204" pitchFamily="18" charset="0"/>
                  </a:rPr>
                  <a:t>$\sqrt{\frac{8}{\pi+2}}$</a:t>
                </a:r>
                <a:r>
                  <a:rPr sz="2400" b="0">
                    <a:solidFill>
                      <a:srgbClr val="111827"/>
                    </a:solidFill>
                    <a:latin typeface="Arial"/>
                  </a:rPr>
                  <a:t>, agreeing with </a:t>
                </a:r>
                <a:r>
                  <a:rPr lang="en-IN" sz="2400">
                    <a:solidFill>
                      <a:srgbClr val="111827"/>
                    </a:solidFill>
                    <a:latin typeface="Cambria Math" panose="02040503050406030204" pitchFamily="18" charset="0"/>
                  </a:rPr>
                  <a:t>$y(1)$</a:t>
                </a:r>
                <a:r>
                  <a:rPr sz="2400" b="0">
                    <a:solidFill>
                      <a:srgbClr val="111827"/>
                    </a:solidFill>
                    <a:latin typeface="Arial"/>
                  </a:rPr>
                  <a:t>): option (C).</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a:t>
            </a:r>
            <a:endParaRPr sz="2800">
              <a:solidFill>
                <a:srgbClr val="15803D"/>
              </a:solidFill>
            </a:endParaRP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e>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e>
                    </m:nary>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e>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e>
                    </m:nary>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and </a:t>
                </a:r>
                <a14:m>
                  <m:oMath xmlns:m="http://schemas.openxmlformats.org/officeDocument/2006/math">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e>
                        <m:r>
                          <m:rPr>
                            <m:sty m:val="p"/>
                          </m:rPr>
                          <a:rPr lang="en-IN" sz="2400">
                            <a:solidFill>
                              <a:srgbClr val="111827"/>
                            </a:solidFill>
                            <a:latin typeface="Cambria Math" panose="02040503050406030204" pitchFamily="18" charset="0"/>
                          </a:rPr>
                          <m:t>sin</m:t>
                        </m:r>
                      </m:e>
                    </m:nary>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maximise a quantity known to be positive, maximise its square; the radical disappears and the derivative factorises.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Cauchy–Schwarz for integrals: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𝑎</m:t>
                                </m:r>
                              </m:sub>
                              <m:sup>
                                <m:r>
                                  <a:rPr lang="en-IN" sz="2400" i="1">
                                    <a:solidFill>
                                      <a:srgbClr val="111827"/>
                                    </a:solidFill>
                                    <a:latin typeface="Cambria Math" panose="02040503050406030204" pitchFamily="18" charset="0"/>
                                  </a:rPr>
                                  <m:t>𝑏</m:t>
                                </m:r>
                              </m:sup>
                              <m:e>
                                <m:r>
                                  <a:rPr lang="en-IN" sz="2400" i="1">
                                    <a:solidFill>
                                      <a:srgbClr val="111827"/>
                                    </a:solidFill>
                                    <a:latin typeface="Cambria Math" panose="02040503050406030204" pitchFamily="18" charset="0"/>
                                  </a:rPr>
                                  <m:t>𝑢</m:t>
                                </m:r>
                              </m:e>
                            </m:nary>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𝑣</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𝑎</m:t>
                        </m:r>
                      </m:sub>
                      <m:sup>
                        <m:r>
                          <a:rPr lang="en-IN" sz="2400" i="1">
                            <a:solidFill>
                              <a:srgbClr val="111827"/>
                            </a:solidFill>
                            <a:latin typeface="Cambria Math" panose="02040503050406030204" pitchFamily="18" charset="0"/>
                          </a:rPr>
                          <m:t>𝑏</m:t>
                        </m:r>
                      </m:sup>
                      <m:e>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e>
                    </m:nary>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𝑎</m:t>
                        </m:r>
                      </m:sub>
                      <m:sup>
                        <m:r>
                          <a:rPr lang="en-IN" sz="2400" i="1">
                            <a:solidFill>
                              <a:srgbClr val="111827"/>
                            </a:solidFill>
                            <a:latin typeface="Cambria Math" panose="02040503050406030204" pitchFamily="18" charset="0"/>
                          </a:rPr>
                          <m:t>𝑏</m:t>
                        </m:r>
                      </m:sup>
                      <m:e>
                        <m:sSup>
                          <m:e>
                            <m:r>
                              <a:rPr lang="en-IN" sz="2400" i="1">
                                <a:solidFill>
                                  <a:srgbClr val="111827"/>
                                </a:solidFill>
                                <a:latin typeface="Cambria Math" panose="02040503050406030204" pitchFamily="18" charset="0"/>
                              </a:rPr>
                              <m:t>𝑣</m:t>
                            </m:r>
                          </m:e>
                          <m:sup>
                            <m:r>
                              <a:rPr lang="en-IN" sz="2400" i="1">
                                <a:solidFill>
                                  <a:srgbClr val="111827"/>
                                </a:solidFill>
                                <a:latin typeface="Cambria Math" panose="02040503050406030204" pitchFamily="18" charset="0"/>
                              </a:rPr>
                              <m:t>2</m:t>
                            </m:r>
                          </m:sup>
                        </m:sSup>
                      </m:e>
                    </m:nary>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e>
                            </m:d>
                          </m:e>
                          <m:sup>
                            <m:r>
                              <a:rPr lang="en-IN" sz="2400" i="1">
                                <a:solidFill>
                                  <a:srgbClr val="111827"/>
                                </a:solidFill>
                                <a:latin typeface="Cambria Math" panose="02040503050406030204" pitchFamily="18" charset="0"/>
                              </a:rPr>
                              <m:t>2</m:t>
                            </m:r>
                          </m:sup>
                        </m:sSup>
                      </m:num>
                      <m:den>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(here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Maximum of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num>
                      <m:den>
                        <m:rad>
                          <m:radPr>
                            <m:degHide m:val="on"/>
                            <m:ctrlPr>
                              <a:rPr lang="en-IN" sz="2400" i="1">
                                <a:solidFill>
                                  <a:srgbClr val="111827"/>
                                </a:solidFill>
                                <a:latin typeface="Cambria Math" panose="02040503050406030204" pitchFamily="18" charset="0"/>
                              </a:rPr>
                            </m:ctrlPr>
                          </m:radPr>
                          <m:deg/>
                          <m:e>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e>
                        </m:rad>
                      </m:den>
                    </m:f>
                  </m:oMath>
                </a14:m>
                <a:r>
                  <a:rPr sz="2400" b="0">
                    <a:solidFill>
                      <a:srgbClr val="111827"/>
                    </a:solidFill>
                    <a:latin typeface="Arial"/>
                  </a:rPr>
                  <a:t> over a family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𝑠𝑝𝑎𝑛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occurs when </a:t>
                </a:r>
                <a14:m>
                  <m:oMath xmlns:m="http://schemas.openxmlformats.org/officeDocument/2006/math">
                    <m:r>
                      <a:rPr lang="en-IN" sz="2400" i="1">
                        <a:solidFill>
                          <a:srgbClr val="111827"/>
                        </a:solidFill>
                        <a:latin typeface="Cambria Math" panose="02040503050406030204" pitchFamily="18" charset="0"/>
                      </a:rPr>
                      <m:t>𝑢</m:t>
                    </m:r>
                  </m:oMath>
                </a14:m>
                <a:r>
                  <a:rPr sz="2400" b="0">
                    <a:solidFill>
                      <a:srgbClr val="111827"/>
                    </a:solidFill>
                    <a:latin typeface="Arial"/>
                  </a:rPr>
                  <a:t> is proportional to the orthogonal projection of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onto that span.</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$\int_0^{\pi/2}\sin^2x\,dx=\int_0^{\pi/2}\cos^2x\,dx=\frac\pi4$</a:t>
                </a:r>
                <a:r>
                  <a:rPr sz="2400" b="0">
                    <a:solidFill>
                      <a:srgbClr val="111827"/>
                    </a:solidFill>
                    <a:latin typeface="Arial"/>
                  </a:rPr>
                  <a:t> and </a:t>
                </a:r>
                <a:r>
                  <a:rPr lang="en-IN" sz="2400">
                    <a:solidFill>
                      <a:srgbClr val="111827"/>
                    </a:solidFill>
                    <a:latin typeface="Cambria Math" panose="02040503050406030204" pitchFamily="18" charset="0"/>
                  </a:rPr>
                  <a:t>$\int_0^{\pi/2}\sin x\cos x\,dx=\frac12$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maximise a quantity known to be positive, maximise its square; the radical disappears and the derivative factorises.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Cauchy–Schwarz for integrals: </a:t>
                </a:r>
                <a:r>
                  <a:rPr lang="en-IN" sz="2400">
                    <a:solidFill>
                      <a:srgbClr val="111827"/>
                    </a:solidFill>
                    <a:latin typeface="Cambria Math" panose="02040503050406030204" pitchFamily="18" charset="0"/>
                  </a:rPr>
                  <a:t>$\left(\int_a^bu\,v\,dx\right)^2\le\int_a^bu^2dx\int_a^bv^2dx$</a:t>
                </a:r>
                <a:r>
                  <a:rPr sz="2400" b="0">
                    <a:solidFill>
                      <a:srgbClr val="111827"/>
                    </a:solidFill>
                    <a:latin typeface="Arial"/>
                  </a:rPr>
                  <a:t>; with </a:t>
                </a:r>
                <a:r>
                  <a:rPr lang="en-IN" sz="2400">
                    <a:solidFill>
                      <a:srgbClr val="111827"/>
                    </a:solidFill>
                    <a:latin typeface="Cambria Math" panose="02040503050406030204" pitchFamily="18" charset="0"/>
                  </a:rPr>
                  <a:t>$v=1$</a:t>
                </a:r>
                <a:r>
                  <a:rPr sz="2400" b="0">
                    <a:solidFill>
                      <a:srgbClr val="111827"/>
                    </a:solidFill>
                    <a:latin typeface="Arial"/>
                  </a:rPr>
                  <a:t>, </a:t>
                </a:r>
                <a:r>
                  <a:rPr lang="en-IN" sz="2400">
                    <a:solidFill>
                      <a:srgbClr val="111827"/>
                    </a:solidFill>
                    <a:latin typeface="Cambria Math" panose="02040503050406030204" pitchFamily="18" charset="0"/>
                  </a:rPr>
                  <a:t>$\frac{\left(\int u\right)^2}{\int u^2}\le b-a$</a:t>
                </a:r>
                <a:r>
                  <a:rPr sz="2400" b="0">
                    <a:solidFill>
                      <a:srgbClr val="111827"/>
                    </a:solidFill>
                    <a:latin typeface="Arial"/>
                  </a:rPr>
                  <a:t> (here </a:t>
                </a:r>
                <a:r>
                  <a:rPr lang="en-IN" sz="2400">
                    <a:solidFill>
                      <a:srgbClr val="111827"/>
                    </a:solidFill>
                    <a:latin typeface="Cambria Math" panose="02040503050406030204" pitchFamily="18" charset="0"/>
                  </a:rPr>
                  <a:t>$\le\frac\pi2$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Maximum of </a:t>
                </a:r>
                <a:r>
                  <a:rPr lang="en-IN" sz="2400">
                    <a:solidFill>
                      <a:srgbClr val="111827"/>
                    </a:solidFill>
                    <a:latin typeface="Cambria Math" panose="02040503050406030204" pitchFamily="18" charset="0"/>
                  </a:rPr>
                  <a:t>$\frac{\int u}{\sqrt{\int u^2}}$</a:t>
                </a:r>
                <a:r>
                  <a:rPr sz="2400" b="0">
                    <a:solidFill>
                      <a:srgbClr val="111827"/>
                    </a:solidFill>
                    <a:latin typeface="Arial"/>
                  </a:rPr>
                  <a:t> over a family </a:t>
                </a:r>
                <a:r>
                  <a:rPr lang="en-IN" sz="2400">
                    <a:solidFill>
                      <a:srgbClr val="111827"/>
                    </a:solidFill>
                    <a:latin typeface="Cambria Math" panose="02040503050406030204" pitchFamily="18" charset="0"/>
                  </a:rPr>
                  <a:t>$u\in\text{span}\{\sin x,\cos x\}$</a:t>
                </a:r>
                <a:r>
                  <a:rPr sz="2400" b="0">
                    <a:solidFill>
                      <a:srgbClr val="111827"/>
                    </a:solidFill>
                    <a:latin typeface="Arial"/>
                  </a:rPr>
                  <a:t> occurs when </a:t>
                </a:r>
                <a:r>
                  <a:rPr lang="en-IN" sz="2400">
                    <a:solidFill>
                      <a:srgbClr val="111827"/>
                    </a:solidFill>
                    <a:latin typeface="Cambria Math" panose="02040503050406030204" pitchFamily="18" charset="0"/>
                  </a:rPr>
                  <a:t>$u$</a:t>
                </a:r>
                <a:r>
                  <a:rPr sz="2400" b="0">
                    <a:solidFill>
                      <a:srgbClr val="111827"/>
                    </a:solidFill>
                    <a:latin typeface="Arial"/>
                  </a:rPr>
                  <a:t> is proportional to the orthogonal projection of </a:t>
                </a:r>
                <a:r>
                  <a:rPr lang="en-IN" sz="2400">
                    <a:solidFill>
                      <a:srgbClr val="111827"/>
                    </a:solidFill>
                    <a:latin typeface="Cambria Math" panose="02040503050406030204" pitchFamily="18" charset="0"/>
                  </a:rPr>
                  <a:t>$1$</a:t>
                </a:r>
                <a:r>
                  <a:rPr sz="2400" b="0">
                    <a:solidFill>
                      <a:srgbClr val="111827"/>
                    </a:solidFill>
                    <a:latin typeface="Arial"/>
                  </a:rPr>
                  <a:t> onto that span.</a:t>
                </a:r>
                <a:endParaRPr sz="2400">
                  <a:solidFill>
                    <a:srgbClr val="111827"/>
                  </a:solidFill>
                </a:endParaRPr>
              </a:p>
            </p:txBody>
          </p:sp>
        </mc:Fallback>
      </mc:AlternateContent>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2910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3</m:t>
                        </m:r>
                      </m:sup>
                      <m:e>
                        <m:r>
                          <a:rPr lang="en-IN" sz="2400" i="1">
                            <a:solidFill>
                              <a:srgbClr val="111827"/>
                            </a:solidFill>
                            <a:latin typeface="Cambria Math" panose="02040503050406030204" pitchFamily="18" charset="0"/>
                          </a:rPr>
                          <m:t>𝑓</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minimum value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value of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the value of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𝑀</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𝑁</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(B)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oMath>
                </a14:m>
                <a:endParaRPr sz="2400">
                  <a:solidFill>
                    <a:srgbClr val="111827"/>
                  </a:solidFill>
                </a:endParaRPr>
              </a:p>
            </p:txBody>
          </p:sp>
        </mc:Choice>
        <mc:Fallback>
          <p:sp>
            <p:nvSpPr>
              <p:cNvPr id="4" name="Rounded Rectangle 3"/>
              <p:cNvSpPr/>
              <p:nvPr/>
            </p:nvSpPr>
            <p:spPr>
              <a:xfrm>
                <a:off x="731520" y="1280160"/>
                <a:ext cx="10725912" cy="22910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lang="en-IN" sz="2400">
                    <a:solidFill>
                      <a:srgbClr val="111827"/>
                    </a:solidFill>
                    <a:latin typeface="Cambria Math" panose="02040503050406030204" pitchFamily="18" charset="0"/>
                  </a:rPr>
                  <a:t>$f(x)=|x-1|+|x-2|$</a:t>
                </a:r>
                <a:r>
                  <a:rPr sz="2400" b="0">
                    <a:solidFill>
                      <a:srgbClr val="111827"/>
                    </a:solidFill>
                    <a:latin typeface="Arial"/>
                  </a:rPr>
                  <a:t>, </a:t>
                </a:r>
                <a:r>
                  <a:rPr lang="en-IN" sz="2400">
                    <a:solidFill>
                      <a:srgbClr val="111827"/>
                    </a:solidFill>
                    <a:latin typeface="Cambria Math" panose="02040503050406030204" pitchFamily="18" charset="0"/>
                  </a:rPr>
                  <a:t>$I=\int_0^3f(x)\,dx$</a:t>
                </a:r>
                <a:r>
                  <a:rPr sz="2400" b="0">
                    <a:solidFill>
                      <a:srgbClr val="111827"/>
                    </a:solidFill>
                    <a:latin typeface="Arial"/>
                  </a:rPr>
                  <a:t>, </a:t>
                </a:r>
                <a:r>
                  <a:rPr lang="en-IN" sz="2400">
                    <a:solidFill>
                      <a:srgbClr val="111827"/>
                    </a:solidFill>
                    <a:latin typeface="Cambria Math" panose="02040503050406030204" pitchFamily="18" charset="0"/>
                  </a:rPr>
                  <a:t>$M=$</a:t>
                </a:r>
                <a:r>
                  <a:rPr sz="2400" b="0">
                    <a:solidFill>
                      <a:srgbClr val="111827"/>
                    </a:solidFill>
                    <a:latin typeface="Arial"/>
                  </a:rPr>
                  <a:t> the minimum value of </a:t>
                </a:r>
                <a:r>
                  <a:rPr lang="en-IN" sz="2400">
                    <a:solidFill>
                      <a:srgbClr val="111827"/>
                    </a:solidFill>
                    <a:latin typeface="Cambria Math" panose="02040503050406030204" pitchFamily="18" charset="0"/>
                  </a:rPr>
                  <a:t>$f$</a:t>
                </a:r>
                <a:r>
                  <a:rPr sz="2400" b="0">
                    <a:solidFill>
                      <a:srgbClr val="111827"/>
                    </a:solidFill>
                    <a:latin typeface="Arial"/>
                  </a:rPr>
                  <a:t>, </a:t>
                </a:r>
                <a:r>
                  <a:rPr lang="en-IN" sz="2400">
                    <a:solidFill>
                      <a:srgbClr val="111827"/>
                    </a:solidFill>
                    <a:latin typeface="Cambria Math" panose="02040503050406030204" pitchFamily="18" charset="0"/>
                  </a:rPr>
                  <a:t>$N=f'(x)$</a:t>
                </a:r>
                <a:r>
                  <a:rPr sz="2400" b="0">
                    <a:solidFill>
                      <a:srgbClr val="111827"/>
                    </a:solidFill>
                    <a:latin typeface="Arial"/>
                  </a:rPr>
                  <a:t> for </a:t>
                </a:r>
                <a:r>
                  <a:rPr lang="en-IN" sz="2400">
                    <a:solidFill>
                      <a:srgbClr val="111827"/>
                    </a:solidFill>
                    <a:latin typeface="Cambria Math" panose="02040503050406030204" pitchFamily="18" charset="0"/>
                  </a:rPr>
                  <a:t>$x&lt;-4$</a:t>
                </a:r>
                <a:r>
                  <a:rPr sz="2400" b="0">
                    <a:solidFill>
                      <a:srgbClr val="111827"/>
                    </a:solidFill>
                    <a:latin typeface="Arial"/>
                  </a:rPr>
                  <a:t> and </a:t>
                </a:r>
                <a:r>
                  <a:rPr lang="en-IN" sz="2400">
                    <a:solidFill>
                      <a:srgbClr val="111827"/>
                    </a:solidFill>
                    <a:latin typeface="Cambria Math" panose="02040503050406030204" pitchFamily="18" charset="0"/>
                  </a:rPr>
                  <a:t>$C=$</a:t>
                </a:r>
                <a:r>
                  <a:rPr sz="2400" b="0">
                    <a:solidFill>
                      <a:srgbClr val="111827"/>
                    </a:solidFill>
                    <a:latin typeface="Arial"/>
                  </a:rPr>
                  <a:t> the value of </a:t>
                </a:r>
                <a:r>
                  <a:rPr lang="en-IN" sz="2400">
                    <a:solidFill>
                      <a:srgbClr val="111827"/>
                    </a:solidFill>
                    <a:latin typeface="Cambria Math" panose="02040503050406030204" pitchFamily="18" charset="0"/>
                  </a:rPr>
                  <a:t>$f''(4)$</a:t>
                </a:r>
                <a:r>
                  <a:rPr sz="2400" b="0">
                    <a:solidFill>
                      <a:srgbClr val="111827"/>
                    </a:solidFill>
                    <a:latin typeface="Arial"/>
                  </a:rPr>
                  <a:t>. Then the value of </a:t>
                </a:r>
                <a:r>
                  <a:rPr lang="en-IN" sz="2400">
                    <a:solidFill>
                      <a:srgbClr val="111827"/>
                    </a:solidFill>
                    <a:latin typeface="Cambria Math" panose="02040503050406030204" pitchFamily="18" charset="0"/>
                  </a:rPr>
                  <a:t>$\frac{M^2-N^2+IC}{2}$</a:t>
                </a:r>
                <a:r>
                  <a:rPr sz="2400" b="0">
                    <a:solidFill>
                      <a:srgbClr val="111827"/>
                    </a:solidFill>
                    <a:latin typeface="Arial"/>
                  </a:rPr>
                  <a:t>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$-\frac32$</a:t>
                </a:r>
                <a:r>
                  <a:rPr sz="2400" b="0">
                    <a:solidFill>
                      <a:srgbClr val="111827"/>
                    </a:solidFill>
                    <a:latin typeface="Arial"/>
                  </a:rPr>
                  <a:t>   (B) </a:t>
                </a:r>
                <a:r>
                  <a:rPr lang="en-IN" sz="2400">
                    <a:solidFill>
                      <a:srgbClr val="111827"/>
                    </a:solidFill>
                    <a:latin typeface="Cambria Math" panose="02040503050406030204" pitchFamily="18" charset="0"/>
                  </a:rPr>
                  <a:t>$-\frac52$</a:t>
                </a:r>
                <a:r>
                  <a:rPr sz="2400" b="0">
                    <a:solidFill>
                      <a:srgbClr val="111827"/>
                    </a:solidFill>
                    <a:latin typeface="Arial"/>
                  </a:rPr>
                  <a:t>   (C) </a:t>
                </a:r>
                <a:r>
                  <a:rPr lang="en-IN" sz="2400">
                    <a:solidFill>
                      <a:srgbClr val="111827"/>
                    </a:solidFill>
                    <a:latin typeface="Cambria Math" panose="02040503050406030204" pitchFamily="18" charset="0"/>
                  </a:rPr>
                  <a:t>$\frac32$</a:t>
                </a:r>
                <a:r>
                  <a:rPr sz="2400" b="0">
                    <a:solidFill>
                      <a:srgbClr val="111827"/>
                    </a:solidFill>
                    <a:latin typeface="Arial"/>
                  </a:rPr>
                  <a:t>   (D) </a:t>
                </a:r>
                <a:r>
                  <a:rPr lang="en-IN" sz="2400">
                    <a:solidFill>
                      <a:srgbClr val="111827"/>
                    </a:solidFill>
                    <a:latin typeface="Cambria Math" panose="02040503050406030204" pitchFamily="18" charset="0"/>
                  </a:rPr>
                  <a:t>$\frac52$</a:t>
                </a:r>
                <a:endParaRPr sz="2400">
                  <a:solidFill>
                    <a:srgbClr val="111827"/>
                  </a:solidFill>
                </a:endParaRPr>
              </a:p>
            </p:txBody>
          </p:sp>
        </mc:Fallback>
      </mc:AlternateContent>
      <p:sp>
        <p:nvSpPr>
          <p:cNvPr id="5" name="Rectangle 4"/>
          <p:cNvSpPr/>
          <p:nvPr/>
        </p:nvSpPr>
        <p:spPr>
          <a:xfrm>
            <a:off x="731520" y="37998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Piecewise form of modulus functions, minimum and derivative, Definite integral of a modulus function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Rewrite </a:t>
                </a:r>
                <a14:m>
                  <m:oMath xmlns:m="http://schemas.openxmlformats.org/officeDocument/2006/math">
                    <m:r>
                      <a:rPr lang="en-IN" sz="2400" i="1">
                        <a:solidFill>
                          <a:srgbClr val="78350F"/>
                        </a:solidFill>
                        <a:latin typeface="Cambria Math" panose="02040503050406030204" pitchFamily="18" charset="0"/>
                      </a:rPr>
                      <m:t>𝑓</m:t>
                    </m:r>
                  </m:oMath>
                </a14:m>
                <a:r>
                  <a:rPr sz="2400" b="0">
                    <a:solidFill>
                      <a:srgbClr val="78350F"/>
                    </a:solidFill>
                    <a:latin typeface="Arial"/>
                  </a:rPr>
                  <a:t> piecewise: it is linear with slopes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so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away from the corners and </a:t>
                </a:r>
                <a14:m>
                  <m:oMath xmlns:m="http://schemas.openxmlformats.org/officeDocument/2006/math">
                    <m:r>
                      <a:rPr lang="en-IN" sz="2400" i="1">
                        <a:solidFill>
                          <a:srgbClr val="78350F"/>
                        </a:solidFill>
                        <a:latin typeface="Cambria Math" panose="02040503050406030204" pitchFamily="18" charset="0"/>
                      </a:rPr>
                      <m:t>𝐼</m:t>
                    </m:r>
                  </m:oMath>
                </a14:m>
                <a:r>
                  <a:rPr sz="2400" b="0">
                    <a:solidFill>
                      <a:srgbClr val="78350F"/>
                    </a:solidFill>
                    <a:latin typeface="Arial"/>
                  </a:rPr>
                  <a:t> is a simple area.</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Rewrite </a:t>
                </a:r>
                <a:r>
                  <a:rPr lang="en-IN" sz="2400">
                    <a:solidFill>
                      <a:srgbClr val="78350F"/>
                    </a:solidFill>
                    <a:latin typeface="Cambria Math" panose="02040503050406030204" pitchFamily="18" charset="0"/>
                  </a:rPr>
                  <a:t>$f$</a:t>
                </a:r>
                <a:r>
                  <a:rPr sz="2400" b="0">
                    <a:solidFill>
                      <a:srgbClr val="78350F"/>
                    </a:solidFill>
                    <a:latin typeface="Arial"/>
                  </a:rPr>
                  <a:t> piecewise: it is linear with slopes </a:t>
                </a:r>
                <a:r>
                  <a:rPr lang="en-IN" sz="2400">
                    <a:solidFill>
                      <a:srgbClr val="78350F"/>
                    </a:solidFill>
                    <a:latin typeface="Cambria Math" panose="02040503050406030204" pitchFamily="18" charset="0"/>
                  </a:rPr>
                  <a:t>$-2,0,2$</a:t>
                </a:r>
                <a:r>
                  <a:rPr sz="2400" b="0">
                    <a:solidFill>
                      <a:srgbClr val="78350F"/>
                    </a:solidFill>
                    <a:latin typeface="Arial"/>
                  </a:rPr>
                  <a:t>, so </a:t>
                </a:r>
                <a:r>
                  <a:rPr lang="en-IN" sz="2400">
                    <a:solidFill>
                      <a:srgbClr val="78350F"/>
                    </a:solidFill>
                    <a:latin typeface="Cambria Math" panose="02040503050406030204" pitchFamily="18" charset="0"/>
                  </a:rPr>
                  <a:t>$f''=0$</a:t>
                </a:r>
                <a:r>
                  <a:rPr sz="2400" b="0">
                    <a:solidFill>
                      <a:srgbClr val="78350F"/>
                    </a:solidFill>
                    <a:latin typeface="Arial"/>
                  </a:rPr>
                  <a:t> away from the corners and </a:t>
                </a:r>
                <a:r>
                  <a:rPr lang="en-IN" sz="2400">
                    <a:solidFill>
                      <a:srgbClr val="78350F"/>
                    </a:solidFill>
                    <a:latin typeface="Cambria Math" panose="02040503050406030204" pitchFamily="18" charset="0"/>
                  </a:rPr>
                  <a:t>$I$</a:t>
                </a:r>
                <a:r>
                  <a:rPr sz="2400" b="0">
                    <a:solidFill>
                      <a:srgbClr val="78350F"/>
                    </a:solidFill>
                    <a:latin typeface="Arial"/>
                  </a:rPr>
                  <a:t> is a simple area.</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1</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21</m:t>
                        </m:r>
                      </m:sup>
                      <m:e>
                        <m:r>
                          <a:rPr lang="en-IN" sz="2400" i="1">
                            <a:solidFill>
                              <a:srgbClr val="111827"/>
                            </a:solidFill>
                            <a:latin typeface="Cambria Math" panose="02040503050406030204" pitchFamily="18" charset="0"/>
                          </a:rPr>
                          <m:t> </m:t>
                        </m:r>
                      </m:e>
                    </m:nary>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3</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(using the piecewise definition).</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decreases (slope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up to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equals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increases afterwards.</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$f(x)=3-2x$</a:t>
                </a:r>
                <a:r>
                  <a:rPr sz="2400" b="0">
                    <a:solidFill>
                      <a:srgbClr val="111827"/>
                    </a:solidFill>
                    <a:latin typeface="Arial"/>
                  </a:rPr>
                  <a:t> for </a:t>
                </a:r>
                <a:r>
                  <a:rPr lang="en-IN" sz="2400">
                    <a:solidFill>
                      <a:srgbClr val="111827"/>
                    </a:solidFill>
                    <a:latin typeface="Cambria Math" panose="02040503050406030204" pitchFamily="18" charset="0"/>
                  </a:rPr>
                  <a:t>$x&lt;1$</a:t>
                </a:r>
                <a:r>
                  <a:rPr sz="2400" b="0">
                    <a:solidFill>
                      <a:srgbClr val="111827"/>
                    </a:solidFill>
                    <a:latin typeface="Arial"/>
                  </a:rPr>
                  <a:t>, </a:t>
                </a:r>
                <a:r>
                  <a:rPr lang="en-IN" sz="2400">
                    <a:solidFill>
                      <a:srgbClr val="111827"/>
                    </a:solidFill>
                    <a:latin typeface="Cambria Math" panose="02040503050406030204" pitchFamily="18" charset="0"/>
                  </a:rPr>
                  <a:t>$f(x)=1$</a:t>
                </a:r>
                <a:r>
                  <a:rPr sz="2400" b="0">
                    <a:solidFill>
                      <a:srgbClr val="111827"/>
                    </a:solidFill>
                    <a:latin typeface="Arial"/>
                  </a:rPr>
                  <a:t> for </a:t>
                </a:r>
                <a:r>
                  <a:rPr lang="en-IN" sz="2400">
                    <a:solidFill>
                      <a:srgbClr val="111827"/>
                    </a:solidFill>
                    <a:latin typeface="Cambria Math" panose="02040503050406030204" pitchFamily="18" charset="0"/>
                  </a:rPr>
                  <a:t>$1\le x&lt;2$</a:t>
                </a:r>
                <a:r>
                  <a:rPr sz="2400" b="0">
                    <a:solidFill>
                      <a:srgbClr val="111827"/>
                    </a:solidFill>
                    <a:latin typeface="Arial"/>
                  </a:rPr>
                  <a:t>, and </a:t>
                </a:r>
                <a:r>
                  <a:rPr lang="en-IN" sz="2400">
                    <a:solidFill>
                      <a:srgbClr val="111827"/>
                    </a:solidFill>
                    <a:latin typeface="Cambria Math" panose="02040503050406030204" pitchFamily="18" charset="0"/>
                  </a:rPr>
                  <a:t>$f(x)=2x-3$</a:t>
                </a:r>
                <a:r>
                  <a:rPr sz="2400" b="0">
                    <a:solidFill>
                      <a:srgbClr val="111827"/>
                    </a:solidFill>
                    <a:latin typeface="Arial"/>
                  </a:rPr>
                  <a:t> for </a:t>
                </a:r>
                <a:r>
                  <a:rPr lang="en-IN" sz="2400">
                    <a:solidFill>
                      <a:srgbClr val="111827"/>
                    </a:solidFill>
                    <a:latin typeface="Cambria Math" panose="02040503050406030204" pitchFamily="18" charset="0"/>
                  </a:rPr>
                  <a:t>$x\ge2$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$I=\int_0^1(3-2x)\,dx+\int_1^21\,dx+\int_2^3(2x-3)\,dx=2+1+2=5$</a:t>
                </a:r>
                <a:r>
                  <a:rPr sz="2400" b="0">
                    <a:solidFill>
                      <a:srgbClr val="111827"/>
                    </a:solidFill>
                    <a:latin typeface="Arial"/>
                  </a:rPr>
                  <a:t> (using the piecewise definition).</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$M=1$</a:t>
                </a:r>
                <a:r>
                  <a:rPr sz="2400" b="0">
                    <a:solidFill>
                      <a:srgbClr val="111827"/>
                    </a:solidFill>
                    <a:latin typeface="Arial"/>
                  </a:rPr>
                  <a:t>: </a:t>
                </a:r>
                <a:r>
                  <a:rPr lang="en-IN" sz="2400">
                    <a:solidFill>
                      <a:srgbClr val="111827"/>
                    </a:solidFill>
                    <a:latin typeface="Cambria Math" panose="02040503050406030204" pitchFamily="18" charset="0"/>
                  </a:rPr>
                  <a:t>$f$</a:t>
                </a:r>
                <a:r>
                  <a:rPr sz="2400" b="0">
                    <a:solidFill>
                      <a:srgbClr val="111827"/>
                    </a:solidFill>
                    <a:latin typeface="Arial"/>
                  </a:rPr>
                  <a:t> decreases (slope </a:t>
                </a:r>
                <a:r>
                  <a:rPr lang="en-IN" sz="2400">
                    <a:solidFill>
                      <a:srgbClr val="111827"/>
                    </a:solidFill>
                    <a:latin typeface="Cambria Math" panose="02040503050406030204" pitchFamily="18" charset="0"/>
                  </a:rPr>
                  <a:t>$-2$</a:t>
                </a:r>
                <a:r>
                  <a:rPr sz="2400" b="0">
                    <a:solidFill>
                      <a:srgbClr val="111827"/>
                    </a:solidFill>
                    <a:latin typeface="Arial"/>
                  </a:rPr>
                  <a:t>) up to </a:t>
                </a:r>
                <a:r>
                  <a:rPr lang="en-IN" sz="2400">
                    <a:solidFill>
                      <a:srgbClr val="111827"/>
                    </a:solidFill>
                    <a:latin typeface="Cambria Math" panose="02040503050406030204" pitchFamily="18" charset="0"/>
                  </a:rPr>
                  <a:t>$x=1$</a:t>
                </a:r>
                <a:r>
                  <a:rPr sz="2400" b="0">
                    <a:solidFill>
                      <a:srgbClr val="111827"/>
                    </a:solidFill>
                    <a:latin typeface="Arial"/>
                  </a:rPr>
                  <a:t>, equals </a:t>
                </a:r>
                <a:r>
                  <a:rPr lang="en-IN" sz="2400">
                    <a:solidFill>
                      <a:srgbClr val="111827"/>
                    </a:solidFill>
                    <a:latin typeface="Cambria Math" panose="02040503050406030204" pitchFamily="18" charset="0"/>
                  </a:rPr>
                  <a:t>$1$</a:t>
                </a:r>
                <a:r>
                  <a:rPr sz="2400" b="0">
                    <a:solidFill>
                      <a:srgbClr val="111827"/>
                    </a:solidFill>
                    <a:latin typeface="Arial"/>
                  </a:rPr>
                  <a:t> on </a:t>
                </a:r>
                <a:r>
                  <a:rPr lang="en-IN" sz="2400">
                    <a:solidFill>
                      <a:srgbClr val="111827"/>
                    </a:solidFill>
                    <a:latin typeface="Cambria Math" panose="02040503050406030204" pitchFamily="18" charset="0"/>
                  </a:rPr>
                  <a:t>$[1,2]$</a:t>
                </a:r>
                <a:r>
                  <a:rPr sz="2400" b="0">
                    <a:solidFill>
                      <a:srgbClr val="111827"/>
                    </a:solidFill>
                    <a:latin typeface="Arial"/>
                  </a:rPr>
                  <a:t> and increases afterwards.</a:t>
                </a:r>
                <a:endParaRPr sz="2400">
                  <a:solidFill>
                    <a:srgbClr val="111827"/>
                  </a:solidFill>
                </a:endParaRPr>
              </a:p>
            </p:txBody>
          </p:sp>
        </mc:Fallback>
      </mc:AlternateContent>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is linear, 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𝑀</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𝑁</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option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$N=-2$</a:t>
                </a:r>
                <a:r>
                  <a:rPr sz="2400" b="0">
                    <a:solidFill>
                      <a:srgbClr val="111827"/>
                    </a:solidFill>
                    <a:latin typeface="Arial"/>
                  </a:rPr>
                  <a:t>: for </a:t>
                </a:r>
                <a:r>
                  <a:rPr lang="en-IN" sz="2400">
                    <a:solidFill>
                      <a:srgbClr val="111827"/>
                    </a:solidFill>
                    <a:latin typeface="Cambria Math" panose="02040503050406030204" pitchFamily="18" charset="0"/>
                  </a:rPr>
                  <a:t>$x&lt;-4&lt;1$</a:t>
                </a:r>
                <a:r>
                  <a:rPr sz="2400" b="0">
                    <a:solidFill>
                      <a:srgbClr val="111827"/>
                    </a:solidFill>
                    <a:latin typeface="Arial"/>
                  </a:rPr>
                  <a:t>, </a:t>
                </a:r>
                <a:r>
                  <a:rPr lang="en-IN" sz="2400">
                    <a:solidFill>
                      <a:srgbClr val="111827"/>
                    </a:solidFill>
                    <a:latin typeface="Cambria Math" panose="02040503050406030204" pitchFamily="18" charset="0"/>
                  </a:rPr>
                  <a:t>$f(x)=3-2x$</a:t>
                </a:r>
                <a:r>
                  <a:rPr sz="2400" b="0">
                    <a:solidFill>
                      <a:srgbClr val="111827"/>
                    </a:solidFill>
                    <a:latin typeface="Arial"/>
                  </a:rPr>
                  <a:t> so </a:t>
                </a:r>
                <a:r>
                  <a:rPr lang="en-IN" sz="2400">
                    <a:solidFill>
                      <a:srgbClr val="111827"/>
                    </a:solidFill>
                    <a:latin typeface="Cambria Math" panose="02040503050406030204" pitchFamily="18" charset="0"/>
                  </a:rPr>
                  <a:t>$f'(x)=-2$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$C=0$</a:t>
                </a:r>
                <a:r>
                  <a:rPr sz="2400" b="0">
                    <a:solidFill>
                      <a:srgbClr val="111827"/>
                    </a:solidFill>
                    <a:latin typeface="Arial"/>
                  </a:rPr>
                  <a:t>: for </a:t>
                </a:r>
                <a:r>
                  <a:rPr lang="en-IN" sz="2400">
                    <a:solidFill>
                      <a:srgbClr val="111827"/>
                    </a:solidFill>
                    <a:latin typeface="Cambria Math" panose="02040503050406030204" pitchFamily="18" charset="0"/>
                  </a:rPr>
                  <a:t>$x=4&gt;2$</a:t>
                </a:r>
                <a:r>
                  <a:rPr sz="2400" b="0">
                    <a:solidFill>
                      <a:srgbClr val="111827"/>
                    </a:solidFill>
                    <a:latin typeface="Arial"/>
                  </a:rPr>
                  <a:t>, </a:t>
                </a:r>
                <a:r>
                  <a:rPr lang="en-IN" sz="2400">
                    <a:solidFill>
                      <a:srgbClr val="111827"/>
                    </a:solidFill>
                    <a:latin typeface="Cambria Math" panose="02040503050406030204" pitchFamily="18" charset="0"/>
                  </a:rPr>
                  <a:t>$f(x)=2x-3$</a:t>
                </a:r>
                <a:r>
                  <a:rPr sz="2400" b="0">
                    <a:solidFill>
                      <a:srgbClr val="111827"/>
                    </a:solidFill>
                    <a:latin typeface="Arial"/>
                  </a:rPr>
                  <a:t> is linear, so </a:t>
                </a:r>
                <a:r>
                  <a:rPr lang="en-IN" sz="2400">
                    <a:solidFill>
                      <a:srgbClr val="111827"/>
                    </a:solidFill>
                    <a:latin typeface="Cambria Math" panose="02040503050406030204" pitchFamily="18" charset="0"/>
                  </a:rPr>
                  <a:t>$f''(4)=0$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$\frac{M^2-N^2+IC}{2}=\frac{1-4+5\cdot0}{2}=-\frac32$</a:t>
                </a:r>
                <a:r>
                  <a:rPr sz="2400" b="0">
                    <a:solidFill>
                      <a:srgbClr val="111827"/>
                    </a:solidFill>
                    <a:latin typeface="Arial"/>
                  </a:rPr>
                  <a:t>: option (A).</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a:t>
            </a:r>
            <a:endParaRPr sz="2800">
              <a:solidFill>
                <a:srgbClr val="15803D"/>
              </a:solidFill>
            </a:endParaRP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triangle inequality for </a:t>
                </a:r>
                <a14:m>
                  <m:oMath xmlns:m="http://schemas.openxmlformats.org/officeDocument/2006/math">
                    <m:r>
                      <a:rPr lang="en-IN" sz="2400" i="1">
                        <a:solidFill>
                          <a:srgbClr val="78350F"/>
                        </a:solidFill>
                        <a:latin typeface="Cambria Math" panose="02040503050406030204" pitchFamily="18" charset="0"/>
                      </a:rPr>
                      <m:t>𝑀</m:t>
                    </m:r>
                  </m:oMath>
                </a14:m>
                <a:r>
                  <a:rPr sz="2400" b="0">
                    <a:solidFill>
                      <a:srgbClr val="78350F"/>
                    </a:solidFill>
                    <a:latin typeface="Arial"/>
                  </a:rPr>
                  <a:t> and triangle areas under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for </a:t>
                </a:r>
                <a14:m>
                  <m:oMath xmlns:m="http://schemas.openxmlformats.org/officeDocument/2006/math">
                    <m:r>
                      <a:rPr lang="en-IN" sz="2400" i="1">
                        <a:solidFill>
                          <a:srgbClr val="78350F"/>
                        </a:solidFill>
                        <a:latin typeface="Cambria Math" panose="02040503050406030204" pitchFamily="18" charset="0"/>
                      </a:rPr>
                      <m:t>𝐼</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triangle inequality for </a:t>
                </a:r>
                <a:r>
                  <a:rPr lang="en-IN" sz="2400">
                    <a:solidFill>
                      <a:srgbClr val="78350F"/>
                    </a:solidFill>
                    <a:latin typeface="Cambria Math" panose="02040503050406030204" pitchFamily="18" charset="0"/>
                  </a:rPr>
                  <a:t>$M$</a:t>
                </a:r>
                <a:r>
                  <a:rPr sz="2400" b="0">
                    <a:solidFill>
                      <a:srgbClr val="78350F"/>
                    </a:solidFill>
                    <a:latin typeface="Arial"/>
                  </a:rPr>
                  <a:t> and triangle areas under </a:t>
                </a:r>
                <a:r>
                  <a:rPr lang="en-IN" sz="2400">
                    <a:solidFill>
                      <a:srgbClr val="78350F"/>
                    </a:solidFill>
                    <a:latin typeface="Cambria Math" panose="02040503050406030204" pitchFamily="18" charset="0"/>
                  </a:rPr>
                  <a:t>$|x-1|$</a:t>
                </a:r>
                <a:r>
                  <a:rPr sz="2400" b="0">
                    <a:solidFill>
                      <a:srgbClr val="78350F"/>
                    </a:solidFill>
                    <a:latin typeface="Arial"/>
                  </a:rPr>
                  <a:t> and </a:t>
                </a:r>
                <a:r>
                  <a:rPr lang="en-IN" sz="2400">
                    <a:solidFill>
                      <a:srgbClr val="78350F"/>
                    </a:solidFill>
                    <a:latin typeface="Cambria Math" panose="02040503050406030204" pitchFamily="18" charset="0"/>
                  </a:rPr>
                  <a:t>$|x-2|$</a:t>
                </a:r>
                <a:r>
                  <a:rPr sz="2400" b="0">
                    <a:solidFill>
                      <a:srgbClr val="78350F"/>
                    </a:solidFill>
                    <a:latin typeface="Arial"/>
                  </a:rPr>
                  <a:t> for </a:t>
                </a:r>
                <a:r>
                  <a:rPr lang="en-IN" sz="2400">
                    <a:solidFill>
                      <a:srgbClr val="78350F"/>
                    </a:solidFill>
                    <a:latin typeface="Cambria Math" panose="02040503050406030204" pitchFamily="18" charset="0"/>
                  </a:rPr>
                  <a:t>$I$</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with equality iff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3</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oMath>
                </a14:m>
                <a:r>
                  <a:rPr sz="2400" b="0">
                    <a:solidFill>
                      <a:srgbClr val="111827"/>
                    </a:solidFill>
                    <a:latin typeface="Arial"/>
                  </a:rPr>
                  <a:t> is the area of two right triangles with legs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3</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oMath>
                </a14:m>
                <a:r>
                  <a:rPr sz="2400" b="0">
                    <a:solidFill>
                      <a:srgbClr val="111827"/>
                    </a:solidFill>
                    <a:latin typeface="Arial"/>
                  </a:rPr>
                  <a:t> is the area of triangles with legs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Hence </a:t>
                </a:r>
                <a14:m>
                  <m:oMath xmlns:m="http://schemas.openxmlformats.org/officeDocument/2006/math">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$|x-1|+|x-2|\ge|(x-1)-(x-2)|=1$</a:t>
                </a:r>
                <a:r>
                  <a:rPr sz="2400" b="0">
                    <a:solidFill>
                      <a:srgbClr val="111827"/>
                    </a:solidFill>
                    <a:latin typeface="Arial"/>
                  </a:rPr>
                  <a:t>, with equality iff </a:t>
                </a:r>
                <a:r>
                  <a:rPr lang="en-IN" sz="2400">
                    <a:solidFill>
                      <a:srgbClr val="111827"/>
                    </a:solidFill>
                    <a:latin typeface="Cambria Math" panose="02040503050406030204" pitchFamily="18" charset="0"/>
                  </a:rPr>
                  <a:t>$(x-1)(x-2)\le0$</a:t>
                </a:r>
                <a:r>
                  <a:rPr sz="2400" b="0">
                    <a:solidFill>
                      <a:srgbClr val="111827"/>
                    </a:solidFill>
                    <a:latin typeface="Arial"/>
                  </a:rPr>
                  <a:t>, i.e. </a:t>
                </a:r>
                <a:r>
                  <a:rPr lang="en-IN" sz="2400">
                    <a:solidFill>
                      <a:srgbClr val="111827"/>
                    </a:solidFill>
                    <a:latin typeface="Cambria Math" panose="02040503050406030204" pitchFamily="18" charset="0"/>
                  </a:rPr>
                  <a:t>$1\le x\le2$</a:t>
                </a:r>
                <a:r>
                  <a:rPr sz="2400" b="0">
                    <a:solidFill>
                      <a:srgbClr val="111827"/>
                    </a:solidFill>
                    <a:latin typeface="Arial"/>
                  </a:rPr>
                  <a:t>; so </a:t>
                </a:r>
                <a:r>
                  <a:rPr lang="en-IN" sz="2400">
                    <a:solidFill>
                      <a:srgbClr val="111827"/>
                    </a:solidFill>
                    <a:latin typeface="Cambria Math" panose="02040503050406030204" pitchFamily="18" charset="0"/>
                  </a:rPr>
                  <a:t>$M=1$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$\int_0^3|x-1|\,dx$</a:t>
                </a:r>
                <a:r>
                  <a:rPr sz="2400" b="0">
                    <a:solidFill>
                      <a:srgbClr val="111827"/>
                    </a:solidFill>
                    <a:latin typeface="Arial"/>
                  </a:rPr>
                  <a:t> is the area of two right triangles with legs </a:t>
                </a:r>
                <a:r>
                  <a:rPr lang="en-IN" sz="2400">
                    <a:solidFill>
                      <a:srgbClr val="111827"/>
                    </a:solidFill>
                    <a:latin typeface="Cambria Math" panose="02040503050406030204" pitchFamily="18" charset="0"/>
                  </a:rPr>
                  <a:t>$1,1$</a:t>
                </a:r>
                <a:r>
                  <a:rPr sz="2400" b="0">
                    <a:solidFill>
                      <a:srgbClr val="111827"/>
                    </a:solidFill>
                    <a:latin typeface="Arial"/>
                  </a:rPr>
                  <a:t> and </a:t>
                </a:r>
                <a:r>
                  <a:rPr lang="en-IN" sz="2400">
                    <a:solidFill>
                      <a:srgbClr val="111827"/>
                    </a:solidFill>
                    <a:latin typeface="Cambria Math" panose="02040503050406030204" pitchFamily="18" charset="0"/>
                  </a:rPr>
                  <a:t>$2,2$</a:t>
                </a:r>
                <a:r>
                  <a:rPr sz="2400" b="0">
                    <a:solidFill>
                      <a:srgbClr val="111827"/>
                    </a:solidFill>
                    <a:latin typeface="Arial"/>
                  </a:rPr>
                  <a:t>: </a:t>
                </a:r>
                <a:r>
                  <a:rPr lang="en-IN" sz="2400">
                    <a:solidFill>
                      <a:srgbClr val="111827"/>
                    </a:solidFill>
                    <a:latin typeface="Cambria Math" panose="02040503050406030204" pitchFamily="18" charset="0"/>
                  </a:rPr>
                  <a:t>$\frac12+2=\frac52$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$\int_0^3|x-2|\,dx$</a:t>
                </a:r>
                <a:r>
                  <a:rPr sz="2400" b="0">
                    <a:solidFill>
                      <a:srgbClr val="111827"/>
                    </a:solidFill>
                    <a:latin typeface="Arial"/>
                  </a:rPr>
                  <a:t> is the area of triangles with legs </a:t>
                </a:r>
                <a:r>
                  <a:rPr lang="en-IN" sz="2400">
                    <a:solidFill>
                      <a:srgbClr val="111827"/>
                    </a:solidFill>
                    <a:latin typeface="Cambria Math" panose="02040503050406030204" pitchFamily="18" charset="0"/>
                  </a:rPr>
                  <a:t>$2,2$</a:t>
                </a:r>
                <a:r>
                  <a:rPr sz="2400" b="0">
                    <a:solidFill>
                      <a:srgbClr val="111827"/>
                    </a:solidFill>
                    <a:latin typeface="Arial"/>
                  </a:rPr>
                  <a:t> and </a:t>
                </a:r>
                <a:r>
                  <a:rPr lang="en-IN" sz="2400">
                    <a:solidFill>
                      <a:srgbClr val="111827"/>
                    </a:solidFill>
                    <a:latin typeface="Cambria Math" panose="02040503050406030204" pitchFamily="18" charset="0"/>
                  </a:rPr>
                  <a:t>$1,1$</a:t>
                </a:r>
                <a:r>
                  <a:rPr sz="2400" b="0">
                    <a:solidFill>
                      <a:srgbClr val="111827"/>
                    </a:solidFill>
                    <a:latin typeface="Arial"/>
                  </a:rPr>
                  <a:t>: </a:t>
                </a:r>
                <a:r>
                  <a:rPr lang="en-IN" sz="2400">
                    <a:solidFill>
                      <a:srgbClr val="111827"/>
                    </a:solidFill>
                    <a:latin typeface="Cambria Math" panose="02040503050406030204" pitchFamily="18" charset="0"/>
                  </a:rPr>
                  <a:t>$2+\frac12=\frac52$</a:t>
                </a:r>
                <a:r>
                  <a:rPr sz="2400" b="0">
                    <a:solidFill>
                      <a:srgbClr val="111827"/>
                    </a:solidFill>
                    <a:latin typeface="Arial"/>
                  </a:rPr>
                  <a:t>. Hence </a:t>
                </a:r>
                <a:r>
                  <a:rPr lang="en-IN" sz="2400">
                    <a:solidFill>
                      <a:srgbClr val="111827"/>
                    </a:solidFill>
                    <a:latin typeface="Cambria Math" panose="02040503050406030204" pitchFamily="18" charset="0"/>
                  </a:rPr>
                  <a:t>$I=5$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both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are negative, 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is linear, so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option (A).</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$x&lt;-4$</a:t>
                </a:r>
                <a:r>
                  <a:rPr sz="2400" b="0">
                    <a:solidFill>
                      <a:srgbClr val="111827"/>
                    </a:solidFill>
                    <a:latin typeface="Arial"/>
                  </a:rPr>
                  <a:t> both </a:t>
                </a:r>
                <a:r>
                  <a:rPr lang="en-IN" sz="2400">
                    <a:solidFill>
                      <a:srgbClr val="111827"/>
                    </a:solidFill>
                    <a:latin typeface="Cambria Math" panose="02040503050406030204" pitchFamily="18" charset="0"/>
                  </a:rPr>
                  <a:t>$x-1$</a:t>
                </a:r>
                <a:r>
                  <a:rPr sz="2400" b="0">
                    <a:solidFill>
                      <a:srgbClr val="111827"/>
                    </a:solidFill>
                    <a:latin typeface="Arial"/>
                  </a:rPr>
                  <a:t> and </a:t>
                </a:r>
                <a:r>
                  <a:rPr lang="en-IN" sz="2400">
                    <a:solidFill>
                      <a:srgbClr val="111827"/>
                    </a:solidFill>
                    <a:latin typeface="Cambria Math" panose="02040503050406030204" pitchFamily="18" charset="0"/>
                  </a:rPr>
                  <a:t>$x-2$</a:t>
                </a:r>
                <a:r>
                  <a:rPr sz="2400" b="0">
                    <a:solidFill>
                      <a:srgbClr val="111827"/>
                    </a:solidFill>
                    <a:latin typeface="Arial"/>
                  </a:rPr>
                  <a:t> are negative, so </a:t>
                </a:r>
                <a:r>
                  <a:rPr lang="en-IN" sz="2400">
                    <a:solidFill>
                      <a:srgbClr val="111827"/>
                    </a:solidFill>
                    <a:latin typeface="Cambria Math" panose="02040503050406030204" pitchFamily="18" charset="0"/>
                  </a:rPr>
                  <a:t>$f=(1-x)+(2-x)=3-2x$</a:t>
                </a:r>
                <a:r>
                  <a:rPr sz="2400" b="0">
                    <a:solidFill>
                      <a:srgbClr val="111827"/>
                    </a:solidFill>
                    <a:latin typeface="Arial"/>
                  </a:rPr>
                  <a:t> and </a:t>
                </a:r>
                <a:r>
                  <a:rPr lang="en-IN" sz="2400">
                    <a:solidFill>
                      <a:srgbClr val="111827"/>
                    </a:solidFill>
                    <a:latin typeface="Cambria Math" panose="02040503050406030204" pitchFamily="18" charset="0"/>
                  </a:rPr>
                  <a:t>$N=-2$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$x&gt;2$</a:t>
                </a:r>
                <a:r>
                  <a:rPr sz="2400" b="0">
                    <a:solidFill>
                      <a:srgbClr val="111827"/>
                    </a:solidFill>
                    <a:latin typeface="Arial"/>
                  </a:rPr>
                  <a:t>, </a:t>
                </a:r>
                <a:r>
                  <a:rPr lang="en-IN" sz="2400">
                    <a:solidFill>
                      <a:srgbClr val="111827"/>
                    </a:solidFill>
                    <a:latin typeface="Cambria Math" panose="02040503050406030204" pitchFamily="18" charset="0"/>
                  </a:rPr>
                  <a:t>$f=2x-3$</a:t>
                </a:r>
                <a:r>
                  <a:rPr sz="2400" b="0">
                    <a:solidFill>
                      <a:srgbClr val="111827"/>
                    </a:solidFill>
                    <a:latin typeface="Arial"/>
                  </a:rPr>
                  <a:t> is linear, so </a:t>
                </a:r>
                <a:r>
                  <a:rPr lang="en-IN" sz="2400">
                    <a:solidFill>
                      <a:srgbClr val="111827"/>
                    </a:solidFill>
                    <a:latin typeface="Cambria Math" panose="02040503050406030204" pitchFamily="18" charset="0"/>
                  </a:rPr>
                  <a:t>$C=f''(4)=0$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$\frac{1-4+0}{2}=-\frac32$</a:t>
                </a:r>
                <a:r>
                  <a:rPr sz="2400" b="0">
                    <a:solidFill>
                      <a:srgbClr val="111827"/>
                    </a:solidFill>
                    <a:latin typeface="Arial"/>
                  </a:rPr>
                  <a:t>: option (A).</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a:t>
            </a:r>
            <a:endParaRPr sz="2800">
              <a:solidFill>
                <a:srgbClr val="15803D"/>
              </a:solidFill>
            </a:endParaRP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equality exactly for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between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so the minimum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slope at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is (number of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(number of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𝑥</m:t>
                    </m:r>
                  </m:oMath>
                </a14:m>
                <a:r>
                  <a:rPr sz="2400" b="0">
                    <a:solidFill>
                      <a:srgbClr val="111827"/>
                    </a:solidFill>
                    <a:latin typeface="Arial"/>
                  </a:rPr>
                  <a:t>): here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on the three pieces.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𝑎</m:t>
                        </m:r>
                      </m:sub>
                      <m:sup>
                        <m:r>
                          <a:rPr lang="en-IN" sz="2400" i="1">
                            <a:solidFill>
                              <a:srgbClr val="111827"/>
                            </a:solidFill>
                            <a:latin typeface="Cambria Math" panose="02040503050406030204" pitchFamily="18" charset="0"/>
                          </a:rPr>
                          <m:t>𝑏</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(two triangles); here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piecewise linear function has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except at corners, where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hence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does not exist.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$|x-a|+|x-b|\ge|a-b|$</a:t>
                </a:r>
                <a:r>
                  <a:rPr sz="2400" b="0">
                    <a:solidFill>
                      <a:srgbClr val="111827"/>
                    </a:solidFill>
                    <a:latin typeface="Arial"/>
                  </a:rPr>
                  <a:t>, with equality exactly for </a:t>
                </a:r>
                <a:r>
                  <a:rPr lang="en-IN" sz="2400">
                    <a:solidFill>
                      <a:srgbClr val="111827"/>
                    </a:solidFill>
                    <a:latin typeface="Cambria Math" panose="02040503050406030204" pitchFamily="18" charset="0"/>
                  </a:rPr>
                  <a:t>$x$</a:t>
                </a:r>
                <a:r>
                  <a:rPr sz="2400" b="0">
                    <a:solidFill>
                      <a:srgbClr val="111827"/>
                    </a:solidFill>
                    <a:latin typeface="Arial"/>
                  </a:rPr>
                  <a:t> between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$b$</a:t>
                </a:r>
                <a:r>
                  <a:rPr sz="2400" b="0">
                    <a:solidFill>
                      <a:srgbClr val="111827"/>
                    </a:solidFill>
                    <a:latin typeface="Arial"/>
                  </a:rPr>
                  <a:t>; so the minimum of </a:t>
                </a:r>
                <a:r>
                  <a:rPr lang="en-IN" sz="2400">
                    <a:solidFill>
                      <a:srgbClr val="111827"/>
                    </a:solidFill>
                    <a:latin typeface="Cambria Math" panose="02040503050406030204" pitchFamily="18" charset="0"/>
                  </a:rPr>
                  <a:t>$|x-1|+|x-2|$</a:t>
                </a:r>
                <a:r>
                  <a:rPr sz="2400" b="0">
                    <a:solidFill>
                      <a:srgbClr val="111827"/>
                    </a:solidFill>
                    <a:latin typeface="Arial"/>
                  </a:rPr>
                  <a:t> is </a:t>
                </a:r>
                <a:r>
                  <a:rPr lang="en-IN" sz="2400">
                    <a:solidFill>
                      <a:srgbClr val="111827"/>
                    </a:solidFill>
                    <a:latin typeface="Cambria Math" panose="02040503050406030204" pitchFamily="18" charset="0"/>
                  </a:rPr>
                  <a:t>$1$</a:t>
                </a:r>
                <a:r>
                  <a:rPr sz="2400" b="0">
                    <a:solidFill>
                      <a:srgbClr val="111827"/>
                    </a:solidFill>
                    <a:latin typeface="Arial"/>
                  </a:rPr>
                  <a:t> on </a:t>
                </a:r>
                <a:r>
                  <a:rPr lang="en-IN" sz="2400">
                    <a:solidFill>
                      <a:srgbClr val="111827"/>
                    </a:solidFill>
                    <a:latin typeface="Cambria Math" panose="02040503050406030204" pitchFamily="18" charset="0"/>
                  </a:rPr>
                  <a:t>$[1,2]$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$\sum|x-a_i|$</a:t>
                </a:r>
                <a:r>
                  <a:rPr sz="2400" b="0">
                    <a:solidFill>
                      <a:srgbClr val="111827"/>
                    </a:solidFill>
                    <a:latin typeface="Arial"/>
                  </a:rPr>
                  <a:t> the slope at </a:t>
                </a:r>
                <a:r>
                  <a:rPr lang="en-IN" sz="2400">
                    <a:solidFill>
                      <a:srgbClr val="111827"/>
                    </a:solidFill>
                    <a:latin typeface="Cambria Math" panose="02040503050406030204" pitchFamily="18" charset="0"/>
                  </a:rPr>
                  <a:t>$x$</a:t>
                </a:r>
                <a:r>
                  <a:rPr sz="2400" b="0">
                    <a:solidFill>
                      <a:srgbClr val="111827"/>
                    </a:solidFill>
                    <a:latin typeface="Arial"/>
                  </a:rPr>
                  <a:t> is (number of </a:t>
                </a:r>
                <a:r>
                  <a:rPr lang="en-IN" sz="2400">
                    <a:solidFill>
                      <a:srgbClr val="111827"/>
                    </a:solidFill>
                    <a:latin typeface="Cambria Math" panose="02040503050406030204" pitchFamily="18" charset="0"/>
                  </a:rPr>
                  <a:t>$a_i&lt;x$</a:t>
                </a:r>
                <a:r>
                  <a:rPr sz="2400" b="0">
                    <a:solidFill>
                      <a:srgbClr val="111827"/>
                    </a:solidFill>
                    <a:latin typeface="Arial"/>
                  </a:rPr>
                  <a:t>) </a:t>
                </a:r>
                <a:r>
                  <a:rPr lang="en-IN" sz="2400">
                    <a:solidFill>
                      <a:srgbClr val="111827"/>
                    </a:solidFill>
                    <a:latin typeface="Cambria Math" panose="02040503050406030204" pitchFamily="18" charset="0"/>
                  </a:rPr>
                  <a:t>$-$</a:t>
                </a:r>
                <a:r>
                  <a:rPr sz="2400" b="0">
                    <a:solidFill>
                      <a:srgbClr val="111827"/>
                    </a:solidFill>
                    <a:latin typeface="Arial"/>
                  </a:rPr>
                  <a:t> (number of </a:t>
                </a:r>
                <a:r>
                  <a:rPr lang="en-IN" sz="2400">
                    <a:solidFill>
                      <a:srgbClr val="111827"/>
                    </a:solidFill>
                    <a:latin typeface="Cambria Math" panose="02040503050406030204" pitchFamily="18" charset="0"/>
                  </a:rPr>
                  <a:t>$a_i&gt;x$</a:t>
                </a:r>
                <a:r>
                  <a:rPr sz="2400" b="0">
                    <a:solidFill>
                      <a:srgbClr val="111827"/>
                    </a:solidFill>
                    <a:latin typeface="Arial"/>
                  </a:rPr>
                  <a:t>): here </a:t>
                </a:r>
                <a:r>
                  <a:rPr lang="en-IN" sz="2400">
                    <a:solidFill>
                      <a:srgbClr val="111827"/>
                    </a:solidFill>
                    <a:latin typeface="Cambria Math" panose="02040503050406030204" pitchFamily="18" charset="0"/>
                  </a:rPr>
                  <a:t>$-2,0,2$</a:t>
                </a:r>
                <a:r>
                  <a:rPr sz="2400" b="0">
                    <a:solidFill>
                      <a:srgbClr val="111827"/>
                    </a:solidFill>
                    <a:latin typeface="Arial"/>
                  </a:rPr>
                  <a:t> on the three pieces.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$\int_a^b|x-c|\,dx=\frac{(c-a)^2+(b-c)^2}{2}$</a:t>
                </a:r>
                <a:r>
                  <a:rPr sz="2400" b="0">
                    <a:solidFill>
                      <a:srgbClr val="111827"/>
                    </a:solidFill>
                    <a:latin typeface="Arial"/>
                  </a:rPr>
                  <a:t> for </a:t>
                </a:r>
                <a:r>
                  <a:rPr lang="en-IN" sz="2400">
                    <a:solidFill>
                      <a:srgbClr val="111827"/>
                    </a:solidFill>
                    <a:latin typeface="Cambria Math" panose="02040503050406030204" pitchFamily="18" charset="0"/>
                  </a:rPr>
                  <a:t>$a\le c\le b$</a:t>
                </a:r>
                <a:r>
                  <a:rPr sz="2400" b="0">
                    <a:solidFill>
                      <a:srgbClr val="111827"/>
                    </a:solidFill>
                    <a:latin typeface="Arial"/>
                  </a:rPr>
                  <a:t> (two triangles); here </a:t>
                </a:r>
                <a:r>
                  <a:rPr lang="en-IN" sz="2400">
                    <a:solidFill>
                      <a:srgbClr val="111827"/>
                    </a:solidFill>
                    <a:latin typeface="Cambria Math" panose="02040503050406030204" pitchFamily="18" charset="0"/>
                  </a:rPr>
                  <a:t>$\frac{1+4}{2}=\frac52$</a:t>
                </a:r>
                <a:r>
                  <a:rPr sz="2400" b="0">
                    <a:solidFill>
                      <a:srgbClr val="111827"/>
                    </a:solidFill>
                    <a:latin typeface="Arial"/>
                  </a:rPr>
                  <a:t> for </a:t>
                </a:r>
                <a:r>
                  <a:rPr lang="en-IN" sz="2400">
                    <a:solidFill>
                      <a:srgbClr val="111827"/>
                    </a:solidFill>
                    <a:latin typeface="Cambria Math" panose="02040503050406030204" pitchFamily="18" charset="0"/>
                  </a:rPr>
                  <a:t>$c=1$</a:t>
                </a:r>
                <a:r>
                  <a:rPr sz="2400" b="0">
                    <a:solidFill>
                      <a:srgbClr val="111827"/>
                    </a:solidFill>
                    <a:latin typeface="Arial"/>
                  </a:rPr>
                  <a:t> on </a:t>
                </a:r>
                <a:r>
                  <a:rPr lang="en-IN" sz="2400">
                    <a:solidFill>
                      <a:srgbClr val="111827"/>
                    </a:solidFill>
                    <a:latin typeface="Cambria Math" panose="02040503050406030204" pitchFamily="18" charset="0"/>
                  </a:rPr>
                  <a:t>$[0,3]$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piecewise linear function has </a:t>
                </a:r>
                <a:r>
                  <a:rPr lang="en-IN" sz="2400">
                    <a:solidFill>
                      <a:srgbClr val="111827"/>
                    </a:solidFill>
                    <a:latin typeface="Cambria Math" panose="02040503050406030204" pitchFamily="18" charset="0"/>
                  </a:rPr>
                  <a:t>$f''=0$</a:t>
                </a:r>
                <a:r>
                  <a:rPr sz="2400" b="0">
                    <a:solidFill>
                      <a:srgbClr val="111827"/>
                    </a:solidFill>
                    <a:latin typeface="Arial"/>
                  </a:rPr>
                  <a:t> except at corners, where </a:t>
                </a:r>
                <a:r>
                  <a:rPr lang="en-IN" sz="2400">
                    <a:solidFill>
                      <a:srgbClr val="111827"/>
                    </a:solidFill>
                    <a:latin typeface="Cambria Math" panose="02040503050406030204" pitchFamily="18" charset="0"/>
                  </a:rPr>
                  <a:t>$f'$</a:t>
                </a:r>
                <a:r>
                  <a:rPr sz="2400" b="0">
                    <a:solidFill>
                      <a:srgbClr val="111827"/>
                    </a:solidFill>
                    <a:latin typeface="Arial"/>
                  </a:rPr>
                  <a:t> (and hence </a:t>
                </a:r>
                <a:r>
                  <a:rPr lang="en-IN" sz="2400">
                    <a:solidFill>
                      <a:srgbClr val="111827"/>
                    </a:solidFill>
                    <a:latin typeface="Cambria Math" panose="02040503050406030204" pitchFamily="18" charset="0"/>
                  </a:rPr>
                  <a:t>$f''$</a:t>
                </a:r>
                <a:r>
                  <a:rPr sz="2400" b="0">
                    <a:solidFill>
                      <a:srgbClr val="111827"/>
                    </a:solidFill>
                    <a:latin typeface="Arial"/>
                  </a:rPr>
                  <a:t>) does not exist.</a:t>
                </a:r>
                <a:endParaRPr sz="2400">
                  <a:solidFill>
                    <a:srgbClr val="111827"/>
                  </a:solidFill>
                </a:endParaRPr>
              </a:p>
            </p:txBody>
          </p:sp>
        </mc:Fallback>
      </mc:AlternateContent>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 function such that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8</m:t>
                    </m:r>
                  </m:oMath>
                </a14:m>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$f(x)$</a:t>
                </a:r>
                <a:r>
                  <a:rPr sz="2400" b="0">
                    <a:solidFill>
                      <a:srgbClr val="111827"/>
                    </a:solidFill>
                    <a:latin typeface="Arial"/>
                  </a:rPr>
                  <a:t> is a function such that </a:t>
                </a:r>
                <a:r>
                  <a:rPr lang="en-IN" sz="2400">
                    <a:solidFill>
                      <a:srgbClr val="111827"/>
                    </a:solidFill>
                    <a:latin typeface="Cambria Math" panose="02040503050406030204" pitchFamily="18" charset="0"/>
                  </a:rPr>
                  <a:t>$f(x)+f''(x)=0$</a:t>
                </a:r>
                <a:r>
                  <a:rPr sz="2400" b="0">
                    <a:solidFill>
                      <a:srgbClr val="111827"/>
                    </a:solidFill>
                    <a:latin typeface="Arial"/>
                  </a:rPr>
                  <a:t> and </a:t>
                </a:r>
                <a:r>
                  <a:rPr lang="en-IN" sz="2400">
                    <a:solidFill>
                      <a:srgbClr val="111827"/>
                    </a:solidFill>
                    <a:latin typeface="Cambria Math" panose="02040503050406030204" pitchFamily="18" charset="0"/>
                  </a:rPr>
                  <a:t>$g(x)=(f(x))^2+(f'(x))^2$</a:t>
                </a:r>
                <a:r>
                  <a:rPr sz="2400" b="0">
                    <a:solidFill>
                      <a:srgbClr val="111827"/>
                    </a:solidFill>
                    <a:latin typeface="Arial"/>
                  </a:rPr>
                  <a:t> and </a:t>
                </a:r>
                <a:r>
                  <a:rPr lang="en-IN" sz="2400">
                    <a:solidFill>
                      <a:srgbClr val="111827"/>
                    </a:solidFill>
                    <a:latin typeface="Cambria Math" panose="02040503050406030204" pitchFamily="18" charset="0"/>
                  </a:rPr>
                  <a:t>$g(3)=8$</a:t>
                </a:r>
                <a:r>
                  <a:rPr sz="2400" b="0">
                    <a:solidFill>
                      <a:srgbClr val="111827"/>
                    </a:solidFill>
                    <a:latin typeface="Arial"/>
                  </a:rPr>
                  <a:t>, then </a:t>
                </a:r>
                <a:r>
                  <a:rPr lang="en-IN" sz="2400">
                    <a:solidFill>
                      <a:srgbClr val="111827"/>
                    </a:solidFill>
                    <a:latin typeface="Cambria Math" panose="02040503050406030204" pitchFamily="18" charset="0"/>
                  </a:rPr>
                  <a:t>$g(8)=$</a:t>
                </a:r>
                <a:r>
                  <a:rPr sz="2400" b="0">
                    <a:solidFill>
                      <a:srgbClr val="111827"/>
                    </a:solidFill>
                    <a:latin typeface="Arial"/>
                  </a:rPr>
                  <a:t>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$0$</a:t>
                </a:r>
                <a:r>
                  <a:rPr sz="2400" b="0">
                    <a:solidFill>
                      <a:srgbClr val="111827"/>
                    </a:solidFill>
                    <a:latin typeface="Arial"/>
                  </a:rPr>
                  <a:t>   (B) </a:t>
                </a:r>
                <a:r>
                  <a:rPr lang="en-IN" sz="2400">
                    <a:solidFill>
                      <a:srgbClr val="111827"/>
                    </a:solidFill>
                    <a:latin typeface="Cambria Math" panose="02040503050406030204" pitchFamily="18" charset="0"/>
                  </a:rPr>
                  <a:t>$3$</a:t>
                </a:r>
                <a:r>
                  <a:rPr sz="2400" b="0">
                    <a:solidFill>
                      <a:srgbClr val="111827"/>
                    </a:solidFill>
                    <a:latin typeface="Arial"/>
                  </a:rPr>
                  <a:t>   (C) </a:t>
                </a:r>
                <a:r>
                  <a:rPr lang="en-IN" sz="2400">
                    <a:solidFill>
                      <a:srgbClr val="111827"/>
                    </a:solidFill>
                    <a:latin typeface="Cambria Math" panose="02040503050406030204" pitchFamily="18" charset="0"/>
                  </a:rPr>
                  <a:t>$5$</a:t>
                </a:r>
                <a:r>
                  <a:rPr sz="2400" b="0">
                    <a:solidFill>
                      <a:srgbClr val="111827"/>
                    </a:solidFill>
                    <a:latin typeface="Arial"/>
                  </a:rPr>
                  <a:t>   (D) </a:t>
                </a:r>
                <a:r>
                  <a:rPr lang="en-IN" sz="2400">
                    <a:solidFill>
                      <a:srgbClr val="111827"/>
                    </a:solidFill>
                    <a:latin typeface="Cambria Math" panose="02040503050406030204" pitchFamily="18" charset="0"/>
                  </a:rPr>
                  <a:t>$8$</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Derivative of a sum of squares and zero derivative implies constant function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sSup>
                      <m:e>
                        <m:r>
                          <a:rPr lang="en-IN" sz="2400" i="1">
                            <a:solidFill>
                              <a:srgbClr val="78350F"/>
                            </a:solidFill>
                            <a:latin typeface="Cambria Math" panose="02040503050406030204" pitchFamily="18" charset="0"/>
                          </a:rPr>
                          <m:t>𝑔</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so </a:t>
                </a:r>
                <a14:m>
                  <m:oMath xmlns:m="http://schemas.openxmlformats.org/officeDocument/2006/math">
                    <m:r>
                      <a:rPr lang="en-IN" sz="2400" i="1">
                        <a:solidFill>
                          <a:srgbClr val="78350F"/>
                        </a:solidFill>
                        <a:latin typeface="Cambria Math" panose="02040503050406030204" pitchFamily="18" charset="0"/>
                      </a:rPr>
                      <m:t>𝑔</m:t>
                    </m:r>
                  </m:oMath>
                </a14:m>
                <a:r>
                  <a:rPr sz="2400" b="0">
                    <a:solidFill>
                      <a:srgbClr val="78350F"/>
                    </a:solidFill>
                    <a:latin typeface="Arial"/>
                  </a:rPr>
                  <a:t> is constant.</a:t>
                </a:r>
                <a:endParaRPr sz="2400">
                  <a:solidFill>
                    <a:srgbClr val="78350F"/>
                  </a:solidFill>
                </a:endParaRPr>
              </a:p>
            </p:txBody>
          </p:sp>
        </mc:Choice>
        <mc:Fallback>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$g'=2f'(f+f'')=0$</a:t>
                </a:r>
                <a:r>
                  <a:rPr sz="2400" b="0">
                    <a:solidFill>
                      <a:srgbClr val="78350F"/>
                    </a:solidFill>
                    <a:latin typeface="Arial"/>
                  </a:rPr>
                  <a:t>, so </a:t>
                </a:r>
                <a:r>
                  <a:rPr lang="en-IN" sz="2400">
                    <a:solidFill>
                      <a:srgbClr val="78350F"/>
                    </a:solidFill>
                    <a:latin typeface="Cambria Math" panose="02040503050406030204" pitchFamily="18" charset="0"/>
                  </a:rPr>
                  <a:t>$g$</a:t>
                </a:r>
                <a:r>
                  <a:rPr sz="2400" b="0">
                    <a:solidFill>
                      <a:srgbClr val="78350F"/>
                    </a:solidFill>
                    <a:latin typeface="Arial"/>
                  </a:rPr>
                  <a:t> is constant.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Using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everywhere, hence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is a constant function.</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option (D).</a:t>
                </a:r>
                <a:endParaRPr sz="2400">
                  <a:solidFill>
                    <a:srgbClr val="111827"/>
                  </a:solidFill>
                </a:endParaRPr>
              </a:p>
            </p:txBody>
          </p:sp>
        </mc:Choice>
        <mc:Fallback>
          <p:sp>
            <p:nvSpPr>
              <p:cNvPr id="5" name="Rectangle 4"/>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$g(x)=(f(x))^2+(f'(x))^2\Rightarrow g'(x)=2f(x)f'(x)+2f'(x)f''(x)$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Using </a:t>
                </a:r>
                <a:r>
                  <a:rPr lang="en-IN" sz="2400">
                    <a:solidFill>
                      <a:srgbClr val="111827"/>
                    </a:solidFill>
                    <a:latin typeface="Cambria Math" panose="02040503050406030204" pitchFamily="18" charset="0"/>
                  </a:rPr>
                  <a:t>$f''(x)=-f(x)$</a:t>
                </a:r>
                <a:r>
                  <a:rPr sz="2400" b="0">
                    <a:solidFill>
                      <a:srgbClr val="111827"/>
                    </a:solidFill>
                    <a:latin typeface="Arial"/>
                  </a:rPr>
                  <a:t>: </a:t>
                </a:r>
                <a:r>
                  <a:rPr lang="en-IN" sz="2400">
                    <a:solidFill>
                      <a:srgbClr val="111827"/>
                    </a:solidFill>
                    <a:latin typeface="Cambria Math" panose="02040503050406030204" pitchFamily="18" charset="0"/>
                  </a:rPr>
                  <a:t>$g'(x)=2f(x)f'(x)-2f'(x)f(x)=0$</a:t>
                </a:r>
                <a:r>
                  <a:rPr sz="2400" b="0">
                    <a:solidFill>
                      <a:srgbClr val="111827"/>
                    </a:solidFill>
                    <a:latin typeface="Arial"/>
                  </a:rPr>
                  <a:t> for all </a:t>
                </a:r>
                <a:r>
                  <a:rPr lang="en-IN" sz="2400">
                    <a:solidFill>
                      <a:srgbClr val="111827"/>
                    </a:solidFill>
                    <a:latin typeface="Cambria Math" panose="02040503050406030204" pitchFamily="18" charset="0"/>
                  </a:rPr>
                  <a:t>$x$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$g'(x)=0$</a:t>
                </a:r>
                <a:r>
                  <a:rPr sz="2400" b="0">
                    <a:solidFill>
                      <a:srgbClr val="111827"/>
                    </a:solidFill>
                    <a:latin typeface="Arial"/>
                  </a:rPr>
                  <a:t> everywhere, hence </a:t>
                </a:r>
                <a:r>
                  <a:rPr lang="en-IN" sz="2400">
                    <a:solidFill>
                      <a:srgbClr val="111827"/>
                    </a:solidFill>
                    <a:latin typeface="Cambria Math" panose="02040503050406030204" pitchFamily="18" charset="0"/>
                  </a:rPr>
                  <a:t>$g(x)=c$</a:t>
                </a:r>
                <a:r>
                  <a:rPr sz="2400" b="0">
                    <a:solidFill>
                      <a:srgbClr val="111827"/>
                    </a:solidFill>
                    <a:latin typeface="Arial"/>
                  </a:rPr>
                  <a:t> is a constant function.</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$g(3)=8$</a:t>
                </a:r>
                <a:r>
                  <a:rPr sz="2400" b="0">
                    <a:solidFill>
                      <a:srgbClr val="111827"/>
                    </a:solidFill>
                    <a:latin typeface="Arial"/>
                  </a:rPr>
                  <a:t> gives </a:t>
                </a:r>
                <a:r>
                  <a:rPr lang="en-IN" sz="2400">
                    <a:solidFill>
                      <a:srgbClr val="111827"/>
                    </a:solidFill>
                    <a:latin typeface="Cambria Math" panose="02040503050406030204" pitchFamily="18" charset="0"/>
                  </a:rPr>
                  <a:t>$c=8$</a:t>
                </a:r>
                <a:r>
                  <a:rPr sz="2400" b="0">
                    <a:solidFill>
                      <a:srgbClr val="111827"/>
                    </a:solidFill>
                    <a:latin typeface="Arial"/>
                  </a:rPr>
                  <a:t>, so </a:t>
                </a:r>
                <a:r>
                  <a:rPr lang="en-IN" sz="2400">
                    <a:solidFill>
                      <a:srgbClr val="111827"/>
                    </a:solidFill>
                    <a:latin typeface="Cambria Math" panose="02040503050406030204" pitchFamily="18" charset="0"/>
                  </a:rPr>
                  <a:t>$g(8)=8$</a:t>
                </a:r>
                <a:r>
                  <a:rPr sz="2400" b="0">
                    <a:solidFill>
                      <a:srgbClr val="111827"/>
                    </a:solidFill>
                    <a:latin typeface="Arial"/>
                  </a:rPr>
                  <a:t>: option (D).</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a:t>
            </a:r>
            <a:endParaRPr sz="2800">
              <a:solidFill>
                <a:srgbClr val="15803D"/>
              </a:solidFill>
            </a:endParaRP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Solve the equation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explicitly: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𝑥</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𝑔</m:t>
                    </m:r>
                  </m:oMath>
                </a14:m>
                <a:r>
                  <a:rPr sz="2400" b="0">
                    <a:solidFill>
                      <a:srgbClr val="78350F"/>
                    </a:solidFill>
                    <a:latin typeface="Arial"/>
                  </a:rPr>
                  <a:t> becomes </a:t>
                </a:r>
                <a14:m>
                  <m:oMath xmlns:m="http://schemas.openxmlformats.org/officeDocument/2006/math">
                    <m:sSup>
                      <m:e>
                        <m:r>
                          <a:rPr lang="en-IN" sz="2400" i="1">
                            <a:solidFill>
                              <a:srgbClr val="78350F"/>
                            </a:solidFill>
                            <a:latin typeface="Cambria Math" panose="02040503050406030204" pitchFamily="18" charset="0"/>
                          </a:rPr>
                          <m:t>𝑎</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𝑏</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Solve the equation </a:t>
                </a:r>
                <a:r>
                  <a:rPr lang="en-IN" sz="2400">
                    <a:solidFill>
                      <a:srgbClr val="78350F"/>
                    </a:solidFill>
                    <a:latin typeface="Cambria Math" panose="02040503050406030204" pitchFamily="18" charset="0"/>
                  </a:rPr>
                  <a:t>$f''+f=0$</a:t>
                </a:r>
                <a:r>
                  <a:rPr sz="2400" b="0">
                    <a:solidFill>
                      <a:srgbClr val="78350F"/>
                    </a:solidFill>
                    <a:latin typeface="Arial"/>
                  </a:rPr>
                  <a:t> explicitly: </a:t>
                </a:r>
                <a:r>
                  <a:rPr lang="en-IN" sz="2400">
                    <a:solidFill>
                      <a:srgbClr val="78350F"/>
                    </a:solidFill>
                    <a:latin typeface="Cambria Math" panose="02040503050406030204" pitchFamily="18" charset="0"/>
                  </a:rPr>
                  <a:t>$f=a\cos x+b\sin x$</a:t>
                </a:r>
                <a:r>
                  <a:rPr sz="2400" b="0">
                    <a:solidFill>
                      <a:srgbClr val="78350F"/>
                    </a:solidFill>
                    <a:latin typeface="Arial"/>
                  </a:rPr>
                  <a:t>, and </a:t>
                </a:r>
                <a:r>
                  <a:rPr lang="en-IN" sz="2400">
                    <a:solidFill>
                      <a:srgbClr val="78350F"/>
                    </a:solidFill>
                    <a:latin typeface="Cambria Math" panose="02040503050406030204" pitchFamily="18" charset="0"/>
                  </a:rPr>
                  <a:t>$g$</a:t>
                </a:r>
                <a:r>
                  <a:rPr sz="2400" b="0">
                    <a:solidFill>
                      <a:srgbClr val="78350F"/>
                    </a:solidFill>
                    <a:latin typeface="Arial"/>
                  </a:rPr>
                  <a:t> becomes </a:t>
                </a:r>
                <a:r>
                  <a:rPr lang="en-IN" sz="2400">
                    <a:solidFill>
                      <a:srgbClr val="78350F"/>
                    </a:solidFill>
                    <a:latin typeface="Cambria Math" panose="02040503050406030204" pitchFamily="18" charset="0"/>
                  </a:rPr>
                  <a:t>$a^2+b^2$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has the general solution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oMath>
                </a14:m>
                <a:r>
                  <a:rPr sz="2400" b="0">
                    <a:solidFill>
                      <a:srgbClr val="111827"/>
                    </a:solidFill>
                    <a:latin typeface="Arial"/>
                  </a:rPr>
                  <a:t> with constants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(cross terms cancel).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is constant;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option (D).</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$f''+f=0$</a:t>
                </a:r>
                <a:r>
                  <a:rPr sz="2400" b="0">
                    <a:solidFill>
                      <a:srgbClr val="111827"/>
                    </a:solidFill>
                    <a:latin typeface="Arial"/>
                  </a:rPr>
                  <a:t> has the general solution </a:t>
                </a:r>
                <a:r>
                  <a:rPr lang="en-IN" sz="2400">
                    <a:solidFill>
                      <a:srgbClr val="111827"/>
                    </a:solidFill>
                    <a:latin typeface="Cambria Math" panose="02040503050406030204" pitchFamily="18" charset="0"/>
                  </a:rPr>
                  <a:t>$f(x)=a\cos x+b\sin x$</a:t>
                </a:r>
                <a:r>
                  <a:rPr sz="2400" b="0">
                    <a:solidFill>
                      <a:srgbClr val="111827"/>
                    </a:solidFill>
                    <a:latin typeface="Arial"/>
                  </a:rPr>
                  <a:t> with constants </a:t>
                </a:r>
                <a:r>
                  <a:rPr lang="en-IN" sz="2400">
                    <a:solidFill>
                      <a:srgbClr val="111827"/>
                    </a:solidFill>
                    <a:latin typeface="Cambria Math" panose="02040503050406030204" pitchFamily="18" charset="0"/>
                  </a:rPr>
                  <a:t>$a,b$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$f'(x)=-a\sin x+b\cos 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$g=(a\cos x+b\sin x)^2+(-a\sin x+b\cos x)^2=a^2(\cos^2x+\sin^2x)+b^2(\sin^2x+\cos^2x)=a^2+b^2$</a:t>
                </a:r>
                <a:r>
                  <a:rPr sz="2400" b="0">
                    <a:solidFill>
                      <a:srgbClr val="111827"/>
                    </a:solidFill>
                    <a:latin typeface="Arial"/>
                  </a:rPr>
                  <a:t> (cross terms cancel).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$g$</a:t>
                </a:r>
                <a:r>
                  <a:rPr sz="2400" b="0">
                    <a:solidFill>
                      <a:srgbClr val="111827"/>
                    </a:solidFill>
                    <a:latin typeface="Arial"/>
                  </a:rPr>
                  <a:t> is constant; </a:t>
                </a:r>
                <a:r>
                  <a:rPr lang="en-IN" sz="2400">
                    <a:solidFill>
                      <a:srgbClr val="111827"/>
                    </a:solidFill>
                    <a:latin typeface="Cambria Math" panose="02040503050406030204" pitchFamily="18" charset="0"/>
                  </a:rPr>
                  <a:t>$g(3)=8$</a:t>
                </a:r>
                <a:r>
                  <a:rPr sz="2400" b="0">
                    <a:solidFill>
                      <a:srgbClr val="111827"/>
                    </a:solidFill>
                    <a:latin typeface="Arial"/>
                  </a:rPr>
                  <a:t> gives </a:t>
                </a:r>
                <a:r>
                  <a:rPr lang="en-IN" sz="2400">
                    <a:solidFill>
                      <a:srgbClr val="111827"/>
                    </a:solidFill>
                    <a:latin typeface="Cambria Math" panose="02040503050406030204" pitchFamily="18" charset="0"/>
                  </a:rPr>
                  <a:t>$g(8)=8$</a:t>
                </a:r>
                <a:r>
                  <a:rPr sz="2400" b="0">
                    <a:solidFill>
                      <a:srgbClr val="111827"/>
                    </a:solidFill>
                    <a:latin typeface="Arial"/>
                  </a:rPr>
                  <a:t>: option (D).</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a:t>
            </a:r>
            <a:endParaRPr sz="2800">
              <a:solidFill>
                <a:srgbClr val="15803D"/>
              </a:solidFill>
            </a:endParaRP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is constant (energy conservation); here </a:t>
                </a:r>
                <a14:m>
                  <m:oMath xmlns:m="http://schemas.openxmlformats.org/officeDocument/2006/math">
                    <m:r>
                      <a:rPr lang="en-IN" sz="2400" i="1">
                        <a:solidFill>
                          <a:srgbClr val="111827"/>
                        </a:solidFill>
                        <a:latin typeface="Cambria Math" panose="02040503050406030204" pitchFamily="18" charset="0"/>
                      </a:rPr>
                      <m:t>ω</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oMath>
                </a14:m>
                <a:r>
                  <a:rPr sz="2400" b="0">
                    <a:solidFill>
                      <a:srgbClr val="111827"/>
                    </a:solidFill>
                    <a:latin typeface="Arial"/>
                  </a:rPr>
                  <a:t> the analogue is </a:t>
                </a:r>
                <a14:m>
                  <m:oMath xmlns:m="http://schemas.openxmlformats.org/officeDocument/2006/math">
                    <m:sSup>
                      <m:e>
                        <m:r>
                          <a:rPr lang="en-IN" sz="2400" i="1">
                            <a:solidFill>
                              <a:srgbClr val="111827"/>
                            </a:solidFill>
                            <a:latin typeface="Cambria Math" panose="02040503050406030204" pitchFamily="18" charset="0"/>
                          </a:rPr>
                          <m:t>𝑓</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constant: its derivative is </a:t>
                </a: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First-integral trick: multiply the ODE by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which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in an interval then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is constant there (mean value theorem).</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$f''+\omega^2f=0$</a:t>
                </a:r>
                <a:r>
                  <a:rPr sz="2400" b="0">
                    <a:solidFill>
                      <a:srgbClr val="111827"/>
                    </a:solidFill>
                    <a:latin typeface="Arial"/>
                  </a:rPr>
                  <a:t>, </a:t>
                </a:r>
                <a:r>
                  <a:rPr lang="en-IN" sz="2400">
                    <a:solidFill>
                      <a:srgbClr val="111827"/>
                    </a:solidFill>
                    <a:latin typeface="Cambria Math" panose="02040503050406030204" pitchFamily="18" charset="0"/>
                  </a:rPr>
                  <a:t>$g=f^2+\frac{f'^2}{\omega^2}$</a:t>
                </a:r>
                <a:r>
                  <a:rPr sz="2400" b="0">
                    <a:solidFill>
                      <a:srgbClr val="111827"/>
                    </a:solidFill>
                    <a:latin typeface="Arial"/>
                  </a:rPr>
                  <a:t> is constant (energy conservation); here </a:t>
                </a:r>
                <a:r>
                  <a:rPr lang="en-IN" sz="2400">
                    <a:solidFill>
                      <a:srgbClr val="111827"/>
                    </a:solidFill>
                    <a:latin typeface="Cambria Math" panose="02040503050406030204" pitchFamily="18" charset="0"/>
                  </a:rPr>
                  <a:t>$\omega=1$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$f''=f$</a:t>
                </a:r>
                <a:r>
                  <a:rPr sz="2400" b="0">
                    <a:solidFill>
                      <a:srgbClr val="111827"/>
                    </a:solidFill>
                    <a:latin typeface="Arial"/>
                  </a:rPr>
                  <a:t> the analogue is </a:t>
                </a:r>
                <a:r>
                  <a:rPr lang="en-IN" sz="2400">
                    <a:solidFill>
                      <a:srgbClr val="111827"/>
                    </a:solidFill>
                    <a:latin typeface="Cambria Math" panose="02040503050406030204" pitchFamily="18" charset="0"/>
                  </a:rPr>
                  <a:t>$f^2-f'^2$</a:t>
                </a:r>
                <a:r>
                  <a:rPr sz="2400" b="0">
                    <a:solidFill>
                      <a:srgbClr val="111827"/>
                    </a:solidFill>
                    <a:latin typeface="Arial"/>
                  </a:rPr>
                  <a:t> constant: its derivative is </a:t>
                </a:r>
                <a:r>
                  <a:rPr lang="en-IN" sz="2400">
                    <a:solidFill>
                      <a:srgbClr val="111827"/>
                    </a:solidFill>
                    <a:latin typeface="Cambria Math" panose="02040503050406030204" pitchFamily="18" charset="0"/>
                  </a:rPr>
                  <a:t>$2f'(f-f'')=0$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First-integral trick: multiply the ODE by </a:t>
                </a:r>
                <a:r>
                  <a:rPr lang="en-IN" sz="2400">
                    <a:solidFill>
                      <a:srgbClr val="111827"/>
                    </a:solidFill>
                    <a:latin typeface="Cambria Math" panose="02040503050406030204" pitchFamily="18" charset="0"/>
                  </a:rPr>
                  <a:t>$f'$</a:t>
                </a:r>
                <a:r>
                  <a:rPr sz="2400" b="0">
                    <a:solidFill>
                      <a:srgbClr val="111827"/>
                    </a:solidFill>
                    <a:latin typeface="Arial"/>
                  </a:rPr>
                  <a:t>: </a:t>
                </a:r>
                <a:r>
                  <a:rPr lang="en-IN" sz="2400">
                    <a:solidFill>
                      <a:srgbClr val="111827"/>
                    </a:solidFill>
                    <a:latin typeface="Cambria Math" panose="02040503050406030204" pitchFamily="18" charset="0"/>
                  </a:rPr>
                  <a:t>$f'f''+ff'=0$</a:t>
                </a:r>
                <a:r>
                  <a:rPr sz="2400" b="0">
                    <a:solidFill>
                      <a:srgbClr val="111827"/>
                    </a:solidFill>
                    <a:latin typeface="Arial"/>
                  </a:rPr>
                  <a:t>, which is </a:t>
                </a:r>
                <a:r>
                  <a:rPr lang="en-IN" sz="2400">
                    <a:solidFill>
                      <a:srgbClr val="111827"/>
                    </a:solidFill>
                    <a:latin typeface="Cambria Math" panose="02040503050406030204" pitchFamily="18" charset="0"/>
                  </a:rPr>
                  <a:t>$\frac{d}{dx}\left[\frac{f'^2+f^2}{2}\right]=0$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$g'(x)=0$</a:t>
                </a:r>
                <a:r>
                  <a:rPr sz="2400" b="0">
                    <a:solidFill>
                      <a:srgbClr val="111827"/>
                    </a:solidFill>
                    <a:latin typeface="Arial"/>
                  </a:rPr>
                  <a:t> for all </a:t>
                </a:r>
                <a:r>
                  <a:rPr lang="en-IN" sz="2400">
                    <a:solidFill>
                      <a:srgbClr val="111827"/>
                    </a:solidFill>
                    <a:latin typeface="Cambria Math" panose="02040503050406030204" pitchFamily="18" charset="0"/>
                  </a:rPr>
                  <a:t>$x$</a:t>
                </a:r>
                <a:r>
                  <a:rPr sz="2400" b="0">
                    <a:solidFill>
                      <a:srgbClr val="111827"/>
                    </a:solidFill>
                    <a:latin typeface="Arial"/>
                  </a:rPr>
                  <a:t> in an interval then </a:t>
                </a:r>
                <a:r>
                  <a:rPr lang="en-IN" sz="2400">
                    <a:solidFill>
                      <a:srgbClr val="111827"/>
                    </a:solidFill>
                    <a:latin typeface="Cambria Math" panose="02040503050406030204" pitchFamily="18" charset="0"/>
                  </a:rPr>
                  <a:t>$g$</a:t>
                </a:r>
                <a:r>
                  <a:rPr sz="2400" b="0">
                    <a:solidFill>
                      <a:srgbClr val="111827"/>
                    </a:solidFill>
                    <a:latin typeface="Arial"/>
                  </a:rPr>
                  <a:t> is constant there (mean value theorem).</a:t>
                </a:r>
                <a:endParaRPr sz="2400">
                  <a:solidFill>
                    <a:srgbClr val="111827"/>
                  </a:solidFill>
                </a:endParaRPr>
              </a:p>
            </p:txBody>
          </p:sp>
        </mc:Fallback>
      </mc:AlternateContent>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be differentiable functions on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(the set of all real numbers) such that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π</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sSup>
                      <m:e>
                        <m:r>
                          <a:rPr lang="en-IN" sz="2400" i="1">
                            <a:solidFill>
                              <a:srgbClr val="111827"/>
                            </a:solidFill>
                            <a:latin typeface="Cambria Math" panose="02040503050406030204" pitchFamily="18" charset="0"/>
                          </a:rPr>
                          <m:t>ℎ</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28</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24</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32</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18</m:t>
                    </m:r>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$f$</a:t>
                </a:r>
                <a:r>
                  <a:rPr sz="2400" b="0">
                    <a:solidFill>
                      <a:srgbClr val="111827"/>
                    </a:solidFill>
                    <a:latin typeface="Arial"/>
                  </a:rPr>
                  <a:t> and </a:t>
                </a:r>
                <a:r>
                  <a:rPr lang="en-IN" sz="2400">
                    <a:solidFill>
                      <a:srgbClr val="111827"/>
                    </a:solidFill>
                    <a:latin typeface="Cambria Math" panose="02040503050406030204" pitchFamily="18" charset="0"/>
                  </a:rPr>
                  <a:t>$g$</a:t>
                </a:r>
                <a:r>
                  <a:rPr sz="2400" b="0">
                    <a:solidFill>
                      <a:srgbClr val="111827"/>
                    </a:solidFill>
                    <a:latin typeface="Arial"/>
                  </a:rPr>
                  <a:t> be differentiable functions on </a:t>
                </a:r>
                <a:r>
                  <a:rPr lang="en-IN" sz="2400">
                    <a:solidFill>
                      <a:srgbClr val="111827"/>
                    </a:solidFill>
                    <a:latin typeface="Cambria Math" panose="02040503050406030204" pitchFamily="18" charset="0"/>
                  </a:rPr>
                  <a:t>$\mathbb{R}$</a:t>
                </a:r>
                <a:r>
                  <a:rPr sz="2400" b="0">
                    <a:solidFill>
                      <a:srgbClr val="111827"/>
                    </a:solidFill>
                    <a:latin typeface="Arial"/>
                  </a:rPr>
                  <a:t> (the set of all real numbers) such that </a:t>
                </a:r>
                <a:r>
                  <a:rPr lang="en-IN" sz="2400">
                    <a:solidFill>
                      <a:srgbClr val="111827"/>
                    </a:solidFill>
                    <a:latin typeface="Cambria Math" panose="02040503050406030204" pitchFamily="18" charset="0"/>
                  </a:rPr>
                  <a:t>$g(1)=2=g'(1)$</a:t>
                </a:r>
                <a:r>
                  <a:rPr sz="2400" b="0">
                    <a:solidFill>
                      <a:srgbClr val="111827"/>
                    </a:solidFill>
                    <a:latin typeface="Arial"/>
                  </a:rPr>
                  <a:t> and </a:t>
                </a:r>
                <a:r>
                  <a:rPr lang="en-IN" sz="2400">
                    <a:solidFill>
                      <a:srgbClr val="111827"/>
                    </a:solidFill>
                    <a:latin typeface="Cambria Math" panose="02040503050406030204" pitchFamily="18" charset="0"/>
                  </a:rPr>
                  <a:t>$f'(0)=4$</a:t>
                </a:r>
                <a:r>
                  <a:rPr sz="2400" b="0">
                    <a:solidFill>
                      <a:srgbClr val="111827"/>
                    </a:solidFill>
                    <a:latin typeface="Arial"/>
                  </a:rPr>
                  <a:t>. If </a:t>
                </a:r>
                <a:r>
                  <a:rPr lang="en-IN" sz="2400">
                    <a:solidFill>
                      <a:srgbClr val="111827"/>
                    </a:solidFill>
                    <a:latin typeface="Cambria Math" panose="02040503050406030204" pitchFamily="18" charset="0"/>
                  </a:rPr>
                  <a:t>$h(x)=f(2xg(x)+\cos\pi x-3)$</a:t>
                </a:r>
                <a:r>
                  <a:rPr sz="2400" b="0">
                    <a:solidFill>
                      <a:srgbClr val="111827"/>
                    </a:solidFill>
                    <a:latin typeface="Arial"/>
                  </a:rPr>
                  <a:t> then </a:t>
                </a:r>
                <a:r>
                  <a:rPr lang="en-IN" sz="2400">
                    <a:solidFill>
                      <a:srgbClr val="111827"/>
                    </a:solidFill>
                    <a:latin typeface="Cambria Math" panose="02040503050406030204" pitchFamily="18" charset="0"/>
                  </a:rPr>
                  <a:t>$h'(1)$</a:t>
                </a:r>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$28$</a:t>
                </a:r>
                <a:r>
                  <a:rPr sz="2400" b="0">
                    <a:solidFill>
                      <a:srgbClr val="111827"/>
                    </a:solidFill>
                    <a:latin typeface="Arial"/>
                  </a:rPr>
                  <a:t>   (B) </a:t>
                </a:r>
                <a:r>
                  <a:rPr lang="en-IN" sz="2400">
                    <a:solidFill>
                      <a:srgbClr val="111827"/>
                    </a:solidFill>
                    <a:latin typeface="Cambria Math" panose="02040503050406030204" pitchFamily="18" charset="0"/>
                  </a:rPr>
                  <a:t>$24$</a:t>
                </a:r>
                <a:r>
                  <a:rPr sz="2400" b="0">
                    <a:solidFill>
                      <a:srgbClr val="111827"/>
                    </a:solidFill>
                    <a:latin typeface="Arial"/>
                  </a:rPr>
                  <a:t>   (C) </a:t>
                </a:r>
                <a:r>
                  <a:rPr lang="en-IN" sz="2400">
                    <a:solidFill>
                      <a:srgbClr val="111827"/>
                    </a:solidFill>
                    <a:latin typeface="Cambria Math" panose="02040503050406030204" pitchFamily="18" charset="0"/>
                  </a:rPr>
                  <a:t>$32$</a:t>
                </a:r>
                <a:r>
                  <a:rPr sz="2400" b="0">
                    <a:solidFill>
                      <a:srgbClr val="111827"/>
                    </a:solidFill>
                    <a:latin typeface="Arial"/>
                  </a:rPr>
                  <a:t>   (D) </a:t>
                </a:r>
                <a:r>
                  <a:rPr lang="en-IN" sz="2400">
                    <a:solidFill>
                      <a:srgbClr val="111827"/>
                    </a:solidFill>
                    <a:latin typeface="Cambria Math" panose="02040503050406030204" pitchFamily="18" charset="0"/>
                  </a:rPr>
                  <a:t>$18$</a:t>
                </a:r>
                <a:endParaRPr sz="2400">
                  <a:solidFill>
                    <a:srgbClr val="111827"/>
                  </a:solidFill>
                </a:endParaRPr>
              </a:p>
            </p:txBody>
          </p:sp>
        </mc:Fallback>
      </mc:AlternateContent>
      <p:sp>
        <p:nvSpPr>
          <p:cNvPr id="5" name="Rectangle 4"/>
          <p:cNvSpPr/>
          <p:nvPr/>
        </p:nvSpPr>
        <p:spPr>
          <a:xfrm>
            <a:off x="731520" y="3580383"/>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Chain rule for composite functions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At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the inner expression equals </a:t>
                </a:r>
                <a14:m>
                  <m:oMath xmlns:m="http://schemas.openxmlformats.org/officeDocument/2006/math">
                    <m:r>
                      <a:rPr lang="en-IN" sz="2400" i="1">
                        <a:solidFill>
                          <a:srgbClr val="78350F"/>
                        </a:solidFill>
                        <a:latin typeface="Cambria Math" panose="02040503050406030204" pitchFamily="18" charset="0"/>
                      </a:rPr>
                      <m:t>0</m:t>
                    </m:r>
                  </m:oMath>
                </a14:m>
                <a:r>
                  <a:rPr sz="2400" b="0">
                    <a:solidFill>
                      <a:srgbClr val="78350F"/>
                    </a:solidFill>
                    <a:latin typeface="Arial"/>
                  </a:rPr>
                  <a:t>, which is exactly where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oMath>
                </a14:m>
                <a:r>
                  <a:rPr sz="2400" b="0">
                    <a:solidFill>
                      <a:srgbClr val="78350F"/>
                    </a:solidFill>
                    <a:latin typeface="Arial"/>
                  </a:rPr>
                  <a:t> is given.</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At </a:t>
                </a:r>
                <a:r>
                  <a:rPr lang="en-IN" sz="2400">
                    <a:solidFill>
                      <a:srgbClr val="78350F"/>
                    </a:solidFill>
                    <a:latin typeface="Cambria Math" panose="02040503050406030204" pitchFamily="18" charset="0"/>
                  </a:rPr>
                  <a:t>$x=1$</a:t>
                </a:r>
                <a:r>
                  <a:rPr sz="2400" b="0">
                    <a:solidFill>
                      <a:srgbClr val="78350F"/>
                    </a:solidFill>
                    <a:latin typeface="Arial"/>
                  </a:rPr>
                  <a:t> the inner expression equals </a:t>
                </a:r>
                <a:r>
                  <a:rPr lang="en-IN" sz="2400">
                    <a:solidFill>
                      <a:srgbClr val="78350F"/>
                    </a:solidFill>
                    <a:latin typeface="Cambria Math" panose="02040503050406030204" pitchFamily="18" charset="0"/>
                  </a:rPr>
                  <a:t>$0$</a:t>
                </a:r>
                <a:r>
                  <a:rPr sz="2400" b="0">
                    <a:solidFill>
                      <a:srgbClr val="78350F"/>
                    </a:solidFill>
                    <a:latin typeface="Arial"/>
                  </a:rPr>
                  <a:t>, which is exactly where </a:t>
                </a:r>
                <a:r>
                  <a:rPr lang="en-IN" sz="2400">
                    <a:solidFill>
                      <a:srgbClr val="78350F"/>
                    </a:solidFill>
                    <a:latin typeface="Cambria Math" panose="02040503050406030204" pitchFamily="18" charset="0"/>
                  </a:rPr>
                  <a:t>$f'(0)=4$</a:t>
                </a:r>
                <a:r>
                  <a:rPr sz="2400" b="0">
                    <a:solidFill>
                      <a:srgbClr val="78350F"/>
                    </a:solidFill>
                    <a:latin typeface="Arial"/>
                  </a:rPr>
                  <a:t> is given.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π</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the chain rule, </a:t>
                </a:r>
                <a14:m>
                  <m:oMath xmlns:m="http://schemas.openxmlformats.org/officeDocument/2006/math">
                    <m:sSup>
                      <m:e>
                        <m:r>
                          <a:rPr lang="en-IN" sz="2400" i="1">
                            <a:solidFill>
                              <a:srgbClr val="111827"/>
                            </a:solidFill>
                            <a:latin typeface="Cambria Math" panose="02040503050406030204" pitchFamily="18" charset="0"/>
                          </a:rPr>
                          <m:t>ℎ</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π</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π</m:t>
                        </m:r>
                        <m:r>
                          <a:rPr lang="en-IN" sz="2400" i="1">
                            <a:solidFill>
                              <a:srgbClr val="111827"/>
                            </a:solidFill>
                            <a:latin typeface="Cambria Math" panose="02040503050406030204" pitchFamily="18" charset="0"/>
                          </a:rPr>
                          <m:t>𝑥</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argument is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PDF writes it as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the first factor is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$h(x)=f(2xg(x)+\cos\pi x-3)$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the chain rule, </a:t>
                </a:r>
                <a:r>
                  <a:rPr lang="en-IN" sz="2400">
                    <a:solidFill>
                      <a:srgbClr val="111827"/>
                    </a:solidFill>
                    <a:latin typeface="Cambria Math" panose="02040503050406030204" pitchFamily="18" charset="0"/>
                  </a:rPr>
                  <a:t>$h'(x)=f'(2xg(x)+\cos\pi x-3)\left[2g(x)+2xg'(x)-\pi\sin\pi x\right]$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$x=1$</a:t>
                </a:r>
                <a:r>
                  <a:rPr sz="2400" b="0">
                    <a:solidFill>
                      <a:srgbClr val="111827"/>
                    </a:solidFill>
                    <a:latin typeface="Arial"/>
                  </a:rPr>
                  <a:t> the argument is </a:t>
                </a:r>
                <a:r>
                  <a:rPr lang="en-IN" sz="2400">
                    <a:solidFill>
                      <a:srgbClr val="111827"/>
                    </a:solidFill>
                    <a:latin typeface="Cambria Math" panose="02040503050406030204" pitchFamily="18" charset="0"/>
                  </a:rPr>
                  <a:t>$2g(1)+\cos\pi-3=4-1-3=0$</a:t>
                </a:r>
                <a:r>
                  <a:rPr sz="2400" b="0">
                    <a:solidFill>
                      <a:srgbClr val="111827"/>
                    </a:solidFill>
                    <a:latin typeface="Arial"/>
                  </a:rPr>
                  <a:t> (the PDF writes it as </a:t>
                </a:r>
                <a:r>
                  <a:rPr lang="en-IN" sz="2400">
                    <a:solidFill>
                      <a:srgbClr val="111827"/>
                    </a:solidFill>
                    <a:latin typeface="Cambria Math" panose="02040503050406030204" pitchFamily="18" charset="0"/>
                  </a:rPr>
                  <a:t>$2g(1)-4=0$</a:t>
                </a:r>
                <a:r>
                  <a:rPr sz="2400" b="0">
                    <a:solidFill>
                      <a:srgbClr val="111827"/>
                    </a:solidFill>
                    <a:latin typeface="Arial"/>
                  </a:rPr>
                  <a:t>), so the first factor is </a:t>
                </a:r>
                <a:r>
                  <a:rPr lang="en-IN" sz="2400">
                    <a:solidFill>
                      <a:srgbClr val="111827"/>
                    </a:solidFill>
                    <a:latin typeface="Cambria Math" panose="02040503050406030204" pitchFamily="18" charset="0"/>
                  </a:rPr>
                  <a:t>$f'(0)=4$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bracket is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ℎ</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$x=1$</a:t>
                </a:r>
                <a:r>
                  <a:rPr sz="2400" b="0">
                    <a:solidFill>
                      <a:srgbClr val="111827"/>
                    </a:solidFill>
                    <a:latin typeface="Arial"/>
                  </a:rPr>
                  <a:t> the bracket is </a:t>
                </a:r>
                <a:r>
                  <a:rPr lang="en-IN" sz="2400">
                    <a:solidFill>
                      <a:srgbClr val="111827"/>
                    </a:solidFill>
                    <a:latin typeface="Cambria Math" panose="02040503050406030204" pitchFamily="18" charset="0"/>
                  </a:rPr>
                  <a:t>$2g(1)+2g'(1)-\pi\sin\pi=4+4-0=8$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$h'(1)=4\times8=32$</a:t>
                </a:r>
                <a:r>
                  <a:rPr sz="2400" b="0">
                    <a:solidFill>
                      <a:srgbClr val="111827"/>
                    </a:solidFill>
                    <a:latin typeface="Arial"/>
                  </a:rPr>
                  <a:t>: option (C).</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a:t>
            </a:r>
            <a:endParaRPr sz="2800">
              <a:solidFill>
                <a:srgbClr val="15803D"/>
              </a:solidFill>
            </a:endParaRP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Chain rule: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𝑢</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first evaluate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to see at which point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needed.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Product rule inside the argument: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π</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π</m:t>
                    </m:r>
                    <m:r>
                      <a:rPr lang="en-IN" sz="2400" i="1">
                        <a:solidFill>
                          <a:srgbClr val="111827"/>
                        </a:solidFill>
                        <a:latin typeface="Cambria Math" panose="02040503050406030204" pitchFamily="18" charset="0"/>
                      </a:rPr>
                      <m:t>𝑥</m:t>
                    </m:r>
                  </m:oMath>
                </a14:m>
                <a:r>
                  <a:rPr sz="2400" b="0">
                    <a:solidFill>
                      <a:srgbClr val="111827"/>
                    </a:solidFill>
                    <a:latin typeface="Arial"/>
                  </a:rPr>
                  <a:t>, which vanishes at every integer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find </a:t>
                </a:r>
                <a14:m>
                  <m:oMath xmlns:m="http://schemas.openxmlformats.org/officeDocument/2006/math">
                    <m:sSup>
                      <m:e>
                        <m:r>
                          <a:rPr lang="en-IN" sz="2400" i="1">
                            <a:solidFill>
                              <a:srgbClr val="111827"/>
                            </a:solidFill>
                            <a:latin typeface="Cambria Math" panose="02040503050406030204" pitchFamily="18" charset="0"/>
                          </a:rPr>
                          <m:t>ℎ</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one needs only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not the functions themselves.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Chain rule: </a:t>
                </a:r>
                <a:r>
                  <a:rPr lang="en-IN" sz="2400">
                    <a:solidFill>
                      <a:srgbClr val="111827"/>
                    </a:solidFill>
                    <a:latin typeface="Cambria Math" panose="02040503050406030204" pitchFamily="18" charset="0"/>
                  </a:rPr>
                  <a:t>$\frac{d}{dx}f(u(x))=f'(u(x))\,u'(x)$</a:t>
                </a:r>
                <a:r>
                  <a:rPr sz="2400" b="0">
                    <a:solidFill>
                      <a:srgbClr val="111827"/>
                    </a:solidFill>
                    <a:latin typeface="Arial"/>
                  </a:rPr>
                  <a:t>; first evaluate </a:t>
                </a:r>
                <a:r>
                  <a:rPr lang="en-IN" sz="2400">
                    <a:solidFill>
                      <a:srgbClr val="111827"/>
                    </a:solidFill>
                    <a:latin typeface="Cambria Math" panose="02040503050406030204" pitchFamily="18" charset="0"/>
                  </a:rPr>
                  <a:t>$u(x_0)$</a:t>
                </a:r>
                <a:r>
                  <a:rPr sz="2400" b="0">
                    <a:solidFill>
                      <a:srgbClr val="111827"/>
                    </a:solidFill>
                    <a:latin typeface="Arial"/>
                  </a:rPr>
                  <a:t> to see at which point </a:t>
                </a:r>
                <a:r>
                  <a:rPr lang="en-IN" sz="2400">
                    <a:solidFill>
                      <a:srgbClr val="111827"/>
                    </a:solidFill>
                    <a:latin typeface="Cambria Math" panose="02040503050406030204" pitchFamily="18" charset="0"/>
                  </a:rPr>
                  <a:t>$f'$</a:t>
                </a:r>
                <a:r>
                  <a:rPr sz="2400" b="0">
                    <a:solidFill>
                      <a:srgbClr val="111827"/>
                    </a:solidFill>
                    <a:latin typeface="Arial"/>
                  </a:rPr>
                  <a:t> is needed.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Product rule inside the argument: </a:t>
                </a:r>
                <a:r>
                  <a:rPr lang="en-IN" sz="2400">
                    <a:solidFill>
                      <a:srgbClr val="111827"/>
                    </a:solidFill>
                    <a:latin typeface="Cambria Math" panose="02040503050406030204" pitchFamily="18" charset="0"/>
                  </a:rPr>
                  <a:t>$(2xg(x))'=2g(x)+2xg'(x)$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$\frac{d}{dx}\cos\pi x=-\pi\sin\pi x$</a:t>
                </a:r>
                <a:r>
                  <a:rPr sz="2400" b="0">
                    <a:solidFill>
                      <a:srgbClr val="111827"/>
                    </a:solidFill>
                    <a:latin typeface="Arial"/>
                  </a:rPr>
                  <a:t>, which vanishes at every integer </a:t>
                </a:r>
                <a:r>
                  <a:rPr lang="en-IN" sz="2400">
                    <a:solidFill>
                      <a:srgbClr val="111827"/>
                    </a:solidFill>
                    <a:latin typeface="Cambria Math" panose="02040503050406030204" pitchFamily="18" charset="0"/>
                  </a:rPr>
                  <a:t>$x$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find </a:t>
                </a:r>
                <a:r>
                  <a:rPr lang="en-IN" sz="2400">
                    <a:solidFill>
                      <a:srgbClr val="111827"/>
                    </a:solidFill>
                    <a:latin typeface="Cambria Math" panose="02040503050406030204" pitchFamily="18" charset="0"/>
                  </a:rPr>
                  <a:t>$h'(x_0)$</a:t>
                </a:r>
                <a:r>
                  <a:rPr sz="2400" b="0">
                    <a:solidFill>
                      <a:srgbClr val="111827"/>
                    </a:solidFill>
                    <a:latin typeface="Arial"/>
                  </a:rPr>
                  <a:t> one needs only </a:t>
                </a:r>
                <a:r>
                  <a:rPr lang="en-IN" sz="2400">
                    <a:solidFill>
                      <a:srgbClr val="111827"/>
                    </a:solidFill>
                    <a:latin typeface="Cambria Math" panose="02040503050406030204" pitchFamily="18" charset="0"/>
                  </a:rPr>
                  <a:t>$f'(u(x_0))$</a:t>
                </a:r>
                <a:r>
                  <a:rPr sz="2400" b="0">
                    <a:solidFill>
                      <a:srgbClr val="111827"/>
                    </a:solidFill>
                    <a:latin typeface="Arial"/>
                  </a:rPr>
                  <a:t>, </a:t>
                </a:r>
                <a:r>
                  <a:rPr lang="en-IN" sz="2400">
                    <a:solidFill>
                      <a:srgbClr val="111827"/>
                    </a:solidFill>
                    <a:latin typeface="Cambria Math" panose="02040503050406030204" pitchFamily="18" charset="0"/>
                  </a:rPr>
                  <a:t>$g(x_0)$</a:t>
                </a:r>
                <a:r>
                  <a:rPr sz="2400" b="0">
                    <a:solidFill>
                      <a:srgbClr val="111827"/>
                    </a:solidFill>
                    <a:latin typeface="Arial"/>
                  </a:rPr>
                  <a:t> and </a:t>
                </a:r>
                <a:r>
                  <a:rPr lang="en-IN" sz="2400">
                    <a:solidFill>
                      <a:srgbClr val="111827"/>
                    </a:solidFill>
                    <a:latin typeface="Cambria Math" panose="02040503050406030204" pitchFamily="18" charset="0"/>
                  </a:rPr>
                  <a:t>$g'(x_0)$</a:t>
                </a:r>
                <a:r>
                  <a:rPr sz="2400" b="0">
                    <a:solidFill>
                      <a:srgbClr val="111827"/>
                    </a:solidFill>
                    <a:latin typeface="Arial"/>
                  </a:rPr>
                  <a:t>, not the functions themselves.</a:t>
                </a:r>
                <a:endParaRPr sz="2400">
                  <a:solidFill>
                    <a:srgbClr val="111827"/>
                  </a:solidFill>
                </a:endParaRPr>
              </a:p>
            </p:txBody>
          </p:sp>
        </mc:Fallback>
      </mc:AlternateContent>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80949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7</m:t>
                            </m:r>
                          </m:sup>
                        </m:sSup>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num>
                      <m:den>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den>
                    </m:f>
                  </m:oMath>
                </a14:m>
                <a:r>
                  <a:rPr sz="2400" b="0">
                    <a:solidFill>
                      <a:srgbClr val="111827"/>
                    </a:solidFill>
                    <a:latin typeface="Arial"/>
                  </a:rPr>
                  <a:t>, then the value of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11</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13</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15</m:t>
                    </m:r>
                  </m:oMath>
                </a14:m>
                <a:endParaRPr sz="2400">
                  <a:solidFill>
                    <a:srgbClr val="111827"/>
                  </a:solidFill>
                </a:endParaRPr>
              </a:p>
            </p:txBody>
          </p:sp>
        </mc:Choice>
        <mc:Fallback>
          <p:sp>
            <p:nvSpPr>
              <p:cNvPr id="4" name="Rounded Rectangle 3"/>
              <p:cNvSpPr/>
              <p:nvPr/>
            </p:nvSpPr>
            <p:spPr>
              <a:xfrm>
                <a:off x="731520" y="1280160"/>
                <a:ext cx="10725912" cy="180949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$f(x)=\frac{(x+1)^7\sqrt{1+x^2}}{(x^2-x+1)^6}$</a:t>
                </a:r>
                <a:r>
                  <a:rPr sz="2400" b="0">
                    <a:solidFill>
                      <a:srgbClr val="111827"/>
                    </a:solidFill>
                    <a:latin typeface="Arial"/>
                  </a:rPr>
                  <a:t>, then the value of </a:t>
                </a:r>
                <a:r>
                  <a:rPr lang="en-IN" sz="2400">
                    <a:solidFill>
                      <a:srgbClr val="111827"/>
                    </a:solidFill>
                    <a:latin typeface="Cambria Math" panose="02040503050406030204" pitchFamily="18" charset="0"/>
                  </a:rPr>
                  <a:t>$f'(0)$</a:t>
                </a:r>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$10$</a:t>
                </a:r>
                <a:r>
                  <a:rPr sz="2400" b="0">
                    <a:solidFill>
                      <a:srgbClr val="111827"/>
                    </a:solidFill>
                    <a:latin typeface="Arial"/>
                  </a:rPr>
                  <a:t>   (B) </a:t>
                </a:r>
                <a:r>
                  <a:rPr lang="en-IN" sz="2400">
                    <a:solidFill>
                      <a:srgbClr val="111827"/>
                    </a:solidFill>
                    <a:latin typeface="Cambria Math" panose="02040503050406030204" pitchFamily="18" charset="0"/>
                  </a:rPr>
                  <a:t>$11$</a:t>
                </a:r>
                <a:r>
                  <a:rPr sz="2400" b="0">
                    <a:solidFill>
                      <a:srgbClr val="111827"/>
                    </a:solidFill>
                    <a:latin typeface="Arial"/>
                  </a:rPr>
                  <a:t>   (C) </a:t>
                </a:r>
                <a:r>
                  <a:rPr lang="en-IN" sz="2400">
                    <a:solidFill>
                      <a:srgbClr val="111827"/>
                    </a:solidFill>
                    <a:latin typeface="Cambria Math" panose="02040503050406030204" pitchFamily="18" charset="0"/>
                  </a:rPr>
                  <a:t>$13$</a:t>
                </a:r>
                <a:r>
                  <a:rPr sz="2400" b="0">
                    <a:solidFill>
                      <a:srgbClr val="111827"/>
                    </a:solidFill>
                    <a:latin typeface="Arial"/>
                  </a:rPr>
                  <a:t>   (D) </a:t>
                </a:r>
                <a:r>
                  <a:rPr lang="en-IN" sz="2400">
                    <a:solidFill>
                      <a:srgbClr val="111827"/>
                    </a:solidFill>
                    <a:latin typeface="Cambria Math" panose="02040503050406030204" pitchFamily="18" charset="0"/>
                  </a:rPr>
                  <a:t>$15$</a:t>
                </a:r>
                <a:endParaRPr sz="2400">
                  <a:solidFill>
                    <a:srgbClr val="111827"/>
                  </a:solidFill>
                </a:endParaRPr>
              </a:p>
            </p:txBody>
          </p:sp>
        </mc:Fallback>
      </mc:AlternateContent>
      <p:sp>
        <p:nvSpPr>
          <p:cNvPr id="5" name="Rectangle 4"/>
          <p:cNvSpPr/>
          <p:nvPr/>
        </p:nvSpPr>
        <p:spPr>
          <a:xfrm>
            <a:off x="731520" y="3318255"/>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Logarithmic differentiation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Take </a:t>
                </a:r>
                <a14:m>
                  <m:oMath xmlns:m="http://schemas.openxmlformats.org/officeDocument/2006/math">
                    <m:r>
                      <m:rPr>
                        <m:sty m:val="p"/>
                      </m:rPr>
                      <a:rPr lang="en-IN" sz="2400">
                        <a:solidFill>
                          <a:srgbClr val="78350F"/>
                        </a:solidFill>
                        <a:latin typeface="Cambria Math" panose="02040503050406030204" pitchFamily="18" charset="0"/>
                      </a:rPr>
                      <m:t>ln</m:t>
                    </m:r>
                    <m:r>
                      <a:rPr lang="en-IN" sz="2400" i="1">
                        <a:solidFill>
                          <a:srgbClr val="78350F"/>
                        </a:solidFill>
                        <a:latin typeface="Cambria Math" panose="02040503050406030204" pitchFamily="18" charset="0"/>
                      </a:rPr>
                      <m:t>𝑓</m:t>
                    </m:r>
                  </m:oMath>
                </a14:m>
                <a:r>
                  <a:rPr sz="2400" b="0">
                    <a:solidFill>
                      <a:srgbClr val="78350F"/>
                    </a:solidFill>
                    <a:latin typeface="Arial"/>
                  </a:rPr>
                  <a:t> so that the product, root and power become a sum; then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ln</m:t>
                    </m:r>
                    <m:r>
                      <a:rPr lang="en-IN" sz="2400" i="1">
                        <a:solidFill>
                          <a:srgbClr val="78350F"/>
                        </a:solidFill>
                        <a:latin typeface="Cambria Math" panose="02040503050406030204" pitchFamily="18" charset="0"/>
                      </a:rPr>
                      <m:t>𝑓</m:t>
                    </m:r>
                    <m:sSup>
                      <m:e>
                        <m:r>
                          <m:rPr>
                            <m:sty m:val="p"/>
                          </m:rPr>
                          <a:rPr lang="en-IN" sz="2400">
                            <a:solidFill>
                              <a:srgbClr val="78350F"/>
                            </a:solidFill>
                            <a:latin typeface="Cambria Math" panose="02040503050406030204" pitchFamily="18" charset="0"/>
                          </a:rPr>
                          <m:t>)</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Take </a:t>
                </a:r>
                <a:r>
                  <a:rPr lang="en-IN" sz="2400">
                    <a:solidFill>
                      <a:srgbClr val="78350F"/>
                    </a:solidFill>
                    <a:latin typeface="Cambria Math" panose="02040503050406030204" pitchFamily="18" charset="0"/>
                  </a:rPr>
                  <a:t>$\ln f$</a:t>
                </a:r>
                <a:r>
                  <a:rPr sz="2400" b="0">
                    <a:solidFill>
                      <a:srgbClr val="78350F"/>
                    </a:solidFill>
                    <a:latin typeface="Arial"/>
                  </a:rPr>
                  <a:t> so that the product, root and power become a sum; then </a:t>
                </a:r>
                <a:r>
                  <a:rPr lang="en-IN" sz="2400">
                    <a:solidFill>
                      <a:srgbClr val="78350F"/>
                    </a:solidFill>
                    <a:latin typeface="Cambria Math" panose="02040503050406030204" pitchFamily="18" charset="0"/>
                  </a:rPr>
                  <a:t>$f'(0)=f(0)\cdot(\ln f)'(0)$</a:t>
                </a:r>
                <a:r>
                  <a:rPr sz="2400" b="0">
                    <a:solidFill>
                      <a:srgbClr val="78350F"/>
                    </a:solidFill>
                    <a:latin typeface="Arial"/>
                  </a:rPr>
                  <a:t> with </a:t>
                </a:r>
                <a:r>
                  <a:rPr lang="en-IN" sz="2400">
                    <a:solidFill>
                      <a:srgbClr val="78350F"/>
                    </a:solidFill>
                    <a:latin typeface="Cambria Math" panose="02040503050406030204" pitchFamily="18" charset="0"/>
                  </a:rPr>
                  <a:t>$f(0)=1$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7</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6</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(valid since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near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Differentiating,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$f(0)=\frac{1^7\cdot1}{1^6}=1$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$\ln f(x)=7\ln(1+x)+\frac12\ln(1+x^2)-6\ln(x^2-x+1)$</a:t>
                </a:r>
                <a:r>
                  <a:rPr sz="2400" b="0">
                    <a:solidFill>
                      <a:srgbClr val="111827"/>
                    </a:solidFill>
                    <a:latin typeface="Arial"/>
                  </a:rPr>
                  <a:t> (valid since </a:t>
                </a:r>
                <a:r>
                  <a:rPr lang="en-IN" sz="2400">
                    <a:solidFill>
                      <a:srgbClr val="111827"/>
                    </a:solidFill>
                    <a:latin typeface="Cambria Math" panose="02040503050406030204" pitchFamily="18" charset="0"/>
                  </a:rPr>
                  <a:t>$f&gt;0$</a:t>
                </a:r>
                <a:r>
                  <a:rPr sz="2400" b="0">
                    <a:solidFill>
                      <a:srgbClr val="111827"/>
                    </a:solidFill>
                    <a:latin typeface="Arial"/>
                  </a:rPr>
                  <a:t> near </a:t>
                </a:r>
                <a:r>
                  <a:rPr lang="en-IN" sz="2400">
                    <a:solidFill>
                      <a:srgbClr val="111827"/>
                    </a:solidFill>
                    <a:latin typeface="Cambria Math" panose="02040503050406030204" pitchFamily="18" charset="0"/>
                  </a:rPr>
                  <a: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Differentiating, </a:t>
                </a:r>
                <a:r>
                  <a:rPr lang="en-IN" sz="2400">
                    <a:solidFill>
                      <a:srgbClr val="111827"/>
                    </a:solidFill>
                    <a:latin typeface="Cambria Math" panose="02040503050406030204" pitchFamily="18" charset="0"/>
                  </a:rPr>
                  <a:t>$\frac{f'(x)}{f(x)}=\frac{7}{1+x}+\frac{x}{1+x^2}-\frac{6(2x-1)}{x^2-x+1}$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$x=0$</a:t>
                </a:r>
                <a:r>
                  <a:rPr sz="2400" b="0">
                    <a:solidFill>
                      <a:srgbClr val="111827"/>
                    </a:solidFill>
                    <a:latin typeface="Arial"/>
                  </a:rPr>
                  <a:t>: </a:t>
                </a:r>
                <a:r>
                  <a:rPr lang="en-IN" sz="2400">
                    <a:solidFill>
                      <a:srgbClr val="111827"/>
                    </a:solidFill>
                    <a:latin typeface="Cambria Math" panose="02040503050406030204" pitchFamily="18" charset="0"/>
                  </a:rPr>
                  <a:t>$\frac{f'(0)}{f(0)}=7+0+6=13$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$f(0)=1$</a:t>
                </a:r>
                <a:r>
                  <a:rPr sz="2400" b="0">
                    <a:solidFill>
                      <a:srgbClr val="111827"/>
                    </a:solidFill>
                    <a:latin typeface="Arial"/>
                  </a:rPr>
                  <a:t>, </a:t>
                </a:r>
                <a:r>
                  <a:rPr lang="en-IN" sz="2400">
                    <a:solidFill>
                      <a:srgbClr val="111827"/>
                    </a:solidFill>
                    <a:latin typeface="Cambria Math" panose="02040503050406030204" pitchFamily="18" charset="0"/>
                  </a:rPr>
                  <a:t>$f'(0)=13$</a:t>
                </a:r>
                <a:r>
                  <a:rPr sz="2400" b="0">
                    <a:solidFill>
                      <a:srgbClr val="111827"/>
                    </a:solidFill>
                    <a:latin typeface="Arial"/>
                  </a:rPr>
                  <a:t>: option (C).</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a:t>
            </a:r>
            <a:endParaRPr sz="2800">
              <a:solidFill>
                <a:srgbClr val="15803D"/>
              </a:solidFill>
            </a:endParaRP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Linearise each factor at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keep only first-order terms, since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is the coefficient of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 in </a:t>
                </a:r>
                <a14:m>
                  <m:oMath xmlns:m="http://schemas.openxmlformats.org/officeDocument/2006/math">
                    <m:r>
                      <a:rPr lang="en-IN" sz="2400" i="1">
                        <a:solidFill>
                          <a:srgbClr val="78350F"/>
                        </a:solidFill>
                        <a:latin typeface="Cambria Math" panose="02040503050406030204" pitchFamily="18" charset="0"/>
                      </a:rPr>
                      <m:t>𝑓</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Linearise each factor at </a:t>
                </a:r>
                <a:r>
                  <a:rPr lang="en-IN" sz="2400">
                    <a:solidFill>
                      <a:srgbClr val="78350F"/>
                    </a:solidFill>
                    <a:latin typeface="Cambria Math" panose="02040503050406030204" pitchFamily="18" charset="0"/>
                  </a:rPr>
                  <a:t>$x=0$</a:t>
                </a:r>
                <a:r>
                  <a:rPr sz="2400" b="0">
                    <a:solidFill>
                      <a:srgbClr val="78350F"/>
                    </a:solidFill>
                    <a:latin typeface="Arial"/>
                  </a:rPr>
                  <a:t>: keep only first-order terms, since </a:t>
                </a:r>
                <a:r>
                  <a:rPr lang="en-IN" sz="2400">
                    <a:solidFill>
                      <a:srgbClr val="78350F"/>
                    </a:solidFill>
                    <a:latin typeface="Cambria Math" panose="02040503050406030204" pitchFamily="18" charset="0"/>
                  </a:rPr>
                  <a:t>$f'(0)$</a:t>
                </a:r>
                <a:r>
                  <a:rPr sz="2400" b="0">
                    <a:solidFill>
                      <a:srgbClr val="78350F"/>
                    </a:solidFill>
                    <a:latin typeface="Arial"/>
                  </a:rPr>
                  <a:t> is the coefficient of </a:t>
                </a:r>
                <a:r>
                  <a:rPr lang="en-IN" sz="2400">
                    <a:solidFill>
                      <a:srgbClr val="78350F"/>
                    </a:solidFill>
                    <a:latin typeface="Cambria Math" panose="02040503050406030204" pitchFamily="18" charset="0"/>
                  </a:rPr>
                  <a:t>$x$</a:t>
                </a:r>
                <a:r>
                  <a:rPr sz="2400" b="0">
                    <a:solidFill>
                      <a:srgbClr val="78350F"/>
                    </a:solidFill>
                    <a:latin typeface="Arial"/>
                  </a:rPr>
                  <a:t> in </a:t>
                </a:r>
                <a:r>
                  <a:rPr lang="en-IN" sz="2400">
                    <a:solidFill>
                      <a:srgbClr val="78350F"/>
                    </a:solidFill>
                    <a:latin typeface="Cambria Math" panose="02040503050406030204" pitchFamily="18" charset="0"/>
                  </a:rPr>
                  <a:t>$f$</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Near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7</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which contributes no first-order term.</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coefficient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is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option (C).</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Near </a:t>
                </a:r>
                <a:r>
                  <a:rPr lang="en-IN" sz="2400">
                    <a:solidFill>
                      <a:srgbClr val="111827"/>
                    </a:solidFill>
                    <a:latin typeface="Cambria Math" panose="02040503050406030204" pitchFamily="18" charset="0"/>
                  </a:rPr>
                  <a:t>$x=0$</a:t>
                </a:r>
                <a:r>
                  <a:rPr sz="2400" b="0">
                    <a:solidFill>
                      <a:srgbClr val="111827"/>
                    </a:solidFill>
                    <a:latin typeface="Arial"/>
                  </a:rPr>
                  <a:t>: </a:t>
                </a:r>
                <a:r>
                  <a:rPr lang="en-IN" sz="2400">
                    <a:solidFill>
                      <a:srgbClr val="111827"/>
                    </a:solidFill>
                    <a:latin typeface="Cambria Math" panose="02040503050406030204" pitchFamily="18" charset="0"/>
                  </a:rPr>
                  <a:t>$(1+x)^7=1+7x+O(x^2)$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$\sqrt{1+x^2}=1+O(x^2)$</a:t>
                </a:r>
                <a:r>
                  <a:rPr sz="2400" b="0">
                    <a:solidFill>
                      <a:srgbClr val="111827"/>
                    </a:solidFill>
                    <a:latin typeface="Arial"/>
                  </a:rPr>
                  <a:t>, which contributes no first-order term.</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$(1-x+x^2)^{-6}=1+6x+O(x^2)$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$f(x)=(1+7x)(1+6x)+O(x^2)=1+13x+O(x^2)$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coefficient of </a:t>
                </a:r>
                <a:r>
                  <a:rPr lang="en-IN" sz="2400">
                    <a:solidFill>
                      <a:srgbClr val="111827"/>
                    </a:solidFill>
                    <a:latin typeface="Cambria Math" panose="02040503050406030204" pitchFamily="18" charset="0"/>
                  </a:rPr>
                  <a:t>$x$</a:t>
                </a:r>
                <a:r>
                  <a:rPr sz="2400" b="0">
                    <a:solidFill>
                      <a:srgbClr val="111827"/>
                    </a:solidFill>
                    <a:latin typeface="Arial"/>
                  </a:rPr>
                  <a:t> is </a:t>
                </a:r>
                <a:r>
                  <a:rPr lang="en-IN" sz="2400">
                    <a:solidFill>
                      <a:srgbClr val="111827"/>
                    </a:solidFill>
                    <a:latin typeface="Cambria Math" panose="02040503050406030204" pitchFamily="18" charset="0"/>
                  </a:rPr>
                  <a:t>$f'(0)=13$</a:t>
                </a:r>
                <a:r>
                  <a:rPr sz="2400" b="0">
                    <a:solidFill>
                      <a:srgbClr val="111827"/>
                    </a:solidFill>
                    <a:latin typeface="Arial"/>
                  </a:rPr>
                  <a:t>: option (C).</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a:t>
            </a:r>
            <a:endParaRPr sz="2800">
              <a:solidFill>
                <a:srgbClr val="15803D"/>
              </a:solidFill>
            </a:endParaRP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𝑎</m:t>
                            </m:r>
                          </m:sup>
                        </m:sSup>
                        <m:sSup>
                          <m:e>
                            <m:r>
                              <a:rPr lang="en-IN" sz="2400" i="1">
                                <a:solidFill>
                                  <a:srgbClr val="111827"/>
                                </a:solidFill>
                                <a:latin typeface="Cambria Math" panose="02040503050406030204" pitchFamily="18" charset="0"/>
                              </a:rPr>
                              <m:t>𝑣</m:t>
                            </m:r>
                          </m:e>
                          <m:sup>
                            <m:r>
                              <a:rPr lang="en-IN" sz="2400" i="1">
                                <a:solidFill>
                                  <a:srgbClr val="111827"/>
                                </a:solidFill>
                                <a:latin typeface="Cambria Math" panose="02040503050406030204" pitchFamily="18" charset="0"/>
                              </a:rPr>
                              <m:t>𝑏</m:t>
                            </m:r>
                          </m:sup>
                        </m:sSup>
                      </m:num>
                      <m:den>
                        <m:sSup>
                          <m:e>
                            <m:r>
                              <a:rPr lang="en-IN" sz="2400" i="1">
                                <a:solidFill>
                                  <a:srgbClr val="111827"/>
                                </a:solidFill>
                                <a:latin typeface="Cambria Math" panose="02040503050406030204" pitchFamily="18" charset="0"/>
                              </a:rPr>
                              <m:t>𝑤</m:t>
                            </m:r>
                          </m:e>
                          <m:sup>
                            <m:r>
                              <a:rPr lang="en-IN" sz="2400" i="1">
                                <a:solidFill>
                                  <a:srgbClr val="111827"/>
                                </a:solidFill>
                                <a:latin typeface="Cambria Math" panose="02040503050406030204" pitchFamily="18" charset="0"/>
                              </a:rPr>
                              <m:t>𝑐</m:t>
                            </m:r>
                          </m:sup>
                        </m:sSup>
                      </m:den>
                    </m:f>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num>
                      <m:den>
                        <m:r>
                          <a:rPr lang="en-IN" sz="2400" i="1">
                            <a:solidFill>
                              <a:srgbClr val="111827"/>
                            </a:solidFill>
                            <a:latin typeface="Cambria Math" panose="02040503050406030204" pitchFamily="18" charset="0"/>
                          </a:rPr>
                          <m:t>𝑓</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𝑢</m:t>
                            </m:r>
                          </m:e>
                          <m:sup>
                            <m:r>
                              <m:rPr>
                                <m:sty m:val="p"/>
                              </m:rPr>
                              <a:rPr lang="en-IN" sz="2400">
                                <a:solidFill>
                                  <a:srgbClr val="111827"/>
                                </a:solidFill>
                                <a:latin typeface="Cambria Math" panose="02040503050406030204" pitchFamily="18" charset="0"/>
                              </a:rPr>
                              <m:t>′</m:t>
                            </m:r>
                          </m:sup>
                        </m:sSup>
                      </m:num>
                      <m:den>
                        <m:r>
                          <a:rPr lang="en-IN" sz="2400" i="1">
                            <a:solidFill>
                              <a:srgbClr val="111827"/>
                            </a:solidFill>
                            <a:latin typeface="Cambria Math" panose="02040503050406030204" pitchFamily="18" charset="0"/>
                          </a:rPr>
                          <m:t>𝑢</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𝑣</m:t>
                            </m:r>
                          </m:e>
                          <m:sup>
                            <m:r>
                              <m:rPr>
                                <m:sty m:val="p"/>
                              </m:rPr>
                              <a:rPr lang="en-IN" sz="2400">
                                <a:solidFill>
                                  <a:srgbClr val="111827"/>
                                </a:solidFill>
                                <a:latin typeface="Cambria Math" panose="02040503050406030204" pitchFamily="18" charset="0"/>
                              </a:rPr>
                              <m:t>′</m:t>
                            </m:r>
                          </m:sup>
                        </m:sSup>
                      </m:num>
                      <m:den>
                        <m:r>
                          <a:rPr lang="en-IN" sz="2400" i="1">
                            <a:solidFill>
                              <a:srgbClr val="111827"/>
                            </a:solidFill>
                            <a:latin typeface="Cambria Math" panose="02040503050406030204" pitchFamily="18" charset="0"/>
                          </a:rPr>
                          <m:t>𝑣</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𝑤</m:t>
                            </m:r>
                          </m:e>
                          <m:sup>
                            <m:r>
                              <m:rPr>
                                <m:sty m:val="p"/>
                              </m:rPr>
                              <a:rPr lang="en-IN" sz="2400">
                                <a:solidFill>
                                  <a:srgbClr val="111827"/>
                                </a:solidFill>
                                <a:latin typeface="Cambria Math" panose="02040503050406030204" pitchFamily="18" charset="0"/>
                              </a:rPr>
                              <m:t>′</m:t>
                            </m:r>
                          </m:sup>
                        </m:sSup>
                      </m:num>
                      <m:den>
                        <m:r>
                          <a:rPr lang="en-IN" sz="2400" i="1">
                            <a:solidFill>
                              <a:srgbClr val="111827"/>
                            </a:solidFill>
                            <a:latin typeface="Cambria Math" panose="02040503050406030204" pitchFamily="18" charset="0"/>
                          </a:rPr>
                          <m:t>𝑤</m:t>
                        </m:r>
                      </m:den>
                    </m:f>
                  </m:oMath>
                </a14:m>
                <a:r>
                  <a:rPr sz="2400" b="0">
                    <a:solidFill>
                      <a:srgbClr val="111827"/>
                    </a:solidFill>
                    <a:latin typeface="Arial"/>
                  </a:rPr>
                  <a:t>; then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num>
                      <m:den>
                        <m:r>
                          <a:rPr lang="en-IN" sz="2400" i="1">
                            <a:solidFill>
                              <a:srgbClr val="111827"/>
                            </a:solidFill>
                            <a:latin typeface="Cambria Math" panose="02040503050406030204" pitchFamily="18" charset="0"/>
                          </a:rPr>
                          <m:t>𝑓</m:t>
                        </m:r>
                      </m:den>
                    </m:f>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when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Use </a:t>
                </a:r>
                <a14:m>
                  <m:oMath xmlns:m="http://schemas.openxmlformats.org/officeDocument/2006/math">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may be negative; the derivative formula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num>
                      <m:den>
                        <m:r>
                          <a:rPr lang="en-IN" sz="2400" i="1">
                            <a:solidFill>
                              <a:srgbClr val="111827"/>
                            </a:solidFill>
                            <a:latin typeface="Cambria Math" panose="02040503050406030204" pitchFamily="18" charset="0"/>
                          </a:rPr>
                          <m:t>𝑓</m:t>
                        </m:r>
                      </m:den>
                    </m:f>
                  </m:oMath>
                </a14:m>
                <a:r>
                  <a:rPr sz="2400" b="0">
                    <a:solidFill>
                      <a:srgbClr val="111827"/>
                    </a:solidFill>
                    <a:latin typeface="Arial"/>
                  </a:rPr>
                  <a:t> is unchanged.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Linearisation: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𝑚</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𝑒𝑥𝑝𝑜𝑛𝑒𝑛𝑡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𝑙𝑖𝑛𝑒𝑎𝑟 𝑐𝑜𝑒𝑓𝑓𝑖𝑐𝑖𝑒𝑛𝑡</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Choose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oMath>
                </a14:m>
                <a:r>
                  <a:rPr sz="2400" b="0">
                    <a:solidFill>
                      <a:srgbClr val="111827"/>
                    </a:solidFill>
                    <a:latin typeface="Arial"/>
                  </a:rPr>
                  <a:t> where factors equal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(here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that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trivial.</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$f=\frac{u^a v^b}{w^c}$</a:t>
                </a:r>
                <a:r>
                  <a:rPr sz="2400" b="0">
                    <a:solidFill>
                      <a:srgbClr val="111827"/>
                    </a:solidFill>
                    <a:latin typeface="Arial"/>
                  </a:rPr>
                  <a:t>: </a:t>
                </a:r>
                <a:r>
                  <a:rPr lang="en-IN" sz="2400">
                    <a:solidFill>
                      <a:srgbClr val="111827"/>
                    </a:solidFill>
                    <a:latin typeface="Cambria Math" panose="02040503050406030204" pitchFamily="18" charset="0"/>
                  </a:rPr>
                  <a:t>$\frac{f'}{f}=a\frac{u'}{u}+b\frac{v'}{v}-c\frac{w'}{w}$</a:t>
                </a:r>
                <a:r>
                  <a:rPr sz="2400" b="0">
                    <a:solidFill>
                      <a:srgbClr val="111827"/>
                    </a:solidFill>
                    <a:latin typeface="Arial"/>
                  </a:rPr>
                  <a:t>; then </a:t>
                </a:r>
                <a:r>
                  <a:rPr lang="en-IN" sz="2400">
                    <a:solidFill>
                      <a:srgbClr val="111827"/>
                    </a:solidFill>
                    <a:latin typeface="Cambria Math" panose="02040503050406030204" pitchFamily="18" charset="0"/>
                  </a:rPr>
                  <a:t>$f'(x_0)=f(x_0)\cdot\frac{f'}{f}(x_0)$</a:t>
                </a:r>
                <a:r>
                  <a:rPr sz="2400" b="0">
                    <a:solidFill>
                      <a:srgbClr val="111827"/>
                    </a:solidFill>
                    <a:latin typeface="Arial"/>
                  </a:rPr>
                  <a:t> when </a:t>
                </a:r>
                <a:r>
                  <a:rPr lang="en-IN" sz="2400">
                    <a:solidFill>
                      <a:srgbClr val="111827"/>
                    </a:solidFill>
                    <a:latin typeface="Cambria Math" panose="02040503050406030204" pitchFamily="18" charset="0"/>
                  </a:rPr>
                  <a:t>$f(x_0)\ne0$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Use </a:t>
                </a:r>
                <a:r>
                  <a:rPr lang="en-IN" sz="2400">
                    <a:solidFill>
                      <a:srgbClr val="111827"/>
                    </a:solidFill>
                    <a:latin typeface="Cambria Math" panose="02040503050406030204" pitchFamily="18" charset="0"/>
                  </a:rPr>
                  <a:t>$\ln|f|$</a:t>
                </a:r>
                <a:r>
                  <a:rPr sz="2400" b="0">
                    <a:solidFill>
                      <a:srgbClr val="111827"/>
                    </a:solidFill>
                    <a:latin typeface="Arial"/>
                  </a:rPr>
                  <a:t> if </a:t>
                </a:r>
                <a:r>
                  <a:rPr lang="en-IN" sz="2400">
                    <a:solidFill>
                      <a:srgbClr val="111827"/>
                    </a:solidFill>
                    <a:latin typeface="Cambria Math" panose="02040503050406030204" pitchFamily="18" charset="0"/>
                  </a:rPr>
                  <a:t>$f$</a:t>
                </a:r>
                <a:r>
                  <a:rPr sz="2400" b="0">
                    <a:solidFill>
                      <a:srgbClr val="111827"/>
                    </a:solidFill>
                    <a:latin typeface="Arial"/>
                  </a:rPr>
                  <a:t> may be negative; the derivative formula </a:t>
                </a:r>
                <a:r>
                  <a:rPr lang="en-IN" sz="2400">
                    <a:solidFill>
                      <a:srgbClr val="111827"/>
                    </a:solidFill>
                    <a:latin typeface="Cambria Math" panose="02040503050406030204" pitchFamily="18" charset="0"/>
                  </a:rPr>
                  <a:t>$\frac{f'}{f}$</a:t>
                </a:r>
                <a:r>
                  <a:rPr sz="2400" b="0">
                    <a:solidFill>
                      <a:srgbClr val="111827"/>
                    </a:solidFill>
                    <a:latin typeface="Arial"/>
                  </a:rPr>
                  <a:t> is unchanged.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Linearisation: </a:t>
                </a:r>
                <a:r>
                  <a:rPr lang="en-IN" sz="2400">
                    <a:solidFill>
                      <a:srgbClr val="111827"/>
                    </a:solidFill>
                    <a:latin typeface="Cambria Math" panose="02040503050406030204" pitchFamily="18" charset="0"/>
                  </a:rPr>
                  <a:t>$(1+x)^m\approx1+mx$</a:t>
                </a:r>
                <a:r>
                  <a:rPr sz="2400" b="0">
                    <a:solidFill>
                      <a:srgbClr val="111827"/>
                    </a:solidFill>
                    <a:latin typeface="Arial"/>
                  </a:rPr>
                  <a:t>, and </a:t>
                </a:r>
                <a:r>
                  <a:rPr lang="en-IN" sz="2400">
                    <a:solidFill>
                      <a:srgbClr val="111827"/>
                    </a:solidFill>
                    <a:latin typeface="Cambria Math" panose="02040503050406030204" pitchFamily="18" charset="0"/>
                  </a:rPr>
                  <a:t>$\frac{f'(0)}{f(0)}=\sum(\text{exponent})\times(\text{linear coefficient})$</a:t>
                </a:r>
                <a:r>
                  <a:rPr sz="2400" b="0">
                    <a:solidFill>
                      <a:srgbClr val="111827"/>
                    </a:solidFill>
                    <a:latin typeface="Arial"/>
                  </a:rPr>
                  <a:t>: </a:t>
                </a:r>
                <a:r>
                  <a:rPr lang="en-IN" sz="2400">
                    <a:solidFill>
                      <a:srgbClr val="111827"/>
                    </a:solidFill>
                    <a:latin typeface="Cambria Math" panose="02040503050406030204" pitchFamily="18" charset="0"/>
                  </a:rPr>
                  <a:t>$7(1)+\frac12(0)-6(-1)=13$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Choose </a:t>
                </a:r>
                <a:r>
                  <a:rPr lang="en-IN" sz="2400">
                    <a:solidFill>
                      <a:srgbClr val="111827"/>
                    </a:solidFill>
                    <a:latin typeface="Cambria Math" panose="02040503050406030204" pitchFamily="18" charset="0"/>
                  </a:rPr>
                  <a:t>$x_0$</a:t>
                </a:r>
                <a:r>
                  <a:rPr sz="2400" b="0">
                    <a:solidFill>
                      <a:srgbClr val="111827"/>
                    </a:solidFill>
                    <a:latin typeface="Arial"/>
                  </a:rPr>
                  <a:t> where factors equal </a:t>
                </a:r>
                <a:r>
                  <a:rPr lang="en-IN" sz="2400">
                    <a:solidFill>
                      <a:srgbClr val="111827"/>
                    </a:solidFill>
                    <a:latin typeface="Cambria Math" panose="02040503050406030204" pitchFamily="18" charset="0"/>
                  </a:rPr>
                  <a:t>$1$</a:t>
                </a:r>
                <a:r>
                  <a:rPr sz="2400" b="0">
                    <a:solidFill>
                      <a:srgbClr val="111827"/>
                    </a:solidFill>
                    <a:latin typeface="Arial"/>
                  </a:rPr>
                  <a:t> (here </a:t>
                </a:r>
                <a:r>
                  <a:rPr lang="en-IN" sz="2400">
                    <a:solidFill>
                      <a:srgbClr val="111827"/>
                    </a:solidFill>
                    <a:latin typeface="Cambria Math" panose="02040503050406030204" pitchFamily="18" charset="0"/>
                  </a:rPr>
                  <a:t>$x_0=0$</a:t>
                </a:r>
                <a:r>
                  <a:rPr sz="2400" b="0">
                    <a:solidFill>
                      <a:srgbClr val="111827"/>
                    </a:solidFill>
                    <a:latin typeface="Arial"/>
                  </a:rPr>
                  <a:t>) so that </a:t>
                </a:r>
                <a:r>
                  <a:rPr lang="en-IN" sz="2400">
                    <a:solidFill>
                      <a:srgbClr val="111827"/>
                    </a:solidFill>
                    <a:latin typeface="Cambria Math" panose="02040503050406030204" pitchFamily="18" charset="0"/>
                  </a:rPr>
                  <a:t>$f(x_0)$</a:t>
                </a:r>
                <a:r>
                  <a:rPr sz="2400" b="0">
                    <a:solidFill>
                      <a:srgbClr val="111827"/>
                    </a:solidFill>
                    <a:latin typeface="Arial"/>
                  </a:rPr>
                  <a:t> is trivial.</a:t>
                </a:r>
                <a:endParaRPr sz="2400">
                  <a:solidFill>
                    <a:srgbClr val="111827"/>
                  </a:solidFill>
                </a:endParaRPr>
              </a:p>
            </p:txBody>
          </p:sp>
        </mc:Fallback>
      </mc:AlternateContent>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74954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oMath>
                </a14:m>
                <a:r>
                  <a:rPr sz="2400" b="0">
                    <a:solidFill>
                      <a:srgbClr val="111827"/>
                    </a:solidFill>
                    <a:latin typeface="Arial"/>
                  </a:rPr>
                  <a:t> be differentiable functions on the real line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Assume that the set </a:t>
                </a: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non-empty and that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oMath>
                </a14:m>
                <a:r>
                  <a:rPr sz="2400" b="0">
                    <a:solidFill>
                      <a:srgbClr val="111827"/>
                    </a:solidFill>
                    <a:latin typeface="Arial"/>
                  </a:rPr>
                  <a:t>. Then which of the following is necessarily true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if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(B) for any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(C) For any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(D) None of these</a:t>
                </a:r>
                <a:endParaRPr sz="2400">
                  <a:solidFill>
                    <a:srgbClr val="111827"/>
                  </a:solidFill>
                </a:endParaRPr>
              </a:p>
            </p:txBody>
          </p:sp>
        </mc:Choice>
        <mc:Fallback>
          <p:sp>
            <p:nvSpPr>
              <p:cNvPr id="4" name="Rounded Rectangle 3"/>
              <p:cNvSpPr/>
              <p:nvPr/>
            </p:nvSpPr>
            <p:spPr>
              <a:xfrm>
                <a:off x="731520" y="1280160"/>
                <a:ext cx="10725912" cy="374954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$f,g$</a:t>
                </a:r>
                <a:r>
                  <a:rPr sz="2400" b="0">
                    <a:solidFill>
                      <a:srgbClr val="111827"/>
                    </a:solidFill>
                    <a:latin typeface="Arial"/>
                  </a:rPr>
                  <a:t> be differentiable functions on the real line </a:t>
                </a:r>
                <a:r>
                  <a:rPr lang="en-IN" sz="2400">
                    <a:solidFill>
                      <a:srgbClr val="111827"/>
                    </a:solidFill>
                    <a:latin typeface="Cambria Math" panose="02040503050406030204" pitchFamily="18" charset="0"/>
                  </a:rPr>
                  <a:t>$\mathbb{R}$</a:t>
                </a:r>
                <a:r>
                  <a:rPr sz="2400" b="0">
                    <a:solidFill>
                      <a:srgbClr val="111827"/>
                    </a:solidFill>
                    <a:latin typeface="Arial"/>
                  </a:rPr>
                  <a:t> with </a:t>
                </a:r>
                <a:r>
                  <a:rPr lang="en-IN" sz="2400">
                    <a:solidFill>
                      <a:srgbClr val="111827"/>
                    </a:solidFill>
                    <a:latin typeface="Cambria Math" panose="02040503050406030204" pitchFamily="18" charset="0"/>
                  </a:rPr>
                  <a:t>$f(0)&gt;g(0)$</a:t>
                </a:r>
                <a:r>
                  <a:rPr sz="2400" b="0">
                    <a:solidFill>
                      <a:srgbClr val="111827"/>
                    </a:solidFill>
                    <a:latin typeface="Arial"/>
                  </a:rPr>
                  <a:t>. Assume that the set </a:t>
                </a:r>
                <a:r>
                  <a:rPr lang="en-IN" sz="2400">
                    <a:solidFill>
                      <a:srgbClr val="111827"/>
                    </a:solidFill>
                    <a:latin typeface="Cambria Math" panose="02040503050406030204" pitchFamily="18" charset="0"/>
                  </a:rPr>
                  <a:t>$M=\{t\in\mathbb{R}\mid f(t)=g(t)\}$</a:t>
                </a:r>
                <a:r>
                  <a:rPr sz="2400" b="0">
                    <a:solidFill>
                      <a:srgbClr val="111827"/>
                    </a:solidFill>
                    <a:latin typeface="Arial"/>
                  </a:rPr>
                  <a:t> is non-empty and that </a:t>
                </a:r>
                <a:r>
                  <a:rPr lang="en-IN" sz="2400">
                    <a:solidFill>
                      <a:srgbClr val="111827"/>
                    </a:solidFill>
                    <a:latin typeface="Cambria Math" panose="02040503050406030204" pitchFamily="18" charset="0"/>
                  </a:rPr>
                  <a:t>$f'(t)\ge g'(t)$</a:t>
                </a:r>
                <a:r>
                  <a:rPr sz="2400" b="0">
                    <a:solidFill>
                      <a:srgbClr val="111827"/>
                    </a:solidFill>
                    <a:latin typeface="Arial"/>
                  </a:rPr>
                  <a:t> for all </a:t>
                </a:r>
                <a:r>
                  <a:rPr lang="en-IN" sz="2400">
                    <a:solidFill>
                      <a:srgbClr val="111827"/>
                    </a:solidFill>
                    <a:latin typeface="Cambria Math" panose="02040503050406030204" pitchFamily="18" charset="0"/>
                  </a:rPr>
                  <a:t>$t\in M$</a:t>
                </a:r>
                <a:r>
                  <a:rPr sz="2400" b="0">
                    <a:solidFill>
                      <a:srgbClr val="111827"/>
                    </a:solidFill>
                    <a:latin typeface="Arial"/>
                  </a:rPr>
                  <a:t>. Then which of the following is necessarily true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if </a:t>
                </a:r>
                <a:r>
                  <a:rPr lang="en-IN" sz="2400">
                    <a:solidFill>
                      <a:srgbClr val="111827"/>
                    </a:solidFill>
                    <a:latin typeface="Cambria Math" panose="02040503050406030204" pitchFamily="18" charset="0"/>
                  </a:rPr>
                  <a:t>$t\in M$</a:t>
                </a:r>
                <a:r>
                  <a:rPr sz="2400" b="0">
                    <a:solidFill>
                      <a:srgbClr val="111827"/>
                    </a:solidFill>
                    <a:latin typeface="Arial"/>
                  </a:rPr>
                  <a:t>, then </a:t>
                </a:r>
                <a:r>
                  <a:rPr lang="en-IN" sz="2400">
                    <a:solidFill>
                      <a:srgbClr val="111827"/>
                    </a:solidFill>
                    <a:latin typeface="Cambria Math" panose="02040503050406030204" pitchFamily="18" charset="0"/>
                  </a:rPr>
                  <a:t>$t&lt;0$</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for any </a:t>
                </a:r>
                <a:r>
                  <a:rPr lang="en-IN" sz="2400">
                    <a:solidFill>
                      <a:srgbClr val="111827"/>
                    </a:solidFill>
                    <a:latin typeface="Cambria Math" panose="02040503050406030204" pitchFamily="18" charset="0"/>
                  </a:rPr>
                  <a:t>$t\in M$</a:t>
                </a:r>
                <a:r>
                  <a:rPr sz="2400" b="0">
                    <a:solidFill>
                      <a:srgbClr val="111827"/>
                    </a:solidFill>
                    <a:latin typeface="Arial"/>
                  </a:rPr>
                  <a:t>, </a:t>
                </a:r>
                <a:r>
                  <a:rPr lang="en-IN" sz="2400">
                    <a:solidFill>
                      <a:srgbClr val="111827"/>
                    </a:solidFill>
                    <a:latin typeface="Cambria Math" panose="02040503050406030204" pitchFamily="18" charset="0"/>
                  </a:rPr>
                  <a:t>$f'(t)&gt;g'(t)$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For any </a:t>
                </a:r>
                <a:r>
                  <a:rPr lang="en-IN" sz="2400">
                    <a:solidFill>
                      <a:srgbClr val="111827"/>
                    </a:solidFill>
                    <a:latin typeface="Cambria Math" panose="02040503050406030204" pitchFamily="18" charset="0"/>
                  </a:rPr>
                  <a:t>$t\notin M$</a:t>
                </a:r>
                <a:r>
                  <a:rPr sz="2400" b="0">
                    <a:solidFill>
                      <a:srgbClr val="111827"/>
                    </a:solidFill>
                    <a:latin typeface="Arial"/>
                  </a:rPr>
                  <a:t>, </a:t>
                </a:r>
                <a:r>
                  <a:rPr lang="en-IN" sz="2400">
                    <a:solidFill>
                      <a:srgbClr val="111827"/>
                    </a:solidFill>
                    <a:latin typeface="Cambria Math" panose="02040503050406030204" pitchFamily="18" charset="0"/>
                  </a:rPr>
                  <a:t>$f(t)&gt;g(t)$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None of these</a:t>
                </a:r>
                <a:endParaRPr sz="2400">
                  <a:solidFill>
                    <a:srgbClr val="111827"/>
                  </a:solidFill>
                </a:endParaRPr>
              </a:p>
            </p:txBody>
          </p:sp>
        </mc:Fallback>
      </mc:AlternateContent>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Relation between function values and derivatives at common points (counterexamples)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Take </a:t>
                </a:r>
                <a14:m>
                  <m:oMath xmlns:m="http://schemas.openxmlformats.org/officeDocument/2006/math">
                    <m:r>
                      <a:rPr lang="en-IN" sz="2400" i="1">
                        <a:solidFill>
                          <a:srgbClr val="78350F"/>
                        </a:solidFill>
                        <a:latin typeface="Cambria Math" panose="02040503050406030204" pitchFamily="18" charset="0"/>
                      </a:rPr>
                      <m:t>𝑔</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𝑓</m:t>
                    </m:r>
                  </m:oMath>
                </a14:m>
                <a:r>
                  <a:rPr sz="2400" b="0">
                    <a:solidFill>
                      <a:srgbClr val="78350F"/>
                    </a:solidFill>
                    <a:latin typeface="Arial"/>
                  </a:rPr>
                  <a:t> with a double root at </a:t>
                </a:r>
                <a14:m>
                  <m:oMath xmlns:m="http://schemas.openxmlformats.org/officeDocument/2006/math">
                    <m:r>
                      <a:rPr lang="en-IN" sz="2400" i="1">
                        <a:solidFill>
                          <a:srgbClr val="78350F"/>
                        </a:solidFill>
                        <a:latin typeface="Cambria Math" panose="02040503050406030204" pitchFamily="18" charset="0"/>
                      </a:rPr>
                      <m:t>1</m:t>
                    </m:r>
                  </m:oMath>
                </a14:m>
                <a:r>
                  <a:rPr sz="2400" b="0">
                    <a:solidFill>
                      <a:srgbClr val="78350F"/>
                    </a:solidFill>
                    <a:latin typeface="Arial"/>
                  </a:rPr>
                  <a:t> and a simple root at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all hypotheses hold but (A), (B), (C) fail.</a:t>
                </a:r>
                <a:endParaRPr sz="2400">
                  <a:solidFill>
                    <a:srgbClr val="78350F"/>
                  </a:solidFill>
                </a:endParaRPr>
              </a:p>
            </p:txBody>
          </p:sp>
        </mc:Choice>
        <mc:Fallback>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Take </a:t>
                </a:r>
                <a:r>
                  <a:rPr lang="en-IN" sz="2400">
                    <a:solidFill>
                      <a:srgbClr val="78350F"/>
                    </a:solidFill>
                    <a:latin typeface="Cambria Math" panose="02040503050406030204" pitchFamily="18" charset="0"/>
                  </a:rPr>
                  <a:t>$g=0$</a:t>
                </a:r>
                <a:r>
                  <a:rPr sz="2400" b="0">
                    <a:solidFill>
                      <a:srgbClr val="78350F"/>
                    </a:solidFill>
                    <a:latin typeface="Arial"/>
                  </a:rPr>
                  <a:t> and </a:t>
                </a:r>
                <a:r>
                  <a:rPr lang="en-IN" sz="2400">
                    <a:solidFill>
                      <a:srgbClr val="78350F"/>
                    </a:solidFill>
                    <a:latin typeface="Cambria Math" panose="02040503050406030204" pitchFamily="18" charset="0"/>
                  </a:rPr>
                  <a:t>$f$</a:t>
                </a:r>
                <a:r>
                  <a:rPr sz="2400" b="0">
                    <a:solidFill>
                      <a:srgbClr val="78350F"/>
                    </a:solidFill>
                    <a:latin typeface="Arial"/>
                  </a:rPr>
                  <a:t> with a double root at </a:t>
                </a:r>
                <a:r>
                  <a:rPr lang="en-IN" sz="2400">
                    <a:solidFill>
                      <a:srgbClr val="78350F"/>
                    </a:solidFill>
                    <a:latin typeface="Cambria Math" panose="02040503050406030204" pitchFamily="18" charset="0"/>
                  </a:rPr>
                  <a:t>$1$</a:t>
                </a:r>
                <a:r>
                  <a:rPr sz="2400" b="0">
                    <a:solidFill>
                      <a:srgbClr val="78350F"/>
                    </a:solidFill>
                    <a:latin typeface="Arial"/>
                  </a:rPr>
                  <a:t> and a simple root at </a:t>
                </a:r>
                <a:r>
                  <a:rPr lang="en-IN" sz="2400">
                    <a:solidFill>
                      <a:srgbClr val="78350F"/>
                    </a:solidFill>
                    <a:latin typeface="Cambria Math" panose="02040503050406030204" pitchFamily="18" charset="0"/>
                  </a:rPr>
                  <a:t>$-1$</a:t>
                </a:r>
                <a:r>
                  <a:rPr sz="2400" b="0">
                    <a:solidFill>
                      <a:srgbClr val="78350F"/>
                    </a:solidFill>
                    <a:latin typeface="Arial"/>
                  </a:rPr>
                  <a:t>: all hypotheses hold but (A), (B), (C) fail.</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 show that (D) is correct we need one pair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oMath>
                </a14:m>
                <a:r>
                  <a:rPr sz="2400" b="0">
                    <a:solidFill>
                      <a:srgbClr val="111827"/>
                    </a:solidFill>
                    <a:latin typeface="Arial"/>
                  </a:rPr>
                  <a:t> satisfying all hypotheses for which (A), (B), (C) are all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Take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 show that (D) is correct we need one pair </a:t>
                </a:r>
                <a:r>
                  <a:rPr lang="en-IN" sz="2400">
                    <a:solidFill>
                      <a:srgbClr val="111827"/>
                    </a:solidFill>
                    <a:latin typeface="Cambria Math" panose="02040503050406030204" pitchFamily="18" charset="0"/>
                  </a:rPr>
                  <a:t>$f,g$</a:t>
                </a:r>
                <a:r>
                  <a:rPr sz="2400" b="0">
                    <a:solidFill>
                      <a:srgbClr val="111827"/>
                    </a:solidFill>
                    <a:latin typeface="Arial"/>
                  </a:rPr>
                  <a:t> satisfying all hypotheses for which (A), (B), (C) are all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Take </a:t>
                </a:r>
                <a:r>
                  <a:rPr lang="en-IN" sz="2400">
                    <a:solidFill>
                      <a:srgbClr val="111827"/>
                    </a:solidFill>
                    <a:latin typeface="Cambria Math" panose="02040503050406030204" pitchFamily="18" charset="0"/>
                  </a:rPr>
                  <a:t>$g(t)=0$</a:t>
                </a:r>
                <a:r>
                  <a:rPr sz="2400" b="0">
                    <a:solidFill>
                      <a:srgbClr val="111827"/>
                    </a:solidFill>
                    <a:latin typeface="Arial"/>
                  </a:rPr>
                  <a:t> and </a:t>
                </a:r>
                <a:r>
                  <a:rPr lang="en-IN" sz="2400">
                    <a:solidFill>
                      <a:srgbClr val="111827"/>
                    </a:solidFill>
                    <a:latin typeface="Cambria Math" panose="02040503050406030204" pitchFamily="18" charset="0"/>
                  </a:rPr>
                  <a:t>$f(t)=(t+1)(t-1)^2$</a:t>
                </a:r>
                <a:r>
                  <a:rPr sz="2400" b="0">
                    <a:solidFill>
                      <a:srgbClr val="111827"/>
                    </a:solidFill>
                    <a:latin typeface="Arial"/>
                  </a:rPr>
                  <a:t>. Then </a:t>
                </a:r>
                <a:r>
                  <a:rPr lang="en-IN" sz="2400">
                    <a:solidFill>
                      <a:srgbClr val="111827"/>
                    </a:solidFill>
                    <a:latin typeface="Cambria Math" panose="02040503050406030204" pitchFamily="18" charset="0"/>
                  </a:rPr>
                  <a:t>$f(0)=1&gt;0=g(0)$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which is non-empty.</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on </a:t>
                </a:r>
                <a14:m>
                  <m:oMath xmlns:m="http://schemas.openxmlformats.org/officeDocument/2006/math">
                    <m:r>
                      <a:rPr lang="en-IN" sz="2400" i="1">
                        <a:solidFill>
                          <a:srgbClr val="111827"/>
                        </a:solidFill>
                        <a:latin typeface="Cambria Math" panose="02040503050406030204" pitchFamily="18" charset="0"/>
                      </a:rPr>
                      <m:t>𝑀</m:t>
                    </m:r>
                  </m:oMath>
                </a14:m>
                <a:r>
                  <a:rPr sz="2400" b="0">
                    <a:solidFill>
                      <a:srgbClr val="111827"/>
                    </a:solidFill>
                    <a:latin typeface="Arial"/>
                  </a:rPr>
                  <a:t>: the hypotheses hold.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is false: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oMath>
                </a14:m>
                <a:r>
                  <a:rPr sz="2400" b="0">
                    <a:solidFill>
                      <a:srgbClr val="111827"/>
                    </a:solidFill>
                    <a:latin typeface="Arial"/>
                  </a:rPr>
                  <a:t> but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is false: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fails.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is false: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oMath>
                </a14:m>
                <a:r>
                  <a:rPr sz="2400" b="0">
                    <a:solidFill>
                      <a:srgbClr val="111827"/>
                    </a:solidFill>
                    <a:latin typeface="Arial"/>
                  </a:rPr>
                  <a:t> but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$M=\{t\in\mathbb{R}:(t+1)(t-1)^2=0\}=\{-1,1\}$</a:t>
                </a:r>
                <a:r>
                  <a:rPr sz="2400" b="0">
                    <a:solidFill>
                      <a:srgbClr val="111827"/>
                    </a:solidFill>
                    <a:latin typeface="Arial"/>
                  </a:rPr>
                  <a:t>, which is non-empty.</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$f'(t)=(t-1)^2+2(t+1)(t-1)=(t-1)(3t+1)$</a:t>
                </a:r>
                <a:r>
                  <a:rPr sz="2400" b="0">
                    <a:solidFill>
                      <a:srgbClr val="111827"/>
                    </a:solidFill>
                    <a:latin typeface="Arial"/>
                  </a:rPr>
                  <a:t> and </a:t>
                </a:r>
                <a:r>
                  <a:rPr lang="en-IN" sz="2400">
                    <a:solidFill>
                      <a:srgbClr val="111827"/>
                    </a:solidFill>
                    <a:latin typeface="Cambria Math" panose="02040503050406030204" pitchFamily="18" charset="0"/>
                  </a:rPr>
                  <a:t>$g'(t)=0$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$f'(-1)=(-2)(-2)=4&gt;0=g'(-1)$</a:t>
                </a:r>
                <a:r>
                  <a:rPr sz="2400" b="0">
                    <a:solidFill>
                      <a:srgbClr val="111827"/>
                    </a:solidFill>
                    <a:latin typeface="Arial"/>
                  </a:rPr>
                  <a:t> and </a:t>
                </a:r>
                <a:r>
                  <a:rPr lang="en-IN" sz="2400">
                    <a:solidFill>
                      <a:srgbClr val="111827"/>
                    </a:solidFill>
                    <a:latin typeface="Cambria Math" panose="02040503050406030204" pitchFamily="18" charset="0"/>
                  </a:rPr>
                  <a:t>$f'(1)=0=g'(1)$</a:t>
                </a:r>
                <a:r>
                  <a:rPr sz="2400" b="0">
                    <a:solidFill>
                      <a:srgbClr val="111827"/>
                    </a:solidFill>
                    <a:latin typeface="Arial"/>
                  </a:rPr>
                  <a:t>, so </a:t>
                </a:r>
                <a:r>
                  <a:rPr lang="en-IN" sz="2400">
                    <a:solidFill>
                      <a:srgbClr val="111827"/>
                    </a:solidFill>
                    <a:latin typeface="Cambria Math" panose="02040503050406030204" pitchFamily="18" charset="0"/>
                  </a:rPr>
                  <a:t>$f'\ge g'$</a:t>
                </a:r>
                <a:r>
                  <a:rPr sz="2400" b="0">
                    <a:solidFill>
                      <a:srgbClr val="111827"/>
                    </a:solidFill>
                    <a:latin typeface="Arial"/>
                  </a:rPr>
                  <a:t> on </a:t>
                </a:r>
                <a:r>
                  <a:rPr lang="en-IN" sz="2400">
                    <a:solidFill>
                      <a:srgbClr val="111827"/>
                    </a:solidFill>
                    <a:latin typeface="Cambria Math" panose="02040503050406030204" pitchFamily="18" charset="0"/>
                  </a:rPr>
                  <a:t>$M$</a:t>
                </a:r>
                <a:r>
                  <a:rPr sz="2400" b="0">
                    <a:solidFill>
                      <a:srgbClr val="111827"/>
                    </a:solidFill>
                    <a:latin typeface="Arial"/>
                  </a:rPr>
                  <a:t>: the hypotheses hold.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is false: </a:t>
                </a:r>
                <a:r>
                  <a:rPr lang="en-IN" sz="2400">
                    <a:solidFill>
                      <a:srgbClr val="111827"/>
                    </a:solidFill>
                    <a:latin typeface="Cambria Math" panose="02040503050406030204" pitchFamily="18" charset="0"/>
                  </a:rPr>
                  <a:t>$1\in M$</a:t>
                </a:r>
                <a:r>
                  <a:rPr sz="2400" b="0">
                    <a:solidFill>
                      <a:srgbClr val="111827"/>
                    </a:solidFill>
                    <a:latin typeface="Arial"/>
                  </a:rPr>
                  <a:t> but </a:t>
                </a:r>
                <a:r>
                  <a:rPr lang="en-IN" sz="2400">
                    <a:solidFill>
                      <a:srgbClr val="111827"/>
                    </a:solidFill>
                    <a:latin typeface="Cambria Math" panose="02040503050406030204" pitchFamily="18" charset="0"/>
                  </a:rPr>
                  <a:t>$1\not&lt;0$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is false: </a:t>
                </a:r>
                <a:r>
                  <a:rPr lang="en-IN" sz="2400">
                    <a:solidFill>
                      <a:srgbClr val="111827"/>
                    </a:solidFill>
                    <a:latin typeface="Cambria Math" panose="02040503050406030204" pitchFamily="18" charset="0"/>
                  </a:rPr>
                  <a:t>$1\in M$</a:t>
                </a:r>
                <a:r>
                  <a:rPr sz="2400" b="0">
                    <a:solidFill>
                      <a:srgbClr val="111827"/>
                    </a:solidFill>
                    <a:latin typeface="Arial"/>
                  </a:rPr>
                  <a:t> and </a:t>
                </a:r>
                <a:r>
                  <a:rPr lang="en-IN" sz="2400">
                    <a:solidFill>
                      <a:srgbClr val="111827"/>
                    </a:solidFill>
                    <a:latin typeface="Cambria Math" panose="02040503050406030204" pitchFamily="18" charset="0"/>
                  </a:rPr>
                  <a:t>$f'(1)=g'(1)=0$</a:t>
                </a:r>
                <a:r>
                  <a:rPr sz="2400" b="0">
                    <a:solidFill>
                      <a:srgbClr val="111827"/>
                    </a:solidFill>
                    <a:latin typeface="Arial"/>
                  </a:rPr>
                  <a:t>, so </a:t>
                </a:r>
                <a:r>
                  <a:rPr lang="en-IN" sz="2400">
                    <a:solidFill>
                      <a:srgbClr val="111827"/>
                    </a:solidFill>
                    <a:latin typeface="Cambria Math" panose="02040503050406030204" pitchFamily="18" charset="0"/>
                  </a:rPr>
                  <a:t>$f'(1)&gt;g'(1)$</a:t>
                </a:r>
                <a:r>
                  <a:rPr sz="2400" b="0">
                    <a:solidFill>
                      <a:srgbClr val="111827"/>
                    </a:solidFill>
                    <a:latin typeface="Arial"/>
                  </a:rPr>
                  <a:t> fails.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is false: </a:t>
                </a:r>
                <a:r>
                  <a:rPr lang="en-IN" sz="2400">
                    <a:solidFill>
                      <a:srgbClr val="111827"/>
                    </a:solidFill>
                    <a:latin typeface="Cambria Math" panose="02040503050406030204" pitchFamily="18" charset="0"/>
                  </a:rPr>
                  <a:t>$-2\notin M$</a:t>
                </a:r>
                <a:r>
                  <a:rPr sz="2400" b="0">
                    <a:solidFill>
                      <a:srgbClr val="111827"/>
                    </a:solidFill>
                    <a:latin typeface="Arial"/>
                  </a:rPr>
                  <a:t> but </a:t>
                </a:r>
                <a:r>
                  <a:rPr lang="en-IN" sz="2400">
                    <a:solidFill>
                      <a:srgbClr val="111827"/>
                    </a:solidFill>
                    <a:latin typeface="Cambria Math" panose="02040503050406030204" pitchFamily="18" charset="0"/>
                  </a:rPr>
                  <a:t>$f(-2)=(-1)(9)=-9&lt;0=g(-2)$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none of (A), (B), (C) is necessarily true: option (D).</a:t>
            </a:r>
            <a:endParaRPr sz="2400">
              <a:solidFill>
                <a:srgbClr val="111827"/>
              </a:solidFill>
            </a:endParaRPr>
          </a:p>
        </p:txBody>
      </p:sp>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a:t>
            </a:r>
            <a:endParaRPr sz="2800">
              <a:solidFill>
                <a:srgbClr val="15803D"/>
              </a:solidFill>
            </a:endParaRP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'which is necessarily true' question with a 'None of these' option, one example satisfying all hypotheses but violating each of the other options settles 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oMath>
                </a14:m>
                <a:r>
                  <a:rPr sz="2400" b="0">
                    <a:solidFill>
                      <a:srgbClr val="111827"/>
                    </a:solidFill>
                    <a:latin typeface="Arial"/>
                  </a:rPr>
                  <a:t>: the hypotheses say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ℎ</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Zeros with </a:t>
                </a:r>
                <a14:m>
                  <m:oMath xmlns:m="http://schemas.openxmlformats.org/officeDocument/2006/math">
                    <m:sSup>
                      <m:e>
                        <m:r>
                          <a:rPr lang="en-IN" sz="2400" i="1">
                            <a:solidFill>
                              <a:srgbClr val="111827"/>
                            </a:solidFill>
                            <a:latin typeface="Cambria Math" panose="02040503050406030204" pitchFamily="18" charset="0"/>
                          </a:rPr>
                          <m:t>ℎ</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are allowed, so </a:t>
                </a:r>
                <a14:m>
                  <m:oMath xmlns:m="http://schemas.openxmlformats.org/officeDocument/2006/math">
                    <m:r>
                      <a:rPr lang="en-IN" sz="2400" i="1">
                        <a:solidFill>
                          <a:srgbClr val="111827"/>
                        </a:solidFill>
                        <a:latin typeface="Cambria Math" panose="02040503050406030204" pitchFamily="18" charset="0"/>
                      </a:rPr>
                      <m:t>ℎ</m:t>
                    </m:r>
                  </m:oMath>
                </a14:m>
                <a:r>
                  <a:rPr sz="2400" b="0">
                    <a:solidFill>
                      <a:srgbClr val="111827"/>
                    </a:solidFill>
                    <a:latin typeface="Arial"/>
                  </a:rPr>
                  <a:t> may touch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(double root) or even change sign downward, e.g.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oMath>
                </a14:m>
                <a:r>
                  <a:rPr sz="2400" b="0">
                    <a:solidFill>
                      <a:srgbClr val="111827"/>
                    </a:solidFill>
                    <a:latin typeface="Arial"/>
                  </a:rPr>
                  <a:t> cannot be concluded even for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&gt;</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strict fails at repeated roots.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Derivative of a product with a repeated factor: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 double root is a root of the derivative.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'which is necessarily true' question with a 'None of these' option, one example satisfying all hypotheses but violating each of the other options settles 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$h=f-g$</a:t>
                </a:r>
                <a:r>
                  <a:rPr sz="2400" b="0">
                    <a:solidFill>
                      <a:srgbClr val="111827"/>
                    </a:solidFill>
                    <a:latin typeface="Arial"/>
                  </a:rPr>
                  <a:t>: the hypotheses say </a:t>
                </a:r>
                <a:r>
                  <a:rPr lang="en-IN" sz="2400">
                    <a:solidFill>
                      <a:srgbClr val="111827"/>
                    </a:solidFill>
                    <a:latin typeface="Cambria Math" panose="02040503050406030204" pitchFamily="18" charset="0"/>
                  </a:rPr>
                  <a:t>$h(0)&gt;0$</a:t>
                </a:r>
                <a:r>
                  <a:rPr sz="2400" b="0">
                    <a:solidFill>
                      <a:srgbClr val="111827"/>
                    </a:solidFill>
                    <a:latin typeface="Arial"/>
                  </a:rPr>
                  <a:t>, </a:t>
                </a:r>
                <a:r>
                  <a:rPr lang="en-IN" sz="2400">
                    <a:solidFill>
                      <a:srgbClr val="111827"/>
                    </a:solidFill>
                    <a:latin typeface="Cambria Math" panose="02040503050406030204" pitchFamily="18" charset="0"/>
                  </a:rPr>
                  <a:t>$h(t_0)=0\Rightarrow h'(t_0)\ge0$</a:t>
                </a:r>
                <a:r>
                  <a:rPr sz="2400" b="0">
                    <a:solidFill>
                      <a:srgbClr val="111827"/>
                    </a:solidFill>
                    <a:latin typeface="Arial"/>
                  </a:rPr>
                  <a:t>. Zeros with </a:t>
                </a:r>
                <a:r>
                  <a:rPr lang="en-IN" sz="2400">
                    <a:solidFill>
                      <a:srgbClr val="111827"/>
                    </a:solidFill>
                    <a:latin typeface="Cambria Math" panose="02040503050406030204" pitchFamily="18" charset="0"/>
                  </a:rPr>
                  <a:t>$h'=0$</a:t>
                </a:r>
                <a:r>
                  <a:rPr sz="2400" b="0">
                    <a:solidFill>
                      <a:srgbClr val="111827"/>
                    </a:solidFill>
                    <a:latin typeface="Arial"/>
                  </a:rPr>
                  <a:t> are allowed, so </a:t>
                </a:r>
                <a:r>
                  <a:rPr lang="en-IN" sz="2400">
                    <a:solidFill>
                      <a:srgbClr val="111827"/>
                    </a:solidFill>
                    <a:latin typeface="Cambria Math" panose="02040503050406030204" pitchFamily="18" charset="0"/>
                  </a:rPr>
                  <a:t>$h$</a:t>
                </a:r>
                <a:r>
                  <a:rPr sz="2400" b="0">
                    <a:solidFill>
                      <a:srgbClr val="111827"/>
                    </a:solidFill>
                    <a:latin typeface="Arial"/>
                  </a:rPr>
                  <a:t> may touch </a:t>
                </a:r>
                <a:r>
                  <a:rPr lang="en-IN" sz="2400">
                    <a:solidFill>
                      <a:srgbClr val="111827"/>
                    </a:solidFill>
                    <a:latin typeface="Cambria Math" panose="02040503050406030204" pitchFamily="18" charset="0"/>
                  </a:rPr>
                  <a:t>$0$</a:t>
                </a:r>
                <a:r>
                  <a:rPr sz="2400" b="0">
                    <a:solidFill>
                      <a:srgbClr val="111827"/>
                    </a:solidFill>
                    <a:latin typeface="Arial"/>
                  </a:rPr>
                  <a:t> (double root) or even change sign downward, e.g. </a:t>
                </a:r>
                <a:r>
                  <a:rPr lang="en-IN" sz="2400">
                    <a:solidFill>
                      <a:srgbClr val="111827"/>
                    </a:solidFill>
                    <a:latin typeface="Cambria Math" panose="02040503050406030204" pitchFamily="18" charset="0"/>
                  </a:rPr>
                  <a:t>$h=(1-t)^3$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$f\ge g$</a:t>
                </a:r>
                <a:r>
                  <a:rPr sz="2400" b="0">
                    <a:solidFill>
                      <a:srgbClr val="111827"/>
                    </a:solidFill>
                    <a:latin typeface="Arial"/>
                  </a:rPr>
                  <a:t> cannot be concluded even for </a:t>
                </a:r>
                <a:r>
                  <a:rPr lang="en-IN" sz="2400">
                    <a:solidFill>
                      <a:srgbClr val="111827"/>
                    </a:solidFill>
                    <a:latin typeface="Cambria Math" panose="02040503050406030204" pitchFamily="18" charset="0"/>
                  </a:rPr>
                  <a:t>$t&gt;0$</a:t>
                </a:r>
                <a:r>
                  <a:rPr sz="2400" b="0">
                    <a:solidFill>
                      <a:srgbClr val="111827"/>
                    </a:solidFill>
                    <a:latin typeface="Arial"/>
                  </a:rPr>
                  <a:t>, and </a:t>
                </a:r>
                <a:r>
                  <a:rPr lang="en-IN" sz="2400">
                    <a:solidFill>
                      <a:srgbClr val="111827"/>
                    </a:solidFill>
                    <a:latin typeface="Cambria Math" panose="02040503050406030204" pitchFamily="18" charset="0"/>
                  </a:rPr>
                  <a:t>$f'&gt;g'$</a:t>
                </a:r>
                <a:r>
                  <a:rPr sz="2400" b="0">
                    <a:solidFill>
                      <a:srgbClr val="111827"/>
                    </a:solidFill>
                    <a:latin typeface="Arial"/>
                  </a:rPr>
                  <a:t> strict fails at repeated roots.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Derivative of a product with a repeated factor: </a:t>
                </a:r>
                <a:r>
                  <a:rPr lang="en-IN" sz="2400">
                    <a:solidFill>
                      <a:srgbClr val="111827"/>
                    </a:solidFill>
                    <a:latin typeface="Cambria Math" panose="02040503050406030204" pitchFamily="18" charset="0"/>
                  </a:rPr>
                  <a:t>$\frac{d}{dt}\left[(t+1)(t-1)^2\right]=(t-1)(3t+1)$</a:t>
                </a:r>
                <a:r>
                  <a:rPr sz="2400" b="0">
                    <a:solidFill>
                      <a:srgbClr val="111827"/>
                    </a:solidFill>
                    <a:latin typeface="Arial"/>
                  </a:rPr>
                  <a:t>; a double root is a root of the derivative.</a:t>
                </a:r>
                <a:endParaRPr sz="2400">
                  <a:solidFill>
                    <a:srgbClr val="111827"/>
                  </a:solidFill>
                </a:endParaRPr>
              </a:p>
            </p:txBody>
          </p:sp>
        </mc:Fallback>
      </mc:AlternateContent>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1813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normal to the curve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then the value of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𝑓</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𝑓</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𝑓</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e>
                            </m:d>
                          </m:e>
                        </m:d>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endParaRPr sz="2400">
                  <a:solidFill>
                    <a:srgbClr val="111827"/>
                  </a:solidFill>
                </a:endParaRPr>
              </a:p>
            </p:txBody>
          </p:sp>
        </mc:Choice>
        <mc:Fallback>
          <p:sp>
            <p:nvSpPr>
              <p:cNvPr id="4" name="Rounded Rectangle 3"/>
              <p:cNvSpPr/>
              <p:nvPr/>
            </p:nvSpPr>
            <p:spPr>
              <a:xfrm>
                <a:off x="731520" y="1280160"/>
                <a:ext cx="10725912" cy="21813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normal to the curve </a:t>
                </a:r>
                <a:r>
                  <a:rPr lang="en-IN" sz="2400">
                    <a:solidFill>
                      <a:srgbClr val="111827"/>
                    </a:solidFill>
                    <a:latin typeface="Cambria Math" panose="02040503050406030204" pitchFamily="18" charset="0"/>
                  </a:rPr>
                  <a:t>$y=f(x)$</a:t>
                </a:r>
                <a:r>
                  <a:rPr sz="2400" b="0">
                    <a:solidFill>
                      <a:srgbClr val="111827"/>
                    </a:solidFill>
                    <a:latin typeface="Arial"/>
                  </a:rPr>
                  <a:t> at </a:t>
                </a:r>
                <a:r>
                  <a:rPr lang="en-IN" sz="2400">
                    <a:solidFill>
                      <a:srgbClr val="111827"/>
                    </a:solidFill>
                    <a:latin typeface="Cambria Math" panose="02040503050406030204" pitchFamily="18" charset="0"/>
                  </a:rPr>
                  <a:t>$x=0$</a:t>
                </a:r>
                <a:r>
                  <a:rPr sz="2400" b="0">
                    <a:solidFill>
                      <a:srgbClr val="111827"/>
                    </a:solidFill>
                    <a:latin typeface="Arial"/>
                  </a:rPr>
                  <a:t> is </a:t>
                </a:r>
                <a:r>
                  <a:rPr lang="en-IN" sz="2400">
                    <a:solidFill>
                      <a:srgbClr val="111827"/>
                    </a:solidFill>
                    <a:latin typeface="Cambria Math" panose="02040503050406030204" pitchFamily="18" charset="0"/>
                  </a:rPr>
                  <a:t>$3x-y+3=0$</a:t>
                </a:r>
                <a:r>
                  <a:rPr sz="2400" b="0">
                    <a:solidFill>
                      <a:srgbClr val="111827"/>
                    </a:solidFill>
                    <a:latin typeface="Arial"/>
                  </a:rPr>
                  <a:t>, then the value of </a:t>
                </a:r>
                <a:r>
                  <a:rPr lang="en-IN" sz="2400">
                    <a:solidFill>
                      <a:srgbClr val="111827"/>
                    </a:solidFill>
                    <a:latin typeface="Cambria Math" panose="02040503050406030204" pitchFamily="18" charset="0"/>
                  </a:rPr>
                  <a:t>$\lim_{x\to1}(x-1)^2\left\{f\left((x-1)^2\right)-5f\left(4(x-1)^2\right)+4f\left(7(x-1)^2\right)\right\}^{-1}$</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$-\frac{1}{3}$</a:t>
                </a:r>
                <a:r>
                  <a:rPr sz="2400" b="0">
                    <a:solidFill>
                      <a:srgbClr val="111827"/>
                    </a:solidFill>
                    <a:latin typeface="Arial"/>
                  </a:rPr>
                  <a:t>   (B) </a:t>
                </a:r>
                <a:r>
                  <a:rPr lang="en-IN" sz="2400">
                    <a:solidFill>
                      <a:srgbClr val="111827"/>
                    </a:solidFill>
                    <a:latin typeface="Cambria Math" panose="02040503050406030204" pitchFamily="18" charset="0"/>
                  </a:rPr>
                  <a:t>$\frac{1}{3}$</a:t>
                </a:r>
                <a:r>
                  <a:rPr sz="2400" b="0">
                    <a:solidFill>
                      <a:srgbClr val="111827"/>
                    </a:solidFill>
                    <a:latin typeface="Arial"/>
                  </a:rPr>
                  <a:t>   (C) </a:t>
                </a:r>
                <a:r>
                  <a:rPr lang="en-IN" sz="2400">
                    <a:solidFill>
                      <a:srgbClr val="111827"/>
                    </a:solidFill>
                    <a:latin typeface="Cambria Math" panose="02040503050406030204" pitchFamily="18" charset="0"/>
                  </a:rPr>
                  <a:t>$3$</a:t>
                </a:r>
                <a:r>
                  <a:rPr sz="2400" b="0">
                    <a:solidFill>
                      <a:srgbClr val="111827"/>
                    </a:solidFill>
                    <a:latin typeface="Arial"/>
                  </a:rPr>
                  <a:t>   (D) </a:t>
                </a:r>
                <a:r>
                  <a:rPr lang="en-IN" sz="2400">
                    <a:solidFill>
                      <a:srgbClr val="111827"/>
                    </a:solidFill>
                    <a:latin typeface="Cambria Math" panose="02040503050406030204" pitchFamily="18" charset="0"/>
                  </a:rPr>
                  <a:t>$-3$</a:t>
                </a:r>
                <a:endParaRPr sz="2400">
                  <a:solidFill>
                    <a:srgbClr val="111827"/>
                  </a:solidFill>
                </a:endParaRPr>
              </a:p>
            </p:txBody>
          </p:sp>
        </mc:Fallback>
      </mc:AlternateContent>
      <p:sp>
        <p:nvSpPr>
          <p:cNvPr id="5" name="Rectangle 4"/>
          <p:cNvSpPr/>
          <p:nvPr/>
        </p:nvSpPr>
        <p:spPr>
          <a:xfrm>
            <a:off x="731520" y="3690111"/>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Limits: L'Hôpital's rule and the derivative at a point, Slope of tangent and normal</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coefficients </a:t>
                </a:r>
                <a14:m>
                  <m:oMath xmlns:m="http://schemas.openxmlformats.org/officeDocument/2006/math">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oMath>
                </a14:m>
                <a:r>
                  <a:rPr sz="2400" b="0">
                    <a:solidFill>
                      <a:srgbClr val="78350F"/>
                    </a:solidFill>
                    <a:latin typeface="Arial"/>
                  </a:rPr>
                  <a:t> sum to </a:t>
                </a:r>
                <a14:m>
                  <m:oMath xmlns:m="http://schemas.openxmlformats.org/officeDocument/2006/math">
                    <m:r>
                      <a:rPr lang="en-IN" sz="2400" i="1">
                        <a:solidFill>
                          <a:srgbClr val="78350F"/>
                        </a:solidFill>
                        <a:latin typeface="Cambria Math" panose="02040503050406030204" pitchFamily="18" charset="0"/>
                      </a:rPr>
                      <m:t>0</m:t>
                    </m:r>
                  </m:oMath>
                </a14:m>
                <a:r>
                  <a:rPr sz="2400" b="0">
                    <a:solidFill>
                      <a:srgbClr val="78350F"/>
                    </a:solidFill>
                    <a:latin typeface="Arial"/>
                  </a:rPr>
                  <a:t>, so the denominator vanishes and only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(from the normal's slope) survives.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coefficients </a:t>
                </a:r>
                <a:r>
                  <a:rPr lang="en-IN" sz="2400">
                    <a:solidFill>
                      <a:srgbClr val="78350F"/>
                    </a:solidFill>
                    <a:latin typeface="Cambria Math" panose="02040503050406030204" pitchFamily="18" charset="0"/>
                  </a:rPr>
                  <a:t>$1,-5,4$</a:t>
                </a:r>
                <a:r>
                  <a:rPr sz="2400" b="0">
                    <a:solidFill>
                      <a:srgbClr val="78350F"/>
                    </a:solidFill>
                    <a:latin typeface="Arial"/>
                  </a:rPr>
                  <a:t> sum to </a:t>
                </a:r>
                <a:r>
                  <a:rPr lang="en-IN" sz="2400">
                    <a:solidFill>
                      <a:srgbClr val="78350F"/>
                    </a:solidFill>
                    <a:latin typeface="Cambria Math" panose="02040503050406030204" pitchFamily="18" charset="0"/>
                  </a:rPr>
                  <a:t>$0$</a:t>
                </a:r>
                <a:r>
                  <a:rPr sz="2400" b="0">
                    <a:solidFill>
                      <a:srgbClr val="78350F"/>
                    </a:solidFill>
                    <a:latin typeface="Arial"/>
                  </a:rPr>
                  <a:t>, so the denominator vanishes and only </a:t>
                </a:r>
                <a:r>
                  <a:rPr lang="en-IN" sz="2400">
                    <a:solidFill>
                      <a:srgbClr val="78350F"/>
                    </a:solidFill>
                    <a:latin typeface="Cambria Math" panose="02040503050406030204" pitchFamily="18" charset="0"/>
                  </a:rPr>
                  <a:t>$f'(0)$</a:t>
                </a:r>
                <a:r>
                  <a:rPr sz="2400" b="0">
                    <a:solidFill>
                      <a:srgbClr val="78350F"/>
                    </a:solidFill>
                    <a:latin typeface="Arial"/>
                  </a:rPr>
                  <a:t> (from the normal's slope) survives.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normal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has slope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so the tangent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has slope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denominator is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the form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0</m:t>
                        </m:r>
                      </m:num>
                      <m:den>
                        <m:r>
                          <a:rPr lang="en-IN" sz="2400" i="1">
                            <a:solidFill>
                              <a:srgbClr val="111827"/>
                            </a:solidFill>
                            <a:latin typeface="Cambria Math" panose="02040503050406030204" pitchFamily="18" charset="0"/>
                          </a:rPr>
                          <m:t>0</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Apply L'Hôpital's rule (differentiate numerator and denominator, using the chain rule), assuming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continuous at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normal </a:t>
                </a:r>
                <a:r>
                  <a:rPr lang="en-IN" sz="2400">
                    <a:solidFill>
                      <a:srgbClr val="111827"/>
                    </a:solidFill>
                    <a:latin typeface="Cambria Math" panose="02040503050406030204" pitchFamily="18" charset="0"/>
                  </a:rPr>
                  <a:t>$3x-y+3=0$</a:t>
                </a:r>
                <a:r>
                  <a:rPr sz="2400" b="0">
                    <a:solidFill>
                      <a:srgbClr val="111827"/>
                    </a:solidFill>
                    <a:latin typeface="Arial"/>
                  </a:rPr>
                  <a:t> has slope </a:t>
                </a:r>
                <a:r>
                  <a:rPr lang="en-IN" sz="2400">
                    <a:solidFill>
                      <a:srgbClr val="111827"/>
                    </a:solidFill>
                    <a:latin typeface="Cambria Math" panose="02040503050406030204" pitchFamily="18" charset="0"/>
                  </a:rPr>
                  <a:t>$3$</a:t>
                </a:r>
                <a:r>
                  <a:rPr sz="2400" b="0">
                    <a:solidFill>
                      <a:srgbClr val="111827"/>
                    </a:solidFill>
                    <a:latin typeface="Arial"/>
                  </a:rPr>
                  <a:t>, so the tangent at </a:t>
                </a:r>
                <a:r>
                  <a:rPr lang="en-IN" sz="2400">
                    <a:solidFill>
                      <a:srgbClr val="111827"/>
                    </a:solidFill>
                    <a:latin typeface="Cambria Math" panose="02040503050406030204" pitchFamily="18" charset="0"/>
                  </a:rPr>
                  <a:t>$x=0$</a:t>
                </a:r>
                <a:r>
                  <a:rPr sz="2400" b="0">
                    <a:solidFill>
                      <a:srgbClr val="111827"/>
                    </a:solidFill>
                    <a:latin typeface="Arial"/>
                  </a:rPr>
                  <a:t> has slope </a:t>
                </a:r>
                <a:r>
                  <a:rPr lang="en-IN" sz="2400">
                    <a:solidFill>
                      <a:srgbClr val="111827"/>
                    </a:solidFill>
                    <a:latin typeface="Cambria Math" panose="02040503050406030204" pitchFamily="18" charset="0"/>
                  </a:rPr>
                  <a:t>$f'(0)=-\frac{1}{3}$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$L=\lim_{x\to1}\frac{(x-1)^2}{f((x-1)^2)-5f(4(x-1)^2)+4f(7(x-1)^2)}$</a:t>
                </a:r>
                <a:r>
                  <a:rPr sz="2400" b="0">
                    <a:solidFill>
                      <a:srgbClr val="111827"/>
                    </a:solidFill>
                    <a:latin typeface="Arial"/>
                  </a:rPr>
                  <a:t>. At </a:t>
                </a:r>
                <a:r>
                  <a:rPr lang="en-IN" sz="2400">
                    <a:solidFill>
                      <a:srgbClr val="111827"/>
                    </a:solidFill>
                    <a:latin typeface="Cambria Math" panose="02040503050406030204" pitchFamily="18" charset="0"/>
                  </a:rPr>
                  <a:t>$x=1$</a:t>
                </a:r>
                <a:r>
                  <a:rPr sz="2400" b="0">
                    <a:solidFill>
                      <a:srgbClr val="111827"/>
                    </a:solidFill>
                    <a:latin typeface="Arial"/>
                  </a:rPr>
                  <a:t> the denominator is </a:t>
                </a:r>
                <a:r>
                  <a:rPr lang="en-IN" sz="2400">
                    <a:solidFill>
                      <a:srgbClr val="111827"/>
                    </a:solidFill>
                    <a:latin typeface="Cambria Math" panose="02040503050406030204" pitchFamily="18" charset="0"/>
                  </a:rPr>
                  <a:t>$f(0)(1-5+4)=0$</a:t>
                </a:r>
                <a:r>
                  <a:rPr sz="2400" b="0">
                    <a:solidFill>
                      <a:srgbClr val="111827"/>
                    </a:solidFill>
                    <a:latin typeface="Arial"/>
                  </a:rPr>
                  <a:t>, so the form is </a:t>
                </a:r>
                <a:r>
                  <a:rPr lang="en-IN" sz="2400">
                    <a:solidFill>
                      <a:srgbClr val="111827"/>
                    </a:solidFill>
                    <a:latin typeface="Cambria Math" panose="02040503050406030204" pitchFamily="18" charset="0"/>
                  </a:rPr>
                  <a:t>$\frac{0}{0}$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Apply L'Hôpital's rule (differentiate numerator and denominator, using the chain rule), assuming </a:t>
                </a:r>
                <a:r>
                  <a:rPr lang="en-IN" sz="2400">
                    <a:solidFill>
                      <a:srgbClr val="111827"/>
                    </a:solidFill>
                    <a:latin typeface="Cambria Math" panose="02040503050406030204" pitchFamily="18" charset="0"/>
                  </a:rPr>
                  <a:t>$f'$</a:t>
                </a:r>
                <a:r>
                  <a:rPr sz="2400" b="0">
                    <a:solidFill>
                      <a:srgbClr val="111827"/>
                    </a:solidFill>
                    <a:latin typeface="Arial"/>
                  </a:rPr>
                  <a:t> is continuous at </a:t>
                </a:r>
                <a:r>
                  <a:rPr lang="en-IN" sz="2400">
                    <a:solidFill>
                      <a:srgbClr val="111827"/>
                    </a:solidFill>
                    <a:latin typeface="Cambria Math" panose="02040503050406030204" pitchFamily="18" charset="0"/>
                  </a:rPr>
                  <a:t>$0$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Numerator: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Denominator: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Cancel the common factor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Numerator: </a:t>
                </a:r>
                <a:r>
                  <a:rPr lang="en-IN" sz="2400">
                    <a:solidFill>
                      <a:srgbClr val="111827"/>
                    </a:solidFill>
                    <a:latin typeface="Cambria Math" panose="02040503050406030204" pitchFamily="18" charset="0"/>
                  </a:rPr>
                  <a:t>$\frac{d}{dx}(x-1)^2=2(x-1)$</a:t>
                </a:r>
                <a:r>
                  <a:rPr sz="2400" b="0">
                    <a:solidFill>
                      <a:srgbClr val="111827"/>
                    </a:solidFill>
                    <a:latin typeface="Arial"/>
                  </a:rPr>
                  <a:t>. Denominator: </a:t>
                </a:r>
                <a:r>
                  <a:rPr lang="en-IN" sz="2400">
                    <a:solidFill>
                      <a:srgbClr val="111827"/>
                    </a:solidFill>
                    <a:latin typeface="Cambria Math" panose="02040503050406030204" pitchFamily="18" charset="0"/>
                  </a:rPr>
                  <a:t>$2(x-1)f'((x-1)^2)-40(x-1)f'(4(x-1)^2)+56(x-1)f'(7(x-1)^2)$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$L=\lim_{x\to1}\frac{2(x-1)}{2(x-1)f'((x-1)^2)-40(x-1)f'(4(x-1)^2)+56(x-1)f'(7(x-1)^2)}$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Cancel the common factor </a:t>
                </a:r>
                <a:r>
                  <a:rPr lang="en-IN" sz="2400">
                    <a:solidFill>
                      <a:srgbClr val="111827"/>
                    </a:solidFill>
                    <a:latin typeface="Cambria Math" panose="02040503050406030204" pitchFamily="18" charset="0"/>
                  </a:rPr>
                  <a:t>$(x-1)$</a:t>
                </a:r>
                <a:r>
                  <a:rPr sz="2400" b="0">
                    <a:solidFill>
                      <a:srgbClr val="111827"/>
                    </a:solidFill>
                    <a:latin typeface="Arial"/>
                  </a:rPr>
                  <a:t>: </a:t>
                </a:r>
                <a:r>
                  <a:rPr lang="en-IN" sz="2400">
                    <a:solidFill>
                      <a:srgbClr val="111827"/>
                    </a:solidFill>
                    <a:latin typeface="Cambria Math" panose="02040503050406030204" pitchFamily="18" charset="0"/>
                  </a:rPr>
                  <a:t>$L=\lim_{x\to1}\frac{2}{2f'((x-1)^2)-40f'(4(x-1)^2)+56f'(7(x-1)^2)}$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every argument tends to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Substitute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e>
                        </m: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28</m:t>
                            </m:r>
                          </m:num>
                          <m:den>
                            <m:r>
                              <a:rPr lang="en-IN" sz="2400" i="1">
                                <a:solidFill>
                                  <a:srgbClr val="111827"/>
                                </a:solidFill>
                                <a:latin typeface="Cambria Math" panose="02040503050406030204" pitchFamily="18" charset="0"/>
                              </a:rPr>
                              <m:t>3</m:t>
                            </m:r>
                          </m:den>
                        </m:f>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As </a:t>
                </a:r>
                <a:r>
                  <a:rPr lang="en-IN" sz="2400">
                    <a:solidFill>
                      <a:srgbClr val="111827"/>
                    </a:solidFill>
                    <a:latin typeface="Cambria Math" panose="02040503050406030204" pitchFamily="18" charset="0"/>
                  </a:rPr>
                  <a:t>$x\to1$</a:t>
                </a:r>
                <a:r>
                  <a:rPr sz="2400" b="0">
                    <a:solidFill>
                      <a:srgbClr val="111827"/>
                    </a:solidFill>
                    <a:latin typeface="Arial"/>
                  </a:rPr>
                  <a:t> every argument tends to </a:t>
                </a:r>
                <a:r>
                  <a:rPr lang="en-IN" sz="2400">
                    <a:solidFill>
                      <a:srgbClr val="111827"/>
                    </a:solidFill>
                    <a:latin typeface="Cambria Math" panose="02040503050406030204" pitchFamily="18" charset="0"/>
                  </a:rPr>
                  <a:t>$0$</a:t>
                </a:r>
                <a:r>
                  <a:rPr sz="2400" b="0">
                    <a:solidFill>
                      <a:srgbClr val="111827"/>
                    </a:solidFill>
                    <a:latin typeface="Arial"/>
                  </a:rPr>
                  <a:t>, so </a:t>
                </a:r>
                <a:r>
                  <a:rPr lang="en-IN" sz="2400">
                    <a:solidFill>
                      <a:srgbClr val="111827"/>
                    </a:solidFill>
                    <a:latin typeface="Cambria Math" panose="02040503050406030204" pitchFamily="18" charset="0"/>
                  </a:rPr>
                  <a:t>$L=\frac{2}{2f'(0)-40f'(0)+56f'(0)}=\frac{1}{f'(0)-20f'(0)+28f'(0)}$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Substitute </a:t>
                </a:r>
                <a:r>
                  <a:rPr lang="en-IN" sz="2400">
                    <a:solidFill>
                      <a:srgbClr val="111827"/>
                    </a:solidFill>
                    <a:latin typeface="Cambria Math" panose="02040503050406030204" pitchFamily="18" charset="0"/>
                  </a:rPr>
                  <a:t>$f'(0)=-\frac{1}{3}$</a:t>
                </a:r>
                <a:r>
                  <a:rPr sz="2400" b="0">
                    <a:solidFill>
                      <a:srgbClr val="111827"/>
                    </a:solidFill>
                    <a:latin typeface="Arial"/>
                  </a:rPr>
                  <a:t>: </a:t>
                </a:r>
                <a:r>
                  <a:rPr lang="en-IN" sz="2400">
                    <a:solidFill>
                      <a:srgbClr val="111827"/>
                    </a:solidFill>
                    <a:latin typeface="Cambria Math" panose="02040503050406030204" pitchFamily="18" charset="0"/>
                  </a:rPr>
                  <a:t>$L=\frac{1}{-\frac{1}{3}-20\left(-\frac{1}{3}\right)+28\left(-\frac{1}{3}\right)}$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$L=\frac{1}{-\frac{1}{3}+\frac{20}{3}-\frac{28}{3}}=\frac{1}{-3}=-\frac{1}{3}$</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3</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$-\frac{1}{3}$</a:t>
                </a:r>
                <a:endParaRPr sz="2800">
                  <a:solidFill>
                    <a:srgbClr val="15803D"/>
                  </a:solidFill>
                </a:endParaRPr>
              </a:p>
            </p:txBody>
          </p:sp>
        </mc:Fallback>
      </mc:AlternateContent>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Put </a:t>
                </a:r>
                <a14:m>
                  <m:oMath xmlns:m="http://schemas.openxmlformats.org/officeDocument/2006/math">
                    <m:r>
                      <a:rPr lang="en-IN" sz="2400" i="1">
                        <a:solidFill>
                          <a:srgbClr val="78350F"/>
                        </a:solidFill>
                        <a:latin typeface="Cambria Math" panose="02040503050406030204" pitchFamily="18" charset="0"/>
                      </a:rPr>
                      <m:t>ℎ</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and use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𝑢</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𝑢</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𝑜</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𝑢</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the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terms cancel because </a:t>
                </a:r>
                <a14:m>
                  <m:oMath xmlns:m="http://schemas.openxmlformats.org/officeDocument/2006/math">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Put </a:t>
                </a:r>
                <a:r>
                  <a:rPr lang="en-IN" sz="2400">
                    <a:solidFill>
                      <a:srgbClr val="78350F"/>
                    </a:solidFill>
                    <a:latin typeface="Cambria Math" panose="02040503050406030204" pitchFamily="18" charset="0"/>
                  </a:rPr>
                  <a:t>$h=(x-1)^2\to0$</a:t>
                </a:r>
                <a:r>
                  <a:rPr sz="2400" b="0">
                    <a:solidFill>
                      <a:srgbClr val="78350F"/>
                    </a:solidFill>
                    <a:latin typeface="Arial"/>
                  </a:rPr>
                  <a:t> and use </a:t>
                </a:r>
                <a:r>
                  <a:rPr lang="en-IN" sz="2400">
                    <a:solidFill>
                      <a:srgbClr val="78350F"/>
                    </a:solidFill>
                    <a:latin typeface="Cambria Math" panose="02040503050406030204" pitchFamily="18" charset="0"/>
                  </a:rPr>
                  <a:t>$f(u)=f(0)+f'(0)u+o(u)$</a:t>
                </a:r>
                <a:r>
                  <a:rPr sz="2400" b="0">
                    <a:solidFill>
                      <a:srgbClr val="78350F"/>
                    </a:solidFill>
                    <a:latin typeface="Arial"/>
                  </a:rPr>
                  <a:t>; the </a:t>
                </a:r>
                <a:r>
                  <a:rPr lang="en-IN" sz="2400">
                    <a:solidFill>
                      <a:srgbClr val="78350F"/>
                    </a:solidFill>
                    <a:latin typeface="Cambria Math" panose="02040503050406030204" pitchFamily="18" charset="0"/>
                  </a:rPr>
                  <a:t>$f(0)$</a:t>
                </a:r>
                <a:r>
                  <a:rPr sz="2400" b="0">
                    <a:solidFill>
                      <a:srgbClr val="78350F"/>
                    </a:solidFill>
                    <a:latin typeface="Arial"/>
                  </a:rPr>
                  <a:t> terms cancel because </a:t>
                </a:r>
                <a:r>
                  <a:rPr lang="en-IN" sz="2400">
                    <a:solidFill>
                      <a:srgbClr val="78350F"/>
                    </a:solidFill>
                    <a:latin typeface="Cambria Math" panose="02040503050406030204" pitchFamily="18" charset="0"/>
                  </a:rPr>
                  <a:t>$1-5+4=0$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The limit becomes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0</m:t>
                            </m:r>
                          </m:e>
                          <m:sup>
                            <m:r>
                              <m:rPr>
                                <m:sty m:val="p"/>
                              </m:rPr>
                              <a:rPr lang="en-IN" sz="2400">
                                <a:solidFill>
                                  <a:srgbClr val="111827"/>
                                </a:solidFill>
                                <a:latin typeface="Cambria Math" panose="02040503050406030204" pitchFamily="18" charset="0"/>
                              </a:rPr>
                              <m:t>+</m:t>
                            </m:r>
                          </m:sup>
                        </m:sSup>
                      </m:sub>
                    </m:sSub>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ℎ</m:t>
                        </m:r>
                      </m:num>
                      <m:den>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differentiable at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𝑜</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ℎ</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𝑜</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𝑜</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$h=(x-1)^2\to0^+$</a:t>
                </a:r>
                <a:r>
                  <a:rPr sz="2400" b="0">
                    <a:solidFill>
                      <a:srgbClr val="111827"/>
                    </a:solidFill>
                    <a:latin typeface="Arial"/>
                  </a:rPr>
                  <a:t>. The limit becomes </a:t>
                </a:r>
                <a:r>
                  <a:rPr lang="en-IN" sz="2400">
                    <a:solidFill>
                      <a:srgbClr val="111827"/>
                    </a:solidFill>
                    <a:latin typeface="Cambria Math" panose="02040503050406030204" pitchFamily="18" charset="0"/>
                  </a:rPr>
                  <a:t>$\lim_{h\to0^+}\frac{h}{f(h)-5f(4h)+4f(7h)}$</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a:t>
                </a:r>
                <a:r>
                  <a:rPr sz="2400" b="0">
                    <a:solidFill>
                      <a:srgbClr val="111827"/>
                    </a:solidFill>
                    <a:latin typeface="Arial"/>
                  </a:rPr>
                  <a:t> is differentiable at </a:t>
                </a:r>
                <a:r>
                  <a:rPr lang="en-IN" sz="2400">
                    <a:solidFill>
                      <a:srgbClr val="111827"/>
                    </a:solidFill>
                    <a:latin typeface="Cambria Math" panose="02040503050406030204" pitchFamily="18" charset="0"/>
                  </a:rPr>
                  <a:t>$0$</a:t>
                </a:r>
                <a:r>
                  <a:rPr sz="2400" b="0">
                    <a:solidFill>
                      <a:srgbClr val="111827"/>
                    </a:solidFill>
                    <a:latin typeface="Arial"/>
                  </a:rPr>
                  <a:t>, so </a:t>
                </a:r>
                <a:r>
                  <a:rPr lang="en-IN" sz="2400">
                    <a:solidFill>
                      <a:srgbClr val="111827"/>
                    </a:solidFill>
                    <a:latin typeface="Cambria Math" panose="02040503050406030204" pitchFamily="18" charset="0"/>
                  </a:rPr>
                  <a:t>$f(u)=f(0)+f'(0)u+o(u)$</a:t>
                </a:r>
                <a:r>
                  <a:rPr sz="2400" b="0">
                    <a:solidFill>
                      <a:srgbClr val="111827"/>
                    </a:solidFill>
                    <a:latin typeface="Arial"/>
                  </a:rPr>
                  <a:t> as </a:t>
                </a:r>
                <a:r>
                  <a:rPr lang="en-IN" sz="2400">
                    <a:solidFill>
                      <a:srgbClr val="111827"/>
                    </a:solidFill>
                    <a:latin typeface="Cambria Math" panose="02040503050406030204" pitchFamily="18" charset="0"/>
                  </a:rPr>
                  <a:t>$u\to0$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$f(h)-5f(4h)+4f(7h)=f(0)(1-5+4)+f'(0)\,h\,(1-20+28)+o(h)=9f'(0)\,h+o(h)$</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the limit equals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0</m:t>
                            </m:r>
                          </m:e>
                          <m:sup>
                            <m:r>
                              <m:rPr>
                                <m:sty m:val="p"/>
                              </m:rPr>
                              <a:rPr lang="en-IN" sz="2400">
                                <a:solidFill>
                                  <a:srgbClr val="111827"/>
                                </a:solidFill>
                                <a:latin typeface="Cambria Math" panose="02040503050406030204" pitchFamily="18" charset="0"/>
                              </a:rPr>
                              <m:t>+</m:t>
                            </m:r>
                          </m:sup>
                        </m:sSup>
                      </m:sub>
                    </m:sSub>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ℎ</m:t>
                        </m:r>
                      </m:num>
                      <m:den>
                        <m:r>
                          <a:rPr lang="en-IN" sz="2400" i="1">
                            <a:solidFill>
                              <a:srgbClr val="111827"/>
                            </a:solidFill>
                            <a:latin typeface="Cambria Math" panose="02040503050406030204" pitchFamily="18" charset="0"/>
                          </a:rPr>
                          <m:t>9</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𝑜</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9</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(slope of the normal is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the limit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needs only differentiability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not continuity of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the limit equals </a:t>
                </a:r>
                <a:r>
                  <a:rPr lang="en-IN" sz="2400">
                    <a:solidFill>
                      <a:srgbClr val="111827"/>
                    </a:solidFill>
                    <a:latin typeface="Cambria Math" panose="02040503050406030204" pitchFamily="18" charset="0"/>
                  </a:rPr>
                  <a:t>$\lim_{h\to0^+}\frac{h}{9f'(0)h+o(h)}=\frac{1}{9f'(0)}$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$f'(0)=-\frac{1}{3}$</a:t>
                </a:r>
                <a:r>
                  <a:rPr sz="2400" b="0">
                    <a:solidFill>
                      <a:srgbClr val="111827"/>
                    </a:solidFill>
                    <a:latin typeface="Arial"/>
                  </a:rPr>
                  <a:t> (slope of the normal is </a:t>
                </a:r>
                <a:r>
                  <a:rPr lang="en-IN" sz="2400">
                    <a:solidFill>
                      <a:srgbClr val="111827"/>
                    </a:solidFill>
                    <a:latin typeface="Cambria Math" panose="02040503050406030204" pitchFamily="18" charset="0"/>
                  </a:rPr>
                  <a:t>$3$</a:t>
                </a:r>
                <a:r>
                  <a:rPr sz="2400" b="0">
                    <a:solidFill>
                      <a:srgbClr val="111827"/>
                    </a:solidFill>
                    <a:latin typeface="Arial"/>
                  </a:rPr>
                  <a:t>), the limit is </a:t>
                </a:r>
                <a:r>
                  <a:rPr lang="en-IN" sz="2400">
                    <a:solidFill>
                      <a:srgbClr val="111827"/>
                    </a:solidFill>
                    <a:latin typeface="Cambria Math" panose="02040503050406030204" pitchFamily="18" charset="0"/>
                  </a:rPr>
                  <a:t>$\frac{1}{9\cdot(-1/3)}=-\frac{1}{3}$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needs only differentiability of </a:t>
                </a:r>
                <a:r>
                  <a:rPr lang="en-IN" sz="2400">
                    <a:solidFill>
                      <a:srgbClr val="111827"/>
                    </a:solidFill>
                    <a:latin typeface="Cambria Math" panose="02040503050406030204" pitchFamily="18" charset="0"/>
                  </a:rPr>
                  <a:t>$f$</a:t>
                </a:r>
                <a:r>
                  <a:rPr sz="2400" b="0">
                    <a:solidFill>
                      <a:srgbClr val="111827"/>
                    </a:solidFill>
                    <a:latin typeface="Arial"/>
                  </a:rPr>
                  <a:t> at </a:t>
                </a:r>
                <a:r>
                  <a:rPr lang="en-IN" sz="2400">
                    <a:solidFill>
                      <a:srgbClr val="111827"/>
                    </a:solidFill>
                    <a:latin typeface="Cambria Math" panose="02040503050406030204" pitchFamily="18" charset="0"/>
                  </a:rPr>
                  <a:t>$0$</a:t>
                </a:r>
                <a:r>
                  <a:rPr sz="2400" b="0">
                    <a:solidFill>
                      <a:srgbClr val="111827"/>
                    </a:solidFill>
                    <a:latin typeface="Arial"/>
                  </a:rPr>
                  <a:t>, not continuity of </a:t>
                </a:r>
                <a:r>
                  <a:rPr lang="en-IN" sz="2400">
                    <a:solidFill>
                      <a:srgbClr val="111827"/>
                    </a:solidFill>
                    <a:latin typeface="Cambria Math" panose="02040503050406030204" pitchFamily="18" charset="0"/>
                  </a:rPr>
                  <a:t>$f'$</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14:m>
                  <m:oMath xmlns:m="http://schemas.openxmlformats.org/officeDocument/2006/math">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3</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r>
                  <a:rPr lang="en-IN" sz="2800">
                    <a:solidFill>
                      <a:srgbClr val="15803D"/>
                    </a:solidFill>
                    <a:latin typeface="Cambria Math" panose="02040503050406030204" pitchFamily="18" charset="0"/>
                  </a:rPr>
                  <a:t>$-\frac{1}{3}$</a:t>
                </a:r>
                <a:endParaRPr sz="2800">
                  <a:solidFill>
                    <a:srgbClr val="15803D"/>
                  </a:solidFill>
                </a:endParaRPr>
              </a:p>
            </p:txBody>
          </p:sp>
        </mc:Fallback>
      </mc:AlternateContent>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differentiable at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𝑜</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𝑖</m:t>
                        </m:r>
                      </m:sub>
                    </m:sSub>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𝑖</m:t>
                        </m:r>
                      </m:sub>
                    </m:sSub>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𝑖</m:t>
                        </m:r>
                      </m:sub>
                    </m:sSub>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𝑜</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terms cancel and the combination behaves like </a:t>
                </a:r>
                <a14:m>
                  <m:oMath xmlns:m="http://schemas.openxmlformats.org/officeDocument/2006/math">
                    <m:r>
                      <a:rPr lang="en-IN" sz="2400" i="1">
                        <a:solidFill>
                          <a:srgbClr val="111827"/>
                        </a:solidFill>
                        <a:latin typeface="Cambria Math" panose="02040503050406030204" pitchFamily="18" charset="0"/>
                      </a:rPr>
                      <m:t>ℎ</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𝑖</m:t>
                        </m:r>
                      </m:sub>
                    </m:sSub>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Here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𝑖</m:t>
                        </m:r>
                      </m:sub>
                    </m:sSub>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tangent slope at a point is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normal slope is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𝑚</m:t>
                        </m:r>
                      </m:den>
                    </m:f>
                  </m:oMath>
                </a14:m>
                <a:r>
                  <a:rPr sz="2400" b="0">
                    <a:solidFill>
                      <a:srgbClr val="111827"/>
                    </a:solidFill>
                    <a:latin typeface="Arial"/>
                  </a:rPr>
                  <a:t>; a normal of slope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means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L'Hôpital's rule needs the limit of the ratio of derivatives to exist (here: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continuous at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the chain rule gives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$f$</a:t>
                </a:r>
                <a:r>
                  <a:rPr sz="2400" b="0">
                    <a:solidFill>
                      <a:srgbClr val="111827"/>
                    </a:solidFill>
                    <a:latin typeface="Arial"/>
                  </a:rPr>
                  <a:t> is differentiable at </a:t>
                </a:r>
                <a:r>
                  <a:rPr lang="en-IN" sz="2400">
                    <a:solidFill>
                      <a:srgbClr val="111827"/>
                    </a:solidFill>
                    <a:latin typeface="Cambria Math" panose="02040503050406030204" pitchFamily="18" charset="0"/>
                  </a:rPr>
                  <a:t>$0$</a:t>
                </a:r>
                <a:r>
                  <a:rPr sz="2400" b="0">
                    <a:solidFill>
                      <a:srgbClr val="111827"/>
                    </a:solidFill>
                    <a:latin typeface="Arial"/>
                  </a:rPr>
                  <a:t>, then </a:t>
                </a:r>
                <a:r>
                  <a:rPr lang="en-IN" sz="2400">
                    <a:solidFill>
                      <a:srgbClr val="111827"/>
                    </a:solidFill>
                    <a:latin typeface="Cambria Math" panose="02040503050406030204" pitchFamily="18" charset="0"/>
                  </a:rPr>
                  <a:t>$f(ch)=f(0)+cf'(0)h+o(h)$</a:t>
                </a:r>
                <a:r>
                  <a:rPr sz="2400" b="0">
                    <a:solidFill>
                      <a:srgbClr val="111827"/>
                    </a:solidFill>
                    <a:latin typeface="Arial"/>
                  </a:rPr>
                  <a:t>; so </a:t>
                </a:r>
                <a:r>
                  <a:rPr lang="en-IN" sz="2400">
                    <a:solidFill>
                      <a:srgbClr val="111827"/>
                    </a:solidFill>
                    <a:latin typeface="Cambria Math" panose="02040503050406030204" pitchFamily="18" charset="0"/>
                  </a:rPr>
                  <a:t>$\sum a_if(c_ih)=f(0)\sum a_i+f'(0)h\sum a_ic_i+o(h)$</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a:t>
                </a:r>
                <a:r>
                  <a:rPr lang="en-IN" sz="2400">
                    <a:solidFill>
                      <a:srgbClr val="111827"/>
                    </a:solidFill>
                    <a:latin typeface="Cambria Math" panose="02040503050406030204" pitchFamily="18" charset="0"/>
                  </a:rPr>
                  <a:t>$\sum a_i=0$</a:t>
                </a:r>
                <a:r>
                  <a:rPr sz="2400" b="0">
                    <a:solidFill>
                      <a:srgbClr val="111827"/>
                    </a:solidFill>
                    <a:latin typeface="Arial"/>
                  </a:rPr>
                  <a:t> the </a:t>
                </a:r>
                <a:r>
                  <a:rPr lang="en-IN" sz="2400">
                    <a:solidFill>
                      <a:srgbClr val="111827"/>
                    </a:solidFill>
                    <a:latin typeface="Cambria Math" panose="02040503050406030204" pitchFamily="18" charset="0"/>
                  </a:rPr>
                  <a:t>$f(0)$</a:t>
                </a:r>
                <a:r>
                  <a:rPr sz="2400" b="0">
                    <a:solidFill>
                      <a:srgbClr val="111827"/>
                    </a:solidFill>
                    <a:latin typeface="Arial"/>
                  </a:rPr>
                  <a:t> terms cancel and the combination behaves like </a:t>
                </a:r>
                <a:r>
                  <a:rPr lang="en-IN" sz="2400">
                    <a:solidFill>
                      <a:srgbClr val="111827"/>
                    </a:solidFill>
                    <a:latin typeface="Cambria Math" panose="02040503050406030204" pitchFamily="18" charset="0"/>
                  </a:rPr>
                  <a:t>$h\,f'(0)\sum a_ic_i$</a:t>
                </a:r>
                <a:r>
                  <a:rPr sz="2400" b="0">
                    <a:solidFill>
                      <a:srgbClr val="111827"/>
                    </a:solidFill>
                    <a:latin typeface="Arial"/>
                  </a:rPr>
                  <a:t>. Here </a:t>
                </a:r>
                <a:r>
                  <a:rPr lang="en-IN" sz="2400">
                    <a:solidFill>
                      <a:srgbClr val="111827"/>
                    </a:solidFill>
                    <a:latin typeface="Cambria Math" panose="02040503050406030204" pitchFamily="18" charset="0"/>
                  </a:rPr>
                  <a:t>$\sum a_ic_i=1-20+28=9$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tangent slope at a point is </a:t>
                </a:r>
                <a:r>
                  <a:rPr lang="en-IN" sz="2400">
                    <a:solidFill>
                      <a:srgbClr val="111827"/>
                    </a:solidFill>
                    <a:latin typeface="Cambria Math" panose="02040503050406030204" pitchFamily="18" charset="0"/>
                  </a:rPr>
                  <a:t>$m\ne0$</a:t>
                </a:r>
                <a:r>
                  <a:rPr sz="2400" b="0">
                    <a:solidFill>
                      <a:srgbClr val="111827"/>
                    </a:solidFill>
                    <a:latin typeface="Arial"/>
                  </a:rPr>
                  <a:t>, the normal slope is </a:t>
                </a:r>
                <a:r>
                  <a:rPr lang="en-IN" sz="2400">
                    <a:solidFill>
                      <a:srgbClr val="111827"/>
                    </a:solidFill>
                    <a:latin typeface="Cambria Math" panose="02040503050406030204" pitchFamily="18" charset="0"/>
                  </a:rPr>
                  <a:t>$-\frac{1}{m}$</a:t>
                </a:r>
                <a:r>
                  <a:rPr sz="2400" b="0">
                    <a:solidFill>
                      <a:srgbClr val="111827"/>
                    </a:solidFill>
                    <a:latin typeface="Arial"/>
                  </a:rPr>
                  <a:t>; a normal of slope </a:t>
                </a:r>
                <a:r>
                  <a:rPr lang="en-IN" sz="2400">
                    <a:solidFill>
                      <a:srgbClr val="111827"/>
                    </a:solidFill>
                    <a:latin typeface="Cambria Math" panose="02040503050406030204" pitchFamily="18" charset="0"/>
                  </a:rPr>
                  <a:t>$3$</a:t>
                </a:r>
                <a:r>
                  <a:rPr sz="2400" b="0">
                    <a:solidFill>
                      <a:srgbClr val="111827"/>
                    </a:solidFill>
                    <a:latin typeface="Arial"/>
                  </a:rPr>
                  <a:t> means </a:t>
                </a:r>
                <a:r>
                  <a:rPr lang="en-IN" sz="2400">
                    <a:solidFill>
                      <a:srgbClr val="111827"/>
                    </a:solidFill>
                    <a:latin typeface="Cambria Math" panose="02040503050406030204" pitchFamily="18" charset="0"/>
                  </a:rPr>
                  <a:t>$f'(0)=-\frac{1}{3}$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L'Hôpital's rule needs the limit of the ratio of derivatives to exist (here: </a:t>
                </a:r>
                <a:r>
                  <a:rPr lang="en-IN" sz="2400">
                    <a:solidFill>
                      <a:srgbClr val="111827"/>
                    </a:solidFill>
                    <a:latin typeface="Cambria Math" panose="02040503050406030204" pitchFamily="18" charset="0"/>
                  </a:rPr>
                  <a:t>$f'$</a:t>
                </a:r>
                <a:r>
                  <a:rPr sz="2400" b="0">
                    <a:solidFill>
                      <a:srgbClr val="111827"/>
                    </a:solidFill>
                    <a:latin typeface="Arial"/>
                  </a:rPr>
                  <a:t> continuous at </a:t>
                </a:r>
                <a:r>
                  <a:rPr lang="en-IN" sz="2400">
                    <a:solidFill>
                      <a:srgbClr val="111827"/>
                    </a:solidFill>
                    <a:latin typeface="Cambria Math" panose="02040503050406030204" pitchFamily="18" charset="0"/>
                  </a:rPr>
                  <a:t>$0$</a:t>
                </a:r>
                <a:r>
                  <a:rPr sz="2400" b="0">
                    <a:solidFill>
                      <a:srgbClr val="111827"/>
                    </a:solidFill>
                    <a:latin typeface="Arial"/>
                  </a:rPr>
                  <a:t>); the chain rule gives </a:t>
                </a:r>
                <a:r>
                  <a:rPr lang="en-IN" sz="2400">
                    <a:solidFill>
                      <a:srgbClr val="111827"/>
                    </a:solidFill>
                    <a:latin typeface="Cambria Math" panose="02040503050406030204" pitchFamily="18" charset="0"/>
                  </a:rPr>
                  <a:t>$\frac{d}{dx}f(c(x-1)^2)=2c(x-1)f'(c(x-1)^2)$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81660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be any twice differentiable function such that its second derivative is continuous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If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oMath>
                </a14:m>
                <a:r>
                  <a:rPr sz="2400" b="0">
                    <a:solidFill>
                      <a:srgbClr val="111827"/>
                    </a:solidFill>
                    <a:latin typeface="Arial"/>
                  </a:rPr>
                  <a:t>, then: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for all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(B) for all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(C) for all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𝑑</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(D) for all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𝑑</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endParaRPr sz="2400">
                  <a:solidFill>
                    <a:srgbClr val="111827"/>
                  </a:solidFill>
                </a:endParaRPr>
              </a:p>
            </p:txBody>
          </p:sp>
        </mc:Choice>
        <mc:Fallback>
          <p:sp>
            <p:nvSpPr>
              <p:cNvPr id="4" name="Rounded Rectangle 3"/>
              <p:cNvSpPr/>
              <p:nvPr/>
            </p:nvSpPr>
            <p:spPr>
              <a:xfrm>
                <a:off x="731520" y="1280160"/>
                <a:ext cx="10725912" cy="381660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$f:\mathbb{R}\to\mathbb{R}$</a:t>
                </a:r>
                <a:r>
                  <a:rPr sz="2400" b="0">
                    <a:solidFill>
                      <a:srgbClr val="111827"/>
                    </a:solidFill>
                    <a:latin typeface="Arial"/>
                  </a:rPr>
                  <a:t> be any twice differentiable function such that its second derivative is continuous and </a:t>
                </a:r>
                <a:r>
                  <a:rPr lang="en-IN" sz="2400">
                    <a:solidFill>
                      <a:srgbClr val="111827"/>
                    </a:solidFill>
                    <a:latin typeface="Cambria Math" panose="02040503050406030204" pitchFamily="18" charset="0"/>
                  </a:rPr>
                  <a:t>$\frac{df(x)}{dx}\neq0$</a:t>
                </a:r>
                <a:r>
                  <a:rPr sz="2400" b="0">
                    <a:solidFill>
                      <a:srgbClr val="111827"/>
                    </a:solidFill>
                    <a:latin typeface="Arial"/>
                  </a:rPr>
                  <a:t> for all </a:t>
                </a:r>
                <a:r>
                  <a:rPr lang="en-IN" sz="2400">
                    <a:solidFill>
                      <a:srgbClr val="111827"/>
                    </a:solidFill>
                    <a:latin typeface="Cambria Math" panose="02040503050406030204" pitchFamily="18" charset="0"/>
                  </a:rPr>
                  <a:t>$x\neq0$</a:t>
                </a:r>
                <a:r>
                  <a:rPr sz="2400" b="0">
                    <a:solidFill>
                      <a:srgbClr val="111827"/>
                    </a:solidFill>
                    <a:latin typeface="Arial"/>
                  </a:rPr>
                  <a:t>. If </a:t>
                </a:r>
                <a:r>
                  <a:rPr lang="en-IN" sz="2400">
                    <a:solidFill>
                      <a:srgbClr val="111827"/>
                    </a:solidFill>
                    <a:latin typeface="Cambria Math" panose="02040503050406030204" pitchFamily="18" charset="0"/>
                  </a:rPr>
                  <a:t>$\lim_{x\to0}\frac{f(x)}{x^2}=\pi$</a:t>
                </a:r>
                <a:r>
                  <a:rPr sz="2400" b="0">
                    <a:solidFill>
                      <a:srgbClr val="111827"/>
                    </a:solidFill>
                    <a:latin typeface="Arial"/>
                  </a:rPr>
                  <a:t>, then: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for all </a:t>
                </a:r>
                <a:r>
                  <a:rPr lang="en-IN" sz="2400">
                    <a:solidFill>
                      <a:srgbClr val="111827"/>
                    </a:solidFill>
                    <a:latin typeface="Cambria Math" panose="02040503050406030204" pitchFamily="18" charset="0"/>
                  </a:rPr>
                  <a:t>$x\neq0$</a:t>
                </a:r>
                <a:r>
                  <a:rPr sz="2400" b="0">
                    <a:solidFill>
                      <a:srgbClr val="111827"/>
                    </a:solidFill>
                    <a:latin typeface="Arial"/>
                  </a:rPr>
                  <a:t>, </a:t>
                </a:r>
                <a:r>
                  <a:rPr lang="en-IN" sz="2400">
                    <a:solidFill>
                      <a:srgbClr val="111827"/>
                    </a:solidFill>
                    <a:latin typeface="Cambria Math" panose="02040503050406030204" pitchFamily="18" charset="0"/>
                  </a:rPr>
                  <a:t>$f(x)&gt;f(0)$</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for all </a:t>
                </a:r>
                <a:r>
                  <a:rPr lang="en-IN" sz="2400">
                    <a:solidFill>
                      <a:srgbClr val="111827"/>
                    </a:solidFill>
                    <a:latin typeface="Cambria Math" panose="02040503050406030204" pitchFamily="18" charset="0"/>
                  </a:rPr>
                  <a:t>$x\neq0$</a:t>
                </a:r>
                <a:r>
                  <a:rPr sz="2400" b="0">
                    <a:solidFill>
                      <a:srgbClr val="111827"/>
                    </a:solidFill>
                    <a:latin typeface="Arial"/>
                  </a:rPr>
                  <a:t>, </a:t>
                </a:r>
                <a:r>
                  <a:rPr lang="en-IN" sz="2400">
                    <a:solidFill>
                      <a:srgbClr val="111827"/>
                    </a:solidFill>
                    <a:latin typeface="Cambria Math" panose="02040503050406030204" pitchFamily="18" charset="0"/>
                  </a:rPr>
                  <a:t>$f(x)&lt;f(0)$</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for all </a:t>
                </a:r>
                <a:r>
                  <a:rPr lang="en-IN" sz="2400">
                    <a:solidFill>
                      <a:srgbClr val="111827"/>
                    </a:solidFill>
                    <a:latin typeface="Cambria Math" panose="02040503050406030204" pitchFamily="18" charset="0"/>
                  </a:rPr>
                  <a:t>$x$</a:t>
                </a:r>
                <a:r>
                  <a:rPr sz="2400" b="0">
                    <a:solidFill>
                      <a:srgbClr val="111827"/>
                    </a:solidFill>
                    <a:latin typeface="Arial"/>
                  </a:rPr>
                  <a:t>, </a:t>
                </a:r>
                <a:r>
                  <a:rPr lang="en-IN" sz="2400">
                    <a:solidFill>
                      <a:srgbClr val="111827"/>
                    </a:solidFill>
                    <a:latin typeface="Cambria Math" panose="02040503050406030204" pitchFamily="18" charset="0"/>
                  </a:rPr>
                  <a:t>$\frac{d^2f(x)}{dx^2}&gt;0$</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for all </a:t>
                </a:r>
                <a:r>
                  <a:rPr lang="en-IN" sz="2400">
                    <a:solidFill>
                      <a:srgbClr val="111827"/>
                    </a:solidFill>
                    <a:latin typeface="Cambria Math" panose="02040503050406030204" pitchFamily="18" charset="0"/>
                  </a:rPr>
                  <a:t>$x$</a:t>
                </a:r>
                <a:r>
                  <a:rPr sz="2400" b="0">
                    <a:solidFill>
                      <a:srgbClr val="111827"/>
                    </a:solidFill>
                    <a:latin typeface="Arial"/>
                  </a:rPr>
                  <a:t>, </a:t>
                </a:r>
                <a:r>
                  <a:rPr lang="en-IN" sz="2400">
                    <a:solidFill>
                      <a:srgbClr val="111827"/>
                    </a:solidFill>
                    <a:latin typeface="Cambria Math" panose="02040503050406030204" pitchFamily="18" charset="0"/>
                  </a:rPr>
                  <a:t>$\frac{d^2f(x)}{dx^2}&lt;0$</a:t>
                </a:r>
                <a:endParaRPr sz="2400">
                  <a:solidFill>
                    <a:srgbClr val="111827"/>
                  </a:solidFill>
                </a:endParaRPr>
              </a:p>
            </p:txBody>
          </p:sp>
        </mc:Fallback>
      </mc:AlternateContent>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Monotonicity: constant sign of a non-vanishing derivative, Limits and differentiability at a point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continuous derivative that never vanishes keeps one sign on each side of </a:t>
                </a:r>
                <a14:m>
                  <m:oMath xmlns:m="http://schemas.openxmlformats.org/officeDocument/2006/math">
                    <m:r>
                      <a:rPr lang="en-IN" sz="2400" i="1">
                        <a:solidFill>
                          <a:srgbClr val="78350F"/>
                        </a:solidFill>
                        <a:latin typeface="Cambria Math" panose="02040503050406030204" pitchFamily="18" charset="0"/>
                      </a:rPr>
                      <m:t>0</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&gt;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&gt;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near </a:t>
                </a:r>
                <a14:m>
                  <m:oMath xmlns:m="http://schemas.openxmlformats.org/officeDocument/2006/math">
                    <m:r>
                      <a:rPr lang="en-IN" sz="2400" i="1">
                        <a:solidFill>
                          <a:srgbClr val="78350F"/>
                        </a:solidFill>
                        <a:latin typeface="Cambria Math" panose="02040503050406030204" pitchFamily="18" charset="0"/>
                      </a:rPr>
                      <m:t>0</m:t>
                    </m:r>
                  </m:oMath>
                </a14:m>
                <a:r>
                  <a:rPr sz="2400" b="0">
                    <a:solidFill>
                      <a:srgbClr val="78350F"/>
                    </a:solidFill>
                    <a:latin typeface="Arial"/>
                  </a:rPr>
                  <a:t> fixes those signs.</a:t>
                </a:r>
                <a:endParaRPr sz="2400">
                  <a:solidFill>
                    <a:srgbClr val="78350F"/>
                  </a:solidFill>
                </a:endParaRPr>
              </a:p>
            </p:txBody>
          </p:sp>
        </mc:Choice>
        <mc:Fallback>
          <p:sp>
            <p:nvSpPr>
              <p:cNvPr id="5" name="Rounded Rectangle 4"/>
              <p:cNvSpPr/>
              <p:nvPr/>
            </p:nvSpPr>
            <p:spPr>
              <a:xfrm>
                <a:off x="731520" y="3438144"/>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continuous derivative that never vanishes keeps one sign on each side of </a:t>
                </a:r>
                <a:r>
                  <a:rPr lang="en-IN" sz="2400">
                    <a:solidFill>
                      <a:srgbClr val="78350F"/>
                    </a:solidFill>
                    <a:latin typeface="Cambria Math" panose="02040503050406030204" pitchFamily="18" charset="0"/>
                  </a:rPr>
                  <a:t>$0$</a:t>
                </a:r>
                <a:r>
                  <a:rPr sz="2400" b="0">
                    <a:solidFill>
                      <a:srgbClr val="78350F"/>
                    </a:solidFill>
                    <a:latin typeface="Arial"/>
                  </a:rPr>
                  <a:t>, and </a:t>
                </a:r>
                <a:r>
                  <a:rPr lang="en-IN" sz="2400">
                    <a:solidFill>
                      <a:srgbClr val="78350F"/>
                    </a:solidFill>
                    <a:latin typeface="Cambria Math" panose="02040503050406030204" pitchFamily="18" charset="0"/>
                  </a:rPr>
                  <a:t>$f(x)&gt;x^2&gt;0=f(0)$</a:t>
                </a:r>
                <a:r>
                  <a:rPr sz="2400" b="0">
                    <a:solidFill>
                      <a:srgbClr val="78350F"/>
                    </a:solidFill>
                    <a:latin typeface="Arial"/>
                  </a:rPr>
                  <a:t> near </a:t>
                </a:r>
                <a:r>
                  <a:rPr lang="en-IN" sz="2400">
                    <a:solidFill>
                      <a:srgbClr val="78350F"/>
                    </a:solidFill>
                    <a:latin typeface="Cambria Math" panose="02040503050406030204" pitchFamily="18" charset="0"/>
                  </a:rPr>
                  <a:t>$0$</a:t>
                </a:r>
                <a:r>
                  <a:rPr sz="2400" b="0">
                    <a:solidFill>
                      <a:srgbClr val="78350F"/>
                    </a:solidFill>
                    <a:latin typeface="Arial"/>
                  </a:rPr>
                  <a:t> fixes those signs.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5056632"/>
                <a:ext cx="10725912" cy="16184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oMath>
                </a14:m>
                <a:r>
                  <a:rPr sz="2400" b="0">
                    <a:solidFill>
                      <a:srgbClr val="111827"/>
                    </a:solidFill>
                    <a:latin typeface="Arial"/>
                  </a:rPr>
                  <a:t> is finite, 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(otherwise the limit would not exist in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5056632"/>
                <a:ext cx="10725912" cy="16184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$\lim_{x\to0}\frac{f(x)}{x^2}=\pi$</a:t>
                </a:r>
                <a:r>
                  <a:rPr sz="2400" b="0">
                    <a:solidFill>
                      <a:srgbClr val="111827"/>
                    </a:solidFill>
                    <a:latin typeface="Arial"/>
                  </a:rPr>
                  <a:t> is finite, so </a:t>
                </a:r>
                <a:r>
                  <a:rPr lang="en-IN" sz="2400">
                    <a:solidFill>
                      <a:srgbClr val="111827"/>
                    </a:solidFill>
                    <a:latin typeface="Cambria Math" panose="02040503050406030204" pitchFamily="18" charset="0"/>
                  </a:rPr>
                  <a:t>$f(0)=0$</a:t>
                </a:r>
                <a:r>
                  <a:rPr sz="2400" b="0">
                    <a:solidFill>
                      <a:srgbClr val="111827"/>
                    </a:solidFill>
                    <a:latin typeface="Arial"/>
                  </a:rPr>
                  <a:t> (otherwise the limit would not exist in </a:t>
                </a:r>
                <a:r>
                  <a:rPr lang="en-IN" sz="2400">
                    <a:solidFill>
                      <a:srgbClr val="111827"/>
                    </a:solidFill>
                    <a:latin typeface="Cambria Math" panose="02040503050406030204" pitchFamily="18" charset="0"/>
                  </a:rPr>
                  <a:t>$\mathbb{R}$</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there is </a:t>
                </a:r>
                <a14:m>
                  <m:oMath xmlns:m="http://schemas.openxmlformats.org/officeDocument/2006/math">
                    <m:r>
                      <a:rPr lang="en-IN" sz="2400" i="1">
                        <a:solidFill>
                          <a:srgbClr val="111827"/>
                        </a:solidFill>
                        <a:latin typeface="Cambria Math" panose="02040503050406030204" pitchFamily="18" charset="0"/>
                      </a:rPr>
                      <m:t>ϵ</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such that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continuous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by the intermediate value theorem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keeps one sign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one sign 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the mean value theorem gives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for some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on all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increasing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every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$\pi&gt;1$</a:t>
                </a:r>
                <a:r>
                  <a:rPr sz="2400" b="0">
                    <a:solidFill>
                      <a:srgbClr val="111827"/>
                    </a:solidFill>
                    <a:latin typeface="Arial"/>
                  </a:rPr>
                  <a:t>, there is </a:t>
                </a:r>
                <a:r>
                  <a:rPr lang="en-IN" sz="2400">
                    <a:solidFill>
                      <a:srgbClr val="111827"/>
                    </a:solidFill>
                    <a:latin typeface="Cambria Math" panose="02040503050406030204" pitchFamily="18" charset="0"/>
                  </a:rPr>
                  <a:t>$\epsilon&gt;0$</a:t>
                </a:r>
                <a:r>
                  <a:rPr sz="2400" b="0">
                    <a:solidFill>
                      <a:srgbClr val="111827"/>
                    </a:solidFill>
                    <a:latin typeface="Arial"/>
                  </a:rPr>
                  <a:t> such that </a:t>
                </a:r>
                <a:r>
                  <a:rPr lang="en-IN" sz="2400">
                    <a:solidFill>
                      <a:srgbClr val="111827"/>
                    </a:solidFill>
                    <a:latin typeface="Cambria Math" panose="02040503050406030204" pitchFamily="18" charset="0"/>
                  </a:rPr>
                  <a:t>$f(x)&gt;x^2&gt;0$</a:t>
                </a:r>
                <a:r>
                  <a:rPr sz="2400" b="0">
                    <a:solidFill>
                      <a:srgbClr val="111827"/>
                    </a:solidFill>
                    <a:latin typeface="Arial"/>
                  </a:rPr>
                  <a:t> for all </a:t>
                </a:r>
                <a:r>
                  <a:rPr lang="en-IN" sz="2400">
                    <a:solidFill>
                      <a:srgbClr val="111827"/>
                    </a:solidFill>
                    <a:latin typeface="Cambria Math" panose="02040503050406030204" pitchFamily="18" charset="0"/>
                  </a:rPr>
                  <a:t>$x\in(-\epsilon,\epsilon)\setminus\{0\}$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a:t>
                </a:r>
                <a:r>
                  <a:rPr sz="2400" b="0">
                    <a:solidFill>
                      <a:srgbClr val="111827"/>
                    </a:solidFill>
                    <a:latin typeface="Arial"/>
                  </a:rPr>
                  <a:t> is continuous and </a:t>
                </a:r>
                <a:r>
                  <a:rPr lang="en-IN" sz="2400">
                    <a:solidFill>
                      <a:srgbClr val="111827"/>
                    </a:solidFill>
                    <a:latin typeface="Cambria Math" panose="02040503050406030204" pitchFamily="18" charset="0"/>
                  </a:rPr>
                  <a:t>$f'(x)\neq0$</a:t>
                </a:r>
                <a:r>
                  <a:rPr sz="2400" b="0">
                    <a:solidFill>
                      <a:srgbClr val="111827"/>
                    </a:solidFill>
                    <a:latin typeface="Arial"/>
                  </a:rPr>
                  <a:t> for </a:t>
                </a:r>
                <a:r>
                  <a:rPr lang="en-IN" sz="2400">
                    <a:solidFill>
                      <a:srgbClr val="111827"/>
                    </a:solidFill>
                    <a:latin typeface="Cambria Math" panose="02040503050406030204" pitchFamily="18" charset="0"/>
                  </a:rPr>
                  <a:t>$x\neq0$</a:t>
                </a:r>
                <a:r>
                  <a:rPr sz="2400" b="0">
                    <a:solidFill>
                      <a:srgbClr val="111827"/>
                    </a:solidFill>
                    <a:latin typeface="Arial"/>
                  </a:rPr>
                  <a:t>, so by the intermediate value theorem </a:t>
                </a:r>
                <a:r>
                  <a:rPr lang="en-IN" sz="2400">
                    <a:solidFill>
                      <a:srgbClr val="111827"/>
                    </a:solidFill>
                    <a:latin typeface="Cambria Math" panose="02040503050406030204" pitchFamily="18" charset="0"/>
                  </a:rPr>
                  <a:t>$f'$</a:t>
                </a:r>
                <a:r>
                  <a:rPr sz="2400" b="0">
                    <a:solidFill>
                      <a:srgbClr val="111827"/>
                    </a:solidFill>
                    <a:latin typeface="Arial"/>
                  </a:rPr>
                  <a:t> keeps one sign on </a:t>
                </a:r>
                <a:r>
                  <a:rPr lang="en-IN" sz="2400">
                    <a:solidFill>
                      <a:srgbClr val="111827"/>
                    </a:solidFill>
                    <a:latin typeface="Cambria Math" panose="02040503050406030204" pitchFamily="18" charset="0"/>
                  </a:rPr>
                  <a:t>$(0,\infty)$</a:t>
                </a:r>
                <a:r>
                  <a:rPr sz="2400" b="0">
                    <a:solidFill>
                      <a:srgbClr val="111827"/>
                    </a:solidFill>
                    <a:latin typeface="Arial"/>
                  </a:rPr>
                  <a:t> and one sign on </a:t>
                </a:r>
                <a:r>
                  <a:rPr lang="en-IN" sz="2400">
                    <a:solidFill>
                      <a:srgbClr val="111827"/>
                    </a:solidFill>
                    <a:latin typeface="Cambria Math" panose="02040503050406030204" pitchFamily="18" charset="0"/>
                  </a:rPr>
                  <a:t>$(-\infty,0)$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Take </a:t>
                </a:r>
                <a:r>
                  <a:rPr lang="en-IN" sz="2400">
                    <a:solidFill>
                      <a:srgbClr val="111827"/>
                    </a:solidFill>
                    <a:latin typeface="Cambria Math" panose="02040503050406030204" pitchFamily="18" charset="0"/>
                  </a:rPr>
                  <a:t>$x\in(0,\epsilon)$</a:t>
                </a:r>
                <a:r>
                  <a:rPr sz="2400" b="0">
                    <a:solidFill>
                      <a:srgbClr val="111827"/>
                    </a:solidFill>
                    <a:latin typeface="Arial"/>
                  </a:rPr>
                  <a:t>. Since </a:t>
                </a:r>
                <a:r>
                  <a:rPr lang="en-IN" sz="2400">
                    <a:solidFill>
                      <a:srgbClr val="111827"/>
                    </a:solidFill>
                    <a:latin typeface="Cambria Math" panose="02040503050406030204" pitchFamily="18" charset="0"/>
                  </a:rPr>
                  <a:t>$f(0)=0$</a:t>
                </a:r>
                <a:r>
                  <a:rPr sz="2400" b="0">
                    <a:solidFill>
                      <a:srgbClr val="111827"/>
                    </a:solidFill>
                    <a:latin typeface="Arial"/>
                  </a:rPr>
                  <a:t> and </a:t>
                </a:r>
                <a:r>
                  <a:rPr lang="en-IN" sz="2400">
                    <a:solidFill>
                      <a:srgbClr val="111827"/>
                    </a:solidFill>
                    <a:latin typeface="Cambria Math" panose="02040503050406030204" pitchFamily="18" charset="0"/>
                  </a:rPr>
                  <a:t>$f(x)&gt;0$</a:t>
                </a:r>
                <a:r>
                  <a:rPr sz="2400" b="0">
                    <a:solidFill>
                      <a:srgbClr val="111827"/>
                    </a:solidFill>
                    <a:latin typeface="Arial"/>
                  </a:rPr>
                  <a:t>, the mean value theorem gives </a:t>
                </a:r>
                <a:r>
                  <a:rPr lang="en-IN" sz="2400">
                    <a:solidFill>
                      <a:srgbClr val="111827"/>
                    </a:solidFill>
                    <a:latin typeface="Cambria Math" panose="02040503050406030204" pitchFamily="18" charset="0"/>
                  </a:rPr>
                  <a:t>$f'(c)=\frac{f(x)}{x}&gt;0$</a:t>
                </a:r>
                <a:r>
                  <a:rPr sz="2400" b="0">
                    <a:solidFill>
                      <a:srgbClr val="111827"/>
                    </a:solidFill>
                    <a:latin typeface="Arial"/>
                  </a:rPr>
                  <a:t> for some </a:t>
                </a:r>
                <a:r>
                  <a:rPr lang="en-IN" sz="2400">
                    <a:solidFill>
                      <a:srgbClr val="111827"/>
                    </a:solidFill>
                    <a:latin typeface="Cambria Math" panose="02040503050406030204" pitchFamily="18" charset="0"/>
                  </a:rPr>
                  <a:t>$c\in(0,x)$</a:t>
                </a:r>
                <a:r>
                  <a:rPr sz="2400" b="0">
                    <a:solidFill>
                      <a:srgbClr val="111827"/>
                    </a:solidFill>
                    <a:latin typeface="Arial"/>
                  </a:rPr>
                  <a:t>, so </a:t>
                </a:r>
                <a:r>
                  <a:rPr lang="en-IN" sz="2400">
                    <a:solidFill>
                      <a:srgbClr val="111827"/>
                    </a:solidFill>
                    <a:latin typeface="Cambria Math" panose="02040503050406030204" pitchFamily="18" charset="0"/>
                  </a:rPr>
                  <a:t>$f'&gt;0$</a:t>
                </a:r>
                <a:r>
                  <a:rPr sz="2400" b="0">
                    <a:solidFill>
                      <a:srgbClr val="111827"/>
                    </a:solidFill>
                    <a:latin typeface="Arial"/>
                  </a:rPr>
                  <a:t> on all of </a:t>
                </a:r>
                <a:r>
                  <a:rPr lang="en-IN" sz="2400">
                    <a:solidFill>
                      <a:srgbClr val="111827"/>
                    </a:solidFill>
                    <a:latin typeface="Cambria Math" panose="02040503050406030204" pitchFamily="18" charset="0"/>
                  </a:rPr>
                  <a:t>$(0,\infty)$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$f$</a:t>
                </a:r>
                <a:r>
                  <a:rPr sz="2400" b="0">
                    <a:solidFill>
                      <a:srgbClr val="111827"/>
                    </a:solidFill>
                    <a:latin typeface="Arial"/>
                  </a:rPr>
                  <a:t> is increasing on </a:t>
                </a:r>
                <a:r>
                  <a:rPr lang="en-IN" sz="2400">
                    <a:solidFill>
                      <a:srgbClr val="111827"/>
                    </a:solidFill>
                    <a:latin typeface="Cambria Math" panose="02040503050406030204" pitchFamily="18" charset="0"/>
                  </a:rPr>
                  <a:t>$[0,\infty)$</a:t>
                </a:r>
                <a:r>
                  <a:rPr sz="2400" b="0">
                    <a:solidFill>
                      <a:srgbClr val="111827"/>
                    </a:solidFill>
                    <a:latin typeface="Arial"/>
                  </a:rPr>
                  <a:t> and </a:t>
                </a:r>
                <a:r>
                  <a:rPr lang="en-IN" sz="2400">
                    <a:solidFill>
                      <a:srgbClr val="111827"/>
                    </a:solidFill>
                    <a:latin typeface="Cambria Math" panose="02040503050406030204" pitchFamily="18" charset="0"/>
                  </a:rPr>
                  <a:t>$f(x)&gt;f(0)$</a:t>
                </a:r>
                <a:r>
                  <a:rPr sz="2400" b="0">
                    <a:solidFill>
                      <a:srgbClr val="111827"/>
                    </a:solidFill>
                    <a:latin typeface="Arial"/>
                  </a:rPr>
                  <a:t> for every </a:t>
                </a:r>
                <a:r>
                  <a:rPr lang="en-IN" sz="2400">
                    <a:solidFill>
                      <a:srgbClr val="111827"/>
                    </a:solidFill>
                    <a:latin typeface="Cambria Math" panose="02040503050406030204" pitchFamily="18" charset="0"/>
                  </a:rPr>
                  <a:t>$x&gt;0$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mean value theorem gives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for some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on all of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decreasing 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every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 is true and (B)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satisfies every hypothesis,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den>
                    </m:f>
                  </m:oMath>
                </a14:m>
                <a:r>
                  <a:rPr sz="2400" b="0">
                    <a:solidFill>
                      <a:srgbClr val="111827"/>
                    </a:solidFill>
                    <a:latin typeface="Arial"/>
                  </a:rPr>
                  <a:t> is positive at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but negative 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a:t>
                </a:r>
                <a:r>
                  <a:rPr lang="en-IN" sz="2400">
                    <a:solidFill>
                      <a:srgbClr val="111827"/>
                    </a:solidFill>
                    <a:latin typeface="Cambria Math" panose="02040503050406030204" pitchFamily="18" charset="0"/>
                  </a:rPr>
                  <a:t>$x\in(-\epsilon,0)$</a:t>
                </a:r>
                <a:r>
                  <a:rPr sz="2400" b="0">
                    <a:solidFill>
                      <a:srgbClr val="111827"/>
                    </a:solidFill>
                    <a:latin typeface="Arial"/>
                  </a:rPr>
                  <a:t>. Since </a:t>
                </a:r>
                <a:r>
                  <a:rPr lang="en-IN" sz="2400">
                    <a:solidFill>
                      <a:srgbClr val="111827"/>
                    </a:solidFill>
                    <a:latin typeface="Cambria Math" panose="02040503050406030204" pitchFamily="18" charset="0"/>
                  </a:rPr>
                  <a:t>$f(x)&gt;0=f(0)$</a:t>
                </a:r>
                <a:r>
                  <a:rPr sz="2400" b="0">
                    <a:solidFill>
                      <a:srgbClr val="111827"/>
                    </a:solidFill>
                    <a:latin typeface="Arial"/>
                  </a:rPr>
                  <a:t>, the mean value theorem gives </a:t>
                </a:r>
                <a:r>
                  <a:rPr lang="en-IN" sz="2400">
                    <a:solidFill>
                      <a:srgbClr val="111827"/>
                    </a:solidFill>
                    <a:latin typeface="Cambria Math" panose="02040503050406030204" pitchFamily="18" charset="0"/>
                  </a:rPr>
                  <a:t>$f'(c)=\frac{f(x)}{x}&lt;0$</a:t>
                </a:r>
                <a:r>
                  <a:rPr sz="2400" b="0">
                    <a:solidFill>
                      <a:srgbClr val="111827"/>
                    </a:solidFill>
                    <a:latin typeface="Arial"/>
                  </a:rPr>
                  <a:t> for some </a:t>
                </a:r>
                <a:r>
                  <a:rPr lang="en-IN" sz="2400">
                    <a:solidFill>
                      <a:srgbClr val="111827"/>
                    </a:solidFill>
                    <a:latin typeface="Cambria Math" panose="02040503050406030204" pitchFamily="18" charset="0"/>
                  </a:rPr>
                  <a:t>$c\in(x,0)$</a:t>
                </a:r>
                <a:r>
                  <a:rPr sz="2400" b="0">
                    <a:solidFill>
                      <a:srgbClr val="111827"/>
                    </a:solidFill>
                    <a:latin typeface="Arial"/>
                  </a:rPr>
                  <a:t>, so </a:t>
                </a:r>
                <a:r>
                  <a:rPr lang="en-IN" sz="2400">
                    <a:solidFill>
                      <a:srgbClr val="111827"/>
                    </a:solidFill>
                    <a:latin typeface="Cambria Math" panose="02040503050406030204" pitchFamily="18" charset="0"/>
                  </a:rPr>
                  <a:t>$f'&lt;0$</a:t>
                </a:r>
                <a:r>
                  <a:rPr sz="2400" b="0">
                    <a:solidFill>
                      <a:srgbClr val="111827"/>
                    </a:solidFill>
                    <a:latin typeface="Arial"/>
                  </a:rPr>
                  <a:t> on all of </a:t>
                </a:r>
                <a:r>
                  <a:rPr lang="en-IN" sz="2400">
                    <a:solidFill>
                      <a:srgbClr val="111827"/>
                    </a:solidFill>
                    <a:latin typeface="Cambria Math" panose="02040503050406030204" pitchFamily="18" charset="0"/>
                  </a:rPr>
                  <a:t>$(-\infty,0)$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$f$</a:t>
                </a:r>
                <a:r>
                  <a:rPr sz="2400" b="0">
                    <a:solidFill>
                      <a:srgbClr val="111827"/>
                    </a:solidFill>
                    <a:latin typeface="Arial"/>
                  </a:rPr>
                  <a:t> is decreasing on </a:t>
                </a:r>
                <a:r>
                  <a:rPr lang="en-IN" sz="2400">
                    <a:solidFill>
                      <a:srgbClr val="111827"/>
                    </a:solidFill>
                    <a:latin typeface="Cambria Math" panose="02040503050406030204" pitchFamily="18" charset="0"/>
                  </a:rPr>
                  <a:t>$(-\infty,0]$</a:t>
                </a:r>
                <a:r>
                  <a:rPr sz="2400" b="0">
                    <a:solidFill>
                      <a:srgbClr val="111827"/>
                    </a:solidFill>
                    <a:latin typeface="Arial"/>
                  </a:rPr>
                  <a:t> and </a:t>
                </a:r>
                <a:r>
                  <a:rPr lang="en-IN" sz="2400">
                    <a:solidFill>
                      <a:srgbClr val="111827"/>
                    </a:solidFill>
                    <a:latin typeface="Cambria Math" panose="02040503050406030204" pitchFamily="18" charset="0"/>
                  </a:rPr>
                  <a:t>$f(x)&gt;f(0)$</a:t>
                </a:r>
                <a:r>
                  <a:rPr sz="2400" b="0">
                    <a:solidFill>
                      <a:srgbClr val="111827"/>
                    </a:solidFill>
                    <a:latin typeface="Arial"/>
                  </a:rPr>
                  <a:t> for every </a:t>
                </a:r>
                <a:r>
                  <a:rPr lang="en-IN" sz="2400">
                    <a:solidFill>
                      <a:srgbClr val="111827"/>
                    </a:solidFill>
                    <a:latin typeface="Cambria Math" panose="02040503050406030204" pitchFamily="18" charset="0"/>
                  </a:rPr>
                  <a:t>$x&lt;0$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$f(x)&gt;f(0)$</a:t>
                </a:r>
                <a:r>
                  <a:rPr sz="2400" b="0">
                    <a:solidFill>
                      <a:srgbClr val="111827"/>
                    </a:solidFill>
                    <a:latin typeface="Arial"/>
                  </a:rPr>
                  <a:t> for all </a:t>
                </a:r>
                <a:r>
                  <a:rPr lang="en-IN" sz="2400">
                    <a:solidFill>
                      <a:srgbClr val="111827"/>
                    </a:solidFill>
                    <a:latin typeface="Cambria Math" panose="02040503050406030204" pitchFamily="18" charset="0"/>
                  </a:rPr>
                  <a:t>$x\neq0$</a:t>
                </a:r>
                <a:r>
                  <a:rPr sz="2400" b="0">
                    <a:solidFill>
                      <a:srgbClr val="111827"/>
                    </a:solidFill>
                    <a:latin typeface="Arial"/>
                  </a:rPr>
                  <a:t>: (A) is true and (B)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(D): </a:t>
                </a:r>
                <a:r>
                  <a:rPr lang="en-IN" sz="2400">
                    <a:solidFill>
                      <a:srgbClr val="111827"/>
                    </a:solidFill>
                    <a:latin typeface="Cambria Math" panose="02040503050406030204" pitchFamily="18" charset="0"/>
                  </a:rPr>
                  <a:t>$f(x)=\frac{\pi x^2}{1+x^2}$</a:t>
                </a:r>
                <a:r>
                  <a:rPr sz="2400" b="0">
                    <a:solidFill>
                      <a:srgbClr val="111827"/>
                    </a:solidFill>
                    <a:latin typeface="Arial"/>
                  </a:rPr>
                  <a:t> satisfies every hypothesis, and </a:t>
                </a:r>
                <a:r>
                  <a:rPr lang="en-IN" sz="2400">
                    <a:solidFill>
                      <a:srgbClr val="111827"/>
                    </a:solidFill>
                    <a:latin typeface="Cambria Math" panose="02040503050406030204" pitchFamily="18" charset="0"/>
                  </a:rPr>
                  <a:t>$f''(x)=\frac{2\pi(1-3x^2)}{(1+x^2)^3}$</a:t>
                </a:r>
                <a:r>
                  <a:rPr sz="2400" b="0">
                    <a:solidFill>
                      <a:srgbClr val="111827"/>
                    </a:solidFill>
                    <a:latin typeface="Arial"/>
                  </a:rPr>
                  <a:t> is positive at </a:t>
                </a:r>
                <a:r>
                  <a:rPr lang="en-IN" sz="2400">
                    <a:solidFill>
                      <a:srgbClr val="111827"/>
                    </a:solidFill>
                    <a:latin typeface="Cambria Math" panose="02040503050406030204" pitchFamily="18" charset="0"/>
                  </a:rPr>
                  <a:t>$0$</a:t>
                </a:r>
                <a:r>
                  <a:rPr sz="2400" b="0">
                    <a:solidFill>
                      <a:srgbClr val="111827"/>
                    </a:solidFill>
                    <a:latin typeface="Arial"/>
                  </a:rPr>
                  <a:t> but negative for </a:t>
                </a:r>
                <a:r>
                  <a:rPr lang="en-IN" sz="2400">
                    <a:solidFill>
                      <a:srgbClr val="111827"/>
                    </a:solidFill>
                    <a:latin typeface="Cambria Math" panose="02040503050406030204" pitchFamily="18" charset="0"/>
                  </a:rPr>
                  <a:t>$|x|&gt;\frac{1}{\sqrt3}$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need not be positive everywhere,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rules out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everywhere: (C) and (D) are not necessarily true. Answer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a:t>
                </a:r>
                <a:r>
                  <a:rPr sz="2400" b="0">
                    <a:solidFill>
                      <a:srgbClr val="111827"/>
                    </a:solidFill>
                    <a:latin typeface="Arial"/>
                  </a:rPr>
                  <a:t> need not be positive everywhere, and </a:t>
                </a:r>
                <a:r>
                  <a:rPr lang="en-IN" sz="2400">
                    <a:solidFill>
                      <a:srgbClr val="111827"/>
                    </a:solidFill>
                    <a:latin typeface="Cambria Math" panose="02040503050406030204" pitchFamily="18" charset="0"/>
                  </a:rPr>
                  <a:t>$f''(0)=2\pi&gt;0$</a:t>
                </a:r>
                <a:r>
                  <a:rPr sz="2400" b="0">
                    <a:solidFill>
                      <a:srgbClr val="111827"/>
                    </a:solidFill>
                    <a:latin typeface="Arial"/>
                  </a:rPr>
                  <a:t> rules out </a:t>
                </a:r>
                <a:r>
                  <a:rPr lang="en-IN" sz="2400">
                    <a:solidFill>
                      <a:srgbClr val="111827"/>
                    </a:solidFill>
                    <a:latin typeface="Cambria Math" panose="02040503050406030204" pitchFamily="18" charset="0"/>
                  </a:rPr>
                  <a:t>$f''&lt;0$</a:t>
                </a:r>
                <a:r>
                  <a:rPr sz="2400" b="0">
                    <a:solidFill>
                      <a:srgbClr val="111827"/>
                    </a:solidFill>
                    <a:latin typeface="Arial"/>
                  </a:rPr>
                  <a:t> everywhere: (C) and (D) are not necessarily true. Answer (A).</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a:t>
            </a:r>
            <a:endParaRPr sz="2800">
              <a:solidFill>
                <a:srgbClr val="15803D"/>
              </a:solidFill>
            </a:endParaRP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Peano–Taylor at </a:t>
                </a:r>
                <a14:m>
                  <m:oMath xmlns:m="http://schemas.openxmlformats.org/officeDocument/2006/math">
                    <m:r>
                      <a:rPr lang="en-IN" sz="2400" i="1">
                        <a:solidFill>
                          <a:srgbClr val="78350F"/>
                        </a:solidFill>
                        <a:latin typeface="Cambria Math" panose="02040503050406030204" pitchFamily="18" charset="0"/>
                      </a:rPr>
                      <m:t>0</m:t>
                    </m:r>
                  </m:oMath>
                </a14:m>
                <a:r>
                  <a:rPr sz="2400" b="0">
                    <a:solidFill>
                      <a:srgbClr val="78350F"/>
                    </a:solidFill>
                    <a:latin typeface="Arial"/>
                  </a:rPr>
                  <a:t> gives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and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π</m:t>
                    </m:r>
                    <m:r>
                      <m:rPr>
                        <m:sty m:val="p"/>
                      </m:rPr>
                      <a:rPr lang="en-IN" sz="2400">
                        <a:solidFill>
                          <a:srgbClr val="78350F"/>
                        </a:solidFill>
                        <a:latin typeface="Cambria Math" panose="02040503050406030204" pitchFamily="18" charset="0"/>
                      </a:rPr>
                      <m:t>&gt;</m:t>
                    </m:r>
                    <m:r>
                      <a:rPr lang="en-IN" sz="2400" i="1">
                        <a:solidFill>
                          <a:srgbClr val="78350F"/>
                        </a:solidFill>
                        <a:latin typeface="Cambria Math" panose="02040503050406030204" pitchFamily="18" charset="0"/>
                      </a:rPr>
                      <m:t>0</m:t>
                    </m:r>
                  </m:oMath>
                </a14:m>
                <a:r>
                  <a:rPr sz="2400" b="0">
                    <a:solidFill>
                      <a:srgbClr val="78350F"/>
                    </a:solidFill>
                    <a:latin typeface="Arial"/>
                  </a:rPr>
                  <a:t>: a strict local minimum, and </a:t>
                </a:r>
                <a14:m>
                  <m:oMath xmlns:m="http://schemas.openxmlformats.org/officeDocument/2006/math">
                    <m:r>
                      <a:rPr lang="en-IN" sz="2400" i="1">
                        <a:solidFill>
                          <a:srgbClr val="78350F"/>
                        </a:solidFill>
                        <a:latin typeface="Cambria Math" panose="02040503050406030204" pitchFamily="18" charset="0"/>
                      </a:rPr>
                      <m:t>0</m:t>
                    </m:r>
                  </m:oMath>
                </a14:m>
                <a:r>
                  <a:rPr sz="2400" b="0">
                    <a:solidFill>
                      <a:srgbClr val="78350F"/>
                    </a:solidFill>
                    <a:latin typeface="Arial"/>
                  </a:rPr>
                  <a:t> is the only critical point.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Peano–Taylor at </a:t>
                </a:r>
                <a:r>
                  <a:rPr lang="en-IN" sz="2400">
                    <a:solidFill>
                      <a:srgbClr val="78350F"/>
                    </a:solidFill>
                    <a:latin typeface="Cambria Math" panose="02040503050406030204" pitchFamily="18" charset="0"/>
                  </a:rPr>
                  <a:t>$0$</a:t>
                </a:r>
                <a:r>
                  <a:rPr sz="2400" b="0">
                    <a:solidFill>
                      <a:srgbClr val="78350F"/>
                    </a:solidFill>
                    <a:latin typeface="Arial"/>
                  </a:rPr>
                  <a:t> gives </a:t>
                </a:r>
                <a:r>
                  <a:rPr lang="en-IN" sz="2400">
                    <a:solidFill>
                      <a:srgbClr val="78350F"/>
                    </a:solidFill>
                    <a:latin typeface="Cambria Math" panose="02040503050406030204" pitchFamily="18" charset="0"/>
                  </a:rPr>
                  <a:t>$f(0)=f'(0)=0$</a:t>
                </a:r>
                <a:r>
                  <a:rPr sz="2400" b="0">
                    <a:solidFill>
                      <a:srgbClr val="78350F"/>
                    </a:solidFill>
                    <a:latin typeface="Arial"/>
                  </a:rPr>
                  <a:t> and </a:t>
                </a:r>
                <a:r>
                  <a:rPr lang="en-IN" sz="2400">
                    <a:solidFill>
                      <a:srgbClr val="78350F"/>
                    </a:solidFill>
                    <a:latin typeface="Cambria Math" panose="02040503050406030204" pitchFamily="18" charset="0"/>
                  </a:rPr>
                  <a:t>$f''(0)=2\pi&gt;0$</a:t>
                </a:r>
                <a:r>
                  <a:rPr sz="2400" b="0">
                    <a:solidFill>
                      <a:srgbClr val="78350F"/>
                    </a:solidFill>
                    <a:latin typeface="Arial"/>
                  </a:rPr>
                  <a:t>: a strict local minimum, and </a:t>
                </a:r>
                <a:r>
                  <a:rPr lang="en-IN" sz="2400">
                    <a:solidFill>
                      <a:srgbClr val="78350F"/>
                    </a:solidFill>
                    <a:latin typeface="Cambria Math" panose="02040503050406030204" pitchFamily="18" charset="0"/>
                  </a:rPr>
                  <a:t>$0$</a:t>
                </a:r>
                <a:r>
                  <a:rPr sz="2400" b="0">
                    <a:solidFill>
                      <a:srgbClr val="78350F"/>
                    </a:solidFill>
                    <a:latin typeface="Arial"/>
                  </a:rPr>
                  <a:t> is the only critical point.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twice differentiable at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𝑜</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has a finite limit only if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then the limit is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the second derivative test,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a strict local minimum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a:t>
                </a:r>
                <a:r>
                  <a:rPr sz="2400" b="0">
                    <a:solidFill>
                      <a:srgbClr val="111827"/>
                    </a:solidFill>
                    <a:latin typeface="Arial"/>
                  </a:rPr>
                  <a:t> is twice differentiable at </a:t>
                </a:r>
                <a:r>
                  <a:rPr lang="en-IN" sz="2400">
                    <a:solidFill>
                      <a:srgbClr val="111827"/>
                    </a:solidFill>
                    <a:latin typeface="Cambria Math" panose="02040503050406030204" pitchFamily="18" charset="0"/>
                  </a:rPr>
                  <a:t>$0$</a:t>
                </a:r>
                <a:r>
                  <a:rPr sz="2400" b="0">
                    <a:solidFill>
                      <a:srgbClr val="111827"/>
                    </a:solidFill>
                    <a:latin typeface="Arial"/>
                  </a:rPr>
                  <a:t>: </a:t>
                </a:r>
                <a:r>
                  <a:rPr lang="en-IN" sz="2400">
                    <a:solidFill>
                      <a:srgbClr val="111827"/>
                    </a:solidFill>
                    <a:latin typeface="Cambria Math" panose="02040503050406030204" pitchFamily="18" charset="0"/>
                  </a:rPr>
                  <a:t>$f(x)=f(0)+f'(0)x+\frac{f''(0)}{2}x^2+o(x^2)$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$\frac{f(x)}{x^2}$</a:t>
                </a:r>
                <a:r>
                  <a:rPr sz="2400" b="0">
                    <a:solidFill>
                      <a:srgbClr val="111827"/>
                    </a:solidFill>
                    <a:latin typeface="Arial"/>
                  </a:rPr>
                  <a:t> has a finite limit only if </a:t>
                </a:r>
                <a:r>
                  <a:rPr lang="en-IN" sz="2400">
                    <a:solidFill>
                      <a:srgbClr val="111827"/>
                    </a:solidFill>
                    <a:latin typeface="Cambria Math" panose="02040503050406030204" pitchFamily="18" charset="0"/>
                  </a:rPr>
                  <a:t>$f(0)=0$</a:t>
                </a:r>
                <a:r>
                  <a:rPr sz="2400" b="0">
                    <a:solidFill>
                      <a:srgbClr val="111827"/>
                    </a:solidFill>
                    <a:latin typeface="Arial"/>
                  </a:rPr>
                  <a:t> and </a:t>
                </a:r>
                <a:r>
                  <a:rPr lang="en-IN" sz="2400">
                    <a:solidFill>
                      <a:srgbClr val="111827"/>
                    </a:solidFill>
                    <a:latin typeface="Cambria Math" panose="02040503050406030204" pitchFamily="18" charset="0"/>
                  </a:rPr>
                  <a:t>$f'(0)=0$</a:t>
                </a:r>
                <a:r>
                  <a:rPr sz="2400" b="0">
                    <a:solidFill>
                      <a:srgbClr val="111827"/>
                    </a:solidFill>
                    <a:latin typeface="Arial"/>
                  </a:rPr>
                  <a:t>; then the limit is </a:t>
                </a:r>
                <a:r>
                  <a:rPr lang="en-IN" sz="2400">
                    <a:solidFill>
                      <a:srgbClr val="111827"/>
                    </a:solidFill>
                    <a:latin typeface="Cambria Math" panose="02040503050406030204" pitchFamily="18" charset="0"/>
                  </a:rPr>
                  <a:t>$\frac{f''(0)}{2}$</a:t>
                </a:r>
                <a:r>
                  <a:rPr sz="2400" b="0">
                    <a:solidFill>
                      <a:srgbClr val="111827"/>
                    </a:solidFill>
                    <a:latin typeface="Arial"/>
                  </a:rPr>
                  <a:t>, so </a:t>
                </a:r>
                <a:r>
                  <a:rPr lang="en-IN" sz="2400">
                    <a:solidFill>
                      <a:srgbClr val="111827"/>
                    </a:solidFill>
                    <a:latin typeface="Cambria Math" panose="02040503050406030204" pitchFamily="18" charset="0"/>
                  </a:rPr>
                  <a:t>$f''(0)=2\pi&gt;0$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the second derivative test, </a:t>
                </a:r>
                <a:r>
                  <a:rPr lang="en-IN" sz="2400">
                    <a:solidFill>
                      <a:srgbClr val="111827"/>
                    </a:solidFill>
                    <a:latin typeface="Cambria Math" panose="02040503050406030204" pitchFamily="18" charset="0"/>
                  </a:rPr>
                  <a:t>$x=0$</a:t>
                </a:r>
                <a:r>
                  <a:rPr sz="2400" b="0">
                    <a:solidFill>
                      <a:srgbClr val="111827"/>
                    </a:solidFill>
                    <a:latin typeface="Arial"/>
                  </a:rPr>
                  <a:t> is a strict local minimum of </a:t>
                </a:r>
                <a:r>
                  <a:rPr lang="en-IN" sz="2400">
                    <a:solidFill>
                      <a:srgbClr val="111827"/>
                    </a:solidFill>
                    <a:latin typeface="Cambria Math" panose="02040503050406030204" pitchFamily="18" charset="0"/>
                  </a:rPr>
                  <a:t>$f$</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As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is the only critical point,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𝑜</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negative just left of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and positive just right of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continuity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cannot change sign again, 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is a global strict minimum: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This is (A).</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kills (D),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(with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kills (C).</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As </a:t>
                </a:r>
                <a:r>
                  <a:rPr lang="en-IN" sz="2400">
                    <a:solidFill>
                      <a:srgbClr val="111827"/>
                    </a:solidFill>
                    <a:latin typeface="Cambria Math" panose="02040503050406030204" pitchFamily="18" charset="0"/>
                  </a:rPr>
                  <a:t>$f'(x)\neq0$</a:t>
                </a:r>
                <a:r>
                  <a:rPr sz="2400" b="0">
                    <a:solidFill>
                      <a:srgbClr val="111827"/>
                    </a:solidFill>
                    <a:latin typeface="Arial"/>
                  </a:rPr>
                  <a:t> for </a:t>
                </a:r>
                <a:r>
                  <a:rPr lang="en-IN" sz="2400">
                    <a:solidFill>
                      <a:srgbClr val="111827"/>
                    </a:solidFill>
                    <a:latin typeface="Cambria Math" panose="02040503050406030204" pitchFamily="18" charset="0"/>
                  </a:rPr>
                  <a:t>$x\neq0$</a:t>
                </a:r>
                <a:r>
                  <a:rPr sz="2400" b="0">
                    <a:solidFill>
                      <a:srgbClr val="111827"/>
                    </a:solidFill>
                    <a:latin typeface="Arial"/>
                  </a:rPr>
                  <a:t>, </a:t>
                </a:r>
                <a:r>
                  <a:rPr lang="en-IN" sz="2400">
                    <a:solidFill>
                      <a:srgbClr val="111827"/>
                    </a:solidFill>
                    <a:latin typeface="Cambria Math" panose="02040503050406030204" pitchFamily="18" charset="0"/>
                  </a:rPr>
                  <a:t>$0$</a:t>
                </a:r>
                <a:r>
                  <a:rPr sz="2400" b="0">
                    <a:solidFill>
                      <a:srgbClr val="111827"/>
                    </a:solidFill>
                    <a:latin typeface="Arial"/>
                  </a:rPr>
                  <a:t> is the only critical point, and </a:t>
                </a:r>
                <a:r>
                  <a:rPr lang="en-IN" sz="2400">
                    <a:solidFill>
                      <a:srgbClr val="111827"/>
                    </a:solidFill>
                    <a:latin typeface="Cambria Math" panose="02040503050406030204" pitchFamily="18" charset="0"/>
                  </a:rPr>
                  <a:t>$f'(x)=f''(0)x+o(x)$</a:t>
                </a:r>
                <a:r>
                  <a:rPr sz="2400" b="0">
                    <a:solidFill>
                      <a:srgbClr val="111827"/>
                    </a:solidFill>
                    <a:latin typeface="Arial"/>
                  </a:rPr>
                  <a:t> is negative just left of </a:t>
                </a:r>
                <a:r>
                  <a:rPr lang="en-IN" sz="2400">
                    <a:solidFill>
                      <a:srgbClr val="111827"/>
                    </a:solidFill>
                    <a:latin typeface="Cambria Math" panose="02040503050406030204" pitchFamily="18" charset="0"/>
                  </a:rPr>
                  <a:t>$0$</a:t>
                </a:r>
                <a:r>
                  <a:rPr sz="2400" b="0">
                    <a:solidFill>
                      <a:srgbClr val="111827"/>
                    </a:solidFill>
                    <a:latin typeface="Arial"/>
                  </a:rPr>
                  <a:t> and positive just right of </a:t>
                </a:r>
                <a:r>
                  <a:rPr lang="en-IN" sz="2400">
                    <a:solidFill>
                      <a:srgbClr val="111827"/>
                    </a:solidFill>
                    <a:latin typeface="Cambria Math" panose="02040503050406030204" pitchFamily="18" charset="0"/>
                  </a:rPr>
                  <a: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continuity </a:t>
                </a:r>
                <a:r>
                  <a:rPr lang="en-IN" sz="2400">
                    <a:solidFill>
                      <a:srgbClr val="111827"/>
                    </a:solidFill>
                    <a:latin typeface="Cambria Math" panose="02040503050406030204" pitchFamily="18" charset="0"/>
                  </a:rPr>
                  <a:t>$f'$</a:t>
                </a:r>
                <a:r>
                  <a:rPr sz="2400" b="0">
                    <a:solidFill>
                      <a:srgbClr val="111827"/>
                    </a:solidFill>
                    <a:latin typeface="Arial"/>
                  </a:rPr>
                  <a:t> cannot change sign again, so </a:t>
                </a:r>
                <a:r>
                  <a:rPr lang="en-IN" sz="2400">
                    <a:solidFill>
                      <a:srgbClr val="111827"/>
                    </a:solidFill>
                    <a:latin typeface="Cambria Math" panose="02040503050406030204" pitchFamily="18" charset="0"/>
                  </a:rPr>
                  <a:t>$f'&lt;0$</a:t>
                </a:r>
                <a:r>
                  <a:rPr sz="2400" b="0">
                    <a:solidFill>
                      <a:srgbClr val="111827"/>
                    </a:solidFill>
                    <a:latin typeface="Arial"/>
                  </a:rPr>
                  <a:t> on </a:t>
                </a:r>
                <a:r>
                  <a:rPr lang="en-IN" sz="2400">
                    <a:solidFill>
                      <a:srgbClr val="111827"/>
                    </a:solidFill>
                    <a:latin typeface="Cambria Math" panose="02040503050406030204" pitchFamily="18" charset="0"/>
                  </a:rPr>
                  <a:t>$(-\infty,0)$</a:t>
                </a:r>
                <a:r>
                  <a:rPr sz="2400" b="0">
                    <a:solidFill>
                      <a:srgbClr val="111827"/>
                    </a:solidFill>
                    <a:latin typeface="Arial"/>
                  </a:rPr>
                  <a:t> and </a:t>
                </a:r>
                <a:r>
                  <a:rPr lang="en-IN" sz="2400">
                    <a:solidFill>
                      <a:srgbClr val="111827"/>
                    </a:solidFill>
                    <a:latin typeface="Cambria Math" panose="02040503050406030204" pitchFamily="18" charset="0"/>
                  </a:rPr>
                  <a:t>$f'&gt;0$</a:t>
                </a:r>
                <a:r>
                  <a:rPr sz="2400" b="0">
                    <a:solidFill>
                      <a:srgbClr val="111827"/>
                    </a:solidFill>
                    <a:latin typeface="Arial"/>
                  </a:rPr>
                  <a:t> on </a:t>
                </a:r>
                <a:r>
                  <a:rPr lang="en-IN" sz="2400">
                    <a:solidFill>
                      <a:srgbClr val="111827"/>
                    </a:solidFill>
                    <a:latin typeface="Cambria Math" panose="02040503050406030204" pitchFamily="18" charset="0"/>
                  </a:rPr>
                  <a:t>$(0,\infty)$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$0$</a:t>
                </a:r>
                <a:r>
                  <a:rPr sz="2400" b="0">
                    <a:solidFill>
                      <a:srgbClr val="111827"/>
                    </a:solidFill>
                    <a:latin typeface="Arial"/>
                  </a:rPr>
                  <a:t> is a global strict minimum: </a:t>
                </a:r>
                <a:r>
                  <a:rPr lang="en-IN" sz="2400">
                    <a:solidFill>
                      <a:srgbClr val="111827"/>
                    </a:solidFill>
                    <a:latin typeface="Cambria Math" panose="02040503050406030204" pitchFamily="18" charset="0"/>
                  </a:rPr>
                  <a:t>$f(x)&gt;f(0)$</a:t>
                </a:r>
                <a:r>
                  <a:rPr sz="2400" b="0">
                    <a:solidFill>
                      <a:srgbClr val="111827"/>
                    </a:solidFill>
                    <a:latin typeface="Arial"/>
                  </a:rPr>
                  <a:t> for all </a:t>
                </a:r>
                <a:r>
                  <a:rPr lang="en-IN" sz="2400">
                    <a:solidFill>
                      <a:srgbClr val="111827"/>
                    </a:solidFill>
                    <a:latin typeface="Cambria Math" panose="02040503050406030204" pitchFamily="18" charset="0"/>
                  </a:rPr>
                  <a:t>$x\neq0$</a:t>
                </a:r>
                <a:r>
                  <a:rPr sz="2400" b="0">
                    <a:solidFill>
                      <a:srgbClr val="111827"/>
                    </a:solidFill>
                    <a:latin typeface="Arial"/>
                  </a:rPr>
                  <a:t>. This is (A).</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$f''(0)=2\pi&gt;0$</a:t>
                </a:r>
                <a:r>
                  <a:rPr sz="2400" b="0">
                    <a:solidFill>
                      <a:srgbClr val="111827"/>
                    </a:solidFill>
                    <a:latin typeface="Arial"/>
                  </a:rPr>
                  <a:t> kills (D), and </a:t>
                </a:r>
                <a:r>
                  <a:rPr lang="en-IN" sz="2400">
                    <a:solidFill>
                      <a:srgbClr val="111827"/>
                    </a:solidFill>
                    <a:latin typeface="Cambria Math" panose="02040503050406030204" pitchFamily="18" charset="0"/>
                  </a:rPr>
                  <a:t>$\frac{\pi x^2}{1+x^2}$</a:t>
                </a:r>
                <a:r>
                  <a:rPr sz="2400" b="0">
                    <a:solidFill>
                      <a:srgbClr val="111827"/>
                    </a:solidFill>
                    <a:latin typeface="Arial"/>
                  </a:rPr>
                  <a:t> (with </a:t>
                </a:r>
                <a:r>
                  <a:rPr lang="en-IN" sz="2400">
                    <a:solidFill>
                      <a:srgbClr val="111827"/>
                    </a:solidFill>
                    <a:latin typeface="Cambria Math" panose="02040503050406030204" pitchFamily="18" charset="0"/>
                  </a:rPr>
                  <a:t>$f''&lt;0$</a:t>
                </a:r>
                <a:r>
                  <a:rPr sz="2400" b="0">
                    <a:solidFill>
                      <a:srgbClr val="111827"/>
                    </a:solidFill>
                    <a:latin typeface="Arial"/>
                  </a:rPr>
                  <a:t> for </a:t>
                </a:r>
                <a:r>
                  <a:rPr lang="en-IN" sz="2400">
                    <a:solidFill>
                      <a:srgbClr val="111827"/>
                    </a:solidFill>
                    <a:latin typeface="Cambria Math" panose="02040503050406030204" pitchFamily="18" charset="0"/>
                  </a:rPr>
                  <a:t>$|x|&gt;\frac{1}{\sqrt3}$</a:t>
                </a:r>
                <a:r>
                  <a:rPr sz="2400" b="0">
                    <a:solidFill>
                      <a:srgbClr val="111827"/>
                    </a:solidFill>
                    <a:latin typeface="Arial"/>
                  </a:rPr>
                  <a:t>) kills (C).</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a:t>
            </a:r>
            <a:endParaRPr sz="2800">
              <a:solidFill>
                <a:srgbClr val="15803D"/>
              </a:solidFill>
            </a:endParaRP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twice differentiable at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𝐿</m:t>
                    </m:r>
                  </m:oMath>
                </a14:m>
                <a:r>
                  <a:rPr sz="2400" b="0">
                    <a:solidFill>
                      <a:srgbClr val="111827"/>
                    </a:solidFill>
                    <a:latin typeface="Arial"/>
                  </a:rPr>
                  <a:t> is finite, then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𝐿</m:t>
                    </m:r>
                  </m:oMath>
                </a14:m>
                <a:r>
                  <a:rPr sz="2400" b="0">
                    <a:solidFill>
                      <a:srgbClr val="111827"/>
                    </a:solidFill>
                    <a:latin typeface="Arial"/>
                  </a:rPr>
                  <a:t> (Taylor with Peano remainder).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continuous function with no zero on an interval has constant sign there (IVT). So a continuous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with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makes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strictly monotonic on each side of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strict local minimum that is the only critical point of a differentiable function is its global strict minimum.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Information about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one point does not fix its sign elsewhere; to refute 'for all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options, use an explicit example such as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$f$</a:t>
                </a:r>
                <a:r>
                  <a:rPr sz="2400" b="0">
                    <a:solidFill>
                      <a:srgbClr val="111827"/>
                    </a:solidFill>
                    <a:latin typeface="Arial"/>
                  </a:rPr>
                  <a:t> is twice differentiable at </a:t>
                </a:r>
                <a:r>
                  <a:rPr lang="en-IN" sz="2400">
                    <a:solidFill>
                      <a:srgbClr val="111827"/>
                    </a:solidFill>
                    <a:latin typeface="Cambria Math" panose="02040503050406030204" pitchFamily="18" charset="0"/>
                  </a:rPr>
                  <a:t>$0$</a:t>
                </a:r>
                <a:r>
                  <a:rPr sz="2400" b="0">
                    <a:solidFill>
                      <a:srgbClr val="111827"/>
                    </a:solidFill>
                    <a:latin typeface="Arial"/>
                  </a:rPr>
                  <a:t> and </a:t>
                </a:r>
                <a:r>
                  <a:rPr lang="en-IN" sz="2400">
                    <a:solidFill>
                      <a:srgbClr val="111827"/>
                    </a:solidFill>
                    <a:latin typeface="Cambria Math" panose="02040503050406030204" pitchFamily="18" charset="0"/>
                  </a:rPr>
                  <a:t>$\lim_{x\to0}\frac{f(x)}{x^2}=L$</a:t>
                </a:r>
                <a:r>
                  <a:rPr sz="2400" b="0">
                    <a:solidFill>
                      <a:srgbClr val="111827"/>
                    </a:solidFill>
                    <a:latin typeface="Arial"/>
                  </a:rPr>
                  <a:t> is finite, then </a:t>
                </a:r>
                <a:r>
                  <a:rPr lang="en-IN" sz="2400">
                    <a:solidFill>
                      <a:srgbClr val="111827"/>
                    </a:solidFill>
                    <a:latin typeface="Cambria Math" panose="02040503050406030204" pitchFamily="18" charset="0"/>
                  </a:rPr>
                  <a:t>$f(0)=f'(0)=0$</a:t>
                </a:r>
                <a:r>
                  <a:rPr sz="2400" b="0">
                    <a:solidFill>
                      <a:srgbClr val="111827"/>
                    </a:solidFill>
                    <a:latin typeface="Arial"/>
                  </a:rPr>
                  <a:t> and </a:t>
                </a:r>
                <a:r>
                  <a:rPr lang="en-IN" sz="2400">
                    <a:solidFill>
                      <a:srgbClr val="111827"/>
                    </a:solidFill>
                    <a:latin typeface="Cambria Math" panose="02040503050406030204" pitchFamily="18" charset="0"/>
                  </a:rPr>
                  <a:t>$f''(0)=2L$</a:t>
                </a:r>
                <a:r>
                  <a:rPr sz="2400" b="0">
                    <a:solidFill>
                      <a:srgbClr val="111827"/>
                    </a:solidFill>
                    <a:latin typeface="Arial"/>
                  </a:rPr>
                  <a:t> (Taylor with Peano remainder).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continuous function with no zero on an interval has constant sign there (IVT). So a continuous </a:t>
                </a:r>
                <a:r>
                  <a:rPr lang="en-IN" sz="2400">
                    <a:solidFill>
                      <a:srgbClr val="111827"/>
                    </a:solidFill>
                    <a:latin typeface="Cambria Math" panose="02040503050406030204" pitchFamily="18" charset="0"/>
                  </a:rPr>
                  <a:t>$f'$</a:t>
                </a:r>
                <a:r>
                  <a:rPr sz="2400" b="0">
                    <a:solidFill>
                      <a:srgbClr val="111827"/>
                    </a:solidFill>
                    <a:latin typeface="Arial"/>
                  </a:rPr>
                  <a:t> with </a:t>
                </a:r>
                <a:r>
                  <a:rPr lang="en-IN" sz="2400">
                    <a:solidFill>
                      <a:srgbClr val="111827"/>
                    </a:solidFill>
                    <a:latin typeface="Cambria Math" panose="02040503050406030204" pitchFamily="18" charset="0"/>
                  </a:rPr>
                  <a:t>$f'(x)\neq0$</a:t>
                </a:r>
                <a:r>
                  <a:rPr sz="2400" b="0">
                    <a:solidFill>
                      <a:srgbClr val="111827"/>
                    </a:solidFill>
                    <a:latin typeface="Arial"/>
                  </a:rPr>
                  <a:t> for </a:t>
                </a:r>
                <a:r>
                  <a:rPr lang="en-IN" sz="2400">
                    <a:solidFill>
                      <a:srgbClr val="111827"/>
                    </a:solidFill>
                    <a:latin typeface="Cambria Math" panose="02040503050406030204" pitchFamily="18" charset="0"/>
                  </a:rPr>
                  <a:t>$x\neq0$</a:t>
                </a:r>
                <a:r>
                  <a:rPr sz="2400" b="0">
                    <a:solidFill>
                      <a:srgbClr val="111827"/>
                    </a:solidFill>
                    <a:latin typeface="Arial"/>
                  </a:rPr>
                  <a:t> makes </a:t>
                </a:r>
                <a:r>
                  <a:rPr lang="en-IN" sz="2400">
                    <a:solidFill>
                      <a:srgbClr val="111827"/>
                    </a:solidFill>
                    <a:latin typeface="Cambria Math" panose="02040503050406030204" pitchFamily="18" charset="0"/>
                  </a:rPr>
                  <a:t>$f$</a:t>
                </a:r>
                <a:r>
                  <a:rPr sz="2400" b="0">
                    <a:solidFill>
                      <a:srgbClr val="111827"/>
                    </a:solidFill>
                    <a:latin typeface="Arial"/>
                  </a:rPr>
                  <a:t> strictly monotonic on each side of </a:t>
                </a:r>
                <a:r>
                  <a:rPr lang="en-IN" sz="2400">
                    <a:solidFill>
                      <a:srgbClr val="111827"/>
                    </a:solidFill>
                    <a:latin typeface="Cambria Math" panose="02040503050406030204" pitchFamily="18" charset="0"/>
                  </a:rPr>
                  <a: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strict local minimum that is the only critical point of a differentiable function is its global strict minimum.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Information about </a:t>
                </a:r>
                <a:r>
                  <a:rPr lang="en-IN" sz="2400">
                    <a:solidFill>
                      <a:srgbClr val="111827"/>
                    </a:solidFill>
                    <a:latin typeface="Cambria Math" panose="02040503050406030204" pitchFamily="18" charset="0"/>
                  </a:rPr>
                  <a:t>$f''$</a:t>
                </a:r>
                <a:r>
                  <a:rPr sz="2400" b="0">
                    <a:solidFill>
                      <a:srgbClr val="111827"/>
                    </a:solidFill>
                    <a:latin typeface="Arial"/>
                  </a:rPr>
                  <a:t> at one point does not fix its sign elsewhere; to refute 'for all </a:t>
                </a:r>
                <a:r>
                  <a:rPr lang="en-IN" sz="2400">
                    <a:solidFill>
                      <a:srgbClr val="111827"/>
                    </a:solidFill>
                    <a:latin typeface="Cambria Math" panose="02040503050406030204" pitchFamily="18" charset="0"/>
                  </a:rPr>
                  <a:t>$x$</a:t>
                </a:r>
                <a:r>
                  <a:rPr sz="2400" b="0">
                    <a:solidFill>
                      <a:srgbClr val="111827"/>
                    </a:solidFill>
                    <a:latin typeface="Arial"/>
                  </a:rPr>
                  <a:t>' options, use an explicit example such as </a:t>
                </a:r>
                <a:r>
                  <a:rPr lang="en-IN" sz="2400">
                    <a:solidFill>
                      <a:srgbClr val="111827"/>
                    </a:solidFill>
                    <a:latin typeface="Cambria Math" panose="02040503050406030204" pitchFamily="18" charset="0"/>
                  </a:rPr>
                  <a:t>$f(x)=\frac{\pi x^2}{1+x^2}$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55904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factory D is to be connected by a road with a straight railway line on which a town A is situated. The distance </a:t>
                </a:r>
                <a14:m>
                  <m:oMath xmlns:m="http://schemas.openxmlformats.org/officeDocument/2006/math">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𝐵</m:t>
                    </m:r>
                  </m:oMath>
                </a14:m>
                <a:r>
                  <a:rPr sz="2400" b="0">
                    <a:solidFill>
                      <a:srgbClr val="111827"/>
                    </a:solidFill>
                    <a:latin typeface="Arial"/>
                  </a:rPr>
                  <a:t> of the factory to the railway line is </a:t>
                </a:r>
                <a14:m>
                  <m:oMath xmlns:m="http://schemas.openxmlformats.org/officeDocument/2006/math">
                    <m:r>
                      <a:rPr lang="en-IN" sz="2400" i="1">
                        <a:solidFill>
                          <a:srgbClr val="111827"/>
                        </a:solidFill>
                        <a:latin typeface="Cambria Math" panose="02040503050406030204" pitchFamily="18" charset="0"/>
                      </a:rPr>
                      <m:t>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km. Length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of the railway line is </a:t>
                </a:r>
                <a14:m>
                  <m:oMath xmlns:m="http://schemas.openxmlformats.org/officeDocument/2006/math">
                    <m:r>
                      <a:rPr lang="en-IN" sz="2400" i="1">
                        <a:solidFill>
                          <a:srgbClr val="111827"/>
                        </a:solidFill>
                        <a:latin typeface="Cambria Math" panose="02040503050406030204" pitchFamily="18" charset="0"/>
                      </a:rPr>
                      <m:t>20</m:t>
                    </m:r>
                  </m:oMath>
                </a14:m>
                <a:r>
                  <a:rPr sz="2400" b="0">
                    <a:solidFill>
                      <a:srgbClr val="111827"/>
                    </a:solidFill>
                    <a:latin typeface="Arial"/>
                  </a:rPr>
                  <a:t> km. Freight charges on the road are twice the charges on the railway. The point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on the railway line should the road </a:t>
                </a:r>
                <a14:m>
                  <m:oMath xmlns:m="http://schemas.openxmlformats.org/officeDocument/2006/math">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𝑃</m:t>
                    </m:r>
                  </m:oMath>
                </a14:m>
                <a:r>
                  <a:rPr sz="2400" b="0">
                    <a:solidFill>
                      <a:srgbClr val="111827"/>
                    </a:solidFill>
                    <a:latin typeface="Arial"/>
                  </a:rPr>
                  <a:t> be connected so as to ensure minimum freight charges from the factory to the town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km   (B)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km   (C)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7.5</m:t>
                    </m:r>
                  </m:oMath>
                </a14:m>
                <a:r>
                  <a:rPr sz="2400" b="0">
                    <a:solidFill>
                      <a:srgbClr val="111827"/>
                    </a:solidFill>
                    <a:latin typeface="Arial"/>
                  </a:rPr>
                  <a:t> km   (D) None of these</a:t>
                </a:r>
                <a:endParaRPr sz="2400">
                  <a:solidFill>
                    <a:srgbClr val="111827"/>
                  </a:solidFill>
                </a:endParaRPr>
              </a:p>
            </p:txBody>
          </p:sp>
        </mc:Choice>
        <mc:Fallback>
          <p:sp>
            <p:nvSpPr>
              <p:cNvPr id="4" name="Rounded Rectangle 3"/>
              <p:cNvSpPr/>
              <p:nvPr/>
            </p:nvSpPr>
            <p:spPr>
              <a:xfrm>
                <a:off x="731520" y="1280160"/>
                <a:ext cx="10725912" cy="355904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factory D is to be connected by a road with a straight railway line on which a town A is situated. The distance </a:t>
                </a:r>
                <a:r>
                  <a:rPr lang="en-IN" sz="2400">
                    <a:solidFill>
                      <a:srgbClr val="111827"/>
                    </a:solidFill>
                    <a:latin typeface="Cambria Math" panose="02040503050406030204" pitchFamily="18" charset="0"/>
                  </a:rPr>
                  <a:t>$DB$</a:t>
                </a:r>
                <a:r>
                  <a:rPr sz="2400" b="0">
                    <a:solidFill>
                      <a:srgbClr val="111827"/>
                    </a:solidFill>
                    <a:latin typeface="Arial"/>
                  </a:rPr>
                  <a:t> of the factory to the railway line is </a:t>
                </a:r>
                <a:r>
                  <a:rPr lang="en-IN" sz="2400">
                    <a:solidFill>
                      <a:srgbClr val="111827"/>
                    </a:solidFill>
                    <a:latin typeface="Cambria Math" panose="02040503050406030204" pitchFamily="18" charset="0"/>
                  </a:rPr>
                  <a:t>$5\sqrt{3}$</a:t>
                </a:r>
                <a:r>
                  <a:rPr sz="2400" b="0">
                    <a:solidFill>
                      <a:srgbClr val="111827"/>
                    </a:solidFill>
                    <a:latin typeface="Arial"/>
                  </a:rPr>
                  <a:t> km. Length </a:t>
                </a:r>
                <a:r>
                  <a:rPr lang="en-IN" sz="2400">
                    <a:solidFill>
                      <a:srgbClr val="111827"/>
                    </a:solidFill>
                    <a:latin typeface="Cambria Math" panose="02040503050406030204" pitchFamily="18" charset="0"/>
                  </a:rPr>
                  <a:t>$AB$</a:t>
                </a:r>
                <a:r>
                  <a:rPr sz="2400" b="0">
                    <a:solidFill>
                      <a:srgbClr val="111827"/>
                    </a:solidFill>
                    <a:latin typeface="Arial"/>
                  </a:rPr>
                  <a:t> of the railway line is </a:t>
                </a:r>
                <a:r>
                  <a:rPr lang="en-IN" sz="2400">
                    <a:solidFill>
                      <a:srgbClr val="111827"/>
                    </a:solidFill>
                    <a:latin typeface="Cambria Math" panose="02040503050406030204" pitchFamily="18" charset="0"/>
                  </a:rPr>
                  <a:t>$20$</a:t>
                </a:r>
                <a:r>
                  <a:rPr sz="2400" b="0">
                    <a:solidFill>
                      <a:srgbClr val="111827"/>
                    </a:solidFill>
                    <a:latin typeface="Arial"/>
                  </a:rPr>
                  <a:t> km. Freight charges on the road are twice the charges on the railway. The point </a:t>
                </a:r>
                <a:r>
                  <a:rPr lang="en-IN" sz="2400">
                    <a:solidFill>
                      <a:srgbClr val="111827"/>
                    </a:solidFill>
                    <a:latin typeface="Cambria Math" panose="02040503050406030204" pitchFamily="18" charset="0"/>
                  </a:rPr>
                  <a:t>$P$</a:t>
                </a:r>
                <a:r>
                  <a:rPr sz="2400" b="0">
                    <a:solidFill>
                      <a:srgbClr val="111827"/>
                    </a:solidFill>
                    <a:latin typeface="Arial"/>
                  </a:rPr>
                  <a:t> (</a:t>
                </a:r>
                <a:r>
                  <a:rPr lang="en-IN" sz="2400">
                    <a:solidFill>
                      <a:srgbClr val="111827"/>
                    </a:solidFill>
                    <a:latin typeface="Cambria Math" panose="02040503050406030204" pitchFamily="18" charset="0"/>
                  </a:rPr>
                  <a:t>$AP&lt;AB$</a:t>
                </a:r>
                <a:r>
                  <a:rPr sz="2400" b="0">
                    <a:solidFill>
                      <a:srgbClr val="111827"/>
                    </a:solidFill>
                    <a:latin typeface="Arial"/>
                  </a:rPr>
                  <a:t>) on the railway line should the road </a:t>
                </a:r>
                <a:r>
                  <a:rPr lang="en-IN" sz="2400">
                    <a:solidFill>
                      <a:srgbClr val="111827"/>
                    </a:solidFill>
                    <a:latin typeface="Cambria Math" panose="02040503050406030204" pitchFamily="18" charset="0"/>
                  </a:rPr>
                  <a:t>$DP$</a:t>
                </a:r>
                <a:r>
                  <a:rPr sz="2400" b="0">
                    <a:solidFill>
                      <a:srgbClr val="111827"/>
                    </a:solidFill>
                    <a:latin typeface="Arial"/>
                  </a:rPr>
                  <a:t> be connected so as to ensure minimum freight charges from the factory to the town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$BP=5$</a:t>
                </a:r>
                <a:r>
                  <a:rPr sz="2400" b="0">
                    <a:solidFill>
                      <a:srgbClr val="111827"/>
                    </a:solidFill>
                    <a:latin typeface="Arial"/>
                  </a:rPr>
                  <a:t> km   (B) </a:t>
                </a:r>
                <a:r>
                  <a:rPr lang="en-IN" sz="2400">
                    <a:solidFill>
                      <a:srgbClr val="111827"/>
                    </a:solidFill>
                    <a:latin typeface="Cambria Math" panose="02040503050406030204" pitchFamily="18" charset="0"/>
                  </a:rPr>
                  <a:t>$AP=5$</a:t>
                </a:r>
                <a:r>
                  <a:rPr sz="2400" b="0">
                    <a:solidFill>
                      <a:srgbClr val="111827"/>
                    </a:solidFill>
                    <a:latin typeface="Arial"/>
                  </a:rPr>
                  <a:t> km   (C) </a:t>
                </a:r>
                <a:r>
                  <a:rPr lang="en-IN" sz="2400">
                    <a:solidFill>
                      <a:srgbClr val="111827"/>
                    </a:solidFill>
                    <a:latin typeface="Cambria Math" panose="02040503050406030204" pitchFamily="18" charset="0"/>
                  </a:rPr>
                  <a:t>$BP=7.5$</a:t>
                </a:r>
                <a:r>
                  <a:rPr sz="2400" b="0">
                    <a:solidFill>
                      <a:srgbClr val="111827"/>
                    </a:solidFill>
                    <a:latin typeface="Arial"/>
                  </a:rPr>
                  <a:t> km   (D) None of these</a:t>
                </a:r>
                <a:endParaRPr sz="2400">
                  <a:solidFill>
                    <a:srgbClr val="111827"/>
                  </a:solidFill>
                </a:endParaRPr>
              </a:p>
            </p:txBody>
          </p:sp>
        </mc:Fallback>
      </mc:AlternateContent>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Optimisation: maxima and minima word problem</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Total cost is </a:t>
                </a:r>
                <a14:m>
                  <m:oMath xmlns:m="http://schemas.openxmlformats.org/officeDocument/2006/math">
                    <m:r>
                      <a:rPr lang="en-IN" sz="2400" i="1">
                        <a:solidFill>
                          <a:srgbClr val="78350F"/>
                        </a:solidFill>
                        <a:latin typeface="Cambria Math" panose="02040503050406030204" pitchFamily="18" charset="0"/>
                      </a:rPr>
                      <m:t>𝑘</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𝑘</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𝐷</m:t>
                    </m:r>
                    <m:r>
                      <a:rPr lang="en-IN" sz="2400" i="1">
                        <a:solidFill>
                          <a:srgbClr val="78350F"/>
                        </a:solidFill>
                        <a:latin typeface="Cambria Math" panose="02040503050406030204" pitchFamily="18" charset="0"/>
                      </a:rPr>
                      <m:t>𝑃</m:t>
                    </m:r>
                  </m:oMath>
                </a14:m>
                <a:r>
                  <a:rPr sz="2400" b="0">
                    <a:solidFill>
                      <a:srgbClr val="78350F"/>
                    </a:solidFill>
                    <a:latin typeface="Arial"/>
                  </a:rPr>
                  <a:t>; setting its derivative to zero gives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20</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25</m:t>
                    </m:r>
                  </m:oMath>
                </a14:m>
                <a:r>
                  <a:rPr sz="2400" b="0">
                    <a:solidFill>
                      <a:srgbClr val="78350F"/>
                    </a:solidFill>
                    <a:latin typeface="Arial"/>
                  </a:rPr>
                  <a:t> and the domain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&lt;</m:t>
                    </m:r>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oMath>
                </a14:m>
                <a:r>
                  <a:rPr sz="2400" b="0">
                    <a:solidFill>
                      <a:srgbClr val="78350F"/>
                    </a:solidFill>
                    <a:latin typeface="Arial"/>
                  </a:rPr>
                  <a:t> picks the root.</a:t>
                </a:r>
                <a:endParaRPr sz="2400">
                  <a:solidFill>
                    <a:srgbClr val="78350F"/>
                  </a:solidFill>
                </a:endParaRPr>
              </a:p>
            </p:txBody>
          </p:sp>
        </mc:Choice>
        <mc:Fallback>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Total cost is </a:t>
                </a:r>
                <a:r>
                  <a:rPr lang="en-IN" sz="2400">
                    <a:solidFill>
                      <a:srgbClr val="78350F"/>
                    </a:solidFill>
                    <a:latin typeface="Cambria Math" panose="02040503050406030204" pitchFamily="18" charset="0"/>
                  </a:rPr>
                  <a:t>$k\,AP+2k\,DP$</a:t>
                </a:r>
                <a:r>
                  <a:rPr sz="2400" b="0">
                    <a:solidFill>
                      <a:srgbClr val="78350F"/>
                    </a:solidFill>
                    <a:latin typeface="Arial"/>
                  </a:rPr>
                  <a:t>; setting its derivative to zero gives </a:t>
                </a:r>
                <a:r>
                  <a:rPr lang="en-IN" sz="2400">
                    <a:solidFill>
                      <a:srgbClr val="78350F"/>
                    </a:solidFill>
                    <a:latin typeface="Cambria Math" panose="02040503050406030204" pitchFamily="18" charset="0"/>
                  </a:rPr>
                  <a:t>$(x-20)^2=25$</a:t>
                </a:r>
                <a:r>
                  <a:rPr sz="2400" b="0">
                    <a:solidFill>
                      <a:srgbClr val="78350F"/>
                    </a:solidFill>
                    <a:latin typeface="Arial"/>
                  </a:rPr>
                  <a:t> and the domain </a:t>
                </a:r>
                <a:r>
                  <a:rPr lang="en-IN" sz="2400">
                    <a:solidFill>
                      <a:srgbClr val="78350F"/>
                    </a:solidFill>
                    <a:latin typeface="Cambria Math" panose="02040503050406030204" pitchFamily="18" charset="0"/>
                  </a:rPr>
                  <a:t>$AP&lt;AB$</a:t>
                </a:r>
                <a:r>
                  <a:rPr sz="2400" b="0">
                    <a:solidFill>
                      <a:srgbClr val="78350F"/>
                    </a:solidFill>
                    <a:latin typeface="Arial"/>
                  </a:rPr>
                  <a:t> picks the root.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km (so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20</m:t>
                    </m:r>
                  </m:oMath>
                </a14:m>
                <a:r>
                  <a:rPr sz="2400" b="0">
                    <a:solidFill>
                      <a:srgbClr val="111827"/>
                    </a:solidFill>
                    <a:latin typeface="Arial"/>
                  </a:rPr>
                  <a:t>) and let the charge on the railway be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Rs/km; the road costs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oMath>
                </a14:m>
                <a:r>
                  <a:rPr sz="2400" b="0">
                    <a:solidFill>
                      <a:srgbClr val="111827"/>
                    </a:solidFill>
                    <a:latin typeface="Arial"/>
                  </a:rPr>
                  <a:t> Rs/km. Since </a:t>
                </a:r>
                <a14:m>
                  <m:oMath xmlns:m="http://schemas.openxmlformats.org/officeDocument/2006/math">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75</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freight charges: </a:t>
                </a:r>
                <a14:m>
                  <m:oMath xmlns:m="http://schemas.openxmlformats.org/officeDocument/2006/math">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ad>
                      <m:radPr>
                        <m:degHide m:val="on"/>
                        <m:ctrlPr>
                          <a:rPr lang="en-IN" sz="2400" i="1">
                            <a:solidFill>
                              <a:srgbClr val="111827"/>
                            </a:solidFill>
                            <a:latin typeface="Cambria Math" panose="02040503050406030204" pitchFamily="18" charset="0"/>
                          </a:rPr>
                        </m:ctrlPr>
                      </m:radPr>
                      <m:deg/>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75</m:t>
                        </m:r>
                      </m:e>
                    </m:rad>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$AP=x$</a:t>
                </a:r>
                <a:r>
                  <a:rPr sz="2400" b="0">
                    <a:solidFill>
                      <a:srgbClr val="111827"/>
                    </a:solidFill>
                    <a:latin typeface="Arial"/>
                  </a:rPr>
                  <a:t> km (so </a:t>
                </a:r>
                <a:r>
                  <a:rPr lang="en-IN" sz="2400">
                    <a:solidFill>
                      <a:srgbClr val="111827"/>
                    </a:solidFill>
                    <a:latin typeface="Cambria Math" panose="02040503050406030204" pitchFamily="18" charset="0"/>
                  </a:rPr>
                  <a:t>$0&lt;x&lt;20$</a:t>
                </a:r>
                <a:r>
                  <a:rPr sz="2400" b="0">
                    <a:solidFill>
                      <a:srgbClr val="111827"/>
                    </a:solidFill>
                    <a:latin typeface="Arial"/>
                  </a:rPr>
                  <a:t>) and let the charge on the railway be </a:t>
                </a:r>
                <a:r>
                  <a:rPr lang="en-IN" sz="2400">
                    <a:solidFill>
                      <a:srgbClr val="111827"/>
                    </a:solidFill>
                    <a:latin typeface="Cambria Math" panose="02040503050406030204" pitchFamily="18" charset="0"/>
                  </a:rPr>
                  <a:t>$k$</a:t>
                </a:r>
                <a:r>
                  <a:rPr sz="2400" b="0">
                    <a:solidFill>
                      <a:srgbClr val="111827"/>
                    </a:solidFill>
                    <a:latin typeface="Arial"/>
                  </a:rPr>
                  <a:t> Rs/km; the road costs </a:t>
                </a:r>
                <a:r>
                  <a:rPr lang="en-IN" sz="2400">
                    <a:solidFill>
                      <a:srgbClr val="111827"/>
                    </a:solidFill>
                    <a:latin typeface="Cambria Math" panose="02040503050406030204" pitchFamily="18" charset="0"/>
                  </a:rPr>
                  <a:t>$2k$</a:t>
                </a:r>
                <a:r>
                  <a:rPr sz="2400" b="0">
                    <a:solidFill>
                      <a:srgbClr val="111827"/>
                    </a:solidFill>
                    <a:latin typeface="Arial"/>
                  </a:rPr>
                  <a:t> Rs/km. Since </a:t>
                </a:r>
                <a:r>
                  <a:rPr lang="en-IN" sz="2400">
                    <a:solidFill>
                      <a:srgbClr val="111827"/>
                    </a:solidFill>
                    <a:latin typeface="Cambria Math" panose="02040503050406030204" pitchFamily="18" charset="0"/>
                  </a:rPr>
                  <a:t>$DB=5\sqrt3$</a:t>
                </a:r>
                <a:r>
                  <a:rPr sz="2400" b="0">
                    <a:solidFill>
                      <a:srgbClr val="111827"/>
                    </a:solidFill>
                    <a:latin typeface="Arial"/>
                  </a:rPr>
                  <a:t>, </a:t>
                </a:r>
                <a:r>
                  <a:rPr lang="en-IN" sz="2400">
                    <a:solidFill>
                      <a:srgbClr val="111827"/>
                    </a:solidFill>
                    <a:latin typeface="Cambria Math" panose="02040503050406030204" pitchFamily="18" charset="0"/>
                  </a:rPr>
                  <a:t>$DP=\sqrt{(20-x)^2+75}$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freight charges: </a:t>
                </a:r>
                <a:r>
                  <a:rPr lang="en-IN" sz="2400">
                    <a:solidFill>
                      <a:srgbClr val="111827"/>
                    </a:solidFill>
                    <a:latin typeface="Cambria Math" panose="02040503050406030204" pitchFamily="18" charset="0"/>
                  </a:rPr>
                  <a:t>$T=kx+2k\sqrt{(20-x)^2+75}$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minimum,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𝑇</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75</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75</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squaring gives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75</m:t>
                    </m:r>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 would also make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negative).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 is a minimum: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𝑇</m:t>
                        </m:r>
                      </m:num>
                      <m:den>
                        <m:r>
                          <a:rPr lang="en-IN" sz="2400" i="1">
                            <a:solidFill>
                              <a:srgbClr val="111827"/>
                            </a:solidFill>
                            <a:latin typeface="Cambria Math" panose="02040503050406030204" pitchFamily="18" charset="0"/>
                          </a:rPr>
                          <m:t>𝑑</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150</m:t>
                        </m:r>
                        <m:r>
                          <a:rPr lang="en-IN" sz="2400" i="1">
                            <a:solidFill>
                              <a:srgbClr val="111827"/>
                            </a:solidFill>
                            <a:latin typeface="Cambria Math" panose="02040503050406030204" pitchFamily="18" charset="0"/>
                          </a:rPr>
                          <m:t>𝑘</m:t>
                        </m:r>
                      </m:num>
                      <m:den>
                        <m:sSup>
                          <m:e>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75</m:t>
                                </m:r>
                              </m:e>
                            </m:d>
                          </m:e>
                          <m:sup>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km, so option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minimum, </a:t>
                </a:r>
                <a:r>
                  <a:rPr lang="en-IN" sz="2400">
                    <a:solidFill>
                      <a:srgbClr val="111827"/>
                    </a:solidFill>
                    <a:latin typeface="Cambria Math" panose="02040503050406030204" pitchFamily="18" charset="0"/>
                  </a:rPr>
                  <a:t>$\frac{dT}{dx}=0$</a:t>
                </a:r>
                <a:r>
                  <a:rPr sz="2400" b="0">
                    <a:solidFill>
                      <a:srgbClr val="111827"/>
                    </a:solidFill>
                    <a:latin typeface="Arial"/>
                  </a:rPr>
                  <a:t>: </a:t>
                </a:r>
                <a:r>
                  <a:rPr lang="en-IN" sz="2400">
                    <a:solidFill>
                      <a:srgbClr val="111827"/>
                    </a:solidFill>
                    <a:latin typeface="Cambria Math" panose="02040503050406030204" pitchFamily="18" charset="0"/>
                  </a:rPr>
                  <a:t>$k+2k\cdot\frac{2(x-20)}{2\sqrt{(x-20)^2+75}}=0$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$\sqrt{(x-20)^2+75}=2(20-x)$</a:t>
                </a:r>
                <a:r>
                  <a:rPr sz="2400" b="0">
                    <a:solidFill>
                      <a:srgbClr val="111827"/>
                    </a:solidFill>
                    <a:latin typeface="Arial"/>
                  </a:rPr>
                  <a:t>; squaring gives </a:t>
                </a:r>
                <a:r>
                  <a:rPr lang="en-IN" sz="2400">
                    <a:solidFill>
                      <a:srgbClr val="111827"/>
                    </a:solidFill>
                    <a:latin typeface="Cambria Math" panose="02040503050406030204" pitchFamily="18" charset="0"/>
                  </a:rPr>
                  <a:t>$4(x-20)^2=75+(x-20)^2$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$3(x-20)^2=75$</a:t>
                </a:r>
                <a:r>
                  <a:rPr sz="2400" b="0">
                    <a:solidFill>
                      <a:srgbClr val="111827"/>
                    </a:solidFill>
                    <a:latin typeface="Arial"/>
                  </a:rPr>
                  <a:t>, i.e. </a:t>
                </a:r>
                <a:r>
                  <a:rPr lang="en-IN" sz="2400">
                    <a:solidFill>
                      <a:srgbClr val="111827"/>
                    </a:solidFill>
                    <a:latin typeface="Cambria Math" panose="02040503050406030204" pitchFamily="18" charset="0"/>
                  </a:rPr>
                  <a:t>$(x-20)^2=25$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$x=25$</a:t>
                </a:r>
                <a:r>
                  <a:rPr sz="2400" b="0">
                    <a:solidFill>
                      <a:srgbClr val="111827"/>
                    </a:solidFill>
                    <a:latin typeface="Arial"/>
                  </a:rPr>
                  <a:t> or </a:t>
                </a:r>
                <a:r>
                  <a:rPr lang="en-IN" sz="2400">
                    <a:solidFill>
                      <a:srgbClr val="111827"/>
                    </a:solidFill>
                    <a:latin typeface="Cambria Math" panose="02040503050406030204" pitchFamily="18" charset="0"/>
                  </a:rPr>
                  <a:t>$x=15$</a:t>
                </a:r>
                <a:r>
                  <a:rPr sz="2400" b="0">
                    <a:solidFill>
                      <a:srgbClr val="111827"/>
                    </a:solidFill>
                    <a:latin typeface="Arial"/>
                  </a:rPr>
                  <a:t>. Since </a:t>
                </a:r>
                <a:r>
                  <a:rPr lang="en-IN" sz="2400">
                    <a:solidFill>
                      <a:srgbClr val="111827"/>
                    </a:solidFill>
                    <a:latin typeface="Cambria Math" panose="02040503050406030204" pitchFamily="18" charset="0"/>
                  </a:rPr>
                  <a:t>$AP&lt;AB=20$</a:t>
                </a:r>
                <a:r>
                  <a:rPr sz="2400" b="0">
                    <a:solidFill>
                      <a:srgbClr val="111827"/>
                    </a:solidFill>
                    <a:latin typeface="Arial"/>
                  </a:rPr>
                  <a:t>, </a:t>
                </a:r>
                <a:r>
                  <a:rPr lang="en-IN" sz="2400">
                    <a:solidFill>
                      <a:srgbClr val="111827"/>
                    </a:solidFill>
                    <a:latin typeface="Cambria Math" panose="02040503050406030204" pitchFamily="18" charset="0"/>
                  </a:rPr>
                  <a:t>$x=15$</a:t>
                </a:r>
                <a:r>
                  <a:rPr sz="2400" b="0">
                    <a:solidFill>
                      <a:srgbClr val="111827"/>
                    </a:solidFill>
                    <a:latin typeface="Arial"/>
                  </a:rPr>
                  <a:t> (and </a:t>
                </a:r>
                <a:r>
                  <a:rPr lang="en-IN" sz="2400">
                    <a:solidFill>
                      <a:srgbClr val="111827"/>
                    </a:solidFill>
                    <a:latin typeface="Cambria Math" panose="02040503050406030204" pitchFamily="18" charset="0"/>
                  </a:rPr>
                  <a:t>$x=25$</a:t>
                </a:r>
                <a:r>
                  <a:rPr sz="2400" b="0">
                    <a:solidFill>
                      <a:srgbClr val="111827"/>
                    </a:solidFill>
                    <a:latin typeface="Arial"/>
                  </a:rPr>
                  <a:t> would also make </a:t>
                </a:r>
                <a:r>
                  <a:rPr lang="en-IN" sz="2400">
                    <a:solidFill>
                      <a:srgbClr val="111827"/>
                    </a:solidFill>
                    <a:latin typeface="Cambria Math" panose="02040503050406030204" pitchFamily="18" charset="0"/>
                  </a:rPr>
                  <a:t>$2(20-x)$</a:t>
                </a:r>
                <a:r>
                  <a:rPr sz="2400" b="0">
                    <a:solidFill>
                      <a:srgbClr val="111827"/>
                    </a:solidFill>
                    <a:latin typeface="Arial"/>
                  </a:rPr>
                  <a:t> negative).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 is a minimum: </a:t>
                </a:r>
                <a:r>
                  <a:rPr lang="en-IN" sz="2400">
                    <a:solidFill>
                      <a:srgbClr val="111827"/>
                    </a:solidFill>
                    <a:latin typeface="Cambria Math" panose="02040503050406030204" pitchFamily="18" charset="0"/>
                  </a:rPr>
                  <a:t>$\frac{d^2T}{dx^2}=\frac{150k}{\left((x-20)^2+75\right)^{3/2}}&gt;0$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$PB=AB-AP=20-15=5$</a:t>
                </a:r>
                <a:r>
                  <a:rPr sz="2400" b="0">
                    <a:solidFill>
                      <a:srgbClr val="111827"/>
                    </a:solidFill>
                    <a:latin typeface="Arial"/>
                  </a:rPr>
                  <a:t> km, so option (A).</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r>
                      <a:rPr lang="en-IN" sz="2800" i="1">
                        <a:solidFill>
                          <a:srgbClr val="15803D"/>
                        </a:solidFill>
                        <a:latin typeface="Cambria Math" panose="02040503050406030204" pitchFamily="18" charset="0"/>
                      </a:rPr>
                      <m:t>𝐵</m:t>
                    </m:r>
                    <m:r>
                      <a:rPr lang="en-IN" sz="2800" i="1">
                        <a:solidFill>
                          <a:srgbClr val="15803D"/>
                        </a:solidFill>
                        <a:latin typeface="Cambria Math" panose="02040503050406030204" pitchFamily="18" charset="0"/>
                      </a:rPr>
                      <m:t>𝑃</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5</m:t>
                    </m:r>
                  </m:oMath>
                </a14:m>
                <a:r>
                  <a:rPr sz="2800" b="1">
                    <a:solidFill>
                      <a:srgbClr val="15803D"/>
                    </a:solidFill>
                    <a:latin typeface="Arial"/>
                  </a:rPr>
                  <a:t> km</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$BP=5$</a:t>
                </a:r>
                <a:r>
                  <a:rPr sz="2800" b="1">
                    <a:solidFill>
                      <a:srgbClr val="15803D"/>
                    </a:solidFill>
                    <a:latin typeface="Arial"/>
                  </a:rPr>
                  <a:t> km</a:t>
                </a:r>
                <a:endParaRPr sz="2800">
                  <a:solidFill>
                    <a:srgbClr val="15803D"/>
                  </a:solidFill>
                </a:endParaRPr>
              </a:p>
            </p:txBody>
          </p:sp>
        </mc:Fallback>
      </mc:AlternateContent>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70078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angle </a:t>
                </a:r>
                <a14:m>
                  <m:oMath xmlns:m="http://schemas.openxmlformats.org/officeDocument/2006/math">
                    <m:r>
                      <a:rPr lang="en-IN" sz="2400" i="1">
                        <a:solidFill>
                          <a:srgbClr val="78350F"/>
                        </a:solidFill>
                        <a:latin typeface="Cambria Math" panose="02040503050406030204" pitchFamily="18" charset="0"/>
                      </a:rPr>
                      <m:t>θ</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𝐷</m:t>
                    </m:r>
                    <m:r>
                      <a:rPr lang="en-IN" sz="2400" i="1">
                        <a:solidFill>
                          <a:srgbClr val="78350F"/>
                        </a:solidFill>
                        <a:latin typeface="Cambria Math" panose="02040503050406030204" pitchFamily="18" charset="0"/>
                      </a:rPr>
                      <m:t>𝑃</m:t>
                    </m:r>
                    <m:r>
                      <a:rPr lang="en-IN" sz="2400" i="1">
                        <a:solidFill>
                          <a:srgbClr val="78350F"/>
                        </a:solidFill>
                        <a:latin typeface="Cambria Math" panose="02040503050406030204" pitchFamily="18" charset="0"/>
                      </a:rPr>
                      <m:t>𝐵</m:t>
                    </m:r>
                  </m:oMath>
                </a14:m>
                <a:r>
                  <a:rPr sz="2400" b="0">
                    <a:solidFill>
                      <a:srgbClr val="78350F"/>
                    </a:solidFill>
                    <a:latin typeface="Arial"/>
                  </a:rPr>
                  <a:t> as variable; the cost becomes </a:t>
                </a:r>
                <a14:m>
                  <m:oMath xmlns:m="http://schemas.openxmlformats.org/officeDocument/2006/math">
                    <m:r>
                      <a:rPr lang="en-IN" sz="2400" i="1">
                        <a:solidFill>
                          <a:srgbClr val="78350F"/>
                        </a:solidFill>
                        <a:latin typeface="Cambria Math" panose="02040503050406030204" pitchFamily="18" charset="0"/>
                      </a:rPr>
                      <m:t>20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3</m:t>
                        </m:r>
                      </m:e>
                    </m:rad>
                    <m:r>
                      <a:rPr lang="en-IN" sz="2400" i="1">
                        <a:solidFill>
                          <a:srgbClr val="78350F"/>
                        </a:solidFill>
                        <a:latin typeface="Cambria Math" panose="02040503050406030204" pitchFamily="18" charset="0"/>
                      </a:rPr>
                      <m:t> </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θ</m:t>
                        </m:r>
                      </m:num>
                      <m:den>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θ</m:t>
                        </m:r>
                      </m:den>
                    </m:f>
                  </m:oMath>
                </a14:m>
                <a:r>
                  <a:rPr sz="2400" b="0">
                    <a:solidFill>
                      <a:srgbClr val="78350F"/>
                    </a:solidFill>
                    <a:latin typeface="Arial"/>
                  </a:rPr>
                  <a:t> and the optimum is the refraction condition </a:t>
                </a:r>
                <a14:m>
                  <m:oMath xmlns:m="http://schemas.openxmlformats.org/officeDocument/2006/math">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θ</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70078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angle </a:t>
                </a:r>
                <a:r>
                  <a:rPr lang="en-IN" sz="2400">
                    <a:solidFill>
                      <a:srgbClr val="78350F"/>
                    </a:solidFill>
                    <a:latin typeface="Cambria Math" panose="02040503050406030204" pitchFamily="18" charset="0"/>
                  </a:rPr>
                  <a:t>$\theta=\angle DPB$</a:t>
                </a:r>
                <a:r>
                  <a:rPr sz="2400" b="0">
                    <a:solidFill>
                      <a:srgbClr val="78350F"/>
                    </a:solidFill>
                    <a:latin typeface="Arial"/>
                  </a:rPr>
                  <a:t> as variable; the cost becomes </a:t>
                </a:r>
                <a:r>
                  <a:rPr lang="en-IN" sz="2400">
                    <a:solidFill>
                      <a:srgbClr val="78350F"/>
                    </a:solidFill>
                    <a:latin typeface="Cambria Math" panose="02040503050406030204" pitchFamily="18" charset="0"/>
                  </a:rPr>
                  <a:t>$20+5\sqrt3\,\frac{2-\cos\theta}{\sin\theta}$</a:t>
                </a:r>
                <a:r>
                  <a:rPr sz="2400" b="0">
                    <a:solidFill>
                      <a:srgbClr val="78350F"/>
                    </a:solidFill>
                    <a:latin typeface="Arial"/>
                  </a:rPr>
                  <a:t> and the optimum is the refraction condition </a:t>
                </a:r>
                <a:r>
                  <a:rPr lang="en-IN" sz="2400">
                    <a:solidFill>
                      <a:srgbClr val="78350F"/>
                    </a:solidFill>
                    <a:latin typeface="Cambria Math" panose="02040503050406030204" pitchFamily="18" charset="0"/>
                  </a:rPr>
                  <a:t>$\cos\theta=\frac12$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3118103"/>
                <a:ext cx="10725912" cy="35570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𝐵</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θ</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θ</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Cost divided by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 </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θ</m:t>
                        </m:r>
                      </m:den>
                    </m:f>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num>
                      <m:den>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num>
                      <m:den>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3118103"/>
                <a:ext cx="10725912" cy="35570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$\theta=\angle DPB$</a:t>
                </a:r>
                <a:r>
                  <a:rPr sz="2400" b="0">
                    <a:solidFill>
                      <a:srgbClr val="111827"/>
                    </a:solidFill>
                    <a:latin typeface="Arial"/>
                  </a:rPr>
                  <a:t>. Then </a:t>
                </a:r>
                <a:r>
                  <a:rPr lang="en-IN" sz="2400">
                    <a:solidFill>
                      <a:srgbClr val="111827"/>
                    </a:solidFill>
                    <a:latin typeface="Cambria Math" panose="02040503050406030204" pitchFamily="18" charset="0"/>
                  </a:rPr>
                  <a:t>$DP=\frac{5\sqrt3}{\sin\theta}$</a:t>
                </a:r>
                <a:r>
                  <a:rPr sz="2400" b="0">
                    <a:solidFill>
                      <a:srgbClr val="111827"/>
                    </a:solidFill>
                    <a:latin typeface="Arial"/>
                  </a:rPr>
                  <a:t>, </a:t>
                </a:r>
                <a:r>
                  <a:rPr lang="en-IN" sz="2400">
                    <a:solidFill>
                      <a:srgbClr val="111827"/>
                    </a:solidFill>
                    <a:latin typeface="Cambria Math" panose="02040503050406030204" pitchFamily="18" charset="0"/>
                  </a:rPr>
                  <a:t>$PB=5\sqrt3\cot\theta$</a:t>
                </a:r>
                <a:r>
                  <a:rPr sz="2400" b="0">
                    <a:solidFill>
                      <a:srgbClr val="111827"/>
                    </a:solidFill>
                    <a:latin typeface="Arial"/>
                  </a:rPr>
                  <a:t> and </a:t>
                </a:r>
                <a:r>
                  <a:rPr lang="en-IN" sz="2400">
                    <a:solidFill>
                      <a:srgbClr val="111827"/>
                    </a:solidFill>
                    <a:latin typeface="Cambria Math" panose="02040503050406030204" pitchFamily="18" charset="0"/>
                  </a:rPr>
                  <a:t>$AP=20-5\sqrt3\cot\theta$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Cost divided by </a:t>
                </a:r>
                <a:r>
                  <a:rPr lang="en-IN" sz="2400">
                    <a:solidFill>
                      <a:srgbClr val="111827"/>
                    </a:solidFill>
                    <a:latin typeface="Cambria Math" panose="02040503050406030204" pitchFamily="18" charset="0"/>
                  </a:rPr>
                  <a:t>$k$</a:t>
                </a:r>
                <a:r>
                  <a:rPr sz="2400" b="0">
                    <a:solidFill>
                      <a:srgbClr val="111827"/>
                    </a:solidFill>
                    <a:latin typeface="Arial"/>
                  </a:rPr>
                  <a:t>: </a:t>
                </a:r>
                <a:r>
                  <a:rPr lang="en-IN" sz="2400">
                    <a:solidFill>
                      <a:srgbClr val="111827"/>
                    </a:solidFill>
                    <a:latin typeface="Cambria Math" panose="02040503050406030204" pitchFamily="18" charset="0"/>
                  </a:rPr>
                  <a:t>$C=AP+2DP=20-5\sqrt3\cot\theta+\frac{10\sqrt3}{\sin\theta}=20+5\sqrt3\,\frac{2-\cos\theta}{\sin\theta}$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$\frac{d}{d\theta}\left(\frac{2-\cos\theta}{\sin\theta}\right)=\frac{\sin^2\theta-(2-\cos\theta)\cos\theta}{\sin^2\theta}=\frac{1-2\cos\theta}{\sin^2\theta}$</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This is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at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it is negative for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&lt;</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positive after, so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is minimum there.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cot</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km, so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km and the minimum cost is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a:rPr lang="en-IN" sz="2400" i="1">
                        <a:solidFill>
                          <a:srgbClr val="111827"/>
                        </a:solidFill>
                        <a:latin typeface="Cambria Math" panose="02040503050406030204" pitchFamily="18" charset="0"/>
                      </a:rPr>
                      <m:t>𝑘</m:t>
                    </m:r>
                  </m:oMath>
                </a14:m>
                <a:r>
                  <a:rPr sz="2400" b="0">
                    <a:solidFill>
                      <a:srgbClr val="111827"/>
                    </a:solidFill>
                    <a:latin typeface="Arial"/>
                  </a:rPr>
                  <a:t>. Option (A).</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This is </a:t>
                </a:r>
                <a:r>
                  <a:rPr lang="en-IN" sz="2400">
                    <a:solidFill>
                      <a:srgbClr val="111827"/>
                    </a:solidFill>
                    <a:latin typeface="Cambria Math" panose="02040503050406030204" pitchFamily="18" charset="0"/>
                  </a:rPr>
                  <a:t>$0$</a:t>
                </a:r>
                <a:r>
                  <a:rPr sz="2400" b="0">
                    <a:solidFill>
                      <a:srgbClr val="111827"/>
                    </a:solidFill>
                    <a:latin typeface="Arial"/>
                  </a:rPr>
                  <a:t> at </a:t>
                </a:r>
                <a:r>
                  <a:rPr lang="en-IN" sz="2400">
                    <a:solidFill>
                      <a:srgbClr val="111827"/>
                    </a:solidFill>
                    <a:latin typeface="Cambria Math" panose="02040503050406030204" pitchFamily="18" charset="0"/>
                  </a:rPr>
                  <a:t>$\cos\theta=\frac12$</a:t>
                </a:r>
                <a:r>
                  <a:rPr sz="2400" b="0">
                    <a:solidFill>
                      <a:srgbClr val="111827"/>
                    </a:solidFill>
                    <a:latin typeface="Arial"/>
                  </a:rPr>
                  <a:t>, i.e. </a:t>
                </a:r>
                <a:r>
                  <a:rPr lang="en-IN" sz="2400">
                    <a:solidFill>
                      <a:srgbClr val="111827"/>
                    </a:solidFill>
                    <a:latin typeface="Cambria Math" panose="02040503050406030204" pitchFamily="18" charset="0"/>
                  </a:rPr>
                  <a:t>$\theta=60^\circ$</a:t>
                </a:r>
                <a:r>
                  <a:rPr sz="2400" b="0">
                    <a:solidFill>
                      <a:srgbClr val="111827"/>
                    </a:solidFill>
                    <a:latin typeface="Arial"/>
                  </a:rPr>
                  <a:t>; it is negative for </a:t>
                </a:r>
                <a:r>
                  <a:rPr lang="en-IN" sz="2400">
                    <a:solidFill>
                      <a:srgbClr val="111827"/>
                    </a:solidFill>
                    <a:latin typeface="Cambria Math" panose="02040503050406030204" pitchFamily="18" charset="0"/>
                  </a:rPr>
                  <a:t>$\theta&lt;60^\circ$</a:t>
                </a:r>
                <a:r>
                  <a:rPr sz="2400" b="0">
                    <a:solidFill>
                      <a:srgbClr val="111827"/>
                    </a:solidFill>
                    <a:latin typeface="Arial"/>
                  </a:rPr>
                  <a:t> and positive after, so </a:t>
                </a:r>
                <a:r>
                  <a:rPr lang="en-IN" sz="2400">
                    <a:solidFill>
                      <a:srgbClr val="111827"/>
                    </a:solidFill>
                    <a:latin typeface="Cambria Math" panose="02040503050406030204" pitchFamily="18" charset="0"/>
                  </a:rPr>
                  <a:t>$C$</a:t>
                </a:r>
                <a:r>
                  <a:rPr sz="2400" b="0">
                    <a:solidFill>
                      <a:srgbClr val="111827"/>
                    </a:solidFill>
                    <a:latin typeface="Arial"/>
                  </a:rPr>
                  <a:t> is minimum there.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$PB=5\sqrt3\cot60^\circ=5\sqrt3\cdot\frac{1}{\sqrt3}=5$</a:t>
                </a:r>
                <a:r>
                  <a:rPr sz="2400" b="0">
                    <a:solidFill>
                      <a:srgbClr val="111827"/>
                    </a:solidFill>
                    <a:latin typeface="Arial"/>
                  </a:rPr>
                  <a:t> km, so </a:t>
                </a:r>
                <a:r>
                  <a:rPr lang="en-IN" sz="2400">
                    <a:solidFill>
                      <a:srgbClr val="111827"/>
                    </a:solidFill>
                    <a:latin typeface="Cambria Math" panose="02040503050406030204" pitchFamily="18" charset="0"/>
                  </a:rPr>
                  <a:t>$AP=15$</a:t>
                </a:r>
                <a:r>
                  <a:rPr sz="2400" b="0">
                    <a:solidFill>
                      <a:srgbClr val="111827"/>
                    </a:solidFill>
                    <a:latin typeface="Arial"/>
                  </a:rPr>
                  <a:t> km and the minimum cost is </a:t>
                </a:r>
                <a:r>
                  <a:rPr lang="en-IN" sz="2400">
                    <a:solidFill>
                      <a:srgbClr val="111827"/>
                    </a:solidFill>
                    <a:latin typeface="Cambria Math" panose="02040503050406030204" pitchFamily="18" charset="0"/>
                  </a:rPr>
                  <a:t>$k(20+15)=35k$</a:t>
                </a:r>
                <a:r>
                  <a:rPr sz="2400" b="0">
                    <a:solidFill>
                      <a:srgbClr val="111827"/>
                    </a:solidFill>
                    <a:latin typeface="Arial"/>
                  </a:rPr>
                  <a:t>. Option (A).</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14:m>
                  <m:oMath xmlns:m="http://schemas.openxmlformats.org/officeDocument/2006/math">
                    <m:r>
                      <a:rPr lang="en-IN" sz="2800" i="1">
                        <a:solidFill>
                          <a:srgbClr val="15803D"/>
                        </a:solidFill>
                        <a:latin typeface="Cambria Math" panose="02040503050406030204" pitchFamily="18" charset="0"/>
                      </a:rPr>
                      <m:t>𝐵</m:t>
                    </m:r>
                    <m:r>
                      <a:rPr lang="en-IN" sz="2800" i="1">
                        <a:solidFill>
                          <a:srgbClr val="15803D"/>
                        </a:solidFill>
                        <a:latin typeface="Cambria Math" panose="02040503050406030204" pitchFamily="18" charset="0"/>
                      </a:rPr>
                      <m:t>𝑃</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5</m:t>
                    </m:r>
                  </m:oMath>
                </a14:m>
                <a:r>
                  <a:rPr sz="2800" b="1">
                    <a:solidFill>
                      <a:srgbClr val="15803D"/>
                    </a:solidFill>
                    <a:latin typeface="Arial"/>
                  </a:rPr>
                  <a:t> km</a:t>
                </a:r>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r>
                  <a:rPr lang="en-IN" sz="2800">
                    <a:solidFill>
                      <a:srgbClr val="15803D"/>
                    </a:solidFill>
                    <a:latin typeface="Cambria Math" panose="02040503050406030204" pitchFamily="18" charset="0"/>
                  </a:rPr>
                  <a:t>$BP=5$</a:t>
                </a:r>
                <a:r>
                  <a:rPr sz="2800" b="1">
                    <a:solidFill>
                      <a:srgbClr val="15803D"/>
                    </a:solidFill>
                    <a:latin typeface="Arial"/>
                  </a:rPr>
                  <a:t> km</a:t>
                </a:r>
                <a:endParaRPr sz="2800">
                  <a:solidFill>
                    <a:srgbClr val="15803D"/>
                  </a:solidFill>
                </a:endParaRPr>
              </a:p>
            </p:txBody>
          </p:sp>
        </mc:Fallback>
      </mc:AlternateContent>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Minimising </a:t>
                </a:r>
                <a14:m>
                  <m:oMath xmlns:m="http://schemas.openxmlformats.org/officeDocument/2006/math">
                    <m:r>
                      <m:rPr>
                        <m:sty m:val="p"/>
                      </m:rPr>
                      <a:rPr lang="en-IN" sz="2400">
                        <a:solidFill>
                          <a:srgbClr val="111827"/>
                        </a:solidFill>
                        <a:latin typeface="Cambria Math" panose="02040503050406030204" pitchFamily="18" charset="0"/>
                      </a:rPr>
                      <m:t>(</m:t>
                    </m:r>
                    <m:sSub>
                      <m:e>
                        <m:r>
                          <m:rPr>
                            <m:nor/>
                          </m:rPr>
                          <a:rPr lang="en-IN" sz="2400" i="1">
                            <a:solidFill>
                              <a:srgbClr val="111827"/>
                            </a:solidFill>
                            <a:latin typeface="Cambria Math" panose="02040503050406030204" pitchFamily="18" charset="0"/>
                          </a:rPr>
                          <m:t>𝑟𝑎𝑡𝑒</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m:rPr>
                            <m:nor/>
                          </m:rPr>
                          <a:rPr lang="en-IN" sz="2400" i="1">
                            <a:solidFill>
                              <a:srgbClr val="111827"/>
                            </a:solidFill>
                            <a:latin typeface="Cambria Math" panose="02040503050406030204" pitchFamily="18" charset="0"/>
                          </a:rPr>
                          <m:t>𝑙𝑒𝑛𝑔𝑡ℎ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m:rPr>
                            <m:nor/>
                          </m:rPr>
                          <a:rPr lang="en-IN" sz="2400" i="1">
                            <a:solidFill>
                              <a:srgbClr val="111827"/>
                            </a:solidFill>
                            <a:latin typeface="Cambria Math" panose="02040503050406030204" pitchFamily="18" charset="0"/>
                          </a:rPr>
                          <m:t>𝑟𝑎𝑡𝑒</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m:rPr>
                            <m:nor/>
                          </m:rPr>
                          <a:rPr lang="en-IN" sz="2400" i="1">
                            <a:solidFill>
                              <a:srgbClr val="111827"/>
                            </a:solidFill>
                            <a:latin typeface="Cambria Math" panose="02040503050406030204" pitchFamily="18" charset="0"/>
                          </a:rPr>
                          <m:t>𝑙𝑒𝑛𝑔𝑡ℎ</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over a point on a line gives a Snell-type condition: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nor/>
                          </m:rPr>
                          <a:rPr lang="en-IN" sz="2400" i="1">
                            <a:solidFill>
                              <a:srgbClr val="111827"/>
                            </a:solidFill>
                            <a:latin typeface="Cambria Math" panose="02040503050406030204" pitchFamily="18" charset="0"/>
                          </a:rPr>
                          <m:t>𝑟𝑎𝑖𝑙 𝑟𝑎𝑡𝑒</m:t>
                        </m:r>
                      </m:num>
                      <m:den>
                        <m:r>
                          <m:rPr>
                            <m:nor/>
                          </m:rPr>
                          <a:rPr lang="en-IN" sz="2400" i="1">
                            <a:solidFill>
                              <a:srgbClr val="111827"/>
                            </a:solidFill>
                            <a:latin typeface="Cambria Math" panose="02040503050406030204" pitchFamily="18" charset="0"/>
                          </a:rPr>
                          <m:t>𝑟𝑜𝑎𝑑 𝑟𝑎𝑡𝑒</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independent of </a:t>
                </a:r>
                <a14:m>
                  <m:oMath xmlns:m="http://schemas.openxmlformats.org/officeDocument/2006/math">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𝐵</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nor/>
                          </m:rPr>
                          <a:rPr lang="en-IN" sz="2400" i="1">
                            <a:solidFill>
                              <a:srgbClr val="111827"/>
                            </a:solidFill>
                            <a:latin typeface="Cambria Math" panose="02040503050406030204" pitchFamily="18" charset="0"/>
                          </a:rPr>
                          <m:t>𝑟𝑎𝑖𝑙 𝑟𝑎𝑡𝑒</m:t>
                        </m:r>
                      </m:num>
                      <m:den>
                        <m:r>
                          <m:rPr>
                            <m:nor/>
                          </m:rPr>
                          <a:rPr lang="en-IN" sz="2400" i="1">
                            <a:solidFill>
                              <a:srgbClr val="111827"/>
                            </a:solidFill>
                            <a:latin typeface="Cambria Math" panose="02040503050406030204" pitchFamily="18" charset="0"/>
                          </a:rPr>
                          <m:t>𝑟𝑜𝑎𝑑 𝑟𝑎𝑡𝑒</m:t>
                        </m:r>
                      </m:den>
                    </m:f>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 the optimal foot satisfies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𝐵</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e>
                        </m:rad>
                      </m:den>
                    </m:f>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𝐵</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km.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After squaring an equation like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𝑢</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discard roots that make the right side negative or violate the stated domain (here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Confirm a minimum by a sign change of </a:t>
                </a:r>
                <a14:m>
                  <m:oMath xmlns:m="http://schemas.openxmlformats.org/officeDocument/2006/math">
                    <m:sSup>
                      <m:e>
                        <m:r>
                          <a:rPr lang="en-IN" sz="2400" i="1">
                            <a:solidFill>
                              <a:srgbClr val="111827"/>
                            </a:solidFill>
                            <a:latin typeface="Cambria Math" panose="02040503050406030204" pitchFamily="18" charset="0"/>
                          </a:rPr>
                          <m:t>𝑇</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or </a:t>
                </a:r>
                <a14:m>
                  <m:oMath xmlns:m="http://schemas.openxmlformats.org/officeDocument/2006/math">
                    <m:sSup>
                      <m:e>
                        <m:r>
                          <a:rPr lang="en-IN" sz="2400" i="1">
                            <a:solidFill>
                              <a:srgbClr val="111827"/>
                            </a:solidFill>
                            <a:latin typeface="Cambria Math" panose="02040503050406030204" pitchFamily="18" charset="0"/>
                          </a:rPr>
                          <m:t>𝑇</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and compare with the end points of the domain (</a:t>
                </a:r>
                <a14:m>
                  <m:oMath xmlns:m="http://schemas.openxmlformats.org/officeDocument/2006/math">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37.3</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43.6</m:t>
                    </m:r>
                    <m:r>
                      <a:rPr lang="en-IN" sz="2400" i="1">
                        <a:solidFill>
                          <a:srgbClr val="111827"/>
                        </a:solidFill>
                        <a:latin typeface="Cambria Math" panose="02040503050406030204" pitchFamily="18" charset="0"/>
                      </a:rPr>
                      <m:t>𝑘</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Minimising </a:t>
                </a:r>
                <a:r>
                  <a:rPr lang="en-IN" sz="2400">
                    <a:solidFill>
                      <a:srgbClr val="111827"/>
                    </a:solidFill>
                    <a:latin typeface="Cambria Math" panose="02040503050406030204" pitchFamily="18" charset="0"/>
                  </a:rPr>
                  <a:t>$(\text{rate}_1)\cdot\text{length}_1+(\text{rate}_2)\cdot\text{length}_2$</a:t>
                </a:r>
                <a:r>
                  <a:rPr sz="2400" b="0">
                    <a:solidFill>
                      <a:srgbClr val="111827"/>
                    </a:solidFill>
                    <a:latin typeface="Arial"/>
                  </a:rPr>
                  <a:t> over a point on a line gives a Snell-type condition: </a:t>
                </a:r>
                <a:r>
                  <a:rPr lang="en-IN" sz="2400">
                    <a:solidFill>
                      <a:srgbClr val="111827"/>
                    </a:solidFill>
                    <a:latin typeface="Cambria Math" panose="02040503050406030204" pitchFamily="18" charset="0"/>
                  </a:rPr>
                  <a:t>$\cos\theta=\frac{\text{rail rate}}{\text{road rate}}=\frac12$</a:t>
                </a:r>
                <a:r>
                  <a:rPr sz="2400" b="0">
                    <a:solidFill>
                      <a:srgbClr val="111827"/>
                    </a:solidFill>
                    <a:latin typeface="Arial"/>
                  </a:rPr>
                  <a:t>, independent of </a:t>
                </a:r>
                <a:r>
                  <a:rPr lang="en-IN" sz="2400">
                    <a:solidFill>
                      <a:srgbClr val="111827"/>
                    </a:solidFill>
                    <a:latin typeface="Cambria Math" panose="02040503050406030204" pitchFamily="18" charset="0"/>
                  </a:rPr>
                  <a:t>$DB$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$r=\frac{\text{rail rate}}{\text{road rate}}&lt;1$</a:t>
                </a:r>
                <a:r>
                  <a:rPr sz="2400" b="0">
                    <a:solidFill>
                      <a:srgbClr val="111827"/>
                    </a:solidFill>
                    <a:latin typeface="Arial"/>
                  </a:rPr>
                  <a:t> the optimal foot satisfies </a:t>
                </a:r>
                <a:r>
                  <a:rPr lang="en-IN" sz="2400">
                    <a:solidFill>
                      <a:srgbClr val="111827"/>
                    </a:solidFill>
                    <a:latin typeface="Cambria Math" panose="02040503050406030204" pitchFamily="18" charset="0"/>
                  </a:rPr>
                  <a:t>$PB=\frac{r\,DB}{\sqrt{1-r^2}}$</a:t>
                </a:r>
                <a:r>
                  <a:rPr sz="2400" b="0">
                    <a:solidFill>
                      <a:srgbClr val="111827"/>
                    </a:solidFill>
                    <a:latin typeface="Arial"/>
                  </a:rPr>
                  <a:t>; for </a:t>
                </a:r>
                <a:r>
                  <a:rPr lang="en-IN" sz="2400">
                    <a:solidFill>
                      <a:srgbClr val="111827"/>
                    </a:solidFill>
                    <a:latin typeface="Cambria Math" panose="02040503050406030204" pitchFamily="18" charset="0"/>
                  </a:rPr>
                  <a:t>$r=\frac12$</a:t>
                </a:r>
                <a:r>
                  <a:rPr sz="2400" b="0">
                    <a:solidFill>
                      <a:srgbClr val="111827"/>
                    </a:solidFill>
                    <a:latin typeface="Arial"/>
                  </a:rPr>
                  <a:t>, </a:t>
                </a:r>
                <a:r>
                  <a:rPr lang="en-IN" sz="2400">
                    <a:solidFill>
                      <a:srgbClr val="111827"/>
                    </a:solidFill>
                    <a:latin typeface="Cambria Math" panose="02040503050406030204" pitchFamily="18" charset="0"/>
                  </a:rPr>
                  <a:t>$PB=\frac{DB}{\sqrt3}=5$</a:t>
                </a:r>
                <a:r>
                  <a:rPr sz="2400" b="0">
                    <a:solidFill>
                      <a:srgbClr val="111827"/>
                    </a:solidFill>
                    <a:latin typeface="Arial"/>
                  </a:rPr>
                  <a:t> km.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After squaring an equation like </a:t>
                </a:r>
                <a:r>
                  <a:rPr lang="en-IN" sz="2400">
                    <a:solidFill>
                      <a:srgbClr val="111827"/>
                    </a:solidFill>
                    <a:latin typeface="Cambria Math" panose="02040503050406030204" pitchFamily="18" charset="0"/>
                  </a:rPr>
                  <a:t>$\sqrt{u}=2(20-x)$</a:t>
                </a:r>
                <a:r>
                  <a:rPr sz="2400" b="0">
                    <a:solidFill>
                      <a:srgbClr val="111827"/>
                    </a:solidFill>
                    <a:latin typeface="Arial"/>
                  </a:rPr>
                  <a:t>, discard roots that make the right side negative or violate the stated domain (here </a:t>
                </a:r>
                <a:r>
                  <a:rPr lang="en-IN" sz="2400">
                    <a:solidFill>
                      <a:srgbClr val="111827"/>
                    </a:solidFill>
                    <a:latin typeface="Cambria Math" panose="02040503050406030204" pitchFamily="18" charset="0"/>
                  </a:rPr>
                  <a:t>$x=25$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Confirm a minimum by a sign change of </a:t>
                </a:r>
                <a:r>
                  <a:rPr lang="en-IN" sz="2400">
                    <a:solidFill>
                      <a:srgbClr val="111827"/>
                    </a:solidFill>
                    <a:latin typeface="Cambria Math" panose="02040503050406030204" pitchFamily="18" charset="0"/>
                  </a:rPr>
                  <a:t>$T'$</a:t>
                </a:r>
                <a:r>
                  <a:rPr sz="2400" b="0">
                    <a:solidFill>
                      <a:srgbClr val="111827"/>
                    </a:solidFill>
                    <a:latin typeface="Arial"/>
                  </a:rPr>
                  <a:t> or </a:t>
                </a:r>
                <a:r>
                  <a:rPr lang="en-IN" sz="2400">
                    <a:solidFill>
                      <a:srgbClr val="111827"/>
                    </a:solidFill>
                    <a:latin typeface="Cambria Math" panose="02040503050406030204" pitchFamily="18" charset="0"/>
                  </a:rPr>
                  <a:t>$T''&gt;0$</a:t>
                </a:r>
                <a:r>
                  <a:rPr sz="2400" b="0">
                    <a:solidFill>
                      <a:srgbClr val="111827"/>
                    </a:solidFill>
                    <a:latin typeface="Arial"/>
                  </a:rPr>
                  <a:t>, and compare with the end points of the domain (</a:t>
                </a:r>
                <a:r>
                  <a:rPr lang="en-IN" sz="2400">
                    <a:solidFill>
                      <a:srgbClr val="111827"/>
                    </a:solidFill>
                    <a:latin typeface="Cambria Math" panose="02040503050406030204" pitchFamily="18" charset="0"/>
                  </a:rPr>
                  <a:t>$T(15)=35k&lt;T(20)\approx37.3k&lt;T(0)\approx43.6k$</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85927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e>
                    </m:d>
                  </m:oMath>
                </a14:m>
                <a:r>
                  <a:rPr sz="2400" b="0">
                    <a:solidFill>
                      <a:srgbClr val="111827"/>
                    </a:solidFill>
                    <a:latin typeface="Arial"/>
                  </a:rPr>
                  <a:t>, then which are correct?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(i)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decreasing if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increasing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(ii)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an increasing function if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increasing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(iii)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decreasing function if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decreasing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(A) (i) and (iii)   (B) (i) and (ii)   (C) (i), (ii) and (iii)   (D) (iii)</a:t>
                </a:r>
                <a:endParaRPr sz="2400">
                  <a:solidFill>
                    <a:srgbClr val="111827"/>
                  </a:solidFill>
                </a:endParaRPr>
              </a:p>
            </p:txBody>
          </p:sp>
        </mc:Choice>
        <mc:Fallback>
          <p:sp>
            <p:nvSpPr>
              <p:cNvPr id="4" name="Rounded Rectangle 3"/>
              <p:cNvSpPr/>
              <p:nvPr/>
            </p:nvSpPr>
            <p:spPr>
              <a:xfrm>
                <a:off x="731520" y="1280160"/>
                <a:ext cx="10725912" cy="385927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$f(x)=\sin^{-1}\left(\frac{2g(x)}{1+g(x)^2}\right)$</a:t>
                </a:r>
                <a:r>
                  <a:rPr sz="2400" b="0">
                    <a:solidFill>
                      <a:srgbClr val="111827"/>
                    </a:solidFill>
                    <a:latin typeface="Arial"/>
                  </a:rPr>
                  <a:t>, then which are correct?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(i) </a:t>
                </a:r>
                <a:r>
                  <a:rPr lang="en-IN" sz="2400">
                    <a:solidFill>
                      <a:srgbClr val="111827"/>
                    </a:solidFill>
                    <a:latin typeface="Cambria Math" panose="02040503050406030204" pitchFamily="18" charset="0"/>
                  </a:rPr>
                  <a:t>$f(x)$</a:t>
                </a:r>
                <a:r>
                  <a:rPr sz="2400" b="0">
                    <a:solidFill>
                      <a:srgbClr val="111827"/>
                    </a:solidFill>
                    <a:latin typeface="Arial"/>
                  </a:rPr>
                  <a:t> is decreasing if </a:t>
                </a:r>
                <a:r>
                  <a:rPr lang="en-IN" sz="2400">
                    <a:solidFill>
                      <a:srgbClr val="111827"/>
                    </a:solidFill>
                    <a:latin typeface="Cambria Math" panose="02040503050406030204" pitchFamily="18" charset="0"/>
                  </a:rPr>
                  <a:t>$g(x)$</a:t>
                </a:r>
                <a:r>
                  <a:rPr sz="2400" b="0">
                    <a:solidFill>
                      <a:srgbClr val="111827"/>
                    </a:solidFill>
                    <a:latin typeface="Arial"/>
                  </a:rPr>
                  <a:t> is increasing and </a:t>
                </a:r>
                <a:r>
                  <a:rPr lang="en-IN" sz="2400">
                    <a:solidFill>
                      <a:srgbClr val="111827"/>
                    </a:solidFill>
                    <a:latin typeface="Cambria Math" panose="02040503050406030204" pitchFamily="18" charset="0"/>
                  </a:rPr>
                  <a:t>$|g(x)|&gt;1$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(ii) </a:t>
                </a:r>
                <a:r>
                  <a:rPr lang="en-IN" sz="2400">
                    <a:solidFill>
                      <a:srgbClr val="111827"/>
                    </a:solidFill>
                    <a:latin typeface="Cambria Math" panose="02040503050406030204" pitchFamily="18" charset="0"/>
                  </a:rPr>
                  <a:t>$f(x)$</a:t>
                </a:r>
                <a:r>
                  <a:rPr sz="2400" b="0">
                    <a:solidFill>
                      <a:srgbClr val="111827"/>
                    </a:solidFill>
                    <a:latin typeface="Arial"/>
                  </a:rPr>
                  <a:t> is an increasing function if </a:t>
                </a:r>
                <a:r>
                  <a:rPr lang="en-IN" sz="2400">
                    <a:solidFill>
                      <a:srgbClr val="111827"/>
                    </a:solidFill>
                    <a:latin typeface="Cambria Math" panose="02040503050406030204" pitchFamily="18" charset="0"/>
                  </a:rPr>
                  <a:t>$g(x)$</a:t>
                </a:r>
                <a:r>
                  <a:rPr sz="2400" b="0">
                    <a:solidFill>
                      <a:srgbClr val="111827"/>
                    </a:solidFill>
                    <a:latin typeface="Arial"/>
                  </a:rPr>
                  <a:t> is increasing and </a:t>
                </a:r>
                <a:r>
                  <a:rPr lang="en-IN" sz="2400">
                    <a:solidFill>
                      <a:srgbClr val="111827"/>
                    </a:solidFill>
                    <a:latin typeface="Cambria Math" panose="02040503050406030204" pitchFamily="18" charset="0"/>
                  </a:rPr>
                  <a:t>$|g(x)|\le1$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(iii) </a:t>
                </a:r>
                <a:r>
                  <a:rPr lang="en-IN" sz="2400">
                    <a:solidFill>
                      <a:srgbClr val="111827"/>
                    </a:solidFill>
                    <a:latin typeface="Cambria Math" panose="02040503050406030204" pitchFamily="18" charset="0"/>
                  </a:rPr>
                  <a:t>$f(x)$</a:t>
                </a:r>
                <a:r>
                  <a:rPr sz="2400" b="0">
                    <a:solidFill>
                      <a:srgbClr val="111827"/>
                    </a:solidFill>
                    <a:latin typeface="Arial"/>
                  </a:rPr>
                  <a:t> is decreasing function if </a:t>
                </a:r>
                <a:r>
                  <a:rPr lang="en-IN" sz="2400">
                    <a:solidFill>
                      <a:srgbClr val="111827"/>
                    </a:solidFill>
                    <a:latin typeface="Cambria Math" panose="02040503050406030204" pitchFamily="18" charset="0"/>
                  </a:rPr>
                  <a:t>$g(x)$</a:t>
                </a:r>
                <a:r>
                  <a:rPr sz="2400" b="0">
                    <a:solidFill>
                      <a:srgbClr val="111827"/>
                    </a:solidFill>
                    <a:latin typeface="Arial"/>
                  </a:rPr>
                  <a:t> is decreasing and </a:t>
                </a:r>
                <a:r>
                  <a:rPr lang="en-IN" sz="2400">
                    <a:solidFill>
                      <a:srgbClr val="111827"/>
                    </a:solidFill>
                    <a:latin typeface="Cambria Math" panose="02040503050406030204" pitchFamily="18" charset="0"/>
                  </a:rPr>
                  <a:t>$|g(x)|&gt;1$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(i) and (iii)   (B) (i) and (ii)   (C) (i), (ii) and (iii)   (D) (iii)</a:t>
                </a:r>
                <a:endParaRPr sz="2400">
                  <a:solidFill>
                    <a:srgbClr val="111827"/>
                  </a:solidFill>
                </a:endParaRPr>
              </a:p>
            </p:txBody>
          </p:sp>
        </mc:Fallback>
      </mc:AlternateContent>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Inverse trigonometric functions: simplifying </a:t>
                </a:r>
                <a14:m>
                  <m:oMath xmlns:m="http://schemas.openxmlformats.org/officeDocument/2006/math">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Monotonicity of a composite function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Choice>
        <mc:Fallback>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Inverse trigonometric functions: simplifying </a:t>
                </a:r>
                <a:r>
                  <a:rPr lang="en-IN" sz="2400">
                    <a:solidFill>
                      <a:srgbClr val="111827"/>
                    </a:solidFill>
                    <a:latin typeface="Cambria Math" panose="02040503050406030204" pitchFamily="18" charset="0"/>
                  </a:rPr>
                  <a:t>$\sin^{-1}\frac{2t}{1+t^2}$</a:t>
                </a:r>
                <a:r>
                  <a:rPr sz="2400" b="0">
                    <a:solidFill>
                      <a:srgbClr val="111827"/>
                    </a:solidFill>
                    <a:latin typeface="Arial"/>
                  </a:rPr>
                  <a:t>, Monotonicity of a composite function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365760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sSup>
                      <m:e>
                        <m:r>
                          <m:rPr>
                            <m:sty m:val="p"/>
                          </m:rPr>
                          <a:rPr lang="en-IN" sz="2400">
                            <a:solidFill>
                              <a:srgbClr val="78350F"/>
                            </a:solidFill>
                            <a:latin typeface="Cambria Math" panose="02040503050406030204" pitchFamily="18" charset="0"/>
                          </a:rPr>
                          <m:t>sin</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𝑡</m:t>
                        </m:r>
                      </m:num>
                      <m:den>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𝑡</m:t>
                            </m:r>
                          </m:e>
                          <m:sup>
                            <m:r>
                              <a:rPr lang="en-IN" sz="2400" i="1">
                                <a:solidFill>
                                  <a:srgbClr val="78350F"/>
                                </a:solidFill>
                                <a:latin typeface="Cambria Math" panose="02040503050406030204" pitchFamily="18" charset="0"/>
                              </a:rPr>
                              <m:t>2</m:t>
                            </m:r>
                          </m:sup>
                        </m:sSup>
                      </m:den>
                    </m:f>
                  </m:oMath>
                </a14:m>
                <a:r>
                  <a:rPr sz="2400" b="0">
                    <a:solidFill>
                      <a:srgbClr val="78350F"/>
                    </a:solidFill>
                    <a:latin typeface="Arial"/>
                  </a:rPr>
                  <a:t> equals </a:t>
                </a:r>
                <a14:m>
                  <m:oMath xmlns:m="http://schemas.openxmlformats.org/officeDocument/2006/math">
                    <m:r>
                      <a:rPr lang="en-IN" sz="2400" i="1">
                        <a:solidFill>
                          <a:srgbClr val="78350F"/>
                        </a:solidFill>
                        <a:latin typeface="Cambria Math" panose="02040503050406030204" pitchFamily="18" charset="0"/>
                      </a:rPr>
                      <m:t>2</m:t>
                    </m:r>
                    <m:sSup>
                      <m:e>
                        <m:r>
                          <m:rPr>
                            <m:sty m:val="p"/>
                          </m:rPr>
                          <a:rPr lang="en-IN" sz="2400">
                            <a:solidFill>
                              <a:srgbClr val="78350F"/>
                            </a:solidFill>
                            <a:latin typeface="Cambria Math" panose="02040503050406030204" pitchFamily="18" charset="0"/>
                          </a:rPr>
                          <m:t>tan</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r>
                      <a:rPr lang="en-IN" sz="2400" i="1">
                        <a:solidFill>
                          <a:srgbClr val="78350F"/>
                        </a:solidFill>
                        <a:latin typeface="Cambria Math" panose="02040503050406030204" pitchFamily="18" charset="0"/>
                      </a:rPr>
                      <m:t>𝑡</m:t>
                    </m:r>
                  </m:oMath>
                </a14:m>
                <a:r>
                  <a:rPr sz="2400" b="0">
                    <a:solidFill>
                      <a:srgbClr val="78350F"/>
                    </a:solidFill>
                    <a:latin typeface="Arial"/>
                  </a:rPr>
                  <a:t> only for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for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&gt;</m:t>
                    </m:r>
                    <m:r>
                      <a:rPr lang="en-IN" sz="2400" i="1">
                        <a:solidFill>
                          <a:srgbClr val="78350F"/>
                        </a:solidFill>
                        <a:latin typeface="Cambria Math" panose="02040503050406030204" pitchFamily="18" charset="0"/>
                      </a:rPr>
                      <m:t>1</m:t>
                    </m:r>
                  </m:oMath>
                </a14:m>
                <a:r>
                  <a:rPr sz="2400" b="0">
                    <a:solidFill>
                      <a:srgbClr val="78350F"/>
                    </a:solidFill>
                    <a:latin typeface="Arial"/>
                  </a:rPr>
                  <a:t> it is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π</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Sup>
                      <m:e>
                        <m:r>
                          <m:rPr>
                            <m:sty m:val="p"/>
                          </m:rPr>
                          <a:rPr lang="en-IN" sz="2400">
                            <a:solidFill>
                              <a:srgbClr val="78350F"/>
                            </a:solidFill>
                            <a:latin typeface="Cambria Math" panose="02040503050406030204" pitchFamily="18" charset="0"/>
                          </a:rPr>
                          <m:t>tan</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r>
                      <a:rPr lang="en-IN" sz="2400" i="1">
                        <a:solidFill>
                          <a:srgbClr val="78350F"/>
                        </a:solidFill>
                        <a:latin typeface="Cambria Math" panose="02040503050406030204" pitchFamily="18" charset="0"/>
                      </a:rPr>
                      <m:t>𝑡</m:t>
                    </m:r>
                  </m:oMath>
                </a14:m>
                <a:r>
                  <a:rPr sz="2400" b="0">
                    <a:solidFill>
                      <a:srgbClr val="78350F"/>
                    </a:solidFill>
                    <a:latin typeface="Arial"/>
                  </a:rPr>
                  <a:t>, which reverses the direction.</a:t>
                </a:r>
                <a:endParaRPr sz="2400">
                  <a:solidFill>
                    <a:srgbClr val="78350F"/>
                  </a:solidFill>
                </a:endParaRPr>
              </a:p>
            </p:txBody>
          </p:sp>
        </mc:Choice>
        <mc:Fallback>
          <p:sp>
            <p:nvSpPr>
              <p:cNvPr id="5" name="Rounded Rectangle 4"/>
              <p:cNvSpPr/>
              <p:nvPr/>
            </p:nvSpPr>
            <p:spPr>
              <a:xfrm>
                <a:off x="731520" y="365760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$\sin^{-1}\frac{2t}{1+t^2}$</a:t>
                </a:r>
                <a:r>
                  <a:rPr sz="2400" b="0">
                    <a:solidFill>
                      <a:srgbClr val="78350F"/>
                    </a:solidFill>
                    <a:latin typeface="Arial"/>
                  </a:rPr>
                  <a:t> equals </a:t>
                </a:r>
                <a:r>
                  <a:rPr lang="en-IN" sz="2400">
                    <a:solidFill>
                      <a:srgbClr val="78350F"/>
                    </a:solidFill>
                    <a:latin typeface="Cambria Math" panose="02040503050406030204" pitchFamily="18" charset="0"/>
                  </a:rPr>
                  <a:t>$2\tan^{-1}t$</a:t>
                </a:r>
                <a:r>
                  <a:rPr sz="2400" b="0">
                    <a:solidFill>
                      <a:srgbClr val="78350F"/>
                    </a:solidFill>
                    <a:latin typeface="Arial"/>
                  </a:rPr>
                  <a:t> only for </a:t>
                </a:r>
                <a:r>
                  <a:rPr lang="en-IN" sz="2400">
                    <a:solidFill>
                      <a:srgbClr val="78350F"/>
                    </a:solidFill>
                    <a:latin typeface="Cambria Math" panose="02040503050406030204" pitchFamily="18" charset="0"/>
                  </a:rPr>
                  <a:t>$|t|\le1$</a:t>
                </a:r>
                <a:r>
                  <a:rPr sz="2400" b="0">
                    <a:solidFill>
                      <a:srgbClr val="78350F"/>
                    </a:solidFill>
                    <a:latin typeface="Arial"/>
                  </a:rPr>
                  <a:t>; for </a:t>
                </a:r>
                <a:r>
                  <a:rPr lang="en-IN" sz="2400">
                    <a:solidFill>
                      <a:srgbClr val="78350F"/>
                    </a:solidFill>
                    <a:latin typeface="Cambria Math" panose="02040503050406030204" pitchFamily="18" charset="0"/>
                  </a:rPr>
                  <a:t>$|t|&gt;1$</a:t>
                </a:r>
                <a:r>
                  <a:rPr sz="2400" b="0">
                    <a:solidFill>
                      <a:srgbClr val="78350F"/>
                    </a:solidFill>
                    <a:latin typeface="Arial"/>
                  </a:rPr>
                  <a:t> it is </a:t>
                </a:r>
                <a:r>
                  <a:rPr lang="en-IN" sz="2400">
                    <a:solidFill>
                      <a:srgbClr val="78350F"/>
                    </a:solidFill>
                    <a:latin typeface="Cambria Math" panose="02040503050406030204" pitchFamily="18" charset="0"/>
                  </a:rPr>
                  <a:t>$\pm\pi-2\tan^{-1}t$</a:t>
                </a:r>
                <a:r>
                  <a:rPr sz="2400" b="0">
                    <a:solidFill>
                      <a:srgbClr val="78350F"/>
                    </a:solidFill>
                    <a:latin typeface="Arial"/>
                  </a:rPr>
                  <a:t>, which reverses the direction.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5013960"/>
                <a:ext cx="10725912" cy="166115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5013960"/>
                <a:ext cx="10725912" cy="166115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a:t>
                </a:r>
                <a:r>
                  <a:rPr lang="en-IN" sz="2400">
                    <a:solidFill>
                      <a:srgbClr val="111827"/>
                    </a:solidFill>
                    <a:latin typeface="Cambria Math" panose="02040503050406030204" pitchFamily="18" charset="0"/>
                  </a:rPr>
                  <a:t>$t=g(x)$</a:t>
                </a:r>
                <a:r>
                  <a:rPr sz="2400" b="0">
                    <a:solidFill>
                      <a:srgbClr val="111827"/>
                    </a:solidFill>
                    <a:latin typeface="Arial"/>
                  </a:rPr>
                  <a:t>. Then </a:t>
                </a:r>
                <a:r>
                  <a:rPr lang="en-IN" sz="2400">
                    <a:solidFill>
                      <a:srgbClr val="111827"/>
                    </a:solidFill>
                    <a:latin typeface="Cambria Math" panose="02040503050406030204" pitchFamily="18" charset="0"/>
                  </a:rPr>
                  <a:t>$f(x)=2\tan^{-1}g(x)$</a:t>
                </a:r>
                <a:r>
                  <a:rPr sz="2400" b="0">
                    <a:solidFill>
                      <a:srgbClr val="111827"/>
                    </a:solidFill>
                    <a:latin typeface="Arial"/>
                  </a:rPr>
                  <a:t> for </a:t>
                </a:r>
                <a:r>
                  <a:rPr lang="en-IN" sz="2400">
                    <a:solidFill>
                      <a:srgbClr val="111827"/>
                    </a:solidFill>
                    <a:latin typeface="Cambria Math" panose="02040503050406030204" pitchFamily="18" charset="0"/>
                  </a:rPr>
                  <a:t>$|g(x)|\le1$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$f(x)=\pi-2\tan^{-1}g(x)$</a:t>
                </a:r>
                <a:r>
                  <a:rPr sz="2400" b="0">
                    <a:solidFill>
                      <a:srgbClr val="111827"/>
                    </a:solidFill>
                    <a:latin typeface="Arial"/>
                  </a:rPr>
                  <a:t> for </a:t>
                </a:r>
                <a:r>
                  <a:rPr lang="en-IN" sz="2400">
                    <a:solidFill>
                      <a:srgbClr val="111827"/>
                    </a:solidFill>
                    <a:latin typeface="Cambria Math" panose="02040503050406030204" pitchFamily="18" charset="0"/>
                  </a:rPr>
                  <a:t>$g(x)&gt;1$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Differentiating: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increasing means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with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decreasing: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(ii)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increasing,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increasing: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(iii)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decreasing means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with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increasing, not decreasing: false.</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$f(x)=-\pi-2\tan^{-1}g(x)$</a:t>
                </a:r>
                <a:r>
                  <a:rPr sz="2400" b="0">
                    <a:solidFill>
                      <a:srgbClr val="111827"/>
                    </a:solidFill>
                    <a:latin typeface="Arial"/>
                  </a:rPr>
                  <a:t> for </a:t>
                </a:r>
                <a:r>
                  <a:rPr lang="en-IN" sz="2400">
                    <a:solidFill>
                      <a:srgbClr val="111827"/>
                    </a:solidFill>
                    <a:latin typeface="Cambria Math" panose="02040503050406030204" pitchFamily="18" charset="0"/>
                  </a:rPr>
                  <a:t>$g(x)&lt;-1$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Differentiating: </a:t>
                </a:r>
                <a:r>
                  <a:rPr lang="en-IN" sz="2400">
                    <a:solidFill>
                      <a:srgbClr val="111827"/>
                    </a:solidFill>
                    <a:latin typeface="Cambria Math" panose="02040503050406030204" pitchFamily="18" charset="0"/>
                  </a:rPr>
                  <a:t>$f'(x)=\frac{2g'(x)}{1+(g(x))^2}$</a:t>
                </a:r>
                <a:r>
                  <a:rPr sz="2400" b="0">
                    <a:solidFill>
                      <a:srgbClr val="111827"/>
                    </a:solidFill>
                    <a:latin typeface="Arial"/>
                  </a:rPr>
                  <a:t> for </a:t>
                </a:r>
                <a:r>
                  <a:rPr lang="en-IN" sz="2400">
                    <a:solidFill>
                      <a:srgbClr val="111827"/>
                    </a:solidFill>
                    <a:latin typeface="Cambria Math" panose="02040503050406030204" pitchFamily="18" charset="0"/>
                  </a:rPr>
                  <a:t>$|g(x)|&lt;1$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And </a:t>
                </a:r>
                <a:r>
                  <a:rPr lang="en-IN" sz="2400">
                    <a:solidFill>
                      <a:srgbClr val="111827"/>
                    </a:solidFill>
                    <a:latin typeface="Cambria Math" panose="02040503050406030204" pitchFamily="18" charset="0"/>
                  </a:rPr>
                  <a:t>$f'(x)=-\frac{2g'(x)}{1+(g(x))^2}$</a:t>
                </a:r>
                <a:r>
                  <a:rPr sz="2400" b="0">
                    <a:solidFill>
                      <a:srgbClr val="111827"/>
                    </a:solidFill>
                    <a:latin typeface="Arial"/>
                  </a:rPr>
                  <a:t> for </a:t>
                </a:r>
                <a:r>
                  <a:rPr lang="en-IN" sz="2400">
                    <a:solidFill>
                      <a:srgbClr val="111827"/>
                    </a:solidFill>
                    <a:latin typeface="Cambria Math" panose="02040503050406030204" pitchFamily="18" charset="0"/>
                  </a:rPr>
                  <a:t>$|g(x)|&gt;1$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 </a:t>
                </a:r>
                <a:r>
                  <a:rPr lang="en-IN" sz="2400">
                    <a:solidFill>
                      <a:srgbClr val="111827"/>
                    </a:solidFill>
                    <a:latin typeface="Cambria Math" panose="02040503050406030204" pitchFamily="18" charset="0"/>
                  </a:rPr>
                  <a:t>$g$</a:t>
                </a:r>
                <a:r>
                  <a:rPr sz="2400" b="0">
                    <a:solidFill>
                      <a:srgbClr val="111827"/>
                    </a:solidFill>
                    <a:latin typeface="Arial"/>
                  </a:rPr>
                  <a:t> increasing means </a:t>
                </a:r>
                <a:r>
                  <a:rPr lang="en-IN" sz="2400">
                    <a:solidFill>
                      <a:srgbClr val="111827"/>
                    </a:solidFill>
                    <a:latin typeface="Cambria Math" panose="02040503050406030204" pitchFamily="18" charset="0"/>
                  </a:rPr>
                  <a:t>$g'\ge0$</a:t>
                </a:r>
                <a:r>
                  <a:rPr sz="2400" b="0">
                    <a:solidFill>
                      <a:srgbClr val="111827"/>
                    </a:solidFill>
                    <a:latin typeface="Arial"/>
                  </a:rPr>
                  <a:t>; with </a:t>
                </a:r>
                <a:r>
                  <a:rPr lang="en-IN" sz="2400">
                    <a:solidFill>
                      <a:srgbClr val="111827"/>
                    </a:solidFill>
                    <a:latin typeface="Cambria Math" panose="02040503050406030204" pitchFamily="18" charset="0"/>
                  </a:rPr>
                  <a:t>$|g|&gt;1$</a:t>
                </a:r>
                <a:r>
                  <a:rPr sz="2400" b="0">
                    <a:solidFill>
                      <a:srgbClr val="111827"/>
                    </a:solidFill>
                    <a:latin typeface="Arial"/>
                  </a:rPr>
                  <a:t>, </a:t>
                </a:r>
                <a:r>
                  <a:rPr lang="en-IN" sz="2400">
                    <a:solidFill>
                      <a:srgbClr val="111827"/>
                    </a:solidFill>
                    <a:latin typeface="Cambria Math" panose="02040503050406030204" pitchFamily="18" charset="0"/>
                  </a:rPr>
                  <a:t>$f'=-\frac{2g'}{1+g^2}\le0$</a:t>
                </a:r>
                <a:r>
                  <a:rPr sz="2400" b="0">
                    <a:solidFill>
                      <a:srgbClr val="111827"/>
                    </a:solidFill>
                    <a:latin typeface="Arial"/>
                  </a:rPr>
                  <a:t>, so </a:t>
                </a:r>
                <a:r>
                  <a:rPr lang="en-IN" sz="2400">
                    <a:solidFill>
                      <a:srgbClr val="111827"/>
                    </a:solidFill>
                    <a:latin typeface="Cambria Math" panose="02040503050406030204" pitchFamily="18" charset="0"/>
                  </a:rPr>
                  <a:t>$f$</a:t>
                </a:r>
                <a:r>
                  <a:rPr sz="2400" b="0">
                    <a:solidFill>
                      <a:srgbClr val="111827"/>
                    </a:solidFill>
                    <a:latin typeface="Arial"/>
                  </a:rPr>
                  <a:t> is decreasing: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(ii) </a:t>
                </a:r>
                <a:r>
                  <a:rPr lang="en-IN" sz="2400">
                    <a:solidFill>
                      <a:srgbClr val="111827"/>
                    </a:solidFill>
                    <a:latin typeface="Cambria Math" panose="02040503050406030204" pitchFamily="18" charset="0"/>
                  </a:rPr>
                  <a:t>$g$</a:t>
                </a:r>
                <a:r>
                  <a:rPr sz="2400" b="0">
                    <a:solidFill>
                      <a:srgbClr val="111827"/>
                    </a:solidFill>
                    <a:latin typeface="Arial"/>
                  </a:rPr>
                  <a:t> increasing, </a:t>
                </a:r>
                <a:r>
                  <a:rPr lang="en-IN" sz="2400">
                    <a:solidFill>
                      <a:srgbClr val="111827"/>
                    </a:solidFill>
                    <a:latin typeface="Cambria Math" panose="02040503050406030204" pitchFamily="18" charset="0"/>
                  </a:rPr>
                  <a:t>$|g|\le1$</a:t>
                </a:r>
                <a:r>
                  <a:rPr sz="2400" b="0">
                    <a:solidFill>
                      <a:srgbClr val="111827"/>
                    </a:solidFill>
                    <a:latin typeface="Arial"/>
                  </a:rPr>
                  <a:t>: </a:t>
                </a:r>
                <a:r>
                  <a:rPr lang="en-IN" sz="2400">
                    <a:solidFill>
                      <a:srgbClr val="111827"/>
                    </a:solidFill>
                    <a:latin typeface="Cambria Math" panose="02040503050406030204" pitchFamily="18" charset="0"/>
                  </a:rPr>
                  <a:t>$f'=\frac{2g'}{1+g^2}\ge0$</a:t>
                </a:r>
                <a:r>
                  <a:rPr sz="2400" b="0">
                    <a:solidFill>
                      <a:srgbClr val="111827"/>
                    </a:solidFill>
                    <a:latin typeface="Arial"/>
                  </a:rPr>
                  <a:t>, so </a:t>
                </a:r>
                <a:r>
                  <a:rPr lang="en-IN" sz="2400">
                    <a:solidFill>
                      <a:srgbClr val="111827"/>
                    </a:solidFill>
                    <a:latin typeface="Cambria Math" panose="02040503050406030204" pitchFamily="18" charset="0"/>
                  </a:rPr>
                  <a:t>$f$</a:t>
                </a:r>
                <a:r>
                  <a:rPr sz="2400" b="0">
                    <a:solidFill>
                      <a:srgbClr val="111827"/>
                    </a:solidFill>
                    <a:latin typeface="Arial"/>
                  </a:rPr>
                  <a:t> is increasing: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(iii) </a:t>
                </a:r>
                <a:r>
                  <a:rPr lang="en-IN" sz="2400">
                    <a:solidFill>
                      <a:srgbClr val="111827"/>
                    </a:solidFill>
                    <a:latin typeface="Cambria Math" panose="02040503050406030204" pitchFamily="18" charset="0"/>
                  </a:rPr>
                  <a:t>$g$</a:t>
                </a:r>
                <a:r>
                  <a:rPr sz="2400" b="0">
                    <a:solidFill>
                      <a:srgbClr val="111827"/>
                    </a:solidFill>
                    <a:latin typeface="Arial"/>
                  </a:rPr>
                  <a:t> decreasing means </a:t>
                </a:r>
                <a:r>
                  <a:rPr lang="en-IN" sz="2400">
                    <a:solidFill>
                      <a:srgbClr val="111827"/>
                    </a:solidFill>
                    <a:latin typeface="Cambria Math" panose="02040503050406030204" pitchFamily="18" charset="0"/>
                  </a:rPr>
                  <a:t>$g'\le0$</a:t>
                </a:r>
                <a:r>
                  <a:rPr sz="2400" b="0">
                    <a:solidFill>
                      <a:srgbClr val="111827"/>
                    </a:solidFill>
                    <a:latin typeface="Arial"/>
                  </a:rPr>
                  <a:t>; with </a:t>
                </a:r>
                <a:r>
                  <a:rPr lang="en-IN" sz="2400">
                    <a:solidFill>
                      <a:srgbClr val="111827"/>
                    </a:solidFill>
                    <a:latin typeface="Cambria Math" panose="02040503050406030204" pitchFamily="18" charset="0"/>
                  </a:rPr>
                  <a:t>$|g|&gt;1$</a:t>
                </a:r>
                <a:r>
                  <a:rPr sz="2400" b="0">
                    <a:solidFill>
                      <a:srgbClr val="111827"/>
                    </a:solidFill>
                    <a:latin typeface="Arial"/>
                  </a:rPr>
                  <a:t>, </a:t>
                </a:r>
                <a:r>
                  <a:rPr lang="en-IN" sz="2400">
                    <a:solidFill>
                      <a:srgbClr val="111827"/>
                    </a:solidFill>
                    <a:latin typeface="Cambria Math" panose="02040503050406030204" pitchFamily="18" charset="0"/>
                  </a:rPr>
                  <a:t>$f'=-\frac{2g'}{1+g^2}\ge0$</a:t>
                </a:r>
                <a:r>
                  <a:rPr sz="2400" b="0">
                    <a:solidFill>
                      <a:srgbClr val="111827"/>
                    </a:solidFill>
                    <a:latin typeface="Arial"/>
                  </a:rPr>
                  <a:t>, so </a:t>
                </a:r>
                <a:r>
                  <a:rPr lang="en-IN" sz="2400">
                    <a:solidFill>
                      <a:srgbClr val="111827"/>
                    </a:solidFill>
                    <a:latin typeface="Cambria Math" panose="02040503050406030204" pitchFamily="18" charset="0"/>
                  </a:rPr>
                  <a:t>$f$</a:t>
                </a:r>
                <a:r>
                  <a:rPr sz="2400" b="0">
                    <a:solidFill>
                      <a:srgbClr val="111827"/>
                    </a:solidFill>
                    <a:latin typeface="Arial"/>
                  </a:rPr>
                  <a:t> is increasing, not decreasing: false.</a:t>
                </a:r>
                <a:endParaRPr sz="2400">
                  <a:solidFill>
                    <a:srgbClr val="111827"/>
                  </a:solidFill>
                </a:endParaRPr>
              </a:p>
            </p:txBody>
          </p:sp>
        </mc:Fallback>
      </mc:AlternateContent>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only (i) and (ii) are correct: option (B).</a:t>
            </a:r>
            <a:endParaRPr sz="2400">
              <a:solidFill>
                <a:srgbClr val="111827"/>
              </a:solidFill>
            </a:endParaRPr>
          </a:p>
        </p:txBody>
      </p:sp>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(i) and (ii)</a:t>
            </a:r>
            <a:endParaRPr sz="2800">
              <a:solidFill>
                <a:srgbClr val="15803D"/>
              </a:solidFill>
            </a:endParaRP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14:m>
                  <m:oMath xmlns:m="http://schemas.openxmlformats.org/officeDocument/2006/math">
                    <m:r>
                      <a:rPr lang="en-IN" sz="2400" i="1">
                        <a:solidFill>
                          <a:srgbClr val="78350F"/>
                        </a:solidFill>
                        <a:latin typeface="Cambria Math" panose="02040503050406030204" pitchFamily="18" charset="0"/>
                      </a:rPr>
                      <m:t>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p>
                      <m:e>
                        <m:r>
                          <m:rPr>
                            <m:sty m:val="p"/>
                          </m:rPr>
                          <a:rPr lang="en-IN" sz="2400">
                            <a:solidFill>
                              <a:srgbClr val="78350F"/>
                            </a:solidFill>
                            <a:latin typeface="Cambria Math" panose="02040503050406030204" pitchFamily="18" charset="0"/>
                          </a:rPr>
                          <m:t>sin</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𝑡</m:t>
                        </m:r>
                      </m:num>
                      <m:den>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𝑡</m:t>
                            </m:r>
                          </m:e>
                          <m:sup>
                            <m:r>
                              <a:rPr lang="en-IN" sz="2400" i="1">
                                <a:solidFill>
                                  <a:srgbClr val="78350F"/>
                                </a:solidFill>
                                <a:latin typeface="Cambria Math" panose="02040503050406030204" pitchFamily="18" charset="0"/>
                              </a:rPr>
                              <m:t>2</m:t>
                            </m:r>
                          </m:sup>
                        </m:sSup>
                      </m:den>
                    </m:f>
                  </m:oMath>
                </a14:m>
                <a:r>
                  <a:rPr sz="2400" b="0">
                    <a:solidFill>
                      <a:srgbClr val="78350F"/>
                    </a:solidFill>
                    <a:latin typeface="Arial"/>
                  </a:rPr>
                  <a:t> is unchanged by </a:t>
                </a:r>
                <a14:m>
                  <m:oMath xmlns:m="http://schemas.openxmlformats.org/officeDocument/2006/math">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𝑡</m:t>
                        </m:r>
                      </m:den>
                    </m:f>
                  </m:oMath>
                </a14:m>
                <a:r>
                  <a:rPr sz="2400" b="0">
                    <a:solidFill>
                      <a:srgbClr val="78350F"/>
                    </a:solidFill>
                    <a:latin typeface="Arial"/>
                  </a:rPr>
                  <a:t>, so on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&gt;</m:t>
                    </m:r>
                    <m:r>
                      <a:rPr lang="en-IN" sz="2400" i="1">
                        <a:solidFill>
                          <a:srgbClr val="78350F"/>
                        </a:solidFill>
                        <a:latin typeface="Cambria Math" panose="02040503050406030204" pitchFamily="18" charset="0"/>
                      </a:rPr>
                      <m:t>1</m:t>
                    </m:r>
                  </m:oMath>
                </a14:m>
                <a:r>
                  <a:rPr sz="2400" b="0">
                    <a:solidFill>
                      <a:srgbClr val="78350F"/>
                    </a:solidFill>
                    <a:latin typeface="Arial"/>
                  </a:rPr>
                  <a:t> it mirrors the increasing branch with the direction reversed.</a:t>
                </a:r>
                <a:endParaRPr sz="2400">
                  <a:solidFill>
                    <a:srgbClr val="78350F"/>
                  </a:solidFill>
                </a:endParaRPr>
              </a:p>
            </p:txBody>
          </p:sp>
        </mc:Choice>
        <mc:Fallback>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lang="en-IN" sz="2400">
                    <a:solidFill>
                      <a:srgbClr val="78350F"/>
                    </a:solidFill>
                    <a:latin typeface="Cambria Math" panose="02040503050406030204" pitchFamily="18" charset="0"/>
                  </a:rPr>
                  <a:t>$h(t)=\sin^{-1}\frac{2t}{1+t^2}$</a:t>
                </a:r>
                <a:r>
                  <a:rPr sz="2400" b="0">
                    <a:solidFill>
                      <a:srgbClr val="78350F"/>
                    </a:solidFill>
                    <a:latin typeface="Arial"/>
                  </a:rPr>
                  <a:t> is unchanged by </a:t>
                </a:r>
                <a:r>
                  <a:rPr lang="en-IN" sz="2400">
                    <a:solidFill>
                      <a:srgbClr val="78350F"/>
                    </a:solidFill>
                    <a:latin typeface="Cambria Math" panose="02040503050406030204" pitchFamily="18" charset="0"/>
                  </a:rPr>
                  <a:t>$t\to\frac1t$</a:t>
                </a:r>
                <a:r>
                  <a:rPr sz="2400" b="0">
                    <a:solidFill>
                      <a:srgbClr val="78350F"/>
                    </a:solidFill>
                    <a:latin typeface="Arial"/>
                  </a:rPr>
                  <a:t>, so on </a:t>
                </a:r>
                <a:r>
                  <a:rPr lang="en-IN" sz="2400">
                    <a:solidFill>
                      <a:srgbClr val="78350F"/>
                    </a:solidFill>
                    <a:latin typeface="Cambria Math" panose="02040503050406030204" pitchFamily="18" charset="0"/>
                  </a:rPr>
                  <a:t>$|t|&gt;1$</a:t>
                </a:r>
                <a:r>
                  <a:rPr sz="2400" b="0">
                    <a:solidFill>
                      <a:srgbClr val="78350F"/>
                    </a:solidFill>
                    <a:latin typeface="Arial"/>
                  </a:rPr>
                  <a:t> it mirrors the increasing branch with the direction reversed.</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oMath>
                </a14:m>
                <a:r>
                  <a:rPr sz="2400" b="0">
                    <a:solidFill>
                      <a:srgbClr val="111827"/>
                    </a:solidFill>
                    <a:latin typeface="Arial"/>
                  </a:rPr>
                  <a:t>. Because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is unchanged by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𝑡</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𝑡</m:t>
                            </m:r>
                          </m:den>
                        </m:f>
                      </m:e>
                    </m:d>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𝑡</m:t>
                    </m:r>
                  </m:oMath>
                </a14:m>
                <a:r>
                  <a:rPr sz="2400" b="0">
                    <a:solidFill>
                      <a:srgbClr val="111827"/>
                    </a:solidFill>
                    <a:latin typeface="Arial"/>
                  </a:rPr>
                  <a:t> is increasing.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𝑡</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𝑡</m:t>
                        </m:r>
                      </m:den>
                    </m:f>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𝑡</m:t>
                        </m:r>
                      </m:den>
                    </m:f>
                  </m:oMath>
                </a14:m>
                <a:r>
                  <a:rPr sz="2400" b="0">
                    <a:solidFill>
                      <a:srgbClr val="111827"/>
                    </a:solidFill>
                    <a:latin typeface="Arial"/>
                  </a:rPr>
                  <a:t> is decreasing, </a:t>
                </a:r>
                <a14:m>
                  <m:oMath xmlns:m="http://schemas.openxmlformats.org/officeDocument/2006/math">
                    <m:r>
                      <a:rPr lang="en-IN" sz="2400" i="1">
                        <a:solidFill>
                          <a:srgbClr val="111827"/>
                        </a:solidFill>
                        <a:latin typeface="Cambria Math" panose="02040503050406030204" pitchFamily="18" charset="0"/>
                      </a:rPr>
                      <m:t>ℎ</m:t>
                    </m:r>
                  </m:oMath>
                </a14:m>
                <a:r>
                  <a:rPr sz="2400" b="0">
                    <a:solidFill>
                      <a:srgbClr val="111827"/>
                    </a:solidFill>
                    <a:latin typeface="Arial"/>
                  </a:rPr>
                  <a:t> is decreasing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Similarly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𝑡</m:t>
                        </m:r>
                      </m:den>
                    </m:f>
                  </m:oMath>
                </a14:m>
                <a:r>
                  <a:rPr sz="2400" b="0">
                    <a:solidFill>
                      <a:srgbClr val="111827"/>
                    </a:solidFill>
                    <a:latin typeface="Arial"/>
                  </a:rPr>
                  <a:t> is decreasing 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$h(t)=\sin^{-1}\frac{2t}{1+t^2}$</a:t>
                </a:r>
                <a:r>
                  <a:rPr sz="2400" b="0">
                    <a:solidFill>
                      <a:srgbClr val="111827"/>
                    </a:solidFill>
                    <a:latin typeface="Arial"/>
                  </a:rPr>
                  <a:t>, so </a:t>
                </a:r>
                <a:r>
                  <a:rPr lang="en-IN" sz="2400">
                    <a:solidFill>
                      <a:srgbClr val="111827"/>
                    </a:solidFill>
                    <a:latin typeface="Cambria Math" panose="02040503050406030204" pitchFamily="18" charset="0"/>
                  </a:rPr>
                  <a:t>$f=h\circ g$</a:t>
                </a:r>
                <a:r>
                  <a:rPr sz="2400" b="0">
                    <a:solidFill>
                      <a:srgbClr val="111827"/>
                    </a:solidFill>
                    <a:latin typeface="Arial"/>
                  </a:rPr>
                  <a:t>. Because </a:t>
                </a:r>
                <a:r>
                  <a:rPr lang="en-IN" sz="2400">
                    <a:solidFill>
                      <a:srgbClr val="111827"/>
                    </a:solidFill>
                    <a:latin typeface="Cambria Math" panose="02040503050406030204" pitchFamily="18" charset="0"/>
                  </a:rPr>
                  <a:t>$\frac{2t}{1+t^2}$</a:t>
                </a:r>
                <a:r>
                  <a:rPr sz="2400" b="0">
                    <a:solidFill>
                      <a:srgbClr val="111827"/>
                    </a:solidFill>
                    <a:latin typeface="Arial"/>
                  </a:rPr>
                  <a:t> is unchanged by </a:t>
                </a:r>
                <a:r>
                  <a:rPr lang="en-IN" sz="2400">
                    <a:solidFill>
                      <a:srgbClr val="111827"/>
                    </a:solidFill>
                    <a:latin typeface="Cambria Math" panose="02040503050406030204" pitchFamily="18" charset="0"/>
                  </a:rPr>
                  <a:t>$t\to\frac1t$</a:t>
                </a:r>
                <a:r>
                  <a:rPr sz="2400" b="0">
                    <a:solidFill>
                      <a:srgbClr val="111827"/>
                    </a:solidFill>
                    <a:latin typeface="Arial"/>
                  </a:rPr>
                  <a:t>, </a:t>
                </a:r>
                <a:r>
                  <a:rPr lang="en-IN" sz="2400">
                    <a:solidFill>
                      <a:srgbClr val="111827"/>
                    </a:solidFill>
                    <a:latin typeface="Cambria Math" panose="02040503050406030204" pitchFamily="18" charset="0"/>
                  </a:rPr>
                  <a:t>$h(t)=h\left(\frac1t\right)$</a:t>
                </a:r>
                <a:r>
                  <a:rPr sz="2400" b="0">
                    <a:solidFill>
                      <a:srgbClr val="111827"/>
                    </a:solidFill>
                    <a:latin typeface="Arial"/>
                  </a:rPr>
                  <a:t> for </a:t>
                </a:r>
                <a:r>
                  <a:rPr lang="en-IN" sz="2400">
                    <a:solidFill>
                      <a:srgbClr val="111827"/>
                    </a:solidFill>
                    <a:latin typeface="Cambria Math" panose="02040503050406030204" pitchFamily="18" charset="0"/>
                  </a:rPr>
                  <a:t>$t\neq0$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 </a:t>
                </a:r>
                <a:r>
                  <a:rPr lang="en-IN" sz="2400">
                    <a:solidFill>
                      <a:srgbClr val="111827"/>
                    </a:solidFill>
                    <a:latin typeface="Cambria Math" panose="02040503050406030204" pitchFamily="18" charset="0"/>
                  </a:rPr>
                  <a:t>$[-1,1]$</a:t>
                </a:r>
                <a:r>
                  <a:rPr sz="2400" b="0">
                    <a:solidFill>
                      <a:srgbClr val="111827"/>
                    </a:solidFill>
                    <a:latin typeface="Arial"/>
                  </a:rPr>
                  <a:t>, </a:t>
                </a:r>
                <a:r>
                  <a:rPr lang="en-IN" sz="2400">
                    <a:solidFill>
                      <a:srgbClr val="111827"/>
                    </a:solidFill>
                    <a:latin typeface="Cambria Math" panose="02040503050406030204" pitchFamily="18" charset="0"/>
                  </a:rPr>
                  <a:t>$h(t)=2\tan^{-1}t$</a:t>
                </a:r>
                <a:r>
                  <a:rPr sz="2400" b="0">
                    <a:solidFill>
                      <a:srgbClr val="111827"/>
                    </a:solidFill>
                    <a:latin typeface="Arial"/>
                  </a:rPr>
                  <a:t> is increasing.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$t&gt;1$</a:t>
                </a:r>
                <a:r>
                  <a:rPr sz="2400" b="0">
                    <a:solidFill>
                      <a:srgbClr val="111827"/>
                    </a:solidFill>
                    <a:latin typeface="Arial"/>
                  </a:rPr>
                  <a:t>, </a:t>
                </a:r>
                <a:r>
                  <a:rPr lang="en-IN" sz="2400">
                    <a:solidFill>
                      <a:srgbClr val="111827"/>
                    </a:solidFill>
                    <a:latin typeface="Cambria Math" panose="02040503050406030204" pitchFamily="18" charset="0"/>
                  </a:rPr>
                  <a:t>$h(t)=h\left(\frac1t\right)=2\tan^{-1}\frac1t$</a:t>
                </a:r>
                <a:r>
                  <a:rPr sz="2400" b="0">
                    <a:solidFill>
                      <a:srgbClr val="111827"/>
                    </a:solidFill>
                    <a:latin typeface="Arial"/>
                  </a:rPr>
                  <a:t>; as </a:t>
                </a:r>
                <a:r>
                  <a:rPr lang="en-IN" sz="2400">
                    <a:solidFill>
                      <a:srgbClr val="111827"/>
                    </a:solidFill>
                    <a:latin typeface="Cambria Math" panose="02040503050406030204" pitchFamily="18" charset="0"/>
                  </a:rPr>
                  <a:t>$t\to\frac1t$</a:t>
                </a:r>
                <a:r>
                  <a:rPr sz="2400" b="0">
                    <a:solidFill>
                      <a:srgbClr val="111827"/>
                    </a:solidFill>
                    <a:latin typeface="Arial"/>
                  </a:rPr>
                  <a:t> is decreasing, </a:t>
                </a:r>
                <a:r>
                  <a:rPr lang="en-IN" sz="2400">
                    <a:solidFill>
                      <a:srgbClr val="111827"/>
                    </a:solidFill>
                    <a:latin typeface="Cambria Math" panose="02040503050406030204" pitchFamily="18" charset="0"/>
                  </a:rPr>
                  <a:t>$h$</a:t>
                </a:r>
                <a:r>
                  <a:rPr sz="2400" b="0">
                    <a:solidFill>
                      <a:srgbClr val="111827"/>
                    </a:solidFill>
                    <a:latin typeface="Arial"/>
                  </a:rPr>
                  <a:t> is decreasing on </a:t>
                </a:r>
                <a:r>
                  <a:rPr lang="en-IN" sz="2400">
                    <a:solidFill>
                      <a:srgbClr val="111827"/>
                    </a:solidFill>
                    <a:latin typeface="Cambria Math" panose="02040503050406030204" pitchFamily="18" charset="0"/>
                  </a:rPr>
                  <a:t>$(1,\infty)$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Similarly </a:t>
                </a:r>
                <a:r>
                  <a:rPr lang="en-IN" sz="2400">
                    <a:solidFill>
                      <a:srgbClr val="111827"/>
                    </a:solidFill>
                    <a:latin typeface="Cambria Math" panose="02040503050406030204" pitchFamily="18" charset="0"/>
                  </a:rPr>
                  <a:t>$h(t)=2\tan^{-1}\frac1t$</a:t>
                </a:r>
                <a:r>
                  <a:rPr sz="2400" b="0">
                    <a:solidFill>
                      <a:srgbClr val="111827"/>
                    </a:solidFill>
                    <a:latin typeface="Arial"/>
                  </a:rPr>
                  <a:t> is decreasing on </a:t>
                </a:r>
                <a:r>
                  <a:rPr lang="en-IN" sz="2400">
                    <a:solidFill>
                      <a:srgbClr val="111827"/>
                    </a:solidFill>
                    <a:latin typeface="Cambria Math" panose="02040503050406030204" pitchFamily="18" charset="0"/>
                  </a:rPr>
                  <a:t>$(-\infty,-1)$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differentiable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is continuous, so if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throughout,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stays in one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ℎ</m:t>
                    </m:r>
                  </m:oMath>
                </a14:m>
                <a:r>
                  <a:rPr sz="2400" b="0">
                    <a:solidFill>
                      <a:srgbClr val="111827"/>
                    </a:solidFill>
                    <a:latin typeface="Arial"/>
                  </a:rPr>
                  <a:t> is decreasing.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Composition rule: (increasing, increasing) gives increasing; (decreasing </a:t>
                </a:r>
                <a14:m>
                  <m:oMath xmlns:m="http://schemas.openxmlformats.org/officeDocument/2006/math">
                    <m:r>
                      <a:rPr lang="en-IN" sz="2400" i="1">
                        <a:solidFill>
                          <a:srgbClr val="111827"/>
                        </a:solidFill>
                        <a:latin typeface="Cambria Math" panose="02040503050406030204" pitchFamily="18" charset="0"/>
                      </a:rPr>
                      <m:t>ℎ</m:t>
                    </m:r>
                  </m:oMath>
                </a14:m>
                <a:r>
                  <a:rPr sz="2400" b="0">
                    <a:solidFill>
                      <a:srgbClr val="111827"/>
                    </a:solidFill>
                    <a:latin typeface="Arial"/>
                  </a:rPr>
                  <a:t>, increasing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gives decreasing; (decreasing </a:t>
                </a:r>
                <a14:m>
                  <m:oMath xmlns:m="http://schemas.openxmlformats.org/officeDocument/2006/math">
                    <m:r>
                      <a:rPr lang="en-IN" sz="2400" i="1">
                        <a:solidFill>
                          <a:srgbClr val="111827"/>
                        </a:solidFill>
                        <a:latin typeface="Cambria Math" panose="02040503050406030204" pitchFamily="18" charset="0"/>
                      </a:rPr>
                      <m:t>ℎ</m:t>
                    </m:r>
                  </m:oMath>
                </a14:m>
                <a:r>
                  <a:rPr sz="2400" b="0">
                    <a:solidFill>
                      <a:srgbClr val="111827"/>
                    </a:solidFill>
                    <a:latin typeface="Arial"/>
                  </a:rPr>
                  <a:t>, decreasing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gives increasing.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 true, (ii) true, (iii) false (decreasing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decreasing is increasing). Answer (B).</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differentiable </a:t>
                </a:r>
                <a:r>
                  <a:rPr lang="en-IN" sz="2400">
                    <a:solidFill>
                      <a:srgbClr val="111827"/>
                    </a:solidFill>
                    <a:latin typeface="Cambria Math" panose="02040503050406030204" pitchFamily="18" charset="0"/>
                  </a:rPr>
                  <a:t>$g$</a:t>
                </a:r>
                <a:r>
                  <a:rPr sz="2400" b="0">
                    <a:solidFill>
                      <a:srgbClr val="111827"/>
                    </a:solidFill>
                    <a:latin typeface="Arial"/>
                  </a:rPr>
                  <a:t> is continuous, so if </a:t>
                </a:r>
                <a:r>
                  <a:rPr lang="en-IN" sz="2400">
                    <a:solidFill>
                      <a:srgbClr val="111827"/>
                    </a:solidFill>
                    <a:latin typeface="Cambria Math" panose="02040503050406030204" pitchFamily="18" charset="0"/>
                  </a:rPr>
                  <a:t>$|g|&gt;1$</a:t>
                </a:r>
                <a:r>
                  <a:rPr sz="2400" b="0">
                    <a:solidFill>
                      <a:srgbClr val="111827"/>
                    </a:solidFill>
                    <a:latin typeface="Arial"/>
                  </a:rPr>
                  <a:t> throughout, </a:t>
                </a:r>
                <a:r>
                  <a:rPr lang="en-IN" sz="2400">
                    <a:solidFill>
                      <a:srgbClr val="111827"/>
                    </a:solidFill>
                    <a:latin typeface="Cambria Math" panose="02040503050406030204" pitchFamily="18" charset="0"/>
                  </a:rPr>
                  <a:t>$g$</a:t>
                </a:r>
                <a:r>
                  <a:rPr sz="2400" b="0">
                    <a:solidFill>
                      <a:srgbClr val="111827"/>
                    </a:solidFill>
                    <a:latin typeface="Arial"/>
                  </a:rPr>
                  <a:t> stays in one of </a:t>
                </a:r>
                <a:r>
                  <a:rPr lang="en-IN" sz="2400">
                    <a:solidFill>
                      <a:srgbClr val="111827"/>
                    </a:solidFill>
                    <a:latin typeface="Cambria Math" panose="02040503050406030204" pitchFamily="18" charset="0"/>
                  </a:rPr>
                  <a:t>$(1,\infty)$</a:t>
                </a:r>
                <a:r>
                  <a:rPr sz="2400" b="0">
                    <a:solidFill>
                      <a:srgbClr val="111827"/>
                    </a:solidFill>
                    <a:latin typeface="Arial"/>
                  </a:rPr>
                  <a:t>, </a:t>
                </a:r>
                <a:r>
                  <a:rPr lang="en-IN" sz="2400">
                    <a:solidFill>
                      <a:srgbClr val="111827"/>
                    </a:solidFill>
                    <a:latin typeface="Cambria Math" panose="02040503050406030204" pitchFamily="18" charset="0"/>
                  </a:rPr>
                  <a:t>$(-\infty,-1)$</a:t>
                </a:r>
                <a:r>
                  <a:rPr sz="2400" b="0">
                    <a:solidFill>
                      <a:srgbClr val="111827"/>
                    </a:solidFill>
                    <a:latin typeface="Arial"/>
                  </a:rPr>
                  <a:t>, where </a:t>
                </a:r>
                <a:r>
                  <a:rPr lang="en-IN" sz="2400">
                    <a:solidFill>
                      <a:srgbClr val="111827"/>
                    </a:solidFill>
                    <a:latin typeface="Cambria Math" panose="02040503050406030204" pitchFamily="18" charset="0"/>
                  </a:rPr>
                  <a:t>$h$</a:t>
                </a:r>
                <a:r>
                  <a:rPr sz="2400" b="0">
                    <a:solidFill>
                      <a:srgbClr val="111827"/>
                    </a:solidFill>
                    <a:latin typeface="Arial"/>
                  </a:rPr>
                  <a:t> is decreasing.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Composition rule: (increasing, increasing) gives increasing; (decreasing </a:t>
                </a:r>
                <a:r>
                  <a:rPr lang="en-IN" sz="2400">
                    <a:solidFill>
                      <a:srgbClr val="111827"/>
                    </a:solidFill>
                    <a:latin typeface="Cambria Math" panose="02040503050406030204" pitchFamily="18" charset="0"/>
                  </a:rPr>
                  <a:t>$h$</a:t>
                </a:r>
                <a:r>
                  <a:rPr sz="2400" b="0">
                    <a:solidFill>
                      <a:srgbClr val="111827"/>
                    </a:solidFill>
                    <a:latin typeface="Arial"/>
                  </a:rPr>
                  <a:t>, increasing </a:t>
                </a:r>
                <a:r>
                  <a:rPr lang="en-IN" sz="2400">
                    <a:solidFill>
                      <a:srgbClr val="111827"/>
                    </a:solidFill>
                    <a:latin typeface="Cambria Math" panose="02040503050406030204" pitchFamily="18" charset="0"/>
                  </a:rPr>
                  <a:t>$g$</a:t>
                </a:r>
                <a:r>
                  <a:rPr sz="2400" b="0">
                    <a:solidFill>
                      <a:srgbClr val="111827"/>
                    </a:solidFill>
                    <a:latin typeface="Arial"/>
                  </a:rPr>
                  <a:t>) gives decreasing; (decreasing </a:t>
                </a:r>
                <a:r>
                  <a:rPr lang="en-IN" sz="2400">
                    <a:solidFill>
                      <a:srgbClr val="111827"/>
                    </a:solidFill>
                    <a:latin typeface="Cambria Math" panose="02040503050406030204" pitchFamily="18" charset="0"/>
                  </a:rPr>
                  <a:t>$h$</a:t>
                </a:r>
                <a:r>
                  <a:rPr sz="2400" b="0">
                    <a:solidFill>
                      <a:srgbClr val="111827"/>
                    </a:solidFill>
                    <a:latin typeface="Arial"/>
                  </a:rPr>
                  <a:t>, decreasing </a:t>
                </a:r>
                <a:r>
                  <a:rPr lang="en-IN" sz="2400">
                    <a:solidFill>
                      <a:srgbClr val="111827"/>
                    </a:solidFill>
                    <a:latin typeface="Cambria Math" panose="02040503050406030204" pitchFamily="18" charset="0"/>
                  </a:rPr>
                  <a:t>$g$</a:t>
                </a:r>
                <a:r>
                  <a:rPr sz="2400" b="0">
                    <a:solidFill>
                      <a:srgbClr val="111827"/>
                    </a:solidFill>
                    <a:latin typeface="Arial"/>
                  </a:rPr>
                  <a:t>) gives increasing.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 true, (ii) true, (iii) false (decreasing </a:t>
                </a:r>
                <a:r>
                  <a:rPr lang="en-IN" sz="2400">
                    <a:solidFill>
                      <a:srgbClr val="111827"/>
                    </a:solidFill>
                    <a:latin typeface="Cambria Math" panose="02040503050406030204" pitchFamily="18" charset="0"/>
                  </a:rPr>
                  <a:t>$\circ$</a:t>
                </a:r>
                <a:r>
                  <a:rPr sz="2400" b="0">
                    <a:solidFill>
                      <a:srgbClr val="111827"/>
                    </a:solidFill>
                    <a:latin typeface="Arial"/>
                  </a:rPr>
                  <a:t> decreasing is increasing). Answer (B).</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(i) and (ii)</a:t>
            </a:r>
            <a:endParaRPr sz="2800">
              <a:solidFill>
                <a:srgbClr val="15803D"/>
              </a:solidFill>
            </a:endParaRP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𝑡</m:t>
                    </m:r>
                  </m:oMath>
                </a14:m>
                <a:r>
                  <a:rPr sz="2400" b="0">
                    <a:solidFill>
                      <a:srgbClr val="111827"/>
                    </a:solidFill>
                    <a:latin typeface="Arial"/>
                  </a:rPr>
                  <a:t> 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𝑡</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𝑡</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Also </a:t>
                </a:r>
                <a14:m>
                  <m:oMath xmlns:m="http://schemas.openxmlformats.org/officeDocument/2006/math">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all real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 always check the principal range before collapsing an inverse trig expression.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oMath>
                </a14:m>
                <a:r>
                  <a:rPr sz="2400" b="0">
                    <a:solidFill>
                      <a:srgbClr val="111827"/>
                    </a:solidFill>
                    <a:latin typeface="Arial"/>
                  </a:rPr>
                  <a:t> the direction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the product of directions: (inc, inc) and (dec, dec) give increasing; (inc, dec) and (dec, inc) give decreasing.</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is increasing 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but decreasing 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 one formula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sgn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$\sin^{-1}\frac{2t}{1+t^2}=2\tan^{-1}t$</a:t>
                </a:r>
                <a:r>
                  <a:rPr sz="2400" b="0">
                    <a:solidFill>
                      <a:srgbClr val="111827"/>
                    </a:solidFill>
                    <a:latin typeface="Arial"/>
                  </a:rPr>
                  <a:t> for </a:t>
                </a:r>
                <a:r>
                  <a:rPr lang="en-IN" sz="2400">
                    <a:solidFill>
                      <a:srgbClr val="111827"/>
                    </a:solidFill>
                    <a:latin typeface="Cambria Math" panose="02040503050406030204" pitchFamily="18" charset="0"/>
                  </a:rPr>
                  <a:t>$|t|\le1$</a:t>
                </a:r>
                <a:r>
                  <a:rPr sz="2400" b="0">
                    <a:solidFill>
                      <a:srgbClr val="111827"/>
                    </a:solidFill>
                    <a:latin typeface="Arial"/>
                  </a:rPr>
                  <a:t>; </a:t>
                </a:r>
                <a:r>
                  <a:rPr lang="en-IN" sz="2400">
                    <a:solidFill>
                      <a:srgbClr val="111827"/>
                    </a:solidFill>
                    <a:latin typeface="Cambria Math" panose="02040503050406030204" pitchFamily="18" charset="0"/>
                  </a:rPr>
                  <a:t>$=\pi-2\tan^{-1}t$</a:t>
                </a:r>
                <a:r>
                  <a:rPr sz="2400" b="0">
                    <a:solidFill>
                      <a:srgbClr val="111827"/>
                    </a:solidFill>
                    <a:latin typeface="Arial"/>
                  </a:rPr>
                  <a:t> for </a:t>
                </a:r>
                <a:r>
                  <a:rPr lang="en-IN" sz="2400">
                    <a:solidFill>
                      <a:srgbClr val="111827"/>
                    </a:solidFill>
                    <a:latin typeface="Cambria Math" panose="02040503050406030204" pitchFamily="18" charset="0"/>
                  </a:rPr>
                  <a:t>$t\ge1$</a:t>
                </a:r>
                <a:r>
                  <a:rPr sz="2400" b="0">
                    <a:solidFill>
                      <a:srgbClr val="111827"/>
                    </a:solidFill>
                    <a:latin typeface="Arial"/>
                  </a:rPr>
                  <a:t>; </a:t>
                </a:r>
                <a:r>
                  <a:rPr lang="en-IN" sz="2400">
                    <a:solidFill>
                      <a:srgbClr val="111827"/>
                    </a:solidFill>
                    <a:latin typeface="Cambria Math" panose="02040503050406030204" pitchFamily="18" charset="0"/>
                  </a:rPr>
                  <a:t>$=-\pi-2\tan^{-1}t$</a:t>
                </a:r>
                <a:r>
                  <a:rPr sz="2400" b="0">
                    <a:solidFill>
                      <a:srgbClr val="111827"/>
                    </a:solidFill>
                    <a:latin typeface="Arial"/>
                  </a:rPr>
                  <a:t> for </a:t>
                </a:r>
                <a:r>
                  <a:rPr lang="en-IN" sz="2400">
                    <a:solidFill>
                      <a:srgbClr val="111827"/>
                    </a:solidFill>
                    <a:latin typeface="Cambria Math" panose="02040503050406030204" pitchFamily="18" charset="0"/>
                  </a:rPr>
                  <a:t>$t\le-1$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Also </a:t>
                </a:r>
                <a:r>
                  <a:rPr lang="en-IN" sz="2400">
                    <a:solidFill>
                      <a:srgbClr val="111827"/>
                    </a:solidFill>
                    <a:latin typeface="Cambria Math" panose="02040503050406030204" pitchFamily="18" charset="0"/>
                  </a:rPr>
                  <a:t>$\cos^{-1}\frac{1-t^2}{1+t^2}=2\tan^{-1}|t|$</a:t>
                </a:r>
                <a:r>
                  <a:rPr sz="2400" b="0">
                    <a:solidFill>
                      <a:srgbClr val="111827"/>
                    </a:solidFill>
                    <a:latin typeface="Arial"/>
                  </a:rPr>
                  <a:t> for all real </a:t>
                </a:r>
                <a:r>
                  <a:rPr lang="en-IN" sz="2400">
                    <a:solidFill>
                      <a:srgbClr val="111827"/>
                    </a:solidFill>
                    <a:latin typeface="Cambria Math" panose="02040503050406030204" pitchFamily="18" charset="0"/>
                  </a:rPr>
                  <a:t>$t$</a:t>
                </a:r>
                <a:r>
                  <a:rPr sz="2400" b="0">
                    <a:solidFill>
                      <a:srgbClr val="111827"/>
                    </a:solidFill>
                    <a:latin typeface="Arial"/>
                  </a:rPr>
                  <a:t>; always check the principal range before collapsing an inverse trig expression.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$f=h\circ g$</a:t>
                </a:r>
                <a:r>
                  <a:rPr sz="2400" b="0">
                    <a:solidFill>
                      <a:srgbClr val="111827"/>
                    </a:solidFill>
                    <a:latin typeface="Arial"/>
                  </a:rPr>
                  <a:t> the direction of </a:t>
                </a:r>
                <a:r>
                  <a:rPr lang="en-IN" sz="2400">
                    <a:solidFill>
                      <a:srgbClr val="111827"/>
                    </a:solidFill>
                    <a:latin typeface="Cambria Math" panose="02040503050406030204" pitchFamily="18" charset="0"/>
                  </a:rPr>
                  <a:t>$f$</a:t>
                </a:r>
                <a:r>
                  <a:rPr sz="2400" b="0">
                    <a:solidFill>
                      <a:srgbClr val="111827"/>
                    </a:solidFill>
                    <a:latin typeface="Arial"/>
                  </a:rPr>
                  <a:t> is the product of directions: (inc, inc) and (dec, dec) give increasing; (inc, dec) and (dec, inc) give decreasing.</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$h(t)=\sin^{-1}\frac{2t}{1+t^2}$</a:t>
                </a:r>
                <a:r>
                  <a:rPr sz="2400" b="0">
                    <a:solidFill>
                      <a:srgbClr val="111827"/>
                    </a:solidFill>
                    <a:latin typeface="Arial"/>
                  </a:rPr>
                  <a:t> is increasing on </a:t>
                </a:r>
                <a:r>
                  <a:rPr lang="en-IN" sz="2400">
                    <a:solidFill>
                      <a:srgbClr val="111827"/>
                    </a:solidFill>
                    <a:latin typeface="Cambria Math" panose="02040503050406030204" pitchFamily="18" charset="0"/>
                  </a:rPr>
                  <a:t>$[-1,1]$</a:t>
                </a:r>
                <a:r>
                  <a:rPr sz="2400" b="0">
                    <a:solidFill>
                      <a:srgbClr val="111827"/>
                    </a:solidFill>
                    <a:latin typeface="Arial"/>
                  </a:rPr>
                  <a:t> but decreasing on </a:t>
                </a:r>
                <a:r>
                  <a:rPr lang="en-IN" sz="2400">
                    <a:solidFill>
                      <a:srgbClr val="111827"/>
                    </a:solidFill>
                    <a:latin typeface="Cambria Math" panose="02040503050406030204" pitchFamily="18" charset="0"/>
                  </a:rPr>
                  <a:t>$(-\infty,-1]$</a:t>
                </a:r>
                <a:r>
                  <a:rPr sz="2400" b="0">
                    <a:solidFill>
                      <a:srgbClr val="111827"/>
                    </a:solidFill>
                    <a:latin typeface="Arial"/>
                  </a:rPr>
                  <a:t> and on </a:t>
                </a:r>
                <a:r>
                  <a:rPr lang="en-IN" sz="2400">
                    <a:solidFill>
                      <a:srgbClr val="111827"/>
                    </a:solidFill>
                    <a:latin typeface="Cambria Math" panose="02040503050406030204" pitchFamily="18" charset="0"/>
                  </a:rPr>
                  <a:t>$[1,\infty)$</a:t>
                </a:r>
                <a:r>
                  <a:rPr sz="2400" b="0">
                    <a:solidFill>
                      <a:srgbClr val="111827"/>
                    </a:solidFill>
                    <a:latin typeface="Arial"/>
                  </a:rPr>
                  <a:t>; in one formula </a:t>
                </a:r>
                <a:r>
                  <a:rPr lang="en-IN" sz="2400">
                    <a:solidFill>
                      <a:srgbClr val="111827"/>
                    </a:solidFill>
                    <a:latin typeface="Cambria Math" panose="02040503050406030204" pitchFamily="18" charset="0"/>
                  </a:rPr>
                  <a:t>$f'=\frac{2g'}{1+g^2}\cdot\operatorname{sgn}(1-g^2)$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2</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One or more than one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Q15 – Q25</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No marking scheme printed; JEE Advanced default of 4 marks assumed</a:t>
            </a:r>
            <a:endParaRPr sz="2800">
              <a:solidFill>
                <a:srgbClr val="FFFFFF"/>
              </a:solidFill>
            </a:endParaRP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00583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For the curves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which of the following is/are true: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is their common tangent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is their common normal</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both the curves touch each other</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both the curves never touch each other</a:t>
                </a:r>
                <a:endParaRPr sz="2400">
                  <a:solidFill>
                    <a:srgbClr val="111827"/>
                  </a:solidFill>
                </a:endParaRPr>
              </a:p>
            </p:txBody>
          </p:sp>
        </mc:Choice>
        <mc:Fallback>
          <p:sp>
            <p:nvSpPr>
              <p:cNvPr id="4" name="Rounded Rectangle 3"/>
              <p:cNvSpPr/>
              <p:nvPr/>
            </p:nvSpPr>
            <p:spPr>
              <a:xfrm>
                <a:off x="731520" y="1280160"/>
                <a:ext cx="10725912" cy="300583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For the curves </a:t>
                </a:r>
                <a:r>
                  <a:rPr lang="en-IN" sz="2400">
                    <a:solidFill>
                      <a:srgbClr val="111827"/>
                    </a:solidFill>
                    <a:latin typeface="Cambria Math" panose="02040503050406030204" pitchFamily="18" charset="0"/>
                  </a:rPr>
                  <a:t>$y=x^2-x+1$</a:t>
                </a:r>
                <a:r>
                  <a:rPr sz="2400" b="0">
                    <a:solidFill>
                      <a:srgbClr val="111827"/>
                    </a:solidFill>
                    <a:latin typeface="Arial"/>
                  </a:rPr>
                  <a:t> and </a:t>
                </a:r>
                <a:r>
                  <a:rPr lang="en-IN" sz="2400">
                    <a:solidFill>
                      <a:srgbClr val="111827"/>
                    </a:solidFill>
                    <a:latin typeface="Cambria Math" panose="02040503050406030204" pitchFamily="18" charset="0"/>
                  </a:rPr>
                  <a:t>$x=y^2-y+1$</a:t>
                </a:r>
                <a:r>
                  <a:rPr sz="2400" b="0">
                    <a:solidFill>
                      <a:srgbClr val="111827"/>
                    </a:solidFill>
                    <a:latin typeface="Arial"/>
                  </a:rPr>
                  <a:t> which of the following is/are true: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$y=x$</a:t>
                </a:r>
                <a:r>
                  <a:rPr sz="2400" b="0">
                    <a:solidFill>
                      <a:srgbClr val="111827"/>
                    </a:solidFill>
                    <a:latin typeface="Arial"/>
                  </a:rPr>
                  <a:t> is their common tangent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$y+x=2$</a:t>
                </a:r>
                <a:r>
                  <a:rPr sz="2400" b="0">
                    <a:solidFill>
                      <a:srgbClr val="111827"/>
                    </a:solidFill>
                    <a:latin typeface="Arial"/>
                  </a:rPr>
                  <a:t> is their common normal</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both the curves touch each other</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both the curves never touch each other</a:t>
                </a:r>
                <a:endParaRPr sz="2400">
                  <a:solidFill>
                    <a:srgbClr val="111827"/>
                  </a:solidFill>
                </a:endParaRPr>
              </a:p>
            </p:txBody>
          </p:sp>
        </mc:Fallback>
      </mc:AlternateContent>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One or more than one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Tangent and normal to curves; two curves touching each other</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65760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curves are mirror images in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oMath>
                </a14:m>
                <a:r>
                  <a:rPr sz="2400" b="0">
                    <a:solidFill>
                      <a:srgbClr val="78350F"/>
                    </a:solidFill>
                    <a:latin typeface="Arial"/>
                  </a:rPr>
                  <a:t> and meet only at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where both have slope </a:t>
                </a:r>
                <a14:m>
                  <m:oMath xmlns:m="http://schemas.openxmlformats.org/officeDocument/2006/math">
                    <m:r>
                      <a:rPr lang="en-IN" sz="2400" i="1">
                        <a:solidFill>
                          <a:srgbClr val="78350F"/>
                        </a:solidFill>
                        <a:latin typeface="Cambria Math" panose="02040503050406030204" pitchFamily="18" charset="0"/>
                      </a:rPr>
                      <m:t>1</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65760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curves are mirror images in </a:t>
                </a:r>
                <a:r>
                  <a:rPr lang="en-IN" sz="2400">
                    <a:solidFill>
                      <a:srgbClr val="78350F"/>
                    </a:solidFill>
                    <a:latin typeface="Cambria Math" panose="02040503050406030204" pitchFamily="18" charset="0"/>
                  </a:rPr>
                  <a:t>$y=x$</a:t>
                </a:r>
                <a:r>
                  <a:rPr sz="2400" b="0">
                    <a:solidFill>
                      <a:srgbClr val="78350F"/>
                    </a:solidFill>
                    <a:latin typeface="Arial"/>
                  </a:rPr>
                  <a:t> and meet only at </a:t>
                </a:r>
                <a:r>
                  <a:rPr lang="en-IN" sz="2400">
                    <a:solidFill>
                      <a:srgbClr val="78350F"/>
                    </a:solidFill>
                    <a:latin typeface="Cambria Math" panose="02040503050406030204" pitchFamily="18" charset="0"/>
                  </a:rPr>
                  <a:t>$(1,1)$</a:t>
                </a:r>
                <a:r>
                  <a:rPr sz="2400" b="0">
                    <a:solidFill>
                      <a:srgbClr val="78350F"/>
                    </a:solidFill>
                    <a:latin typeface="Arial"/>
                  </a:rPr>
                  <a:t>, where both have slope </a:t>
                </a:r>
                <a:r>
                  <a:rPr lang="en-IN" sz="2400">
                    <a:solidFill>
                      <a:srgbClr val="78350F"/>
                    </a:solidFill>
                    <a:latin typeface="Cambria Math" panose="02040503050406030204" pitchFamily="18" charset="0"/>
                  </a:rPr>
                  <a:t>$1$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curves are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 (1) and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(2),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substituting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from (1):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curves are </a:t>
                </a:r>
                <a:r>
                  <a:rPr lang="en-IN" sz="2400">
                    <a:solidFill>
                      <a:srgbClr val="111827"/>
                    </a:solidFill>
                    <a:latin typeface="Cambria Math" panose="02040503050406030204" pitchFamily="18" charset="0"/>
                  </a:rPr>
                  <a:t>$y=x^2-x+1$</a:t>
                </a:r>
                <a:r>
                  <a:rPr sz="2400" b="0">
                    <a:solidFill>
                      <a:srgbClr val="111827"/>
                    </a:solidFill>
                    <a:latin typeface="Arial"/>
                  </a:rPr>
                  <a:t> ... (1) and </a:t>
                </a:r>
                <a:r>
                  <a:rPr lang="en-IN" sz="2400">
                    <a:solidFill>
                      <a:srgbClr val="111827"/>
                    </a:solidFill>
                    <a:latin typeface="Cambria Math" panose="02040503050406030204" pitchFamily="18" charset="0"/>
                  </a:rPr>
                  <a:t>$x=y^2-y+1$</a:t>
                </a:r>
                <a:r>
                  <a:rPr sz="2400" b="0">
                    <a:solidFill>
                      <a:srgbClr val="111827"/>
                    </a:solidFill>
                    <a:latin typeface="Arial"/>
                  </a:rPr>
                  <a:t> ...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(2), </a:t>
                </a:r>
                <a:r>
                  <a:rPr lang="en-IN" sz="2400">
                    <a:solidFill>
                      <a:srgbClr val="111827"/>
                    </a:solidFill>
                    <a:latin typeface="Cambria Math" panose="02040503050406030204" pitchFamily="18" charset="0"/>
                  </a:rPr>
                  <a:t>$x=y(y-1)+1$</a:t>
                </a:r>
                <a:r>
                  <a:rPr sz="2400" b="0">
                    <a:solidFill>
                      <a:srgbClr val="111827"/>
                    </a:solidFill>
                    <a:latin typeface="Arial"/>
                  </a:rPr>
                  <a:t>; substituting </a:t>
                </a:r>
                <a:r>
                  <a:rPr lang="en-IN" sz="2400">
                    <a:solidFill>
                      <a:srgbClr val="111827"/>
                    </a:solidFill>
                    <a:latin typeface="Cambria Math" panose="02040503050406030204" pitchFamily="18" charset="0"/>
                  </a:rPr>
                  <a:t>$y=x^2-x+1$</a:t>
                </a:r>
                <a:r>
                  <a:rPr sz="2400" b="0">
                    <a:solidFill>
                      <a:srgbClr val="111827"/>
                    </a:solidFill>
                    <a:latin typeface="Arial"/>
                  </a:rPr>
                  <a:t> from (1): </a:t>
                </a:r>
                <a:r>
                  <a:rPr lang="en-IN" sz="2400">
                    <a:solidFill>
                      <a:srgbClr val="111827"/>
                    </a:solidFill>
                    <a:latin typeface="Cambria Math" panose="02040503050406030204" pitchFamily="18" charset="0"/>
                  </a:rPr>
                  <a:t>$x=(x^2-x+1)(x^2-x)+1$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Expanding: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gives only the real root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curves meet only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Slopes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from (1),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from (2),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Same point and same tangent, so the curves touch each other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(C) true, (D) false.</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Expanding: </a:t>
                </a:r>
                <a:r>
                  <a:rPr lang="en-IN" sz="2400">
                    <a:solidFill>
                      <a:srgbClr val="111827"/>
                    </a:solidFill>
                    <a:latin typeface="Cambria Math" panose="02040503050406030204" pitchFamily="18" charset="0"/>
                  </a:rPr>
                  <a:t>$x=(x^2-x)^2+(x^2-x)+1$</a:t>
                </a:r>
                <a:r>
                  <a:rPr sz="2400" b="0">
                    <a:solidFill>
                      <a:srgbClr val="111827"/>
                    </a:solidFill>
                    <a:latin typeface="Arial"/>
                  </a:rPr>
                  <a:t>, so </a:t>
                </a:r>
                <a:r>
                  <a:rPr lang="en-IN" sz="2400">
                    <a:solidFill>
                      <a:srgbClr val="111827"/>
                    </a:solidFill>
                    <a:latin typeface="Cambria Math" panose="02040503050406030204" pitchFamily="18" charset="0"/>
                  </a:rPr>
                  <a:t>$(x^2-x)^2+x^2-2x+1=0$</a:t>
                </a:r>
                <a:r>
                  <a:rPr sz="2400" b="0">
                    <a:solidFill>
                      <a:srgbClr val="111827"/>
                    </a:solidFill>
                    <a:latin typeface="Arial"/>
                  </a:rPr>
                  <a:t>, i.e. </a:t>
                </a:r>
                <a:r>
                  <a:rPr lang="en-IN" sz="2400">
                    <a:solidFill>
                      <a:srgbClr val="111827"/>
                    </a:solidFill>
                    <a:latin typeface="Cambria Math" panose="02040503050406030204" pitchFamily="18" charset="0"/>
                  </a:rPr>
                  <a:t>$x^2(x-1)^2+(x-1)^2=0$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$(x-1)^2(x^2+1)=0$</a:t>
                </a:r>
                <a:r>
                  <a:rPr sz="2400" b="0">
                    <a:solidFill>
                      <a:srgbClr val="111827"/>
                    </a:solidFill>
                    <a:latin typeface="Arial"/>
                  </a:rPr>
                  <a:t> gives only the real root </a:t>
                </a:r>
                <a:r>
                  <a:rPr lang="en-IN" sz="2400">
                    <a:solidFill>
                      <a:srgbClr val="111827"/>
                    </a:solidFill>
                    <a:latin typeface="Cambria Math" panose="02040503050406030204" pitchFamily="18" charset="0"/>
                  </a:rPr>
                  <a:t>$x=1$</a:t>
                </a:r>
                <a:r>
                  <a:rPr sz="2400" b="0">
                    <a:solidFill>
                      <a:srgbClr val="111827"/>
                    </a:solidFill>
                    <a:latin typeface="Arial"/>
                  </a:rPr>
                  <a:t>, so </a:t>
                </a:r>
                <a:r>
                  <a:rPr lang="en-IN" sz="2400">
                    <a:solidFill>
                      <a:srgbClr val="111827"/>
                    </a:solidFill>
                    <a:latin typeface="Cambria Math" panose="02040503050406030204" pitchFamily="18" charset="0"/>
                  </a:rPr>
                  <a:t>$y=1$</a:t>
                </a:r>
                <a:r>
                  <a:rPr sz="2400" b="0">
                    <a:solidFill>
                      <a:srgbClr val="111827"/>
                    </a:solidFill>
                    <a:latin typeface="Arial"/>
                  </a:rPr>
                  <a:t>: the curves meet only at </a:t>
                </a:r>
                <a:r>
                  <a:rPr lang="en-IN" sz="2400">
                    <a:solidFill>
                      <a:srgbClr val="111827"/>
                    </a:solidFill>
                    <a:latin typeface="Cambria Math" panose="02040503050406030204" pitchFamily="18" charset="0"/>
                  </a:rPr>
                  <a:t>$(1,1)$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Slopes at </a:t>
                </a:r>
                <a:r>
                  <a:rPr lang="en-IN" sz="2400">
                    <a:solidFill>
                      <a:srgbClr val="111827"/>
                    </a:solidFill>
                    <a:latin typeface="Cambria Math" panose="02040503050406030204" pitchFamily="18" charset="0"/>
                  </a:rPr>
                  <a:t>$(1,1)$</a:t>
                </a:r>
                <a:r>
                  <a:rPr sz="2400" b="0">
                    <a:solidFill>
                      <a:srgbClr val="111827"/>
                    </a:solidFill>
                    <a:latin typeface="Arial"/>
                  </a:rPr>
                  <a:t>: from (1), </a:t>
                </a:r>
                <a:r>
                  <a:rPr lang="en-IN" sz="2400">
                    <a:solidFill>
                      <a:srgbClr val="111827"/>
                    </a:solidFill>
                    <a:latin typeface="Cambria Math" panose="02040503050406030204" pitchFamily="18" charset="0"/>
                  </a:rPr>
                  <a:t>$\frac{dy}{dx}=2x-1=1$</a:t>
                </a:r>
                <a:r>
                  <a:rPr sz="2400" b="0">
                    <a:solidFill>
                      <a:srgbClr val="111827"/>
                    </a:solidFill>
                    <a:latin typeface="Arial"/>
                  </a:rPr>
                  <a:t>; from (2), </a:t>
                </a:r>
                <a:r>
                  <a:rPr lang="en-IN" sz="2400">
                    <a:solidFill>
                      <a:srgbClr val="111827"/>
                    </a:solidFill>
                    <a:latin typeface="Cambria Math" panose="02040503050406030204" pitchFamily="18" charset="0"/>
                  </a:rPr>
                  <a:t>$\frac{dx}{dy}=2y-1=1$</a:t>
                </a:r>
                <a:r>
                  <a:rPr sz="2400" b="0">
                    <a:solidFill>
                      <a:srgbClr val="111827"/>
                    </a:solidFill>
                    <a:latin typeface="Arial"/>
                  </a:rPr>
                  <a:t>, so </a:t>
                </a:r>
                <a:r>
                  <a:rPr lang="en-IN" sz="2400">
                    <a:solidFill>
                      <a:srgbClr val="111827"/>
                    </a:solidFill>
                    <a:latin typeface="Cambria Math" panose="02040503050406030204" pitchFamily="18" charset="0"/>
                  </a:rPr>
                  <a:t>$\frac{dy}{dx}=1$</a:t>
                </a:r>
                <a:r>
                  <a:rPr sz="2400" b="0">
                    <a:solidFill>
                      <a:srgbClr val="111827"/>
                    </a:solidFill>
                    <a:latin typeface="Arial"/>
                  </a:rPr>
                  <a:t>. Same point and same tangent, so the curves touch each other at </a:t>
                </a:r>
                <a:r>
                  <a:rPr lang="en-IN" sz="2400">
                    <a:solidFill>
                      <a:srgbClr val="111827"/>
                    </a:solidFill>
                    <a:latin typeface="Cambria Math" panose="02040503050406030204" pitchFamily="18" charset="0"/>
                  </a:rPr>
                  <a:t>$x=1$</a:t>
                </a:r>
                <a:r>
                  <a:rPr sz="2400" b="0">
                    <a:solidFill>
                      <a:srgbClr val="111827"/>
                    </a:solidFill>
                    <a:latin typeface="Arial"/>
                  </a:rPr>
                  <a:t>: (C) true, (D) false.</a:t>
                </a:r>
                <a:endParaRPr sz="2400">
                  <a:solidFill>
                    <a:srgbClr val="111827"/>
                  </a:solidFill>
                </a:endParaRPr>
              </a:p>
            </p:txBody>
          </p:sp>
        </mc:Fallback>
      </mc:AlternateContent>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Tangent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to both: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(A)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Normal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to both (slope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(B)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 (B), (C) are correct.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Tangent at </a:t>
                </a:r>
                <a:r>
                  <a:rPr lang="en-IN" sz="2400">
                    <a:solidFill>
                      <a:srgbClr val="111827"/>
                    </a:solidFill>
                    <a:latin typeface="Cambria Math" panose="02040503050406030204" pitchFamily="18" charset="0"/>
                  </a:rPr>
                  <a:t>$(1,1)$</a:t>
                </a:r>
                <a:r>
                  <a:rPr sz="2400" b="0">
                    <a:solidFill>
                      <a:srgbClr val="111827"/>
                    </a:solidFill>
                    <a:latin typeface="Arial"/>
                  </a:rPr>
                  <a:t> to both: </a:t>
                </a:r>
                <a:r>
                  <a:rPr lang="en-IN" sz="2400">
                    <a:solidFill>
                      <a:srgbClr val="111827"/>
                    </a:solidFill>
                    <a:latin typeface="Cambria Math" panose="02040503050406030204" pitchFamily="18" charset="0"/>
                  </a:rPr>
                  <a:t>$y-1=1\cdot(x-1)$</a:t>
                </a:r>
                <a:r>
                  <a:rPr sz="2400" b="0">
                    <a:solidFill>
                      <a:srgbClr val="111827"/>
                    </a:solidFill>
                    <a:latin typeface="Arial"/>
                  </a:rPr>
                  <a:t>, i.e. </a:t>
                </a:r>
                <a:r>
                  <a:rPr lang="en-IN" sz="2400">
                    <a:solidFill>
                      <a:srgbClr val="111827"/>
                    </a:solidFill>
                    <a:latin typeface="Cambria Math" panose="02040503050406030204" pitchFamily="18" charset="0"/>
                  </a:rPr>
                  <a:t>$y=x$</a:t>
                </a:r>
                <a:r>
                  <a:rPr sz="2400" b="0">
                    <a:solidFill>
                      <a:srgbClr val="111827"/>
                    </a:solidFill>
                    <a:latin typeface="Arial"/>
                  </a:rPr>
                  <a:t>: (A)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Normal at </a:t>
                </a:r>
                <a:r>
                  <a:rPr lang="en-IN" sz="2400">
                    <a:solidFill>
                      <a:srgbClr val="111827"/>
                    </a:solidFill>
                    <a:latin typeface="Cambria Math" panose="02040503050406030204" pitchFamily="18" charset="0"/>
                  </a:rPr>
                  <a:t>$(1,1)$</a:t>
                </a:r>
                <a:r>
                  <a:rPr sz="2400" b="0">
                    <a:solidFill>
                      <a:srgbClr val="111827"/>
                    </a:solidFill>
                    <a:latin typeface="Arial"/>
                  </a:rPr>
                  <a:t> to both (slope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$y-1=-(x-1)$</a:t>
                </a:r>
                <a:r>
                  <a:rPr sz="2400" b="0">
                    <a:solidFill>
                      <a:srgbClr val="111827"/>
                    </a:solidFill>
                    <a:latin typeface="Arial"/>
                  </a:rPr>
                  <a:t>, i.e. </a:t>
                </a:r>
                <a:r>
                  <a:rPr lang="en-IN" sz="2400">
                    <a:solidFill>
                      <a:srgbClr val="111827"/>
                    </a:solidFill>
                    <a:latin typeface="Cambria Math" panose="02040503050406030204" pitchFamily="18" charset="0"/>
                  </a:rPr>
                  <a:t>$x+y=2$</a:t>
                </a:r>
                <a:r>
                  <a:rPr sz="2400" b="0">
                    <a:solidFill>
                      <a:srgbClr val="111827"/>
                    </a:solidFill>
                    <a:latin typeface="Arial"/>
                  </a:rPr>
                  <a:t>: (B)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 (B), (C) are correct.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B, C)</a:t>
            </a:r>
            <a:endParaRPr sz="2800">
              <a:solidFill>
                <a:srgbClr val="15803D"/>
              </a:solidFill>
            </a:endParaRP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curves are reflections of each other in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puts one curve above the line and the other below it.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curves are reflections of each other in </a:t>
                </a:r>
                <a:r>
                  <a:rPr lang="en-IN" sz="2400">
                    <a:solidFill>
                      <a:srgbClr val="78350F"/>
                    </a:solidFill>
                    <a:latin typeface="Cambria Math" panose="02040503050406030204" pitchFamily="18" charset="0"/>
                  </a:rPr>
                  <a:t>$y=x$</a:t>
                </a:r>
                <a:r>
                  <a:rPr sz="2400" b="0">
                    <a:solidFill>
                      <a:srgbClr val="78350F"/>
                    </a:solidFill>
                    <a:latin typeface="Arial"/>
                  </a:rPr>
                  <a:t>, and </a:t>
                </a:r>
                <a:r>
                  <a:rPr lang="en-IN" sz="2400">
                    <a:solidFill>
                      <a:srgbClr val="78350F"/>
                    </a:solidFill>
                    <a:latin typeface="Cambria Math" panose="02040503050406030204" pitchFamily="18" charset="0"/>
                  </a:rPr>
                  <a:t>$y-x=(x-1)^2\ge0$</a:t>
                </a:r>
                <a:r>
                  <a:rPr sz="2400" b="0">
                    <a:solidFill>
                      <a:srgbClr val="78350F"/>
                    </a:solidFill>
                    <a:latin typeface="Arial"/>
                  </a:rPr>
                  <a:t> puts one curve above the line and the other below it.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Interchanging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turns (1) into (2): the curves are mirror images in the line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 (1):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the curve lies on or above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and meets it only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 double root, so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is tangent there).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reflection, (2) lies on or below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and is tangent to it at the same point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is a common tangent (A).</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Interchanging </a:t>
                </a:r>
                <a:r>
                  <a:rPr lang="en-IN" sz="2400">
                    <a:solidFill>
                      <a:srgbClr val="111827"/>
                    </a:solidFill>
                    <a:latin typeface="Cambria Math" panose="02040503050406030204" pitchFamily="18" charset="0"/>
                  </a:rPr>
                  <a:t>$x$</a:t>
                </a:r>
                <a:r>
                  <a:rPr sz="2400" b="0">
                    <a:solidFill>
                      <a:srgbClr val="111827"/>
                    </a:solidFill>
                    <a:latin typeface="Arial"/>
                  </a:rPr>
                  <a:t> and </a:t>
                </a:r>
                <a:r>
                  <a:rPr lang="en-IN" sz="2400">
                    <a:solidFill>
                      <a:srgbClr val="111827"/>
                    </a:solidFill>
                    <a:latin typeface="Cambria Math" panose="02040503050406030204" pitchFamily="18" charset="0"/>
                  </a:rPr>
                  <a:t>$y$</a:t>
                </a:r>
                <a:r>
                  <a:rPr sz="2400" b="0">
                    <a:solidFill>
                      <a:srgbClr val="111827"/>
                    </a:solidFill>
                    <a:latin typeface="Arial"/>
                  </a:rPr>
                  <a:t> turns (1) into (2): the curves are mirror images in the line </a:t>
                </a:r>
                <a:r>
                  <a:rPr lang="en-IN" sz="2400">
                    <a:solidFill>
                      <a:srgbClr val="111827"/>
                    </a:solidFill>
                    <a:latin typeface="Cambria Math" panose="02040503050406030204" pitchFamily="18" charset="0"/>
                  </a:rPr>
                  <a:t>$y=x$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 (1): </a:t>
                </a:r>
                <a:r>
                  <a:rPr lang="en-IN" sz="2400">
                    <a:solidFill>
                      <a:srgbClr val="111827"/>
                    </a:solidFill>
                    <a:latin typeface="Cambria Math" panose="02040503050406030204" pitchFamily="18" charset="0"/>
                  </a:rPr>
                  <a:t>$y-x=(x-1)^2\ge0$</a:t>
                </a:r>
                <a:r>
                  <a:rPr sz="2400" b="0">
                    <a:solidFill>
                      <a:srgbClr val="111827"/>
                    </a:solidFill>
                    <a:latin typeface="Arial"/>
                  </a:rPr>
                  <a:t>, so the curve lies on or above </a:t>
                </a:r>
                <a:r>
                  <a:rPr lang="en-IN" sz="2400">
                    <a:solidFill>
                      <a:srgbClr val="111827"/>
                    </a:solidFill>
                    <a:latin typeface="Cambria Math" panose="02040503050406030204" pitchFamily="18" charset="0"/>
                  </a:rPr>
                  <a:t>$y=x$</a:t>
                </a:r>
                <a:r>
                  <a:rPr sz="2400" b="0">
                    <a:solidFill>
                      <a:srgbClr val="111827"/>
                    </a:solidFill>
                    <a:latin typeface="Arial"/>
                  </a:rPr>
                  <a:t> and meets it only at </a:t>
                </a:r>
                <a:r>
                  <a:rPr lang="en-IN" sz="2400">
                    <a:solidFill>
                      <a:srgbClr val="111827"/>
                    </a:solidFill>
                    <a:latin typeface="Cambria Math" panose="02040503050406030204" pitchFamily="18" charset="0"/>
                  </a:rPr>
                  <a:t>$(1,1)$</a:t>
                </a:r>
                <a:r>
                  <a:rPr sz="2400" b="0">
                    <a:solidFill>
                      <a:srgbClr val="111827"/>
                    </a:solidFill>
                    <a:latin typeface="Arial"/>
                  </a:rPr>
                  <a:t> (a double root, so </a:t>
                </a:r>
                <a:r>
                  <a:rPr lang="en-IN" sz="2400">
                    <a:solidFill>
                      <a:srgbClr val="111827"/>
                    </a:solidFill>
                    <a:latin typeface="Cambria Math" panose="02040503050406030204" pitchFamily="18" charset="0"/>
                  </a:rPr>
                  <a:t>$y=x$</a:t>
                </a:r>
                <a:r>
                  <a:rPr sz="2400" b="0">
                    <a:solidFill>
                      <a:srgbClr val="111827"/>
                    </a:solidFill>
                    <a:latin typeface="Arial"/>
                  </a:rPr>
                  <a:t> is tangent there).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reflection, (2) lies on or below </a:t>
                </a:r>
                <a:r>
                  <a:rPr lang="en-IN" sz="2400">
                    <a:solidFill>
                      <a:srgbClr val="111827"/>
                    </a:solidFill>
                    <a:latin typeface="Cambria Math" panose="02040503050406030204" pitchFamily="18" charset="0"/>
                  </a:rPr>
                  <a:t>$y=x$</a:t>
                </a:r>
                <a:r>
                  <a:rPr sz="2400" b="0">
                    <a:solidFill>
                      <a:srgbClr val="111827"/>
                    </a:solidFill>
                    <a:latin typeface="Arial"/>
                  </a:rPr>
                  <a:t> and is tangent to it at the same point </a:t>
                </a:r>
                <a:r>
                  <a:rPr lang="en-IN" sz="2400">
                    <a:solidFill>
                      <a:srgbClr val="111827"/>
                    </a:solidFill>
                    <a:latin typeface="Cambria Math" panose="02040503050406030204" pitchFamily="18" charset="0"/>
                  </a:rPr>
                  <a:t>$(1,1)$</a:t>
                </a:r>
                <a:r>
                  <a:rPr sz="2400" b="0">
                    <a:solidFill>
                      <a:srgbClr val="111827"/>
                    </a:solidFill>
                    <a:latin typeface="Arial"/>
                  </a:rPr>
                  <a:t>: </a:t>
                </a:r>
                <a:r>
                  <a:rPr lang="en-IN" sz="2400">
                    <a:solidFill>
                      <a:srgbClr val="111827"/>
                    </a:solidFill>
                    <a:latin typeface="Cambria Math" panose="02040503050406030204" pitchFamily="18" charset="0"/>
                  </a:rPr>
                  <a:t>$y=x$</a:t>
                </a:r>
                <a:r>
                  <a:rPr sz="2400" b="0">
                    <a:solidFill>
                      <a:srgbClr val="111827"/>
                    </a:solidFill>
                    <a:latin typeface="Arial"/>
                  </a:rPr>
                  <a:t> is a common tangent (A).</a:t>
                </a:r>
                <a:endParaRPr sz="2400">
                  <a:solidFill>
                    <a:srgbClr val="111827"/>
                  </a:solidFill>
                </a:endParaRPr>
              </a:p>
            </p:txBody>
          </p:sp>
        </mc:Fallback>
      </mc:AlternateContent>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curves lie on opposite sides of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so they can meet only on the line, i.e.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where they share a tangent: they touch each other (C), and (D)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normal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perpendicular to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through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the same for both curves (B).</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curves lie on opposite sides of </a:t>
                </a:r>
                <a:r>
                  <a:rPr lang="en-IN" sz="2400">
                    <a:solidFill>
                      <a:srgbClr val="111827"/>
                    </a:solidFill>
                    <a:latin typeface="Cambria Math" panose="02040503050406030204" pitchFamily="18" charset="0"/>
                  </a:rPr>
                  <a:t>$y=x$</a:t>
                </a:r>
                <a:r>
                  <a:rPr sz="2400" b="0">
                    <a:solidFill>
                      <a:srgbClr val="111827"/>
                    </a:solidFill>
                    <a:latin typeface="Arial"/>
                  </a:rPr>
                  <a:t>, so they can meet only on the line, i.e. at </a:t>
                </a:r>
                <a:r>
                  <a:rPr lang="en-IN" sz="2400">
                    <a:solidFill>
                      <a:srgbClr val="111827"/>
                    </a:solidFill>
                    <a:latin typeface="Cambria Math" panose="02040503050406030204" pitchFamily="18" charset="0"/>
                  </a:rPr>
                  <a:t>$(1,1)$</a:t>
                </a:r>
                <a:r>
                  <a:rPr sz="2400" b="0">
                    <a:solidFill>
                      <a:srgbClr val="111827"/>
                    </a:solidFill>
                    <a:latin typeface="Arial"/>
                  </a:rPr>
                  <a:t>, where they share a tangent: they touch each other (C), and (D)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normal at </a:t>
                </a:r>
                <a:r>
                  <a:rPr lang="en-IN" sz="2400">
                    <a:solidFill>
                      <a:srgbClr val="111827"/>
                    </a:solidFill>
                    <a:latin typeface="Cambria Math" panose="02040503050406030204" pitchFamily="18" charset="0"/>
                  </a:rPr>
                  <a:t>$(1,1)$</a:t>
                </a:r>
                <a:r>
                  <a:rPr sz="2400" b="0">
                    <a:solidFill>
                      <a:srgbClr val="111827"/>
                    </a:solidFill>
                    <a:latin typeface="Arial"/>
                  </a:rPr>
                  <a:t> is perpendicular to </a:t>
                </a:r>
                <a:r>
                  <a:rPr lang="en-IN" sz="2400">
                    <a:solidFill>
                      <a:srgbClr val="111827"/>
                    </a:solidFill>
                    <a:latin typeface="Cambria Math" panose="02040503050406030204" pitchFamily="18" charset="0"/>
                  </a:rPr>
                  <a:t>$y=x$</a:t>
                </a:r>
                <a:r>
                  <a:rPr sz="2400" b="0">
                    <a:solidFill>
                      <a:srgbClr val="111827"/>
                    </a:solidFill>
                    <a:latin typeface="Arial"/>
                  </a:rPr>
                  <a:t> through </a:t>
                </a:r>
                <a:r>
                  <a:rPr lang="en-IN" sz="2400">
                    <a:solidFill>
                      <a:srgbClr val="111827"/>
                    </a:solidFill>
                    <a:latin typeface="Cambria Math" panose="02040503050406030204" pitchFamily="18" charset="0"/>
                  </a:rPr>
                  <a:t>$(1,1)$</a:t>
                </a:r>
                <a:r>
                  <a:rPr sz="2400" b="0">
                    <a:solidFill>
                      <a:srgbClr val="111827"/>
                    </a:solidFill>
                    <a:latin typeface="Arial"/>
                  </a:rPr>
                  <a:t>: </a:t>
                </a:r>
                <a:r>
                  <a:rPr lang="en-IN" sz="2400">
                    <a:solidFill>
                      <a:srgbClr val="111827"/>
                    </a:solidFill>
                    <a:latin typeface="Cambria Math" panose="02040503050406030204" pitchFamily="18" charset="0"/>
                  </a:rPr>
                  <a:t>$x+y=2$</a:t>
                </a:r>
                <a:r>
                  <a:rPr sz="2400" b="0">
                    <a:solidFill>
                      <a:srgbClr val="111827"/>
                    </a:solidFill>
                    <a:latin typeface="Arial"/>
                  </a:rPr>
                  <a:t>, the same for both curves (B).</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B, C)</a:t>
            </a:r>
            <a:endParaRPr sz="2800">
              <a:solidFill>
                <a:srgbClr val="15803D"/>
              </a:solidFill>
            </a:endParaRP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line is tangent to a parabola iff the intersection equation has a double root; here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curves </a:t>
                </a:r>
                <a14:m>
                  <m:oMath xmlns:m="http://schemas.openxmlformats.org/officeDocument/2006/math">
                    <m:r>
                      <a:rPr lang="en-IN" sz="2400" i="1">
                        <a:solidFill>
                          <a:srgbClr val="111827"/>
                        </a:solidFill>
                        <a:latin typeface="Cambria Math" panose="02040503050406030204" pitchFamily="18" charset="0"/>
                      </a:rPr>
                      <m:t>𝐹</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𝐹</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are mirror images in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if one is tangent to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so is the other, and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is a common point.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Two curves touch at a point when they share the point and the tangent; substituting one into the other, touching shows up as a repeated factor (here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while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has no real root).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Normal to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use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line is tangent to a parabola iff the intersection equation has a double root; here </a:t>
                </a:r>
                <a:r>
                  <a:rPr lang="en-IN" sz="2400">
                    <a:solidFill>
                      <a:srgbClr val="111827"/>
                    </a:solidFill>
                    <a:latin typeface="Cambria Math" panose="02040503050406030204" pitchFamily="18" charset="0"/>
                  </a:rPr>
                  <a:t>$(x^2-x+1)-x=(x-1)^2$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curves </a:t>
                </a:r>
                <a:r>
                  <a:rPr lang="en-IN" sz="2400">
                    <a:solidFill>
                      <a:srgbClr val="111827"/>
                    </a:solidFill>
                    <a:latin typeface="Cambria Math" panose="02040503050406030204" pitchFamily="18" charset="0"/>
                  </a:rPr>
                  <a:t>$F(x,y)=0$</a:t>
                </a:r>
                <a:r>
                  <a:rPr sz="2400" b="0">
                    <a:solidFill>
                      <a:srgbClr val="111827"/>
                    </a:solidFill>
                    <a:latin typeface="Arial"/>
                  </a:rPr>
                  <a:t> and </a:t>
                </a:r>
                <a:r>
                  <a:rPr lang="en-IN" sz="2400">
                    <a:solidFill>
                      <a:srgbClr val="111827"/>
                    </a:solidFill>
                    <a:latin typeface="Cambria Math" panose="02040503050406030204" pitchFamily="18" charset="0"/>
                  </a:rPr>
                  <a:t>$F(y,x)=0$</a:t>
                </a:r>
                <a:r>
                  <a:rPr sz="2400" b="0">
                    <a:solidFill>
                      <a:srgbClr val="111827"/>
                    </a:solidFill>
                    <a:latin typeface="Arial"/>
                  </a:rPr>
                  <a:t> are mirror images in </a:t>
                </a:r>
                <a:r>
                  <a:rPr lang="en-IN" sz="2400">
                    <a:solidFill>
                      <a:srgbClr val="111827"/>
                    </a:solidFill>
                    <a:latin typeface="Cambria Math" panose="02040503050406030204" pitchFamily="18" charset="0"/>
                  </a:rPr>
                  <a:t>$y=x$</a:t>
                </a:r>
                <a:r>
                  <a:rPr sz="2400" b="0">
                    <a:solidFill>
                      <a:srgbClr val="111827"/>
                    </a:solidFill>
                    <a:latin typeface="Arial"/>
                  </a:rPr>
                  <a:t>; if one is tangent to </a:t>
                </a:r>
                <a:r>
                  <a:rPr lang="en-IN" sz="2400">
                    <a:solidFill>
                      <a:srgbClr val="111827"/>
                    </a:solidFill>
                    <a:latin typeface="Cambria Math" panose="02040503050406030204" pitchFamily="18" charset="0"/>
                  </a:rPr>
                  <a:t>$y=x$</a:t>
                </a:r>
                <a:r>
                  <a:rPr sz="2400" b="0">
                    <a:solidFill>
                      <a:srgbClr val="111827"/>
                    </a:solidFill>
                    <a:latin typeface="Arial"/>
                  </a:rPr>
                  <a:t> at </a:t>
                </a:r>
                <a:r>
                  <a:rPr lang="en-IN" sz="2400">
                    <a:solidFill>
                      <a:srgbClr val="111827"/>
                    </a:solidFill>
                    <a:latin typeface="Cambria Math" panose="02040503050406030204" pitchFamily="18" charset="0"/>
                  </a:rPr>
                  <a:t>$P$</a:t>
                </a:r>
                <a:r>
                  <a:rPr sz="2400" b="0">
                    <a:solidFill>
                      <a:srgbClr val="111827"/>
                    </a:solidFill>
                    <a:latin typeface="Arial"/>
                  </a:rPr>
                  <a:t>, so is the other, and </a:t>
                </a:r>
                <a:r>
                  <a:rPr lang="en-IN" sz="2400">
                    <a:solidFill>
                      <a:srgbClr val="111827"/>
                    </a:solidFill>
                    <a:latin typeface="Cambria Math" panose="02040503050406030204" pitchFamily="18" charset="0"/>
                  </a:rPr>
                  <a:t>$P$</a:t>
                </a:r>
                <a:r>
                  <a:rPr sz="2400" b="0">
                    <a:solidFill>
                      <a:srgbClr val="111827"/>
                    </a:solidFill>
                    <a:latin typeface="Arial"/>
                  </a:rPr>
                  <a:t> is a common point.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Two curves touch at a point when they share the point and the tangent; substituting one into the other, touching shows up as a repeated factor (here </a:t>
                </a:r>
                <a:r>
                  <a:rPr lang="en-IN" sz="2400">
                    <a:solidFill>
                      <a:srgbClr val="111827"/>
                    </a:solidFill>
                    <a:latin typeface="Cambria Math" panose="02040503050406030204" pitchFamily="18" charset="0"/>
                  </a:rPr>
                  <a:t>$(x-1)^2$</a:t>
                </a:r>
                <a:r>
                  <a:rPr sz="2400" b="0">
                    <a:solidFill>
                      <a:srgbClr val="111827"/>
                    </a:solidFill>
                    <a:latin typeface="Arial"/>
                  </a:rPr>
                  <a:t>, while </a:t>
                </a:r>
                <a:r>
                  <a:rPr lang="en-IN" sz="2400">
                    <a:solidFill>
                      <a:srgbClr val="111827"/>
                    </a:solidFill>
                    <a:latin typeface="Cambria Math" panose="02040503050406030204" pitchFamily="18" charset="0"/>
                  </a:rPr>
                  <a:t>$x^2+1$</a:t>
                </a:r>
                <a:r>
                  <a:rPr sz="2400" b="0">
                    <a:solidFill>
                      <a:srgbClr val="111827"/>
                    </a:solidFill>
                    <a:latin typeface="Arial"/>
                  </a:rPr>
                  <a:t> has no real root).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Normal to </a:t>
                </a:r>
                <a:r>
                  <a:rPr lang="en-IN" sz="2400">
                    <a:solidFill>
                      <a:srgbClr val="111827"/>
                    </a:solidFill>
                    <a:latin typeface="Cambria Math" panose="02040503050406030204" pitchFamily="18" charset="0"/>
                  </a:rPr>
                  <a:t>$y=f(x)$</a:t>
                </a:r>
                <a:r>
                  <a:rPr sz="2400" b="0">
                    <a:solidFill>
                      <a:srgbClr val="111827"/>
                    </a:solidFill>
                    <a:latin typeface="Arial"/>
                  </a:rPr>
                  <a:t> at </a:t>
                </a:r>
                <a:r>
                  <a:rPr lang="en-IN" sz="2400">
                    <a:solidFill>
                      <a:srgbClr val="111827"/>
                    </a:solidFill>
                    <a:latin typeface="Cambria Math" panose="02040503050406030204" pitchFamily="18" charset="0"/>
                  </a:rPr>
                  <a:t>$(a,f(a))$</a:t>
                </a:r>
                <a:r>
                  <a:rPr sz="2400" b="0">
                    <a:solidFill>
                      <a:srgbClr val="111827"/>
                    </a:solidFill>
                    <a:latin typeface="Arial"/>
                  </a:rPr>
                  <a:t>: </a:t>
                </a:r>
                <a:r>
                  <a:rPr lang="en-IN" sz="2400">
                    <a:solidFill>
                      <a:srgbClr val="111827"/>
                    </a:solidFill>
                    <a:latin typeface="Cambria Math" panose="02040503050406030204" pitchFamily="18" charset="0"/>
                  </a:rPr>
                  <a:t>$y-f(a)=-\frac{1}{f'(a)}(x-a)$</a:t>
                </a:r>
                <a:r>
                  <a:rPr sz="2400" b="0">
                    <a:solidFill>
                      <a:srgbClr val="111827"/>
                    </a:solidFill>
                    <a:latin typeface="Arial"/>
                  </a:rPr>
                  <a:t> for </a:t>
                </a:r>
                <a:r>
                  <a:rPr lang="en-IN" sz="2400">
                    <a:solidFill>
                      <a:srgbClr val="111827"/>
                    </a:solidFill>
                    <a:latin typeface="Cambria Math" panose="02040503050406030204" pitchFamily="18" charset="0"/>
                  </a:rPr>
                  <a:t>$f'(a)\neq0$</a:t>
                </a:r>
                <a:r>
                  <a:rPr sz="2400" b="0">
                    <a:solidFill>
                      <a:srgbClr val="111827"/>
                    </a:solidFill>
                    <a:latin typeface="Arial"/>
                  </a:rPr>
                  <a:t>; for </a:t>
                </a:r>
                <a:r>
                  <a:rPr lang="en-IN" sz="2400">
                    <a:solidFill>
                      <a:srgbClr val="111827"/>
                    </a:solidFill>
                    <a:latin typeface="Cambria Math" panose="02040503050406030204" pitchFamily="18" charset="0"/>
                  </a:rPr>
                  <a:t>$x=g(y)$</a:t>
                </a:r>
                <a:r>
                  <a:rPr sz="2400" b="0">
                    <a:solidFill>
                      <a:srgbClr val="111827"/>
                    </a:solidFill>
                    <a:latin typeface="Arial"/>
                  </a:rPr>
                  <a:t> use </a:t>
                </a:r>
                <a:r>
                  <a:rPr lang="en-IN" sz="2400">
                    <a:solidFill>
                      <a:srgbClr val="111827"/>
                    </a:solidFill>
                    <a:latin typeface="Cambria Math" panose="02040503050406030204" pitchFamily="18" charset="0"/>
                  </a:rPr>
                  <a:t>$\frac{dx}{dy}$</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33501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then which of the following is true?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b>
                      <m:e>
                        <m:r>
                          <m:rPr>
                            <m:sty m:val="p"/>
                          </m:rPr>
                          <a:rPr lang="en-IN" sz="2400">
                            <a:solidFill>
                              <a:srgbClr val="111827"/>
                            </a:solidFill>
                            <a:latin typeface="Cambria Math" panose="02040503050406030204" pitchFamily="18" charset="0"/>
                          </a:rPr>
                          <m:t>)</m:t>
                        </m:r>
                      </m:e>
                      <m:sub>
                        <m:r>
                          <m:rPr>
                            <m:sty m:val="p"/>
                          </m:rPr>
                          <a:rPr lang="en-IN" sz="2400">
                            <a:solidFill>
                              <a:srgbClr val="111827"/>
                            </a:solidFill>
                            <a:latin typeface="Cambria Math" panose="02040503050406030204" pitchFamily="18" charset="0"/>
                          </a:rPr>
                          <m:t>min</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d>
                      <m:dPr>
                        <m:begChr m:val="("/>
                        <m:sepChr m:val=""/>
                        <m:endChr m:val=")"/>
                        <m:grow/>
                        <m:ctrlPr>
                          <a:rPr lang="en-IN" sz="2400" i="1">
                            <a:solidFill>
                              <a:srgbClr val="111827"/>
                            </a:solidFill>
                            <a:latin typeface="Cambria Math" panose="02040503050406030204" pitchFamily="18" charset="0"/>
                          </a:rPr>
                        </m:ctrlPr>
                      </m:dPr>
                      <m:e>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𝑒</m:t>
                                    </m:r>
                                  </m:den>
                                </m:f>
                              </m:e>
                            </m:d>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b>
                      <m:e>
                        <m:r>
                          <m:rPr>
                            <m:sty m:val="p"/>
                          </m:rPr>
                          <a:rPr lang="en-IN" sz="2400">
                            <a:solidFill>
                              <a:srgbClr val="111827"/>
                            </a:solidFill>
                            <a:latin typeface="Cambria Math" panose="02040503050406030204" pitchFamily="18" charset="0"/>
                          </a:rPr>
                          <m:t>)</m:t>
                        </m:r>
                      </m:e>
                      <m:sub>
                        <m:r>
                          <m:rPr>
                            <m:sty m:val="p"/>
                          </m:rPr>
                          <a:rPr lang="en-IN" sz="2400">
                            <a:solidFill>
                              <a:srgbClr val="111827"/>
                            </a:solidFill>
                            <a:latin typeface="Cambria Math" panose="02040503050406030204" pitchFamily="18" charset="0"/>
                          </a:rPr>
                          <m:t>max</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b>
                      <m:e>
                        <m:r>
                          <m:rPr>
                            <m:sty m:val="p"/>
                          </m:rPr>
                          <a:rPr lang="en-IN" sz="2400">
                            <a:solidFill>
                              <a:srgbClr val="111827"/>
                            </a:solidFill>
                            <a:latin typeface="Cambria Math" panose="02040503050406030204" pitchFamily="18" charset="0"/>
                          </a:rPr>
                          <m:t>)</m:t>
                        </m:r>
                      </m:e>
                      <m:sub>
                        <m:r>
                          <m:rPr>
                            <m:sty m:val="p"/>
                          </m:rPr>
                          <a:rPr lang="en-IN" sz="2400">
                            <a:solidFill>
                              <a:srgbClr val="111827"/>
                            </a:solidFill>
                            <a:latin typeface="Cambria Math" panose="02040503050406030204" pitchFamily="18" charset="0"/>
                          </a:rPr>
                          <m:t>min</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log</m:t>
                    </m:r>
                    <m:r>
                      <a:rPr lang="en-IN" sz="2400" i="1">
                        <a:solidFill>
                          <a:srgbClr val="111827"/>
                        </a:solidFill>
                        <a:latin typeface="Cambria Math" panose="02040503050406030204" pitchFamily="18" charset="0"/>
                      </a:rPr>
                      <m:t>2</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ln</m:t>
                        </m:r>
                        <m:d>
                          <m:dPr>
                            <m:begChr m:val="("/>
                            <m:sepChr m:val=""/>
                            <m:endChr m:val=")"/>
                            <m:grow/>
                            <m:ctrlPr>
                              <a:rPr lang="en-IN" sz="2400" i="1">
                                <a:solidFill>
                                  <a:srgbClr val="111827"/>
                                </a:solidFill>
                                <a:latin typeface="Cambria Math" panose="02040503050406030204" pitchFamily="18" charset="0"/>
                              </a:rPr>
                            </m:ctrlPr>
                          </m:dPr>
                          <m:e>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𝑒</m:t>
                                        </m:r>
                                      </m:den>
                                    </m:f>
                                  </m:e>
                                </m:d>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e>
                    </m:d>
                  </m:oMath>
                </a14:m>
                <a:endParaRPr sz="2400">
                  <a:solidFill>
                    <a:srgbClr val="111827"/>
                  </a:solidFill>
                </a:endParaRPr>
              </a:p>
            </p:txBody>
          </p:sp>
        </mc:Choice>
        <mc:Fallback>
          <p:sp>
            <p:nvSpPr>
              <p:cNvPr id="4" name="Rounded Rectangle 3"/>
              <p:cNvSpPr/>
              <p:nvPr/>
            </p:nvSpPr>
            <p:spPr>
              <a:xfrm>
                <a:off x="731520" y="1280160"/>
                <a:ext cx="10725912" cy="333501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$f(x)=\ln\left((\cos x)^{\cos x}+1\right)$</a:t>
                </a:r>
                <a:r>
                  <a:rPr sz="2400" b="0">
                    <a:solidFill>
                      <a:srgbClr val="111827"/>
                    </a:solidFill>
                    <a:latin typeface="Arial"/>
                  </a:rPr>
                  <a:t>, </a:t>
                </a:r>
                <a:r>
                  <a:rPr lang="en-IN" sz="2400">
                    <a:solidFill>
                      <a:srgbClr val="111827"/>
                    </a:solidFill>
                    <a:latin typeface="Cambria Math" panose="02040503050406030204" pitchFamily="18" charset="0"/>
                  </a:rPr>
                  <a:t>$x\in\left(0,\frac{\pi}{2}\right)$</a:t>
                </a:r>
                <a:r>
                  <a:rPr sz="2400" b="0">
                    <a:solidFill>
                      <a:srgbClr val="111827"/>
                    </a:solidFill>
                    <a:latin typeface="Arial"/>
                  </a:rPr>
                  <a:t> then which of the following is true?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$f(x)_{\min}=\ln\left(\left(\frac{1}{e}\right)^{1/e}+1\right)$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$f(x)_{\max}=\infty$</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$f(x)_{\min}=\log2$</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$y\in\left[\ln\left(\left(\frac{1}{e}\right)^{1/e}+1\right),\ln2\right]$</a:t>
                </a:r>
                <a:endParaRPr sz="2400">
                  <a:solidFill>
                    <a:srgbClr val="111827"/>
                  </a:solidFill>
                </a:endParaRPr>
              </a:p>
            </p:txBody>
          </p:sp>
        </mc:Fallback>
      </mc:AlternateContent>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One or more than one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Extrema and range of a composite function of the type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sup>
                    </m:sSup>
                  </m:oMath>
                </a14:m>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Choice>
        <mc:Fallback>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One or more than one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Extrema and range of a composite function of the type </a:t>
                </a:r>
                <a:r>
                  <a:rPr lang="en-IN" sz="2400">
                    <a:solidFill>
                      <a:srgbClr val="111827"/>
                    </a:solidFill>
                    <a:latin typeface="Cambria Math" panose="02040503050406030204" pitchFamily="18" charset="0"/>
                  </a:rPr>
                  <a:t>$(\cos x)^{\cos x}$</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3438144"/>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Put </a:t>
                </a:r>
                <a14:m>
                  <m:oMath xmlns:m="http://schemas.openxmlformats.org/officeDocument/2006/math">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t>
                </a:r>
                <a14:m>
                  <m:oMath xmlns:m="http://schemas.openxmlformats.org/officeDocument/2006/math">
                    <m:sSup>
                      <m:e>
                        <m:r>
                          <a:rPr lang="en-IN" sz="2400" i="1">
                            <a:solidFill>
                              <a:srgbClr val="78350F"/>
                            </a:solidFill>
                            <a:latin typeface="Cambria Math" panose="02040503050406030204" pitchFamily="18" charset="0"/>
                          </a:rPr>
                          <m:t>𝑡</m:t>
                        </m:r>
                      </m:e>
                      <m:sup>
                        <m:r>
                          <a:rPr lang="en-IN" sz="2400" i="1">
                            <a:solidFill>
                              <a:srgbClr val="78350F"/>
                            </a:solidFill>
                            <a:latin typeface="Cambria Math" panose="02040503050406030204" pitchFamily="18" charset="0"/>
                          </a:rPr>
                          <m:t>𝑡</m:t>
                        </m:r>
                      </m:sup>
                    </m:sSup>
                  </m:oMath>
                </a14:m>
                <a:r>
                  <a:rPr sz="2400" b="0">
                    <a:solidFill>
                      <a:srgbClr val="78350F"/>
                    </a:solidFill>
                    <a:latin typeface="Arial"/>
                  </a:rPr>
                  <a:t> has its minimum at </a:t>
                </a:r>
                <a14:m>
                  <m:oMath xmlns:m="http://schemas.openxmlformats.org/officeDocument/2006/math">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𝑒</m:t>
                        </m:r>
                      </m:den>
                    </m:f>
                  </m:oMath>
                </a14:m>
                <a:r>
                  <a:rPr sz="2400" b="0">
                    <a:solidFill>
                      <a:srgbClr val="78350F"/>
                    </a:solidFill>
                    <a:latin typeface="Arial"/>
                  </a:rPr>
                  <a:t> and tends to </a:t>
                </a:r>
                <a14:m>
                  <m:oMath xmlns:m="http://schemas.openxmlformats.org/officeDocument/2006/math">
                    <m:r>
                      <a:rPr lang="en-IN" sz="2400" i="1">
                        <a:solidFill>
                          <a:srgbClr val="78350F"/>
                        </a:solidFill>
                        <a:latin typeface="Cambria Math" panose="02040503050406030204" pitchFamily="18" charset="0"/>
                      </a:rPr>
                      <m:t>1</m:t>
                    </m:r>
                  </m:oMath>
                </a14:m>
                <a:r>
                  <a:rPr sz="2400" b="0">
                    <a:solidFill>
                      <a:srgbClr val="78350F"/>
                    </a:solidFill>
                    <a:latin typeface="Arial"/>
                  </a:rPr>
                  <a:t> at both ends, so </a:t>
                </a:r>
                <a14:m>
                  <m:oMath xmlns:m="http://schemas.openxmlformats.org/officeDocument/2006/math">
                    <m:r>
                      <m:rPr>
                        <m:sty m:val="p"/>
                      </m:rPr>
                      <a:rPr lang="en-IN" sz="2400">
                        <a:solidFill>
                          <a:srgbClr val="78350F"/>
                        </a:solidFill>
                        <a:latin typeface="Cambria Math" panose="02040503050406030204" pitchFamily="18" charset="0"/>
                      </a:rPr>
                      <m:t>ln</m:t>
                    </m:r>
                    <m:r>
                      <a:rPr lang="en-IN" sz="2400" i="1">
                        <a:solidFill>
                          <a:srgbClr val="78350F"/>
                        </a:solidFill>
                        <a:latin typeface="Cambria Math" panose="02040503050406030204" pitchFamily="18" charset="0"/>
                      </a:rPr>
                      <m:t>2</m:t>
                    </m:r>
                  </m:oMath>
                </a14:m>
                <a:r>
                  <a:rPr sz="2400" b="0">
                    <a:solidFill>
                      <a:srgbClr val="78350F"/>
                    </a:solidFill>
                    <a:latin typeface="Arial"/>
                  </a:rPr>
                  <a:t> is approached but never attained.</a:t>
                </a:r>
                <a:endParaRPr sz="2400">
                  <a:solidFill>
                    <a:srgbClr val="78350F"/>
                  </a:solidFill>
                </a:endParaRPr>
              </a:p>
            </p:txBody>
          </p:sp>
        </mc:Choice>
        <mc:Fallback>
          <p:sp>
            <p:nvSpPr>
              <p:cNvPr id="5" name="Rounded Rectangle 4"/>
              <p:cNvSpPr/>
              <p:nvPr/>
            </p:nvSpPr>
            <p:spPr>
              <a:xfrm>
                <a:off x="731520" y="3438144"/>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Put </a:t>
                </a:r>
                <a:r>
                  <a:rPr lang="en-IN" sz="2400">
                    <a:solidFill>
                      <a:srgbClr val="78350F"/>
                    </a:solidFill>
                    <a:latin typeface="Cambria Math" panose="02040503050406030204" pitchFamily="18" charset="0"/>
                  </a:rPr>
                  <a:t>$t=\cos x\in(0,1)$</a:t>
                </a:r>
                <a:r>
                  <a:rPr sz="2400" b="0">
                    <a:solidFill>
                      <a:srgbClr val="78350F"/>
                    </a:solidFill>
                    <a:latin typeface="Arial"/>
                  </a:rPr>
                  <a:t>; </a:t>
                </a:r>
                <a:r>
                  <a:rPr lang="en-IN" sz="2400">
                    <a:solidFill>
                      <a:srgbClr val="78350F"/>
                    </a:solidFill>
                    <a:latin typeface="Cambria Math" panose="02040503050406030204" pitchFamily="18" charset="0"/>
                  </a:rPr>
                  <a:t>$t^t$</a:t>
                </a:r>
                <a:r>
                  <a:rPr sz="2400" b="0">
                    <a:solidFill>
                      <a:srgbClr val="78350F"/>
                    </a:solidFill>
                    <a:latin typeface="Arial"/>
                  </a:rPr>
                  <a:t> has its minimum at </a:t>
                </a:r>
                <a:r>
                  <a:rPr lang="en-IN" sz="2400">
                    <a:solidFill>
                      <a:srgbClr val="78350F"/>
                    </a:solidFill>
                    <a:latin typeface="Cambria Math" panose="02040503050406030204" pitchFamily="18" charset="0"/>
                  </a:rPr>
                  <a:t>$t=\frac1e$</a:t>
                </a:r>
                <a:r>
                  <a:rPr sz="2400" b="0">
                    <a:solidFill>
                      <a:srgbClr val="78350F"/>
                    </a:solidFill>
                    <a:latin typeface="Arial"/>
                  </a:rPr>
                  <a:t> and tends to </a:t>
                </a:r>
                <a:r>
                  <a:rPr lang="en-IN" sz="2400">
                    <a:solidFill>
                      <a:srgbClr val="78350F"/>
                    </a:solidFill>
                    <a:latin typeface="Cambria Math" panose="02040503050406030204" pitchFamily="18" charset="0"/>
                  </a:rPr>
                  <a:t>$1$</a:t>
                </a:r>
                <a:r>
                  <a:rPr sz="2400" b="0">
                    <a:solidFill>
                      <a:srgbClr val="78350F"/>
                    </a:solidFill>
                    <a:latin typeface="Arial"/>
                  </a:rPr>
                  <a:t> at both ends, so </a:t>
                </a:r>
                <a:r>
                  <a:rPr lang="en-IN" sz="2400">
                    <a:solidFill>
                      <a:srgbClr val="78350F"/>
                    </a:solidFill>
                    <a:latin typeface="Cambria Math" panose="02040503050406030204" pitchFamily="18" charset="0"/>
                  </a:rPr>
                  <a:t>$\ln 2$</a:t>
                </a:r>
                <a:r>
                  <a:rPr sz="2400" b="0">
                    <a:solidFill>
                      <a:srgbClr val="78350F"/>
                    </a:solidFill>
                    <a:latin typeface="Arial"/>
                  </a:rPr>
                  <a:t> is approached but never attained.</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5166360"/>
                <a:ext cx="10725912" cy="150875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5166360"/>
                <a:ext cx="10725912" cy="150875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$t=\cos x$</a:t>
                </a:r>
                <a:r>
                  <a:rPr sz="2400" b="0">
                    <a:solidFill>
                      <a:srgbClr val="111827"/>
                    </a:solidFill>
                    <a:latin typeface="Arial"/>
                  </a:rPr>
                  <a:t>. Since </a:t>
                </a:r>
                <a:r>
                  <a:rPr lang="en-IN" sz="2400">
                    <a:solidFill>
                      <a:srgbClr val="111827"/>
                    </a:solidFill>
                    <a:latin typeface="Cambria Math" panose="02040503050406030204" pitchFamily="18" charset="0"/>
                  </a:rPr>
                  <a:t>$x\in\left(0,\frac{\pi}{2}\right)$</a:t>
                </a:r>
                <a:r>
                  <a:rPr sz="2400" b="0">
                    <a:solidFill>
                      <a:srgbClr val="111827"/>
                    </a:solidFill>
                    <a:latin typeface="Arial"/>
                  </a:rPr>
                  <a:t>, </a:t>
                </a:r>
                <a:r>
                  <a:rPr lang="en-IN" sz="2400">
                    <a:solidFill>
                      <a:srgbClr val="111827"/>
                    </a:solidFill>
                    <a:latin typeface="Cambria Math" panose="02040503050406030204" pitchFamily="18" charset="0"/>
                  </a:rPr>
                  <a:t>$t\in(0,1)$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𝑡</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Because </a:t>
                </a:r>
                <a14:m>
                  <m:oMath xmlns:m="http://schemas.openxmlformats.org/officeDocument/2006/math">
                    <m:r>
                      <m:rPr>
                        <m:sty m:val="p"/>
                      </m:rPr>
                      <a:rPr lang="en-IN" sz="2400">
                        <a:solidFill>
                          <a:srgbClr val="111827"/>
                        </a:solidFill>
                        <a:latin typeface="Cambria Math" panose="02040503050406030204" pitchFamily="18" charset="0"/>
                      </a:rPr>
                      <m:t>ln</m:t>
                    </m:r>
                  </m:oMath>
                </a14:m>
                <a:r>
                  <a:rPr sz="2400" b="0">
                    <a:solidFill>
                      <a:srgbClr val="111827"/>
                    </a:solidFill>
                    <a:latin typeface="Arial"/>
                  </a:rPr>
                  <a:t> is increasing, the extrema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occur where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𝑡</m:t>
                        </m:r>
                      </m:sup>
                    </m:sSup>
                  </m:oMath>
                </a14:m>
                <a:r>
                  <a:rPr sz="2400" b="0">
                    <a:solidFill>
                      <a:srgbClr val="111827"/>
                    </a:solidFill>
                    <a:latin typeface="Arial"/>
                  </a:rPr>
                  <a:t> has extrema.</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ϕ</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𝑡</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𝑡</m:t>
                        </m:r>
                      </m:sup>
                    </m:sSup>
                  </m:oMath>
                </a14:m>
                <a:r>
                  <a:rPr sz="2400" b="0">
                    <a:solidFill>
                      <a:srgbClr val="111827"/>
                    </a:solidFill>
                    <a:latin typeface="Arial"/>
                  </a:rPr>
                  <a:t>. Differentiating, </a:t>
                </a:r>
                <a14:m>
                  <m:oMath xmlns:m="http://schemas.openxmlformats.org/officeDocument/2006/math">
                    <m:sSup>
                      <m:e>
                        <m:r>
                          <a:rPr lang="en-IN" sz="2400" i="1">
                            <a:solidFill>
                              <a:srgbClr val="111827"/>
                            </a:solidFill>
                            <a:latin typeface="Cambria Math" panose="02040503050406030204" pitchFamily="18" charset="0"/>
                          </a:rPr>
                          <m:t>ϕ</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𝑡</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ϕ</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gives </a:t>
                </a:r>
                <a14:m>
                  <m:oMath xmlns:m="http://schemas.openxmlformats.org/officeDocument/2006/math">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𝑒</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&lt;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𝑒</m:t>
                        </m:r>
                      </m:den>
                    </m:f>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ϕ</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ϕ</m:t>
                    </m:r>
                  </m:oMath>
                </a14:m>
                <a:r>
                  <a:rPr sz="2400" b="0">
                    <a:solidFill>
                      <a:srgbClr val="111827"/>
                    </a:solidFill>
                    <a:latin typeface="Arial"/>
                  </a:rPr>
                  <a:t> is decreasing; for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𝑒</m:t>
                        </m:r>
                      </m:den>
                    </m:f>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ϕ</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ϕ</m:t>
                    </m:r>
                  </m:oMath>
                </a14:m>
                <a:r>
                  <a:rPr sz="2400" b="0">
                    <a:solidFill>
                      <a:srgbClr val="111827"/>
                    </a:solidFill>
                    <a:latin typeface="Arial"/>
                  </a:rPr>
                  <a:t> is increasing.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ϕ</m:t>
                    </m:r>
                  </m:oMath>
                </a14:m>
                <a:r>
                  <a:rPr sz="2400" b="0">
                    <a:solidFill>
                      <a:srgbClr val="111827"/>
                    </a:solidFill>
                    <a:latin typeface="Arial"/>
                  </a:rPr>
                  <a:t> has its minimum 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𝑒</m:t>
                        </m:r>
                      </m:den>
                    </m:f>
                  </m:oMath>
                </a14:m>
                <a:r>
                  <a:rPr sz="2400" b="0">
                    <a:solidFill>
                      <a:srgbClr val="111827"/>
                    </a:solidFill>
                    <a:latin typeface="Arial"/>
                  </a:rPr>
                  <a:t>, and the minimum value is </a:t>
                </a:r>
                <a14:m>
                  <m:oMath xmlns:m="http://schemas.openxmlformats.org/officeDocument/2006/math">
                    <m:r>
                      <a:rPr lang="en-IN" sz="2400" i="1">
                        <a:solidFill>
                          <a:srgbClr val="111827"/>
                        </a:solidFill>
                        <a:latin typeface="Cambria Math" panose="02040503050406030204" pitchFamily="18" charset="0"/>
                      </a:rPr>
                      <m:t>ϕ</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𝑒</m:t>
                            </m:r>
                          </m:den>
                        </m:f>
                      </m:e>
                    </m:d>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𝑒</m:t>
                                </m:r>
                              </m:den>
                            </m:f>
                          </m:e>
                        </m:d>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14:m>
                  <m:oMath xmlns:m="http://schemas.openxmlformats.org/officeDocument/2006/math">
                    <m:sSub>
                      <m:e>
                        <m:r>
                          <a:rPr lang="en-IN" sz="2400" i="1">
                            <a:solidFill>
                              <a:srgbClr val="111827"/>
                            </a:solidFill>
                            <a:latin typeface="Cambria Math" panose="02040503050406030204" pitchFamily="18" charset="0"/>
                          </a:rPr>
                          <m:t>𝑓</m:t>
                        </m:r>
                      </m:e>
                      <m:sub>
                        <m:r>
                          <m:rPr>
                            <m:sty m:val="p"/>
                          </m:rPr>
                          <a:rPr lang="en-IN" sz="2400">
                            <a:solidFill>
                              <a:srgbClr val="111827"/>
                            </a:solidFill>
                            <a:latin typeface="Cambria Math" panose="02040503050406030204" pitchFamily="18" charset="0"/>
                          </a:rPr>
                          <m:t>min</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d>
                      <m:dPr>
                        <m:begChr m:val="("/>
                        <m:sepChr m:val=""/>
                        <m:endChr m:val=")"/>
                        <m:grow/>
                        <m:ctrlPr>
                          <a:rPr lang="en-IN" sz="2400" i="1">
                            <a:solidFill>
                              <a:srgbClr val="111827"/>
                            </a:solidFill>
                            <a:latin typeface="Cambria Math" panose="02040503050406030204" pitchFamily="18" charset="0"/>
                          </a:rPr>
                        </m:ctrlPr>
                      </m:dPr>
                      <m:e>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𝑒</m:t>
                                    </m:r>
                                  </m:den>
                                </m:f>
                              </m:e>
                            </m:d>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oMath>
                </a14:m>
                <a:r>
                  <a:rPr sz="2400" b="0">
                    <a:solidFill>
                      <a:srgbClr val="111827"/>
                    </a:solidFill>
                    <a:latin typeface="Arial"/>
                  </a:rPr>
                  <a:t>, so (A) is true.</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$f=\ln(t^t+1)$</a:t>
                </a:r>
                <a:r>
                  <a:rPr sz="2400" b="0">
                    <a:solidFill>
                      <a:srgbClr val="111827"/>
                    </a:solidFill>
                    <a:latin typeface="Arial"/>
                  </a:rPr>
                  <a:t>. Because </a:t>
                </a:r>
                <a:r>
                  <a:rPr lang="en-IN" sz="2400">
                    <a:solidFill>
                      <a:srgbClr val="111827"/>
                    </a:solidFill>
                    <a:latin typeface="Cambria Math" panose="02040503050406030204" pitchFamily="18" charset="0"/>
                  </a:rPr>
                  <a:t>$\ln$</a:t>
                </a:r>
                <a:r>
                  <a:rPr sz="2400" b="0">
                    <a:solidFill>
                      <a:srgbClr val="111827"/>
                    </a:solidFill>
                    <a:latin typeface="Arial"/>
                  </a:rPr>
                  <a:t> is increasing, the extrema of </a:t>
                </a:r>
                <a:r>
                  <a:rPr lang="en-IN" sz="2400">
                    <a:solidFill>
                      <a:srgbClr val="111827"/>
                    </a:solidFill>
                    <a:latin typeface="Cambria Math" panose="02040503050406030204" pitchFamily="18" charset="0"/>
                  </a:rPr>
                  <a:t>$f$</a:t>
                </a:r>
                <a:r>
                  <a:rPr sz="2400" b="0">
                    <a:solidFill>
                      <a:srgbClr val="111827"/>
                    </a:solidFill>
                    <a:latin typeface="Arial"/>
                  </a:rPr>
                  <a:t> occur where </a:t>
                </a:r>
                <a:r>
                  <a:rPr lang="en-IN" sz="2400">
                    <a:solidFill>
                      <a:srgbClr val="111827"/>
                    </a:solidFill>
                    <a:latin typeface="Cambria Math" panose="02040503050406030204" pitchFamily="18" charset="0"/>
                  </a:rPr>
                  <a:t>$t^t$</a:t>
                </a:r>
                <a:r>
                  <a:rPr sz="2400" b="0">
                    <a:solidFill>
                      <a:srgbClr val="111827"/>
                    </a:solidFill>
                    <a:latin typeface="Arial"/>
                  </a:rPr>
                  <a:t> has extrema.</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$\phi(t)=t^t=e^{t\ln t}$</a:t>
                </a:r>
                <a:r>
                  <a:rPr sz="2400" b="0">
                    <a:solidFill>
                      <a:srgbClr val="111827"/>
                    </a:solidFill>
                    <a:latin typeface="Arial"/>
                  </a:rPr>
                  <a:t>. Differentiating, </a:t>
                </a:r>
                <a:r>
                  <a:rPr lang="en-IN" sz="2400">
                    <a:solidFill>
                      <a:srgbClr val="111827"/>
                    </a:solidFill>
                    <a:latin typeface="Cambria Math" panose="02040503050406030204" pitchFamily="18" charset="0"/>
                  </a:rPr>
                  <a:t>$\phi'(t)=t^t(\ln 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$\phi'(t)=0$</a:t>
                </a:r>
                <a:r>
                  <a:rPr sz="2400" b="0">
                    <a:solidFill>
                      <a:srgbClr val="111827"/>
                    </a:solidFill>
                    <a:latin typeface="Arial"/>
                  </a:rPr>
                  <a:t> gives </a:t>
                </a:r>
                <a:r>
                  <a:rPr lang="en-IN" sz="2400">
                    <a:solidFill>
                      <a:srgbClr val="111827"/>
                    </a:solidFill>
                    <a:latin typeface="Cambria Math" panose="02040503050406030204" pitchFamily="18" charset="0"/>
                  </a:rPr>
                  <a:t>$\ln t=-1$</a:t>
                </a:r>
                <a:r>
                  <a:rPr sz="2400" b="0">
                    <a:solidFill>
                      <a:srgbClr val="111827"/>
                    </a:solidFill>
                    <a:latin typeface="Arial"/>
                  </a:rPr>
                  <a:t>, so </a:t>
                </a:r>
                <a:r>
                  <a:rPr lang="en-IN" sz="2400">
                    <a:solidFill>
                      <a:srgbClr val="111827"/>
                    </a:solidFill>
                    <a:latin typeface="Cambria Math" panose="02040503050406030204" pitchFamily="18" charset="0"/>
                  </a:rPr>
                  <a:t>$t=\frac1e$</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$0&lt;t&lt;\frac1e$</a:t>
                </a:r>
                <a:r>
                  <a:rPr sz="2400" b="0">
                    <a:solidFill>
                      <a:srgbClr val="111827"/>
                    </a:solidFill>
                    <a:latin typeface="Arial"/>
                  </a:rPr>
                  <a:t>, </a:t>
                </a:r>
                <a:r>
                  <a:rPr lang="en-IN" sz="2400">
                    <a:solidFill>
                      <a:srgbClr val="111827"/>
                    </a:solidFill>
                    <a:latin typeface="Cambria Math" panose="02040503050406030204" pitchFamily="18" charset="0"/>
                  </a:rPr>
                  <a:t>$\phi'(t)&lt;0$</a:t>
                </a:r>
                <a:r>
                  <a:rPr sz="2400" b="0">
                    <a:solidFill>
                      <a:srgbClr val="111827"/>
                    </a:solidFill>
                    <a:latin typeface="Arial"/>
                  </a:rPr>
                  <a:t> and </a:t>
                </a:r>
                <a:r>
                  <a:rPr lang="en-IN" sz="2400">
                    <a:solidFill>
                      <a:srgbClr val="111827"/>
                    </a:solidFill>
                    <a:latin typeface="Cambria Math" panose="02040503050406030204" pitchFamily="18" charset="0"/>
                  </a:rPr>
                  <a:t>$\phi$</a:t>
                </a:r>
                <a:r>
                  <a:rPr sz="2400" b="0">
                    <a:solidFill>
                      <a:srgbClr val="111827"/>
                    </a:solidFill>
                    <a:latin typeface="Arial"/>
                  </a:rPr>
                  <a:t> is decreasing; for </a:t>
                </a:r>
                <a:r>
                  <a:rPr lang="en-IN" sz="2400">
                    <a:solidFill>
                      <a:srgbClr val="111827"/>
                    </a:solidFill>
                    <a:latin typeface="Cambria Math" panose="02040503050406030204" pitchFamily="18" charset="0"/>
                  </a:rPr>
                  <a:t>$\frac1e&lt;t&lt;1$</a:t>
                </a:r>
                <a:r>
                  <a:rPr sz="2400" b="0">
                    <a:solidFill>
                      <a:srgbClr val="111827"/>
                    </a:solidFill>
                    <a:latin typeface="Arial"/>
                  </a:rPr>
                  <a:t>, </a:t>
                </a:r>
                <a:r>
                  <a:rPr lang="en-IN" sz="2400">
                    <a:solidFill>
                      <a:srgbClr val="111827"/>
                    </a:solidFill>
                    <a:latin typeface="Cambria Math" panose="02040503050406030204" pitchFamily="18" charset="0"/>
                  </a:rPr>
                  <a:t>$\phi'(t)&gt;0$</a:t>
                </a:r>
                <a:r>
                  <a:rPr sz="2400" b="0">
                    <a:solidFill>
                      <a:srgbClr val="111827"/>
                    </a:solidFill>
                    <a:latin typeface="Arial"/>
                  </a:rPr>
                  <a:t> and </a:t>
                </a:r>
                <a:r>
                  <a:rPr lang="en-IN" sz="2400">
                    <a:solidFill>
                      <a:srgbClr val="111827"/>
                    </a:solidFill>
                    <a:latin typeface="Cambria Math" panose="02040503050406030204" pitchFamily="18" charset="0"/>
                  </a:rPr>
                  <a:t>$\phi$</a:t>
                </a:r>
                <a:r>
                  <a:rPr sz="2400" b="0">
                    <a:solidFill>
                      <a:srgbClr val="111827"/>
                    </a:solidFill>
                    <a:latin typeface="Arial"/>
                  </a:rPr>
                  <a:t> is increasing.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$\phi$</a:t>
                </a:r>
                <a:r>
                  <a:rPr sz="2400" b="0">
                    <a:solidFill>
                      <a:srgbClr val="111827"/>
                    </a:solidFill>
                    <a:latin typeface="Arial"/>
                  </a:rPr>
                  <a:t> has its minimum at </a:t>
                </a:r>
                <a:r>
                  <a:rPr lang="en-IN" sz="2400">
                    <a:solidFill>
                      <a:srgbClr val="111827"/>
                    </a:solidFill>
                    <a:latin typeface="Cambria Math" panose="02040503050406030204" pitchFamily="18" charset="0"/>
                  </a:rPr>
                  <a:t>$t=\frac1e$</a:t>
                </a:r>
                <a:r>
                  <a:rPr sz="2400" b="0">
                    <a:solidFill>
                      <a:srgbClr val="111827"/>
                    </a:solidFill>
                    <a:latin typeface="Arial"/>
                  </a:rPr>
                  <a:t>, and the minimum value is </a:t>
                </a:r>
                <a:r>
                  <a:rPr lang="en-IN" sz="2400">
                    <a:solidFill>
                      <a:srgbClr val="111827"/>
                    </a:solidFill>
                    <a:latin typeface="Cambria Math" panose="02040503050406030204" pitchFamily="18" charset="0"/>
                  </a:rPr>
                  <a:t>$\phi\left(\frac1e\right)=\left(\frac1e\right)^{1/e}$</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r>
                  <a:rPr lang="en-IN" sz="2400">
                    <a:solidFill>
                      <a:srgbClr val="111827"/>
                    </a:solidFill>
                    <a:latin typeface="Cambria Math" panose="02040503050406030204" pitchFamily="18" charset="0"/>
                  </a:rPr>
                  <a:t>$f_{\min}=\ln\left(\left(\frac1e\right)^{1/e}+1\right)$</a:t>
                </a:r>
                <a:r>
                  <a:rPr sz="2400" b="0">
                    <a:solidFill>
                      <a:srgbClr val="111827"/>
                    </a:solidFill>
                    <a:latin typeface="Arial"/>
                  </a:rPr>
                  <a:t>, so (A) is true.</a:t>
                </a:r>
                <a:endParaRPr sz="2400">
                  <a:solidFill>
                    <a:srgbClr val="111827"/>
                  </a:solidFill>
                </a:endParaRPr>
              </a:p>
            </p:txBody>
          </p:sp>
        </mc:Fallback>
      </mc:AlternateContent>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𝑡</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also as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𝑡</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oMath>
                </a14:m>
                <a:r>
                  <a:rPr sz="2400" b="0">
                    <a:solidFill>
                      <a:srgbClr val="111827"/>
                    </a:solidFill>
                    <a:latin typeface="Arial"/>
                  </a:rPr>
                  <a:t>, but this value is not attained because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bounded above and has no finite maximum, but </a:t>
                </a:r>
                <a14:m>
                  <m:oMath xmlns:m="http://schemas.openxmlformats.org/officeDocument/2006/math">
                    <m:sSub>
                      <m:e>
                        <m:r>
                          <a:rPr lang="en-IN" sz="2400" i="1">
                            <a:solidFill>
                              <a:srgbClr val="111827"/>
                            </a:solidFill>
                            <a:latin typeface="Cambria Math" panose="02040503050406030204" pitchFamily="18" charset="0"/>
                          </a:rPr>
                          <m:t>𝑓</m:t>
                        </m:r>
                      </m:e>
                      <m:sub>
                        <m:r>
                          <m:rPr>
                            <m:sty m:val="p"/>
                          </m:rPr>
                          <a:rPr lang="en-IN" sz="2400">
                            <a:solidFill>
                              <a:srgbClr val="111827"/>
                            </a:solidFill>
                            <a:latin typeface="Cambria Math" panose="02040503050406030204" pitchFamily="18" charset="0"/>
                          </a:rPr>
                          <m:t>max</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false: (B)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is false because the minimum is </a:t>
                </a:r>
                <a14:m>
                  <m:oMath xmlns:m="http://schemas.openxmlformats.org/officeDocument/2006/math">
                    <m:r>
                      <m:rPr>
                        <m:sty m:val="p"/>
                      </m:rPr>
                      <a:rPr lang="en-IN" sz="2400">
                        <a:solidFill>
                          <a:srgbClr val="111827"/>
                        </a:solidFill>
                        <a:latin typeface="Cambria Math" panose="02040503050406030204" pitchFamily="18" charset="0"/>
                      </a:rPr>
                      <m:t>ln</m:t>
                    </m:r>
                    <m:d>
                      <m:dPr>
                        <m:begChr m:val="("/>
                        <m:sepChr m:val=""/>
                        <m:endChr m:val=")"/>
                        <m:grow/>
                        <m:ctrlPr>
                          <a:rPr lang="en-IN" sz="2400" i="1">
                            <a:solidFill>
                              <a:srgbClr val="111827"/>
                            </a:solidFill>
                            <a:latin typeface="Cambria Math" panose="02040503050406030204" pitchFamily="18" charset="0"/>
                          </a:rPr>
                        </m:ctrlPr>
                      </m:dPr>
                      <m:e>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𝑒</m:t>
                                    </m:r>
                                  </m:den>
                                </m:f>
                              </m:e>
                            </m:d>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oMath>
                </a14:m>
                <a:r>
                  <a:rPr sz="2400" b="0">
                    <a:solidFill>
                      <a:srgbClr val="111827"/>
                    </a:solidFill>
                    <a:latin typeface="Arial"/>
                  </a:rPr>
                  <a:t>, not </a:t>
                </a:r>
                <a14:m>
                  <m:oMath xmlns:m="http://schemas.openxmlformats.org/officeDocument/2006/math">
                    <m:r>
                      <m:rPr>
                        <m:sty m:val="p"/>
                      </m:rPr>
                      <a:rPr lang="en-IN" sz="2400">
                        <a:solidFill>
                          <a:srgbClr val="111827"/>
                        </a:solidFill>
                        <a:latin typeface="Cambria Math" panose="02040503050406030204" pitchFamily="18" charset="0"/>
                      </a:rPr>
                      <m:t>log</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On </a:t>
                </a:r>
                <a:r>
                  <a:rPr lang="en-IN" sz="2400">
                    <a:solidFill>
                      <a:srgbClr val="111827"/>
                    </a:solidFill>
                    <a:latin typeface="Cambria Math" panose="02040503050406030204" pitchFamily="18" charset="0"/>
                  </a:rPr>
                  <a:t>$(0,1)$</a:t>
                </a:r>
                <a:r>
                  <a:rPr sz="2400" b="0">
                    <a:solidFill>
                      <a:srgbClr val="111827"/>
                    </a:solidFill>
                    <a:latin typeface="Arial"/>
                  </a:rPr>
                  <a:t>, </a:t>
                </a:r>
                <a:r>
                  <a:rPr lang="en-IN" sz="2400">
                    <a:solidFill>
                      <a:srgbClr val="111827"/>
                    </a:solidFill>
                    <a:latin typeface="Cambria Math" panose="02040503050406030204" pitchFamily="18" charset="0"/>
                  </a:rPr>
                  <a:t>$t\ln t&lt;0$</a:t>
                </a:r>
                <a:r>
                  <a:rPr sz="2400" b="0">
                    <a:solidFill>
                      <a:srgbClr val="111827"/>
                    </a:solidFill>
                    <a:latin typeface="Arial"/>
                  </a:rPr>
                  <a:t> so </a:t>
                </a:r>
                <a:r>
                  <a:rPr lang="en-IN" sz="2400">
                    <a:solidFill>
                      <a:srgbClr val="111827"/>
                    </a:solidFill>
                    <a:latin typeface="Cambria Math" panose="02040503050406030204" pitchFamily="18" charset="0"/>
                  </a:rPr>
                  <a:t>$t^t&lt;1$</a:t>
                </a:r>
                <a:r>
                  <a:rPr sz="2400" b="0">
                    <a:solidFill>
                      <a:srgbClr val="111827"/>
                    </a:solidFill>
                    <a:latin typeface="Arial"/>
                  </a:rPr>
                  <a:t> and </a:t>
                </a:r>
                <a:r>
                  <a:rPr lang="en-IN" sz="2400">
                    <a:solidFill>
                      <a:srgbClr val="111827"/>
                    </a:solidFill>
                    <a:latin typeface="Cambria Math" panose="02040503050406030204" pitchFamily="18" charset="0"/>
                  </a:rPr>
                  <a:t>$f(x)&lt;\ln2$</a:t>
                </a:r>
                <a:r>
                  <a:rPr sz="2400" b="0">
                    <a:solidFill>
                      <a:srgbClr val="111827"/>
                    </a:solidFill>
                    <a:latin typeface="Arial"/>
                  </a:rPr>
                  <a:t>. As </a:t>
                </a:r>
                <a:r>
                  <a:rPr lang="en-IN" sz="2400">
                    <a:solidFill>
                      <a:srgbClr val="111827"/>
                    </a:solidFill>
                    <a:latin typeface="Cambria Math" panose="02040503050406030204" pitchFamily="18" charset="0"/>
                  </a:rPr>
                  <a:t>$t\to1^-$</a:t>
                </a:r>
                <a:r>
                  <a:rPr sz="2400" b="0">
                    <a:solidFill>
                      <a:srgbClr val="111827"/>
                    </a:solidFill>
                    <a:latin typeface="Arial"/>
                  </a:rPr>
                  <a:t> (and also as </a:t>
                </a:r>
                <a:r>
                  <a:rPr lang="en-IN" sz="2400">
                    <a:solidFill>
                      <a:srgbClr val="111827"/>
                    </a:solidFill>
                    <a:latin typeface="Cambria Math" panose="02040503050406030204" pitchFamily="18" charset="0"/>
                  </a:rPr>
                  <a:t>$t\to0^+$</a:t>
                </a:r>
                <a:r>
                  <a:rPr sz="2400" b="0">
                    <a:solidFill>
                      <a:srgbClr val="111827"/>
                    </a:solidFill>
                    <a:latin typeface="Arial"/>
                  </a:rPr>
                  <a:t>) </a:t>
                </a:r>
                <a:r>
                  <a:rPr lang="en-IN" sz="2400">
                    <a:solidFill>
                      <a:srgbClr val="111827"/>
                    </a:solidFill>
                    <a:latin typeface="Cambria Math" panose="02040503050406030204" pitchFamily="18" charset="0"/>
                  </a:rPr>
                  <a:t>$t^t\to1$</a:t>
                </a:r>
                <a:r>
                  <a:rPr sz="2400" b="0">
                    <a:solidFill>
                      <a:srgbClr val="111827"/>
                    </a:solidFill>
                    <a:latin typeface="Arial"/>
                  </a:rPr>
                  <a:t>, so </a:t>
                </a:r>
                <a:r>
                  <a:rPr lang="en-IN" sz="2400">
                    <a:solidFill>
                      <a:srgbClr val="111827"/>
                    </a:solidFill>
                    <a:latin typeface="Cambria Math" panose="02040503050406030204" pitchFamily="18" charset="0"/>
                  </a:rPr>
                  <a:t>$f\to\ln2$</a:t>
                </a:r>
                <a:r>
                  <a:rPr sz="2400" b="0">
                    <a:solidFill>
                      <a:srgbClr val="111827"/>
                    </a:solidFill>
                    <a:latin typeface="Arial"/>
                  </a:rPr>
                  <a:t>, but this value is not attained because </a:t>
                </a:r>
                <a:r>
                  <a:rPr lang="en-IN" sz="2400">
                    <a:solidFill>
                      <a:srgbClr val="111827"/>
                    </a:solidFill>
                    <a:latin typeface="Cambria Math" panose="02040503050406030204" pitchFamily="18" charset="0"/>
                  </a:rPr>
                  <a:t>$x\in\left(0,\frac\pi2\right)$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a:t>
                </a:r>
                <a:r>
                  <a:rPr sz="2400" b="0">
                    <a:solidFill>
                      <a:srgbClr val="111827"/>
                    </a:solidFill>
                    <a:latin typeface="Arial"/>
                  </a:rPr>
                  <a:t> is bounded above and has no finite maximum, but </a:t>
                </a:r>
                <a:r>
                  <a:rPr lang="en-IN" sz="2400">
                    <a:solidFill>
                      <a:srgbClr val="111827"/>
                    </a:solidFill>
                    <a:latin typeface="Cambria Math" panose="02040503050406030204" pitchFamily="18" charset="0"/>
                  </a:rPr>
                  <a:t>$f_{\max}=\infty$</a:t>
                </a:r>
                <a:r>
                  <a:rPr sz="2400" b="0">
                    <a:solidFill>
                      <a:srgbClr val="111827"/>
                    </a:solidFill>
                    <a:latin typeface="Arial"/>
                  </a:rPr>
                  <a:t> is false: (B)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is false because the minimum is </a:t>
                </a:r>
                <a:r>
                  <a:rPr lang="en-IN" sz="2400">
                    <a:solidFill>
                      <a:srgbClr val="111827"/>
                    </a:solidFill>
                    <a:latin typeface="Cambria Math" panose="02040503050406030204" pitchFamily="18" charset="0"/>
                  </a:rPr>
                  <a:t>$\ln\left(\left(\frac1e\right)^{1/e}+1\right)&lt;\ln2$</a:t>
                </a:r>
                <a:r>
                  <a:rPr sz="2400" b="0">
                    <a:solidFill>
                      <a:srgbClr val="111827"/>
                    </a:solidFill>
                    <a:latin typeface="Arial"/>
                  </a:rPr>
                  <a:t>, not </a:t>
                </a:r>
                <a:r>
                  <a:rPr lang="en-IN" sz="2400">
                    <a:solidFill>
                      <a:srgbClr val="111827"/>
                    </a:solidFill>
                    <a:latin typeface="Cambria Math" panose="02040503050406030204" pitchFamily="18" charset="0"/>
                  </a:rPr>
                  <a:t>$\log2$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continuity the range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ln</m:t>
                        </m:r>
                        <m:d>
                          <m:dPr>
                            <m:begChr m:val="("/>
                            <m:sepChr m:val=""/>
                            <m:endChr m:val=")"/>
                            <m:grow/>
                            <m:ctrlPr>
                              <a:rPr lang="en-IN" sz="2400" i="1">
                                <a:solidFill>
                                  <a:srgbClr val="111827"/>
                                </a:solidFill>
                                <a:latin typeface="Cambria Math" panose="02040503050406030204" pitchFamily="18" charset="0"/>
                              </a:rPr>
                            </m:ctrlPr>
                          </m:dPr>
                          <m:e>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𝑒</m:t>
                                        </m:r>
                                      </m:den>
                                    </m:f>
                                  </m:e>
                                </m:d>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e>
                    </m:d>
                  </m:oMath>
                </a14:m>
                <a:r>
                  <a:rPr sz="2400" b="0">
                    <a:solidFill>
                      <a:srgbClr val="111827"/>
                    </a:solidFill>
                    <a:latin typeface="Arial"/>
                  </a:rPr>
                  <a:t>, which lies inside the closed interval of (D), so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that closed interval is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the correct options are (A) and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continuity the range of </a:t>
                </a:r>
                <a:r>
                  <a:rPr lang="en-IN" sz="2400">
                    <a:solidFill>
                      <a:srgbClr val="111827"/>
                    </a:solidFill>
                    <a:latin typeface="Cambria Math" panose="02040503050406030204" pitchFamily="18" charset="0"/>
                  </a:rPr>
                  <a:t>$f$</a:t>
                </a:r>
                <a:r>
                  <a:rPr sz="2400" b="0">
                    <a:solidFill>
                      <a:srgbClr val="111827"/>
                    </a:solidFill>
                    <a:latin typeface="Arial"/>
                  </a:rPr>
                  <a:t> is </a:t>
                </a:r>
                <a:r>
                  <a:rPr lang="en-IN" sz="2400">
                    <a:solidFill>
                      <a:srgbClr val="111827"/>
                    </a:solidFill>
                    <a:latin typeface="Cambria Math" panose="02040503050406030204" pitchFamily="18" charset="0"/>
                  </a:rPr>
                  <a:t>$\left[\ln\left(\left(\frac1e\right)^{1/e}+1\right),\ln2\right)$</a:t>
                </a:r>
                <a:r>
                  <a:rPr sz="2400" b="0">
                    <a:solidFill>
                      <a:srgbClr val="111827"/>
                    </a:solidFill>
                    <a:latin typeface="Arial"/>
                  </a:rPr>
                  <a:t>, which lies inside the closed interval of (D), so </a:t>
                </a:r>
                <a:r>
                  <a:rPr lang="en-IN" sz="2400">
                    <a:solidFill>
                      <a:srgbClr val="111827"/>
                    </a:solidFill>
                    <a:latin typeface="Cambria Math" panose="02040503050406030204" pitchFamily="18" charset="0"/>
                  </a:rPr>
                  <a:t>$y\in$</a:t>
                </a:r>
                <a:r>
                  <a:rPr sz="2400" b="0">
                    <a:solidFill>
                      <a:srgbClr val="111827"/>
                    </a:solidFill>
                    <a:latin typeface="Arial"/>
                  </a:rPr>
                  <a:t> that closed interval is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the correct options are (A) and (D).</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D)</a:t>
            </a:r>
            <a:endParaRPr sz="2800">
              <a:solidFill>
                <a:srgbClr val="15803D"/>
              </a:solidFill>
            </a:endParaRP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tangent-line inequality </a:t>
                </a:r>
                <a14:m>
                  <m:oMath xmlns:m="http://schemas.openxmlformats.org/officeDocument/2006/math">
                    <m:r>
                      <m:rPr>
                        <m:sty m:val="p"/>
                      </m:rPr>
                      <a:rPr lang="en-IN" sz="2400">
                        <a:solidFill>
                          <a:srgbClr val="78350F"/>
                        </a:solidFill>
                        <a:latin typeface="Cambria Math" panose="02040503050406030204" pitchFamily="18" charset="0"/>
                      </a:rPr>
                      <m:t>ln</m:t>
                    </m:r>
                    <m:r>
                      <a:rPr lang="en-IN" sz="2400" i="1">
                        <a:solidFill>
                          <a:srgbClr val="78350F"/>
                        </a:solidFill>
                        <a:latin typeface="Cambria Math" panose="02040503050406030204" pitchFamily="18" charset="0"/>
                      </a:rPr>
                      <m:t>𝑠</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𝑠</m:t>
                        </m:r>
                      </m:num>
                      <m:den>
                        <m:r>
                          <a:rPr lang="en-IN" sz="2400" i="1">
                            <a:solidFill>
                              <a:srgbClr val="78350F"/>
                            </a:solidFill>
                            <a:latin typeface="Cambria Math" panose="02040503050406030204" pitchFamily="18" charset="0"/>
                          </a:rPr>
                          <m:t>𝑒</m:t>
                        </m:r>
                      </m:den>
                    </m:f>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𝑠</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𝑡</m:t>
                        </m:r>
                      </m:den>
                    </m:f>
                  </m:oMath>
                </a14:m>
                <a:r>
                  <a:rPr sz="2400" b="0">
                    <a:solidFill>
                      <a:srgbClr val="78350F"/>
                    </a:solidFill>
                    <a:latin typeface="Arial"/>
                  </a:rPr>
                  <a:t> gives </a:t>
                </a:r>
                <a14:m>
                  <m:oMath xmlns:m="http://schemas.openxmlformats.org/officeDocument/2006/math">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ln</m:t>
                    </m:r>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𝑒</m:t>
                        </m:r>
                      </m:den>
                    </m:f>
                  </m:oMath>
                </a14:m>
                <a:r>
                  <a:rPr sz="2400" b="0">
                    <a:solidFill>
                      <a:srgbClr val="78350F"/>
                    </a:solidFill>
                    <a:latin typeface="Arial"/>
                  </a:rPr>
                  <a:t> at once, with equality at </a:t>
                </a:r>
                <a14:m>
                  <m:oMath xmlns:m="http://schemas.openxmlformats.org/officeDocument/2006/math">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𝑒</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tangent-line inequality </a:t>
                </a:r>
                <a:r>
                  <a:rPr lang="en-IN" sz="2400">
                    <a:solidFill>
                      <a:srgbClr val="78350F"/>
                    </a:solidFill>
                    <a:latin typeface="Cambria Math" panose="02040503050406030204" pitchFamily="18" charset="0"/>
                  </a:rPr>
                  <a:t>$\ln s\le\frac se$</a:t>
                </a:r>
                <a:r>
                  <a:rPr sz="2400" b="0">
                    <a:solidFill>
                      <a:srgbClr val="78350F"/>
                    </a:solidFill>
                    <a:latin typeface="Arial"/>
                  </a:rPr>
                  <a:t> with </a:t>
                </a:r>
                <a:r>
                  <a:rPr lang="en-IN" sz="2400">
                    <a:solidFill>
                      <a:srgbClr val="78350F"/>
                    </a:solidFill>
                    <a:latin typeface="Cambria Math" panose="02040503050406030204" pitchFamily="18" charset="0"/>
                  </a:rPr>
                  <a:t>$s=\frac1t$</a:t>
                </a:r>
                <a:r>
                  <a:rPr sz="2400" b="0">
                    <a:solidFill>
                      <a:srgbClr val="78350F"/>
                    </a:solidFill>
                    <a:latin typeface="Arial"/>
                  </a:rPr>
                  <a:t> gives </a:t>
                </a:r>
                <a:r>
                  <a:rPr lang="en-IN" sz="2400">
                    <a:solidFill>
                      <a:srgbClr val="78350F"/>
                    </a:solidFill>
                    <a:latin typeface="Cambria Math" panose="02040503050406030204" pitchFamily="18" charset="0"/>
                  </a:rPr>
                  <a:t>$t\ln t\ge-\frac1e$</a:t>
                </a:r>
                <a:r>
                  <a:rPr sz="2400" b="0">
                    <a:solidFill>
                      <a:srgbClr val="78350F"/>
                    </a:solidFill>
                    <a:latin typeface="Arial"/>
                  </a:rPr>
                  <a:t> at once, with equality at </a:t>
                </a:r>
                <a:r>
                  <a:rPr lang="en-IN" sz="2400">
                    <a:solidFill>
                      <a:srgbClr val="78350F"/>
                    </a:solidFill>
                    <a:latin typeface="Cambria Math" panose="02040503050406030204" pitchFamily="18" charset="0"/>
                  </a:rPr>
                  <a:t>$t=\frac1e$</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all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𝑠</m:t>
                        </m:r>
                      </m:num>
                      <m:den>
                        <m:r>
                          <a:rPr lang="en-IN" sz="2400" i="1">
                            <a:solidFill>
                              <a:srgbClr val="111827"/>
                            </a:solidFill>
                            <a:latin typeface="Cambria Math" panose="02040503050406030204" pitchFamily="18" charset="0"/>
                          </a:rPr>
                          <m:t>𝑒</m:t>
                        </m:r>
                      </m:den>
                    </m:f>
                  </m:oMath>
                </a14:m>
                <a:r>
                  <a:rPr sz="2400" b="0">
                    <a:solidFill>
                      <a:srgbClr val="111827"/>
                    </a:solidFill>
                    <a:latin typeface="Arial"/>
                  </a:rPr>
                  <a:t>, with equality only at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oMath>
                </a14:m>
                <a:r>
                  <a:rPr sz="2400" b="0">
                    <a:solidFill>
                      <a:srgbClr val="111827"/>
                    </a:solidFill>
                    <a:latin typeface="Arial"/>
                  </a:rPr>
                  <a:t> (the function </a:t>
                </a:r>
                <a14:m>
                  <m:oMath xmlns:m="http://schemas.openxmlformats.org/officeDocument/2006/math">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𝑠</m:t>
                        </m:r>
                      </m:num>
                      <m:den>
                        <m:r>
                          <a:rPr lang="en-IN" sz="2400" i="1">
                            <a:solidFill>
                              <a:srgbClr val="111827"/>
                            </a:solidFill>
                            <a:latin typeface="Cambria Math" panose="02040503050406030204" pitchFamily="18" charset="0"/>
                          </a:rPr>
                          <m:t>𝑒</m:t>
                        </m:r>
                      </m:den>
                    </m:f>
                  </m:oMath>
                </a14:m>
                <a:r>
                  <a:rPr sz="2400" b="0">
                    <a:solidFill>
                      <a:srgbClr val="111827"/>
                    </a:solidFill>
                    <a:latin typeface="Arial"/>
                  </a:rPr>
                  <a:t> has maximum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𝑡</m:t>
                        </m:r>
                      </m:den>
                    </m:f>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𝑒</m:t>
                        </m:r>
                        <m:r>
                          <a:rPr lang="en-IN" sz="2400" i="1">
                            <a:solidFill>
                              <a:srgbClr val="111827"/>
                            </a:solidFill>
                            <a:latin typeface="Cambria Math" panose="02040503050406030204" pitchFamily="18" charset="0"/>
                          </a:rPr>
                          <m:t>𝑡</m:t>
                        </m:r>
                      </m:den>
                    </m:f>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𝑒</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𝑡</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𝑡</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𝑒</m:t>
                                </m:r>
                              </m:den>
                            </m:f>
                          </m:e>
                        </m:d>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sup>
                    </m:sSup>
                  </m:oMath>
                </a14:m>
                <a:r>
                  <a:rPr sz="2400" b="0">
                    <a:solidFill>
                      <a:srgbClr val="111827"/>
                    </a:solidFill>
                    <a:latin typeface="Arial"/>
                  </a:rPr>
                  <a:t>, with equality iff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𝑒</m:t>
                        </m:r>
                      </m:den>
                    </m:f>
                  </m:oMath>
                </a14:m>
                <a:r>
                  <a:rPr sz="2400" b="0">
                    <a:solidFill>
                      <a:srgbClr val="111827"/>
                    </a:solidFill>
                    <a:latin typeface="Arial"/>
                  </a:rPr>
                  <a:t>, which is attainable.</a:t>
                </a:r>
                <a:endParaRPr sz="2400">
                  <a:solidFill>
                    <a:srgbClr val="111827"/>
                  </a:solidFill>
                </a:endParaRPr>
              </a:p>
            </p:txBody>
          </p:sp>
        </mc:Choice>
        <mc:Fallback>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all </a:t>
                </a:r>
                <a:r>
                  <a:rPr lang="en-IN" sz="2400">
                    <a:solidFill>
                      <a:srgbClr val="111827"/>
                    </a:solidFill>
                    <a:latin typeface="Cambria Math" panose="02040503050406030204" pitchFamily="18" charset="0"/>
                  </a:rPr>
                  <a:t>$s&gt;0$</a:t>
                </a:r>
                <a:r>
                  <a:rPr sz="2400" b="0">
                    <a:solidFill>
                      <a:srgbClr val="111827"/>
                    </a:solidFill>
                    <a:latin typeface="Arial"/>
                  </a:rPr>
                  <a:t>, </a:t>
                </a:r>
                <a:r>
                  <a:rPr lang="en-IN" sz="2400">
                    <a:solidFill>
                      <a:srgbClr val="111827"/>
                    </a:solidFill>
                    <a:latin typeface="Cambria Math" panose="02040503050406030204" pitchFamily="18" charset="0"/>
                  </a:rPr>
                  <a:t>$\ln s\le\frac se$</a:t>
                </a:r>
                <a:r>
                  <a:rPr sz="2400" b="0">
                    <a:solidFill>
                      <a:srgbClr val="111827"/>
                    </a:solidFill>
                    <a:latin typeface="Arial"/>
                  </a:rPr>
                  <a:t>, with equality only at </a:t>
                </a:r>
                <a:r>
                  <a:rPr lang="en-IN" sz="2400">
                    <a:solidFill>
                      <a:srgbClr val="111827"/>
                    </a:solidFill>
                    <a:latin typeface="Cambria Math" panose="02040503050406030204" pitchFamily="18" charset="0"/>
                  </a:rPr>
                  <a:t>$s=e$</a:t>
                </a:r>
                <a:r>
                  <a:rPr sz="2400" b="0">
                    <a:solidFill>
                      <a:srgbClr val="111827"/>
                    </a:solidFill>
                    <a:latin typeface="Arial"/>
                  </a:rPr>
                  <a:t> (the function </a:t>
                </a:r>
                <a:r>
                  <a:rPr lang="en-IN" sz="2400">
                    <a:solidFill>
                      <a:srgbClr val="111827"/>
                    </a:solidFill>
                    <a:latin typeface="Cambria Math" panose="02040503050406030204" pitchFamily="18" charset="0"/>
                  </a:rPr>
                  <a:t>$\ln s-\frac se$</a:t>
                </a:r>
                <a:r>
                  <a:rPr sz="2400" b="0">
                    <a:solidFill>
                      <a:srgbClr val="111827"/>
                    </a:solidFill>
                    <a:latin typeface="Arial"/>
                  </a:rPr>
                  <a:t> has maximum </a:t>
                </a:r>
                <a:r>
                  <a:rPr lang="en-IN" sz="2400">
                    <a:solidFill>
                      <a:srgbClr val="111827"/>
                    </a:solidFill>
                    <a:latin typeface="Cambria Math" panose="02040503050406030204" pitchFamily="18" charset="0"/>
                  </a:rPr>
                  <a:t>$0$</a:t>
                </a:r>
                <a:r>
                  <a:rPr sz="2400" b="0">
                    <a:solidFill>
                      <a:srgbClr val="111827"/>
                    </a:solidFill>
                    <a:latin typeface="Arial"/>
                  </a:rPr>
                  <a:t> at </a:t>
                </a:r>
                <a:r>
                  <a:rPr lang="en-IN" sz="2400">
                    <a:solidFill>
                      <a:srgbClr val="111827"/>
                    </a:solidFill>
                    <a:latin typeface="Cambria Math" panose="02040503050406030204" pitchFamily="18" charset="0"/>
                  </a:rPr>
                  <a:t>$s=e$</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$s=\frac1t$</a:t>
                </a:r>
                <a:r>
                  <a:rPr sz="2400" b="0">
                    <a:solidFill>
                      <a:srgbClr val="111827"/>
                    </a:solidFill>
                    <a:latin typeface="Arial"/>
                  </a:rPr>
                  <a:t> with </a:t>
                </a:r>
                <a:r>
                  <a:rPr lang="en-IN" sz="2400">
                    <a:solidFill>
                      <a:srgbClr val="111827"/>
                    </a:solidFill>
                    <a:latin typeface="Cambria Math" panose="02040503050406030204" pitchFamily="18" charset="0"/>
                  </a:rPr>
                  <a:t>$t\in(0,1)$</a:t>
                </a:r>
                <a:r>
                  <a:rPr sz="2400" b="0">
                    <a:solidFill>
                      <a:srgbClr val="111827"/>
                    </a:solidFill>
                    <a:latin typeface="Arial"/>
                  </a:rPr>
                  <a:t>: </a:t>
                </a:r>
                <a:r>
                  <a:rPr lang="en-IN" sz="2400">
                    <a:solidFill>
                      <a:srgbClr val="111827"/>
                    </a:solidFill>
                    <a:latin typeface="Cambria Math" panose="02040503050406030204" pitchFamily="18" charset="0"/>
                  </a:rPr>
                  <a:t>$-\ln t\le\frac{1}{et}$</a:t>
                </a:r>
                <a:r>
                  <a:rPr sz="2400" b="0">
                    <a:solidFill>
                      <a:srgbClr val="111827"/>
                    </a:solidFill>
                    <a:latin typeface="Arial"/>
                  </a:rPr>
                  <a:t>, i.e. </a:t>
                </a:r>
                <a:r>
                  <a:rPr lang="en-IN" sz="2400">
                    <a:solidFill>
                      <a:srgbClr val="111827"/>
                    </a:solidFill>
                    <a:latin typeface="Cambria Math" panose="02040503050406030204" pitchFamily="18" charset="0"/>
                  </a:rPr>
                  <a:t>$t\ln t\ge-\frac1e$</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$t^t=e^{t\ln t}\ge e^{-1/e}=\left(\frac1e\right)^{1/e}$</a:t>
                </a:r>
                <a:r>
                  <a:rPr sz="2400" b="0">
                    <a:solidFill>
                      <a:srgbClr val="111827"/>
                    </a:solidFill>
                    <a:latin typeface="Arial"/>
                  </a:rPr>
                  <a:t>, with equality iff </a:t>
                </a:r>
                <a:r>
                  <a:rPr lang="en-IN" sz="2400">
                    <a:solidFill>
                      <a:srgbClr val="111827"/>
                    </a:solidFill>
                    <a:latin typeface="Cambria Math" panose="02040503050406030204" pitchFamily="18" charset="0"/>
                  </a:rPr>
                  <a:t>$\frac1t=e$</a:t>
                </a:r>
                <a:r>
                  <a:rPr sz="2400" b="0">
                    <a:solidFill>
                      <a:srgbClr val="111827"/>
                    </a:solidFill>
                    <a:latin typeface="Arial"/>
                  </a:rPr>
                  <a:t>, i.e. </a:t>
                </a:r>
                <a:r>
                  <a:rPr lang="en-IN" sz="2400">
                    <a:solidFill>
                      <a:srgbClr val="111827"/>
                    </a:solidFill>
                    <a:latin typeface="Cambria Math" panose="02040503050406030204" pitchFamily="18" charset="0"/>
                  </a:rPr>
                  <a:t>$\cos x=\frac1e$</a:t>
                </a:r>
                <a:r>
                  <a:rPr sz="2400" b="0">
                    <a:solidFill>
                      <a:srgbClr val="111827"/>
                    </a:solidFill>
                    <a:latin typeface="Arial"/>
                  </a:rPr>
                  <a:t>, which is attainable.</a:t>
                </a:r>
                <a:endParaRPr sz="2400">
                  <a:solidFill>
                    <a:srgbClr val="111827"/>
                  </a:solidFill>
                </a:endParaRPr>
              </a:p>
            </p:txBody>
          </p:sp>
        </mc:Fallback>
      </mc:AlternateContent>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sSub>
                      <m:e>
                        <m:r>
                          <a:rPr lang="en-IN" sz="2400" i="1">
                            <a:solidFill>
                              <a:srgbClr val="111827"/>
                            </a:solidFill>
                            <a:latin typeface="Cambria Math" panose="02040503050406030204" pitchFamily="18" charset="0"/>
                          </a:rPr>
                          <m:t>𝑓</m:t>
                        </m:r>
                      </m:e>
                      <m:sub>
                        <m:r>
                          <m:rPr>
                            <m:sty m:val="p"/>
                          </m:rPr>
                          <a:rPr lang="en-IN" sz="2400">
                            <a:solidFill>
                              <a:srgbClr val="111827"/>
                            </a:solidFill>
                            <a:latin typeface="Cambria Math" panose="02040503050406030204" pitchFamily="18" charset="0"/>
                          </a:rPr>
                          <m:t>min</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d>
                      <m:dPr>
                        <m:begChr m:val="("/>
                        <m:sepChr m:val=""/>
                        <m:endChr m:val=")"/>
                        <m:grow/>
                        <m:ctrlPr>
                          <a:rPr lang="en-IN" sz="2400" i="1">
                            <a:solidFill>
                              <a:srgbClr val="111827"/>
                            </a:solidFill>
                            <a:latin typeface="Cambria Math" panose="02040503050406030204" pitchFamily="18" charset="0"/>
                          </a:rPr>
                        </m:ctrlPr>
                      </m:dPr>
                      <m:e>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𝑒</m:t>
                                    </m:r>
                                  </m:den>
                                </m:f>
                              </m:e>
                            </m:d>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oMath>
                </a14:m>
                <a:r>
                  <a:rPr sz="2400" b="0">
                    <a:solidFill>
                      <a:srgbClr val="111827"/>
                    </a:solidFill>
                    <a:latin typeface="Arial"/>
                  </a:rPr>
                  <a:t>: (A)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Also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 gives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𝑡</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𝑡</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both ends, 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oMath>
                </a14:m>
                <a:r>
                  <a:rPr sz="2400" b="0">
                    <a:solidFill>
                      <a:srgbClr val="111827"/>
                    </a:solidFill>
                    <a:latin typeface="Arial"/>
                  </a:rPr>
                  <a:t> with </a:t>
                </a:r>
                <a14:m>
                  <m:oMath xmlns:m="http://schemas.openxmlformats.org/officeDocument/2006/math">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oMath>
                </a14:m>
                <a:r>
                  <a:rPr sz="2400" b="0">
                    <a:solidFill>
                      <a:srgbClr val="111827"/>
                    </a:solidFill>
                    <a:latin typeface="Arial"/>
                  </a:rPr>
                  <a:t> approached but never attained.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has no maximum value and its minimum is not </a:t>
                </a:r>
                <a14:m>
                  <m:oMath xmlns:m="http://schemas.openxmlformats.org/officeDocument/2006/math">
                    <m:r>
                      <m:rPr>
                        <m:sty m:val="p"/>
                      </m:rPr>
                      <a:rPr lang="en-IN" sz="2400">
                        <a:solidFill>
                          <a:srgbClr val="111827"/>
                        </a:solidFill>
                        <a:latin typeface="Cambria Math" panose="02040503050406030204" pitchFamily="18" charset="0"/>
                      </a:rPr>
                      <m:t>log</m:t>
                    </m:r>
                    <m:r>
                      <a:rPr lang="en-IN" sz="2400" i="1">
                        <a:solidFill>
                          <a:srgbClr val="111827"/>
                        </a:solidFill>
                        <a:latin typeface="Cambria Math" panose="02040503050406030204" pitchFamily="18" charset="0"/>
                      </a:rPr>
                      <m:t>2</m:t>
                    </m:r>
                  </m:oMath>
                </a14:m>
                <a:r>
                  <a:rPr sz="2400" b="0">
                    <a:solidFill>
                      <a:srgbClr val="111827"/>
                    </a:solidFill>
                    <a:latin typeface="Arial"/>
                  </a:rPr>
                  <a:t>: (B), (C) false; the range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lies in the closed interval of (D): true.</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$f_{\min}=\ln\left(\left(\frac1e\right)^{1/e}+1\right)$</a:t>
                </a:r>
                <a:r>
                  <a:rPr sz="2400" b="0">
                    <a:solidFill>
                      <a:srgbClr val="111827"/>
                    </a:solidFill>
                    <a:latin typeface="Arial"/>
                  </a:rPr>
                  <a:t>: (A)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Also </a:t>
                </a:r>
                <a:r>
                  <a:rPr lang="en-IN" sz="2400">
                    <a:solidFill>
                      <a:srgbClr val="111827"/>
                    </a:solidFill>
                    <a:latin typeface="Cambria Math" panose="02040503050406030204" pitchFamily="18" charset="0"/>
                  </a:rPr>
                  <a:t>$t\ln t&lt;0$</a:t>
                </a:r>
                <a:r>
                  <a:rPr sz="2400" b="0">
                    <a:solidFill>
                      <a:srgbClr val="111827"/>
                    </a:solidFill>
                    <a:latin typeface="Arial"/>
                  </a:rPr>
                  <a:t> for </a:t>
                </a:r>
                <a:r>
                  <a:rPr lang="en-IN" sz="2400">
                    <a:solidFill>
                      <a:srgbClr val="111827"/>
                    </a:solidFill>
                    <a:latin typeface="Cambria Math" panose="02040503050406030204" pitchFamily="18" charset="0"/>
                  </a:rPr>
                  <a:t>$0&lt;t&lt;1$</a:t>
                </a:r>
                <a:r>
                  <a:rPr sz="2400" b="0">
                    <a:solidFill>
                      <a:srgbClr val="111827"/>
                    </a:solidFill>
                    <a:latin typeface="Arial"/>
                  </a:rPr>
                  <a:t> gives </a:t>
                </a:r>
                <a:r>
                  <a:rPr lang="en-IN" sz="2400">
                    <a:solidFill>
                      <a:srgbClr val="111827"/>
                    </a:solidFill>
                    <a:latin typeface="Cambria Math" panose="02040503050406030204" pitchFamily="18" charset="0"/>
                  </a:rPr>
                  <a:t>$t^t&lt;1$</a:t>
                </a:r>
                <a:r>
                  <a:rPr sz="2400" b="0">
                    <a:solidFill>
                      <a:srgbClr val="111827"/>
                    </a:solidFill>
                    <a:latin typeface="Arial"/>
                  </a:rPr>
                  <a:t>, and </a:t>
                </a:r>
                <a:r>
                  <a:rPr lang="en-IN" sz="2400">
                    <a:solidFill>
                      <a:srgbClr val="111827"/>
                    </a:solidFill>
                    <a:latin typeface="Cambria Math" panose="02040503050406030204" pitchFamily="18" charset="0"/>
                  </a:rPr>
                  <a:t>$t^t\to1$</a:t>
                </a:r>
                <a:r>
                  <a:rPr sz="2400" b="0">
                    <a:solidFill>
                      <a:srgbClr val="111827"/>
                    </a:solidFill>
                    <a:latin typeface="Arial"/>
                  </a:rPr>
                  <a:t> at both ends, so </a:t>
                </a:r>
                <a:r>
                  <a:rPr lang="en-IN" sz="2400">
                    <a:solidFill>
                      <a:srgbClr val="111827"/>
                    </a:solidFill>
                    <a:latin typeface="Cambria Math" panose="02040503050406030204" pitchFamily="18" charset="0"/>
                  </a:rPr>
                  <a:t>$f&lt;\ln2$</a:t>
                </a:r>
                <a:r>
                  <a:rPr sz="2400" b="0">
                    <a:solidFill>
                      <a:srgbClr val="111827"/>
                    </a:solidFill>
                    <a:latin typeface="Arial"/>
                  </a:rPr>
                  <a:t> with </a:t>
                </a:r>
                <a:r>
                  <a:rPr lang="en-IN" sz="2400">
                    <a:solidFill>
                      <a:srgbClr val="111827"/>
                    </a:solidFill>
                    <a:latin typeface="Cambria Math" panose="02040503050406030204" pitchFamily="18" charset="0"/>
                  </a:rPr>
                  <a:t>$\ln2$</a:t>
                </a:r>
                <a:r>
                  <a:rPr sz="2400" b="0">
                    <a:solidFill>
                      <a:srgbClr val="111827"/>
                    </a:solidFill>
                    <a:latin typeface="Arial"/>
                  </a:rPr>
                  <a:t> approached but never attained.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a:t>
                </a:r>
                <a:r>
                  <a:rPr sz="2400" b="0">
                    <a:solidFill>
                      <a:srgbClr val="111827"/>
                    </a:solidFill>
                    <a:latin typeface="Arial"/>
                  </a:rPr>
                  <a:t> has no maximum value and its minimum is not </a:t>
                </a:r>
                <a:r>
                  <a:rPr lang="en-IN" sz="2400">
                    <a:solidFill>
                      <a:srgbClr val="111827"/>
                    </a:solidFill>
                    <a:latin typeface="Cambria Math" panose="02040503050406030204" pitchFamily="18" charset="0"/>
                  </a:rPr>
                  <a:t>$\log2$</a:t>
                </a:r>
                <a:r>
                  <a:rPr sz="2400" b="0">
                    <a:solidFill>
                      <a:srgbClr val="111827"/>
                    </a:solidFill>
                    <a:latin typeface="Arial"/>
                  </a:rPr>
                  <a:t>: (B), (C) false; the range </a:t>
                </a:r>
                <a:r>
                  <a:rPr lang="en-IN" sz="2400">
                    <a:solidFill>
                      <a:srgbClr val="111827"/>
                    </a:solidFill>
                    <a:latin typeface="Cambria Math" panose="02040503050406030204" pitchFamily="18" charset="0"/>
                  </a:rPr>
                  <a:t>$[\cdot,\ln2)$</a:t>
                </a:r>
                <a:r>
                  <a:rPr sz="2400" b="0">
                    <a:solidFill>
                      <a:srgbClr val="111827"/>
                    </a:solidFill>
                    <a:latin typeface="Arial"/>
                  </a:rPr>
                  <a:t> lies in the closed interval of (D): true.</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D)</a:t>
            </a:r>
            <a:endParaRPr sz="2800">
              <a:solidFill>
                <a:srgbClr val="15803D"/>
              </a:solidFill>
            </a:endParaRP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𝑡</m:t>
                        </m:r>
                      </m:sup>
                    </m:sSup>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has its minimum </a:t>
                </a:r>
                <a14:m>
                  <m:oMath xmlns:m="http://schemas.openxmlformats.org/officeDocument/2006/math">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0.692</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𝑒</m:t>
                        </m:r>
                      </m:den>
                    </m:f>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𝑡</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equivalently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𝑒</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Differentiating </a:t>
                </a:r>
                <a14:m>
                  <m:oMath xmlns:m="http://schemas.openxmlformats.org/officeDocument/2006/math">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𝑣</m:t>
                        </m:r>
                      </m:sup>
                    </m:sSup>
                  </m:oMath>
                </a14:m>
                <a:r>
                  <a:rPr sz="2400" b="0">
                    <a:solidFill>
                      <a:srgbClr val="111827"/>
                    </a:solidFill>
                    <a:latin typeface="Arial"/>
                  </a:rPr>
                  <a:t>: write </a:t>
                </a:r>
                <a14:m>
                  <m:oMath xmlns:m="http://schemas.openxmlformats.org/officeDocument/2006/math">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𝑣</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𝑢</m:t>
                        </m:r>
                      </m:sup>
                    </m:sSup>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𝑣</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𝑣</m:t>
                        </m:r>
                      </m:sup>
                    </m:sSup>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𝑣</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𝑣</m:t>
                            </m:r>
                            <m:sSup>
                              <m:e>
                                <m:r>
                                  <a:rPr lang="en-IN" sz="2400" i="1">
                                    <a:solidFill>
                                      <a:srgbClr val="111827"/>
                                    </a:solidFill>
                                    <a:latin typeface="Cambria Math" panose="02040503050406030204" pitchFamily="18" charset="0"/>
                                  </a:rPr>
                                  <m:t>𝑢</m:t>
                                </m:r>
                              </m:e>
                              <m:sup>
                                <m:r>
                                  <m:rPr>
                                    <m:sty m:val="p"/>
                                  </m:rPr>
                                  <a:rPr lang="en-IN" sz="2400">
                                    <a:solidFill>
                                      <a:srgbClr val="111827"/>
                                    </a:solidFill>
                                    <a:latin typeface="Cambria Math" panose="02040503050406030204" pitchFamily="18" charset="0"/>
                                  </a:rPr>
                                  <m:t>′</m:t>
                                </m:r>
                              </m:sup>
                            </m:sSup>
                          </m:num>
                          <m:den>
                            <m:r>
                              <a:rPr lang="en-IN" sz="2400" i="1">
                                <a:solidFill>
                                  <a:srgbClr val="111827"/>
                                </a:solidFill>
                                <a:latin typeface="Cambria Math" panose="02040503050406030204" pitchFamily="18" charset="0"/>
                              </a:rPr>
                              <m:t>𝑢</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Composing with an increasing function (</a:t>
                </a:r>
                <a14:m>
                  <m:oMath xmlns:m="http://schemas.openxmlformats.org/officeDocument/2006/math">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keeps the location of extrema; the range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the image of the range of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𝑡</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 an open interval, check whether a supremum or infimum is actually attained; a value approached only at excluded end points is not a maximum, which matters for options phrased with closed or half-open intervals.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$t^t$</a:t>
                </a:r>
                <a:r>
                  <a:rPr sz="2400" b="0">
                    <a:solidFill>
                      <a:srgbClr val="111827"/>
                    </a:solidFill>
                    <a:latin typeface="Arial"/>
                  </a:rPr>
                  <a:t> on </a:t>
                </a:r>
                <a:r>
                  <a:rPr lang="en-IN" sz="2400">
                    <a:solidFill>
                      <a:srgbClr val="111827"/>
                    </a:solidFill>
                    <a:latin typeface="Cambria Math" panose="02040503050406030204" pitchFamily="18" charset="0"/>
                  </a:rPr>
                  <a:t>$(0,\infty)$</a:t>
                </a:r>
                <a:r>
                  <a:rPr sz="2400" b="0">
                    <a:solidFill>
                      <a:srgbClr val="111827"/>
                    </a:solidFill>
                    <a:latin typeface="Arial"/>
                  </a:rPr>
                  <a:t> has its minimum </a:t>
                </a:r>
                <a:r>
                  <a:rPr lang="en-IN" sz="2400">
                    <a:solidFill>
                      <a:srgbClr val="111827"/>
                    </a:solidFill>
                    <a:latin typeface="Cambria Math" panose="02040503050406030204" pitchFamily="18" charset="0"/>
                  </a:rPr>
                  <a:t>$e^{-1/e}\approx0.692$</a:t>
                </a:r>
                <a:r>
                  <a:rPr sz="2400" b="0">
                    <a:solidFill>
                      <a:srgbClr val="111827"/>
                    </a:solidFill>
                    <a:latin typeface="Arial"/>
                  </a:rPr>
                  <a:t> at </a:t>
                </a:r>
                <a:r>
                  <a:rPr lang="en-IN" sz="2400">
                    <a:solidFill>
                      <a:srgbClr val="111827"/>
                    </a:solidFill>
                    <a:latin typeface="Cambria Math" panose="02040503050406030204" pitchFamily="18" charset="0"/>
                  </a:rPr>
                  <a:t>$t=\frac1e$</a:t>
                </a:r>
                <a:r>
                  <a:rPr sz="2400" b="0">
                    <a:solidFill>
                      <a:srgbClr val="111827"/>
                    </a:solidFill>
                    <a:latin typeface="Arial"/>
                  </a:rPr>
                  <a:t>, and </a:t>
                </a:r>
                <a:r>
                  <a:rPr lang="en-IN" sz="2400">
                    <a:solidFill>
                      <a:srgbClr val="111827"/>
                    </a:solidFill>
                    <a:latin typeface="Cambria Math" panose="02040503050406030204" pitchFamily="18" charset="0"/>
                  </a:rPr>
                  <a:t>$t^t\to1$</a:t>
                </a:r>
                <a:r>
                  <a:rPr sz="2400" b="0">
                    <a:solidFill>
                      <a:srgbClr val="111827"/>
                    </a:solidFill>
                    <a:latin typeface="Arial"/>
                  </a:rPr>
                  <a:t> as </a:t>
                </a:r>
                <a:r>
                  <a:rPr lang="en-IN" sz="2400">
                    <a:solidFill>
                      <a:srgbClr val="111827"/>
                    </a:solidFill>
                    <a:latin typeface="Cambria Math" panose="02040503050406030204" pitchFamily="18" charset="0"/>
                  </a:rPr>
                  <a:t>$t\to0^+$</a:t>
                </a:r>
                <a:r>
                  <a:rPr sz="2400" b="0">
                    <a:solidFill>
                      <a:srgbClr val="111827"/>
                    </a:solidFill>
                    <a:latin typeface="Arial"/>
                  </a:rPr>
                  <a:t>; equivalently </a:t>
                </a:r>
                <a:r>
                  <a:rPr lang="en-IN" sz="2400">
                    <a:solidFill>
                      <a:srgbClr val="111827"/>
                    </a:solidFill>
                    <a:latin typeface="Cambria Math" panose="02040503050406030204" pitchFamily="18" charset="0"/>
                  </a:rPr>
                  <a:t>$t\ln t\ge-\frac1e$</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Differentiating </a:t>
                </a:r>
                <a:r>
                  <a:rPr lang="en-IN" sz="2400">
                    <a:solidFill>
                      <a:srgbClr val="111827"/>
                    </a:solidFill>
                    <a:latin typeface="Cambria Math" panose="02040503050406030204" pitchFamily="18" charset="0"/>
                  </a:rPr>
                  <a:t>$u^v$</a:t>
                </a:r>
                <a:r>
                  <a:rPr sz="2400" b="0">
                    <a:solidFill>
                      <a:srgbClr val="111827"/>
                    </a:solidFill>
                    <a:latin typeface="Arial"/>
                  </a:rPr>
                  <a:t>: write </a:t>
                </a:r>
                <a:r>
                  <a:rPr lang="en-IN" sz="2400">
                    <a:solidFill>
                      <a:srgbClr val="111827"/>
                    </a:solidFill>
                    <a:latin typeface="Cambria Math" panose="02040503050406030204" pitchFamily="18" charset="0"/>
                  </a:rPr>
                  <a:t>$u^v=e^{v\ln u}$</a:t>
                </a:r>
                <a:r>
                  <a:rPr sz="2400" b="0">
                    <a:solidFill>
                      <a:srgbClr val="111827"/>
                    </a:solidFill>
                    <a:latin typeface="Arial"/>
                  </a:rPr>
                  <a:t>, so </a:t>
                </a:r>
                <a:r>
                  <a:rPr lang="en-IN" sz="2400">
                    <a:solidFill>
                      <a:srgbClr val="111827"/>
                    </a:solidFill>
                    <a:latin typeface="Cambria Math" panose="02040503050406030204" pitchFamily="18" charset="0"/>
                  </a:rPr>
                  <a:t>$\frac{d}{dx}u^v=u^v\left(v'\ln u+\frac{vu'}{u}\right)$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Composing with an increasing function (</a:t>
                </a:r>
                <a:r>
                  <a:rPr lang="en-IN" sz="2400">
                    <a:solidFill>
                      <a:srgbClr val="111827"/>
                    </a:solidFill>
                    <a:latin typeface="Cambria Math" panose="02040503050406030204" pitchFamily="18" charset="0"/>
                  </a:rPr>
                  <a:t>$\ln(\cdot+1)$</a:t>
                </a:r>
                <a:r>
                  <a:rPr sz="2400" b="0">
                    <a:solidFill>
                      <a:srgbClr val="111827"/>
                    </a:solidFill>
                    <a:latin typeface="Arial"/>
                  </a:rPr>
                  <a:t>) keeps the location of extrema; the range of </a:t>
                </a:r>
                <a:r>
                  <a:rPr lang="en-IN" sz="2400">
                    <a:solidFill>
                      <a:srgbClr val="111827"/>
                    </a:solidFill>
                    <a:latin typeface="Cambria Math" panose="02040503050406030204" pitchFamily="18" charset="0"/>
                  </a:rPr>
                  <a:t>$f$</a:t>
                </a:r>
                <a:r>
                  <a:rPr sz="2400" b="0">
                    <a:solidFill>
                      <a:srgbClr val="111827"/>
                    </a:solidFill>
                    <a:latin typeface="Arial"/>
                  </a:rPr>
                  <a:t> is the image of the range of </a:t>
                </a:r>
                <a:r>
                  <a:rPr lang="en-IN" sz="2400">
                    <a:solidFill>
                      <a:srgbClr val="111827"/>
                    </a:solidFill>
                    <a:latin typeface="Cambria Math" panose="02040503050406030204" pitchFamily="18" charset="0"/>
                  </a:rPr>
                  <a:t>$t^t$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 an open interval, check whether a supremum or infimum is actually attained; a value approached only at excluded end points is not a maximum, which matters for options phrased with closed or half-open intervals.</a:t>
                </a:r>
                <a:endParaRPr sz="2400">
                  <a:solidFill>
                    <a:srgbClr val="111827"/>
                  </a:solidFill>
                </a:endParaRPr>
              </a:p>
            </p:txBody>
          </p:sp>
        </mc:Fallback>
      </mc:AlternateContent>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499922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Which of the following function(s)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cannot exist?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a:t>
                </a:r>
                <a14:m>
                  <m:oMath xmlns:m="http://schemas.openxmlformats.org/officeDocument/2006/math">
                    <m:sSub>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e>
                        </m:d>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sSub>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e>
                        </m:d>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a:t>
                </a:r>
                <a14:m>
                  <m:oMath xmlns:m="http://schemas.openxmlformats.org/officeDocument/2006/math">
                    <m:sSub>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e>
                        </m:d>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a:t>
                </a:r>
                <a14:m>
                  <m:oMath xmlns:m="http://schemas.openxmlformats.org/officeDocument/2006/math">
                    <m:sSub>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e>
                        </m:d>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2017</m:t>
                        </m:r>
                      </m:den>
                    </m:f>
                  </m:oMath>
                </a14:m>
                <a:r>
                  <a:rPr sz="2400" b="0">
                    <a:solidFill>
                      <a:srgbClr val="111827"/>
                    </a:solidFill>
                    <a:latin typeface="Arial"/>
                  </a:rPr>
                  <a:t> and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ub>
                    </m:sSub>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2017</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a:t>
                </a:r>
                <a14:m>
                  <m:oMath xmlns:m="http://schemas.openxmlformats.org/officeDocument/2006/math">
                    <m:sSub>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e>
                        </m:d>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endParaRPr sz="2400">
                  <a:solidFill>
                    <a:srgbClr val="111827"/>
                  </a:solidFill>
                </a:endParaRPr>
              </a:p>
            </p:txBody>
          </p:sp>
        </mc:Choice>
        <mc:Fallback>
          <p:sp>
            <p:nvSpPr>
              <p:cNvPr id="4" name="Rounded Rectangle 3"/>
              <p:cNvSpPr/>
              <p:nvPr/>
            </p:nvSpPr>
            <p:spPr>
              <a:xfrm>
                <a:off x="731520" y="1280160"/>
                <a:ext cx="10725912" cy="499922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Which of the following function(s) </a:t>
                </a:r>
                <a:r>
                  <a:rPr lang="en-IN" sz="2400">
                    <a:solidFill>
                      <a:srgbClr val="111827"/>
                    </a:solidFill>
                    <a:latin typeface="Cambria Math" panose="02040503050406030204" pitchFamily="18" charset="0"/>
                  </a:rPr>
                  <a:t>$y=f(x)$</a:t>
                </a:r>
                <a:r>
                  <a:rPr sz="2400" b="0">
                    <a:solidFill>
                      <a:srgbClr val="111827"/>
                    </a:solidFill>
                    <a:latin typeface="Arial"/>
                  </a:rPr>
                  <a:t> cannot exist?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$\frac{d^2y}{dx^2}&gt;0$</a:t>
                </a:r>
                <a:r>
                  <a:rPr sz="2400" b="0">
                    <a:solidFill>
                      <a:srgbClr val="111827"/>
                    </a:solidFill>
                    <a:latin typeface="Arial"/>
                  </a:rPr>
                  <a:t> for all </a:t>
                </a:r>
                <a:r>
                  <a:rPr lang="en-IN" sz="2400">
                    <a:solidFill>
                      <a:srgbClr val="111827"/>
                    </a:solidFill>
                    <a:latin typeface="Cambria Math" panose="02040503050406030204" pitchFamily="18" charset="0"/>
                  </a:rPr>
                  <a:t>$x\in\mathbb{R}$</a:t>
                </a:r>
                <a:r>
                  <a:rPr sz="2400" b="0">
                    <a:solidFill>
                      <a:srgbClr val="111827"/>
                    </a:solidFill>
                    <a:latin typeface="Arial"/>
                  </a:rPr>
                  <a:t>, </a:t>
                </a:r>
                <a:r>
                  <a:rPr lang="en-IN" sz="2400">
                    <a:solidFill>
                      <a:srgbClr val="111827"/>
                    </a:solidFill>
                    <a:latin typeface="Cambria Math" panose="02040503050406030204" pitchFamily="18" charset="0"/>
                  </a:rPr>
                  <a:t>$\left(\frac{dy}{dx}\right)_{x=0}=\left(\frac{dy}{dx}\right)_{x=1}=1$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$\frac{d^2y}{dx^2}&gt;0$</a:t>
                </a:r>
                <a:r>
                  <a:rPr sz="2400" b="0">
                    <a:solidFill>
                      <a:srgbClr val="111827"/>
                    </a:solidFill>
                    <a:latin typeface="Arial"/>
                  </a:rPr>
                  <a:t> for all </a:t>
                </a:r>
                <a:r>
                  <a:rPr lang="en-IN" sz="2400">
                    <a:solidFill>
                      <a:srgbClr val="111827"/>
                    </a:solidFill>
                    <a:latin typeface="Cambria Math" panose="02040503050406030204" pitchFamily="18" charset="0"/>
                  </a:rPr>
                  <a:t>$x\in\mathbb{R}$</a:t>
                </a:r>
                <a:r>
                  <a:rPr sz="2400" b="0">
                    <a:solidFill>
                      <a:srgbClr val="111827"/>
                    </a:solidFill>
                    <a:latin typeface="Arial"/>
                  </a:rPr>
                  <a:t>, </a:t>
                </a:r>
                <a:r>
                  <a:rPr lang="en-IN" sz="2400">
                    <a:solidFill>
                      <a:srgbClr val="111827"/>
                    </a:solidFill>
                    <a:latin typeface="Cambria Math" panose="02040503050406030204" pitchFamily="18" charset="0"/>
                  </a:rPr>
                  <a:t>$\left(\frac{dy}{dx}\right)_{x=0}=15$</a:t>
                </a:r>
                <a:r>
                  <a:rPr sz="2400" b="0">
                    <a:solidFill>
                      <a:srgbClr val="111827"/>
                    </a:solidFill>
                    <a:latin typeface="Arial"/>
                  </a:rPr>
                  <a:t>, </a:t>
                </a:r>
                <a:r>
                  <a:rPr lang="en-IN" sz="2400">
                    <a:solidFill>
                      <a:srgbClr val="111827"/>
                    </a:solidFill>
                    <a:latin typeface="Cambria Math" panose="02040503050406030204" pitchFamily="18" charset="0"/>
                  </a:rPr>
                  <a:t>$\left(\frac{dy}{dx}\right)_{x=1}=11$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$\frac{d^2y}{dx^2}\ge0$</a:t>
                </a:r>
                <a:r>
                  <a:rPr sz="2400" b="0">
                    <a:solidFill>
                      <a:srgbClr val="111827"/>
                    </a:solidFill>
                    <a:latin typeface="Arial"/>
                  </a:rPr>
                  <a:t> for all </a:t>
                </a:r>
                <a:r>
                  <a:rPr lang="en-IN" sz="2400">
                    <a:solidFill>
                      <a:srgbClr val="111827"/>
                    </a:solidFill>
                    <a:latin typeface="Cambria Math" panose="02040503050406030204" pitchFamily="18" charset="0"/>
                  </a:rPr>
                  <a:t>$x\in\mathbb{R}$</a:t>
                </a:r>
                <a:r>
                  <a:rPr sz="2400" b="0">
                    <a:solidFill>
                      <a:srgbClr val="111827"/>
                    </a:solidFill>
                    <a:latin typeface="Arial"/>
                  </a:rPr>
                  <a:t>, </a:t>
                </a:r>
                <a:r>
                  <a:rPr lang="en-IN" sz="2400">
                    <a:solidFill>
                      <a:srgbClr val="111827"/>
                    </a:solidFill>
                    <a:latin typeface="Cambria Math" panose="02040503050406030204" pitchFamily="18" charset="0"/>
                  </a:rPr>
                  <a:t>$f'(0)=\frac{1}{2017}$</a:t>
                </a:r>
                <a:r>
                  <a:rPr sz="2400" b="0">
                    <a:solidFill>
                      <a:srgbClr val="111827"/>
                    </a:solidFill>
                    <a:latin typeface="Arial"/>
                  </a:rPr>
                  <a:t> and </a:t>
                </a:r>
                <a:r>
                  <a:rPr lang="en-IN" sz="2400">
                    <a:solidFill>
                      <a:srgbClr val="111827"/>
                    </a:solidFill>
                    <a:latin typeface="Cambria Math" panose="02040503050406030204" pitchFamily="18" charset="0"/>
                  </a:rPr>
                  <a:t>$\lim_{x\to\infty}f(x)=2017$</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$\frac{d^2y}{dx^2}&gt;0$</a:t>
                </a:r>
                <a:r>
                  <a:rPr sz="2400" b="0">
                    <a:solidFill>
                      <a:srgbClr val="111827"/>
                    </a:solidFill>
                    <a:latin typeface="Arial"/>
                  </a:rPr>
                  <a:t> for all </a:t>
                </a:r>
                <a:r>
                  <a:rPr lang="en-IN" sz="2400">
                    <a:solidFill>
                      <a:srgbClr val="111827"/>
                    </a:solidFill>
                    <a:latin typeface="Cambria Math" panose="02040503050406030204" pitchFamily="18" charset="0"/>
                  </a:rPr>
                  <a:t>$x\in\mathbb{R}$</a:t>
                </a:r>
                <a:r>
                  <a:rPr sz="2400" b="0">
                    <a:solidFill>
                      <a:srgbClr val="111827"/>
                    </a:solidFill>
                    <a:latin typeface="Arial"/>
                  </a:rPr>
                  <a:t>, </a:t>
                </a:r>
                <a:r>
                  <a:rPr lang="en-IN" sz="2400">
                    <a:solidFill>
                      <a:srgbClr val="111827"/>
                    </a:solidFill>
                    <a:latin typeface="Cambria Math" panose="02040503050406030204" pitchFamily="18" charset="0"/>
                  </a:rPr>
                  <a:t>$\left(\frac{dy}{dx}\right)_{x=0}=1$</a:t>
                </a:r>
                <a:r>
                  <a:rPr sz="2400" b="0">
                    <a:solidFill>
                      <a:srgbClr val="111827"/>
                    </a:solidFill>
                    <a:latin typeface="Arial"/>
                  </a:rPr>
                  <a:t> and </a:t>
                </a:r>
                <a:r>
                  <a:rPr lang="en-IN" sz="2400">
                    <a:solidFill>
                      <a:srgbClr val="111827"/>
                    </a:solidFill>
                    <a:latin typeface="Cambria Math" panose="02040503050406030204" pitchFamily="18" charset="0"/>
                  </a:rPr>
                  <a:t>$f(x)&lt;1$</a:t>
                </a:r>
                <a:r>
                  <a:rPr sz="2400" b="0">
                    <a:solidFill>
                      <a:srgbClr val="111827"/>
                    </a:solidFill>
                    <a:latin typeface="Arial"/>
                  </a:rPr>
                  <a:t> for all </a:t>
                </a:r>
                <a:r>
                  <a:rPr lang="en-IN" sz="2400">
                    <a:solidFill>
                      <a:srgbClr val="111827"/>
                    </a:solidFill>
                    <a:latin typeface="Cambria Math" panose="02040503050406030204" pitchFamily="18" charset="0"/>
                  </a:rPr>
                  <a:t>$x&lt;0$</a:t>
                </a:r>
                <a:endParaRPr sz="2400">
                  <a:solidFill>
                    <a:srgbClr val="111827"/>
                  </a:solidFill>
                </a:endParaRPr>
              </a:p>
            </p:txBody>
          </p:sp>
        </mc:Fallback>
      </mc:AlternateContent>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One or more than one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Convexity: second derivative, monotonic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behaviour at infinity</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Choice>
        <mc:Fallback>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One or more than one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Convexity: second derivative, monotonic </a:t>
                </a:r>
                <a:r>
                  <a:rPr lang="en-IN" sz="2400">
                    <a:solidFill>
                      <a:srgbClr val="111827"/>
                    </a:solidFill>
                    <a:latin typeface="Cambria Math" panose="02040503050406030204" pitchFamily="18" charset="0"/>
                  </a:rPr>
                  <a:t>$f'$</a:t>
                </a:r>
                <a:r>
                  <a:rPr sz="2400" b="0">
                    <a:solidFill>
                      <a:srgbClr val="111827"/>
                    </a:solidFill>
                    <a:latin typeface="Arial"/>
                  </a:rPr>
                  <a:t> and behaviour at infinity</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&gt;</m:t>
                    </m:r>
                    <m:r>
                      <a:rPr lang="en-IN" sz="2400" i="1">
                        <a:solidFill>
                          <a:srgbClr val="78350F"/>
                        </a:solidFill>
                        <a:latin typeface="Cambria Math" panose="02040503050406030204" pitchFamily="18" charset="0"/>
                      </a:rPr>
                      <m:t>0</m:t>
                    </m:r>
                  </m:oMath>
                </a14:m>
                <a:r>
                  <a:rPr sz="2400" b="0">
                    <a:solidFill>
                      <a:srgbClr val="78350F"/>
                    </a:solidFill>
                    <a:latin typeface="Arial"/>
                  </a:rPr>
                  <a:t> makes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strictly increasing; a convex function with positive slope at </a:t>
                </a:r>
                <a14:m>
                  <m:oMath xmlns:m="http://schemas.openxmlformats.org/officeDocument/2006/math">
                    <m:r>
                      <a:rPr lang="en-IN" sz="2400" i="1">
                        <a:solidFill>
                          <a:srgbClr val="78350F"/>
                        </a:solidFill>
                        <a:latin typeface="Cambria Math" panose="02040503050406030204" pitchFamily="18" charset="0"/>
                      </a:rPr>
                      <m:t>0</m:t>
                    </m:r>
                  </m:oMath>
                </a14:m>
                <a:r>
                  <a:rPr sz="2400" b="0">
                    <a:solidFill>
                      <a:srgbClr val="78350F"/>
                    </a:solidFill>
                    <a:latin typeface="Arial"/>
                  </a:rPr>
                  <a:t> must grow without bound.</a:t>
                </a:r>
                <a:endParaRPr sz="2400">
                  <a:solidFill>
                    <a:srgbClr val="78350F"/>
                  </a:solidFill>
                </a:endParaRPr>
              </a:p>
            </p:txBody>
          </p:sp>
        </mc:Choice>
        <mc:Fallback>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$f''&gt;0$</a:t>
                </a:r>
                <a:r>
                  <a:rPr sz="2400" b="0">
                    <a:solidFill>
                      <a:srgbClr val="78350F"/>
                    </a:solidFill>
                    <a:latin typeface="Arial"/>
                  </a:rPr>
                  <a:t> makes </a:t>
                </a:r>
                <a:r>
                  <a:rPr lang="en-IN" sz="2400">
                    <a:solidFill>
                      <a:srgbClr val="78350F"/>
                    </a:solidFill>
                    <a:latin typeface="Cambria Math" panose="02040503050406030204" pitchFamily="18" charset="0"/>
                  </a:rPr>
                  <a:t>$f'$</a:t>
                </a:r>
                <a:r>
                  <a:rPr sz="2400" b="0">
                    <a:solidFill>
                      <a:srgbClr val="78350F"/>
                    </a:solidFill>
                    <a:latin typeface="Arial"/>
                  </a:rPr>
                  <a:t> strictly increasing; a convex function with positive slope at </a:t>
                </a:r>
                <a:r>
                  <a:rPr lang="en-IN" sz="2400">
                    <a:solidFill>
                      <a:srgbClr val="78350F"/>
                    </a:solidFill>
                    <a:latin typeface="Cambria Math" panose="02040503050406030204" pitchFamily="18" charset="0"/>
                  </a:rPr>
                  <a:t>$0$</a:t>
                </a:r>
                <a:r>
                  <a:rPr sz="2400" b="0">
                    <a:solidFill>
                      <a:srgbClr val="78350F"/>
                    </a:solidFill>
                    <a:latin typeface="Arial"/>
                  </a:rPr>
                  <a:t> must grow without bound.</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means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strictly increasing;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means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non-decreasing.</a:t>
                </a:r>
                <a:endParaRPr sz="2400">
                  <a:solidFill>
                    <a:srgbClr val="111827"/>
                  </a:solidFill>
                </a:endParaRPr>
              </a:p>
            </p:txBody>
          </p:sp>
        </mc:Choice>
        <mc:Fallback>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$\frac{d^2y}{dx^2}&gt;0$</a:t>
                </a:r>
                <a:r>
                  <a:rPr sz="2400" b="0">
                    <a:solidFill>
                      <a:srgbClr val="111827"/>
                    </a:solidFill>
                    <a:latin typeface="Arial"/>
                  </a:rPr>
                  <a:t> means </a:t>
                </a:r>
                <a:r>
                  <a:rPr lang="en-IN" sz="2400">
                    <a:solidFill>
                      <a:srgbClr val="111827"/>
                    </a:solidFill>
                    <a:latin typeface="Cambria Math" panose="02040503050406030204" pitchFamily="18" charset="0"/>
                  </a:rPr>
                  <a:t>$f'$</a:t>
                </a:r>
                <a:r>
                  <a:rPr sz="2400" b="0">
                    <a:solidFill>
                      <a:srgbClr val="111827"/>
                    </a:solidFill>
                    <a:latin typeface="Arial"/>
                  </a:rPr>
                  <a:t> is strictly increasing; </a:t>
                </a:r>
                <a:r>
                  <a:rPr lang="en-IN" sz="2400">
                    <a:solidFill>
                      <a:srgbClr val="111827"/>
                    </a:solidFill>
                    <a:latin typeface="Cambria Math" panose="02040503050406030204" pitchFamily="18" charset="0"/>
                  </a:rPr>
                  <a:t>$\frac{d^2y}{dx^2}\ge0$</a:t>
                </a:r>
                <a:r>
                  <a:rPr sz="2400" b="0">
                    <a:solidFill>
                      <a:srgbClr val="111827"/>
                    </a:solidFill>
                    <a:latin typeface="Arial"/>
                  </a:rPr>
                  <a:t> means </a:t>
                </a:r>
                <a:r>
                  <a:rPr lang="en-IN" sz="2400">
                    <a:solidFill>
                      <a:srgbClr val="111827"/>
                    </a:solidFill>
                    <a:latin typeface="Cambria Math" panose="02040503050406030204" pitchFamily="18" charset="0"/>
                  </a:rPr>
                  <a:t>$f'$</a:t>
                </a:r>
                <a:r>
                  <a:rPr sz="2400" b="0">
                    <a:solidFill>
                      <a:srgbClr val="111827"/>
                    </a:solidFill>
                    <a:latin typeface="Arial"/>
                  </a:rPr>
                  <a:t> is non-decreasing.</a:t>
                </a:r>
                <a:endParaRPr sz="2400">
                  <a:solidFill>
                    <a:srgbClr val="111827"/>
                  </a:solidFill>
                </a:endParaRPr>
              </a:p>
            </p:txBody>
          </p:sp>
        </mc:Fallback>
      </mc:AlternateContent>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strictly increasing gives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but the option needs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Such a function cannot exist.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&gt;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contradicts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increasing. Such a function cannot exist.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means the graph is concave up,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2017</m:t>
                        </m:r>
                      </m:den>
                    </m:f>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the mean value theorem,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2017</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2017</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contradicting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ub>
                    </m:sSub>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2017</m:t>
                    </m:r>
                  </m:oMath>
                </a14:m>
                <a:r>
                  <a:rPr sz="2400" b="0">
                    <a:solidFill>
                      <a:srgbClr val="111827"/>
                    </a:solidFill>
                    <a:latin typeface="Arial"/>
                  </a:rPr>
                  <a:t> (the graph would have to change concavity). Cannot exist.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a:t>
                </a:r>
                <a:r>
                  <a:rPr sz="2400" b="0">
                    <a:solidFill>
                      <a:srgbClr val="111827"/>
                    </a:solidFill>
                    <a:latin typeface="Arial"/>
                  </a:rPr>
                  <a:t> strictly increasing gives </a:t>
                </a:r>
                <a:r>
                  <a:rPr lang="en-IN" sz="2400">
                    <a:solidFill>
                      <a:srgbClr val="111827"/>
                    </a:solidFill>
                    <a:latin typeface="Cambria Math" panose="02040503050406030204" pitchFamily="18" charset="0"/>
                  </a:rPr>
                  <a:t>$f'(0)&lt;f'(1)$</a:t>
                </a:r>
                <a:r>
                  <a:rPr sz="2400" b="0">
                    <a:solidFill>
                      <a:srgbClr val="111827"/>
                    </a:solidFill>
                    <a:latin typeface="Arial"/>
                  </a:rPr>
                  <a:t>, but the option needs </a:t>
                </a:r>
                <a:r>
                  <a:rPr lang="en-IN" sz="2400">
                    <a:solidFill>
                      <a:srgbClr val="111827"/>
                    </a:solidFill>
                    <a:latin typeface="Cambria Math" panose="02040503050406030204" pitchFamily="18" charset="0"/>
                  </a:rPr>
                  <a:t>$f'(0)=f'(1)=1$</a:t>
                </a:r>
                <a:r>
                  <a:rPr sz="2400" b="0">
                    <a:solidFill>
                      <a:srgbClr val="111827"/>
                    </a:solidFill>
                    <a:latin typeface="Arial"/>
                  </a:rPr>
                  <a:t>. Such a function cannot exist.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$f'(0)=15&gt;f'(1)=11$</a:t>
                </a:r>
                <a:r>
                  <a:rPr sz="2400" b="0">
                    <a:solidFill>
                      <a:srgbClr val="111827"/>
                    </a:solidFill>
                    <a:latin typeface="Arial"/>
                  </a:rPr>
                  <a:t> contradicts </a:t>
                </a:r>
                <a:r>
                  <a:rPr lang="en-IN" sz="2400">
                    <a:solidFill>
                      <a:srgbClr val="111827"/>
                    </a:solidFill>
                    <a:latin typeface="Cambria Math" panose="02040503050406030204" pitchFamily="18" charset="0"/>
                  </a:rPr>
                  <a:t>$f'$</a:t>
                </a:r>
                <a:r>
                  <a:rPr sz="2400" b="0">
                    <a:solidFill>
                      <a:srgbClr val="111827"/>
                    </a:solidFill>
                    <a:latin typeface="Arial"/>
                  </a:rPr>
                  <a:t> increasing. Such a function cannot exist.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$f''\ge0$</a:t>
                </a:r>
                <a:r>
                  <a:rPr sz="2400" b="0">
                    <a:solidFill>
                      <a:srgbClr val="111827"/>
                    </a:solidFill>
                    <a:latin typeface="Arial"/>
                  </a:rPr>
                  <a:t> means the graph is concave up, and </a:t>
                </a:r>
                <a:r>
                  <a:rPr lang="en-IN" sz="2400">
                    <a:solidFill>
                      <a:srgbClr val="111827"/>
                    </a:solidFill>
                    <a:latin typeface="Cambria Math" panose="02040503050406030204" pitchFamily="18" charset="0"/>
                  </a:rPr>
                  <a:t>$f'(x)\ge f'(0)=\frac{1}{2017}&gt;0$</a:t>
                </a:r>
                <a:r>
                  <a:rPr sz="2400" b="0">
                    <a:solidFill>
                      <a:srgbClr val="111827"/>
                    </a:solidFill>
                    <a:latin typeface="Arial"/>
                  </a:rPr>
                  <a:t> for all </a:t>
                </a:r>
                <a:r>
                  <a:rPr lang="en-IN" sz="2400">
                    <a:solidFill>
                      <a:srgbClr val="111827"/>
                    </a:solidFill>
                    <a:latin typeface="Cambria Math" panose="02040503050406030204" pitchFamily="18" charset="0"/>
                  </a:rPr>
                  <a:t>$x\ge0$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the mean value theorem, for </a:t>
                </a:r>
                <a:r>
                  <a:rPr lang="en-IN" sz="2400">
                    <a:solidFill>
                      <a:srgbClr val="111827"/>
                    </a:solidFill>
                    <a:latin typeface="Cambria Math" panose="02040503050406030204" pitchFamily="18" charset="0"/>
                  </a:rPr>
                  <a:t>$x&gt;0$</a:t>
                </a:r>
                <a:r>
                  <a:rPr sz="2400" b="0">
                    <a:solidFill>
                      <a:srgbClr val="111827"/>
                    </a:solidFill>
                    <a:latin typeface="Arial"/>
                  </a:rPr>
                  <a:t>: </a:t>
                </a:r>
                <a:r>
                  <a:rPr lang="en-IN" sz="2400">
                    <a:solidFill>
                      <a:srgbClr val="111827"/>
                    </a:solidFill>
                    <a:latin typeface="Cambria Math" panose="02040503050406030204" pitchFamily="18" charset="0"/>
                  </a:rPr>
                  <a:t>$f(x)-f(0)=xf'(c)\ge\frac{x}{2017}$</a:t>
                </a:r>
                <a:r>
                  <a:rPr sz="2400" b="0">
                    <a:solidFill>
                      <a:srgbClr val="111827"/>
                    </a:solidFill>
                    <a:latin typeface="Arial"/>
                  </a:rPr>
                  <a:t>, so </a:t>
                </a:r>
                <a:r>
                  <a:rPr lang="en-IN" sz="2400">
                    <a:solidFill>
                      <a:srgbClr val="111827"/>
                    </a:solidFill>
                    <a:latin typeface="Cambria Math" panose="02040503050406030204" pitchFamily="18" charset="0"/>
                  </a:rPr>
                  <a:t>$f(x)\ge f(0)+\frac{x}{2017}\to\infty$</a:t>
                </a:r>
                <a:r>
                  <a:rPr sz="2400" b="0">
                    <a:solidFill>
                      <a:srgbClr val="111827"/>
                    </a:solidFill>
                    <a:latin typeface="Arial"/>
                  </a:rPr>
                  <a:t> as </a:t>
                </a:r>
                <a:r>
                  <a:rPr lang="en-IN" sz="2400">
                    <a:solidFill>
                      <a:srgbClr val="111827"/>
                    </a:solidFill>
                    <a:latin typeface="Cambria Math" panose="02040503050406030204" pitchFamily="18" charset="0"/>
                  </a:rPr>
                  <a:t>$x\to\infty$</a:t>
                </a:r>
                <a:r>
                  <a:rPr sz="2400" b="0">
                    <a:solidFill>
                      <a:srgbClr val="111827"/>
                    </a:solidFill>
                    <a:latin typeface="Arial"/>
                  </a:rPr>
                  <a:t>, contradicting </a:t>
                </a:r>
                <a:r>
                  <a:rPr lang="en-IN" sz="2400">
                    <a:solidFill>
                      <a:srgbClr val="111827"/>
                    </a:solidFill>
                    <a:latin typeface="Cambria Math" panose="02040503050406030204" pitchFamily="18" charset="0"/>
                  </a:rPr>
                  <a:t>$\lim_{x\to\infty}f(x)=2017$</a:t>
                </a:r>
                <a:r>
                  <a:rPr sz="2400" b="0">
                    <a:solidFill>
                      <a:srgbClr val="111827"/>
                    </a:solidFill>
                    <a:latin typeface="Arial"/>
                  </a:rPr>
                  <a:t> (the graph would have to change concavity). Cannot exist.</a:t>
                </a:r>
                <a:endParaRPr sz="2400">
                  <a:solidFill>
                    <a:srgbClr val="111827"/>
                  </a:solidFill>
                </a:endParaRPr>
              </a:p>
            </p:txBody>
          </p:sp>
        </mc:Fallback>
      </mc:AlternateContent>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 satisfies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Such a function exists.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functions that cannot exist are given by (A), (B) and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$f(x)=e^x$</a:t>
                </a:r>
                <a:r>
                  <a:rPr sz="2400" b="0">
                    <a:solidFill>
                      <a:srgbClr val="111827"/>
                    </a:solidFill>
                    <a:latin typeface="Arial"/>
                  </a:rPr>
                  <a:t> satisfies </a:t>
                </a:r>
                <a:r>
                  <a:rPr lang="en-IN" sz="2400">
                    <a:solidFill>
                      <a:srgbClr val="111827"/>
                    </a:solidFill>
                    <a:latin typeface="Cambria Math" panose="02040503050406030204" pitchFamily="18" charset="0"/>
                  </a:rPr>
                  <a:t>$f''(x)=e^x&gt;0$</a:t>
                </a:r>
                <a:r>
                  <a:rPr sz="2400" b="0">
                    <a:solidFill>
                      <a:srgbClr val="111827"/>
                    </a:solidFill>
                    <a:latin typeface="Arial"/>
                  </a:rPr>
                  <a:t>, </a:t>
                </a:r>
                <a:r>
                  <a:rPr lang="en-IN" sz="2400">
                    <a:solidFill>
                      <a:srgbClr val="111827"/>
                    </a:solidFill>
                    <a:latin typeface="Cambria Math" panose="02040503050406030204" pitchFamily="18" charset="0"/>
                  </a:rPr>
                  <a:t>$f'(0)=1$</a:t>
                </a:r>
                <a:r>
                  <a:rPr sz="2400" b="0">
                    <a:solidFill>
                      <a:srgbClr val="111827"/>
                    </a:solidFill>
                    <a:latin typeface="Arial"/>
                  </a:rPr>
                  <a:t> and </a:t>
                </a:r>
                <a:r>
                  <a:rPr lang="en-IN" sz="2400">
                    <a:solidFill>
                      <a:srgbClr val="111827"/>
                    </a:solidFill>
                    <a:latin typeface="Cambria Math" panose="02040503050406030204" pitchFamily="18" charset="0"/>
                  </a:rPr>
                  <a:t>$f(x)&lt;1$</a:t>
                </a:r>
                <a:r>
                  <a:rPr sz="2400" b="0">
                    <a:solidFill>
                      <a:srgbClr val="111827"/>
                    </a:solidFill>
                    <a:latin typeface="Arial"/>
                  </a:rPr>
                  <a:t> for </a:t>
                </a:r>
                <a:r>
                  <a:rPr lang="en-IN" sz="2400">
                    <a:solidFill>
                      <a:srgbClr val="111827"/>
                    </a:solidFill>
                    <a:latin typeface="Cambria Math" panose="02040503050406030204" pitchFamily="18" charset="0"/>
                  </a:rPr>
                  <a:t>$x&lt;0$</a:t>
                </a:r>
                <a:r>
                  <a:rPr sz="2400" b="0">
                    <a:solidFill>
                      <a:srgbClr val="111827"/>
                    </a:solidFill>
                    <a:latin typeface="Arial"/>
                  </a:rPr>
                  <a:t>. Such a function exists.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functions that cannot exist are given by (A), (B) and (C).</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B, C)</a:t>
            </a:r>
            <a:endParaRPr sz="2800">
              <a:solidFill>
                <a:srgbClr val="15803D"/>
              </a:solidFill>
            </a:endParaRP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 convex function lies on or above each tangent line, so slopes at two points and growth at infinity follow from tangent-line inequalities.</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everywhere, the tangent at any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lies strictly below the graph: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(B): use the tangents at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and at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Together these give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impossible for (A) (both equal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and for (B) (</a:t>
                </a:r>
                <a14:m>
                  <m:oMath xmlns:m="http://schemas.openxmlformats.org/officeDocument/2006/math">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11</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$f''&gt;0$</a:t>
                </a:r>
                <a:r>
                  <a:rPr sz="2400" b="0">
                    <a:solidFill>
                      <a:srgbClr val="111827"/>
                    </a:solidFill>
                    <a:latin typeface="Arial"/>
                  </a:rPr>
                  <a:t> everywhere, the tangent at any </a:t>
                </a:r>
                <a:r>
                  <a:rPr lang="en-IN" sz="2400">
                    <a:solidFill>
                      <a:srgbClr val="111827"/>
                    </a:solidFill>
                    <a:latin typeface="Cambria Math" panose="02040503050406030204" pitchFamily="18" charset="0"/>
                  </a:rPr>
                  <a:t>$a$</a:t>
                </a:r>
                <a:r>
                  <a:rPr sz="2400" b="0">
                    <a:solidFill>
                      <a:srgbClr val="111827"/>
                    </a:solidFill>
                    <a:latin typeface="Arial"/>
                  </a:rPr>
                  <a:t> lies strictly below the graph: </a:t>
                </a:r>
                <a:r>
                  <a:rPr lang="en-IN" sz="2400">
                    <a:solidFill>
                      <a:srgbClr val="111827"/>
                    </a:solidFill>
                    <a:latin typeface="Cambria Math" panose="02040503050406030204" pitchFamily="18" charset="0"/>
                  </a:rPr>
                  <a:t>$f(x)&gt;f(a)+f'(a)(x-a)$</a:t>
                </a:r>
                <a:r>
                  <a:rPr sz="2400" b="0">
                    <a:solidFill>
                      <a:srgbClr val="111827"/>
                    </a:solidFill>
                    <a:latin typeface="Arial"/>
                  </a:rPr>
                  <a:t> for </a:t>
                </a:r>
                <a:r>
                  <a:rPr lang="en-IN" sz="2400">
                    <a:solidFill>
                      <a:srgbClr val="111827"/>
                    </a:solidFill>
                    <a:latin typeface="Cambria Math" panose="02040503050406030204" pitchFamily="18" charset="0"/>
                  </a:rPr>
                  <a:t>$x\neq 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(B): use the tangents at </a:t>
                </a:r>
                <a:r>
                  <a:rPr lang="en-IN" sz="2400">
                    <a:solidFill>
                      <a:srgbClr val="111827"/>
                    </a:solidFill>
                    <a:latin typeface="Cambria Math" panose="02040503050406030204" pitchFamily="18" charset="0"/>
                  </a:rPr>
                  <a:t>$0$</a:t>
                </a:r>
                <a:r>
                  <a:rPr sz="2400" b="0">
                    <a:solidFill>
                      <a:srgbClr val="111827"/>
                    </a:solidFill>
                    <a:latin typeface="Arial"/>
                  </a:rPr>
                  <a:t> and at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$f(1)&gt;f(0)+f'(0)$</a:t>
                </a:r>
                <a:r>
                  <a:rPr sz="2400" b="0">
                    <a:solidFill>
                      <a:srgbClr val="111827"/>
                    </a:solidFill>
                    <a:latin typeface="Arial"/>
                  </a:rPr>
                  <a:t> and </a:t>
                </a:r>
                <a:r>
                  <a:rPr lang="en-IN" sz="2400">
                    <a:solidFill>
                      <a:srgbClr val="111827"/>
                    </a:solidFill>
                    <a:latin typeface="Cambria Math" panose="02040503050406030204" pitchFamily="18" charset="0"/>
                  </a:rPr>
                  <a:t>$f(0)&gt;f(1)-f'(1)$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Together these give </a:t>
                </a:r>
                <a:r>
                  <a:rPr lang="en-IN" sz="2400">
                    <a:solidFill>
                      <a:srgbClr val="111827"/>
                    </a:solidFill>
                    <a:latin typeface="Cambria Math" panose="02040503050406030204" pitchFamily="18" charset="0"/>
                  </a:rPr>
                  <a:t>$f'(0)&lt;f(1)-f(0)&lt;f'(1)$</a:t>
                </a:r>
                <a:r>
                  <a:rPr sz="2400" b="0">
                    <a:solidFill>
                      <a:srgbClr val="111827"/>
                    </a:solidFill>
                    <a:latin typeface="Arial"/>
                  </a:rPr>
                  <a:t>, so </a:t>
                </a:r>
                <a:r>
                  <a:rPr lang="en-IN" sz="2400">
                    <a:solidFill>
                      <a:srgbClr val="111827"/>
                    </a:solidFill>
                    <a:latin typeface="Cambria Math" panose="02040503050406030204" pitchFamily="18" charset="0"/>
                  </a:rPr>
                  <a:t>$f'(0)&lt;f'(1)$</a:t>
                </a:r>
                <a:r>
                  <a:rPr sz="2400" b="0">
                    <a:solidFill>
                      <a:srgbClr val="111827"/>
                    </a:solidFill>
                    <a:latin typeface="Arial"/>
                  </a:rPr>
                  <a:t>: impossible for (A) (both equal </a:t>
                </a:r>
                <a:r>
                  <a:rPr lang="en-IN" sz="2400">
                    <a:solidFill>
                      <a:srgbClr val="111827"/>
                    </a:solidFill>
                    <a:latin typeface="Cambria Math" panose="02040503050406030204" pitchFamily="18" charset="0"/>
                  </a:rPr>
                  <a:t>$1$</a:t>
                </a:r>
                <a:r>
                  <a:rPr sz="2400" b="0">
                    <a:solidFill>
                      <a:srgbClr val="111827"/>
                    </a:solidFill>
                    <a:latin typeface="Arial"/>
                  </a:rPr>
                  <a:t>) and for (B) (</a:t>
                </a:r>
                <a:r>
                  <a:rPr lang="en-IN" sz="2400">
                    <a:solidFill>
                      <a:srgbClr val="111827"/>
                    </a:solidFill>
                    <a:latin typeface="Cambria Math" panose="02040503050406030204" pitchFamily="18" charset="0"/>
                  </a:rPr>
                  <a:t>$15&gt;11$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2017</m:t>
                        </m:r>
                      </m:den>
                    </m:f>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which tends to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lim</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2017</m:t>
                    </m:r>
                  </m:oMath>
                </a14:m>
                <a:r>
                  <a:rPr sz="2400" b="0">
                    <a:solidFill>
                      <a:srgbClr val="111827"/>
                    </a:solidFill>
                    <a:latin typeface="Arial"/>
                  </a:rPr>
                  <a:t> is impossible.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 works. So (A), (B), (C) cannot exist.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$f''\ge0$</a:t>
                </a:r>
                <a:r>
                  <a:rPr sz="2400" b="0">
                    <a:solidFill>
                      <a:srgbClr val="111827"/>
                    </a:solidFill>
                    <a:latin typeface="Arial"/>
                  </a:rPr>
                  <a:t> gives </a:t>
                </a:r>
                <a:r>
                  <a:rPr lang="en-IN" sz="2400">
                    <a:solidFill>
                      <a:srgbClr val="111827"/>
                    </a:solidFill>
                    <a:latin typeface="Cambria Math" panose="02040503050406030204" pitchFamily="18" charset="0"/>
                  </a:rPr>
                  <a:t>$f(x)\ge f(0)+f'(0)x=f(0)+\frac{x}{2017}$</a:t>
                </a:r>
                <a:r>
                  <a:rPr sz="2400" b="0">
                    <a:solidFill>
                      <a:srgbClr val="111827"/>
                    </a:solidFill>
                    <a:latin typeface="Arial"/>
                  </a:rPr>
                  <a:t> for all </a:t>
                </a:r>
                <a:r>
                  <a:rPr lang="en-IN" sz="2400">
                    <a:solidFill>
                      <a:srgbClr val="111827"/>
                    </a:solidFill>
                    <a:latin typeface="Cambria Math" panose="02040503050406030204" pitchFamily="18" charset="0"/>
                  </a:rPr>
                  <a:t>$x$</a:t>
                </a:r>
                <a:r>
                  <a:rPr sz="2400" b="0">
                    <a:solidFill>
                      <a:srgbClr val="111827"/>
                    </a:solidFill>
                    <a:latin typeface="Arial"/>
                  </a:rPr>
                  <a:t>, which tends to </a:t>
                </a:r>
                <a:r>
                  <a:rPr lang="en-IN" sz="2400">
                    <a:solidFill>
                      <a:srgbClr val="111827"/>
                    </a:solidFill>
                    <a:latin typeface="Cambria Math" panose="02040503050406030204" pitchFamily="18" charset="0"/>
                  </a:rPr>
                  <a:t>$\infty$</a:t>
                </a:r>
                <a:r>
                  <a:rPr sz="2400" b="0">
                    <a:solidFill>
                      <a:srgbClr val="111827"/>
                    </a:solidFill>
                    <a:latin typeface="Arial"/>
                  </a:rPr>
                  <a:t> as </a:t>
                </a:r>
                <a:r>
                  <a:rPr lang="en-IN" sz="2400">
                    <a:solidFill>
                      <a:srgbClr val="111827"/>
                    </a:solidFill>
                    <a:latin typeface="Cambria Math" panose="02040503050406030204" pitchFamily="18" charset="0"/>
                  </a:rPr>
                  <a:t>$x\to\infty$</a:t>
                </a:r>
                <a:r>
                  <a:rPr sz="2400" b="0">
                    <a:solidFill>
                      <a:srgbClr val="111827"/>
                    </a:solidFill>
                    <a:latin typeface="Arial"/>
                  </a:rPr>
                  <a:t>, so </a:t>
                </a:r>
                <a:r>
                  <a:rPr lang="en-IN" sz="2400">
                    <a:solidFill>
                      <a:srgbClr val="111827"/>
                    </a:solidFill>
                    <a:latin typeface="Cambria Math" panose="02040503050406030204" pitchFamily="18" charset="0"/>
                  </a:rPr>
                  <a:t>$\lim f(x)=2017$</a:t>
                </a:r>
                <a:r>
                  <a:rPr sz="2400" b="0">
                    <a:solidFill>
                      <a:srgbClr val="111827"/>
                    </a:solidFill>
                    <a:latin typeface="Arial"/>
                  </a:rPr>
                  <a:t> is impossible.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$e^x$</a:t>
                </a:r>
                <a:r>
                  <a:rPr sz="2400" b="0">
                    <a:solidFill>
                      <a:srgbClr val="111827"/>
                    </a:solidFill>
                    <a:latin typeface="Arial"/>
                  </a:rPr>
                  <a:t> works. So (A), (B), (C) cannot exist.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B, C)</a:t>
            </a:r>
            <a:endParaRPr sz="2800">
              <a:solidFill>
                <a:srgbClr val="15803D"/>
              </a:solidFill>
            </a:endParaRP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on an interval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strictly increasing there: slopes strictly increase from left to right, so two points can never have equal (or decreasing) slopes.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convex function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lies on or above all its tangents: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convex function on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with a finite limit at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must be non-increasing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everywhere): a positive slope anywhere forces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show a function can exist, give an explicit example; </a:t>
                </a: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 is convex with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$f''&gt;0$</a:t>
                </a:r>
                <a:r>
                  <a:rPr sz="2400" b="0">
                    <a:solidFill>
                      <a:srgbClr val="111827"/>
                    </a:solidFill>
                    <a:latin typeface="Arial"/>
                  </a:rPr>
                  <a:t> on an interval </a:t>
                </a:r>
                <a:r>
                  <a:rPr lang="en-IN" sz="2400">
                    <a:solidFill>
                      <a:srgbClr val="111827"/>
                    </a:solidFill>
                    <a:latin typeface="Cambria Math" panose="02040503050406030204" pitchFamily="18" charset="0"/>
                  </a:rPr>
                  <a:t>$\iff$</a:t>
                </a:r>
                <a:r>
                  <a:rPr sz="2400" b="0">
                    <a:solidFill>
                      <a:srgbClr val="111827"/>
                    </a:solidFill>
                    <a:latin typeface="Arial"/>
                  </a:rPr>
                  <a:t> </a:t>
                </a:r>
                <a:r>
                  <a:rPr lang="en-IN" sz="2400">
                    <a:solidFill>
                      <a:srgbClr val="111827"/>
                    </a:solidFill>
                    <a:latin typeface="Cambria Math" panose="02040503050406030204" pitchFamily="18" charset="0"/>
                  </a:rPr>
                  <a:t>$f'$</a:t>
                </a:r>
                <a:r>
                  <a:rPr sz="2400" b="0">
                    <a:solidFill>
                      <a:srgbClr val="111827"/>
                    </a:solidFill>
                    <a:latin typeface="Arial"/>
                  </a:rPr>
                  <a:t> strictly increasing there: slopes strictly increase from left to right, so two points can never have equal (or decreasing) slopes.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convex function (</a:t>
                </a:r>
                <a:r>
                  <a:rPr lang="en-IN" sz="2400">
                    <a:solidFill>
                      <a:srgbClr val="111827"/>
                    </a:solidFill>
                    <a:latin typeface="Cambria Math" panose="02040503050406030204" pitchFamily="18" charset="0"/>
                  </a:rPr>
                  <a:t>$f''\ge0$</a:t>
                </a:r>
                <a:r>
                  <a:rPr sz="2400" b="0">
                    <a:solidFill>
                      <a:srgbClr val="111827"/>
                    </a:solidFill>
                    <a:latin typeface="Arial"/>
                  </a:rPr>
                  <a:t>) lies on or above all its tangents: </a:t>
                </a:r>
                <a:r>
                  <a:rPr lang="en-IN" sz="2400">
                    <a:solidFill>
                      <a:srgbClr val="111827"/>
                    </a:solidFill>
                    <a:latin typeface="Cambria Math" panose="02040503050406030204" pitchFamily="18" charset="0"/>
                  </a:rPr>
                  <a:t>$f(x)\ge f(a)+f'(a)(x-a)$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convex function on </a:t>
                </a:r>
                <a:r>
                  <a:rPr lang="en-IN" sz="2400">
                    <a:solidFill>
                      <a:srgbClr val="111827"/>
                    </a:solidFill>
                    <a:latin typeface="Cambria Math" panose="02040503050406030204" pitchFamily="18" charset="0"/>
                  </a:rPr>
                  <a:t>$\mathbb{R}$</a:t>
                </a:r>
                <a:r>
                  <a:rPr sz="2400" b="0">
                    <a:solidFill>
                      <a:srgbClr val="111827"/>
                    </a:solidFill>
                    <a:latin typeface="Arial"/>
                  </a:rPr>
                  <a:t> with a finite limit at </a:t>
                </a:r>
                <a:r>
                  <a:rPr lang="en-IN" sz="2400">
                    <a:solidFill>
                      <a:srgbClr val="111827"/>
                    </a:solidFill>
                    <a:latin typeface="Cambria Math" panose="02040503050406030204" pitchFamily="18" charset="0"/>
                  </a:rPr>
                  <a:t>$+\infty$</a:t>
                </a:r>
                <a:r>
                  <a:rPr sz="2400" b="0">
                    <a:solidFill>
                      <a:srgbClr val="111827"/>
                    </a:solidFill>
                    <a:latin typeface="Arial"/>
                  </a:rPr>
                  <a:t> must be non-increasing (</a:t>
                </a:r>
                <a:r>
                  <a:rPr lang="en-IN" sz="2400">
                    <a:solidFill>
                      <a:srgbClr val="111827"/>
                    </a:solidFill>
                    <a:latin typeface="Cambria Math" panose="02040503050406030204" pitchFamily="18" charset="0"/>
                  </a:rPr>
                  <a:t>$f'\le0$</a:t>
                </a:r>
                <a:r>
                  <a:rPr sz="2400" b="0">
                    <a:solidFill>
                      <a:srgbClr val="111827"/>
                    </a:solidFill>
                    <a:latin typeface="Arial"/>
                  </a:rPr>
                  <a:t> everywhere): a positive slope anywhere forces </a:t>
                </a:r>
                <a:r>
                  <a:rPr lang="en-IN" sz="2400">
                    <a:solidFill>
                      <a:srgbClr val="111827"/>
                    </a:solidFill>
                    <a:latin typeface="Cambria Math" panose="02040503050406030204" pitchFamily="18" charset="0"/>
                  </a:rPr>
                  <a:t>$f\to\infty$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show a function can exist, give an explicit example; </a:t>
                </a:r>
                <a:r>
                  <a:rPr lang="en-IN" sz="2400">
                    <a:solidFill>
                      <a:srgbClr val="111827"/>
                    </a:solidFill>
                    <a:latin typeface="Cambria Math" panose="02040503050406030204" pitchFamily="18" charset="0"/>
                  </a:rPr>
                  <a:t>$e^x$</a:t>
                </a:r>
                <a:r>
                  <a:rPr sz="2400" b="0">
                    <a:solidFill>
                      <a:srgbClr val="111827"/>
                    </a:solidFill>
                    <a:latin typeface="Arial"/>
                  </a:rPr>
                  <a:t> is convex with </a:t>
                </a:r>
                <a:r>
                  <a:rPr lang="en-IN" sz="2400">
                    <a:solidFill>
                      <a:srgbClr val="111827"/>
                    </a:solidFill>
                    <a:latin typeface="Cambria Math" panose="02040503050406030204" pitchFamily="18" charset="0"/>
                  </a:rPr>
                  <a:t>$f'(0)=1$</a:t>
                </a:r>
                <a:r>
                  <a:rPr sz="2400" b="0">
                    <a:solidFill>
                      <a:srgbClr val="111827"/>
                    </a:solidFill>
                    <a:latin typeface="Arial"/>
                  </a:rPr>
                  <a:t> and </a:t>
                </a:r>
                <a:r>
                  <a:rPr lang="en-IN" sz="2400">
                    <a:solidFill>
                      <a:srgbClr val="111827"/>
                    </a:solidFill>
                    <a:latin typeface="Cambria Math" panose="02040503050406030204" pitchFamily="18" charset="0"/>
                  </a:rPr>
                  <a:t>$f&lt;1$</a:t>
                </a:r>
                <a:r>
                  <a:rPr sz="2400" b="0">
                    <a:solidFill>
                      <a:srgbClr val="111827"/>
                    </a:solidFill>
                    <a:latin typeface="Arial"/>
                  </a:rPr>
                  <a:t> for </a:t>
                </a:r>
                <a:r>
                  <a:rPr lang="en-IN" sz="2400">
                    <a:solidFill>
                      <a:srgbClr val="111827"/>
                    </a:solidFill>
                    <a:latin typeface="Cambria Math" panose="02040503050406030204" pitchFamily="18" charset="0"/>
                  </a:rPr>
                  <a:t>$x&lt;0$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function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λ</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has a maximum and a minimum for:</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function </a:t>
                </a:r>
                <a:r>
                  <a:rPr lang="en-IN" sz="2400">
                    <a:solidFill>
                      <a:srgbClr val="111827"/>
                    </a:solidFill>
                    <a:latin typeface="Cambria Math" panose="02040503050406030204" pitchFamily="18" charset="0"/>
                  </a:rPr>
                  <a:t>$f(x)=2x^3-3(\lambda+2)x^2+2\lambda x+5$</a:t>
                </a:r>
                <a:r>
                  <a:rPr sz="2400" b="0">
                    <a:solidFill>
                      <a:srgbClr val="111827"/>
                    </a:solidFill>
                    <a:latin typeface="Arial"/>
                  </a:rPr>
                  <a:t> has a maximum and a minimum for:</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$\lambda\in(-4,\infty)$</a:t>
                </a:r>
                <a:r>
                  <a:rPr sz="2400" b="0">
                    <a:solidFill>
                      <a:srgbClr val="111827"/>
                    </a:solidFill>
                    <a:latin typeface="Arial"/>
                  </a:rPr>
                  <a:t>   (B) </a:t>
                </a:r>
                <a:r>
                  <a:rPr lang="en-IN" sz="2400">
                    <a:solidFill>
                      <a:srgbClr val="111827"/>
                    </a:solidFill>
                    <a:latin typeface="Cambria Math" panose="02040503050406030204" pitchFamily="18" charset="0"/>
                  </a:rPr>
                  <a:t>$\lambda\in(-\infty,0)$</a:t>
                </a:r>
                <a:r>
                  <a:rPr sz="2400" b="0">
                    <a:solidFill>
                      <a:srgbClr val="111827"/>
                    </a:solidFill>
                    <a:latin typeface="Arial"/>
                  </a:rPr>
                  <a:t>   (C) </a:t>
                </a:r>
                <a:r>
                  <a:rPr lang="en-IN" sz="2400">
                    <a:solidFill>
                      <a:srgbClr val="111827"/>
                    </a:solidFill>
                    <a:latin typeface="Cambria Math" panose="02040503050406030204" pitchFamily="18" charset="0"/>
                  </a:rPr>
                  <a:t>$\lambda\in(-3,3)$</a:t>
                </a:r>
                <a:r>
                  <a:rPr sz="2400" b="0">
                    <a:solidFill>
                      <a:srgbClr val="111827"/>
                    </a:solidFill>
                    <a:latin typeface="Arial"/>
                  </a:rPr>
                  <a:t>   (D) </a:t>
                </a:r>
                <a:r>
                  <a:rPr lang="en-IN" sz="2400">
                    <a:solidFill>
                      <a:srgbClr val="111827"/>
                    </a:solidFill>
                    <a:latin typeface="Cambria Math" panose="02040503050406030204" pitchFamily="18" charset="0"/>
                  </a:rPr>
                  <a:t>$\lambda\in(1,\infty)$</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580383"/>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One or more than one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Local maximum and minimum of a cubic: condition on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having two distinct real roots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mc:Choice>
        <mc:Fallback>
          <p:sp>
            <p:nvSpPr>
              <p:cNvPr id="5" name="Rectangle 4"/>
              <p:cNvSpPr/>
              <p:nvPr/>
            </p:nvSpPr>
            <p:spPr>
              <a:xfrm>
                <a:off x="731520" y="3580383"/>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One or more than one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Local maximum and minimum of a cubic: condition on </a:t>
                </a:r>
                <a:r>
                  <a:rPr lang="en-IN" sz="2400">
                    <a:solidFill>
                      <a:srgbClr val="111827"/>
                    </a:solidFill>
                    <a:latin typeface="Cambria Math" panose="02040503050406030204" pitchFamily="18" charset="0"/>
                  </a:rPr>
                  <a:t>$f'$</a:t>
                </a:r>
                <a:r>
                  <a:rPr sz="2400" b="0">
                    <a:solidFill>
                      <a:srgbClr val="111827"/>
                    </a:solidFill>
                    <a:latin typeface="Arial"/>
                  </a:rPr>
                  <a:t> having two distinct real roots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mc:Fallback>
      </mc:AlternateContent>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cubic has a local maximum and minimum iff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has two distinct real roots; here the discriminant </a:t>
                </a:r>
                <a14:m>
                  <m:oMath xmlns:m="http://schemas.openxmlformats.org/officeDocument/2006/math">
                    <m:r>
                      <a:rPr lang="en-IN" sz="2400" i="1">
                        <a:solidFill>
                          <a:srgbClr val="78350F"/>
                        </a:solidFill>
                        <a:latin typeface="Cambria Math" panose="02040503050406030204" pitchFamily="18" charset="0"/>
                      </a:rPr>
                      <m:t>12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sSup>
                      <m:e>
                        <m:r>
                          <a:rPr lang="en-IN" sz="2400" i="1">
                            <a:solidFill>
                              <a:srgbClr val="78350F"/>
                            </a:solidFill>
                            <a:latin typeface="Cambria Math" panose="02040503050406030204" pitchFamily="18" charset="0"/>
                          </a:rPr>
                          <m:t>λ</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8</m:t>
                    </m:r>
                    <m:r>
                      <a:rPr lang="en-IN" sz="2400" i="1">
                        <a:solidFill>
                          <a:srgbClr val="78350F"/>
                        </a:solidFill>
                        <a:latin typeface="Cambria Math" panose="02040503050406030204" pitchFamily="18" charset="0"/>
                      </a:rPr>
                      <m:t>λ</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12</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is positive for every real </a:t>
                </a:r>
                <a14:m>
                  <m:oMath xmlns:m="http://schemas.openxmlformats.org/officeDocument/2006/math">
                    <m:r>
                      <a:rPr lang="en-IN" sz="2400" i="1">
                        <a:solidFill>
                          <a:srgbClr val="78350F"/>
                        </a:solidFill>
                        <a:latin typeface="Cambria Math" panose="02040503050406030204" pitchFamily="18" charset="0"/>
                      </a:rPr>
                      <m:t>λ</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cubic has a local maximum and minimum iff </a:t>
                </a:r>
                <a:r>
                  <a:rPr lang="en-IN" sz="2400">
                    <a:solidFill>
                      <a:srgbClr val="78350F"/>
                    </a:solidFill>
                    <a:latin typeface="Cambria Math" panose="02040503050406030204" pitchFamily="18" charset="0"/>
                  </a:rPr>
                  <a:t>$f'$</a:t>
                </a:r>
                <a:r>
                  <a:rPr sz="2400" b="0">
                    <a:solidFill>
                      <a:srgbClr val="78350F"/>
                    </a:solidFill>
                    <a:latin typeface="Arial"/>
                  </a:rPr>
                  <a:t> has two distinct real roots; here the discriminant </a:t>
                </a:r>
                <a:r>
                  <a:rPr lang="en-IN" sz="2400">
                    <a:solidFill>
                      <a:srgbClr val="78350F"/>
                    </a:solidFill>
                    <a:latin typeface="Cambria Math" panose="02040503050406030204" pitchFamily="18" charset="0"/>
                  </a:rPr>
                  <a:t>$12(3\lambda^2+8\lambda+12)$</a:t>
                </a:r>
                <a:r>
                  <a:rPr sz="2400" b="0">
                    <a:solidFill>
                      <a:srgbClr val="78350F"/>
                    </a:solidFill>
                    <a:latin typeface="Arial"/>
                  </a:rPr>
                  <a:t> is positive for every real </a:t>
                </a:r>
                <a:r>
                  <a:rPr lang="en-IN" sz="2400">
                    <a:solidFill>
                      <a:srgbClr val="78350F"/>
                    </a:solidFill>
                    <a:latin typeface="Cambria Math" panose="02040503050406030204" pitchFamily="18" charset="0"/>
                  </a:rPr>
                  <a:t>$\lambda$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λ</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is a cubic with positive leading coefficient; it has a local maximum and a local minimum iff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has two distinct real roots.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must have two real roots.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discriminant </a:t>
                </a: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12</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λ</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e>
                    </m:d>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λ</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$f(x)=2x^3-3(\lambda+2)x^2+2\lambda x+5$</a:t>
                </a:r>
                <a:r>
                  <a:rPr sz="2400" b="0">
                    <a:solidFill>
                      <a:srgbClr val="111827"/>
                    </a:solidFill>
                    <a:latin typeface="Arial"/>
                  </a:rPr>
                  <a:t> is a cubic with positive leading coefficient; it has a local maximum and a local minimum iff </a:t>
                </a:r>
                <a:r>
                  <a:rPr lang="en-IN" sz="2400">
                    <a:solidFill>
                      <a:srgbClr val="111827"/>
                    </a:solidFill>
                    <a:latin typeface="Cambria Math" panose="02040503050406030204" pitchFamily="18" charset="0"/>
                  </a:rPr>
                  <a:t>$f'(x)=0$</a:t>
                </a:r>
                <a:r>
                  <a:rPr sz="2400" b="0">
                    <a:solidFill>
                      <a:srgbClr val="111827"/>
                    </a:solidFill>
                    <a:latin typeface="Arial"/>
                  </a:rPr>
                  <a:t> has two distinct real roots.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$f'(x)=6x^2-6(\lambda+2)x+2\lambda=0$</a:t>
                </a:r>
                <a:r>
                  <a:rPr sz="2400" b="0">
                    <a:solidFill>
                      <a:srgbClr val="111827"/>
                    </a:solidFill>
                    <a:latin typeface="Arial"/>
                  </a:rPr>
                  <a:t> must have two real roots.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discriminant </a:t>
                </a:r>
                <a:r>
                  <a:rPr lang="en-IN" sz="2400">
                    <a:solidFill>
                      <a:srgbClr val="111827"/>
                    </a:solidFill>
                    <a:latin typeface="Cambria Math" panose="02040503050406030204" pitchFamily="18" charset="0"/>
                  </a:rPr>
                  <a:t>$D&gt;0$</a:t>
                </a:r>
                <a:r>
                  <a:rPr sz="2400" b="0">
                    <a:solidFill>
                      <a:srgbClr val="111827"/>
                    </a:solidFill>
                    <a:latin typeface="Arial"/>
                  </a:rPr>
                  <a:t>: </a:t>
                </a:r>
                <a:r>
                  <a:rPr lang="en-IN" sz="2400">
                    <a:solidFill>
                      <a:srgbClr val="111827"/>
                    </a:solidFill>
                    <a:latin typeface="Cambria Math" panose="02040503050406030204" pitchFamily="18" charset="0"/>
                  </a:rPr>
                  <a:t>$36(\lambda+2)^2-48\lambda&gt;0$</a:t>
                </a:r>
                <a:r>
                  <a:rPr sz="2400" b="0">
                    <a:solidFill>
                      <a:srgbClr val="111827"/>
                    </a:solidFill>
                    <a:latin typeface="Arial"/>
                  </a:rPr>
                  <a:t>, i.e. </a:t>
                </a:r>
                <a:r>
                  <a:rPr lang="en-IN" sz="2400">
                    <a:solidFill>
                      <a:srgbClr val="111827"/>
                    </a:solidFill>
                    <a:latin typeface="Cambria Math" panose="02040503050406030204" pitchFamily="18" charset="0"/>
                  </a:rPr>
                  <a:t>$12\left(3\lambda^2+8\lambda+12\right)&gt;0\Rightarrow3\lambda^2+8\lambda+12&gt;0$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quadratic </a:t>
                </a:r>
                <a14:m>
                  <m:oMath xmlns:m="http://schemas.openxmlformats.org/officeDocument/2006/math">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λ</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has discriminant </a:t>
                </a:r>
                <a14:m>
                  <m:oMath xmlns:m="http://schemas.openxmlformats.org/officeDocument/2006/math">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and positive leading coefficient (equivalently </a:t>
                </a:r>
                <a14:m>
                  <m:oMath xmlns:m="http://schemas.openxmlformats.org/officeDocument/2006/math">
                    <m:r>
                      <a:rPr lang="en-IN" sz="2400" i="1">
                        <a:solidFill>
                          <a:srgbClr val="111827"/>
                        </a:solidFill>
                        <a:latin typeface="Cambria Math" panose="02040503050406030204" pitchFamily="18" charset="0"/>
                      </a:rPr>
                      <m:t>3</m:t>
                    </m:r>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it is positive for all </a:t>
                </a:r>
                <a14:m>
                  <m:oMath xmlns:m="http://schemas.openxmlformats.org/officeDocument/2006/math">
                    <m:r>
                      <a:rPr lang="en-IN" sz="2400" i="1">
                        <a:solidFill>
                          <a:srgbClr val="111827"/>
                        </a:solidFill>
                        <a:latin typeface="Cambria Math" panose="02040503050406030204" pitchFamily="18" charset="0"/>
                      </a:rPr>
                      <m:t>λ</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Each interval in (A), (B), (C), (D) is a subset of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so all four options are correct.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quadratic </a:t>
                </a:r>
                <a:r>
                  <a:rPr lang="en-IN" sz="2400">
                    <a:solidFill>
                      <a:srgbClr val="111827"/>
                    </a:solidFill>
                    <a:latin typeface="Cambria Math" panose="02040503050406030204" pitchFamily="18" charset="0"/>
                  </a:rPr>
                  <a:t>$3\lambda^2+8\lambda+12$</a:t>
                </a:r>
                <a:r>
                  <a:rPr sz="2400" b="0">
                    <a:solidFill>
                      <a:srgbClr val="111827"/>
                    </a:solidFill>
                    <a:latin typeface="Arial"/>
                  </a:rPr>
                  <a:t> has discriminant </a:t>
                </a:r>
                <a:r>
                  <a:rPr lang="en-IN" sz="2400">
                    <a:solidFill>
                      <a:srgbClr val="111827"/>
                    </a:solidFill>
                    <a:latin typeface="Cambria Math" panose="02040503050406030204" pitchFamily="18" charset="0"/>
                  </a:rPr>
                  <a:t>$64-144=-80&lt;0$</a:t>
                </a:r>
                <a:r>
                  <a:rPr sz="2400" b="0">
                    <a:solidFill>
                      <a:srgbClr val="111827"/>
                    </a:solidFill>
                    <a:latin typeface="Arial"/>
                  </a:rPr>
                  <a:t> and positive leading coefficient (equivalently </a:t>
                </a:r>
                <a:r>
                  <a:rPr lang="en-IN" sz="2400">
                    <a:solidFill>
                      <a:srgbClr val="111827"/>
                    </a:solidFill>
                    <a:latin typeface="Cambria Math" panose="02040503050406030204" pitchFamily="18" charset="0"/>
                  </a:rPr>
                  <a:t>$3\left(\lambda+\frac43\right)^2+\frac{20}{3}&gt;0$</a:t>
                </a:r>
                <a:r>
                  <a:rPr sz="2400" b="0">
                    <a:solidFill>
                      <a:srgbClr val="111827"/>
                    </a:solidFill>
                    <a:latin typeface="Arial"/>
                  </a:rPr>
                  <a:t>), so it is positive for all </a:t>
                </a:r>
                <a:r>
                  <a:rPr lang="en-IN" sz="2400">
                    <a:solidFill>
                      <a:srgbClr val="111827"/>
                    </a:solidFill>
                    <a:latin typeface="Cambria Math" panose="02040503050406030204" pitchFamily="18" charset="0"/>
                  </a:rPr>
                  <a:t>$\lambda$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$\Rightarrow\lambda\in\mathbb{R}$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Each interval in (A), (B), (C), (D) is a subset of </a:t>
                </a:r>
                <a:r>
                  <a:rPr lang="en-IN" sz="2400">
                    <a:solidFill>
                      <a:srgbClr val="111827"/>
                    </a:solidFill>
                    <a:latin typeface="Cambria Math" panose="02040503050406030204" pitchFamily="18" charset="0"/>
                  </a:rPr>
                  <a:t>$\mathbb{R}$</a:t>
                </a:r>
                <a:r>
                  <a:rPr sz="2400" b="0">
                    <a:solidFill>
                      <a:srgbClr val="111827"/>
                    </a:solidFill>
                    <a:latin typeface="Arial"/>
                  </a:rPr>
                  <a:t>, so all four options are correct.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B, C, D)</a:t>
            </a:r>
            <a:endParaRPr sz="2800">
              <a:solidFill>
                <a:srgbClr val="15803D"/>
              </a:solidFill>
            </a:endParaRP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d>
                      <m:dPr>
                        <m:begChr m:val="("/>
                        <m:sepChr m:val=""/>
                        <m:endChr m:val=")"/>
                        <m:grow/>
                        <m:ctrlPr>
                          <a:rPr lang="en-IN" sz="2400" i="1">
                            <a:solidFill>
                              <a:srgbClr val="78350F"/>
                            </a:solidFill>
                            <a:latin typeface="Cambria Math" panose="02040503050406030204" pitchFamily="18" charset="0"/>
                          </a:rPr>
                        </m:ctrlPr>
                      </m:dPr>
                      <m:e>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3</m:t>
                            </m:r>
                          </m:den>
                        </m:f>
                      </m:e>
                    </m:d>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10</m:t>
                        </m:r>
                      </m:num>
                      <m:den>
                        <m:r>
                          <a:rPr lang="en-IN" sz="2400" i="1">
                            <a:solidFill>
                              <a:srgbClr val="78350F"/>
                            </a:solidFill>
                            <a:latin typeface="Cambria Math" panose="02040503050406030204" pitchFamily="18" charset="0"/>
                          </a:rPr>
                          <m:t>3</m:t>
                        </m:r>
                      </m:den>
                    </m:f>
                  </m:oMath>
                </a14:m>
                <a:r>
                  <a:rPr sz="2400" b="0">
                    <a:solidFill>
                      <a:srgbClr val="78350F"/>
                    </a:solidFill>
                    <a:latin typeface="Arial"/>
                  </a:rPr>
                  <a:t> for every </a:t>
                </a:r>
                <a14:m>
                  <m:oMath xmlns:m="http://schemas.openxmlformats.org/officeDocument/2006/math">
                    <m:r>
                      <a:rPr lang="en-IN" sz="2400" i="1">
                        <a:solidFill>
                          <a:srgbClr val="78350F"/>
                        </a:solidFill>
                        <a:latin typeface="Cambria Math" panose="02040503050406030204" pitchFamily="18" charset="0"/>
                      </a:rPr>
                      <m:t>λ</m:t>
                    </m:r>
                  </m:oMath>
                </a14:m>
                <a:r>
                  <a:rPr sz="2400" b="0">
                    <a:solidFill>
                      <a:srgbClr val="78350F"/>
                    </a:solidFill>
                    <a:latin typeface="Arial"/>
                  </a:rPr>
                  <a:t>, so the upward parabola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always has two distinct real roots.</a:t>
                </a:r>
                <a:endParaRPr sz="2400">
                  <a:solidFill>
                    <a:srgbClr val="78350F"/>
                  </a:solidFill>
                </a:endParaRPr>
              </a:p>
            </p:txBody>
          </p:sp>
        </mc:Choice>
        <mc:Fallback>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lang="en-IN" sz="2400">
                    <a:solidFill>
                      <a:srgbClr val="78350F"/>
                    </a:solidFill>
                    <a:latin typeface="Cambria Math" panose="02040503050406030204" pitchFamily="18" charset="0"/>
                  </a:rPr>
                  <a:t>$f'\left(\frac13\right)=-\frac{10}{3}$</a:t>
                </a:r>
                <a:r>
                  <a:rPr sz="2400" b="0">
                    <a:solidFill>
                      <a:srgbClr val="78350F"/>
                    </a:solidFill>
                    <a:latin typeface="Arial"/>
                  </a:rPr>
                  <a:t> for every </a:t>
                </a:r>
                <a:r>
                  <a:rPr lang="en-IN" sz="2400">
                    <a:solidFill>
                      <a:srgbClr val="78350F"/>
                    </a:solidFill>
                    <a:latin typeface="Cambria Math" panose="02040503050406030204" pitchFamily="18" charset="0"/>
                  </a:rPr>
                  <a:t>$\lambda$</a:t>
                </a:r>
                <a:r>
                  <a:rPr sz="2400" b="0">
                    <a:solidFill>
                      <a:srgbClr val="78350F"/>
                    </a:solidFill>
                    <a:latin typeface="Arial"/>
                  </a:rPr>
                  <a:t>, so the upward parabola </a:t>
                </a:r>
                <a:r>
                  <a:rPr lang="en-IN" sz="2400">
                    <a:solidFill>
                      <a:srgbClr val="78350F"/>
                    </a:solidFill>
                    <a:latin typeface="Cambria Math" panose="02040503050406030204" pitchFamily="18" charset="0"/>
                  </a:rPr>
                  <a:t>$f'$</a:t>
                </a:r>
                <a:r>
                  <a:rPr sz="2400" b="0">
                    <a:solidFill>
                      <a:srgbClr val="78350F"/>
                    </a:solidFill>
                    <a:latin typeface="Arial"/>
                  </a:rPr>
                  <a:t> always has two distinct real roots.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λ</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independent of </a:t>
                </a:r>
                <a14:m>
                  <m:oMath xmlns:m="http://schemas.openxmlformats.org/officeDocument/2006/math">
                    <m:r>
                      <a:rPr lang="en-IN" sz="2400" i="1">
                        <a:solidFill>
                          <a:srgbClr val="111827"/>
                        </a:solidFill>
                        <a:latin typeface="Cambria Math" panose="02040503050406030204" pitchFamily="18" charset="0"/>
                      </a:rPr>
                      <m:t>λ</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leading coefficient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is positive, 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while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$f'(x)=6x^2-6(\lambda+2)x+2\lambda$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$x=\frac13$</a:t>
                </a:r>
                <a:r>
                  <a:rPr sz="2400" b="0">
                    <a:solidFill>
                      <a:srgbClr val="111827"/>
                    </a:solidFill>
                    <a:latin typeface="Arial"/>
                  </a:rPr>
                  <a:t>: </a:t>
                </a:r>
                <a:r>
                  <a:rPr lang="en-IN" sz="2400">
                    <a:solidFill>
                      <a:srgbClr val="111827"/>
                    </a:solidFill>
                    <a:latin typeface="Cambria Math" panose="02040503050406030204" pitchFamily="18" charset="0"/>
                  </a:rPr>
                  <a:t>$f'\left(\frac13\right)=\frac23-2(\lambda+2)+2\lambda=-\frac{10}{3}$</a:t>
                </a:r>
                <a:r>
                  <a:rPr sz="2400" b="0">
                    <a:solidFill>
                      <a:srgbClr val="111827"/>
                    </a:solidFill>
                    <a:latin typeface="Arial"/>
                  </a:rPr>
                  <a:t>, independent of </a:t>
                </a:r>
                <a:r>
                  <a:rPr lang="en-IN" sz="2400">
                    <a:solidFill>
                      <a:srgbClr val="111827"/>
                    </a:solidFill>
                    <a:latin typeface="Cambria Math" panose="02040503050406030204" pitchFamily="18" charset="0"/>
                  </a:rPr>
                  <a:t>$\lambda$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leading coefficient </a:t>
                </a:r>
                <a:r>
                  <a:rPr lang="en-IN" sz="2400">
                    <a:solidFill>
                      <a:srgbClr val="111827"/>
                    </a:solidFill>
                    <a:latin typeface="Cambria Math" panose="02040503050406030204" pitchFamily="18" charset="0"/>
                  </a:rPr>
                  <a:t>$6$</a:t>
                </a:r>
                <a:r>
                  <a:rPr sz="2400" b="0">
                    <a:solidFill>
                      <a:srgbClr val="111827"/>
                    </a:solidFill>
                    <a:latin typeface="Arial"/>
                  </a:rPr>
                  <a:t> is positive, so </a:t>
                </a:r>
                <a:r>
                  <a:rPr lang="en-IN" sz="2400">
                    <a:solidFill>
                      <a:srgbClr val="111827"/>
                    </a:solidFill>
                    <a:latin typeface="Cambria Math" panose="02040503050406030204" pitchFamily="18" charset="0"/>
                  </a:rPr>
                  <a:t>$f'(x)\to+\infty$</a:t>
                </a:r>
                <a:r>
                  <a:rPr sz="2400" b="0">
                    <a:solidFill>
                      <a:srgbClr val="111827"/>
                    </a:solidFill>
                    <a:latin typeface="Arial"/>
                  </a:rPr>
                  <a:t> as </a:t>
                </a:r>
                <a:r>
                  <a:rPr lang="en-IN" sz="2400">
                    <a:solidFill>
                      <a:srgbClr val="111827"/>
                    </a:solidFill>
                    <a:latin typeface="Cambria Math" panose="02040503050406030204" pitchFamily="18" charset="0"/>
                  </a:rPr>
                  <a:t>$x\to\pm\infty$</a:t>
                </a:r>
                <a:r>
                  <a:rPr sz="2400" b="0">
                    <a:solidFill>
                      <a:srgbClr val="111827"/>
                    </a:solidFill>
                    <a:latin typeface="Arial"/>
                  </a:rPr>
                  <a:t> while </a:t>
                </a:r>
                <a:r>
                  <a:rPr lang="en-IN" sz="2400">
                    <a:solidFill>
                      <a:srgbClr val="111827"/>
                    </a:solidFill>
                    <a:latin typeface="Cambria Math" panose="02040503050406030204" pitchFamily="18" charset="0"/>
                  </a:rPr>
                  <a:t>$f'\left(\frac13\right)&lt;0$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the intermediate value theorem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has a root in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 and another in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e>
                    </m:d>
                  </m:oMath>
                </a14:m>
                <a:r>
                  <a:rPr sz="2400" b="0">
                    <a:solidFill>
                      <a:srgbClr val="111827"/>
                    </a:solidFill>
                    <a:latin typeface="Arial"/>
                  </a:rPr>
                  <a:t>: two distinct real roots for every real </a:t>
                </a:r>
                <a14:m>
                  <m:oMath xmlns:m="http://schemas.openxmlformats.org/officeDocument/2006/math">
                    <m:r>
                      <a:rPr lang="en-IN" sz="2400" i="1">
                        <a:solidFill>
                          <a:srgbClr val="111827"/>
                        </a:solidFill>
                        <a:latin typeface="Cambria Math" panose="02040503050406030204" pitchFamily="18" charset="0"/>
                      </a:rPr>
                      <m:t>λ</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changes sign at each, so there is always one local maximum and one local minimum;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and all of (A)-(D) are correct.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the intermediate value theorem </a:t>
                </a:r>
                <a:r>
                  <a:rPr lang="en-IN" sz="2400">
                    <a:solidFill>
                      <a:srgbClr val="111827"/>
                    </a:solidFill>
                    <a:latin typeface="Cambria Math" panose="02040503050406030204" pitchFamily="18" charset="0"/>
                  </a:rPr>
                  <a:t>$f'$</a:t>
                </a:r>
                <a:r>
                  <a:rPr sz="2400" b="0">
                    <a:solidFill>
                      <a:srgbClr val="111827"/>
                    </a:solidFill>
                    <a:latin typeface="Arial"/>
                  </a:rPr>
                  <a:t> has a root in </a:t>
                </a:r>
                <a:r>
                  <a:rPr lang="en-IN" sz="2400">
                    <a:solidFill>
                      <a:srgbClr val="111827"/>
                    </a:solidFill>
                    <a:latin typeface="Cambria Math" panose="02040503050406030204" pitchFamily="18" charset="0"/>
                  </a:rPr>
                  <a:t>$\left(-\infty,\frac13\right)$</a:t>
                </a:r>
                <a:r>
                  <a:rPr sz="2400" b="0">
                    <a:solidFill>
                      <a:srgbClr val="111827"/>
                    </a:solidFill>
                    <a:latin typeface="Arial"/>
                  </a:rPr>
                  <a:t> and another in </a:t>
                </a:r>
                <a:r>
                  <a:rPr lang="en-IN" sz="2400">
                    <a:solidFill>
                      <a:srgbClr val="111827"/>
                    </a:solidFill>
                    <a:latin typeface="Cambria Math" panose="02040503050406030204" pitchFamily="18" charset="0"/>
                  </a:rPr>
                  <a:t>$\left(\frac13,\infty\right)$</a:t>
                </a:r>
                <a:r>
                  <a:rPr sz="2400" b="0">
                    <a:solidFill>
                      <a:srgbClr val="111827"/>
                    </a:solidFill>
                    <a:latin typeface="Arial"/>
                  </a:rPr>
                  <a:t>: two distinct real roots for every real </a:t>
                </a:r>
                <a:r>
                  <a:rPr lang="en-IN" sz="2400">
                    <a:solidFill>
                      <a:srgbClr val="111827"/>
                    </a:solidFill>
                    <a:latin typeface="Cambria Math" panose="02040503050406030204" pitchFamily="18" charset="0"/>
                  </a:rPr>
                  <a:t>$\lambda$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a:t>
                </a:r>
                <a:r>
                  <a:rPr sz="2400" b="0">
                    <a:solidFill>
                      <a:srgbClr val="111827"/>
                    </a:solidFill>
                    <a:latin typeface="Arial"/>
                  </a:rPr>
                  <a:t> changes sign at each, so there is always one local maximum and one local minimum; </a:t>
                </a:r>
                <a:r>
                  <a:rPr lang="en-IN" sz="2400">
                    <a:solidFill>
                      <a:srgbClr val="111827"/>
                    </a:solidFill>
                    <a:latin typeface="Cambria Math" panose="02040503050406030204" pitchFamily="18" charset="0"/>
                  </a:rPr>
                  <a:t>$\lambda\in\mathbb{R}$</a:t>
                </a:r>
                <a:r>
                  <a:rPr sz="2400" b="0">
                    <a:solidFill>
                      <a:srgbClr val="111827"/>
                    </a:solidFill>
                    <a:latin typeface="Arial"/>
                  </a:rPr>
                  <a:t> and all of (A)-(D) are correct.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B, C, D)</a:t>
            </a:r>
            <a:endParaRPr sz="2800">
              <a:solidFill>
                <a:srgbClr val="15803D"/>
              </a:solidFill>
            </a:endParaRP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cubic </a:t>
                </a:r>
                <a14:m>
                  <m:oMath xmlns:m="http://schemas.openxmlformats.org/officeDocument/2006/math">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 has both a local maximum and a local minimum iff </a:t>
                </a:r>
                <a14:m>
                  <m:oMath xmlns:m="http://schemas.openxmlformats.org/officeDocument/2006/math">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if </a:t>
                </a:r>
                <a14:m>
                  <m:oMath xmlns:m="http://schemas.openxmlformats.org/officeDocument/2006/math">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it is monotonic. Here </a:t>
                </a:r>
                <a14:m>
                  <m:oMath xmlns:m="http://schemas.openxmlformats.org/officeDocument/2006/math">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λ</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e>
                    </m:d>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positive leading coefficient the local maximum is at the smaller root of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the local minimum at the larger.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parameter condition reduces to an inequality true for all real values, every option that is a subset of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is correct; mark all of them.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prove an upward parabola always has two real roots, find a point where it is negative for every parameter value (here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gives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cubic </a:t>
                </a:r>
                <a:r>
                  <a:rPr lang="en-IN" sz="2400">
                    <a:solidFill>
                      <a:srgbClr val="111827"/>
                    </a:solidFill>
                    <a:latin typeface="Cambria Math" panose="02040503050406030204" pitchFamily="18" charset="0"/>
                  </a:rPr>
                  <a:t>$ax^3+bx^2+cx+d$</a:t>
                </a:r>
                <a:r>
                  <a:rPr sz="2400" b="0">
                    <a:solidFill>
                      <a:srgbClr val="111827"/>
                    </a:solidFill>
                    <a:latin typeface="Arial"/>
                  </a:rPr>
                  <a:t> has both a local maximum and a local minimum iff </a:t>
                </a:r>
                <a:r>
                  <a:rPr lang="en-IN" sz="2400">
                    <a:solidFill>
                      <a:srgbClr val="111827"/>
                    </a:solidFill>
                    <a:latin typeface="Cambria Math" panose="02040503050406030204" pitchFamily="18" charset="0"/>
                  </a:rPr>
                  <a:t>$b^2-3ac&gt;0$</a:t>
                </a:r>
                <a:r>
                  <a:rPr sz="2400" b="0">
                    <a:solidFill>
                      <a:srgbClr val="111827"/>
                    </a:solidFill>
                    <a:latin typeface="Arial"/>
                  </a:rPr>
                  <a:t>; if </a:t>
                </a:r>
                <a:r>
                  <a:rPr lang="en-IN" sz="2400">
                    <a:solidFill>
                      <a:srgbClr val="111827"/>
                    </a:solidFill>
                    <a:latin typeface="Cambria Math" panose="02040503050406030204" pitchFamily="18" charset="0"/>
                  </a:rPr>
                  <a:t>$b^2-3ac\le0$</a:t>
                </a:r>
                <a:r>
                  <a:rPr sz="2400" b="0">
                    <a:solidFill>
                      <a:srgbClr val="111827"/>
                    </a:solidFill>
                    <a:latin typeface="Arial"/>
                  </a:rPr>
                  <a:t> it is monotonic. Here </a:t>
                </a:r>
                <a:r>
                  <a:rPr lang="en-IN" sz="2400">
                    <a:solidFill>
                      <a:srgbClr val="111827"/>
                    </a:solidFill>
                    <a:latin typeface="Cambria Math" panose="02040503050406030204" pitchFamily="18" charset="0"/>
                  </a:rPr>
                  <a:t>$b^2-3ac=3\left(3\lambda^2+8\lambda+12\right)&gt;0$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positive leading coefficient the local maximum is at the smaller root of </a:t>
                </a:r>
                <a:r>
                  <a:rPr lang="en-IN" sz="2400">
                    <a:solidFill>
                      <a:srgbClr val="111827"/>
                    </a:solidFill>
                    <a:latin typeface="Cambria Math" panose="02040503050406030204" pitchFamily="18" charset="0"/>
                  </a:rPr>
                  <a:t>$f'$</a:t>
                </a:r>
                <a:r>
                  <a:rPr sz="2400" b="0">
                    <a:solidFill>
                      <a:srgbClr val="111827"/>
                    </a:solidFill>
                    <a:latin typeface="Arial"/>
                  </a:rPr>
                  <a:t> and the local minimum at the larger.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parameter condition reduces to an inequality true for all real values, every option that is a subset of </a:t>
                </a:r>
                <a:r>
                  <a:rPr lang="en-IN" sz="2400">
                    <a:solidFill>
                      <a:srgbClr val="111827"/>
                    </a:solidFill>
                    <a:latin typeface="Cambria Math" panose="02040503050406030204" pitchFamily="18" charset="0"/>
                  </a:rPr>
                  <a:t>$\mathbb{R}$</a:t>
                </a:r>
                <a:r>
                  <a:rPr sz="2400" b="0">
                    <a:solidFill>
                      <a:srgbClr val="111827"/>
                    </a:solidFill>
                    <a:latin typeface="Arial"/>
                  </a:rPr>
                  <a:t> is correct; mark all of them.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prove an upward parabola always has two real roots, find a point where it is negative for every parameter value (here </a:t>
                </a:r>
                <a:r>
                  <a:rPr lang="en-IN" sz="2400">
                    <a:solidFill>
                      <a:srgbClr val="111827"/>
                    </a:solidFill>
                    <a:latin typeface="Cambria Math" panose="02040503050406030204" pitchFamily="18" charset="0"/>
                  </a:rPr>
                  <a:t>$x=\frac13$</a:t>
                </a:r>
                <a:r>
                  <a:rPr sz="2400" b="0">
                    <a:solidFill>
                      <a:srgbClr val="111827"/>
                    </a:solidFill>
                    <a:latin typeface="Arial"/>
                  </a:rPr>
                  <a:t> gives </a:t>
                </a:r>
                <a:r>
                  <a:rPr lang="en-IN" sz="2400">
                    <a:solidFill>
                      <a:srgbClr val="111827"/>
                    </a:solidFill>
                    <a:latin typeface="Cambria Math" panose="02040503050406030204" pitchFamily="18" charset="0"/>
                  </a:rPr>
                  <a:t>$-\frac{10}{3}$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33501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be positive integers and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is a constant. Let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𝑚</m:t>
                        </m:r>
                      </m:sup>
                    </m:sSup>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then: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maximum when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den>
                    </m:f>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maximum where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(C) maximum value of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𝑚</m:t>
                            </m:r>
                          </m:sup>
                        </m:sSup>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𝑛</m:t>
                            </m:r>
                          </m:sup>
                        </m:sSup>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up>
                        </m:sSup>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up>
                        </m:sSup>
                      </m:den>
                    </m:f>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(D) maximum value of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up>
                        </m:sSup>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𝑚</m:t>
                            </m:r>
                          </m:sup>
                        </m:sSup>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𝑛</m:t>
                            </m:r>
                          </m:sup>
                        </m:sSup>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up>
                        </m:sSup>
                      </m:den>
                    </m:f>
                  </m:oMath>
                </a14:m>
                <a:endParaRPr sz="2400">
                  <a:solidFill>
                    <a:srgbClr val="111827"/>
                  </a:solidFill>
                </a:endParaRPr>
              </a:p>
            </p:txBody>
          </p:sp>
        </mc:Choice>
        <mc:Fallback>
          <p:sp>
            <p:nvSpPr>
              <p:cNvPr id="4" name="Rounded Rectangle 3"/>
              <p:cNvSpPr/>
              <p:nvPr/>
            </p:nvSpPr>
            <p:spPr>
              <a:xfrm>
                <a:off x="731520" y="1280160"/>
                <a:ext cx="10725912" cy="333501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$m$</a:t>
                </a:r>
                <a:r>
                  <a:rPr sz="2400" b="0">
                    <a:solidFill>
                      <a:srgbClr val="111827"/>
                    </a:solidFill>
                    <a:latin typeface="Arial"/>
                  </a:rPr>
                  <a:t> and </a:t>
                </a:r>
                <a:r>
                  <a:rPr lang="en-IN" sz="2400">
                    <a:solidFill>
                      <a:srgbClr val="111827"/>
                    </a:solidFill>
                    <a:latin typeface="Cambria Math" panose="02040503050406030204" pitchFamily="18" charset="0"/>
                  </a:rPr>
                  <a:t>$n$</a:t>
                </a:r>
                <a:r>
                  <a:rPr sz="2400" b="0">
                    <a:solidFill>
                      <a:srgbClr val="111827"/>
                    </a:solidFill>
                    <a:latin typeface="Arial"/>
                  </a:rPr>
                  <a:t> be positive integers and </a:t>
                </a:r>
                <a:r>
                  <a:rPr lang="en-IN" sz="2400">
                    <a:solidFill>
                      <a:srgbClr val="111827"/>
                    </a:solidFill>
                    <a:latin typeface="Cambria Math" panose="02040503050406030204" pitchFamily="18" charset="0"/>
                  </a:rPr>
                  <a:t>$x,y&gt;0$</a:t>
                </a:r>
                <a:r>
                  <a:rPr sz="2400" b="0">
                    <a:solidFill>
                      <a:srgbClr val="111827"/>
                    </a:solidFill>
                    <a:latin typeface="Arial"/>
                  </a:rPr>
                  <a:t> and </a:t>
                </a:r>
                <a:r>
                  <a:rPr lang="en-IN" sz="2400">
                    <a:solidFill>
                      <a:srgbClr val="111827"/>
                    </a:solidFill>
                    <a:latin typeface="Cambria Math" panose="02040503050406030204" pitchFamily="18" charset="0"/>
                  </a:rPr>
                  <a:t>$x+y=k$</a:t>
                </a:r>
                <a:r>
                  <a:rPr sz="2400" b="0">
                    <a:solidFill>
                      <a:srgbClr val="111827"/>
                    </a:solidFill>
                    <a:latin typeface="Arial"/>
                  </a:rPr>
                  <a:t>, where </a:t>
                </a:r>
                <a:r>
                  <a:rPr lang="en-IN" sz="2400">
                    <a:solidFill>
                      <a:srgbClr val="111827"/>
                    </a:solidFill>
                    <a:latin typeface="Cambria Math" panose="02040503050406030204" pitchFamily="18" charset="0"/>
                  </a:rPr>
                  <a:t>$k$</a:t>
                </a:r>
                <a:r>
                  <a:rPr sz="2400" b="0">
                    <a:solidFill>
                      <a:srgbClr val="111827"/>
                    </a:solidFill>
                    <a:latin typeface="Arial"/>
                  </a:rPr>
                  <a:t> is a constant. Let </a:t>
                </a:r>
                <a:r>
                  <a:rPr lang="en-IN" sz="2400">
                    <a:solidFill>
                      <a:srgbClr val="111827"/>
                    </a:solidFill>
                    <a:latin typeface="Cambria Math" panose="02040503050406030204" pitchFamily="18" charset="0"/>
                  </a:rPr>
                  <a:t>$f(x,y)=x^my^n$</a:t>
                </a:r>
                <a:r>
                  <a:rPr sz="2400" b="0">
                    <a:solidFill>
                      <a:srgbClr val="111827"/>
                    </a:solidFill>
                    <a:latin typeface="Arial"/>
                  </a:rPr>
                  <a:t>, then: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$f(x,y)$</a:t>
                </a:r>
                <a:r>
                  <a:rPr sz="2400" b="0">
                    <a:solidFill>
                      <a:srgbClr val="111827"/>
                    </a:solidFill>
                    <a:latin typeface="Arial"/>
                  </a:rPr>
                  <a:t> is maximum when </a:t>
                </a:r>
                <a:r>
                  <a:rPr lang="en-IN" sz="2400">
                    <a:solidFill>
                      <a:srgbClr val="111827"/>
                    </a:solidFill>
                    <a:latin typeface="Cambria Math" panose="02040503050406030204" pitchFamily="18" charset="0"/>
                  </a:rPr>
                  <a:t>$x=\frac{mk}{m+n}$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$f(x,y)$</a:t>
                </a:r>
                <a:r>
                  <a:rPr sz="2400" b="0">
                    <a:solidFill>
                      <a:srgbClr val="111827"/>
                    </a:solidFill>
                    <a:latin typeface="Arial"/>
                  </a:rPr>
                  <a:t> is maximum where </a:t>
                </a:r>
                <a:r>
                  <a:rPr lang="en-IN" sz="2400">
                    <a:solidFill>
                      <a:srgbClr val="111827"/>
                    </a:solidFill>
                    <a:latin typeface="Cambria Math" panose="02040503050406030204" pitchFamily="18" charset="0"/>
                  </a:rPr>
                  <a:t>$x=y$</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maximum value of </a:t>
                </a:r>
                <a:r>
                  <a:rPr lang="en-IN" sz="2400">
                    <a:solidFill>
                      <a:srgbClr val="111827"/>
                    </a:solidFill>
                    <a:latin typeface="Cambria Math" panose="02040503050406030204" pitchFamily="18" charset="0"/>
                  </a:rPr>
                  <a:t>$f(x,y)$</a:t>
                </a:r>
                <a:r>
                  <a:rPr sz="2400" b="0">
                    <a:solidFill>
                      <a:srgbClr val="111827"/>
                    </a:solidFill>
                    <a:latin typeface="Arial"/>
                  </a:rPr>
                  <a:t> is </a:t>
                </a:r>
                <a:r>
                  <a:rPr lang="en-IN" sz="2400">
                    <a:solidFill>
                      <a:srgbClr val="111827"/>
                    </a:solidFill>
                    <a:latin typeface="Cambria Math" panose="02040503050406030204" pitchFamily="18" charset="0"/>
                  </a:rPr>
                  <a:t>$\frac{m^mn^nk^{m+n}}{(m+n)^{m+n}}$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maximum value of </a:t>
                </a:r>
                <a:r>
                  <a:rPr lang="en-IN" sz="2400">
                    <a:solidFill>
                      <a:srgbClr val="111827"/>
                    </a:solidFill>
                    <a:latin typeface="Cambria Math" panose="02040503050406030204" pitchFamily="18" charset="0"/>
                  </a:rPr>
                  <a:t>$f(x,y)$</a:t>
                </a:r>
                <a:r>
                  <a:rPr sz="2400" b="0">
                    <a:solidFill>
                      <a:srgbClr val="111827"/>
                    </a:solidFill>
                    <a:latin typeface="Arial"/>
                  </a:rPr>
                  <a:t> is </a:t>
                </a:r>
                <a:r>
                  <a:rPr lang="en-IN" sz="2400">
                    <a:solidFill>
                      <a:srgbClr val="111827"/>
                    </a:solidFill>
                    <a:latin typeface="Cambria Math" panose="02040503050406030204" pitchFamily="18" charset="0"/>
                  </a:rPr>
                  <a:t>$\frac{k^{m+n}m^mn^n}{(m+n)^{m+n}}$</a:t>
                </a:r>
                <a:endParaRPr sz="2400">
                  <a:solidFill>
                    <a:srgbClr val="111827"/>
                  </a:solidFill>
                </a:endParaRPr>
              </a:p>
            </p:txBody>
          </p:sp>
        </mc:Fallback>
      </mc:AlternateContent>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One or more than one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Maxima and minima under a constraint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(weighted AM-GM / derivative)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Choice>
        <mc:Fallback>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One or more than one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Maxima and minima under a constraint </a:t>
                </a:r>
                <a:r>
                  <a:rPr lang="en-IN" sz="2400">
                    <a:solidFill>
                      <a:srgbClr val="111827"/>
                    </a:solidFill>
                    <a:latin typeface="Cambria Math" panose="02040503050406030204" pitchFamily="18" charset="0"/>
                  </a:rPr>
                  <a:t>$x+y=k$</a:t>
                </a:r>
                <a:r>
                  <a:rPr sz="2400" b="0">
                    <a:solidFill>
                      <a:srgbClr val="111827"/>
                    </a:solidFill>
                    <a:latin typeface="Arial"/>
                  </a:rPr>
                  <a:t> (weighted AM-GM / derivative)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365760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Eliminate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oMath>
                </a14:m>
                <a:r>
                  <a:rPr sz="2400" b="0">
                    <a:solidFill>
                      <a:srgbClr val="78350F"/>
                    </a:solidFill>
                    <a:latin typeface="Arial"/>
                  </a:rPr>
                  <a:t>;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factors as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𝑚</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𝑚</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which vanishes at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𝑚</m:t>
                        </m:r>
                        <m:r>
                          <a:rPr lang="en-IN" sz="2400" i="1">
                            <a:solidFill>
                              <a:srgbClr val="78350F"/>
                            </a:solidFill>
                            <a:latin typeface="Cambria Math" panose="02040503050406030204" pitchFamily="18" charset="0"/>
                          </a:rPr>
                          <m:t>𝑘</m:t>
                        </m:r>
                      </m:num>
                      <m:den>
                        <m:r>
                          <a:rPr lang="en-IN" sz="2400" i="1">
                            <a:solidFill>
                              <a:srgbClr val="78350F"/>
                            </a:solidFill>
                            <a:latin typeface="Cambria Math" panose="02040503050406030204" pitchFamily="18" charset="0"/>
                          </a:rPr>
                          <m:t>𝑚</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65760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Eliminate </a:t>
                </a:r>
                <a:r>
                  <a:rPr lang="en-IN" sz="2400">
                    <a:solidFill>
                      <a:srgbClr val="78350F"/>
                    </a:solidFill>
                    <a:latin typeface="Cambria Math" panose="02040503050406030204" pitchFamily="18" charset="0"/>
                  </a:rPr>
                  <a:t>$y=k-x$</a:t>
                </a:r>
                <a:r>
                  <a:rPr sz="2400" b="0">
                    <a:solidFill>
                      <a:srgbClr val="78350F"/>
                    </a:solidFill>
                    <a:latin typeface="Arial"/>
                  </a:rPr>
                  <a:t>; </a:t>
                </a:r>
                <a:r>
                  <a:rPr lang="en-IN" sz="2400">
                    <a:solidFill>
                      <a:srgbClr val="78350F"/>
                    </a:solidFill>
                    <a:latin typeface="Cambria Math" panose="02040503050406030204" pitchFamily="18" charset="0"/>
                  </a:rPr>
                  <a:t>$f'$</a:t>
                </a:r>
                <a:r>
                  <a:rPr sz="2400" b="0">
                    <a:solidFill>
                      <a:srgbClr val="78350F"/>
                    </a:solidFill>
                    <a:latin typeface="Arial"/>
                  </a:rPr>
                  <a:t> factors as </a:t>
                </a:r>
                <a:r>
                  <a:rPr lang="en-IN" sz="2400">
                    <a:solidFill>
                      <a:srgbClr val="78350F"/>
                    </a:solidFill>
                    <a:latin typeface="Cambria Math" panose="02040503050406030204" pitchFamily="18" charset="0"/>
                  </a:rPr>
                  <a:t>$x^{m-1}(k-x)^{n-1}[m(k-x)-nx]$</a:t>
                </a:r>
                <a:r>
                  <a:rPr sz="2400" b="0">
                    <a:solidFill>
                      <a:srgbClr val="78350F"/>
                    </a:solidFill>
                    <a:latin typeface="Arial"/>
                  </a:rPr>
                  <a:t>, which vanishes at </a:t>
                </a:r>
                <a:r>
                  <a:rPr lang="en-IN" sz="2400">
                    <a:solidFill>
                      <a:srgbClr val="78350F"/>
                    </a:solidFill>
                    <a:latin typeface="Cambria Math" panose="02040503050406030204" pitchFamily="18" charset="0"/>
                  </a:rPr>
                  <a:t>$x=\frac{mk}{m+n}$</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5013960"/>
                <a:ext cx="10725912" cy="166115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𝑚</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𝑘</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𝑚</m:t>
                        </m:r>
                      </m:sup>
                    </m:s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𝑥</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5013960"/>
                <a:ext cx="10725912" cy="166115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$x+y=k$</a:t>
                </a:r>
                <a:r>
                  <a:rPr sz="2400" b="0">
                    <a:solidFill>
                      <a:srgbClr val="111827"/>
                    </a:solidFill>
                    <a:latin typeface="Arial"/>
                  </a:rPr>
                  <a:t>, </a:t>
                </a:r>
                <a:r>
                  <a:rPr lang="en-IN" sz="2400">
                    <a:solidFill>
                      <a:srgbClr val="111827"/>
                    </a:solidFill>
                    <a:latin typeface="Cambria Math" panose="02040503050406030204" pitchFamily="18" charset="0"/>
                  </a:rPr>
                  <a:t>$f(x,y)=x^m(k-x)^n$</a:t>
                </a:r>
                <a:r>
                  <a:rPr sz="2400" b="0">
                    <a:solidFill>
                      <a:srgbClr val="111827"/>
                    </a:solidFill>
                    <a:latin typeface="Arial"/>
                  </a:rPr>
                  <a:t> for </a:t>
                </a:r>
                <a:r>
                  <a:rPr lang="en-IN" sz="2400">
                    <a:solidFill>
                      <a:srgbClr val="111827"/>
                    </a:solidFill>
                    <a:latin typeface="Cambria Math" panose="02040503050406030204" pitchFamily="18" charset="0"/>
                  </a:rPr>
                  <a:t>$0&lt;x&lt;k$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$f'(x)=mx^{m-1}(k-x)^n-x^mn(k-x)^{n-1}=x^{m-1}(k-x)^{n-1}\left[m(k-x)-nx\right]=0$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𝑥</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den>
                    </m:f>
                  </m:oMath>
                </a14:m>
                <a:r>
                  <a:rPr sz="2400" b="0">
                    <a:solidFill>
                      <a:srgbClr val="111827"/>
                    </a:solidFill>
                    <a:latin typeface="Arial"/>
                  </a:rPr>
                  <a:t> the bracket is positive and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den>
                    </m:f>
                  </m:oMath>
                </a14:m>
                <a:r>
                  <a:rPr sz="2400" b="0">
                    <a:solidFill>
                      <a:srgbClr val="111827"/>
                    </a:solidFill>
                    <a:latin typeface="Arial"/>
                  </a:rPr>
                  <a:t> it is negative, 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changes from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to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 maximum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den>
                    </m:f>
                  </m:oMath>
                </a14:m>
                <a:r>
                  <a:rPr sz="2400" b="0">
                    <a:solidFill>
                      <a:srgbClr val="111827"/>
                    </a:solidFill>
                    <a:latin typeface="Arial"/>
                  </a:rPr>
                  <a:t>. (A)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Maximum value </a:t>
                </a:r>
                <a14:m>
                  <m:oMath xmlns:m="http://schemas.openxmlformats.org/officeDocument/2006/math">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den>
                            </m:f>
                          </m:e>
                        </m:d>
                      </m:e>
                      <m:sup>
                        <m:r>
                          <a:rPr lang="en-IN" sz="2400" i="1">
                            <a:solidFill>
                              <a:srgbClr val="111827"/>
                            </a:solidFill>
                            <a:latin typeface="Cambria Math" panose="02040503050406030204" pitchFamily="18" charset="0"/>
                          </a:rPr>
                          <m:t>𝑚</m:t>
                        </m:r>
                      </m:sup>
                    </m:sSup>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den>
                            </m:f>
                          </m:e>
                        </m:d>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𝑚</m:t>
                            </m:r>
                          </m:sup>
                        </m:sSup>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𝑛</m:t>
                            </m:r>
                          </m:sup>
                        </m:sSup>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up>
                        </m:sSup>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Options (C) and (D) state this same value (only the order of the factors differs), so both are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is false in general: at the maximum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only when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As </a:t>
                </a:r>
                <a:r>
                  <a:rPr lang="en-IN" sz="2400">
                    <a:solidFill>
                      <a:srgbClr val="111827"/>
                    </a:solidFill>
                    <a:latin typeface="Cambria Math" panose="02040503050406030204" pitchFamily="18" charset="0"/>
                  </a:rPr>
                  <a:t>$x,k-x&gt;0$</a:t>
                </a:r>
                <a:r>
                  <a:rPr sz="2400" b="0">
                    <a:solidFill>
                      <a:srgbClr val="111827"/>
                    </a:solidFill>
                    <a:latin typeface="Arial"/>
                  </a:rPr>
                  <a:t>, </a:t>
                </a:r>
                <a:r>
                  <a:rPr lang="en-IN" sz="2400">
                    <a:solidFill>
                      <a:srgbClr val="111827"/>
                    </a:solidFill>
                    <a:latin typeface="Cambria Math" panose="02040503050406030204" pitchFamily="18" charset="0"/>
                  </a:rPr>
                  <a:t>$m(k-x)=nx$</a:t>
                </a:r>
                <a:r>
                  <a:rPr sz="2400" b="0">
                    <a:solidFill>
                      <a:srgbClr val="111827"/>
                    </a:solidFill>
                    <a:latin typeface="Arial"/>
                  </a:rPr>
                  <a:t>, so </a:t>
                </a:r>
                <a:r>
                  <a:rPr lang="en-IN" sz="2400">
                    <a:solidFill>
                      <a:srgbClr val="111827"/>
                    </a:solidFill>
                    <a:latin typeface="Cambria Math" panose="02040503050406030204" pitchFamily="18" charset="0"/>
                  </a:rPr>
                  <a:t>$x=\frac{mk}{m+n}$</a:t>
                </a:r>
                <a:r>
                  <a:rPr sz="2400" b="0">
                    <a:solidFill>
                      <a:srgbClr val="111827"/>
                    </a:solidFill>
                    <a:latin typeface="Arial"/>
                  </a:rPr>
                  <a:t> (and </a:t>
                </a:r>
                <a:r>
                  <a:rPr lang="en-IN" sz="2400">
                    <a:solidFill>
                      <a:srgbClr val="111827"/>
                    </a:solidFill>
                    <a:latin typeface="Cambria Math" panose="02040503050406030204" pitchFamily="18" charset="0"/>
                  </a:rPr>
                  <a:t>$y=\frac{nk}{m+n}$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$x&lt;\frac{mk}{m+n}$</a:t>
                </a:r>
                <a:r>
                  <a:rPr sz="2400" b="0">
                    <a:solidFill>
                      <a:srgbClr val="111827"/>
                    </a:solidFill>
                    <a:latin typeface="Arial"/>
                  </a:rPr>
                  <a:t> the bracket is positive and for </a:t>
                </a:r>
                <a:r>
                  <a:rPr lang="en-IN" sz="2400">
                    <a:solidFill>
                      <a:srgbClr val="111827"/>
                    </a:solidFill>
                    <a:latin typeface="Cambria Math" panose="02040503050406030204" pitchFamily="18" charset="0"/>
                  </a:rPr>
                  <a:t>$x&gt;\frac{mk}{m+n}$</a:t>
                </a:r>
                <a:r>
                  <a:rPr sz="2400" b="0">
                    <a:solidFill>
                      <a:srgbClr val="111827"/>
                    </a:solidFill>
                    <a:latin typeface="Arial"/>
                  </a:rPr>
                  <a:t> it is negative, so </a:t>
                </a:r>
                <a:r>
                  <a:rPr lang="en-IN" sz="2400">
                    <a:solidFill>
                      <a:srgbClr val="111827"/>
                    </a:solidFill>
                    <a:latin typeface="Cambria Math" panose="02040503050406030204" pitchFamily="18" charset="0"/>
                  </a:rPr>
                  <a:t>$f'$</a:t>
                </a:r>
                <a:r>
                  <a:rPr sz="2400" b="0">
                    <a:solidFill>
                      <a:srgbClr val="111827"/>
                    </a:solidFill>
                    <a:latin typeface="Arial"/>
                  </a:rPr>
                  <a:t> changes from </a:t>
                </a:r>
                <a:r>
                  <a:rPr lang="en-IN" sz="2400">
                    <a:solidFill>
                      <a:srgbClr val="111827"/>
                    </a:solidFill>
                    <a:latin typeface="Cambria Math" panose="02040503050406030204" pitchFamily="18" charset="0"/>
                  </a:rPr>
                  <a:t>$+$</a:t>
                </a:r>
                <a:r>
                  <a:rPr sz="2400" b="0">
                    <a:solidFill>
                      <a:srgbClr val="111827"/>
                    </a:solidFill>
                    <a:latin typeface="Arial"/>
                  </a:rPr>
                  <a:t> to </a:t>
                </a:r>
                <a:r>
                  <a:rPr lang="en-IN" sz="2400">
                    <a:solidFill>
                      <a:srgbClr val="111827"/>
                    </a:solidFill>
                    <a:latin typeface="Cambria Math" panose="02040503050406030204" pitchFamily="18" charset="0"/>
                  </a:rPr>
                  <a:t>$-$</a:t>
                </a:r>
                <a:r>
                  <a:rPr sz="2400" b="0">
                    <a:solidFill>
                      <a:srgbClr val="111827"/>
                    </a:solidFill>
                    <a:latin typeface="Arial"/>
                  </a:rPr>
                  <a:t>: a maximum at </a:t>
                </a:r>
                <a:r>
                  <a:rPr lang="en-IN" sz="2400">
                    <a:solidFill>
                      <a:srgbClr val="111827"/>
                    </a:solidFill>
                    <a:latin typeface="Cambria Math" panose="02040503050406030204" pitchFamily="18" charset="0"/>
                  </a:rPr>
                  <a:t>$x=\frac{mk}{m+n}$</a:t>
                </a:r>
                <a:r>
                  <a:rPr sz="2400" b="0">
                    <a:solidFill>
                      <a:srgbClr val="111827"/>
                    </a:solidFill>
                    <a:latin typeface="Arial"/>
                  </a:rPr>
                  <a:t>. (A)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Maximum value </a:t>
                </a:r>
                <a:r>
                  <a:rPr lang="en-IN" sz="2400">
                    <a:solidFill>
                      <a:srgbClr val="111827"/>
                    </a:solidFill>
                    <a:latin typeface="Cambria Math" panose="02040503050406030204" pitchFamily="18" charset="0"/>
                  </a:rPr>
                  <a:t>$=\left(\frac{mk}{m+n}\right)^m\left(\frac{nk}{m+n}\right)^n=\frac{m^mn^nk^{m+n}}{(m+n)^{m+n}}$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Options (C) and (D) state this same value (only the order of the factors differs), so both are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is false in general: at the maximum </a:t>
                </a:r>
                <a:r>
                  <a:rPr lang="en-IN" sz="2400">
                    <a:solidFill>
                      <a:srgbClr val="111827"/>
                    </a:solidFill>
                    <a:latin typeface="Cambria Math" panose="02040503050406030204" pitchFamily="18" charset="0"/>
                  </a:rPr>
                  <a:t>$x:y=m:n$</a:t>
                </a:r>
                <a:r>
                  <a:rPr sz="2400" b="0">
                    <a:solidFill>
                      <a:srgbClr val="111827"/>
                    </a:solidFill>
                    <a:latin typeface="Arial"/>
                  </a:rPr>
                  <a:t>, so </a:t>
                </a:r>
                <a:r>
                  <a:rPr lang="en-IN" sz="2400">
                    <a:solidFill>
                      <a:srgbClr val="111827"/>
                    </a:solidFill>
                    <a:latin typeface="Cambria Math" panose="02040503050406030204" pitchFamily="18" charset="0"/>
                  </a:rPr>
                  <a:t>$x=y$</a:t>
                </a:r>
                <a:r>
                  <a:rPr sz="2400" b="0">
                    <a:solidFill>
                      <a:srgbClr val="111827"/>
                    </a:solidFill>
                    <a:latin typeface="Arial"/>
                  </a:rPr>
                  <a:t> only when </a:t>
                </a:r>
                <a:r>
                  <a:rPr lang="en-IN" sz="2400">
                    <a:solidFill>
                      <a:srgbClr val="111827"/>
                    </a:solidFill>
                    <a:latin typeface="Cambria Math" panose="02040503050406030204" pitchFamily="18" charset="0"/>
                  </a:rPr>
                  <a:t>$m=n$</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Therefore the correct options are (A), (C) and (D).</a:t>
            </a:r>
            <a:endParaRPr sz="2400">
              <a:solidFill>
                <a:srgbClr val="111827"/>
              </a:solidFill>
            </a:endParaRPr>
          </a:p>
        </p:txBody>
      </p:sp>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C, D)</a:t>
            </a:r>
            <a:endParaRPr sz="2800">
              <a:solidFill>
                <a:srgbClr val="15803D"/>
              </a:solidFill>
            </a:endParaRP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Weighted AM-GM on </a:t>
                </a:r>
                <a14:m>
                  <m:oMath xmlns:m="http://schemas.openxmlformats.org/officeDocument/2006/math">
                    <m:r>
                      <a:rPr lang="en-IN" sz="2400" i="1">
                        <a:solidFill>
                          <a:srgbClr val="78350F"/>
                        </a:solidFill>
                        <a:latin typeface="Cambria Math" panose="02040503050406030204" pitchFamily="18" charset="0"/>
                      </a:rPr>
                      <m:t>𝑚</m:t>
                    </m:r>
                  </m:oMath>
                </a14:m>
                <a:r>
                  <a:rPr sz="2400" b="0">
                    <a:solidFill>
                      <a:srgbClr val="78350F"/>
                    </a:solidFill>
                    <a:latin typeface="Arial"/>
                  </a:rPr>
                  <a:t> copies of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𝑥</m:t>
                        </m:r>
                      </m:num>
                      <m:den>
                        <m:r>
                          <a:rPr lang="en-IN" sz="2400" i="1">
                            <a:solidFill>
                              <a:srgbClr val="78350F"/>
                            </a:solidFill>
                            <a:latin typeface="Cambria Math" panose="02040503050406030204" pitchFamily="18" charset="0"/>
                          </a:rPr>
                          <m:t>𝑚</m:t>
                        </m:r>
                      </m:den>
                    </m:f>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𝑛</m:t>
                    </m:r>
                  </m:oMath>
                </a14:m>
                <a:r>
                  <a:rPr sz="2400" b="0">
                    <a:solidFill>
                      <a:srgbClr val="78350F"/>
                    </a:solidFill>
                    <a:latin typeface="Arial"/>
                  </a:rPr>
                  <a:t> copies of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𝑦</m:t>
                        </m:r>
                      </m:num>
                      <m:den>
                        <m:r>
                          <a:rPr lang="en-IN" sz="2400" i="1">
                            <a:solidFill>
                              <a:srgbClr val="78350F"/>
                            </a:solidFill>
                            <a:latin typeface="Cambria Math" panose="02040503050406030204" pitchFamily="18" charset="0"/>
                          </a:rPr>
                          <m:t>𝑛</m:t>
                        </m:r>
                      </m:den>
                    </m:f>
                  </m:oMath>
                </a14:m>
                <a:r>
                  <a:rPr sz="2400" b="0">
                    <a:solidFill>
                      <a:srgbClr val="78350F"/>
                    </a:solidFill>
                    <a:latin typeface="Arial"/>
                  </a:rPr>
                  <a:t>, whose sum is the constant </a:t>
                </a:r>
                <a14:m>
                  <m:oMath xmlns:m="http://schemas.openxmlformats.org/officeDocument/2006/math">
                    <m:r>
                      <a:rPr lang="en-IN" sz="2400" i="1">
                        <a:solidFill>
                          <a:srgbClr val="78350F"/>
                        </a:solidFill>
                        <a:latin typeface="Cambria Math" panose="02040503050406030204" pitchFamily="18" charset="0"/>
                      </a:rPr>
                      <m:t>𝑘</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Weighted AM-GM on </a:t>
                </a:r>
                <a:r>
                  <a:rPr lang="en-IN" sz="2400">
                    <a:solidFill>
                      <a:srgbClr val="78350F"/>
                    </a:solidFill>
                    <a:latin typeface="Cambria Math" panose="02040503050406030204" pitchFamily="18" charset="0"/>
                  </a:rPr>
                  <a:t>$m$</a:t>
                </a:r>
                <a:r>
                  <a:rPr sz="2400" b="0">
                    <a:solidFill>
                      <a:srgbClr val="78350F"/>
                    </a:solidFill>
                    <a:latin typeface="Arial"/>
                  </a:rPr>
                  <a:t> copies of </a:t>
                </a:r>
                <a:r>
                  <a:rPr lang="en-IN" sz="2400">
                    <a:solidFill>
                      <a:srgbClr val="78350F"/>
                    </a:solidFill>
                    <a:latin typeface="Cambria Math" panose="02040503050406030204" pitchFamily="18" charset="0"/>
                  </a:rPr>
                  <a:t>$\frac xm$</a:t>
                </a:r>
                <a:r>
                  <a:rPr sz="2400" b="0">
                    <a:solidFill>
                      <a:srgbClr val="78350F"/>
                    </a:solidFill>
                    <a:latin typeface="Arial"/>
                  </a:rPr>
                  <a:t> and </a:t>
                </a:r>
                <a:r>
                  <a:rPr lang="en-IN" sz="2400">
                    <a:solidFill>
                      <a:srgbClr val="78350F"/>
                    </a:solidFill>
                    <a:latin typeface="Cambria Math" panose="02040503050406030204" pitchFamily="18" charset="0"/>
                  </a:rPr>
                  <a:t>$n$</a:t>
                </a:r>
                <a:r>
                  <a:rPr sz="2400" b="0">
                    <a:solidFill>
                      <a:srgbClr val="78350F"/>
                    </a:solidFill>
                    <a:latin typeface="Arial"/>
                  </a:rPr>
                  <a:t> copies of </a:t>
                </a:r>
                <a:r>
                  <a:rPr lang="en-IN" sz="2400">
                    <a:solidFill>
                      <a:srgbClr val="78350F"/>
                    </a:solidFill>
                    <a:latin typeface="Cambria Math" panose="02040503050406030204" pitchFamily="18" charset="0"/>
                  </a:rPr>
                  <a:t>$\frac yn$</a:t>
                </a:r>
                <a:r>
                  <a:rPr sz="2400" b="0">
                    <a:solidFill>
                      <a:srgbClr val="78350F"/>
                    </a:solidFill>
                    <a:latin typeface="Arial"/>
                  </a:rPr>
                  <a:t>, whose sum is the constant </a:t>
                </a:r>
                <a:r>
                  <a:rPr lang="en-IN" sz="2400">
                    <a:solidFill>
                      <a:srgbClr val="78350F"/>
                    </a:solidFill>
                    <a:latin typeface="Cambria Math" panose="02040503050406030204" pitchFamily="18" charset="0"/>
                  </a:rPr>
                  <a:t>$k$</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numbers each equal to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𝑚</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numbers each equal to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 their sum is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AM-GM: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𝑚</m:t>
                                </m:r>
                              </m:den>
                            </m:f>
                          </m:e>
                        </m:d>
                      </m:e>
                      <m:sup>
                        <m:r>
                          <a:rPr lang="en-IN" sz="2400" i="1">
                            <a:solidFill>
                              <a:srgbClr val="111827"/>
                            </a:solidFill>
                            <a:latin typeface="Cambria Math" panose="02040503050406030204" pitchFamily="18" charset="0"/>
                          </a:rPr>
                          <m:t>𝑚</m:t>
                        </m:r>
                      </m:sup>
                    </m:sSup>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𝑛</m:t>
                                </m:r>
                              </m:den>
                            </m:f>
                          </m:e>
                        </m:d>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den>
                            </m:f>
                          </m:e>
                        </m:d>
                      </m:e>
                      <m:sup>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den>
                            </m:f>
                          </m:e>
                        </m:d>
                      </m:e>
                      <m:sup>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Multiply by </a:t>
                </a:r>
                <a14:m>
                  <m:oMath xmlns:m="http://schemas.openxmlformats.org/officeDocument/2006/math">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𝑚</m:t>
                        </m:r>
                      </m:sup>
                    </m:sSup>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𝑚</m:t>
                        </m:r>
                      </m:sup>
                    </m:sSup>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𝑚</m:t>
                            </m:r>
                          </m:sup>
                        </m:sSup>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𝑛</m:t>
                            </m:r>
                          </m:sup>
                        </m:sSup>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up>
                        </m:sSup>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up>
                        </m:sSup>
                      </m:den>
                    </m:f>
                  </m:oMath>
                </a14:m>
                <a:r>
                  <a:rPr sz="2400" b="0">
                    <a:solidFill>
                      <a:srgbClr val="111827"/>
                    </a:solidFill>
                    <a:latin typeface="Arial"/>
                  </a:rPr>
                  <a:t>, which is (C) and (D).</a:t>
                </a:r>
                <a:endParaRPr sz="2400">
                  <a:solidFill>
                    <a:srgbClr val="111827"/>
                  </a:solidFill>
                </a:endParaRPr>
              </a:p>
            </p:txBody>
          </p:sp>
        </mc:Choice>
        <mc:Fallback>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a:t>
                </a:r>
                <a:r>
                  <a:rPr lang="en-IN" sz="2400">
                    <a:solidFill>
                      <a:srgbClr val="111827"/>
                    </a:solidFill>
                    <a:latin typeface="Cambria Math" panose="02040503050406030204" pitchFamily="18" charset="0"/>
                  </a:rPr>
                  <a:t>$m$</a:t>
                </a:r>
                <a:r>
                  <a:rPr sz="2400" b="0">
                    <a:solidFill>
                      <a:srgbClr val="111827"/>
                    </a:solidFill>
                    <a:latin typeface="Arial"/>
                  </a:rPr>
                  <a:t> numbers each equal to </a:t>
                </a:r>
                <a:r>
                  <a:rPr lang="en-IN" sz="2400">
                    <a:solidFill>
                      <a:srgbClr val="111827"/>
                    </a:solidFill>
                    <a:latin typeface="Cambria Math" panose="02040503050406030204" pitchFamily="18" charset="0"/>
                  </a:rPr>
                  <a:t>$\frac xm$</a:t>
                </a:r>
                <a:r>
                  <a:rPr sz="2400" b="0">
                    <a:solidFill>
                      <a:srgbClr val="111827"/>
                    </a:solidFill>
                    <a:latin typeface="Arial"/>
                  </a:rPr>
                  <a:t> and </a:t>
                </a:r>
                <a:r>
                  <a:rPr lang="en-IN" sz="2400">
                    <a:solidFill>
                      <a:srgbClr val="111827"/>
                    </a:solidFill>
                    <a:latin typeface="Cambria Math" panose="02040503050406030204" pitchFamily="18" charset="0"/>
                  </a:rPr>
                  <a:t>$n$</a:t>
                </a:r>
                <a:r>
                  <a:rPr sz="2400" b="0">
                    <a:solidFill>
                      <a:srgbClr val="111827"/>
                    </a:solidFill>
                    <a:latin typeface="Arial"/>
                  </a:rPr>
                  <a:t> numbers each equal to </a:t>
                </a:r>
                <a:r>
                  <a:rPr lang="en-IN" sz="2400">
                    <a:solidFill>
                      <a:srgbClr val="111827"/>
                    </a:solidFill>
                    <a:latin typeface="Cambria Math" panose="02040503050406030204" pitchFamily="18" charset="0"/>
                  </a:rPr>
                  <a:t>$\frac yn$</a:t>
                </a:r>
                <a:r>
                  <a:rPr sz="2400" b="0">
                    <a:solidFill>
                      <a:srgbClr val="111827"/>
                    </a:solidFill>
                    <a:latin typeface="Arial"/>
                  </a:rPr>
                  <a:t>; their sum is </a:t>
                </a:r>
                <a:r>
                  <a:rPr lang="en-IN" sz="2400">
                    <a:solidFill>
                      <a:srgbClr val="111827"/>
                    </a:solidFill>
                    <a:latin typeface="Cambria Math" panose="02040503050406030204" pitchFamily="18" charset="0"/>
                  </a:rPr>
                  <a:t>$x+y=k$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AM-GM: </a:t>
                </a:r>
                <a:r>
                  <a:rPr lang="en-IN" sz="2400">
                    <a:solidFill>
                      <a:srgbClr val="111827"/>
                    </a:solidFill>
                    <a:latin typeface="Cambria Math" panose="02040503050406030204" pitchFamily="18" charset="0"/>
                  </a:rPr>
                  <a:t>$\left(\frac xm\right)^m\left(\frac yn\right)^n\le\left(\frac{x+y}{m+n}\right)^{m+n}=\left(\frac{k}{m+n}\right)^{m+n}$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Multiply by </a:t>
                </a:r>
                <a:r>
                  <a:rPr lang="en-IN" sz="2400">
                    <a:solidFill>
                      <a:srgbClr val="111827"/>
                    </a:solidFill>
                    <a:latin typeface="Cambria Math" panose="02040503050406030204" pitchFamily="18" charset="0"/>
                  </a:rPr>
                  <a:t>$m^mn^n$</a:t>
                </a:r>
                <a:r>
                  <a:rPr sz="2400" b="0">
                    <a:solidFill>
                      <a:srgbClr val="111827"/>
                    </a:solidFill>
                    <a:latin typeface="Arial"/>
                  </a:rPr>
                  <a:t>: </a:t>
                </a:r>
                <a:r>
                  <a:rPr lang="en-IN" sz="2400">
                    <a:solidFill>
                      <a:srgbClr val="111827"/>
                    </a:solidFill>
                    <a:latin typeface="Cambria Math" panose="02040503050406030204" pitchFamily="18" charset="0"/>
                  </a:rPr>
                  <a:t>$x^my^n\le\frac{m^mn^nk^{m+n}}{(m+n)^{m+n}}$</a:t>
                </a:r>
                <a:r>
                  <a:rPr sz="2400" b="0">
                    <a:solidFill>
                      <a:srgbClr val="111827"/>
                    </a:solidFill>
                    <a:latin typeface="Arial"/>
                  </a:rPr>
                  <a:t>, which is (C) and (D).</a:t>
                </a:r>
                <a:endParaRPr sz="2400">
                  <a:solidFill>
                    <a:srgbClr val="111827"/>
                  </a:solidFill>
                </a:endParaRPr>
              </a:p>
            </p:txBody>
          </p:sp>
        </mc:Fallback>
      </mc:AlternateContent>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Equality holds iff all the numbers are equal: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𝑚</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den>
                    </m:f>
                  </m:oMath>
                </a14:m>
                <a:r>
                  <a:rPr sz="2400" b="0">
                    <a:solidFill>
                      <a:srgbClr val="111827"/>
                    </a:solidFill>
                    <a:latin typeface="Arial"/>
                  </a:rPr>
                  <a:t>: (A).</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would need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so (B) is not true in general. Answer (A, C, D).</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Equality holds iff all the numbers are equal: </a:t>
                </a:r>
                <a:r>
                  <a:rPr lang="en-IN" sz="2400">
                    <a:solidFill>
                      <a:srgbClr val="111827"/>
                    </a:solidFill>
                    <a:latin typeface="Cambria Math" panose="02040503050406030204" pitchFamily="18" charset="0"/>
                  </a:rPr>
                  <a:t>$\frac xm=\frac yn=\frac{k}{m+n}$</a:t>
                </a:r>
                <a:r>
                  <a:rPr sz="2400" b="0">
                    <a:solidFill>
                      <a:srgbClr val="111827"/>
                    </a:solidFill>
                    <a:latin typeface="Arial"/>
                  </a:rPr>
                  <a:t>, so </a:t>
                </a:r>
                <a:r>
                  <a:rPr lang="en-IN" sz="2400">
                    <a:solidFill>
                      <a:srgbClr val="111827"/>
                    </a:solidFill>
                    <a:latin typeface="Cambria Math" panose="02040503050406030204" pitchFamily="18" charset="0"/>
                  </a:rPr>
                  <a:t>$x=\frac{mk}{m+n}$</a:t>
                </a:r>
                <a:r>
                  <a:rPr sz="2400" b="0">
                    <a:solidFill>
                      <a:srgbClr val="111827"/>
                    </a:solidFill>
                    <a:latin typeface="Arial"/>
                  </a:rPr>
                  <a:t>: (A).</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$x=y$</a:t>
                </a:r>
                <a:r>
                  <a:rPr sz="2400" b="0">
                    <a:solidFill>
                      <a:srgbClr val="111827"/>
                    </a:solidFill>
                    <a:latin typeface="Arial"/>
                  </a:rPr>
                  <a:t> would need </a:t>
                </a:r>
                <a:r>
                  <a:rPr lang="en-IN" sz="2400">
                    <a:solidFill>
                      <a:srgbClr val="111827"/>
                    </a:solidFill>
                    <a:latin typeface="Cambria Math" panose="02040503050406030204" pitchFamily="18" charset="0"/>
                  </a:rPr>
                  <a:t>$m=n$</a:t>
                </a:r>
                <a:r>
                  <a:rPr sz="2400" b="0">
                    <a:solidFill>
                      <a:srgbClr val="111827"/>
                    </a:solidFill>
                    <a:latin typeface="Arial"/>
                  </a:rPr>
                  <a:t>, so (B) is not true in general. Answer (A, C, D).</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C, D)</a:t>
            </a:r>
            <a:endParaRPr sz="2800">
              <a:solidFill>
                <a:srgbClr val="15803D"/>
              </a:solidFill>
            </a:endParaRP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Weighted AM-GM: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𝑚</m:t>
                        </m:r>
                      </m:sup>
                    </m:sSup>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𝑚</m:t>
                            </m:r>
                          </m:sup>
                        </m:sSup>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𝑛</m:t>
                            </m:r>
                          </m:sup>
                        </m:sSup>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up>
                        </m:sSup>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up>
                        </m:sSup>
                      </m:den>
                    </m:f>
                  </m:oMath>
                </a14:m>
                <a:r>
                  <a:rPr sz="2400" b="0">
                    <a:solidFill>
                      <a:srgbClr val="111827"/>
                    </a:solidFill>
                    <a:latin typeface="Arial"/>
                  </a:rPr>
                  <a:t>, with equality iff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𝑚</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108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maximum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𝑚</m:t>
                        </m:r>
                      </m:sup>
                    </m:sSup>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under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occurs where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it is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only when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Derivative shortcut: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𝑚</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e>
                    </m:d>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compare option expressions term by term: two options may be the same value written in a different order, and then both are correct.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Weighted AM-GM: for </a:t>
                </a:r>
                <a:r>
                  <a:rPr lang="en-IN" sz="2400">
                    <a:solidFill>
                      <a:srgbClr val="111827"/>
                    </a:solidFill>
                    <a:latin typeface="Cambria Math" panose="02040503050406030204" pitchFamily="18" charset="0"/>
                  </a:rPr>
                  <a:t>$x,y&gt;0$</a:t>
                </a:r>
                <a:r>
                  <a:rPr sz="2400" b="0">
                    <a:solidFill>
                      <a:srgbClr val="111827"/>
                    </a:solidFill>
                    <a:latin typeface="Arial"/>
                  </a:rPr>
                  <a:t> with </a:t>
                </a:r>
                <a:r>
                  <a:rPr lang="en-IN" sz="2400">
                    <a:solidFill>
                      <a:srgbClr val="111827"/>
                    </a:solidFill>
                    <a:latin typeface="Cambria Math" panose="02040503050406030204" pitchFamily="18" charset="0"/>
                  </a:rPr>
                  <a:t>$x+y=k$</a:t>
                </a:r>
                <a:r>
                  <a:rPr sz="2400" b="0">
                    <a:solidFill>
                      <a:srgbClr val="111827"/>
                    </a:solidFill>
                    <a:latin typeface="Arial"/>
                  </a:rPr>
                  <a:t>, </a:t>
                </a:r>
                <a:r>
                  <a:rPr lang="en-IN" sz="2400">
                    <a:solidFill>
                      <a:srgbClr val="111827"/>
                    </a:solidFill>
                    <a:latin typeface="Cambria Math" panose="02040503050406030204" pitchFamily="18" charset="0"/>
                  </a:rPr>
                  <a:t>$x^my^n\le\frac{m^mn^nk^{m+n}}{(m+n)^{m+n}}$</a:t>
                </a:r>
                <a:r>
                  <a:rPr sz="2400" b="0">
                    <a:solidFill>
                      <a:srgbClr val="111827"/>
                    </a:solidFill>
                    <a:latin typeface="Arial"/>
                  </a:rPr>
                  <a:t>, with equality iff </a:t>
                </a:r>
                <a:r>
                  <a:rPr lang="en-IN" sz="2400">
                    <a:solidFill>
                      <a:srgbClr val="111827"/>
                    </a:solidFill>
                    <a:latin typeface="Cambria Math" panose="02040503050406030204" pitchFamily="18" charset="0"/>
                  </a:rPr>
                  <a:t>$\frac xm=\frac yn$</a:t>
                </a:r>
                <a:r>
                  <a:rPr sz="2400" b="0">
                    <a:solidFill>
                      <a:srgbClr val="111827"/>
                    </a:solidFill>
                    <a:latin typeface="Arial"/>
                  </a:rPr>
                  <a:t> (check: </a:t>
                </a:r>
                <a:r>
                  <a:rPr lang="en-IN" sz="2400">
                    <a:solidFill>
                      <a:srgbClr val="111827"/>
                    </a:solidFill>
                    <a:latin typeface="Cambria Math" panose="02040503050406030204" pitchFamily="18" charset="0"/>
                  </a:rPr>
                  <a:t>$m=3,n=2,k=5$</a:t>
                </a:r>
                <a:r>
                  <a:rPr sz="2400" b="0">
                    <a:solidFill>
                      <a:srgbClr val="111827"/>
                    </a:solidFill>
                    <a:latin typeface="Arial"/>
                  </a:rPr>
                  <a:t> gives </a:t>
                </a:r>
                <a:r>
                  <a:rPr lang="en-IN" sz="2400">
                    <a:solidFill>
                      <a:srgbClr val="111827"/>
                    </a:solidFill>
                    <a:latin typeface="Cambria Math" panose="02040503050406030204" pitchFamily="18" charset="0"/>
                  </a:rPr>
                  <a:t>$108$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maximum of </a:t>
                </a:r>
                <a:r>
                  <a:rPr lang="en-IN" sz="2400">
                    <a:solidFill>
                      <a:srgbClr val="111827"/>
                    </a:solidFill>
                    <a:latin typeface="Cambria Math" panose="02040503050406030204" pitchFamily="18" charset="0"/>
                  </a:rPr>
                  <a:t>$x^my^n$</a:t>
                </a:r>
                <a:r>
                  <a:rPr sz="2400" b="0">
                    <a:solidFill>
                      <a:srgbClr val="111827"/>
                    </a:solidFill>
                    <a:latin typeface="Arial"/>
                  </a:rPr>
                  <a:t> under </a:t>
                </a:r>
                <a:r>
                  <a:rPr lang="en-IN" sz="2400">
                    <a:solidFill>
                      <a:srgbClr val="111827"/>
                    </a:solidFill>
                    <a:latin typeface="Cambria Math" panose="02040503050406030204" pitchFamily="18" charset="0"/>
                  </a:rPr>
                  <a:t>$x+y=k$</a:t>
                </a:r>
                <a:r>
                  <a:rPr sz="2400" b="0">
                    <a:solidFill>
                      <a:srgbClr val="111827"/>
                    </a:solidFill>
                    <a:latin typeface="Arial"/>
                  </a:rPr>
                  <a:t> occurs where </a:t>
                </a:r>
                <a:r>
                  <a:rPr lang="en-IN" sz="2400">
                    <a:solidFill>
                      <a:srgbClr val="111827"/>
                    </a:solidFill>
                    <a:latin typeface="Cambria Math" panose="02040503050406030204" pitchFamily="18" charset="0"/>
                  </a:rPr>
                  <a:t>$x:y=m:n$</a:t>
                </a:r>
                <a:r>
                  <a:rPr sz="2400" b="0">
                    <a:solidFill>
                      <a:srgbClr val="111827"/>
                    </a:solidFill>
                    <a:latin typeface="Arial"/>
                  </a:rPr>
                  <a:t>; it is at </a:t>
                </a:r>
                <a:r>
                  <a:rPr lang="en-IN" sz="2400">
                    <a:solidFill>
                      <a:srgbClr val="111827"/>
                    </a:solidFill>
                    <a:latin typeface="Cambria Math" panose="02040503050406030204" pitchFamily="18" charset="0"/>
                  </a:rPr>
                  <a:t>$x=y$</a:t>
                </a:r>
                <a:r>
                  <a:rPr sz="2400" b="0">
                    <a:solidFill>
                      <a:srgbClr val="111827"/>
                    </a:solidFill>
                    <a:latin typeface="Arial"/>
                  </a:rPr>
                  <a:t> only when </a:t>
                </a:r>
                <a:r>
                  <a:rPr lang="en-IN" sz="2400">
                    <a:solidFill>
                      <a:srgbClr val="111827"/>
                    </a:solidFill>
                    <a:latin typeface="Cambria Math" panose="02040503050406030204" pitchFamily="18" charset="0"/>
                  </a:rPr>
                  <a:t>$m=n$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Derivative shortcut: </a:t>
                </a:r>
                <a:r>
                  <a:rPr lang="en-IN" sz="2400">
                    <a:solidFill>
                      <a:srgbClr val="111827"/>
                    </a:solidFill>
                    <a:latin typeface="Cambria Math" panose="02040503050406030204" pitchFamily="18" charset="0"/>
                  </a:rPr>
                  <a:t>$\frac{d}{dx}\left[x^m(k-x)^n\right]=x^{m-1}(k-x)^{n-1}\left[mk-(m+n)x\right]$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compare option expressions term by term: two options may be the same value written in a different order, and then both are correct.</a:t>
                </a:r>
                <a:endParaRPr sz="2400">
                  <a:solidFill>
                    <a:srgbClr val="111827"/>
                  </a:solidFill>
                </a:endParaRPr>
              </a:p>
            </p:txBody>
          </p:sp>
        </mc:Fallback>
      </mc:AlternateContent>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(where dash </a:t>
                </a:r>
                <a14:m>
                  <m:oMath xmlns:m="http://schemas.openxmlformats.org/officeDocument/2006/math">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denotes derivative)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(B)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2</m:t>
                        </m:r>
                      </m:sub>
                    </m:sSub>
                    <m:r>
                      <a:rPr lang="en-IN" sz="2400" i="1">
                        <a:solidFill>
                          <a:srgbClr val="111827"/>
                        </a:solidFill>
                        <a:latin typeface="Cambria Math" panose="02040503050406030204" pitchFamily="18" charset="0"/>
                      </a:rPr>
                      <m:t>𝑒</m:t>
                    </m:r>
                  </m:oMath>
                </a14:m>
                <a:r>
                  <a:rPr sz="2400" b="0">
                    <a:solidFill>
                      <a:srgbClr val="111827"/>
                    </a:solidFill>
                    <a:latin typeface="Arial"/>
                  </a:rPr>
                  <a:t>   (C)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(D)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2</m:t>
                        </m:r>
                      </m:sub>
                    </m:sSub>
                    <m:r>
                      <a:rPr lang="en-IN" sz="2400" i="1">
                        <a:solidFill>
                          <a:srgbClr val="111827"/>
                        </a:solidFill>
                        <a:latin typeface="Cambria Math" panose="02040503050406030204" pitchFamily="18" charset="0"/>
                      </a:rPr>
                      <m:t>𝑒</m:t>
                    </m:r>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$f(x)=2^x+x^3+1$</a:t>
                </a:r>
                <a:r>
                  <a:rPr sz="2400" b="0">
                    <a:solidFill>
                      <a:srgbClr val="111827"/>
                    </a:solidFill>
                    <a:latin typeface="Arial"/>
                  </a:rPr>
                  <a:t> and </a:t>
                </a:r>
                <a:r>
                  <a:rPr lang="en-IN" sz="2400">
                    <a:solidFill>
                      <a:srgbClr val="111827"/>
                    </a:solidFill>
                    <a:latin typeface="Cambria Math" panose="02040503050406030204" pitchFamily="18" charset="0"/>
                  </a:rPr>
                  <a:t>$g(x)=f^{-1}(x)$</a:t>
                </a:r>
                <a:r>
                  <a:rPr sz="2400" b="0">
                    <a:solidFill>
                      <a:srgbClr val="111827"/>
                    </a:solidFill>
                    <a:latin typeface="Arial"/>
                  </a:rPr>
                  <a:t>, then: (where dash </a:t>
                </a:r>
                <a:r>
                  <a:rPr lang="en-IN" sz="2400">
                    <a:solidFill>
                      <a:srgbClr val="111827"/>
                    </a:solidFill>
                    <a:latin typeface="Cambria Math" panose="02040503050406030204" pitchFamily="18" charset="0"/>
                  </a:rPr>
                  <a:t>$(')$</a:t>
                </a:r>
                <a:r>
                  <a:rPr sz="2400" b="0">
                    <a:solidFill>
                      <a:srgbClr val="111827"/>
                    </a:solidFill>
                    <a:latin typeface="Arial"/>
                  </a:rPr>
                  <a:t> denotes derivative)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$g'(2)=1$</a:t>
                </a:r>
                <a:r>
                  <a:rPr sz="2400" b="0">
                    <a:solidFill>
                      <a:srgbClr val="111827"/>
                    </a:solidFill>
                    <a:latin typeface="Arial"/>
                  </a:rPr>
                  <a:t>   (B) </a:t>
                </a:r>
                <a:r>
                  <a:rPr lang="en-IN" sz="2400">
                    <a:solidFill>
                      <a:srgbClr val="111827"/>
                    </a:solidFill>
                    <a:latin typeface="Cambria Math" panose="02040503050406030204" pitchFamily="18" charset="0"/>
                  </a:rPr>
                  <a:t>$g'(2)=\log_2e$</a:t>
                </a:r>
                <a:r>
                  <a:rPr sz="2400" b="0">
                    <a:solidFill>
                      <a:srgbClr val="111827"/>
                    </a:solidFill>
                    <a:latin typeface="Arial"/>
                  </a:rPr>
                  <a:t>   (C) </a:t>
                </a:r>
                <a:r>
                  <a:rPr lang="en-IN" sz="2400">
                    <a:solidFill>
                      <a:srgbClr val="111827"/>
                    </a:solidFill>
                    <a:latin typeface="Cambria Math" panose="02040503050406030204" pitchFamily="18" charset="0"/>
                  </a:rPr>
                  <a:t>$g''(2)=(\ln2)^2$</a:t>
                </a:r>
                <a:r>
                  <a:rPr sz="2400" b="0">
                    <a:solidFill>
                      <a:srgbClr val="111827"/>
                    </a:solidFill>
                    <a:latin typeface="Arial"/>
                  </a:rPr>
                  <a:t>   (D) </a:t>
                </a:r>
                <a:r>
                  <a:rPr lang="en-IN" sz="2400">
                    <a:solidFill>
                      <a:srgbClr val="111827"/>
                    </a:solidFill>
                    <a:latin typeface="Cambria Math" panose="02040503050406030204" pitchFamily="18" charset="0"/>
                  </a:rPr>
                  <a:t>$g''(2)=-\log_2e$</a:t>
                </a:r>
                <a:endParaRPr sz="2400">
                  <a:solidFill>
                    <a:srgbClr val="111827"/>
                  </a:solidFill>
                </a:endParaRPr>
              </a:p>
            </p:txBody>
          </p:sp>
        </mc:Fallback>
      </mc:AlternateContent>
      <p:sp>
        <p:nvSpPr>
          <p:cNvPr id="5" name="Rectangle 4"/>
          <p:cNvSpPr/>
          <p:nvPr/>
        </p:nvSpPr>
        <p:spPr>
          <a:xfrm>
            <a:off x="731520" y="3580383"/>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One or more than one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Derivatives of an inverse function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Since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use </a:t>
                </a:r>
                <a14:m>
                  <m:oMath xmlns:m="http://schemas.openxmlformats.org/officeDocument/2006/math">
                    <m:sSup>
                      <m:e>
                        <m:r>
                          <a:rPr lang="en-IN" sz="2400" i="1">
                            <a:solidFill>
                              <a:srgbClr val="78350F"/>
                            </a:solidFill>
                            <a:latin typeface="Cambria Math" panose="02040503050406030204" pitchFamily="18" charset="0"/>
                          </a:rPr>
                          <m:t>𝑔</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den>
                    </m:f>
                  </m:oMath>
                </a14:m>
                <a:r>
                  <a:rPr sz="2400" b="0">
                    <a:solidFill>
                      <a:srgbClr val="78350F"/>
                    </a:solidFill>
                    <a:latin typeface="Arial"/>
                  </a:rPr>
                  <a:t> and </a:t>
                </a:r>
                <a14:m>
                  <m:oMath xmlns:m="http://schemas.openxmlformats.org/officeDocument/2006/math">
                    <m:sSup>
                      <m:e>
                        <m:r>
                          <a:rPr lang="en-IN" sz="2400" i="1">
                            <a:solidFill>
                              <a:srgbClr val="78350F"/>
                            </a:solidFill>
                            <a:latin typeface="Cambria Math" panose="02040503050406030204" pitchFamily="18" charset="0"/>
                          </a:rPr>
                          <m:t>𝑔</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num>
                      <m:den>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3</m:t>
                            </m:r>
                          </m:sup>
                        </m:sSup>
                      </m:den>
                    </m:f>
                  </m:oMath>
                </a14:m>
                <a:r>
                  <a:rPr sz="2400" b="0">
                    <a:solidFill>
                      <a:srgbClr val="78350F"/>
                    </a:solidFill>
                    <a:latin typeface="Arial"/>
                  </a:rPr>
                  <a:t> at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Since </a:t>
                </a:r>
                <a:r>
                  <a:rPr lang="en-IN" sz="2400">
                    <a:solidFill>
                      <a:srgbClr val="78350F"/>
                    </a:solidFill>
                    <a:latin typeface="Cambria Math" panose="02040503050406030204" pitchFamily="18" charset="0"/>
                  </a:rPr>
                  <a:t>$f(0)=2$</a:t>
                </a:r>
                <a:r>
                  <a:rPr sz="2400" b="0">
                    <a:solidFill>
                      <a:srgbClr val="78350F"/>
                    </a:solidFill>
                    <a:latin typeface="Arial"/>
                  </a:rPr>
                  <a:t>, use </a:t>
                </a:r>
                <a:r>
                  <a:rPr lang="en-IN" sz="2400">
                    <a:solidFill>
                      <a:srgbClr val="78350F"/>
                    </a:solidFill>
                    <a:latin typeface="Cambria Math" panose="02040503050406030204" pitchFamily="18" charset="0"/>
                  </a:rPr>
                  <a:t>$g'(f(x))=\frac{1}{f'(x)}$</a:t>
                </a:r>
                <a:r>
                  <a:rPr sz="2400" b="0">
                    <a:solidFill>
                      <a:srgbClr val="78350F"/>
                    </a:solidFill>
                    <a:latin typeface="Arial"/>
                  </a:rPr>
                  <a:t> and </a:t>
                </a:r>
                <a:r>
                  <a:rPr lang="en-IN" sz="2400">
                    <a:solidFill>
                      <a:srgbClr val="78350F"/>
                    </a:solidFill>
                    <a:latin typeface="Cambria Math" panose="02040503050406030204" pitchFamily="18" charset="0"/>
                  </a:rPr>
                  <a:t>$g''(f(x))=-\frac{f''(x)}{(f'(x))^3}$</a:t>
                </a:r>
                <a:r>
                  <a:rPr sz="2400" b="0">
                    <a:solidFill>
                      <a:srgbClr val="78350F"/>
                    </a:solidFill>
                    <a:latin typeface="Arial"/>
                  </a:rPr>
                  <a:t> at </a:t>
                </a:r>
                <a:r>
                  <a:rPr lang="en-IN" sz="2400">
                    <a:solidFill>
                      <a:srgbClr val="78350F"/>
                    </a:solidFill>
                    <a:latin typeface="Cambria Math" panose="02040503050406030204" pitchFamily="18" charset="0"/>
                  </a:rPr>
                  <a:t>$x=0$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strictly increasing (and onto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hence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exists.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Also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Differentiating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$f'(x)=2^x\ln2+3x^2&gt;0$</a:t>
                </a:r>
                <a:r>
                  <a:rPr sz="2400" b="0">
                    <a:solidFill>
                      <a:srgbClr val="111827"/>
                    </a:solidFill>
                    <a:latin typeface="Arial"/>
                  </a:rPr>
                  <a:t> for all </a:t>
                </a:r>
                <a:r>
                  <a:rPr lang="en-IN" sz="2400">
                    <a:solidFill>
                      <a:srgbClr val="111827"/>
                    </a:solidFill>
                    <a:latin typeface="Cambria Math" panose="02040503050406030204" pitchFamily="18" charset="0"/>
                  </a:rPr>
                  <a:t>$x$</a:t>
                </a:r>
                <a:r>
                  <a:rPr sz="2400" b="0">
                    <a:solidFill>
                      <a:srgbClr val="111827"/>
                    </a:solidFill>
                    <a:latin typeface="Arial"/>
                  </a:rPr>
                  <a:t>, so </a:t>
                </a:r>
                <a:r>
                  <a:rPr lang="en-IN" sz="2400">
                    <a:solidFill>
                      <a:srgbClr val="111827"/>
                    </a:solidFill>
                    <a:latin typeface="Cambria Math" panose="02040503050406030204" pitchFamily="18" charset="0"/>
                  </a:rPr>
                  <a:t>$f$</a:t>
                </a:r>
                <a:r>
                  <a:rPr sz="2400" b="0">
                    <a:solidFill>
                      <a:srgbClr val="111827"/>
                    </a:solidFill>
                    <a:latin typeface="Arial"/>
                  </a:rPr>
                  <a:t> is strictly increasing (and onto </a:t>
                </a:r>
                <a:r>
                  <a:rPr lang="en-IN" sz="2400">
                    <a:solidFill>
                      <a:srgbClr val="111827"/>
                    </a:solidFill>
                    <a:latin typeface="Cambria Math" panose="02040503050406030204" pitchFamily="18" charset="0"/>
                  </a:rPr>
                  <a:t>$\mathbb{R}$</a:t>
                </a:r>
                <a:r>
                  <a:rPr sz="2400" b="0">
                    <a:solidFill>
                      <a:srgbClr val="111827"/>
                    </a:solidFill>
                    <a:latin typeface="Arial"/>
                  </a:rPr>
                  <a:t>); hence </a:t>
                </a:r>
                <a:r>
                  <a:rPr lang="en-IN" sz="2400">
                    <a:solidFill>
                      <a:srgbClr val="111827"/>
                    </a:solidFill>
                    <a:latin typeface="Cambria Math" panose="02040503050406030204" pitchFamily="18" charset="0"/>
                  </a:rPr>
                  <a:t>$g=f^{-1}$</a:t>
                </a:r>
                <a:r>
                  <a:rPr sz="2400" b="0">
                    <a:solidFill>
                      <a:srgbClr val="111827"/>
                    </a:solidFill>
                    <a:latin typeface="Arial"/>
                  </a:rPr>
                  <a:t> exists.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$f(x)=2^x+x^3+1\Rightarrow f'(x)=2^x\ln2+3x^2\Rightarrow f''(x)=2^x(\ln2)^2+6x$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$f(0)=1+0+1=2$</a:t>
                </a:r>
                <a:r>
                  <a:rPr sz="2400" b="0">
                    <a:solidFill>
                      <a:srgbClr val="111827"/>
                    </a:solidFill>
                    <a:latin typeface="Arial"/>
                  </a:rPr>
                  <a:t>, so </a:t>
                </a:r>
                <a:r>
                  <a:rPr lang="en-IN" sz="2400">
                    <a:solidFill>
                      <a:srgbClr val="111827"/>
                    </a:solidFill>
                    <a:latin typeface="Cambria Math" panose="02040503050406030204" pitchFamily="18" charset="0"/>
                  </a:rPr>
                  <a:t>$g(2)=0$</a:t>
                </a:r>
                <a:r>
                  <a:rPr sz="2400" b="0">
                    <a:solidFill>
                      <a:srgbClr val="111827"/>
                    </a:solidFill>
                    <a:latin typeface="Arial"/>
                  </a:rPr>
                  <a:t>. Also </a:t>
                </a:r>
                <a:r>
                  <a:rPr lang="en-IN" sz="2400">
                    <a:solidFill>
                      <a:srgbClr val="111827"/>
                    </a:solidFill>
                    <a:latin typeface="Cambria Math" panose="02040503050406030204" pitchFamily="18" charset="0"/>
                  </a:rPr>
                  <a:t>$g(f(x))=x$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Differentiating </a:t>
                </a:r>
                <a:r>
                  <a:rPr lang="en-IN" sz="2400">
                    <a:solidFill>
                      <a:srgbClr val="111827"/>
                    </a:solidFill>
                    <a:latin typeface="Cambria Math" panose="02040503050406030204" pitchFamily="18" charset="0"/>
                  </a:rPr>
                  <a:t>$g(f(x))=x$</a:t>
                </a:r>
                <a:r>
                  <a:rPr sz="2400" b="0">
                    <a:solidFill>
                      <a:srgbClr val="111827"/>
                    </a:solidFill>
                    <a:latin typeface="Arial"/>
                  </a:rPr>
                  <a:t>: </a:t>
                </a:r>
                <a:r>
                  <a:rPr lang="en-IN" sz="2400">
                    <a:solidFill>
                      <a:srgbClr val="111827"/>
                    </a:solidFill>
                    <a:latin typeface="Cambria Math" panose="02040503050406030204" pitchFamily="18" charset="0"/>
                  </a:rPr>
                  <a:t>$g'(f(x))f'(x)=1\Rightarrow g'(f(x))=\frac{1}{f'(x)}$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Differentiating again: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2</m:t>
                        </m:r>
                      </m:sub>
                    </m:sSub>
                    <m:r>
                      <a:rPr lang="en-IN" sz="2400" i="1">
                        <a:solidFill>
                          <a:srgbClr val="111827"/>
                        </a:solidFill>
                        <a:latin typeface="Cambria Math" panose="02040503050406030204" pitchFamily="18" charset="0"/>
                      </a:rPr>
                      <m:t>𝑒</m:t>
                    </m:r>
                  </m:oMath>
                </a14:m>
                <a:r>
                  <a:rPr sz="2400" b="0">
                    <a:solidFill>
                      <a:srgbClr val="111827"/>
                    </a:solidFill>
                    <a:latin typeface="Arial"/>
                  </a:rPr>
                  <a:t>. So (B) is true and (A) is false.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2</m:t>
                        </m:r>
                      </m:sub>
                    </m:sSub>
                    <m:r>
                      <a:rPr lang="en-IN" sz="2400" i="1">
                        <a:solidFill>
                          <a:srgbClr val="111827"/>
                        </a:solidFill>
                        <a:latin typeface="Cambria Math" panose="02040503050406030204" pitchFamily="18" charset="0"/>
                      </a:rPr>
                      <m:t>𝑒</m:t>
                    </m:r>
                  </m:oMath>
                </a14:m>
                <a:r>
                  <a:rPr sz="2400" b="0">
                    <a:solidFill>
                      <a:srgbClr val="111827"/>
                    </a:solidFill>
                    <a:latin typeface="Arial"/>
                  </a:rPr>
                  <a:t>. So (D) is true and (C) is false.</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Differentiating again: </a:t>
                </a:r>
                <a:r>
                  <a:rPr lang="en-IN" sz="2400">
                    <a:solidFill>
                      <a:srgbClr val="111827"/>
                    </a:solidFill>
                    <a:latin typeface="Cambria Math" panose="02040503050406030204" pitchFamily="18" charset="0"/>
                  </a:rPr>
                  <a:t>$g''(f(x))\,(f'(x))^2+g'(f(x))f''(x)=0\Rightarrow g''(f(x))=-\frac{f''(x)}{(f'(x))^3}$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$x=0$</a:t>
                </a:r>
                <a:r>
                  <a:rPr sz="2400" b="0">
                    <a:solidFill>
                      <a:srgbClr val="111827"/>
                    </a:solidFill>
                    <a:latin typeface="Arial"/>
                  </a:rPr>
                  <a:t>: </a:t>
                </a:r>
                <a:r>
                  <a:rPr lang="en-IN" sz="2400">
                    <a:solidFill>
                      <a:srgbClr val="111827"/>
                    </a:solidFill>
                    <a:latin typeface="Cambria Math" panose="02040503050406030204" pitchFamily="18" charset="0"/>
                  </a:rPr>
                  <a:t>$f'(0)=\ln2$</a:t>
                </a:r>
                <a:r>
                  <a:rPr sz="2400" b="0">
                    <a:solidFill>
                      <a:srgbClr val="111827"/>
                    </a:solidFill>
                    <a:latin typeface="Arial"/>
                  </a:rPr>
                  <a:t> and </a:t>
                </a:r>
                <a:r>
                  <a:rPr lang="en-IN" sz="2400">
                    <a:solidFill>
                      <a:srgbClr val="111827"/>
                    </a:solidFill>
                    <a:latin typeface="Cambria Math" panose="02040503050406030204" pitchFamily="18" charset="0"/>
                  </a:rPr>
                  <a:t>$f''(0)=(\ln2)^2$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$g'(2)=\frac{1}{f'(0)}=\frac{1}{\ln2}=\log_2e$</a:t>
                </a:r>
                <a:r>
                  <a:rPr sz="2400" b="0">
                    <a:solidFill>
                      <a:srgbClr val="111827"/>
                    </a:solidFill>
                    <a:latin typeface="Arial"/>
                  </a:rPr>
                  <a:t>. So (B) is true and (A) is false.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$g''(2)=-\frac{f''(0)}{(f'(0))^3}=-\frac{(\ln2)^2}{(\ln2)^3}=-\frac{1}{\ln2}=-\log_2e$</a:t>
                </a:r>
                <a:r>
                  <a:rPr sz="2400" b="0">
                    <a:solidFill>
                      <a:srgbClr val="111827"/>
                    </a:solidFill>
                    <a:latin typeface="Arial"/>
                  </a:rPr>
                  <a:t>. So (D) is true and (C) is false.</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D)</a:t>
            </a:r>
            <a:endParaRPr sz="2800">
              <a:solidFill>
                <a:srgbClr val="15803D"/>
              </a:solidFill>
            </a:endParaRP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Expand </a:t>
                </a:r>
                <a14:m>
                  <m:oMath xmlns:m="http://schemas.openxmlformats.org/officeDocument/2006/math">
                    <m:r>
                      <a:rPr lang="en-IN" sz="2400" i="1">
                        <a:solidFill>
                          <a:srgbClr val="78350F"/>
                        </a:solidFill>
                        <a:latin typeface="Cambria Math" panose="02040503050406030204" pitchFamily="18" charset="0"/>
                      </a:rPr>
                      <m:t>𝑓</m:t>
                    </m:r>
                  </m:oMath>
                </a14:m>
                <a:r>
                  <a:rPr sz="2400" b="0">
                    <a:solidFill>
                      <a:srgbClr val="78350F"/>
                    </a:solidFill>
                    <a:latin typeface="Arial"/>
                  </a:rPr>
                  <a:t> to second order at </a:t>
                </a:r>
                <a14:m>
                  <m:oMath xmlns:m="http://schemas.openxmlformats.org/officeDocument/2006/math">
                    <m:r>
                      <a:rPr lang="en-IN" sz="2400" i="1">
                        <a:solidFill>
                          <a:srgbClr val="78350F"/>
                        </a:solidFill>
                        <a:latin typeface="Cambria Math" panose="02040503050406030204" pitchFamily="18" charset="0"/>
                      </a:rPr>
                      <m:t>0</m:t>
                    </m:r>
                  </m:oMath>
                </a14:m>
                <a:r>
                  <a:rPr sz="2400" b="0">
                    <a:solidFill>
                      <a:srgbClr val="78350F"/>
                    </a:solidFill>
                    <a:latin typeface="Arial"/>
                  </a:rPr>
                  <a:t> and invert the series: if </a:t>
                </a:r>
                <a14:m>
                  <m:oMath xmlns:m="http://schemas.openxmlformats.org/officeDocument/2006/math">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then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num>
                      <m:den>
                        <m:r>
                          <a:rPr lang="en-IN" sz="2400" i="1">
                            <a:solidFill>
                              <a:srgbClr val="78350F"/>
                            </a:solidFill>
                            <a:latin typeface="Cambria Math" panose="02040503050406030204" pitchFamily="18" charset="0"/>
                          </a:rPr>
                          <m:t>𝑎</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num>
                      <m:den>
                        <m:sSup>
                          <m:e>
                            <m:r>
                              <a:rPr lang="en-IN" sz="2400" i="1">
                                <a:solidFill>
                                  <a:srgbClr val="78350F"/>
                                </a:solidFill>
                                <a:latin typeface="Cambria Math" panose="02040503050406030204" pitchFamily="18" charset="0"/>
                              </a:rPr>
                              <m:t>𝑎</m:t>
                            </m:r>
                          </m:e>
                          <m:sup>
                            <m:r>
                              <a:rPr lang="en-IN" sz="2400" i="1">
                                <a:solidFill>
                                  <a:srgbClr val="78350F"/>
                                </a:solidFill>
                                <a:latin typeface="Cambria Math" panose="02040503050406030204" pitchFamily="18" charset="0"/>
                              </a:rPr>
                              <m:t>3</m:t>
                            </m:r>
                          </m:sup>
                        </m:sSup>
                      </m:den>
                    </m:f>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Expand </a:t>
                </a:r>
                <a:r>
                  <a:rPr lang="en-IN" sz="2400">
                    <a:solidFill>
                      <a:srgbClr val="78350F"/>
                    </a:solidFill>
                    <a:latin typeface="Cambria Math" panose="02040503050406030204" pitchFamily="18" charset="0"/>
                  </a:rPr>
                  <a:t>$f$</a:t>
                </a:r>
                <a:r>
                  <a:rPr sz="2400" b="0">
                    <a:solidFill>
                      <a:srgbClr val="78350F"/>
                    </a:solidFill>
                    <a:latin typeface="Arial"/>
                  </a:rPr>
                  <a:t> to second order at </a:t>
                </a:r>
                <a:r>
                  <a:rPr lang="en-IN" sz="2400">
                    <a:solidFill>
                      <a:srgbClr val="78350F"/>
                    </a:solidFill>
                    <a:latin typeface="Cambria Math" panose="02040503050406030204" pitchFamily="18" charset="0"/>
                  </a:rPr>
                  <a:t>$0$</a:t>
                </a:r>
                <a:r>
                  <a:rPr sz="2400" b="0">
                    <a:solidFill>
                      <a:srgbClr val="78350F"/>
                    </a:solidFill>
                    <a:latin typeface="Arial"/>
                  </a:rPr>
                  <a:t> and invert the series: if </a:t>
                </a:r>
                <a:r>
                  <a:rPr lang="en-IN" sz="2400">
                    <a:solidFill>
                      <a:srgbClr val="78350F"/>
                    </a:solidFill>
                    <a:latin typeface="Cambria Math" panose="02040503050406030204" pitchFamily="18" charset="0"/>
                  </a:rPr>
                  <a:t>$t-2=ax+bx^2+\dots$</a:t>
                </a:r>
                <a:r>
                  <a:rPr sz="2400" b="0">
                    <a:solidFill>
                      <a:srgbClr val="78350F"/>
                    </a:solidFill>
                    <a:latin typeface="Arial"/>
                  </a:rPr>
                  <a:t> then </a:t>
                </a:r>
                <a:r>
                  <a:rPr lang="en-IN" sz="2400">
                    <a:solidFill>
                      <a:srgbClr val="78350F"/>
                    </a:solidFill>
                    <a:latin typeface="Cambria Math" panose="02040503050406030204" pitchFamily="18" charset="0"/>
                  </a:rPr>
                  <a:t>$x=\frac{t-2}{a}-\frac{b(t-2)^2}{a^3}+\dots$</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solve for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𝑢</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3</m:t>
                            </m:r>
                          </m:sup>
                        </m:sSup>
                      </m:den>
                    </m:f>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𝑎</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𝑢</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3</m:t>
                                </m:r>
                              </m:sup>
                            </m:sSup>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$f(0)=2$</a:t>
                </a:r>
                <a:r>
                  <a:rPr sz="2400" b="0">
                    <a:solidFill>
                      <a:srgbClr val="111827"/>
                    </a:solidFill>
                    <a:latin typeface="Arial"/>
                  </a:rPr>
                  <a:t>, </a:t>
                </a:r>
                <a:r>
                  <a:rPr lang="en-IN" sz="2400">
                    <a:solidFill>
                      <a:srgbClr val="111827"/>
                    </a:solidFill>
                    <a:latin typeface="Cambria Math" panose="02040503050406030204" pitchFamily="18" charset="0"/>
                  </a:rPr>
                  <a:t>$f'(0)=\ln2$</a:t>
                </a:r>
                <a:r>
                  <a:rPr sz="2400" b="0">
                    <a:solidFill>
                      <a:srgbClr val="111827"/>
                    </a:solidFill>
                    <a:latin typeface="Arial"/>
                  </a:rPr>
                  <a:t>, </a:t>
                </a:r>
                <a:r>
                  <a:rPr lang="en-IN" sz="2400">
                    <a:solidFill>
                      <a:srgbClr val="111827"/>
                    </a:solidFill>
                    <a:latin typeface="Cambria Math" panose="02040503050406030204" pitchFamily="18" charset="0"/>
                  </a:rPr>
                  <a:t>$f''(0)=(\ln2)^2$</a:t>
                </a:r>
                <a:r>
                  <a:rPr sz="2400" b="0">
                    <a:solidFill>
                      <a:srgbClr val="111827"/>
                    </a:solidFill>
                    <a:latin typeface="Arial"/>
                  </a:rPr>
                  <a:t>, so </a:t>
                </a:r>
                <a:r>
                  <a:rPr lang="en-IN" sz="2400">
                    <a:solidFill>
                      <a:srgbClr val="111827"/>
                    </a:solidFill>
                    <a:latin typeface="Cambria Math" panose="02040503050406030204" pitchFamily="18" charset="0"/>
                  </a:rPr>
                  <a:t>$f(x)-2=ax+bx^2+O(x^3)$</a:t>
                </a:r>
                <a:r>
                  <a:rPr sz="2400" b="0">
                    <a:solidFill>
                      <a:srgbClr val="111827"/>
                    </a:solidFill>
                    <a:latin typeface="Arial"/>
                  </a:rPr>
                  <a:t> with </a:t>
                </a:r>
                <a:r>
                  <a:rPr lang="en-IN" sz="2400">
                    <a:solidFill>
                      <a:srgbClr val="111827"/>
                    </a:solidFill>
                    <a:latin typeface="Cambria Math" panose="02040503050406030204" pitchFamily="18" charset="0"/>
                  </a:rPr>
                  <a:t>$a=\ln2$</a:t>
                </a:r>
                <a:r>
                  <a:rPr sz="2400" b="0">
                    <a:solidFill>
                      <a:srgbClr val="111827"/>
                    </a:solidFill>
                    <a:latin typeface="Arial"/>
                  </a:rPr>
                  <a:t>, </a:t>
                </a:r>
                <a:r>
                  <a:rPr lang="en-IN" sz="2400">
                    <a:solidFill>
                      <a:srgbClr val="111827"/>
                    </a:solidFill>
                    <a:latin typeface="Cambria Math" panose="02040503050406030204" pitchFamily="18" charset="0"/>
                  </a:rPr>
                  <a:t>$b=\frac{(\ln2)^2}{2}$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$u=t-2=ax+bx^2+\dots$</a:t>
                </a:r>
                <a:r>
                  <a:rPr sz="2400" b="0">
                    <a:solidFill>
                      <a:srgbClr val="111827"/>
                    </a:solidFill>
                    <a:latin typeface="Arial"/>
                  </a:rPr>
                  <a:t> and solve for </a:t>
                </a:r>
                <a:r>
                  <a:rPr lang="en-IN" sz="2400">
                    <a:solidFill>
                      <a:srgbClr val="111827"/>
                    </a:solidFill>
                    <a:latin typeface="Cambria Math" panose="02040503050406030204" pitchFamily="18" charset="0"/>
                  </a:rPr>
                  <a:t>$x$</a:t>
                </a:r>
                <a:r>
                  <a:rPr sz="2400" b="0">
                    <a:solidFill>
                      <a:srgbClr val="111827"/>
                    </a:solidFill>
                    <a:latin typeface="Arial"/>
                  </a:rPr>
                  <a:t>: </a:t>
                </a:r>
                <a:r>
                  <a:rPr lang="en-IN" sz="2400">
                    <a:solidFill>
                      <a:srgbClr val="111827"/>
                    </a:solidFill>
                    <a:latin typeface="Cambria Math" panose="02040503050406030204" pitchFamily="18" charset="0"/>
                  </a:rPr>
                  <a:t>$x=\frac ua-\frac{b}{a^3}u^2+O(u^3)$</a:t>
                </a:r>
                <a:r>
                  <a:rPr sz="2400" b="0">
                    <a:solidFill>
                      <a:srgbClr val="111827"/>
                    </a:solidFill>
                    <a:latin typeface="Arial"/>
                  </a:rPr>
                  <a:t> (check: </a:t>
                </a:r>
                <a:r>
                  <a:rPr lang="en-IN" sz="2400">
                    <a:solidFill>
                      <a:srgbClr val="111827"/>
                    </a:solidFill>
                    <a:latin typeface="Cambria Math" panose="02040503050406030204" pitchFamily="18" charset="0"/>
                  </a:rPr>
                  <a:t>$a\left(\frac ua-\frac{bu^2}{a^3}\right)+b\frac{u^2}{a^2}=u$</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we read off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𝑎</m:t>
                        </m:r>
                      </m:den>
                    </m:f>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3</m:t>
                            </m:r>
                          </m:sup>
                        </m:sSup>
                      </m:den>
                    </m:f>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3</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2</m:t>
                        </m:r>
                      </m:sub>
                    </m:sSub>
                    <m:r>
                      <a:rPr lang="en-IN" sz="2400" i="1">
                        <a:solidFill>
                          <a:srgbClr val="111827"/>
                        </a:solidFill>
                        <a:latin typeface="Cambria Math" panose="02040503050406030204" pitchFamily="18" charset="0"/>
                      </a:rPr>
                      <m:t>𝑒</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2</m:t>
                        </m:r>
                      </m:sub>
                    </m:sSub>
                    <m:r>
                      <a:rPr lang="en-IN" sz="2400" i="1">
                        <a:solidFill>
                          <a:srgbClr val="111827"/>
                        </a:solidFill>
                        <a:latin typeface="Cambria Math" panose="02040503050406030204" pitchFamily="18" charset="0"/>
                      </a:rPr>
                      <m:t>𝑒</m:t>
                    </m:r>
                  </m:oMath>
                </a14:m>
                <a:r>
                  <a:rPr sz="2400" b="0">
                    <a:solidFill>
                      <a:srgbClr val="111827"/>
                    </a:solidFill>
                    <a:latin typeface="Arial"/>
                  </a:rPr>
                  <a:t>. Answer (B, D).</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$g(t)=x$</a:t>
                </a:r>
                <a:r>
                  <a:rPr sz="2400" b="0">
                    <a:solidFill>
                      <a:srgbClr val="111827"/>
                    </a:solidFill>
                    <a:latin typeface="Arial"/>
                  </a:rPr>
                  <a:t>, we read off </a:t>
                </a:r>
                <a:r>
                  <a:rPr lang="en-IN" sz="2400">
                    <a:solidFill>
                      <a:srgbClr val="111827"/>
                    </a:solidFill>
                    <a:latin typeface="Cambria Math" panose="02040503050406030204" pitchFamily="18" charset="0"/>
                  </a:rPr>
                  <a:t>$g'(2)=\frac1a$</a:t>
                </a:r>
                <a:r>
                  <a:rPr sz="2400" b="0">
                    <a:solidFill>
                      <a:srgbClr val="111827"/>
                    </a:solidFill>
                    <a:latin typeface="Arial"/>
                  </a:rPr>
                  <a:t> and </a:t>
                </a:r>
                <a:r>
                  <a:rPr lang="en-IN" sz="2400">
                    <a:solidFill>
                      <a:srgbClr val="111827"/>
                    </a:solidFill>
                    <a:latin typeface="Cambria Math" panose="02040503050406030204" pitchFamily="18" charset="0"/>
                  </a:rPr>
                  <a:t>$\frac{g''(2)}{2}=-\frac{b}{a^3}$</a:t>
                </a:r>
                <a:r>
                  <a:rPr sz="2400" b="0">
                    <a:solidFill>
                      <a:srgbClr val="111827"/>
                    </a:solidFill>
                    <a:latin typeface="Arial"/>
                  </a:rPr>
                  <a:t>, so </a:t>
                </a:r>
                <a:r>
                  <a:rPr lang="en-IN" sz="2400">
                    <a:solidFill>
                      <a:srgbClr val="111827"/>
                    </a:solidFill>
                    <a:latin typeface="Cambria Math" panose="02040503050406030204" pitchFamily="18" charset="0"/>
                  </a:rPr>
                  <a:t>$g''(2)=-\frac{2b}{a^3}$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$g'(2)=\frac{1}{\ln2}=\log_2e$</a:t>
                </a:r>
                <a:r>
                  <a:rPr sz="2400" b="0">
                    <a:solidFill>
                      <a:srgbClr val="111827"/>
                    </a:solidFill>
                    <a:latin typeface="Arial"/>
                  </a:rPr>
                  <a:t> and </a:t>
                </a:r>
                <a:r>
                  <a:rPr lang="en-IN" sz="2400">
                    <a:solidFill>
                      <a:srgbClr val="111827"/>
                    </a:solidFill>
                    <a:latin typeface="Cambria Math" panose="02040503050406030204" pitchFamily="18" charset="0"/>
                  </a:rPr>
                  <a:t>$g''(2)=-\frac{(\ln2)^2}{(\ln2)^3}=-\frac{1}{\ln2}=-\log_2e$</a:t>
                </a:r>
                <a:r>
                  <a:rPr sz="2400" b="0">
                    <a:solidFill>
                      <a:srgbClr val="111827"/>
                    </a:solidFill>
                    <a:latin typeface="Arial"/>
                  </a:rPr>
                  <a:t>. Answer (B, D).</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D)</a:t>
            </a:r>
            <a:endParaRPr sz="2800">
              <a:solidFill>
                <a:srgbClr val="15803D"/>
              </a:solidFill>
            </a:endParaRP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den>
                    </m:f>
                  </m:oMath>
                </a14:m>
                <a:r>
                  <a:rPr sz="2400" b="0">
                    <a:solidFill>
                      <a:srgbClr val="111827"/>
                    </a:solidFill>
                    <a:latin typeface="Arial"/>
                  </a:rPr>
                  <a:t>, valid when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evaluate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at a value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find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by inspection (here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never try to find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explicitly.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strictly increasing function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that is onto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is invertible; the sum of increasing functions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is increasing.</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2</m:t>
                        </m:r>
                      </m:sub>
                    </m:sSub>
                    <m:r>
                      <a:rPr lang="en-IN" sz="2400" i="1">
                        <a:solidFill>
                          <a:srgbClr val="111827"/>
                        </a:solidFill>
                        <a:latin typeface="Cambria Math" panose="02040503050406030204" pitchFamily="18" charset="0"/>
                      </a:rPr>
                      <m:t>𝑒</m:t>
                    </m:r>
                  </m:oMath>
                </a14:m>
                <a:r>
                  <a:rPr sz="2400" b="0">
                    <a:solidFill>
                      <a:srgbClr val="111827"/>
                    </a:solidFill>
                    <a:latin typeface="Arial"/>
                  </a:rPr>
                  <a:t> (change of base). If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then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have opposite signs: a convex increasing function has a concave inverse.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$g=f^{-1}$</a:t>
                </a:r>
                <a:r>
                  <a:rPr sz="2400" b="0">
                    <a:solidFill>
                      <a:srgbClr val="111827"/>
                    </a:solidFill>
                    <a:latin typeface="Arial"/>
                  </a:rPr>
                  <a:t>: </a:t>
                </a:r>
                <a:r>
                  <a:rPr lang="en-IN" sz="2400">
                    <a:solidFill>
                      <a:srgbClr val="111827"/>
                    </a:solidFill>
                    <a:latin typeface="Cambria Math" panose="02040503050406030204" pitchFamily="18" charset="0"/>
                  </a:rPr>
                  <a:t>$g'(f(a))=\frac{1}{f'(a)}$</a:t>
                </a:r>
                <a:r>
                  <a:rPr sz="2400" b="0">
                    <a:solidFill>
                      <a:srgbClr val="111827"/>
                    </a:solidFill>
                    <a:latin typeface="Arial"/>
                  </a:rPr>
                  <a:t> and </a:t>
                </a:r>
                <a:r>
                  <a:rPr lang="en-IN" sz="2400">
                    <a:solidFill>
                      <a:srgbClr val="111827"/>
                    </a:solidFill>
                    <a:latin typeface="Cambria Math" panose="02040503050406030204" pitchFamily="18" charset="0"/>
                  </a:rPr>
                  <a:t>$g''(f(a))=-\frac{f''(a)}{(f'(a))^3}$</a:t>
                </a:r>
                <a:r>
                  <a:rPr sz="2400" b="0">
                    <a:solidFill>
                      <a:srgbClr val="111827"/>
                    </a:solidFill>
                    <a:latin typeface="Arial"/>
                  </a:rPr>
                  <a:t>, valid when </a:t>
                </a:r>
                <a:r>
                  <a:rPr lang="en-IN" sz="2400">
                    <a:solidFill>
                      <a:srgbClr val="111827"/>
                    </a:solidFill>
                    <a:latin typeface="Cambria Math" panose="02040503050406030204" pitchFamily="18" charset="0"/>
                  </a:rPr>
                  <a:t>$f'(a)\neq0$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evaluate </a:t>
                </a:r>
                <a:r>
                  <a:rPr lang="en-IN" sz="2400">
                    <a:solidFill>
                      <a:srgbClr val="111827"/>
                    </a:solidFill>
                    <a:latin typeface="Cambria Math" panose="02040503050406030204" pitchFamily="18" charset="0"/>
                  </a:rPr>
                  <a:t>$g$</a:t>
                </a:r>
                <a:r>
                  <a:rPr sz="2400" b="0">
                    <a:solidFill>
                      <a:srgbClr val="111827"/>
                    </a:solidFill>
                    <a:latin typeface="Arial"/>
                  </a:rPr>
                  <a:t> at a value </a:t>
                </a:r>
                <a:r>
                  <a:rPr lang="en-IN" sz="2400">
                    <a:solidFill>
                      <a:srgbClr val="111827"/>
                    </a:solidFill>
                    <a:latin typeface="Cambria Math" panose="02040503050406030204" pitchFamily="18" charset="0"/>
                  </a:rPr>
                  <a:t>$b$</a:t>
                </a:r>
                <a:r>
                  <a:rPr sz="2400" b="0">
                    <a:solidFill>
                      <a:srgbClr val="111827"/>
                    </a:solidFill>
                    <a:latin typeface="Arial"/>
                  </a:rPr>
                  <a:t>, find </a:t>
                </a:r>
                <a:r>
                  <a:rPr lang="en-IN" sz="2400">
                    <a:solidFill>
                      <a:srgbClr val="111827"/>
                    </a:solidFill>
                    <a:latin typeface="Cambria Math" panose="02040503050406030204" pitchFamily="18" charset="0"/>
                  </a:rPr>
                  <a:t>$a$</a:t>
                </a:r>
                <a:r>
                  <a:rPr sz="2400" b="0">
                    <a:solidFill>
                      <a:srgbClr val="111827"/>
                    </a:solidFill>
                    <a:latin typeface="Arial"/>
                  </a:rPr>
                  <a:t> with </a:t>
                </a:r>
                <a:r>
                  <a:rPr lang="en-IN" sz="2400">
                    <a:solidFill>
                      <a:srgbClr val="111827"/>
                    </a:solidFill>
                    <a:latin typeface="Cambria Math" panose="02040503050406030204" pitchFamily="18" charset="0"/>
                  </a:rPr>
                  <a:t>$f(a)=b$</a:t>
                </a:r>
                <a:r>
                  <a:rPr sz="2400" b="0">
                    <a:solidFill>
                      <a:srgbClr val="111827"/>
                    </a:solidFill>
                    <a:latin typeface="Arial"/>
                  </a:rPr>
                  <a:t> by inspection (here </a:t>
                </a:r>
                <a:r>
                  <a:rPr lang="en-IN" sz="2400">
                    <a:solidFill>
                      <a:srgbClr val="111827"/>
                    </a:solidFill>
                    <a:latin typeface="Cambria Math" panose="02040503050406030204" pitchFamily="18" charset="0"/>
                  </a:rPr>
                  <a:t>$f(0)=2$</a:t>
                </a:r>
                <a:r>
                  <a:rPr sz="2400" b="0">
                    <a:solidFill>
                      <a:srgbClr val="111827"/>
                    </a:solidFill>
                    <a:latin typeface="Arial"/>
                  </a:rPr>
                  <a:t>); never try to find </a:t>
                </a:r>
                <a:r>
                  <a:rPr lang="en-IN" sz="2400">
                    <a:solidFill>
                      <a:srgbClr val="111827"/>
                    </a:solidFill>
                    <a:latin typeface="Cambria Math" panose="02040503050406030204" pitchFamily="18" charset="0"/>
                  </a:rPr>
                  <a:t>$g$</a:t>
                </a:r>
                <a:r>
                  <a:rPr sz="2400" b="0">
                    <a:solidFill>
                      <a:srgbClr val="111827"/>
                    </a:solidFill>
                    <a:latin typeface="Arial"/>
                  </a:rPr>
                  <a:t> explicitly.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strictly increasing function (</a:t>
                </a:r>
                <a:r>
                  <a:rPr lang="en-IN" sz="2400">
                    <a:solidFill>
                      <a:srgbClr val="111827"/>
                    </a:solidFill>
                    <a:latin typeface="Cambria Math" panose="02040503050406030204" pitchFamily="18" charset="0"/>
                  </a:rPr>
                  <a:t>$f'&gt;0$</a:t>
                </a:r>
                <a:r>
                  <a:rPr sz="2400" b="0">
                    <a:solidFill>
                      <a:srgbClr val="111827"/>
                    </a:solidFill>
                    <a:latin typeface="Arial"/>
                  </a:rPr>
                  <a:t>) that is onto </a:t>
                </a:r>
                <a:r>
                  <a:rPr lang="en-IN" sz="2400">
                    <a:solidFill>
                      <a:srgbClr val="111827"/>
                    </a:solidFill>
                    <a:latin typeface="Cambria Math" panose="02040503050406030204" pitchFamily="18" charset="0"/>
                  </a:rPr>
                  <a:t>$\mathbb{R}$</a:t>
                </a:r>
                <a:r>
                  <a:rPr sz="2400" b="0">
                    <a:solidFill>
                      <a:srgbClr val="111827"/>
                    </a:solidFill>
                    <a:latin typeface="Arial"/>
                  </a:rPr>
                  <a:t> is invertible; the sum of increasing functions </a:t>
                </a:r>
                <a:r>
                  <a:rPr lang="en-IN" sz="2400">
                    <a:solidFill>
                      <a:srgbClr val="111827"/>
                    </a:solidFill>
                    <a:latin typeface="Cambria Math" panose="02040503050406030204" pitchFamily="18" charset="0"/>
                  </a:rPr>
                  <a:t>$2^x+x^3$</a:t>
                </a:r>
                <a:r>
                  <a:rPr sz="2400" b="0">
                    <a:solidFill>
                      <a:srgbClr val="111827"/>
                    </a:solidFill>
                    <a:latin typeface="Arial"/>
                  </a:rPr>
                  <a:t> is increasing.</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$\frac{1}{\ln2}=\log_2e$</a:t>
                </a:r>
                <a:r>
                  <a:rPr sz="2400" b="0">
                    <a:solidFill>
                      <a:srgbClr val="111827"/>
                    </a:solidFill>
                    <a:latin typeface="Arial"/>
                  </a:rPr>
                  <a:t> (change of base). If </a:t>
                </a:r>
                <a:r>
                  <a:rPr lang="en-IN" sz="2400">
                    <a:solidFill>
                      <a:srgbClr val="111827"/>
                    </a:solidFill>
                    <a:latin typeface="Cambria Math" panose="02040503050406030204" pitchFamily="18" charset="0"/>
                  </a:rPr>
                  <a:t>$f'&gt;0$</a:t>
                </a:r>
                <a:r>
                  <a:rPr sz="2400" b="0">
                    <a:solidFill>
                      <a:srgbClr val="111827"/>
                    </a:solidFill>
                    <a:latin typeface="Arial"/>
                  </a:rPr>
                  <a:t> then </a:t>
                </a:r>
                <a:r>
                  <a:rPr lang="en-IN" sz="2400">
                    <a:solidFill>
                      <a:srgbClr val="111827"/>
                    </a:solidFill>
                    <a:latin typeface="Cambria Math" panose="02040503050406030204" pitchFamily="18" charset="0"/>
                  </a:rPr>
                  <a:t>$g''$</a:t>
                </a:r>
                <a:r>
                  <a:rPr sz="2400" b="0">
                    <a:solidFill>
                      <a:srgbClr val="111827"/>
                    </a:solidFill>
                    <a:latin typeface="Arial"/>
                  </a:rPr>
                  <a:t> and </a:t>
                </a:r>
                <a:r>
                  <a:rPr lang="en-IN" sz="2400">
                    <a:solidFill>
                      <a:srgbClr val="111827"/>
                    </a:solidFill>
                    <a:latin typeface="Cambria Math" panose="02040503050406030204" pitchFamily="18" charset="0"/>
                  </a:rPr>
                  <a:t>$f''$</a:t>
                </a:r>
                <a:r>
                  <a:rPr sz="2400" b="0">
                    <a:solidFill>
                      <a:srgbClr val="111827"/>
                    </a:solidFill>
                    <a:latin typeface="Arial"/>
                  </a:rPr>
                  <a:t> have opposite signs: a convex increasing function has a concave inverse.</a:t>
                </a:r>
                <a:endParaRPr sz="2400">
                  <a:solidFill>
                    <a:srgbClr val="111827"/>
                  </a:solidFill>
                </a:endParaRPr>
              </a:p>
            </p:txBody>
          </p:sp>
        </mc:Fallback>
      </mc:AlternateContent>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33501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 then identify the CORRECT option(s) (where </a:t>
                </a:r>
                <a14:m>
                  <m:oMath xmlns:m="http://schemas.openxmlformats.org/officeDocument/2006/math">
                    <m:sSup>
                      <m:e>
                        <m:r>
                          <a:rPr lang="en-IN" sz="2400" i="1">
                            <a:solidFill>
                              <a:srgbClr val="111827"/>
                            </a:solidFill>
                            <a:latin typeface="Cambria Math" panose="02040503050406030204" pitchFamily="18" charset="0"/>
                          </a:rPr>
                          <m:t>𝑓</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represents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𝑛</m:t>
                            </m:r>
                          </m:sup>
                        </m:sSup>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𝑑</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𝑛</m:t>
                            </m:r>
                          </m:sup>
                        </m:sSup>
                      </m:den>
                    </m:f>
                  </m:oMath>
                </a14:m>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sSup>
                      <m:e>
                        <m:r>
                          <a:rPr lang="en-IN" sz="2400" i="1">
                            <a:solidFill>
                              <a:srgbClr val="111827"/>
                            </a:solidFill>
                            <a:latin typeface="Cambria Math" panose="02040503050406030204" pitchFamily="18" charset="0"/>
                          </a:rPr>
                          <m:t>𝑓</m:t>
                        </m:r>
                      </m:e>
                      <m:sup>
                        <m:r>
                          <a:rPr lang="en-IN" sz="2400" i="1">
                            <a:solidFill>
                              <a:srgbClr val="111827"/>
                            </a:solidFill>
                            <a:latin typeface="Cambria Math" panose="02040503050406030204" pitchFamily="18" charset="0"/>
                          </a:rPr>
                          <m:t>2013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an odd function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sSup>
                      <m:e>
                        <m:r>
                          <a:rPr lang="en-IN" sz="2400" i="1">
                            <a:solidFill>
                              <a:srgbClr val="111827"/>
                            </a:solidFill>
                            <a:latin typeface="Cambria Math" panose="02040503050406030204" pitchFamily="18" charset="0"/>
                          </a:rPr>
                          <m:t>𝑓</m:t>
                        </m:r>
                      </m:e>
                      <m:sup>
                        <m:r>
                          <a:rPr lang="en-IN" sz="2400" i="1">
                            <a:solidFill>
                              <a:srgbClr val="111827"/>
                            </a:solidFill>
                            <a:latin typeface="Cambria Math" panose="02040503050406030204" pitchFamily="18" charset="0"/>
                          </a:rPr>
                          <m:t>2014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an even function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sSup>
                      <m:e>
                        <m:r>
                          <a:rPr lang="en-IN" sz="2400" i="1">
                            <a:solidFill>
                              <a:srgbClr val="111827"/>
                            </a:solidFill>
                            <a:latin typeface="Cambria Math" panose="02040503050406030204" pitchFamily="18" charset="0"/>
                          </a:rPr>
                          <m:t>𝑓</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always an odd function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14:m>
                  <m:oMath xmlns:m="http://schemas.openxmlformats.org/officeDocument/2006/math">
                    <m:sSup>
                      <m:e>
                        <m:r>
                          <a:rPr lang="en-IN" sz="2400" i="1">
                            <a:solidFill>
                              <a:srgbClr val="111827"/>
                            </a:solidFill>
                            <a:latin typeface="Cambria Math" panose="02040503050406030204" pitchFamily="18" charset="0"/>
                          </a:rPr>
                          <m:t>𝑓</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num>
                          <m:den>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den>
                        </m:f>
                      </m:e>
                    </m:d>
                  </m:oMath>
                </a14:m>
                <a:endParaRPr sz="2400">
                  <a:solidFill>
                    <a:srgbClr val="111827"/>
                  </a:solidFill>
                </a:endParaRPr>
              </a:p>
            </p:txBody>
          </p:sp>
        </mc:Choice>
        <mc:Fallback>
          <p:sp>
            <p:nvSpPr>
              <p:cNvPr id="4" name="Rounded Rectangle 3"/>
              <p:cNvSpPr/>
              <p:nvPr/>
            </p:nvSpPr>
            <p:spPr>
              <a:xfrm>
                <a:off x="731520" y="1280160"/>
                <a:ext cx="10725912" cy="333501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$f(x)=\frac{1}{x^2-1}$</a:t>
                </a:r>
                <a:r>
                  <a:rPr sz="2400" b="0">
                    <a:solidFill>
                      <a:srgbClr val="111827"/>
                    </a:solidFill>
                    <a:latin typeface="Arial"/>
                  </a:rPr>
                  <a:t>, then identify the CORRECT option(s) (where </a:t>
                </a:r>
                <a:r>
                  <a:rPr lang="en-IN" sz="2400">
                    <a:solidFill>
                      <a:srgbClr val="111827"/>
                    </a:solidFill>
                    <a:latin typeface="Cambria Math" panose="02040503050406030204" pitchFamily="18" charset="0"/>
                  </a:rPr>
                  <a:t>$f^n(x)$</a:t>
                </a:r>
                <a:r>
                  <a:rPr sz="2400" b="0">
                    <a:solidFill>
                      <a:srgbClr val="111827"/>
                    </a:solidFill>
                    <a:latin typeface="Arial"/>
                  </a:rPr>
                  <a:t> represents </a:t>
                </a:r>
                <a:r>
                  <a:rPr lang="en-IN" sz="2400">
                    <a:solidFill>
                      <a:srgbClr val="111827"/>
                    </a:solidFill>
                    <a:latin typeface="Cambria Math" panose="02040503050406030204" pitchFamily="18" charset="0"/>
                  </a:rPr>
                  <a:t>$\frac{d^nf(x)}{dx^n}$</a:t>
                </a:r>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$f^{2013}(x)$</a:t>
                </a:r>
                <a:r>
                  <a:rPr sz="2400" b="0">
                    <a:solidFill>
                      <a:srgbClr val="111827"/>
                    </a:solidFill>
                    <a:latin typeface="Arial"/>
                  </a:rPr>
                  <a:t> is an odd function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$f^{2014}(x)$</a:t>
                </a:r>
                <a:r>
                  <a:rPr sz="2400" b="0">
                    <a:solidFill>
                      <a:srgbClr val="111827"/>
                    </a:solidFill>
                    <a:latin typeface="Arial"/>
                  </a:rPr>
                  <a:t> is an even function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$f^n(x)$</a:t>
                </a:r>
                <a:r>
                  <a:rPr sz="2400" b="0">
                    <a:solidFill>
                      <a:srgbClr val="111827"/>
                    </a:solidFill>
                    <a:latin typeface="Arial"/>
                  </a:rPr>
                  <a:t> is always an odd function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$f^n(x)=\frac{(-1)^n n!}{2}\left[\frac{(x+1)^{n+1}-(x-1)^{n+1}}{(x^2-1)^{n+1}}\right]$</a:t>
                </a:r>
                <a:endParaRPr sz="2400">
                  <a:solidFill>
                    <a:srgbClr val="111827"/>
                  </a:solidFill>
                </a:endParaRPr>
              </a:p>
            </p:txBody>
          </p:sp>
        </mc:Fallback>
      </mc:AlternateContent>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One or more than one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Higher-order derivatives by partial fractions, Even and odd functions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2.5(A little easier than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65760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Partial fractions give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den>
                    </m:f>
                    <m:d>
                      <m:dPr>
                        <m:begChr m:val="["/>
                        <m:sepChr m:val=""/>
                        <m:endChr m:val="]"/>
                        <m:grow/>
                        <m:ctrlPr>
                          <a:rPr lang="en-IN" sz="2400" i="1">
                            <a:solidFill>
                              <a:srgbClr val="78350F"/>
                            </a:solidFill>
                            <a:latin typeface="Cambria Math" panose="02040503050406030204" pitchFamily="18" charset="0"/>
                          </a:rPr>
                        </m:ctrlPr>
                      </m:dPr>
                      <m:e>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den>
                        </m:f>
                      </m:e>
                    </m:d>
                  </m:oMath>
                </a14:m>
                <a:r>
                  <a:rPr sz="2400" b="0">
                    <a:solidFill>
                      <a:srgbClr val="78350F"/>
                    </a:solidFill>
                    <a:latin typeface="Arial"/>
                  </a:rPr>
                  <a:t>, and each differentiation flips the parity of the function.</a:t>
                </a:r>
                <a:endParaRPr sz="2400">
                  <a:solidFill>
                    <a:srgbClr val="78350F"/>
                  </a:solidFill>
                </a:endParaRPr>
              </a:p>
            </p:txBody>
          </p:sp>
        </mc:Choice>
        <mc:Fallback>
          <p:sp>
            <p:nvSpPr>
              <p:cNvPr id="5" name="Rounded Rectangle 4"/>
              <p:cNvSpPr/>
              <p:nvPr/>
            </p:nvSpPr>
            <p:spPr>
              <a:xfrm>
                <a:off x="731520" y="365760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Partial fractions give </a:t>
                </a:r>
                <a:r>
                  <a:rPr lang="en-IN" sz="2400">
                    <a:solidFill>
                      <a:srgbClr val="78350F"/>
                    </a:solidFill>
                    <a:latin typeface="Cambria Math" panose="02040503050406030204" pitchFamily="18" charset="0"/>
                  </a:rPr>
                  <a:t>$f=\frac12\left[\frac1{x-1}-\frac1{x+1}\right]$</a:t>
                </a:r>
                <a:r>
                  <a:rPr sz="2400" b="0">
                    <a:solidFill>
                      <a:srgbClr val="78350F"/>
                    </a:solidFill>
                    <a:latin typeface="Arial"/>
                  </a:rPr>
                  <a:t>, and each differentiation flips the parity of the function.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5123688"/>
                <a:ext cx="10725912" cy="1551431"/>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an even function.</a:t>
                </a:r>
                <a:endParaRPr sz="2400">
                  <a:solidFill>
                    <a:srgbClr val="111827"/>
                  </a:solidFill>
                </a:endParaRPr>
              </a:p>
            </p:txBody>
          </p:sp>
        </mc:Choice>
        <mc:Fallback>
          <p:sp>
            <p:nvSpPr>
              <p:cNvPr id="6" name="Rectangle 5"/>
              <p:cNvSpPr/>
              <p:nvPr/>
            </p:nvSpPr>
            <p:spPr>
              <a:xfrm>
                <a:off x="731520" y="5123688"/>
                <a:ext cx="10725912" cy="1551431"/>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$f(-x)=\frac{1}{(-x)^2-1}=\frac{1}{x^2-1}=f(x)$</a:t>
                </a:r>
                <a:r>
                  <a:rPr sz="2400" b="0">
                    <a:solidFill>
                      <a:srgbClr val="111827"/>
                    </a:solidFill>
                    <a:latin typeface="Arial"/>
                  </a:rPr>
                  <a:t>, so </a:t>
                </a:r>
                <a:r>
                  <a:rPr lang="en-IN" sz="2400">
                    <a:solidFill>
                      <a:srgbClr val="111827"/>
                    </a:solidFill>
                    <a:latin typeface="Cambria Math" panose="02040503050406030204" pitchFamily="18" charset="0"/>
                  </a:rPr>
                  <a:t>$f$</a:t>
                </a:r>
                <a:r>
                  <a:rPr sz="2400" b="0">
                    <a:solidFill>
                      <a:srgbClr val="111827"/>
                    </a:solidFill>
                    <a:latin typeface="Arial"/>
                  </a:rPr>
                  <a:t> is an even function.</a:t>
                </a:r>
                <a:endParaRPr sz="2400">
                  <a:solidFill>
                    <a:srgbClr val="111827"/>
                  </a:solidFill>
                </a:endParaRPr>
              </a:p>
            </p:txBody>
          </p:sp>
        </mc:Fallback>
      </mc:AlternateContent>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derivative of an even function is odd and the derivative of an odd function is even. 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odd,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even, and in general </a:t>
                </a:r>
                <a14:m>
                  <m:oMath xmlns:m="http://schemas.openxmlformats.org/officeDocument/2006/math">
                    <m:sSup>
                      <m:e>
                        <m:r>
                          <a:rPr lang="en-IN" sz="2400" i="1">
                            <a:solidFill>
                              <a:srgbClr val="111827"/>
                            </a:solidFill>
                            <a:latin typeface="Cambria Math" panose="02040503050406030204" pitchFamily="18" charset="0"/>
                          </a:rPr>
                          <m:t>𝑓</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is odd for odd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and even for even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2013</m:t>
                    </m:r>
                  </m:oMath>
                </a14:m>
                <a:r>
                  <a:rPr sz="2400" b="0">
                    <a:solidFill>
                      <a:srgbClr val="111827"/>
                    </a:solidFill>
                    <a:latin typeface="Arial"/>
                  </a:rPr>
                  <a:t> is odd, so </a:t>
                </a:r>
                <a14:m>
                  <m:oMath xmlns:m="http://schemas.openxmlformats.org/officeDocument/2006/math">
                    <m:sSup>
                      <m:e>
                        <m:r>
                          <a:rPr lang="en-IN" sz="2400" i="1">
                            <a:solidFill>
                              <a:srgbClr val="111827"/>
                            </a:solidFill>
                            <a:latin typeface="Cambria Math" panose="02040503050406030204" pitchFamily="18" charset="0"/>
                          </a:rPr>
                          <m:t>𝑓</m:t>
                        </m:r>
                      </m:e>
                      <m:sup>
                        <m:r>
                          <a:rPr lang="en-IN" sz="2400" i="1">
                            <a:solidFill>
                              <a:srgbClr val="111827"/>
                            </a:solidFill>
                            <a:latin typeface="Cambria Math" panose="02040503050406030204" pitchFamily="18" charset="0"/>
                          </a:rPr>
                          <m:t>2013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an odd function: (A) is correct.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2014</m:t>
                    </m:r>
                  </m:oMath>
                </a14:m>
                <a:r>
                  <a:rPr sz="2400" b="0">
                    <a:solidFill>
                      <a:srgbClr val="111827"/>
                    </a:solidFill>
                    <a:latin typeface="Arial"/>
                  </a:rPr>
                  <a:t> is even, so </a:t>
                </a:r>
                <a14:m>
                  <m:oMath xmlns:m="http://schemas.openxmlformats.org/officeDocument/2006/math">
                    <m:sSup>
                      <m:e>
                        <m:r>
                          <a:rPr lang="en-IN" sz="2400" i="1">
                            <a:solidFill>
                              <a:srgbClr val="111827"/>
                            </a:solidFill>
                            <a:latin typeface="Cambria Math" panose="02040503050406030204" pitchFamily="18" charset="0"/>
                          </a:rPr>
                          <m:t>𝑓</m:t>
                        </m:r>
                      </m:e>
                      <m:sup>
                        <m:r>
                          <a:rPr lang="en-IN" sz="2400" i="1">
                            <a:solidFill>
                              <a:srgbClr val="111827"/>
                            </a:solidFill>
                            <a:latin typeface="Cambria Math" panose="02040503050406030204" pitchFamily="18" charset="0"/>
                          </a:rPr>
                          <m:t>2014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an even function: (B) is correct.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is even when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is even (for example </a:t>
                </a:r>
                <a14:m>
                  <m:oMath xmlns:m="http://schemas.openxmlformats.org/officeDocument/2006/math">
                    <m:sSup>
                      <m:e>
                        <m:r>
                          <a:rPr lang="en-IN" sz="2400" i="1">
                            <a:solidFill>
                              <a:srgbClr val="111827"/>
                            </a:solidFill>
                            <a:latin typeface="Cambria Math" panose="02040503050406030204" pitchFamily="18" charset="0"/>
                          </a:rPr>
                          <m:t>𝑓</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itself), so it is not always odd: (C) is incorrect.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Partial fractions: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derivative of an even function is odd and the derivative of an odd function is even. So </a:t>
                </a:r>
                <a:r>
                  <a:rPr lang="en-IN" sz="2400">
                    <a:solidFill>
                      <a:srgbClr val="111827"/>
                    </a:solidFill>
                    <a:latin typeface="Cambria Math" panose="02040503050406030204" pitchFamily="18" charset="0"/>
                  </a:rPr>
                  <a:t>$f'$</a:t>
                </a:r>
                <a:r>
                  <a:rPr sz="2400" b="0">
                    <a:solidFill>
                      <a:srgbClr val="111827"/>
                    </a:solidFill>
                    <a:latin typeface="Arial"/>
                  </a:rPr>
                  <a:t> is odd, </a:t>
                </a:r>
                <a:r>
                  <a:rPr lang="en-IN" sz="2400">
                    <a:solidFill>
                      <a:srgbClr val="111827"/>
                    </a:solidFill>
                    <a:latin typeface="Cambria Math" panose="02040503050406030204" pitchFamily="18" charset="0"/>
                  </a:rPr>
                  <a:t>$f''$</a:t>
                </a:r>
                <a:r>
                  <a:rPr sz="2400" b="0">
                    <a:solidFill>
                      <a:srgbClr val="111827"/>
                    </a:solidFill>
                    <a:latin typeface="Arial"/>
                  </a:rPr>
                  <a:t> is even, and in general </a:t>
                </a:r>
                <a:r>
                  <a:rPr lang="en-IN" sz="2400">
                    <a:solidFill>
                      <a:srgbClr val="111827"/>
                    </a:solidFill>
                    <a:latin typeface="Cambria Math" panose="02040503050406030204" pitchFamily="18" charset="0"/>
                  </a:rPr>
                  <a:t>$f^n$</a:t>
                </a:r>
                <a:r>
                  <a:rPr sz="2400" b="0">
                    <a:solidFill>
                      <a:srgbClr val="111827"/>
                    </a:solidFill>
                    <a:latin typeface="Arial"/>
                  </a:rPr>
                  <a:t> is odd for odd </a:t>
                </a:r>
                <a:r>
                  <a:rPr lang="en-IN" sz="2400">
                    <a:solidFill>
                      <a:srgbClr val="111827"/>
                    </a:solidFill>
                    <a:latin typeface="Cambria Math" panose="02040503050406030204" pitchFamily="18" charset="0"/>
                  </a:rPr>
                  <a:t>$n$</a:t>
                </a:r>
                <a:r>
                  <a:rPr sz="2400" b="0">
                    <a:solidFill>
                      <a:srgbClr val="111827"/>
                    </a:solidFill>
                    <a:latin typeface="Arial"/>
                  </a:rPr>
                  <a:t> and even for even </a:t>
                </a:r>
                <a:r>
                  <a:rPr lang="en-IN" sz="2400">
                    <a:solidFill>
                      <a:srgbClr val="111827"/>
                    </a:solidFill>
                    <a:latin typeface="Cambria Math" panose="02040503050406030204" pitchFamily="18" charset="0"/>
                  </a:rPr>
                  <a:t>$n$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$2013$</a:t>
                </a:r>
                <a:r>
                  <a:rPr sz="2400" b="0">
                    <a:solidFill>
                      <a:srgbClr val="111827"/>
                    </a:solidFill>
                    <a:latin typeface="Arial"/>
                  </a:rPr>
                  <a:t> is odd, so </a:t>
                </a:r>
                <a:r>
                  <a:rPr lang="en-IN" sz="2400">
                    <a:solidFill>
                      <a:srgbClr val="111827"/>
                    </a:solidFill>
                    <a:latin typeface="Cambria Math" panose="02040503050406030204" pitchFamily="18" charset="0"/>
                  </a:rPr>
                  <a:t>$f^{2013}(x)$</a:t>
                </a:r>
                <a:r>
                  <a:rPr sz="2400" b="0">
                    <a:solidFill>
                      <a:srgbClr val="111827"/>
                    </a:solidFill>
                    <a:latin typeface="Arial"/>
                  </a:rPr>
                  <a:t> is an odd function: (A) is correct.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$2014$</a:t>
                </a:r>
                <a:r>
                  <a:rPr sz="2400" b="0">
                    <a:solidFill>
                      <a:srgbClr val="111827"/>
                    </a:solidFill>
                    <a:latin typeface="Arial"/>
                  </a:rPr>
                  <a:t> is even, so </a:t>
                </a:r>
                <a:r>
                  <a:rPr lang="en-IN" sz="2400">
                    <a:solidFill>
                      <a:srgbClr val="111827"/>
                    </a:solidFill>
                    <a:latin typeface="Cambria Math" panose="02040503050406030204" pitchFamily="18" charset="0"/>
                  </a:rPr>
                  <a:t>$f^{2014}(x)$</a:t>
                </a:r>
                <a:r>
                  <a:rPr sz="2400" b="0">
                    <a:solidFill>
                      <a:srgbClr val="111827"/>
                    </a:solidFill>
                    <a:latin typeface="Arial"/>
                  </a:rPr>
                  <a:t> is an even function: (B) is correct.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$f^n$</a:t>
                </a:r>
                <a:r>
                  <a:rPr sz="2400" b="0">
                    <a:solidFill>
                      <a:srgbClr val="111827"/>
                    </a:solidFill>
                    <a:latin typeface="Arial"/>
                  </a:rPr>
                  <a:t> is even when </a:t>
                </a:r>
                <a:r>
                  <a:rPr lang="en-IN" sz="2400">
                    <a:solidFill>
                      <a:srgbClr val="111827"/>
                    </a:solidFill>
                    <a:latin typeface="Cambria Math" panose="02040503050406030204" pitchFamily="18" charset="0"/>
                  </a:rPr>
                  <a:t>$n$</a:t>
                </a:r>
                <a:r>
                  <a:rPr sz="2400" b="0">
                    <a:solidFill>
                      <a:srgbClr val="111827"/>
                    </a:solidFill>
                    <a:latin typeface="Arial"/>
                  </a:rPr>
                  <a:t> is even (for example </a:t>
                </a:r>
                <a:r>
                  <a:rPr lang="en-IN" sz="2400">
                    <a:solidFill>
                      <a:srgbClr val="111827"/>
                    </a:solidFill>
                    <a:latin typeface="Cambria Math" panose="02040503050406030204" pitchFamily="18" charset="0"/>
                  </a:rPr>
                  <a:t>$f^{2}$</a:t>
                </a:r>
                <a:r>
                  <a:rPr sz="2400" b="0">
                    <a:solidFill>
                      <a:srgbClr val="111827"/>
                    </a:solidFill>
                    <a:latin typeface="Arial"/>
                  </a:rPr>
                  <a:t> and </a:t>
                </a:r>
                <a:r>
                  <a:rPr lang="en-IN" sz="2400">
                    <a:solidFill>
                      <a:srgbClr val="111827"/>
                    </a:solidFill>
                    <a:latin typeface="Cambria Math" panose="02040503050406030204" pitchFamily="18" charset="0"/>
                  </a:rPr>
                  <a:t>$f$</a:t>
                </a:r>
                <a:r>
                  <a:rPr sz="2400" b="0">
                    <a:solidFill>
                      <a:srgbClr val="111827"/>
                    </a:solidFill>
                    <a:latin typeface="Arial"/>
                  </a:rPr>
                  <a:t> itself), so it is not always odd: (C) is incorrect.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Partial fractions: </a:t>
                </a:r>
                <a:r>
                  <a:rPr lang="en-IN" sz="2400">
                    <a:solidFill>
                      <a:srgbClr val="111827"/>
                    </a:solidFill>
                    <a:latin typeface="Cambria Math" panose="02040503050406030204" pitchFamily="18" charset="0"/>
                  </a:rPr>
                  <a:t>$f(x)=\frac{1}{(x-1)(x+1)}=\frac12\left[\frac{1}{x-1}-\frac{1}{x+1}\right]$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Using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𝑛</m:t>
                            </m:r>
                          </m:sup>
                        </m:sSup>
                      </m:num>
                      <m:den>
                        <m:r>
                          <a:rPr lang="en-IN" sz="2400" i="1">
                            <a:solidFill>
                              <a:srgbClr val="111827"/>
                            </a:solidFill>
                            <a:latin typeface="Cambria Math" panose="02040503050406030204" pitchFamily="18" charset="0"/>
                          </a:rPr>
                          <m:t>𝑑</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𝑛</m:t>
                            </m:r>
                          </m:sup>
                        </m:sSup>
                      </m:den>
                    </m:f>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den>
                    </m:f>
                  </m:oMath>
                </a14:m>
                <a:r>
                  <a:rPr sz="2400" b="0">
                    <a:solidFill>
                      <a:srgbClr val="111827"/>
                    </a:solidFill>
                    <a:latin typeface="Arial"/>
                  </a:rPr>
                  <a:t>, we get </a:t>
                </a:r>
                <a14:m>
                  <m:oMath xmlns:m="http://schemas.openxmlformats.org/officeDocument/2006/math">
                    <m:sSup>
                      <m:e>
                        <m:r>
                          <a:rPr lang="en-IN" sz="2400" i="1">
                            <a:solidFill>
                              <a:srgbClr val="111827"/>
                            </a:solidFill>
                            <a:latin typeface="Cambria Math" panose="02040503050406030204" pitchFamily="18" charset="0"/>
                          </a:rPr>
                          <m:t>𝑓</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Over a common denominator: </a:t>
                </a:r>
                <a14:m>
                  <m:oMath xmlns:m="http://schemas.openxmlformats.org/officeDocument/2006/math">
                    <m:sSup>
                      <m:e>
                        <m:r>
                          <a:rPr lang="en-IN" sz="2400" i="1">
                            <a:solidFill>
                              <a:srgbClr val="111827"/>
                            </a:solidFill>
                            <a:latin typeface="Cambria Math" panose="02040503050406030204" pitchFamily="18" charset="0"/>
                          </a:rPr>
                          <m:t>𝑓</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num>
                          <m:den>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den>
                        </m:f>
                      </m:e>
                    </m:d>
                  </m:oMath>
                </a14:m>
                <a:r>
                  <a:rPr sz="2400" b="0">
                    <a:solidFill>
                      <a:srgbClr val="111827"/>
                    </a:solidFill>
                    <a:latin typeface="Arial"/>
                  </a:rPr>
                  <a:t>. This is the formula in (D) (the printed option has garbled exponents), so (D) is correct.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 options: (A), (B),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Using </a:t>
                </a:r>
                <a:r>
                  <a:rPr lang="en-IN" sz="2400">
                    <a:solidFill>
                      <a:srgbClr val="111827"/>
                    </a:solidFill>
                    <a:latin typeface="Cambria Math" panose="02040503050406030204" pitchFamily="18" charset="0"/>
                  </a:rPr>
                  <a:t>$\frac{d^n}{dx^n}\frac{1}{x-a}=\frac{(-1)^n n!}{(x-a)^{n+1}}$</a:t>
                </a:r>
                <a:r>
                  <a:rPr sz="2400" b="0">
                    <a:solidFill>
                      <a:srgbClr val="111827"/>
                    </a:solidFill>
                    <a:latin typeface="Arial"/>
                  </a:rPr>
                  <a:t>, we get </a:t>
                </a:r>
                <a:r>
                  <a:rPr lang="en-IN" sz="2400">
                    <a:solidFill>
                      <a:srgbClr val="111827"/>
                    </a:solidFill>
                    <a:latin typeface="Cambria Math" panose="02040503050406030204" pitchFamily="18" charset="0"/>
                  </a:rPr>
                  <a:t>$f^n(x)=\frac{(-1)^n n!}{2}\left[\frac{1}{(x-1)^{n+1}}-\frac{1}{(x+1)^{n+1}}\right]$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Over a common denominator: </a:t>
                </a:r>
                <a:r>
                  <a:rPr lang="en-IN" sz="2400">
                    <a:solidFill>
                      <a:srgbClr val="111827"/>
                    </a:solidFill>
                    <a:latin typeface="Cambria Math" panose="02040503050406030204" pitchFamily="18" charset="0"/>
                  </a:rPr>
                  <a:t>$f^n(x)=\frac{(-1)^n n!}{2}\left[\frac{(x+1)^{n+1}-(x-1)^{n+1}}{(x^2-1)^{n+1}}\right]$</a:t>
                </a:r>
                <a:r>
                  <a:rPr sz="2400" b="0">
                    <a:solidFill>
                      <a:srgbClr val="111827"/>
                    </a:solidFill>
                    <a:latin typeface="Arial"/>
                  </a:rPr>
                  <a:t>. This is the formula in (D) (the printed option has garbled exponents), so (D) is correct.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 options: (A), (B), (D).</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B, D)</a:t>
            </a:r>
            <a:endParaRPr sz="2800">
              <a:solidFill>
                <a:srgbClr val="15803D"/>
              </a:solidFill>
            </a:endParaRP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𝑛</m:t>
                            </m:r>
                          </m:sup>
                        </m:sSup>
                      </m:num>
                      <m:den>
                        <m:r>
                          <a:rPr lang="en-IN" sz="2400" i="1">
                            <a:solidFill>
                              <a:srgbClr val="111827"/>
                            </a:solidFill>
                            <a:latin typeface="Cambria Math" panose="02040503050406030204" pitchFamily="18" charset="0"/>
                          </a:rPr>
                          <m:t>𝑑</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𝑛</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𝑛</m:t>
                            </m:r>
                          </m:sup>
                        </m:sSup>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den>
                    </m:f>
                  </m:oMath>
                </a14:m>
                <a:r>
                  <a:rPr sz="2400" b="0">
                    <a:solidFill>
                      <a:srgbClr val="111827"/>
                    </a:solidFill>
                    <a:latin typeface="Arial"/>
                  </a:rPr>
                  <a:t> for every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distinct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den>
                    </m:f>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den>
                        </m:f>
                      </m:e>
                    </m:d>
                  </m:oMath>
                </a14:m>
                <a:r>
                  <a:rPr sz="2400" b="0">
                    <a:solidFill>
                      <a:srgbClr val="111827"/>
                    </a:solidFill>
                    <a:latin typeface="Arial"/>
                  </a:rPr>
                  <a:t>. This is the standard first step for the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th derivative of a rational function.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Parity under differentiation: if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even then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odd, and if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odd then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even; hence </a:t>
                </a:r>
                <a14:m>
                  <m:oMath xmlns:m="http://schemas.openxmlformats.org/officeDocument/2006/math">
                    <m:sSup>
                      <m:e>
                        <m:r>
                          <a:rPr lang="en-IN" sz="2400" i="1">
                            <a:solidFill>
                              <a:srgbClr val="111827"/>
                            </a:solidFill>
                            <a:latin typeface="Cambria Math" panose="02040503050406030204" pitchFamily="18" charset="0"/>
                          </a:rPr>
                          <m:t>𝑓</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has the parity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multiplied by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Quick check of the formula in this question: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it gives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num>
                      <m:den>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which agrees with direct differentiation.</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$\frac{d^n}{dx^n}(ax+b)^{-1}=\frac{(-1)^n n!\,a^n}{(ax+b)^{n+1}}$</a:t>
                </a:r>
                <a:r>
                  <a:rPr sz="2400" b="0">
                    <a:solidFill>
                      <a:srgbClr val="111827"/>
                    </a:solidFill>
                    <a:latin typeface="Arial"/>
                  </a:rPr>
                  <a:t> for every </a:t>
                </a:r>
                <a:r>
                  <a:rPr lang="en-IN" sz="2400">
                    <a:solidFill>
                      <a:srgbClr val="111827"/>
                    </a:solidFill>
                    <a:latin typeface="Cambria Math" panose="02040503050406030204" pitchFamily="18" charset="0"/>
                  </a:rPr>
                  <a:t>$n\ge1$</a:t>
                </a:r>
                <a:r>
                  <a:rPr sz="2400" b="0">
                    <a:solidFill>
                      <a:srgbClr val="111827"/>
                    </a:solidFill>
                    <a:latin typeface="Arial"/>
                  </a:rPr>
                  <a:t>; check </a:t>
                </a:r>
                <a:r>
                  <a:rPr lang="en-IN" sz="2400">
                    <a:solidFill>
                      <a:srgbClr val="111827"/>
                    </a:solidFill>
                    <a:latin typeface="Cambria Math" panose="02040503050406030204" pitchFamily="18" charset="0"/>
                  </a:rPr>
                  <a:t>$n=1$</a:t>
                </a:r>
                <a:r>
                  <a:rPr sz="2400" b="0">
                    <a:solidFill>
                      <a:srgbClr val="111827"/>
                    </a:solidFill>
                    <a:latin typeface="Arial"/>
                  </a:rPr>
                  <a:t>: </a:t>
                </a:r>
                <a:r>
                  <a:rPr lang="en-IN" sz="2400">
                    <a:solidFill>
                      <a:srgbClr val="111827"/>
                    </a:solidFill>
                    <a:latin typeface="Cambria Math" panose="02040503050406030204" pitchFamily="18" charset="0"/>
                  </a:rPr>
                  <a:t>$-a(ax+b)^{-2}$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distinct </a:t>
                </a:r>
                <a:r>
                  <a:rPr lang="en-IN" sz="2400">
                    <a:solidFill>
                      <a:srgbClr val="111827"/>
                    </a:solidFill>
                    <a:latin typeface="Cambria Math" panose="02040503050406030204" pitchFamily="18" charset="0"/>
                  </a:rPr>
                  <a:t>$a,b$</a:t>
                </a:r>
                <a:r>
                  <a:rPr sz="2400" b="0">
                    <a:solidFill>
                      <a:srgbClr val="111827"/>
                    </a:solidFill>
                    <a:latin typeface="Arial"/>
                  </a:rPr>
                  <a:t>: </a:t>
                </a:r>
                <a:r>
                  <a:rPr lang="en-IN" sz="2400">
                    <a:solidFill>
                      <a:srgbClr val="111827"/>
                    </a:solidFill>
                    <a:latin typeface="Cambria Math" panose="02040503050406030204" pitchFamily="18" charset="0"/>
                  </a:rPr>
                  <a:t>$\frac{1}{(x-a)(x-b)}=\frac{1}{a-b}\left[\frac{1}{x-a}-\frac{1}{x-b}\right]$</a:t>
                </a:r>
                <a:r>
                  <a:rPr sz="2400" b="0">
                    <a:solidFill>
                      <a:srgbClr val="111827"/>
                    </a:solidFill>
                    <a:latin typeface="Arial"/>
                  </a:rPr>
                  <a:t>. This is the standard first step for the </a:t>
                </a:r>
                <a:r>
                  <a:rPr lang="en-IN" sz="2400">
                    <a:solidFill>
                      <a:srgbClr val="111827"/>
                    </a:solidFill>
                    <a:latin typeface="Cambria Math" panose="02040503050406030204" pitchFamily="18" charset="0"/>
                  </a:rPr>
                  <a:t>$n$</a:t>
                </a:r>
                <a:r>
                  <a:rPr sz="2400" b="0">
                    <a:solidFill>
                      <a:srgbClr val="111827"/>
                    </a:solidFill>
                    <a:latin typeface="Arial"/>
                  </a:rPr>
                  <a:t>th derivative of a rational function.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Parity under differentiation: if </a:t>
                </a:r>
                <a:r>
                  <a:rPr lang="en-IN" sz="2400">
                    <a:solidFill>
                      <a:srgbClr val="111827"/>
                    </a:solidFill>
                    <a:latin typeface="Cambria Math" panose="02040503050406030204" pitchFamily="18" charset="0"/>
                  </a:rPr>
                  <a:t>$f$</a:t>
                </a:r>
                <a:r>
                  <a:rPr sz="2400" b="0">
                    <a:solidFill>
                      <a:srgbClr val="111827"/>
                    </a:solidFill>
                    <a:latin typeface="Arial"/>
                  </a:rPr>
                  <a:t> is even then </a:t>
                </a:r>
                <a:r>
                  <a:rPr lang="en-IN" sz="2400">
                    <a:solidFill>
                      <a:srgbClr val="111827"/>
                    </a:solidFill>
                    <a:latin typeface="Cambria Math" panose="02040503050406030204" pitchFamily="18" charset="0"/>
                  </a:rPr>
                  <a:t>$f'$</a:t>
                </a:r>
                <a:r>
                  <a:rPr sz="2400" b="0">
                    <a:solidFill>
                      <a:srgbClr val="111827"/>
                    </a:solidFill>
                    <a:latin typeface="Arial"/>
                  </a:rPr>
                  <a:t> is odd, and if </a:t>
                </a:r>
                <a:r>
                  <a:rPr lang="en-IN" sz="2400">
                    <a:solidFill>
                      <a:srgbClr val="111827"/>
                    </a:solidFill>
                    <a:latin typeface="Cambria Math" panose="02040503050406030204" pitchFamily="18" charset="0"/>
                  </a:rPr>
                  <a:t>$f$</a:t>
                </a:r>
                <a:r>
                  <a:rPr sz="2400" b="0">
                    <a:solidFill>
                      <a:srgbClr val="111827"/>
                    </a:solidFill>
                    <a:latin typeface="Arial"/>
                  </a:rPr>
                  <a:t> is odd then </a:t>
                </a:r>
                <a:r>
                  <a:rPr lang="en-IN" sz="2400">
                    <a:solidFill>
                      <a:srgbClr val="111827"/>
                    </a:solidFill>
                    <a:latin typeface="Cambria Math" panose="02040503050406030204" pitchFamily="18" charset="0"/>
                  </a:rPr>
                  <a:t>$f'$</a:t>
                </a:r>
                <a:r>
                  <a:rPr sz="2400" b="0">
                    <a:solidFill>
                      <a:srgbClr val="111827"/>
                    </a:solidFill>
                    <a:latin typeface="Arial"/>
                  </a:rPr>
                  <a:t> is even; hence </a:t>
                </a:r>
                <a:r>
                  <a:rPr lang="en-IN" sz="2400">
                    <a:solidFill>
                      <a:srgbClr val="111827"/>
                    </a:solidFill>
                    <a:latin typeface="Cambria Math" panose="02040503050406030204" pitchFamily="18" charset="0"/>
                  </a:rPr>
                  <a:t>$f^n$</a:t>
                </a:r>
                <a:r>
                  <a:rPr sz="2400" b="0">
                    <a:solidFill>
                      <a:srgbClr val="111827"/>
                    </a:solidFill>
                    <a:latin typeface="Arial"/>
                  </a:rPr>
                  <a:t> has the parity of </a:t>
                </a:r>
                <a:r>
                  <a:rPr lang="en-IN" sz="2400">
                    <a:solidFill>
                      <a:srgbClr val="111827"/>
                    </a:solidFill>
                    <a:latin typeface="Cambria Math" panose="02040503050406030204" pitchFamily="18" charset="0"/>
                  </a:rPr>
                  <a:t>$f$</a:t>
                </a:r>
                <a:r>
                  <a:rPr sz="2400" b="0">
                    <a:solidFill>
                      <a:srgbClr val="111827"/>
                    </a:solidFill>
                    <a:latin typeface="Arial"/>
                  </a:rPr>
                  <a:t> multiplied by </a:t>
                </a:r>
                <a:r>
                  <a:rPr lang="en-IN" sz="2400">
                    <a:solidFill>
                      <a:srgbClr val="111827"/>
                    </a:solidFill>
                    <a:latin typeface="Cambria Math" panose="02040503050406030204" pitchFamily="18" charset="0"/>
                  </a:rPr>
                  <a:t>$(-1)^n$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Quick check of the formula in this question: for </a:t>
                </a:r>
                <a:r>
                  <a:rPr lang="en-IN" sz="2400">
                    <a:solidFill>
                      <a:srgbClr val="111827"/>
                    </a:solidFill>
                    <a:latin typeface="Cambria Math" panose="02040503050406030204" pitchFamily="18" charset="0"/>
                  </a:rPr>
                  <a:t>$n=1$</a:t>
                </a:r>
                <a:r>
                  <a:rPr sz="2400" b="0">
                    <a:solidFill>
                      <a:srgbClr val="111827"/>
                    </a:solidFill>
                    <a:latin typeface="Arial"/>
                  </a:rPr>
                  <a:t> it gives </a:t>
                </a:r>
                <a:r>
                  <a:rPr lang="en-IN" sz="2400">
                    <a:solidFill>
                      <a:srgbClr val="111827"/>
                    </a:solidFill>
                    <a:latin typeface="Cambria Math" panose="02040503050406030204" pitchFamily="18" charset="0"/>
                  </a:rPr>
                  <a:t>$f'(x)=\frac{-2x}{(x^2-1)^2}$</a:t>
                </a:r>
                <a:r>
                  <a:rPr sz="2400" b="0">
                    <a:solidFill>
                      <a:srgbClr val="111827"/>
                    </a:solidFill>
                    <a:latin typeface="Arial"/>
                  </a:rPr>
                  <a:t>, which agrees with direct differentiation.</a:t>
                </a:r>
                <a:endParaRPr sz="2400">
                  <a:solidFill>
                    <a:srgbClr val="111827"/>
                  </a:solidFill>
                </a:endParaRPr>
              </a:p>
            </p:txBody>
          </p:sp>
        </mc:Fallback>
      </mc:AlternateContent>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48742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a differentiable function such that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then which of the following is/are correct?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an increasing function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 decreasing function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increasing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is an increasing function</a:t>
                </a:r>
                <a:endParaRPr sz="2400">
                  <a:solidFill>
                    <a:srgbClr val="111827"/>
                  </a:solidFill>
                </a:endParaRPr>
              </a:p>
            </p:txBody>
          </p:sp>
        </mc:Choice>
        <mc:Fallback>
          <p:sp>
            <p:nvSpPr>
              <p:cNvPr id="4" name="Rounded Rectangle 3"/>
              <p:cNvSpPr/>
              <p:nvPr/>
            </p:nvSpPr>
            <p:spPr>
              <a:xfrm>
                <a:off x="731520" y="1280160"/>
                <a:ext cx="10725912" cy="348742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$y=f(x)$</a:t>
                </a:r>
                <a:r>
                  <a:rPr sz="2400" b="0">
                    <a:solidFill>
                      <a:srgbClr val="111827"/>
                    </a:solidFill>
                    <a:latin typeface="Arial"/>
                  </a:rPr>
                  <a:t> be a differentiable function such that </a:t>
                </a:r>
                <a:r>
                  <a:rPr lang="en-IN" sz="2400">
                    <a:solidFill>
                      <a:srgbClr val="111827"/>
                    </a:solidFill>
                    <a:latin typeface="Cambria Math" panose="02040503050406030204" pitchFamily="18" charset="0"/>
                  </a:rPr>
                  <a:t>$f'(x)&gt;0\ \forall x\in\mathbb{R}$</a:t>
                </a:r>
                <a:r>
                  <a:rPr sz="2400" b="0">
                    <a:solidFill>
                      <a:srgbClr val="111827"/>
                    </a:solidFill>
                    <a:latin typeface="Arial"/>
                  </a:rPr>
                  <a:t>, then which of the following is/are correct?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$f(3-4x)$</a:t>
                </a:r>
                <a:r>
                  <a:rPr sz="2400" b="0">
                    <a:solidFill>
                      <a:srgbClr val="111827"/>
                    </a:solidFill>
                    <a:latin typeface="Arial"/>
                  </a:rPr>
                  <a:t> is an increasing function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$f(3-4x)$</a:t>
                </a:r>
                <a:r>
                  <a:rPr sz="2400" b="0">
                    <a:solidFill>
                      <a:srgbClr val="111827"/>
                    </a:solidFill>
                    <a:latin typeface="Arial"/>
                  </a:rPr>
                  <a:t> is a decreasing function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$f(x^2-x)$</a:t>
                </a:r>
                <a:r>
                  <a:rPr sz="2400" b="0">
                    <a:solidFill>
                      <a:srgbClr val="111827"/>
                    </a:solidFill>
                    <a:latin typeface="Arial"/>
                  </a:rPr>
                  <a:t> is increasing </a:t>
                </a:r>
                <a:r>
                  <a:rPr lang="en-IN" sz="2400">
                    <a:solidFill>
                      <a:srgbClr val="111827"/>
                    </a:solidFill>
                    <a:latin typeface="Cambria Math" panose="02040503050406030204" pitchFamily="18" charset="0"/>
                  </a:rPr>
                  <a:t>$\forall x&gt;\frac12$</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$y=(f(x))^3$</a:t>
                </a:r>
                <a:r>
                  <a:rPr sz="2400" b="0">
                    <a:solidFill>
                      <a:srgbClr val="111827"/>
                    </a:solidFill>
                    <a:latin typeface="Arial"/>
                  </a:rPr>
                  <a:t> is an increasing function</a:t>
                </a:r>
                <a:endParaRPr sz="2400">
                  <a:solidFill>
                    <a:srgbClr val="111827"/>
                  </a:solidFill>
                </a:endParaRPr>
              </a:p>
            </p:txBody>
          </p:sp>
        </mc:Fallback>
      </mc:AlternateContent>
      <p:sp>
        <p:nvSpPr>
          <p:cNvPr id="5" name="Rectangle 4"/>
          <p:cNvSpPr/>
          <p:nvPr/>
        </p:nvSpPr>
        <p:spPr>
          <a:xfrm>
            <a:off x="731520" y="499618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One or more than one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Monotonicity of composite functions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By the chain rule the sign of the derivative of a composite is the product of the signs of the outer and inner derivatives.</a:t>
            </a:r>
            <a:endParaRPr sz="24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everywhere,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decreasing: (A) is incorrect and (B) is correct.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$\frac{d}{dx}f(3-4x)=-4f'(3-4x)$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$f'&gt;0$</a:t>
                </a:r>
                <a:r>
                  <a:rPr sz="2400" b="0">
                    <a:solidFill>
                      <a:srgbClr val="111827"/>
                    </a:solidFill>
                    <a:latin typeface="Arial"/>
                  </a:rPr>
                  <a:t> everywhere, </a:t>
                </a:r>
                <a:r>
                  <a:rPr lang="en-IN" sz="2400">
                    <a:solidFill>
                      <a:srgbClr val="111827"/>
                    </a:solidFill>
                    <a:latin typeface="Cambria Math" panose="02040503050406030204" pitchFamily="18" charset="0"/>
                  </a:rPr>
                  <a:t>$-4f'(3-4x)&lt;0$</a:t>
                </a:r>
                <a:r>
                  <a:rPr sz="2400" b="0">
                    <a:solidFill>
                      <a:srgbClr val="111827"/>
                    </a:solidFill>
                    <a:latin typeface="Arial"/>
                  </a:rPr>
                  <a:t> for all </a:t>
                </a:r>
                <a:r>
                  <a:rPr lang="en-IN" sz="2400">
                    <a:solidFill>
                      <a:srgbClr val="111827"/>
                    </a:solidFill>
                    <a:latin typeface="Cambria Math" panose="02040503050406030204" pitchFamily="18" charset="0"/>
                  </a:rPr>
                  <a:t>$x$</a:t>
                </a:r>
                <a:r>
                  <a:rPr sz="2400" b="0">
                    <a:solidFill>
                      <a:srgbClr val="111827"/>
                    </a:solidFill>
                    <a:latin typeface="Arial"/>
                  </a:rPr>
                  <a:t>. So </a:t>
                </a:r>
                <a:r>
                  <a:rPr lang="en-IN" sz="2400">
                    <a:solidFill>
                      <a:srgbClr val="111827"/>
                    </a:solidFill>
                    <a:latin typeface="Cambria Math" panose="02040503050406030204" pitchFamily="18" charset="0"/>
                  </a:rPr>
                  <a:t>$f(3-4x)$</a:t>
                </a:r>
                <a:r>
                  <a:rPr sz="2400" b="0">
                    <a:solidFill>
                      <a:srgbClr val="111827"/>
                    </a:solidFill>
                    <a:latin typeface="Arial"/>
                  </a:rPr>
                  <a:t> is decreasing: (A) is incorrect and (B) is correct.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$\frac{d}{dx}f(x^2-x)=(2x-1)f'(x^2-x)$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we have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the derivative is positive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increasing: (C) is correct.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with equality only where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strictly increasing it vanishes at most at one point,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is increasing: (D) is correct.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 options: (B), (C),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$x&gt;\frac12$</a:t>
                </a:r>
                <a:r>
                  <a:rPr sz="2400" b="0">
                    <a:solidFill>
                      <a:srgbClr val="111827"/>
                    </a:solidFill>
                    <a:latin typeface="Arial"/>
                  </a:rPr>
                  <a:t> we have </a:t>
                </a:r>
                <a:r>
                  <a:rPr lang="en-IN" sz="2400">
                    <a:solidFill>
                      <a:srgbClr val="111827"/>
                    </a:solidFill>
                    <a:latin typeface="Cambria Math" panose="02040503050406030204" pitchFamily="18" charset="0"/>
                  </a:rPr>
                  <a:t>$2x-1&gt;0$</a:t>
                </a:r>
                <a:r>
                  <a:rPr sz="2400" b="0">
                    <a:solidFill>
                      <a:srgbClr val="111827"/>
                    </a:solidFill>
                    <a:latin typeface="Arial"/>
                  </a:rPr>
                  <a:t> and </a:t>
                </a:r>
                <a:r>
                  <a:rPr lang="en-IN" sz="2400">
                    <a:solidFill>
                      <a:srgbClr val="111827"/>
                    </a:solidFill>
                    <a:latin typeface="Cambria Math" panose="02040503050406030204" pitchFamily="18" charset="0"/>
                  </a:rPr>
                  <a:t>$f'(x^2-x)&gt;0$</a:t>
                </a:r>
                <a:r>
                  <a:rPr sz="2400" b="0">
                    <a:solidFill>
                      <a:srgbClr val="111827"/>
                    </a:solidFill>
                    <a:latin typeface="Arial"/>
                  </a:rPr>
                  <a:t>, so the derivative is positive and </a:t>
                </a:r>
                <a:r>
                  <a:rPr lang="en-IN" sz="2400">
                    <a:solidFill>
                      <a:srgbClr val="111827"/>
                    </a:solidFill>
                    <a:latin typeface="Cambria Math" panose="02040503050406030204" pitchFamily="18" charset="0"/>
                  </a:rPr>
                  <a:t>$f(x^2-x)$</a:t>
                </a:r>
                <a:r>
                  <a:rPr sz="2400" b="0">
                    <a:solidFill>
                      <a:srgbClr val="111827"/>
                    </a:solidFill>
                    <a:latin typeface="Arial"/>
                  </a:rPr>
                  <a:t> is increasing: (C) is correct.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$\frac{d}{dx}(f(x))^3=3f'(x)(f(x))^2\ge0$</a:t>
                </a:r>
                <a:r>
                  <a:rPr sz="2400" b="0">
                    <a:solidFill>
                      <a:srgbClr val="111827"/>
                    </a:solidFill>
                    <a:latin typeface="Arial"/>
                  </a:rPr>
                  <a:t>, with equality only where </a:t>
                </a:r>
                <a:r>
                  <a:rPr lang="en-IN" sz="2400">
                    <a:solidFill>
                      <a:srgbClr val="111827"/>
                    </a:solidFill>
                    <a:latin typeface="Cambria Math" panose="02040503050406030204" pitchFamily="18" charset="0"/>
                  </a:rPr>
                  <a:t>$f(x)=0$</a:t>
                </a:r>
                <a:r>
                  <a:rPr sz="2400" b="0">
                    <a:solidFill>
                      <a:srgbClr val="111827"/>
                    </a:solidFill>
                    <a:latin typeface="Arial"/>
                  </a:rPr>
                  <a:t>. Since </a:t>
                </a:r>
                <a:r>
                  <a:rPr lang="en-IN" sz="2400">
                    <a:solidFill>
                      <a:srgbClr val="111827"/>
                    </a:solidFill>
                    <a:latin typeface="Cambria Math" panose="02040503050406030204" pitchFamily="18" charset="0"/>
                  </a:rPr>
                  <a:t>$f$</a:t>
                </a:r>
                <a:r>
                  <a:rPr sz="2400" b="0">
                    <a:solidFill>
                      <a:srgbClr val="111827"/>
                    </a:solidFill>
                    <a:latin typeface="Arial"/>
                  </a:rPr>
                  <a:t> is strictly increasing it vanishes at most at one point, so </a:t>
                </a:r>
                <a:r>
                  <a:rPr lang="en-IN" sz="2400">
                    <a:solidFill>
                      <a:srgbClr val="111827"/>
                    </a:solidFill>
                    <a:latin typeface="Cambria Math" panose="02040503050406030204" pitchFamily="18" charset="0"/>
                  </a:rPr>
                  <a:t>$(f(x))^3$</a:t>
                </a:r>
                <a:r>
                  <a:rPr sz="2400" b="0">
                    <a:solidFill>
                      <a:srgbClr val="111827"/>
                    </a:solidFill>
                    <a:latin typeface="Arial"/>
                  </a:rPr>
                  <a:t> is increasing: (D) is correct.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 options: (B), (C), (D).</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C, D)</a:t>
            </a:r>
            <a:endParaRPr sz="2800">
              <a:solidFill>
                <a:srgbClr val="15803D"/>
              </a:solidFill>
            </a:endParaRP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composition rule for monotonic functions instead of differentiating.</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on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strictly increasing on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oMath>
                </a14:m>
                <a:r>
                  <a:rPr sz="2400" b="0">
                    <a:solidFill>
                      <a:srgbClr val="111827"/>
                    </a:solidFill>
                    <a:latin typeface="Arial"/>
                  </a:rPr>
                  <a:t> is strictly decreasing, and an increasing function of a decreasing function is decreasing. 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decreasing: (A) incorrect, (B) correct.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has its vertex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is increasing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 increasing function of an increasing function is increasing, 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increasing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(C) correct.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$f'&gt;0$</a:t>
                </a:r>
                <a:r>
                  <a:rPr sz="2400" b="0">
                    <a:solidFill>
                      <a:srgbClr val="111827"/>
                    </a:solidFill>
                    <a:latin typeface="Arial"/>
                  </a:rPr>
                  <a:t> on </a:t>
                </a:r>
                <a:r>
                  <a:rPr lang="en-IN" sz="2400">
                    <a:solidFill>
                      <a:srgbClr val="111827"/>
                    </a:solidFill>
                    <a:latin typeface="Cambria Math" panose="02040503050406030204" pitchFamily="18" charset="0"/>
                  </a:rPr>
                  <a:t>$\mathbb{R}$</a:t>
                </a:r>
                <a:r>
                  <a:rPr sz="2400" b="0">
                    <a:solidFill>
                      <a:srgbClr val="111827"/>
                    </a:solidFill>
                    <a:latin typeface="Arial"/>
                  </a:rPr>
                  <a:t>, so </a:t>
                </a:r>
                <a:r>
                  <a:rPr lang="en-IN" sz="2400">
                    <a:solidFill>
                      <a:srgbClr val="111827"/>
                    </a:solidFill>
                    <a:latin typeface="Cambria Math" panose="02040503050406030204" pitchFamily="18" charset="0"/>
                  </a:rPr>
                  <a:t>$f$</a:t>
                </a:r>
                <a:r>
                  <a:rPr sz="2400" b="0">
                    <a:solidFill>
                      <a:srgbClr val="111827"/>
                    </a:solidFill>
                    <a:latin typeface="Arial"/>
                  </a:rPr>
                  <a:t> is strictly increasing on </a:t>
                </a:r>
                <a:r>
                  <a:rPr lang="en-IN" sz="2400">
                    <a:solidFill>
                      <a:srgbClr val="111827"/>
                    </a:solidFill>
                    <a:latin typeface="Cambria Math" panose="02040503050406030204" pitchFamily="18" charset="0"/>
                  </a:rPr>
                  <a:t>$\mathbb{R}$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$3-4x$</a:t>
                </a:r>
                <a:r>
                  <a:rPr sz="2400" b="0">
                    <a:solidFill>
                      <a:srgbClr val="111827"/>
                    </a:solidFill>
                    <a:latin typeface="Arial"/>
                  </a:rPr>
                  <a:t> is strictly decreasing, and an increasing function of a decreasing function is decreasing. So </a:t>
                </a:r>
                <a:r>
                  <a:rPr lang="en-IN" sz="2400">
                    <a:solidFill>
                      <a:srgbClr val="111827"/>
                    </a:solidFill>
                    <a:latin typeface="Cambria Math" panose="02040503050406030204" pitchFamily="18" charset="0"/>
                  </a:rPr>
                  <a:t>$f(3-4x)$</a:t>
                </a:r>
                <a:r>
                  <a:rPr sz="2400" b="0">
                    <a:solidFill>
                      <a:srgbClr val="111827"/>
                    </a:solidFill>
                    <a:latin typeface="Arial"/>
                  </a:rPr>
                  <a:t> is decreasing: (A) incorrect, (B) correct.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$x^2-x$</a:t>
                </a:r>
                <a:r>
                  <a:rPr sz="2400" b="0">
                    <a:solidFill>
                      <a:srgbClr val="111827"/>
                    </a:solidFill>
                    <a:latin typeface="Arial"/>
                  </a:rPr>
                  <a:t> has its vertex at </a:t>
                </a:r>
                <a:r>
                  <a:rPr lang="en-IN" sz="2400">
                    <a:solidFill>
                      <a:srgbClr val="111827"/>
                    </a:solidFill>
                    <a:latin typeface="Cambria Math" panose="02040503050406030204" pitchFamily="18" charset="0"/>
                  </a:rPr>
                  <a:t>$x=\frac12$</a:t>
                </a:r>
                <a:r>
                  <a:rPr sz="2400" b="0">
                    <a:solidFill>
                      <a:srgbClr val="111827"/>
                    </a:solidFill>
                    <a:latin typeface="Arial"/>
                  </a:rPr>
                  <a:t> and is increasing for </a:t>
                </a:r>
                <a:r>
                  <a:rPr lang="en-IN" sz="2400">
                    <a:solidFill>
                      <a:srgbClr val="111827"/>
                    </a:solidFill>
                    <a:latin typeface="Cambria Math" panose="02040503050406030204" pitchFamily="18" charset="0"/>
                  </a:rPr>
                  <a:t>$x&gt;\frac12$</a:t>
                </a:r>
                <a:r>
                  <a:rPr sz="2400" b="0">
                    <a:solidFill>
                      <a:srgbClr val="111827"/>
                    </a:solidFill>
                    <a:latin typeface="Arial"/>
                  </a:rPr>
                  <a:t>. An increasing function of an increasing function is increasing, so </a:t>
                </a:r>
                <a:r>
                  <a:rPr lang="en-IN" sz="2400">
                    <a:solidFill>
                      <a:srgbClr val="111827"/>
                    </a:solidFill>
                    <a:latin typeface="Cambria Math" panose="02040503050406030204" pitchFamily="18" charset="0"/>
                  </a:rPr>
                  <a:t>$f(x^2-x)$</a:t>
                </a:r>
                <a:r>
                  <a:rPr sz="2400" b="0">
                    <a:solidFill>
                      <a:srgbClr val="111827"/>
                    </a:solidFill>
                    <a:latin typeface="Arial"/>
                  </a:rPr>
                  <a:t> is increasing for </a:t>
                </a:r>
                <a:r>
                  <a:rPr lang="en-IN" sz="2400">
                    <a:solidFill>
                      <a:srgbClr val="111827"/>
                    </a:solidFill>
                    <a:latin typeface="Cambria Math" panose="02040503050406030204" pitchFamily="18" charset="0"/>
                  </a:rPr>
                  <a:t>$x&gt;\frac12$</a:t>
                </a:r>
                <a:r>
                  <a:rPr sz="2400" b="0">
                    <a:solidFill>
                      <a:srgbClr val="111827"/>
                    </a:solidFill>
                    <a:latin typeface="Arial"/>
                  </a:rPr>
                  <a:t>: (C) correct.</a:t>
                </a:r>
                <a:endParaRPr sz="2400">
                  <a:solidFill>
                    <a:srgbClr val="111827"/>
                  </a:solidFill>
                </a:endParaRPr>
              </a:p>
            </p:txBody>
          </p:sp>
        </mc:Fallback>
      </mc:AlternateContent>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is strictly increasing on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strictly increasing, so </a:t>
                </a:r>
                <a14:m>
                  <m:oMath xmlns:m="http://schemas.openxmlformats.org/officeDocument/2006/math">
                    <m:sSup>
                      <m:e>
                        <m:r>
                          <a:rPr lang="en-IN" sz="2400" i="1">
                            <a:solidFill>
                              <a:srgbClr val="111827"/>
                            </a:solidFill>
                            <a:latin typeface="Cambria Math" panose="02040503050406030204" pitchFamily="18" charset="0"/>
                          </a:rPr>
                          <m:t>𝑓</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is a composite of two increasing functions and is increasing: (D) correct.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 options: (B), (C), (D).</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$t\mapsto t^3$</a:t>
                </a:r>
                <a:r>
                  <a:rPr sz="2400" b="0">
                    <a:solidFill>
                      <a:srgbClr val="111827"/>
                    </a:solidFill>
                    <a:latin typeface="Arial"/>
                  </a:rPr>
                  <a:t> is strictly increasing on </a:t>
                </a:r>
                <a:r>
                  <a:rPr lang="en-IN" sz="2400">
                    <a:solidFill>
                      <a:srgbClr val="111827"/>
                    </a:solidFill>
                    <a:latin typeface="Cambria Math" panose="02040503050406030204" pitchFamily="18" charset="0"/>
                  </a:rPr>
                  <a:t>$\mathbb{R}$</a:t>
                </a:r>
                <a:r>
                  <a:rPr sz="2400" b="0">
                    <a:solidFill>
                      <a:srgbClr val="111827"/>
                    </a:solidFill>
                    <a:latin typeface="Arial"/>
                  </a:rPr>
                  <a:t>, and </a:t>
                </a:r>
                <a:r>
                  <a:rPr lang="en-IN" sz="2400">
                    <a:solidFill>
                      <a:srgbClr val="111827"/>
                    </a:solidFill>
                    <a:latin typeface="Cambria Math" panose="02040503050406030204" pitchFamily="18" charset="0"/>
                  </a:rPr>
                  <a:t>$f$</a:t>
                </a:r>
                <a:r>
                  <a:rPr sz="2400" b="0">
                    <a:solidFill>
                      <a:srgbClr val="111827"/>
                    </a:solidFill>
                    <a:latin typeface="Arial"/>
                  </a:rPr>
                  <a:t> is strictly increasing, so </a:t>
                </a:r>
                <a:r>
                  <a:rPr lang="en-IN" sz="2400">
                    <a:solidFill>
                      <a:srgbClr val="111827"/>
                    </a:solidFill>
                    <a:latin typeface="Cambria Math" panose="02040503050406030204" pitchFamily="18" charset="0"/>
                  </a:rPr>
                  <a:t>$f^3$</a:t>
                </a:r>
                <a:r>
                  <a:rPr sz="2400" b="0">
                    <a:solidFill>
                      <a:srgbClr val="111827"/>
                    </a:solidFill>
                    <a:latin typeface="Arial"/>
                  </a:rPr>
                  <a:t> is a composite of two increasing functions and is increasing: (D) correct.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 options: (B), (C), (D).</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C, D)</a:t>
            </a:r>
            <a:endParaRPr sz="2800">
              <a:solidFill>
                <a:srgbClr val="15803D"/>
              </a:solidFill>
            </a:endParaRP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Composition rule: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oMath>
                </a14:m>
                <a:r>
                  <a:rPr sz="2400" b="0">
                    <a:solidFill>
                      <a:srgbClr val="111827"/>
                    </a:solidFill>
                    <a:latin typeface="Arial"/>
                  </a:rPr>
                  <a:t> is increasing when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oMath>
                </a14:m>
                <a:r>
                  <a:rPr sz="2400" b="0">
                    <a:solidFill>
                      <a:srgbClr val="111827"/>
                    </a:solidFill>
                    <a:latin typeface="Arial"/>
                  </a:rPr>
                  <a:t> are both increasing or both decreasing, and decreasing when exactly one of them is decreasing.</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for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the function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increases if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and decreases if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only at isolated points,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still strictly increasing (for example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has derivative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it decreases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increases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has a minimum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Composition rule: </a:t>
                </a:r>
                <a:r>
                  <a:rPr lang="en-IN" sz="2400">
                    <a:solidFill>
                      <a:srgbClr val="111827"/>
                    </a:solidFill>
                    <a:latin typeface="Cambria Math" panose="02040503050406030204" pitchFamily="18" charset="0"/>
                  </a:rPr>
                  <a:t>$g\circ h$</a:t>
                </a:r>
                <a:r>
                  <a:rPr sz="2400" b="0">
                    <a:solidFill>
                      <a:srgbClr val="111827"/>
                    </a:solidFill>
                    <a:latin typeface="Arial"/>
                  </a:rPr>
                  <a:t> is increasing when </a:t>
                </a:r>
                <a:r>
                  <a:rPr lang="en-IN" sz="2400">
                    <a:solidFill>
                      <a:srgbClr val="111827"/>
                    </a:solidFill>
                    <a:latin typeface="Cambria Math" panose="02040503050406030204" pitchFamily="18" charset="0"/>
                  </a:rPr>
                  <a:t>$g,h$</a:t>
                </a:r>
                <a:r>
                  <a:rPr sz="2400" b="0">
                    <a:solidFill>
                      <a:srgbClr val="111827"/>
                    </a:solidFill>
                    <a:latin typeface="Arial"/>
                  </a:rPr>
                  <a:t> are both increasing or both decreasing, and decreasing when exactly one of them is decreasing.</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$\frac{d}{dx}f(ax+b)=a\,f'(ax+b)$</a:t>
                </a:r>
                <a:r>
                  <a:rPr sz="2400" b="0">
                    <a:solidFill>
                      <a:srgbClr val="111827"/>
                    </a:solidFill>
                    <a:latin typeface="Arial"/>
                  </a:rPr>
                  <a:t>, so for </a:t>
                </a:r>
                <a:r>
                  <a:rPr lang="en-IN" sz="2400">
                    <a:solidFill>
                      <a:srgbClr val="111827"/>
                    </a:solidFill>
                    <a:latin typeface="Cambria Math" panose="02040503050406030204" pitchFamily="18" charset="0"/>
                  </a:rPr>
                  <a:t>$f'&gt;0$</a:t>
                </a:r>
                <a:r>
                  <a:rPr sz="2400" b="0">
                    <a:solidFill>
                      <a:srgbClr val="111827"/>
                    </a:solidFill>
                    <a:latin typeface="Arial"/>
                  </a:rPr>
                  <a:t> the function </a:t>
                </a:r>
                <a:r>
                  <a:rPr lang="en-IN" sz="2400">
                    <a:solidFill>
                      <a:srgbClr val="111827"/>
                    </a:solidFill>
                    <a:latin typeface="Cambria Math" panose="02040503050406030204" pitchFamily="18" charset="0"/>
                  </a:rPr>
                  <a:t>$f(ax+b)$</a:t>
                </a:r>
                <a:r>
                  <a:rPr sz="2400" b="0">
                    <a:solidFill>
                      <a:srgbClr val="111827"/>
                    </a:solidFill>
                    <a:latin typeface="Arial"/>
                  </a:rPr>
                  <a:t> increases if </a:t>
                </a:r>
                <a:r>
                  <a:rPr lang="en-IN" sz="2400">
                    <a:solidFill>
                      <a:srgbClr val="111827"/>
                    </a:solidFill>
                    <a:latin typeface="Cambria Math" panose="02040503050406030204" pitchFamily="18" charset="0"/>
                  </a:rPr>
                  <a:t>$a&gt;0$</a:t>
                </a:r>
                <a:r>
                  <a:rPr sz="2400" b="0">
                    <a:solidFill>
                      <a:srgbClr val="111827"/>
                    </a:solidFill>
                    <a:latin typeface="Arial"/>
                  </a:rPr>
                  <a:t> and decreases if </a:t>
                </a:r>
                <a:r>
                  <a:rPr lang="en-IN" sz="2400">
                    <a:solidFill>
                      <a:srgbClr val="111827"/>
                    </a:solidFill>
                    <a:latin typeface="Cambria Math" panose="02040503050406030204" pitchFamily="18" charset="0"/>
                  </a:rPr>
                  <a:t>$a&lt;0$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$f'\ge0$</a:t>
                </a:r>
                <a:r>
                  <a:rPr sz="2400" b="0">
                    <a:solidFill>
                      <a:srgbClr val="111827"/>
                    </a:solidFill>
                    <a:latin typeface="Arial"/>
                  </a:rPr>
                  <a:t> and </a:t>
                </a:r>
                <a:r>
                  <a:rPr lang="en-IN" sz="2400">
                    <a:solidFill>
                      <a:srgbClr val="111827"/>
                    </a:solidFill>
                    <a:latin typeface="Cambria Math" panose="02040503050406030204" pitchFamily="18" charset="0"/>
                  </a:rPr>
                  <a:t>$f'=0$</a:t>
                </a:r>
                <a:r>
                  <a:rPr sz="2400" b="0">
                    <a:solidFill>
                      <a:srgbClr val="111827"/>
                    </a:solidFill>
                    <a:latin typeface="Arial"/>
                  </a:rPr>
                  <a:t> only at isolated points, </a:t>
                </a:r>
                <a:r>
                  <a:rPr lang="en-IN" sz="2400">
                    <a:solidFill>
                      <a:srgbClr val="111827"/>
                    </a:solidFill>
                    <a:latin typeface="Cambria Math" panose="02040503050406030204" pitchFamily="18" charset="0"/>
                  </a:rPr>
                  <a:t>$f$</a:t>
                </a:r>
                <a:r>
                  <a:rPr sz="2400" b="0">
                    <a:solidFill>
                      <a:srgbClr val="111827"/>
                    </a:solidFill>
                    <a:latin typeface="Arial"/>
                  </a:rPr>
                  <a:t> is still strictly increasing (for example </a:t>
                </a:r>
                <a:r>
                  <a:rPr lang="en-IN" sz="2400">
                    <a:solidFill>
                      <a:srgbClr val="111827"/>
                    </a:solidFill>
                    <a:latin typeface="Cambria Math" panose="02040503050406030204" pitchFamily="18" charset="0"/>
                  </a:rPr>
                  <a:t>$x^3$</a:t>
                </a:r>
                <a:r>
                  <a:rPr sz="2400" b="0">
                    <a:solidFill>
                      <a:srgbClr val="111827"/>
                    </a:solidFill>
                    <a:latin typeface="Arial"/>
                  </a:rPr>
                  <a:t> at </a:t>
                </a:r>
                <a:r>
                  <a:rPr lang="en-IN" sz="2400">
                    <a:solidFill>
                      <a:srgbClr val="111827"/>
                    </a:solidFill>
                    <a:latin typeface="Cambria Math" panose="02040503050406030204" pitchFamily="18" charset="0"/>
                  </a:rPr>
                  <a: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$f(x^2-x)$</a:t>
                </a:r>
                <a:r>
                  <a:rPr sz="2400" b="0">
                    <a:solidFill>
                      <a:srgbClr val="111827"/>
                    </a:solidFill>
                    <a:latin typeface="Arial"/>
                  </a:rPr>
                  <a:t> has derivative </a:t>
                </a:r>
                <a:r>
                  <a:rPr lang="en-IN" sz="2400">
                    <a:solidFill>
                      <a:srgbClr val="111827"/>
                    </a:solidFill>
                    <a:latin typeface="Cambria Math" panose="02040503050406030204" pitchFamily="18" charset="0"/>
                  </a:rPr>
                  <a:t>$(2x-1)f'(x^2-x)$</a:t>
                </a:r>
                <a:r>
                  <a:rPr sz="2400" b="0">
                    <a:solidFill>
                      <a:srgbClr val="111827"/>
                    </a:solidFill>
                    <a:latin typeface="Arial"/>
                  </a:rPr>
                  <a:t>: it decreases for </a:t>
                </a:r>
                <a:r>
                  <a:rPr lang="en-IN" sz="2400">
                    <a:solidFill>
                      <a:srgbClr val="111827"/>
                    </a:solidFill>
                    <a:latin typeface="Cambria Math" panose="02040503050406030204" pitchFamily="18" charset="0"/>
                  </a:rPr>
                  <a:t>$x&lt;\frac12$</a:t>
                </a:r>
                <a:r>
                  <a:rPr sz="2400" b="0">
                    <a:solidFill>
                      <a:srgbClr val="111827"/>
                    </a:solidFill>
                    <a:latin typeface="Arial"/>
                  </a:rPr>
                  <a:t>, increases for </a:t>
                </a:r>
                <a:r>
                  <a:rPr lang="en-IN" sz="2400">
                    <a:solidFill>
                      <a:srgbClr val="111827"/>
                    </a:solidFill>
                    <a:latin typeface="Cambria Math" panose="02040503050406030204" pitchFamily="18" charset="0"/>
                  </a:rPr>
                  <a:t>$x&gt;\frac12$</a:t>
                </a:r>
                <a:r>
                  <a:rPr sz="2400" b="0">
                    <a:solidFill>
                      <a:srgbClr val="111827"/>
                    </a:solidFill>
                    <a:latin typeface="Arial"/>
                  </a:rPr>
                  <a:t> and has a minimum at </a:t>
                </a:r>
                <a:r>
                  <a:rPr lang="en-IN" sz="2400">
                    <a:solidFill>
                      <a:srgbClr val="111827"/>
                    </a:solidFill>
                    <a:latin typeface="Cambria Math" panose="02040503050406030204" pitchFamily="18" charset="0"/>
                  </a:rPr>
                  <a:t>$x=\frac12$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85927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a differentiable function with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Define a function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does not follow Rolle's theorem in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which of the following options is/are false?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cannot have any root in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has at least one root in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zero at atleast one point in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cannot satisfy Rolle's theorem in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endParaRPr sz="2400">
                  <a:solidFill>
                    <a:srgbClr val="111827"/>
                  </a:solidFill>
                </a:endParaRPr>
              </a:p>
            </p:txBody>
          </p:sp>
        </mc:Choice>
        <mc:Fallback>
          <p:sp>
            <p:nvSpPr>
              <p:cNvPr id="4" name="Rounded Rectangle 3"/>
              <p:cNvSpPr/>
              <p:nvPr/>
            </p:nvSpPr>
            <p:spPr>
              <a:xfrm>
                <a:off x="731520" y="1280160"/>
                <a:ext cx="10725912" cy="385927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$f(x)$</a:t>
                </a:r>
                <a:r>
                  <a:rPr sz="2400" b="0">
                    <a:solidFill>
                      <a:srgbClr val="111827"/>
                    </a:solidFill>
                    <a:latin typeface="Arial"/>
                  </a:rPr>
                  <a:t> be a differentiable function with </a:t>
                </a:r>
                <a:r>
                  <a:rPr lang="en-IN" sz="2400">
                    <a:solidFill>
                      <a:srgbClr val="111827"/>
                    </a:solidFill>
                    <a:latin typeface="Cambria Math" panose="02040503050406030204" pitchFamily="18" charset="0"/>
                  </a:rPr>
                  <a:t>$f(1)f(-1)\neq0$</a:t>
                </a:r>
                <a:r>
                  <a:rPr sz="2400" b="0">
                    <a:solidFill>
                      <a:srgbClr val="111827"/>
                    </a:solidFill>
                    <a:latin typeface="Arial"/>
                  </a:rPr>
                  <a:t>. Define a function </a:t>
                </a:r>
                <a:r>
                  <a:rPr lang="en-IN" sz="2400">
                    <a:solidFill>
                      <a:srgbClr val="111827"/>
                    </a:solidFill>
                    <a:latin typeface="Cambria Math" panose="02040503050406030204" pitchFamily="18" charset="0"/>
                  </a:rPr>
                  <a:t>$g(x)=\frac{x^2-1}{f(x)}$</a:t>
                </a:r>
                <a:r>
                  <a:rPr sz="2400" b="0">
                    <a:solidFill>
                      <a:srgbClr val="111827"/>
                    </a:solidFill>
                    <a:latin typeface="Arial"/>
                  </a:rPr>
                  <a:t>. If </a:t>
                </a:r>
                <a:r>
                  <a:rPr lang="en-IN" sz="2400">
                    <a:solidFill>
                      <a:srgbClr val="111827"/>
                    </a:solidFill>
                    <a:latin typeface="Cambria Math" panose="02040503050406030204" pitchFamily="18" charset="0"/>
                  </a:rPr>
                  <a:t>$g(x)$</a:t>
                </a:r>
                <a:r>
                  <a:rPr sz="2400" b="0">
                    <a:solidFill>
                      <a:srgbClr val="111827"/>
                    </a:solidFill>
                    <a:latin typeface="Arial"/>
                  </a:rPr>
                  <a:t> does not follow Rolle's theorem in </a:t>
                </a:r>
                <a:r>
                  <a:rPr lang="en-IN" sz="2400">
                    <a:solidFill>
                      <a:srgbClr val="111827"/>
                    </a:solidFill>
                    <a:latin typeface="Cambria Math" panose="02040503050406030204" pitchFamily="18" charset="0"/>
                  </a:rPr>
                  <a:t>$[-1,1]$</a:t>
                </a:r>
                <a:r>
                  <a:rPr sz="2400" b="0">
                    <a:solidFill>
                      <a:srgbClr val="111827"/>
                    </a:solidFill>
                    <a:latin typeface="Arial"/>
                  </a:rPr>
                  <a:t>, then which of the following options is/are false?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$f(x)=0$</a:t>
                </a:r>
                <a:r>
                  <a:rPr sz="2400" b="0">
                    <a:solidFill>
                      <a:srgbClr val="111827"/>
                    </a:solidFill>
                    <a:latin typeface="Arial"/>
                  </a:rPr>
                  <a:t> cannot have any root in </a:t>
                </a:r>
                <a:r>
                  <a:rPr lang="en-IN" sz="2400">
                    <a:solidFill>
                      <a:srgbClr val="111827"/>
                    </a:solidFill>
                    <a:latin typeface="Cambria Math" panose="02040503050406030204" pitchFamily="18" charset="0"/>
                  </a:rPr>
                  <a:t>$[-1,1]$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$f(x)=0$</a:t>
                </a:r>
                <a:r>
                  <a:rPr sz="2400" b="0">
                    <a:solidFill>
                      <a:srgbClr val="111827"/>
                    </a:solidFill>
                    <a:latin typeface="Arial"/>
                  </a:rPr>
                  <a:t> has at least one root in </a:t>
                </a:r>
                <a:r>
                  <a:rPr lang="en-IN" sz="2400">
                    <a:solidFill>
                      <a:srgbClr val="111827"/>
                    </a:solidFill>
                    <a:latin typeface="Cambria Math" panose="02040503050406030204" pitchFamily="18" charset="0"/>
                  </a:rPr>
                  <a:t>$[-1,1]$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$f'(x)$</a:t>
                </a:r>
                <a:r>
                  <a:rPr sz="2400" b="0">
                    <a:solidFill>
                      <a:srgbClr val="111827"/>
                    </a:solidFill>
                    <a:latin typeface="Arial"/>
                  </a:rPr>
                  <a:t> is zero at atleast one point in </a:t>
                </a:r>
                <a:r>
                  <a:rPr lang="en-IN" sz="2400">
                    <a:solidFill>
                      <a:srgbClr val="111827"/>
                    </a:solidFill>
                    <a:latin typeface="Cambria Math" panose="02040503050406030204" pitchFamily="18" charset="0"/>
                  </a:rPr>
                  <a:t>$[-1,1]$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$f(x)$</a:t>
                </a:r>
                <a:r>
                  <a:rPr sz="2400" b="0">
                    <a:solidFill>
                      <a:srgbClr val="111827"/>
                    </a:solidFill>
                    <a:latin typeface="Arial"/>
                  </a:rPr>
                  <a:t> cannot satisfy Rolle's theorem in </a:t>
                </a:r>
                <a:r>
                  <a:rPr lang="en-IN" sz="2400">
                    <a:solidFill>
                      <a:srgbClr val="111827"/>
                    </a:solidFill>
                    <a:latin typeface="Cambria Math" panose="02040503050406030204" pitchFamily="18" charset="0"/>
                  </a:rPr>
                  <a:t>$[-1,1]$</a:t>
                </a:r>
                <a:endParaRPr sz="2400">
                  <a:solidFill>
                    <a:srgbClr val="111827"/>
                  </a:solidFill>
                </a:endParaRPr>
              </a:p>
            </p:txBody>
          </p:sp>
        </mc:Fallback>
      </mc:AlternateContent>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ectangle 3"/>
          <p:cNvSpPr/>
          <p:nvPr/>
        </p:nvSpPr>
        <p:spPr>
          <a:xfrm>
            <a:off x="731520" y="128016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One or more than one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Rolle's theorem and its conditions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066288"/>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Since </a:t>
                </a:r>
                <a14:m>
                  <m:oMath xmlns:m="http://schemas.openxmlformats.org/officeDocument/2006/math">
                    <m:r>
                      <a:rPr lang="en-IN" sz="2400" i="1">
                        <a:solidFill>
                          <a:srgbClr val="78350F"/>
                        </a:solidFill>
                        <a:latin typeface="Cambria Math" panose="02040503050406030204" pitchFamily="18" charset="0"/>
                      </a:rPr>
                      <m:t>𝑔</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the only way </a:t>
                </a:r>
                <a14:m>
                  <m:oMath xmlns:m="http://schemas.openxmlformats.org/officeDocument/2006/math">
                    <m:r>
                      <a:rPr lang="en-IN" sz="2400" i="1">
                        <a:solidFill>
                          <a:srgbClr val="78350F"/>
                        </a:solidFill>
                        <a:latin typeface="Cambria Math" panose="02040503050406030204" pitchFamily="18" charset="0"/>
                      </a:rPr>
                      <m:t>𝑔</m:t>
                    </m:r>
                  </m:oMath>
                </a14:m>
                <a:r>
                  <a:rPr sz="2400" b="0">
                    <a:solidFill>
                      <a:srgbClr val="78350F"/>
                    </a:solidFill>
                    <a:latin typeface="Arial"/>
                  </a:rPr>
                  <a:t> can fail Rolle's theorem is that </a:t>
                </a:r>
                <a14:m>
                  <m:oMath xmlns:m="http://schemas.openxmlformats.org/officeDocument/2006/math">
                    <m:r>
                      <a:rPr lang="en-IN" sz="2400" i="1">
                        <a:solidFill>
                          <a:srgbClr val="78350F"/>
                        </a:solidFill>
                        <a:latin typeface="Cambria Math" panose="02040503050406030204" pitchFamily="18" charset="0"/>
                      </a:rPr>
                      <m:t>𝑓</m:t>
                    </m:r>
                  </m:oMath>
                </a14:m>
                <a:r>
                  <a:rPr sz="2400" b="0">
                    <a:solidFill>
                      <a:srgbClr val="78350F"/>
                    </a:solidFill>
                    <a:latin typeface="Arial"/>
                  </a:rPr>
                  <a:t> vanishes at some point of </a:t>
                </a:r>
                <a14:m>
                  <m:oMath xmlns:m="http://schemas.openxmlformats.org/officeDocument/2006/math">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where </a:t>
                </a:r>
                <a14:m>
                  <m:oMath xmlns:m="http://schemas.openxmlformats.org/officeDocument/2006/math">
                    <m:r>
                      <a:rPr lang="en-IN" sz="2400" i="1">
                        <a:solidFill>
                          <a:srgbClr val="78350F"/>
                        </a:solidFill>
                        <a:latin typeface="Cambria Math" panose="02040503050406030204" pitchFamily="18" charset="0"/>
                      </a:rPr>
                      <m:t>𝑔</m:t>
                    </m:r>
                  </m:oMath>
                </a14:m>
                <a:r>
                  <a:rPr sz="2400" b="0">
                    <a:solidFill>
                      <a:srgbClr val="78350F"/>
                    </a:solidFill>
                    <a:latin typeface="Arial"/>
                  </a:rPr>
                  <a:t> is undefined.</a:t>
                </a:r>
                <a:endParaRPr sz="2400">
                  <a:solidFill>
                    <a:srgbClr val="78350F"/>
                  </a:solidFill>
                </a:endParaRPr>
              </a:p>
            </p:txBody>
          </p:sp>
        </mc:Choice>
        <mc:Fallback>
          <p:sp>
            <p:nvSpPr>
              <p:cNvPr id="5" name="Rounded Rectangle 4"/>
              <p:cNvSpPr/>
              <p:nvPr/>
            </p:nvSpPr>
            <p:spPr>
              <a:xfrm>
                <a:off x="731520" y="3066288"/>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Since </a:t>
                </a:r>
                <a:r>
                  <a:rPr lang="en-IN" sz="2400">
                    <a:solidFill>
                      <a:srgbClr val="78350F"/>
                    </a:solidFill>
                    <a:latin typeface="Cambria Math" panose="02040503050406030204" pitchFamily="18" charset="0"/>
                  </a:rPr>
                  <a:t>$g(\pm1)=0$</a:t>
                </a:r>
                <a:r>
                  <a:rPr sz="2400" b="0">
                    <a:solidFill>
                      <a:srgbClr val="78350F"/>
                    </a:solidFill>
                    <a:latin typeface="Arial"/>
                  </a:rPr>
                  <a:t>, the only way </a:t>
                </a:r>
                <a:r>
                  <a:rPr lang="en-IN" sz="2400">
                    <a:solidFill>
                      <a:srgbClr val="78350F"/>
                    </a:solidFill>
                    <a:latin typeface="Cambria Math" panose="02040503050406030204" pitchFamily="18" charset="0"/>
                  </a:rPr>
                  <a:t>$g$</a:t>
                </a:r>
                <a:r>
                  <a:rPr sz="2400" b="0">
                    <a:solidFill>
                      <a:srgbClr val="78350F"/>
                    </a:solidFill>
                    <a:latin typeface="Arial"/>
                  </a:rPr>
                  <a:t> can fail Rolle's theorem is that </a:t>
                </a:r>
                <a:r>
                  <a:rPr lang="en-IN" sz="2400">
                    <a:solidFill>
                      <a:srgbClr val="78350F"/>
                    </a:solidFill>
                    <a:latin typeface="Cambria Math" panose="02040503050406030204" pitchFamily="18" charset="0"/>
                  </a:rPr>
                  <a:t>$f$</a:t>
                </a:r>
                <a:r>
                  <a:rPr sz="2400" b="0">
                    <a:solidFill>
                      <a:srgbClr val="78350F"/>
                    </a:solidFill>
                    <a:latin typeface="Arial"/>
                  </a:rPr>
                  <a:t> vanishes at some point of </a:t>
                </a:r>
                <a:r>
                  <a:rPr lang="en-IN" sz="2400">
                    <a:solidFill>
                      <a:srgbClr val="78350F"/>
                    </a:solidFill>
                    <a:latin typeface="Cambria Math" panose="02040503050406030204" pitchFamily="18" charset="0"/>
                  </a:rPr>
                  <a:t>$(-1,1)$</a:t>
                </a:r>
                <a:r>
                  <a:rPr sz="2400" b="0">
                    <a:solidFill>
                      <a:srgbClr val="78350F"/>
                    </a:solidFill>
                    <a:latin typeface="Arial"/>
                  </a:rPr>
                  <a:t>, where </a:t>
                </a:r>
                <a:r>
                  <a:rPr lang="en-IN" sz="2400">
                    <a:solidFill>
                      <a:srgbClr val="78350F"/>
                    </a:solidFill>
                    <a:latin typeface="Cambria Math" panose="02040503050406030204" pitchFamily="18" charset="0"/>
                  </a:rPr>
                  <a:t>$g$</a:t>
                </a:r>
                <a:r>
                  <a:rPr sz="2400" b="0">
                    <a:solidFill>
                      <a:srgbClr val="78350F"/>
                    </a:solidFill>
                    <a:latin typeface="Arial"/>
                  </a:rPr>
                  <a:t> is undefined.</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684776"/>
                <a:ext cx="10725912" cy="199034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0</m:t>
                        </m:r>
                      </m:num>
                      <m:den>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because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is defined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684776"/>
                <a:ext cx="10725912" cy="199034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$g(\pm1)=\frac{0}{f(\pm1)}=0$</a:t>
                </a:r>
                <a:r>
                  <a:rPr sz="2400" b="0">
                    <a:solidFill>
                      <a:srgbClr val="111827"/>
                    </a:solidFill>
                    <a:latin typeface="Arial"/>
                  </a:rPr>
                  <a:t> because </a:t>
                </a:r>
                <a:r>
                  <a:rPr lang="en-IN" sz="2400">
                    <a:solidFill>
                      <a:srgbClr val="111827"/>
                    </a:solidFill>
                    <a:latin typeface="Cambria Math" panose="02040503050406030204" pitchFamily="18" charset="0"/>
                  </a:rPr>
                  <a:t>$f(1)f(-1)\neq0$</a:t>
                </a:r>
                <a:r>
                  <a:rPr sz="2400" b="0">
                    <a:solidFill>
                      <a:srgbClr val="111827"/>
                    </a:solidFill>
                    <a:latin typeface="Arial"/>
                  </a:rPr>
                  <a:t>. So </a:t>
                </a:r>
                <a:r>
                  <a:rPr lang="en-IN" sz="2400">
                    <a:solidFill>
                      <a:srgbClr val="111827"/>
                    </a:solidFill>
                    <a:latin typeface="Cambria Math" panose="02040503050406030204" pitchFamily="18" charset="0"/>
                  </a:rPr>
                  <a:t>$g$</a:t>
                </a:r>
                <a:r>
                  <a:rPr sz="2400" b="0">
                    <a:solidFill>
                      <a:srgbClr val="111827"/>
                    </a:solidFill>
                    <a:latin typeface="Arial"/>
                  </a:rPr>
                  <a:t> is defined at </a:t>
                </a:r>
                <a:r>
                  <a:rPr lang="en-IN" sz="2400">
                    <a:solidFill>
                      <a:srgbClr val="111827"/>
                    </a:solidFill>
                    <a:latin typeface="Cambria Math" panose="02040503050406030204" pitchFamily="18" charset="0"/>
                  </a:rPr>
                  <a:t>$\pm1$</a:t>
                </a:r>
                <a:r>
                  <a:rPr sz="2400" b="0">
                    <a:solidFill>
                      <a:srgbClr val="111827"/>
                    </a:solidFill>
                    <a:latin typeface="Arial"/>
                  </a:rPr>
                  <a:t> and </a:t>
                </a:r>
                <a:r>
                  <a:rPr lang="en-IN" sz="2400">
                    <a:solidFill>
                      <a:srgbClr val="111827"/>
                    </a:solidFill>
                    <a:latin typeface="Cambria Math" panose="02040503050406030204" pitchFamily="18" charset="0"/>
                  </a:rPr>
                  <a:t>$g(-1)=g(1)$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differentiable, hence continuous. Wherever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is continuous and differentiable.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had no zero in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would be continuous 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differentiable 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Rolle's theorem would apply to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satisfies Rolle's theorem unless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some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Since it does not,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has at least one root in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(B) is true, and (A)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cannot have any root in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far as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Rolle's theorem for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are concerned, nothing definite can be said without further information. So (C) and (D) are not guaranteed, i.e. these statements are false.</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a:t>
                </a:r>
                <a:r>
                  <a:rPr sz="2400" b="0">
                    <a:solidFill>
                      <a:srgbClr val="111827"/>
                    </a:solidFill>
                    <a:latin typeface="Arial"/>
                  </a:rPr>
                  <a:t> is differentiable, hence continuous. Wherever </a:t>
                </a:r>
                <a:r>
                  <a:rPr lang="en-IN" sz="2400">
                    <a:solidFill>
                      <a:srgbClr val="111827"/>
                    </a:solidFill>
                    <a:latin typeface="Cambria Math" panose="02040503050406030204" pitchFamily="18" charset="0"/>
                  </a:rPr>
                  <a:t>$f\neq0$</a:t>
                </a:r>
                <a:r>
                  <a:rPr sz="2400" b="0">
                    <a:solidFill>
                      <a:srgbClr val="111827"/>
                    </a:solidFill>
                    <a:latin typeface="Arial"/>
                  </a:rPr>
                  <a:t>, </a:t>
                </a:r>
                <a:r>
                  <a:rPr lang="en-IN" sz="2400">
                    <a:solidFill>
                      <a:srgbClr val="111827"/>
                    </a:solidFill>
                    <a:latin typeface="Cambria Math" panose="02040503050406030204" pitchFamily="18" charset="0"/>
                  </a:rPr>
                  <a:t>$g$</a:t>
                </a:r>
                <a:r>
                  <a:rPr sz="2400" b="0">
                    <a:solidFill>
                      <a:srgbClr val="111827"/>
                    </a:solidFill>
                    <a:latin typeface="Arial"/>
                  </a:rPr>
                  <a:t> is continuous and differentiable.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$f$</a:t>
                </a:r>
                <a:r>
                  <a:rPr sz="2400" b="0">
                    <a:solidFill>
                      <a:srgbClr val="111827"/>
                    </a:solidFill>
                    <a:latin typeface="Arial"/>
                  </a:rPr>
                  <a:t> had no zero in </a:t>
                </a:r>
                <a:r>
                  <a:rPr lang="en-IN" sz="2400">
                    <a:solidFill>
                      <a:srgbClr val="111827"/>
                    </a:solidFill>
                    <a:latin typeface="Cambria Math" panose="02040503050406030204" pitchFamily="18" charset="0"/>
                  </a:rPr>
                  <a:t>$[-1,1]$</a:t>
                </a:r>
                <a:r>
                  <a:rPr sz="2400" b="0">
                    <a:solidFill>
                      <a:srgbClr val="111827"/>
                    </a:solidFill>
                    <a:latin typeface="Arial"/>
                  </a:rPr>
                  <a:t>, then </a:t>
                </a:r>
                <a:r>
                  <a:rPr lang="en-IN" sz="2400">
                    <a:solidFill>
                      <a:srgbClr val="111827"/>
                    </a:solidFill>
                    <a:latin typeface="Cambria Math" panose="02040503050406030204" pitchFamily="18" charset="0"/>
                  </a:rPr>
                  <a:t>$g$</a:t>
                </a:r>
                <a:r>
                  <a:rPr sz="2400" b="0">
                    <a:solidFill>
                      <a:srgbClr val="111827"/>
                    </a:solidFill>
                    <a:latin typeface="Arial"/>
                  </a:rPr>
                  <a:t> would be continuous on </a:t>
                </a:r>
                <a:r>
                  <a:rPr lang="en-IN" sz="2400">
                    <a:solidFill>
                      <a:srgbClr val="111827"/>
                    </a:solidFill>
                    <a:latin typeface="Cambria Math" panose="02040503050406030204" pitchFamily="18" charset="0"/>
                  </a:rPr>
                  <a:t>$[-1,1]$</a:t>
                </a:r>
                <a:r>
                  <a:rPr sz="2400" b="0">
                    <a:solidFill>
                      <a:srgbClr val="111827"/>
                    </a:solidFill>
                    <a:latin typeface="Arial"/>
                  </a:rPr>
                  <a:t>, differentiable on </a:t>
                </a:r>
                <a:r>
                  <a:rPr lang="en-IN" sz="2400">
                    <a:solidFill>
                      <a:srgbClr val="111827"/>
                    </a:solidFill>
                    <a:latin typeface="Cambria Math" panose="02040503050406030204" pitchFamily="18" charset="0"/>
                  </a:rPr>
                  <a:t>$(-1,1)$</a:t>
                </a:r>
                <a:r>
                  <a:rPr sz="2400" b="0">
                    <a:solidFill>
                      <a:srgbClr val="111827"/>
                    </a:solidFill>
                    <a:latin typeface="Arial"/>
                  </a:rPr>
                  <a:t> and </a:t>
                </a:r>
                <a:r>
                  <a:rPr lang="en-IN" sz="2400">
                    <a:solidFill>
                      <a:srgbClr val="111827"/>
                    </a:solidFill>
                    <a:latin typeface="Cambria Math" panose="02040503050406030204" pitchFamily="18" charset="0"/>
                  </a:rPr>
                  <a:t>$g(-1)=g(1)$</a:t>
                </a:r>
                <a:r>
                  <a:rPr sz="2400" b="0">
                    <a:solidFill>
                      <a:srgbClr val="111827"/>
                    </a:solidFill>
                    <a:latin typeface="Arial"/>
                  </a:rPr>
                  <a:t>, so Rolle's theorem would apply to </a:t>
                </a:r>
                <a:r>
                  <a:rPr lang="en-IN" sz="2400">
                    <a:solidFill>
                      <a:srgbClr val="111827"/>
                    </a:solidFill>
                    <a:latin typeface="Cambria Math" panose="02040503050406030204" pitchFamily="18" charset="0"/>
                  </a:rPr>
                  <a:t>$g$</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$g$</a:t>
                </a:r>
                <a:r>
                  <a:rPr sz="2400" b="0">
                    <a:solidFill>
                      <a:srgbClr val="111827"/>
                    </a:solidFill>
                    <a:latin typeface="Arial"/>
                  </a:rPr>
                  <a:t> satisfies Rolle's theorem unless </a:t>
                </a:r>
                <a:r>
                  <a:rPr lang="en-IN" sz="2400">
                    <a:solidFill>
                      <a:srgbClr val="111827"/>
                    </a:solidFill>
                    <a:latin typeface="Cambria Math" panose="02040503050406030204" pitchFamily="18" charset="0"/>
                  </a:rPr>
                  <a:t>$f(x)=0$</a:t>
                </a:r>
                <a:r>
                  <a:rPr sz="2400" b="0">
                    <a:solidFill>
                      <a:srgbClr val="111827"/>
                    </a:solidFill>
                    <a:latin typeface="Arial"/>
                  </a:rPr>
                  <a:t> for some </a:t>
                </a:r>
                <a:r>
                  <a:rPr lang="en-IN" sz="2400">
                    <a:solidFill>
                      <a:srgbClr val="111827"/>
                    </a:solidFill>
                    <a:latin typeface="Cambria Math" panose="02040503050406030204" pitchFamily="18" charset="0"/>
                  </a:rPr>
                  <a:t>$x\in(-1,1)$</a:t>
                </a:r>
                <a:r>
                  <a:rPr sz="2400" b="0">
                    <a:solidFill>
                      <a:srgbClr val="111827"/>
                    </a:solidFill>
                    <a:latin typeface="Arial"/>
                  </a:rPr>
                  <a:t>. Since it does not, </a:t>
                </a:r>
                <a:r>
                  <a:rPr lang="en-IN" sz="2400">
                    <a:solidFill>
                      <a:srgbClr val="111827"/>
                    </a:solidFill>
                    <a:latin typeface="Cambria Math" panose="02040503050406030204" pitchFamily="18" charset="0"/>
                  </a:rPr>
                  <a:t>$f(x)=0$</a:t>
                </a:r>
                <a:r>
                  <a:rPr sz="2400" b="0">
                    <a:solidFill>
                      <a:srgbClr val="111827"/>
                    </a:solidFill>
                    <a:latin typeface="Arial"/>
                  </a:rPr>
                  <a:t> has at least one root in </a:t>
                </a:r>
                <a:r>
                  <a:rPr lang="en-IN" sz="2400">
                    <a:solidFill>
                      <a:srgbClr val="111827"/>
                    </a:solidFill>
                    <a:latin typeface="Cambria Math" panose="02040503050406030204" pitchFamily="18" charset="0"/>
                  </a:rPr>
                  <a:t>$(-1,1)$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(B) is true, and (A) (</a:t>
                </a:r>
                <a:r>
                  <a:rPr lang="en-IN" sz="2400">
                    <a:solidFill>
                      <a:srgbClr val="111827"/>
                    </a:solidFill>
                    <a:latin typeface="Cambria Math" panose="02040503050406030204" pitchFamily="18" charset="0"/>
                  </a:rPr>
                  <a:t>$f(x)=0$</a:t>
                </a:r>
                <a:r>
                  <a:rPr sz="2400" b="0">
                    <a:solidFill>
                      <a:srgbClr val="111827"/>
                    </a:solidFill>
                    <a:latin typeface="Arial"/>
                  </a:rPr>
                  <a:t> cannot have any root in </a:t>
                </a:r>
                <a:r>
                  <a:rPr lang="en-IN" sz="2400">
                    <a:solidFill>
                      <a:srgbClr val="111827"/>
                    </a:solidFill>
                    <a:latin typeface="Cambria Math" panose="02040503050406030204" pitchFamily="18" charset="0"/>
                  </a:rPr>
                  <a:t>$[-1,1]$</a:t>
                </a:r>
                <a:r>
                  <a:rPr sz="2400" b="0">
                    <a:solidFill>
                      <a:srgbClr val="111827"/>
                    </a:solidFill>
                    <a:latin typeface="Arial"/>
                  </a:rPr>
                  <a:t>)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far as </a:t>
                </a:r>
                <a:r>
                  <a:rPr lang="en-IN" sz="2400">
                    <a:solidFill>
                      <a:srgbClr val="111827"/>
                    </a:solidFill>
                    <a:latin typeface="Cambria Math" panose="02040503050406030204" pitchFamily="18" charset="0"/>
                  </a:rPr>
                  <a:t>$f'(x)$</a:t>
                </a:r>
                <a:r>
                  <a:rPr sz="2400" b="0">
                    <a:solidFill>
                      <a:srgbClr val="111827"/>
                    </a:solidFill>
                    <a:latin typeface="Arial"/>
                  </a:rPr>
                  <a:t> and Rolle's theorem for </a:t>
                </a:r>
                <a:r>
                  <a:rPr lang="en-IN" sz="2400">
                    <a:solidFill>
                      <a:srgbClr val="111827"/>
                    </a:solidFill>
                    <a:latin typeface="Cambria Math" panose="02040503050406030204" pitchFamily="18" charset="0"/>
                  </a:rPr>
                  <a:t>$f$</a:t>
                </a:r>
                <a:r>
                  <a:rPr sz="2400" b="0">
                    <a:solidFill>
                      <a:srgbClr val="111827"/>
                    </a:solidFill>
                    <a:latin typeface="Arial"/>
                  </a:rPr>
                  <a:t> are concerned, nothing definite can be said without further information. So (C) and (D) are not guaranteed, i.e. these statements are false.</a:t>
                </a:r>
                <a:endParaRPr sz="2400">
                  <a:solidFill>
                    <a:srgbClr val="111827"/>
                  </a:solidFill>
                </a:endParaRPr>
              </a:p>
            </p:txBody>
          </p:sp>
        </mc:Fallback>
      </mc:AlternateContent>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False options: (A), (C), (D).</a:t>
            </a:r>
            <a:endParaRPr sz="2400">
              <a:solidFill>
                <a:srgbClr val="111827"/>
              </a:solidFill>
            </a:endParaRPr>
          </a:p>
        </p:txBody>
      </p:sp>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C, D)</a:t>
            </a:r>
            <a:endParaRPr sz="2800">
              <a:solidFill>
                <a:srgbClr val="15803D"/>
              </a:solidFill>
            </a:endParaRP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Test the four statements with two admissible functions,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Test the four statements with two admissible functions, </a:t>
                </a:r>
                <a:r>
                  <a:rPr lang="en-IN" sz="2400">
                    <a:solidFill>
                      <a:srgbClr val="78350F"/>
                    </a:solidFill>
                    <a:latin typeface="Cambria Math" panose="02040503050406030204" pitchFamily="18" charset="0"/>
                  </a:rPr>
                  <a:t>$f(x)=x$</a:t>
                </a:r>
                <a:r>
                  <a:rPr sz="2400" b="0">
                    <a:solidFill>
                      <a:srgbClr val="78350F"/>
                    </a:solidFill>
                    <a:latin typeface="Arial"/>
                  </a:rPr>
                  <a:t> and </a:t>
                </a:r>
                <a:r>
                  <a:rPr lang="en-IN" sz="2400">
                    <a:solidFill>
                      <a:srgbClr val="78350F"/>
                    </a:solidFill>
                    <a:latin typeface="Cambria Math" panose="02040503050406030204" pitchFamily="18" charset="0"/>
                  </a:rPr>
                  <a:t>$f(x)=x^2-\frac12$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 is undefined at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fails Rolle's theorem. Hence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is an admissible function.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the root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lies in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which contradicts (A). So (A)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never zero, so (C) is not always true: (C) is false.</a:t>
                </a:r>
                <a:endParaRPr sz="2400">
                  <a:solidFill>
                    <a:srgbClr val="111827"/>
                  </a:solidFill>
                </a:endParaRPr>
              </a:p>
            </p:txBody>
          </p:sp>
        </mc:Choice>
        <mc:Fallback>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a:t>
                </a:r>
                <a:r>
                  <a:rPr lang="en-IN" sz="2400">
                    <a:solidFill>
                      <a:srgbClr val="111827"/>
                    </a:solidFill>
                    <a:latin typeface="Cambria Math" panose="02040503050406030204" pitchFamily="18" charset="0"/>
                  </a:rPr>
                  <a:t>$f(x)=x$</a:t>
                </a:r>
                <a:r>
                  <a:rPr sz="2400" b="0">
                    <a:solidFill>
                      <a:srgbClr val="111827"/>
                    </a:solidFill>
                    <a:latin typeface="Arial"/>
                  </a:rPr>
                  <a:t>: </a:t>
                </a:r>
                <a:r>
                  <a:rPr lang="en-IN" sz="2400">
                    <a:solidFill>
                      <a:srgbClr val="111827"/>
                    </a:solidFill>
                    <a:latin typeface="Cambria Math" panose="02040503050406030204" pitchFamily="18" charset="0"/>
                  </a:rPr>
                  <a:t>$f(1)f(-1)=-1\neq0$</a:t>
                </a:r>
                <a:r>
                  <a:rPr sz="2400" b="0">
                    <a:solidFill>
                      <a:srgbClr val="111827"/>
                    </a:solidFill>
                    <a:latin typeface="Arial"/>
                  </a:rPr>
                  <a:t>, and </a:t>
                </a:r>
                <a:r>
                  <a:rPr lang="en-IN" sz="2400">
                    <a:solidFill>
                      <a:srgbClr val="111827"/>
                    </a:solidFill>
                    <a:latin typeface="Cambria Math" panose="02040503050406030204" pitchFamily="18" charset="0"/>
                  </a:rPr>
                  <a:t>$g(x)=\frac{x^2-1}{x}$</a:t>
                </a:r>
                <a:r>
                  <a:rPr sz="2400" b="0">
                    <a:solidFill>
                      <a:srgbClr val="111827"/>
                    </a:solidFill>
                    <a:latin typeface="Arial"/>
                  </a:rPr>
                  <a:t> is undefined at </a:t>
                </a:r>
                <a:r>
                  <a:rPr lang="en-IN" sz="2400">
                    <a:solidFill>
                      <a:srgbClr val="111827"/>
                    </a:solidFill>
                    <a:latin typeface="Cambria Math" panose="02040503050406030204" pitchFamily="18" charset="0"/>
                  </a:rPr>
                  <a:t>$0\in(-1,1)$</a:t>
                </a:r>
                <a:r>
                  <a:rPr sz="2400" b="0">
                    <a:solidFill>
                      <a:srgbClr val="111827"/>
                    </a:solidFill>
                    <a:latin typeface="Arial"/>
                  </a:rPr>
                  <a:t>, so </a:t>
                </a:r>
                <a:r>
                  <a:rPr lang="en-IN" sz="2400">
                    <a:solidFill>
                      <a:srgbClr val="111827"/>
                    </a:solidFill>
                    <a:latin typeface="Cambria Math" panose="02040503050406030204" pitchFamily="18" charset="0"/>
                  </a:rPr>
                  <a:t>$g$</a:t>
                </a:r>
                <a:r>
                  <a:rPr sz="2400" b="0">
                    <a:solidFill>
                      <a:srgbClr val="111827"/>
                    </a:solidFill>
                    <a:latin typeface="Arial"/>
                  </a:rPr>
                  <a:t> fails Rolle's theorem. Hence </a:t>
                </a:r>
                <a:r>
                  <a:rPr lang="en-IN" sz="2400">
                    <a:solidFill>
                      <a:srgbClr val="111827"/>
                    </a:solidFill>
                    <a:latin typeface="Cambria Math" panose="02040503050406030204" pitchFamily="18" charset="0"/>
                  </a:rPr>
                  <a:t>$f(x)=x$</a:t>
                </a:r>
                <a:r>
                  <a:rPr sz="2400" b="0">
                    <a:solidFill>
                      <a:srgbClr val="111827"/>
                    </a:solidFill>
                    <a:latin typeface="Arial"/>
                  </a:rPr>
                  <a:t> is an admissible function.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$f(x)=x$</a:t>
                </a:r>
                <a:r>
                  <a:rPr sz="2400" b="0">
                    <a:solidFill>
                      <a:srgbClr val="111827"/>
                    </a:solidFill>
                    <a:latin typeface="Arial"/>
                  </a:rPr>
                  <a:t> the root </a:t>
                </a:r>
                <a:r>
                  <a:rPr lang="en-IN" sz="2400">
                    <a:solidFill>
                      <a:srgbClr val="111827"/>
                    </a:solidFill>
                    <a:latin typeface="Cambria Math" panose="02040503050406030204" pitchFamily="18" charset="0"/>
                  </a:rPr>
                  <a:t>$x=0$</a:t>
                </a:r>
                <a:r>
                  <a:rPr sz="2400" b="0">
                    <a:solidFill>
                      <a:srgbClr val="111827"/>
                    </a:solidFill>
                    <a:latin typeface="Arial"/>
                  </a:rPr>
                  <a:t> lies in </a:t>
                </a:r>
                <a:r>
                  <a:rPr lang="en-IN" sz="2400">
                    <a:solidFill>
                      <a:srgbClr val="111827"/>
                    </a:solidFill>
                    <a:latin typeface="Cambria Math" panose="02040503050406030204" pitchFamily="18" charset="0"/>
                  </a:rPr>
                  <a:t>$[-1,1]$</a:t>
                </a:r>
                <a:r>
                  <a:rPr sz="2400" b="0">
                    <a:solidFill>
                      <a:srgbClr val="111827"/>
                    </a:solidFill>
                    <a:latin typeface="Arial"/>
                  </a:rPr>
                  <a:t>, which contradicts (A). So (A)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$f(x)=x$</a:t>
                </a:r>
                <a:r>
                  <a:rPr sz="2400" b="0">
                    <a:solidFill>
                      <a:srgbClr val="111827"/>
                    </a:solidFill>
                    <a:latin typeface="Arial"/>
                  </a:rPr>
                  <a:t>, </a:t>
                </a:r>
                <a:r>
                  <a:rPr lang="en-IN" sz="2400">
                    <a:solidFill>
                      <a:srgbClr val="111827"/>
                    </a:solidFill>
                    <a:latin typeface="Cambria Math" panose="02040503050406030204" pitchFamily="18" charset="0"/>
                  </a:rPr>
                  <a:t>$f'(x)=1$</a:t>
                </a:r>
                <a:r>
                  <a:rPr sz="2400" b="0">
                    <a:solidFill>
                      <a:srgbClr val="111827"/>
                    </a:solidFill>
                    <a:latin typeface="Arial"/>
                  </a:rPr>
                  <a:t> is never zero, so (C) is not always true: (C) is false.</a:t>
                </a:r>
                <a:endParaRPr sz="2400">
                  <a:solidFill>
                    <a:srgbClr val="111827"/>
                  </a:solidFill>
                </a:endParaRPr>
              </a:p>
            </p:txBody>
          </p:sp>
        </mc:Fallback>
      </mc:AlternateContent>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is undefined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fails Rolle's theorem. Hence this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also admissible.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a polynomial with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it satisfies Rolle's theorem 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(D)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cannot fail, because it was proved above that a root in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forced. False options: (A), (C), (D).</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a:t>
                </a:r>
                <a:r>
                  <a:rPr lang="en-IN" sz="2400">
                    <a:solidFill>
                      <a:srgbClr val="111827"/>
                    </a:solidFill>
                    <a:latin typeface="Cambria Math" panose="02040503050406030204" pitchFamily="18" charset="0"/>
                  </a:rPr>
                  <a:t>$f(x)=x^2-\frac12$</a:t>
                </a:r>
                <a:r>
                  <a:rPr sz="2400" b="0">
                    <a:solidFill>
                      <a:srgbClr val="111827"/>
                    </a:solidFill>
                    <a:latin typeface="Arial"/>
                  </a:rPr>
                  <a:t>: </a:t>
                </a:r>
                <a:r>
                  <a:rPr lang="en-IN" sz="2400">
                    <a:solidFill>
                      <a:srgbClr val="111827"/>
                    </a:solidFill>
                    <a:latin typeface="Cambria Math" panose="02040503050406030204" pitchFamily="18" charset="0"/>
                  </a:rPr>
                  <a:t>$f(\pm1)=\frac12\neq0$</a:t>
                </a:r>
                <a:r>
                  <a:rPr sz="2400" b="0">
                    <a:solidFill>
                      <a:srgbClr val="111827"/>
                    </a:solidFill>
                    <a:latin typeface="Arial"/>
                  </a:rPr>
                  <a:t> and </a:t>
                </a:r>
                <a:r>
                  <a:rPr lang="en-IN" sz="2400">
                    <a:solidFill>
                      <a:srgbClr val="111827"/>
                    </a:solidFill>
                    <a:latin typeface="Cambria Math" panose="02040503050406030204" pitchFamily="18" charset="0"/>
                  </a:rPr>
                  <a:t>$g$</a:t>
                </a:r>
                <a:r>
                  <a:rPr sz="2400" b="0">
                    <a:solidFill>
                      <a:srgbClr val="111827"/>
                    </a:solidFill>
                    <a:latin typeface="Arial"/>
                  </a:rPr>
                  <a:t> is undefined at </a:t>
                </a:r>
                <a:r>
                  <a:rPr lang="en-IN" sz="2400">
                    <a:solidFill>
                      <a:srgbClr val="111827"/>
                    </a:solidFill>
                    <a:latin typeface="Cambria Math" panose="02040503050406030204" pitchFamily="18" charset="0"/>
                  </a:rPr>
                  <a:t>$x=\pm\frac{1}{\sqrt2}\in(-1,1)$</a:t>
                </a:r>
                <a:r>
                  <a:rPr sz="2400" b="0">
                    <a:solidFill>
                      <a:srgbClr val="111827"/>
                    </a:solidFill>
                    <a:latin typeface="Arial"/>
                  </a:rPr>
                  <a:t>, so </a:t>
                </a:r>
                <a:r>
                  <a:rPr lang="en-IN" sz="2400">
                    <a:solidFill>
                      <a:srgbClr val="111827"/>
                    </a:solidFill>
                    <a:latin typeface="Cambria Math" panose="02040503050406030204" pitchFamily="18" charset="0"/>
                  </a:rPr>
                  <a:t>$g$</a:t>
                </a:r>
                <a:r>
                  <a:rPr sz="2400" b="0">
                    <a:solidFill>
                      <a:srgbClr val="111827"/>
                    </a:solidFill>
                    <a:latin typeface="Arial"/>
                  </a:rPr>
                  <a:t> fails Rolle's theorem. Hence this </a:t>
                </a:r>
                <a:r>
                  <a:rPr lang="en-IN" sz="2400">
                    <a:solidFill>
                      <a:srgbClr val="111827"/>
                    </a:solidFill>
                    <a:latin typeface="Cambria Math" panose="02040503050406030204" pitchFamily="18" charset="0"/>
                  </a:rPr>
                  <a:t>$f$</a:t>
                </a:r>
                <a:r>
                  <a:rPr sz="2400" b="0">
                    <a:solidFill>
                      <a:srgbClr val="111827"/>
                    </a:solidFill>
                    <a:latin typeface="Arial"/>
                  </a:rPr>
                  <a:t> is also admissible.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a:t>
                </a:r>
                <a:r>
                  <a:rPr lang="en-IN" sz="2400">
                    <a:solidFill>
                      <a:srgbClr val="111827"/>
                    </a:solidFill>
                    <a:latin typeface="Cambria Math" panose="02040503050406030204" pitchFamily="18" charset="0"/>
                  </a:rPr>
                  <a:t>$f$</a:t>
                </a:r>
                <a:r>
                  <a:rPr sz="2400" b="0">
                    <a:solidFill>
                      <a:srgbClr val="111827"/>
                    </a:solidFill>
                    <a:latin typeface="Arial"/>
                  </a:rPr>
                  <a:t> is a polynomial with </a:t>
                </a:r>
                <a:r>
                  <a:rPr lang="en-IN" sz="2400">
                    <a:solidFill>
                      <a:srgbClr val="111827"/>
                    </a:solidFill>
                    <a:latin typeface="Cambria Math" panose="02040503050406030204" pitchFamily="18" charset="0"/>
                  </a:rPr>
                  <a:t>$f(-1)=f(1)=\frac12$</a:t>
                </a:r>
                <a:r>
                  <a:rPr sz="2400" b="0">
                    <a:solidFill>
                      <a:srgbClr val="111827"/>
                    </a:solidFill>
                    <a:latin typeface="Arial"/>
                  </a:rPr>
                  <a:t>, so it satisfies Rolle's theorem on </a:t>
                </a:r>
                <a:r>
                  <a:rPr lang="en-IN" sz="2400">
                    <a:solidFill>
                      <a:srgbClr val="111827"/>
                    </a:solidFill>
                    <a:latin typeface="Cambria Math" panose="02040503050406030204" pitchFamily="18" charset="0"/>
                  </a:rPr>
                  <a:t>$[-1,1]$</a:t>
                </a:r>
                <a:r>
                  <a:rPr sz="2400" b="0">
                    <a:solidFill>
                      <a:srgbClr val="111827"/>
                    </a:solidFill>
                    <a:latin typeface="Arial"/>
                  </a:rPr>
                  <a:t>. So (D)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cannot fail, because it was proved above that a root in </a:t>
                </a:r>
                <a:r>
                  <a:rPr lang="en-IN" sz="2400">
                    <a:solidFill>
                      <a:srgbClr val="111827"/>
                    </a:solidFill>
                    <a:latin typeface="Cambria Math" panose="02040503050406030204" pitchFamily="18" charset="0"/>
                  </a:rPr>
                  <a:t>$(-1,1)$</a:t>
                </a:r>
                <a:r>
                  <a:rPr sz="2400" b="0">
                    <a:solidFill>
                      <a:srgbClr val="111827"/>
                    </a:solidFill>
                    <a:latin typeface="Arial"/>
                  </a:rPr>
                  <a:t> is forced. False options: (A), (C), (D).</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C, D)</a:t>
            </a:r>
            <a:endParaRPr sz="2800">
              <a:solidFill>
                <a:srgbClr val="15803D"/>
              </a:solidFill>
            </a:endParaRP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Rolle's theorem needs three things: continuity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differentiability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 pole inside the interval (zero of the denominator) is enough to break 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𝑓</m:t>
                        </m:r>
                      </m:den>
                    </m:f>
                  </m:oMath>
                </a14:m>
                <a:r>
                  <a:rPr sz="2400" b="0">
                    <a:solidFill>
                      <a:srgbClr val="111827"/>
                    </a:solidFill>
                    <a:latin typeface="Arial"/>
                  </a:rPr>
                  <a:t>, check the zeros of the denominator on the interval first. Failure of Rolle's theorem can be traced to such a zero when the end values already match.</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Rolle's theorem is an existence result: it says that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some </a:t>
                </a:r>
                <a14:m>
                  <m:oMath xmlns:m="http://schemas.openxmlformats.org/officeDocument/2006/math">
                    <m:r>
                      <a:rPr lang="en-IN" sz="2400" i="1">
                        <a:solidFill>
                          <a:srgbClr val="111827"/>
                        </a:solidFill>
                        <a:latin typeface="Cambria Math" panose="02040503050406030204" pitchFamily="18" charset="0"/>
                      </a:rPr>
                      <m:t>𝑐</m:t>
                    </m:r>
                  </m:oMath>
                </a14:m>
                <a:r>
                  <a:rPr sz="2400" b="0">
                    <a:solidFill>
                      <a:srgbClr val="111827"/>
                    </a:solidFill>
                    <a:latin typeface="Arial"/>
                  </a:rPr>
                  <a:t>. It gives no information about the zeros of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for a different function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show that a statement is not always true, give one admissible example in which it fails; here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do all the work.</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Rolle's theorem needs three things: continuity on </a:t>
                </a:r>
                <a:r>
                  <a:rPr lang="en-IN" sz="2400">
                    <a:solidFill>
                      <a:srgbClr val="111827"/>
                    </a:solidFill>
                    <a:latin typeface="Cambria Math" panose="02040503050406030204" pitchFamily="18" charset="0"/>
                  </a:rPr>
                  <a:t>$[a,b]$</a:t>
                </a:r>
                <a:r>
                  <a:rPr sz="2400" b="0">
                    <a:solidFill>
                      <a:srgbClr val="111827"/>
                    </a:solidFill>
                    <a:latin typeface="Arial"/>
                  </a:rPr>
                  <a:t>, differentiability on </a:t>
                </a:r>
                <a:r>
                  <a:rPr lang="en-IN" sz="2400">
                    <a:solidFill>
                      <a:srgbClr val="111827"/>
                    </a:solidFill>
                    <a:latin typeface="Cambria Math" panose="02040503050406030204" pitchFamily="18" charset="0"/>
                  </a:rPr>
                  <a:t>$(a,b)$</a:t>
                </a:r>
                <a:r>
                  <a:rPr sz="2400" b="0">
                    <a:solidFill>
                      <a:srgbClr val="111827"/>
                    </a:solidFill>
                    <a:latin typeface="Arial"/>
                  </a:rPr>
                  <a:t> and </a:t>
                </a:r>
                <a:r>
                  <a:rPr lang="en-IN" sz="2400">
                    <a:solidFill>
                      <a:srgbClr val="111827"/>
                    </a:solidFill>
                    <a:latin typeface="Cambria Math" panose="02040503050406030204" pitchFamily="18" charset="0"/>
                  </a:rPr>
                  <a:t>$g(a)=g(b)$</a:t>
                </a:r>
                <a:r>
                  <a:rPr sz="2400" b="0">
                    <a:solidFill>
                      <a:srgbClr val="111827"/>
                    </a:solidFill>
                    <a:latin typeface="Arial"/>
                  </a:rPr>
                  <a:t>. A pole inside the interval (zero of the denominator) is enough to break 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$g=\frac{p}{f}$</a:t>
                </a:r>
                <a:r>
                  <a:rPr sz="2400" b="0">
                    <a:solidFill>
                      <a:srgbClr val="111827"/>
                    </a:solidFill>
                    <a:latin typeface="Arial"/>
                  </a:rPr>
                  <a:t>, check the zeros of the denominator on the interval first. Failure of Rolle's theorem can be traced to such a zero when the end values already match.</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Rolle's theorem is an existence result: it says that </a:t>
                </a:r>
                <a:r>
                  <a:rPr lang="en-IN" sz="2400">
                    <a:solidFill>
                      <a:srgbClr val="111827"/>
                    </a:solidFill>
                    <a:latin typeface="Cambria Math" panose="02040503050406030204" pitchFamily="18" charset="0"/>
                  </a:rPr>
                  <a:t>$g'(c)=0$</a:t>
                </a:r>
                <a:r>
                  <a:rPr sz="2400" b="0">
                    <a:solidFill>
                      <a:srgbClr val="111827"/>
                    </a:solidFill>
                    <a:latin typeface="Arial"/>
                  </a:rPr>
                  <a:t> for some </a:t>
                </a:r>
                <a:r>
                  <a:rPr lang="en-IN" sz="2400">
                    <a:solidFill>
                      <a:srgbClr val="111827"/>
                    </a:solidFill>
                    <a:latin typeface="Cambria Math" panose="02040503050406030204" pitchFamily="18" charset="0"/>
                  </a:rPr>
                  <a:t>$c$</a:t>
                </a:r>
                <a:r>
                  <a:rPr sz="2400" b="0">
                    <a:solidFill>
                      <a:srgbClr val="111827"/>
                    </a:solidFill>
                    <a:latin typeface="Arial"/>
                  </a:rPr>
                  <a:t>. It gives no information about the zeros of </a:t>
                </a:r>
                <a:r>
                  <a:rPr lang="en-IN" sz="2400">
                    <a:solidFill>
                      <a:srgbClr val="111827"/>
                    </a:solidFill>
                    <a:latin typeface="Cambria Math" panose="02040503050406030204" pitchFamily="18" charset="0"/>
                  </a:rPr>
                  <a:t>$f'$</a:t>
                </a:r>
                <a:r>
                  <a:rPr sz="2400" b="0">
                    <a:solidFill>
                      <a:srgbClr val="111827"/>
                    </a:solidFill>
                    <a:latin typeface="Arial"/>
                  </a:rPr>
                  <a:t> for a different function </a:t>
                </a:r>
                <a:r>
                  <a:rPr lang="en-IN" sz="2400">
                    <a:solidFill>
                      <a:srgbClr val="111827"/>
                    </a:solidFill>
                    <a:latin typeface="Cambria Math" panose="02040503050406030204" pitchFamily="18" charset="0"/>
                  </a:rPr>
                  <a:t>$f$</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show that a statement is not always true, give one admissible example in which it fails; here </a:t>
                </a:r>
                <a:r>
                  <a:rPr lang="en-IN" sz="2400">
                    <a:solidFill>
                      <a:srgbClr val="111827"/>
                    </a:solidFill>
                    <a:latin typeface="Cambria Math" panose="02040503050406030204" pitchFamily="18" charset="0"/>
                  </a:rPr>
                  <a:t>$f(x)=x$</a:t>
                </a:r>
                <a:r>
                  <a:rPr sz="2400" b="0">
                    <a:solidFill>
                      <a:srgbClr val="111827"/>
                    </a:solidFill>
                    <a:latin typeface="Arial"/>
                  </a:rPr>
                  <a:t> and </a:t>
                </a:r>
                <a:r>
                  <a:rPr lang="en-IN" sz="2400">
                    <a:solidFill>
                      <a:srgbClr val="111827"/>
                    </a:solidFill>
                    <a:latin typeface="Cambria Math" panose="02040503050406030204" pitchFamily="18" charset="0"/>
                  </a:rPr>
                  <a:t>$f(x)=x^2-\frac12$</a:t>
                </a:r>
                <a:r>
                  <a:rPr sz="2400" b="0">
                    <a:solidFill>
                      <a:srgbClr val="111827"/>
                    </a:solidFill>
                    <a:latin typeface="Arial"/>
                  </a:rPr>
                  <a:t> do all the work.</a:t>
                </a:r>
                <a:endParaRPr sz="2400">
                  <a:solidFill>
                    <a:srgbClr val="111827"/>
                  </a:solidFill>
                </a:endParaRPr>
              </a:p>
            </p:txBody>
          </p:sp>
        </mc:Fallback>
      </mc:AlternateContent>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 function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be continuous and differentiable with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Then, 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there exists at least one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such that: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&gt;</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e>
                    </m:rad>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&lt;</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e>
                    </m:rad>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endParaRPr sz="2400">
                  <a:solidFill>
                    <a:srgbClr val="111827"/>
                  </a:solidFill>
                </a:endParaRPr>
              </a:p>
            </p:txBody>
          </p:sp>
        </mc:Choice>
        <mc:Fallback>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 function </a:t>
                </a:r>
                <a:r>
                  <a:rPr lang="en-IN" sz="2400">
                    <a:solidFill>
                      <a:srgbClr val="111827"/>
                    </a:solidFill>
                    <a:latin typeface="Cambria Math" panose="02040503050406030204" pitchFamily="18" charset="0"/>
                  </a:rPr>
                  <a:t>$f$</a:t>
                </a:r>
                <a:r>
                  <a:rPr sz="2400" b="0">
                    <a:solidFill>
                      <a:srgbClr val="111827"/>
                    </a:solidFill>
                    <a:latin typeface="Arial"/>
                  </a:rPr>
                  <a:t> be continuous and differentiable with </a:t>
                </a:r>
                <a:r>
                  <a:rPr lang="en-IN" sz="2400">
                    <a:solidFill>
                      <a:srgbClr val="111827"/>
                    </a:solidFill>
                    <a:latin typeface="Cambria Math" panose="02040503050406030204" pitchFamily="18" charset="0"/>
                  </a:rPr>
                  <a:t>$f(0)=1$</a:t>
                </a:r>
                <a:r>
                  <a:rPr sz="2400" b="0">
                    <a:solidFill>
                      <a:srgbClr val="111827"/>
                    </a:solidFill>
                    <a:latin typeface="Arial"/>
                  </a:rPr>
                  <a:t> and </a:t>
                </a:r>
                <a:r>
                  <a:rPr lang="en-IN" sz="2400">
                    <a:solidFill>
                      <a:srgbClr val="111827"/>
                    </a:solidFill>
                    <a:latin typeface="Cambria Math" panose="02040503050406030204" pitchFamily="18" charset="0"/>
                  </a:rPr>
                  <a:t>$f(1)=2$</a:t>
                </a:r>
                <a:r>
                  <a:rPr sz="2400" b="0">
                    <a:solidFill>
                      <a:srgbClr val="111827"/>
                    </a:solidFill>
                    <a:latin typeface="Arial"/>
                  </a:rPr>
                  <a:t>. Then, for </a:t>
                </a:r>
                <a:r>
                  <a:rPr lang="en-IN" sz="2400">
                    <a:solidFill>
                      <a:srgbClr val="111827"/>
                    </a:solidFill>
                    <a:latin typeface="Cambria Math" panose="02040503050406030204" pitchFamily="18" charset="0"/>
                  </a:rPr>
                  <a:t>$\forall n\in\mathbb{N},\,n\ge2$</a:t>
                </a:r>
                <a:r>
                  <a:rPr sz="2400" b="0">
                    <a:solidFill>
                      <a:srgbClr val="111827"/>
                    </a:solidFill>
                    <a:latin typeface="Arial"/>
                  </a:rPr>
                  <a:t>, there exists at least one </a:t>
                </a:r>
                <a:r>
                  <a:rPr lang="en-IN" sz="2400">
                    <a:solidFill>
                      <a:srgbClr val="111827"/>
                    </a:solidFill>
                    <a:latin typeface="Cambria Math" panose="02040503050406030204" pitchFamily="18" charset="0"/>
                  </a:rPr>
                  <a:t>$c\in[0,1]$</a:t>
                </a:r>
                <a:r>
                  <a:rPr sz="2400" b="0">
                    <a:solidFill>
                      <a:srgbClr val="111827"/>
                    </a:solidFill>
                    <a:latin typeface="Arial"/>
                  </a:rPr>
                  <a:t> such that: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$f'(c)[f(c)]^{n-1}&gt;\sqrt{2^{n-1}}$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$f'(c)[f(c)]^{n-1}&lt;\sqrt{2^{n-1}}$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$f'(c)[f(c)]^{n-1}&gt;1$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$f'(c)[f(c)]^{n-1}&lt;1$</a:t>
                </a:r>
                <a:endParaRPr sz="2400">
                  <a:solidFill>
                    <a:srgbClr val="111827"/>
                  </a:solidFill>
                </a:endParaRPr>
              </a:p>
            </p:txBody>
          </p:sp>
        </mc:Fallback>
      </mc:AlternateContent>
      <p:sp>
        <p:nvSpPr>
          <p:cNvPr id="5" name="Rectangle 4"/>
          <p:cNvSpPr/>
          <p:nvPr/>
        </p:nvSpPr>
        <p:spPr>
          <a:xfrm>
            <a:off x="731520" y="4886452"/>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One or more than one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Lagrange's mean value theorem, AM-GM inequality</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Apply LMVT to </a:t>
                </a:r>
                <a14:m>
                  <m:oMath xmlns:m="http://schemas.openxmlformats.org/officeDocument/2006/math">
                    <m:r>
                      <a:rPr lang="en-IN" sz="2400" i="1">
                        <a:solidFill>
                          <a:srgbClr val="78350F"/>
                        </a:solidFill>
                        <a:latin typeface="Cambria Math" panose="02040503050406030204" pitchFamily="18" charset="0"/>
                      </a:rPr>
                      <m:t>𝑔</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𝑓</m:t>
                        </m:r>
                      </m:e>
                      <m:sup>
                        <m:r>
                          <a:rPr lang="en-IN" sz="2400" i="1">
                            <a:solidFill>
                              <a:srgbClr val="78350F"/>
                            </a:solidFill>
                            <a:latin typeface="Cambria Math" panose="02040503050406030204" pitchFamily="18" charset="0"/>
                          </a:rPr>
                          <m:t>𝑛</m:t>
                        </m:r>
                      </m:sup>
                    </m:sSup>
                  </m:oMath>
                </a14:m>
                <a:r>
                  <a:rPr sz="2400" b="0">
                    <a:solidFill>
                      <a:srgbClr val="78350F"/>
                    </a:solidFill>
                    <a:latin typeface="Arial"/>
                  </a:rPr>
                  <a:t> to get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2</m:t>
                            </m:r>
                          </m:e>
                          <m:sup>
                            <m:r>
                              <a:rPr lang="en-IN" sz="2400" i="1">
                                <a:solidFill>
                                  <a:srgbClr val="78350F"/>
                                </a:solidFill>
                                <a:latin typeface="Cambria Math" panose="02040503050406030204" pitchFamily="18" charset="0"/>
                              </a:rPr>
                              <m:t>𝑛</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𝑛</m:t>
                        </m:r>
                      </m:den>
                    </m:f>
                  </m:oMath>
                </a14:m>
                <a:r>
                  <a:rPr sz="2400" b="0">
                    <a:solidFill>
                      <a:srgbClr val="78350F"/>
                    </a:solidFill>
                    <a:latin typeface="Arial"/>
                  </a:rPr>
                  <a:t>, then bound this mean value from below by AM-GM.</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Apply LMVT to </a:t>
                </a:r>
                <a:r>
                  <a:rPr lang="en-IN" sz="2400">
                    <a:solidFill>
                      <a:srgbClr val="78350F"/>
                    </a:solidFill>
                    <a:latin typeface="Cambria Math" panose="02040503050406030204" pitchFamily="18" charset="0"/>
                  </a:rPr>
                  <a:t>$g=f^n$</a:t>
                </a:r>
                <a:r>
                  <a:rPr sz="2400" b="0">
                    <a:solidFill>
                      <a:srgbClr val="78350F"/>
                    </a:solidFill>
                    <a:latin typeface="Arial"/>
                  </a:rPr>
                  <a:t> to get </a:t>
                </a:r>
                <a:r>
                  <a:rPr lang="en-IN" sz="2400">
                    <a:solidFill>
                      <a:srgbClr val="78350F"/>
                    </a:solidFill>
                    <a:latin typeface="Cambria Math" panose="02040503050406030204" pitchFamily="18" charset="0"/>
                  </a:rPr>
                  <a:t>$f'(c)[f(c)]^{n-1}=\frac{2^n-1}{n}$</a:t>
                </a:r>
                <a:r>
                  <a:rPr sz="2400" b="0">
                    <a:solidFill>
                      <a:srgbClr val="78350F"/>
                    </a:solidFill>
                    <a:latin typeface="Arial"/>
                  </a:rPr>
                  <a:t>, then bound this mean value from below by AM-GM.</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continuous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differentiable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is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LMVT there is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$g(x)=[f(x)]^n$</a:t>
                </a:r>
                <a:r>
                  <a:rPr sz="2400" b="0">
                    <a:solidFill>
                      <a:srgbClr val="111827"/>
                    </a:solidFill>
                    <a:latin typeface="Arial"/>
                  </a:rPr>
                  <a:t>. As </a:t>
                </a:r>
                <a:r>
                  <a:rPr lang="en-IN" sz="2400">
                    <a:solidFill>
                      <a:srgbClr val="111827"/>
                    </a:solidFill>
                    <a:latin typeface="Cambria Math" panose="02040503050406030204" pitchFamily="18" charset="0"/>
                  </a:rPr>
                  <a:t>$f$</a:t>
                </a:r>
                <a:r>
                  <a:rPr sz="2400" b="0">
                    <a:solidFill>
                      <a:srgbClr val="111827"/>
                    </a:solidFill>
                    <a:latin typeface="Arial"/>
                  </a:rPr>
                  <a:t> is continuous on </a:t>
                </a:r>
                <a:r>
                  <a:rPr lang="en-IN" sz="2400">
                    <a:solidFill>
                      <a:srgbClr val="111827"/>
                    </a:solidFill>
                    <a:latin typeface="Cambria Math" panose="02040503050406030204" pitchFamily="18" charset="0"/>
                  </a:rPr>
                  <a:t>$[0,1]$</a:t>
                </a:r>
                <a:r>
                  <a:rPr sz="2400" b="0">
                    <a:solidFill>
                      <a:srgbClr val="111827"/>
                    </a:solidFill>
                    <a:latin typeface="Arial"/>
                  </a:rPr>
                  <a:t> and differentiable on </a:t>
                </a:r>
                <a:r>
                  <a:rPr lang="en-IN" sz="2400">
                    <a:solidFill>
                      <a:srgbClr val="111827"/>
                    </a:solidFill>
                    <a:latin typeface="Cambria Math" panose="02040503050406030204" pitchFamily="18" charset="0"/>
                  </a:rPr>
                  <a:t>$(0,1)$</a:t>
                </a:r>
                <a:r>
                  <a:rPr sz="2400" b="0">
                    <a:solidFill>
                      <a:srgbClr val="111827"/>
                    </a:solidFill>
                    <a:latin typeface="Arial"/>
                  </a:rPr>
                  <a:t>, so is </a:t>
                </a:r>
                <a:r>
                  <a:rPr lang="en-IN" sz="2400">
                    <a:solidFill>
                      <a:srgbClr val="111827"/>
                    </a:solidFill>
                    <a:latin typeface="Cambria Math" panose="02040503050406030204" pitchFamily="18" charset="0"/>
                  </a:rPr>
                  <a:t>$g$</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LMVT there is </a:t>
                </a:r>
                <a:r>
                  <a:rPr lang="en-IN" sz="2400">
                    <a:solidFill>
                      <a:srgbClr val="111827"/>
                    </a:solidFill>
                    <a:latin typeface="Cambria Math" panose="02040503050406030204" pitchFamily="18" charset="0"/>
                  </a:rPr>
                  <a:t>$c\in(0,1)$</a:t>
                </a:r>
                <a:r>
                  <a:rPr sz="2400" b="0">
                    <a:solidFill>
                      <a:srgbClr val="111827"/>
                    </a:solidFill>
                    <a:latin typeface="Arial"/>
                  </a:rPr>
                  <a:t> with </a:t>
                </a:r>
                <a:r>
                  <a:rPr lang="en-IN" sz="2400">
                    <a:solidFill>
                      <a:srgbClr val="111827"/>
                    </a:solidFill>
                    <a:latin typeface="Cambria Math" panose="02040503050406030204" pitchFamily="18" charset="0"/>
                  </a:rPr>
                  <a:t>$g'(c)=\frac{g(1)-g(0)}{1-0}$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r>
                  <a:rPr lang="en-IN" sz="2400">
                    <a:solidFill>
                      <a:srgbClr val="111827"/>
                    </a:solidFill>
                    <a:latin typeface="Cambria Math" panose="02040503050406030204" pitchFamily="18" charset="0"/>
                  </a:rPr>
                  <a:t>$g(1)-g(0)=2^n-1$</a:t>
                </a:r>
                <a:r>
                  <a:rPr sz="2400" b="0">
                    <a:solidFill>
                      <a:srgbClr val="111827"/>
                    </a:solidFill>
                    <a:latin typeface="Arial"/>
                  </a:rPr>
                  <a:t> and </a:t>
                </a:r>
                <a:r>
                  <a:rPr lang="en-IN" sz="2400">
                    <a:solidFill>
                      <a:srgbClr val="111827"/>
                    </a:solidFill>
                    <a:latin typeface="Cambria Math" panose="02040503050406030204" pitchFamily="18" charset="0"/>
                  </a:rPr>
                  <a:t>$g'(c)=n[f(c)]^{n-1}f'(c)$</a:t>
                </a:r>
                <a:r>
                  <a:rPr sz="2400" b="0">
                    <a:solidFill>
                      <a:srgbClr val="111827"/>
                    </a:solidFill>
                    <a:latin typeface="Arial"/>
                  </a:rPr>
                  <a:t>, so </a:t>
                </a:r>
                <a:r>
                  <a:rPr lang="en-IN" sz="2400">
                    <a:solidFill>
                      <a:srgbClr val="111827"/>
                    </a:solidFill>
                    <a:latin typeface="Cambria Math" panose="02040503050406030204" pitchFamily="18" charset="0"/>
                  </a:rPr>
                  <a:t>$nf'(c)[f(c)]^{n-1}=2^n-1=1+2+2^2+\dots+2^{n-1}$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AM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GM for the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positive numbers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rad>
                      <m:deg>
                        <m:r>
                          <a:rPr lang="en-IN" sz="2400" i="1">
                            <a:solidFill>
                              <a:srgbClr val="111827"/>
                            </a:solidFill>
                            <a:latin typeface="Cambria Math" panose="02040503050406030204" pitchFamily="18" charset="0"/>
                          </a:rPr>
                          <m:t>𝑛</m:t>
                        </m:r>
                      </m:deg>
                      <m:e>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up>
                        </m:sSup>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right side is </a:t>
                </a:r>
                <a14:m>
                  <m:oMath xmlns:m="http://schemas.openxmlformats.org/officeDocument/2006/math">
                    <m:sSup>
                      <m:e>
                        <m:r>
                          <a:rPr lang="en-IN" sz="2400" i="1">
                            <a:solidFill>
                              <a:srgbClr val="111827"/>
                            </a:solidFill>
                            <a:latin typeface="Cambria Math" panose="02040503050406030204" pitchFamily="18" charset="0"/>
                          </a:rPr>
                          <m:t>2</m:t>
                        </m:r>
                      </m:e>
                      <m:sup>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den>
                        </m:f>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sup>
                    </m:sSup>
                  </m:oMath>
                </a14:m>
                <a:r>
                  <a:rPr sz="2400" b="0">
                    <a:solidFill>
                      <a:srgbClr val="111827"/>
                    </a:solidFill>
                    <a:latin typeface="Arial"/>
                  </a:rPr>
                  <a:t>. Equality in AM-GM would need all the numbers equal, but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the inequality is strict.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$f'(c)[f(c)]^{n-1}=\frac{1+2+2^2+\dots+2^{n-1}}{n}$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AM </a:t>
                </a:r>
                <a:r>
                  <a:rPr lang="en-IN" sz="2400">
                    <a:solidFill>
                      <a:srgbClr val="111827"/>
                    </a:solidFill>
                    <a:latin typeface="Cambria Math" panose="02040503050406030204" pitchFamily="18" charset="0"/>
                  </a:rPr>
                  <a:t>$\ge$</a:t>
                </a:r>
                <a:r>
                  <a:rPr sz="2400" b="0">
                    <a:solidFill>
                      <a:srgbClr val="111827"/>
                    </a:solidFill>
                    <a:latin typeface="Arial"/>
                  </a:rPr>
                  <a:t> GM for the </a:t>
                </a:r>
                <a:r>
                  <a:rPr lang="en-IN" sz="2400">
                    <a:solidFill>
                      <a:srgbClr val="111827"/>
                    </a:solidFill>
                    <a:latin typeface="Cambria Math" panose="02040503050406030204" pitchFamily="18" charset="0"/>
                  </a:rPr>
                  <a:t>$n$</a:t>
                </a:r>
                <a:r>
                  <a:rPr sz="2400" b="0">
                    <a:solidFill>
                      <a:srgbClr val="111827"/>
                    </a:solidFill>
                    <a:latin typeface="Arial"/>
                  </a:rPr>
                  <a:t> positive numbers </a:t>
                </a:r>
                <a:r>
                  <a:rPr lang="en-IN" sz="2400">
                    <a:solidFill>
                      <a:srgbClr val="111827"/>
                    </a:solidFill>
                    <a:latin typeface="Cambria Math" panose="02040503050406030204" pitchFamily="18" charset="0"/>
                  </a:rPr>
                  <a:t>$1,2,\dots,2^{n-1}$</a:t>
                </a:r>
                <a:r>
                  <a:rPr sz="2400" b="0">
                    <a:solidFill>
                      <a:srgbClr val="111827"/>
                    </a:solidFill>
                    <a:latin typeface="Arial"/>
                  </a:rPr>
                  <a:t>: </a:t>
                </a:r>
                <a:r>
                  <a:rPr lang="en-IN" sz="2400">
                    <a:solidFill>
                      <a:srgbClr val="111827"/>
                    </a:solidFill>
                    <a:latin typeface="Cambria Math" panose="02040503050406030204" pitchFamily="18" charset="0"/>
                  </a:rPr>
                  <a:t>$\frac{1+2+\dots+2^{n-1}}{n}\ge\sqrt[n]{2^{0+1+\dots+(n-1)}}$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right side is </a:t>
                </a:r>
                <a:r>
                  <a:rPr lang="en-IN" sz="2400">
                    <a:solidFill>
                      <a:srgbClr val="111827"/>
                    </a:solidFill>
                    <a:latin typeface="Cambria Math" panose="02040503050406030204" pitchFamily="18" charset="0"/>
                  </a:rPr>
                  <a:t>$2^{\frac{(n-1)n}{2}\cdot\frac1n}=2^{\frac{n-1}{2}}$</a:t>
                </a:r>
                <a:r>
                  <a:rPr sz="2400" b="0">
                    <a:solidFill>
                      <a:srgbClr val="111827"/>
                    </a:solidFill>
                    <a:latin typeface="Arial"/>
                  </a:rPr>
                  <a:t>. Equality in AM-GM would need all the numbers equal, but </a:t>
                </a:r>
                <a:r>
                  <a:rPr lang="en-IN" sz="2400">
                    <a:solidFill>
                      <a:srgbClr val="111827"/>
                    </a:solidFill>
                    <a:latin typeface="Cambria Math" panose="02040503050406030204" pitchFamily="18" charset="0"/>
                  </a:rPr>
                  <a:t>$1\neq2$</a:t>
                </a:r>
                <a:r>
                  <a:rPr sz="2400" b="0">
                    <a:solidFill>
                      <a:srgbClr val="111827"/>
                    </a:solidFill>
                    <a:latin typeface="Arial"/>
                  </a:rPr>
                  <a:t> for </a:t>
                </a:r>
                <a:r>
                  <a:rPr lang="en-IN" sz="2400">
                    <a:solidFill>
                      <a:srgbClr val="111827"/>
                    </a:solidFill>
                    <a:latin typeface="Cambria Math" panose="02040503050406030204" pitchFamily="18" charset="0"/>
                  </a:rPr>
                  <a:t>$n\ge2$</a:t>
                </a:r>
                <a:r>
                  <a:rPr sz="2400" b="0">
                    <a:solidFill>
                      <a:srgbClr val="111827"/>
                    </a:solidFill>
                    <a:latin typeface="Arial"/>
                  </a:rPr>
                  <a:t>, so the inequality is strict.</a:t>
                </a:r>
                <a:endParaRPr sz="2400">
                  <a:solidFill>
                    <a:srgbClr val="111827"/>
                  </a:solidFill>
                </a:endParaRPr>
              </a:p>
            </p:txBody>
          </p:sp>
        </mc:Fallback>
      </mc:AlternateContent>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Therefore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&gt;</m:t>
                    </m:r>
                    <m:sSup>
                      <m:e>
                        <m:r>
                          <a:rPr lang="en-IN" sz="2400" i="1">
                            <a:solidFill>
                              <a:srgbClr val="111827"/>
                            </a:solidFill>
                            <a:latin typeface="Cambria Math" panose="02040503050406030204" pitchFamily="18" charset="0"/>
                          </a:rPr>
                          <m:t>2</m:t>
                        </m:r>
                      </m:e>
                      <m: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sup>
                    </m:sSup>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(A) and (C) hold.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and (D) are not guaranteed: for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e>
                        </m:d>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up>
                    </m:sSup>
                  </m:oMath>
                </a14:m>
                <a:r>
                  <a:rPr sz="2400" b="0">
                    <a:solidFill>
                      <a:srgbClr val="111827"/>
                    </a:solidFill>
                    <a:latin typeface="Arial"/>
                  </a:rPr>
                  <a:t> we get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 for every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which exceeds both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e>
                    </m:rad>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 options: (A),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Therefore </a:t>
                </a:r>
                <a:r>
                  <a:rPr lang="en-IN" sz="2400">
                    <a:solidFill>
                      <a:srgbClr val="111827"/>
                    </a:solidFill>
                    <a:latin typeface="Cambria Math" panose="02040503050406030204" pitchFamily="18" charset="0"/>
                  </a:rPr>
                  <a:t>$f'(c)[f(c)]^{n-1}&gt;2^{\frac{n-1}{2}}=\sqrt{2^{n-1}}\ge\sqrt2&gt;1$</a:t>
                </a:r>
                <a:r>
                  <a:rPr sz="2400" b="0">
                    <a:solidFill>
                      <a:srgbClr val="111827"/>
                    </a:solidFill>
                    <a:latin typeface="Arial"/>
                  </a:rPr>
                  <a:t> for </a:t>
                </a:r>
                <a:r>
                  <a:rPr lang="en-IN" sz="2400">
                    <a:solidFill>
                      <a:srgbClr val="111827"/>
                    </a:solidFill>
                    <a:latin typeface="Cambria Math" panose="02040503050406030204" pitchFamily="18" charset="0"/>
                  </a:rPr>
                  <a:t>$n\ge2$</a:t>
                </a:r>
                <a:r>
                  <a:rPr sz="2400" b="0">
                    <a:solidFill>
                      <a:srgbClr val="111827"/>
                    </a:solidFill>
                    <a:latin typeface="Arial"/>
                  </a:rPr>
                  <a:t>. So (A) and (C) hold.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and (D) are not guaranteed: for </a:t>
                </a:r>
                <a:r>
                  <a:rPr lang="en-IN" sz="2400">
                    <a:solidFill>
                      <a:srgbClr val="111827"/>
                    </a:solidFill>
                    <a:latin typeface="Cambria Math" panose="02040503050406030204" pitchFamily="18" charset="0"/>
                  </a:rPr>
                  <a:t>$f(x)=\left(1+(2^n-1)x\right)^{1/n}$</a:t>
                </a:r>
                <a:r>
                  <a:rPr sz="2400" b="0">
                    <a:solidFill>
                      <a:srgbClr val="111827"/>
                    </a:solidFill>
                    <a:latin typeface="Arial"/>
                  </a:rPr>
                  <a:t> we get </a:t>
                </a:r>
                <a:r>
                  <a:rPr lang="en-IN" sz="2400">
                    <a:solidFill>
                      <a:srgbClr val="111827"/>
                    </a:solidFill>
                    <a:latin typeface="Cambria Math" panose="02040503050406030204" pitchFamily="18" charset="0"/>
                  </a:rPr>
                  <a:t>$f'(x)[f(x)]^{n-1}=\frac{2^n-1}{n}$</a:t>
                </a:r>
                <a:r>
                  <a:rPr sz="2400" b="0">
                    <a:solidFill>
                      <a:srgbClr val="111827"/>
                    </a:solidFill>
                    <a:latin typeface="Arial"/>
                  </a:rPr>
                  <a:t> for every </a:t>
                </a:r>
                <a:r>
                  <a:rPr lang="en-IN" sz="2400">
                    <a:solidFill>
                      <a:srgbClr val="111827"/>
                    </a:solidFill>
                    <a:latin typeface="Cambria Math" panose="02040503050406030204" pitchFamily="18" charset="0"/>
                  </a:rPr>
                  <a:t>$x$</a:t>
                </a:r>
                <a:r>
                  <a:rPr sz="2400" b="0">
                    <a:solidFill>
                      <a:srgbClr val="111827"/>
                    </a:solidFill>
                    <a:latin typeface="Arial"/>
                  </a:rPr>
                  <a:t>, which exceeds both </a:t>
                </a:r>
                <a:r>
                  <a:rPr lang="en-IN" sz="2400">
                    <a:solidFill>
                      <a:srgbClr val="111827"/>
                    </a:solidFill>
                    <a:latin typeface="Cambria Math" panose="02040503050406030204" pitchFamily="18" charset="0"/>
                  </a:rPr>
                  <a:t>$\sqrt{2^{n-1}}$</a:t>
                </a:r>
                <a:r>
                  <a:rPr sz="2400" b="0">
                    <a:solidFill>
                      <a:srgbClr val="111827"/>
                    </a:solidFill>
                    <a:latin typeface="Arial"/>
                  </a:rPr>
                  <a:t> and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 options: (A), (C).</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C)</a:t>
            </a:r>
            <a:endParaRPr sz="2800">
              <a:solidFill>
                <a:srgbClr val="15803D"/>
              </a:solidFill>
            </a:endParaRP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 make LMVT produce an expression such as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apply it to a function whose derivative is that expression: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here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Sup>
                      <m:e>
                        <m:r>
                          <a:rPr lang="en-IN" sz="2400" i="1">
                            <a:solidFill>
                              <a:srgbClr val="111827"/>
                            </a:solidFill>
                            <a:latin typeface="Cambria Math" panose="02040503050406030204" pitchFamily="18" charset="0"/>
                          </a:rPr>
                          <m:t>𝑓</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similarly </a:t>
                </a:r>
                <a14:m>
                  <m:oMath xmlns:m="http://schemas.openxmlformats.org/officeDocument/2006/math">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𝑓</m:t>
                    </m:r>
                  </m:oMath>
                </a14:m>
                <a:r>
                  <a:rPr sz="2400" b="0">
                    <a:solidFill>
                      <a:srgbClr val="111827"/>
                    </a:solidFill>
                    <a:latin typeface="Arial"/>
                  </a:rPr>
                  <a:t> gives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𝑓</m:t>
                        </m:r>
                      </m:sup>
                    </m:sSup>
                  </m:oMath>
                </a14:m>
                <a:r>
                  <a:rPr sz="2400" b="0">
                    <a:solidFill>
                      <a:srgbClr val="111827"/>
                    </a:solidFill>
                    <a:latin typeface="Arial"/>
                  </a:rPr>
                  <a:t> gives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𝑓</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AM-GM: for positive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sub>
                        </m:sSub>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rad>
                      <m:deg>
                        <m:r>
                          <a:rPr lang="en-IN" sz="2400" i="1">
                            <a:solidFill>
                              <a:srgbClr val="111827"/>
                            </a:solidFill>
                            <a:latin typeface="Cambria Math" panose="02040503050406030204" pitchFamily="18" charset="0"/>
                          </a:rPr>
                          <m:t>𝑛</m:t>
                        </m:r>
                      </m:deg>
                      <m:e>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sub>
                        </m:sSub>
                      </m:e>
                    </m:rad>
                  </m:oMath>
                </a14:m>
                <a:r>
                  <a:rPr sz="2400" b="0">
                    <a:solidFill>
                      <a:srgbClr val="111827"/>
                    </a:solidFill>
                    <a:latin typeface="Arial"/>
                  </a:rPr>
                  <a:t>, with equality iff all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are equal. Also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 make LMVT produce an expression such as </a:t>
                </a:r>
                <a:r>
                  <a:rPr lang="en-IN" sz="2400">
                    <a:solidFill>
                      <a:srgbClr val="111827"/>
                    </a:solidFill>
                    <a:latin typeface="Cambria Math" panose="02040503050406030204" pitchFamily="18" charset="0"/>
                  </a:rPr>
                  <a:t>$f'(c)[f(c)]^{n-1}$</a:t>
                </a:r>
                <a:r>
                  <a:rPr sz="2400" b="0">
                    <a:solidFill>
                      <a:srgbClr val="111827"/>
                    </a:solidFill>
                    <a:latin typeface="Arial"/>
                  </a:rPr>
                  <a:t>, apply it to a function whose derivative is that expression: </a:t>
                </a:r>
                <a:r>
                  <a:rPr lang="en-IN" sz="2400">
                    <a:solidFill>
                      <a:srgbClr val="111827"/>
                    </a:solidFill>
                    <a:latin typeface="Cambria Math" panose="02040503050406030204" pitchFamily="18" charset="0"/>
                  </a:rPr>
                  <a:t>$g=f^n$</a:t>
                </a:r>
                <a:r>
                  <a:rPr sz="2400" b="0">
                    <a:solidFill>
                      <a:srgbClr val="111827"/>
                    </a:solidFill>
                    <a:latin typeface="Arial"/>
                  </a:rPr>
                  <a:t> here (</a:t>
                </a:r>
                <a:r>
                  <a:rPr lang="en-IN" sz="2400">
                    <a:solidFill>
                      <a:srgbClr val="111827"/>
                    </a:solidFill>
                    <a:latin typeface="Cambria Math" panose="02040503050406030204" pitchFamily="18" charset="0"/>
                  </a:rPr>
                  <a:t>$g'=nf^{n-1}f'$</a:t>
                </a:r>
                <a:r>
                  <a:rPr sz="2400" b="0">
                    <a:solidFill>
                      <a:srgbClr val="111827"/>
                    </a:solidFill>
                    <a:latin typeface="Arial"/>
                  </a:rPr>
                  <a:t>); similarly </a:t>
                </a:r>
                <a:r>
                  <a:rPr lang="en-IN" sz="2400">
                    <a:solidFill>
                      <a:srgbClr val="111827"/>
                    </a:solidFill>
                    <a:latin typeface="Cambria Math" panose="02040503050406030204" pitchFamily="18" charset="0"/>
                  </a:rPr>
                  <a:t>$\ln f$</a:t>
                </a:r>
                <a:r>
                  <a:rPr sz="2400" b="0">
                    <a:solidFill>
                      <a:srgbClr val="111827"/>
                    </a:solidFill>
                    <a:latin typeface="Arial"/>
                  </a:rPr>
                  <a:t> gives </a:t>
                </a:r>
                <a:r>
                  <a:rPr lang="en-IN" sz="2400">
                    <a:solidFill>
                      <a:srgbClr val="111827"/>
                    </a:solidFill>
                    <a:latin typeface="Cambria Math" panose="02040503050406030204" pitchFamily="18" charset="0"/>
                  </a:rPr>
                  <a:t>$f'/f$</a:t>
                </a:r>
                <a:r>
                  <a:rPr sz="2400" b="0">
                    <a:solidFill>
                      <a:srgbClr val="111827"/>
                    </a:solidFill>
                    <a:latin typeface="Arial"/>
                  </a:rPr>
                  <a:t> and </a:t>
                </a:r>
                <a:r>
                  <a:rPr lang="en-IN" sz="2400">
                    <a:solidFill>
                      <a:srgbClr val="111827"/>
                    </a:solidFill>
                    <a:latin typeface="Cambria Math" panose="02040503050406030204" pitchFamily="18" charset="0"/>
                  </a:rPr>
                  <a:t>$e^{f}$</a:t>
                </a:r>
                <a:r>
                  <a:rPr sz="2400" b="0">
                    <a:solidFill>
                      <a:srgbClr val="111827"/>
                    </a:solidFill>
                    <a:latin typeface="Arial"/>
                  </a:rPr>
                  <a:t> gives </a:t>
                </a:r>
                <a:r>
                  <a:rPr lang="en-IN" sz="2400">
                    <a:solidFill>
                      <a:srgbClr val="111827"/>
                    </a:solidFill>
                    <a:latin typeface="Cambria Math" panose="02040503050406030204" pitchFamily="18" charset="0"/>
                  </a:rPr>
                  <a:t>$f'e^{f}$</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AM-GM: for positive </a:t>
                </a:r>
                <a:r>
                  <a:rPr lang="en-IN" sz="2400">
                    <a:solidFill>
                      <a:srgbClr val="111827"/>
                    </a:solidFill>
                    <a:latin typeface="Cambria Math" panose="02040503050406030204" pitchFamily="18" charset="0"/>
                  </a:rPr>
                  <a:t>$a_1,\dots,a_n$</a:t>
                </a:r>
                <a:r>
                  <a:rPr sz="2400" b="0">
                    <a:solidFill>
                      <a:srgbClr val="111827"/>
                    </a:solidFill>
                    <a:latin typeface="Arial"/>
                  </a:rPr>
                  <a:t>, </a:t>
                </a:r>
                <a:r>
                  <a:rPr lang="en-IN" sz="2400">
                    <a:solidFill>
                      <a:srgbClr val="111827"/>
                    </a:solidFill>
                    <a:latin typeface="Cambria Math" panose="02040503050406030204" pitchFamily="18" charset="0"/>
                  </a:rPr>
                  <a:t>$\frac{a_1+\dots+a_n}{n}\ge\sqrt[n]{a_1\cdots a_n}$</a:t>
                </a:r>
                <a:r>
                  <a:rPr sz="2400" b="0">
                    <a:solidFill>
                      <a:srgbClr val="111827"/>
                    </a:solidFill>
                    <a:latin typeface="Arial"/>
                  </a:rPr>
                  <a:t>, with equality iff all </a:t>
                </a:r>
                <a:r>
                  <a:rPr lang="en-IN" sz="2400">
                    <a:solidFill>
                      <a:srgbClr val="111827"/>
                    </a:solidFill>
                    <a:latin typeface="Cambria Math" panose="02040503050406030204" pitchFamily="18" charset="0"/>
                  </a:rPr>
                  <a:t>$a_i$</a:t>
                </a:r>
                <a:r>
                  <a:rPr sz="2400" b="0">
                    <a:solidFill>
                      <a:srgbClr val="111827"/>
                    </a:solidFill>
                    <a:latin typeface="Arial"/>
                  </a:rPr>
                  <a:t> are equal. Also </a:t>
                </a:r>
                <a:r>
                  <a:rPr lang="en-IN" sz="2400">
                    <a:solidFill>
                      <a:srgbClr val="111827"/>
                    </a:solidFill>
                    <a:latin typeface="Cambria Math" panose="02040503050406030204" pitchFamily="18" charset="0"/>
                  </a:rPr>
                  <a:t>$1+2+\dots+2^{n-1}=2^n-1$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LMVT only gives the existence of one </a:t>
                </a:r>
                <a14:m>
                  <m:oMath xmlns:m="http://schemas.openxmlformats.org/officeDocument/2006/math">
                    <m:r>
                      <a:rPr lang="en-IN" sz="2400" i="1">
                        <a:solidFill>
                          <a:srgbClr val="111827"/>
                        </a:solidFill>
                        <a:latin typeface="Cambria Math" panose="02040503050406030204" pitchFamily="18" charset="0"/>
                      </a:rPr>
                      <m:t>𝑐</m:t>
                    </m:r>
                  </m:oMath>
                </a14:m>
                <a:r>
                  <a:rPr sz="2400" b="0">
                    <a:solidFill>
                      <a:srgbClr val="111827"/>
                    </a:solidFill>
                    <a:latin typeface="Arial"/>
                  </a:rPr>
                  <a:t>. A statement of the type 'there exists </a:t>
                </a:r>
                <a14:m>
                  <m:oMath xmlns:m="http://schemas.openxmlformats.org/officeDocument/2006/math">
                    <m:r>
                      <a:rPr lang="en-IN" sz="2400" i="1">
                        <a:solidFill>
                          <a:srgbClr val="111827"/>
                        </a:solidFill>
                        <a:latin typeface="Cambria Math" panose="02040503050406030204" pitchFamily="18" charset="0"/>
                      </a:rPr>
                      <m:t>𝑐</m:t>
                    </m:r>
                  </m:oMath>
                </a14:m>
                <a:r>
                  <a:rPr sz="2400" b="0">
                    <a:solidFill>
                      <a:srgbClr val="111827"/>
                    </a:solidFill>
                    <a:latin typeface="Arial"/>
                  </a:rPr>
                  <a:t> with value </a:t>
                </a:r>
                <a14:m>
                  <m:oMath xmlns:m="http://schemas.openxmlformats.org/officeDocument/2006/math">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𝑘</m:t>
                    </m:r>
                  </m:oMath>
                </a14:m>
                <a:r>
                  <a:rPr sz="2400" b="0">
                    <a:solidFill>
                      <a:srgbClr val="111827"/>
                    </a:solidFill>
                    <a:latin typeface="Arial"/>
                  </a:rPr>
                  <a:t>' is guaranteed when the mean value exceeds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the opposite inequality must be tested with an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whose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constant.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 is larger than </a:t>
                </a:r>
                <a14:m>
                  <m:oMath xmlns:m="http://schemas.openxmlformats.org/officeDocument/2006/math">
                    <m:sSup>
                      <m:e>
                        <m:r>
                          <a:rPr lang="en-IN" sz="2400" i="1">
                            <a:solidFill>
                              <a:srgbClr val="111827"/>
                            </a:solidFill>
                            <a:latin typeface="Cambria Math" panose="02040503050406030204" pitchFamily="18" charset="0"/>
                          </a:rPr>
                          <m:t>2</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oMath>
                </a14:m>
                <a:r>
                  <a:rPr sz="2400" b="0">
                    <a:solidFill>
                      <a:srgbClr val="111827"/>
                    </a:solidFill>
                    <a:latin typeface="Arial"/>
                  </a:rPr>
                  <a:t> (for example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1.41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2.33</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2</m:t>
                    </m:r>
                  </m:oMath>
                </a14:m>
                <a:r>
                  <a:rPr sz="2400" b="0">
                    <a:solidFill>
                      <a:srgbClr val="111827"/>
                    </a:solidFill>
                    <a:latin typeface="Arial"/>
                  </a:rPr>
                  <a:t>), so the bound from AM-GM is never attained.</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LMVT only gives the existence of one </a:t>
                </a:r>
                <a:r>
                  <a:rPr lang="en-IN" sz="2400">
                    <a:solidFill>
                      <a:srgbClr val="111827"/>
                    </a:solidFill>
                    <a:latin typeface="Cambria Math" panose="02040503050406030204" pitchFamily="18" charset="0"/>
                  </a:rPr>
                  <a:t>$c$</a:t>
                </a:r>
                <a:r>
                  <a:rPr sz="2400" b="0">
                    <a:solidFill>
                      <a:srgbClr val="111827"/>
                    </a:solidFill>
                    <a:latin typeface="Arial"/>
                  </a:rPr>
                  <a:t>. A statement of the type 'there exists </a:t>
                </a:r>
                <a:r>
                  <a:rPr lang="en-IN" sz="2400">
                    <a:solidFill>
                      <a:srgbClr val="111827"/>
                    </a:solidFill>
                    <a:latin typeface="Cambria Math" panose="02040503050406030204" pitchFamily="18" charset="0"/>
                  </a:rPr>
                  <a:t>$c$</a:t>
                </a:r>
                <a:r>
                  <a:rPr sz="2400" b="0">
                    <a:solidFill>
                      <a:srgbClr val="111827"/>
                    </a:solidFill>
                    <a:latin typeface="Arial"/>
                  </a:rPr>
                  <a:t> with value </a:t>
                </a:r>
                <a:r>
                  <a:rPr lang="en-IN" sz="2400">
                    <a:solidFill>
                      <a:srgbClr val="111827"/>
                    </a:solidFill>
                    <a:latin typeface="Cambria Math" panose="02040503050406030204" pitchFamily="18" charset="0"/>
                  </a:rPr>
                  <a:t>$&gt;k$</a:t>
                </a:r>
                <a:r>
                  <a:rPr sz="2400" b="0">
                    <a:solidFill>
                      <a:srgbClr val="111827"/>
                    </a:solidFill>
                    <a:latin typeface="Arial"/>
                  </a:rPr>
                  <a:t>' is guaranteed when the mean value exceeds </a:t>
                </a:r>
                <a:r>
                  <a:rPr lang="en-IN" sz="2400">
                    <a:solidFill>
                      <a:srgbClr val="111827"/>
                    </a:solidFill>
                    <a:latin typeface="Cambria Math" panose="02040503050406030204" pitchFamily="18" charset="0"/>
                  </a:rPr>
                  <a:t>$k$</a:t>
                </a:r>
                <a:r>
                  <a:rPr sz="2400" b="0">
                    <a:solidFill>
                      <a:srgbClr val="111827"/>
                    </a:solidFill>
                    <a:latin typeface="Arial"/>
                  </a:rPr>
                  <a:t>; the opposite inequality must be tested with an </a:t>
                </a:r>
                <a:r>
                  <a:rPr lang="en-IN" sz="2400">
                    <a:solidFill>
                      <a:srgbClr val="111827"/>
                    </a:solidFill>
                    <a:latin typeface="Cambria Math" panose="02040503050406030204" pitchFamily="18" charset="0"/>
                  </a:rPr>
                  <a:t>$f$</a:t>
                </a:r>
                <a:r>
                  <a:rPr sz="2400" b="0">
                    <a:solidFill>
                      <a:srgbClr val="111827"/>
                    </a:solidFill>
                    <a:latin typeface="Arial"/>
                  </a:rPr>
                  <a:t> whose </a:t>
                </a:r>
                <a:r>
                  <a:rPr lang="en-IN" sz="2400">
                    <a:solidFill>
                      <a:srgbClr val="111827"/>
                    </a:solidFill>
                    <a:latin typeface="Cambria Math" panose="02040503050406030204" pitchFamily="18" charset="0"/>
                  </a:rPr>
                  <a:t>$g'$</a:t>
                </a:r>
                <a:r>
                  <a:rPr sz="2400" b="0">
                    <a:solidFill>
                      <a:srgbClr val="111827"/>
                    </a:solidFill>
                    <a:latin typeface="Arial"/>
                  </a:rPr>
                  <a:t> is constant.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$n\ge2$</a:t>
                </a:r>
                <a:r>
                  <a:rPr sz="2400" b="0">
                    <a:solidFill>
                      <a:srgbClr val="111827"/>
                    </a:solidFill>
                    <a:latin typeface="Arial"/>
                  </a:rPr>
                  <a:t>, </a:t>
                </a:r>
                <a:r>
                  <a:rPr lang="en-IN" sz="2400">
                    <a:solidFill>
                      <a:srgbClr val="111827"/>
                    </a:solidFill>
                    <a:latin typeface="Cambria Math" panose="02040503050406030204" pitchFamily="18" charset="0"/>
                  </a:rPr>
                  <a:t>$\frac{2^n-1}{n}$</a:t>
                </a:r>
                <a:r>
                  <a:rPr sz="2400" b="0">
                    <a:solidFill>
                      <a:srgbClr val="111827"/>
                    </a:solidFill>
                    <a:latin typeface="Arial"/>
                  </a:rPr>
                  <a:t> is larger than </a:t>
                </a:r>
                <a:r>
                  <a:rPr lang="en-IN" sz="2400">
                    <a:solidFill>
                      <a:srgbClr val="111827"/>
                    </a:solidFill>
                    <a:latin typeface="Cambria Math" panose="02040503050406030204" pitchFamily="18" charset="0"/>
                  </a:rPr>
                  <a:t>$2^{(n-1)/2}$</a:t>
                </a:r>
                <a:r>
                  <a:rPr sz="2400" b="0">
                    <a:solidFill>
                      <a:srgbClr val="111827"/>
                    </a:solidFill>
                    <a:latin typeface="Arial"/>
                  </a:rPr>
                  <a:t> (for example </a:t>
                </a:r>
                <a:r>
                  <a:rPr lang="en-IN" sz="2400">
                    <a:solidFill>
                      <a:srgbClr val="111827"/>
                    </a:solidFill>
                    <a:latin typeface="Cambria Math" panose="02040503050406030204" pitchFamily="18" charset="0"/>
                  </a:rPr>
                  <a:t>$n=2$</a:t>
                </a:r>
                <a:r>
                  <a:rPr sz="2400" b="0">
                    <a:solidFill>
                      <a:srgbClr val="111827"/>
                    </a:solidFill>
                    <a:latin typeface="Arial"/>
                  </a:rPr>
                  <a:t>: </a:t>
                </a:r>
                <a:r>
                  <a:rPr lang="en-IN" sz="2400">
                    <a:solidFill>
                      <a:srgbClr val="111827"/>
                    </a:solidFill>
                    <a:latin typeface="Cambria Math" panose="02040503050406030204" pitchFamily="18" charset="0"/>
                  </a:rPr>
                  <a:t>$1.5&gt;1.41$</a:t>
                </a:r>
                <a:r>
                  <a:rPr sz="2400" b="0">
                    <a:solidFill>
                      <a:srgbClr val="111827"/>
                    </a:solidFill>
                    <a:latin typeface="Arial"/>
                  </a:rPr>
                  <a:t>; </a:t>
                </a:r>
                <a:r>
                  <a:rPr lang="en-IN" sz="2400">
                    <a:solidFill>
                      <a:srgbClr val="111827"/>
                    </a:solidFill>
                    <a:latin typeface="Cambria Math" panose="02040503050406030204" pitchFamily="18" charset="0"/>
                  </a:rPr>
                  <a:t>$n=3$</a:t>
                </a:r>
                <a:r>
                  <a:rPr sz="2400" b="0">
                    <a:solidFill>
                      <a:srgbClr val="111827"/>
                    </a:solidFill>
                    <a:latin typeface="Arial"/>
                  </a:rPr>
                  <a:t>: </a:t>
                </a:r>
                <a:r>
                  <a:rPr lang="en-IN" sz="2400">
                    <a:solidFill>
                      <a:srgbClr val="111827"/>
                    </a:solidFill>
                    <a:latin typeface="Cambria Math" panose="02040503050406030204" pitchFamily="18" charset="0"/>
                  </a:rPr>
                  <a:t>$2.33&gt;2$</a:t>
                </a:r>
                <a:r>
                  <a:rPr sz="2400" b="0">
                    <a:solidFill>
                      <a:srgbClr val="111827"/>
                    </a:solidFill>
                    <a:latin typeface="Arial"/>
                  </a:rPr>
                  <a:t>), so the bound from AM-GM is never attained.</a:t>
                </a:r>
                <a:endParaRPr sz="2400">
                  <a:solidFill>
                    <a:srgbClr val="111827"/>
                  </a:solidFill>
                </a:endParaRPr>
              </a:p>
            </p:txBody>
          </p:sp>
        </mc:Fallback>
      </mc:AlternateContent>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486511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stationary point of a function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a real number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such that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Consider a polynomial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If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of degree </a:t>
                </a:r>
                <a14:m>
                  <m:oMath xmlns:m="http://schemas.openxmlformats.org/officeDocument/2006/math">
                    <m:r>
                      <a:rPr lang="en-IN" sz="2400" i="1">
                        <a:solidFill>
                          <a:srgbClr val="111827"/>
                        </a:solidFill>
                        <a:latin typeface="Cambria Math" panose="02040503050406030204" pitchFamily="18" charset="0"/>
                      </a:rPr>
                      <m:t>2022</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must have at least one stationary point.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If the number of distinct real roots of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2021</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must have at least </a:t>
                </a:r>
                <a14:m>
                  <m:oMath xmlns:m="http://schemas.openxmlformats.org/officeDocument/2006/math">
                    <m:r>
                      <a:rPr lang="en-IN" sz="2400" i="1">
                        <a:solidFill>
                          <a:srgbClr val="111827"/>
                        </a:solidFill>
                        <a:latin typeface="Cambria Math" panose="02040503050406030204" pitchFamily="18" charset="0"/>
                      </a:rPr>
                      <m:t>2020</m:t>
                    </m:r>
                  </m:oMath>
                </a14:m>
                <a:r>
                  <a:rPr sz="2400" b="0">
                    <a:solidFill>
                      <a:srgbClr val="111827"/>
                    </a:solidFill>
                    <a:latin typeface="Arial"/>
                  </a:rPr>
                  <a:t> stationary points.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If the number of distinct real roots of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2021</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can have at most </a:t>
                </a:r>
                <a14:m>
                  <m:oMath xmlns:m="http://schemas.openxmlformats.org/officeDocument/2006/math">
                    <m:r>
                      <a:rPr lang="en-IN" sz="2400" i="1">
                        <a:solidFill>
                          <a:srgbClr val="111827"/>
                        </a:solidFill>
                        <a:latin typeface="Cambria Math" panose="02040503050406030204" pitchFamily="18" charset="0"/>
                      </a:rPr>
                      <m:t>2020</m:t>
                    </m:r>
                  </m:oMath>
                </a14:m>
                <a:r>
                  <a:rPr sz="2400" b="0">
                    <a:solidFill>
                      <a:srgbClr val="111827"/>
                    </a:solidFill>
                    <a:latin typeface="Arial"/>
                  </a:rPr>
                  <a:t> stationary points.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If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is a stationary point of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𝑝</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then the point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neither a local maximum nor a local minimum point on the graph of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486511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stationary point of a function </a:t>
                </a:r>
                <a:r>
                  <a:rPr lang="en-IN" sz="2400">
                    <a:solidFill>
                      <a:srgbClr val="111827"/>
                    </a:solidFill>
                    <a:latin typeface="Cambria Math" panose="02040503050406030204" pitchFamily="18" charset="0"/>
                  </a:rPr>
                  <a:t>$f$</a:t>
                </a:r>
                <a:r>
                  <a:rPr sz="2400" b="0">
                    <a:solidFill>
                      <a:srgbClr val="111827"/>
                    </a:solidFill>
                    <a:latin typeface="Arial"/>
                  </a:rPr>
                  <a:t> is a real number </a:t>
                </a:r>
                <a:r>
                  <a:rPr lang="en-IN" sz="2400">
                    <a:solidFill>
                      <a:srgbClr val="111827"/>
                    </a:solidFill>
                    <a:latin typeface="Cambria Math" panose="02040503050406030204" pitchFamily="18" charset="0"/>
                  </a:rPr>
                  <a:t>$r$</a:t>
                </a:r>
                <a:r>
                  <a:rPr sz="2400" b="0">
                    <a:solidFill>
                      <a:srgbClr val="111827"/>
                    </a:solidFill>
                    <a:latin typeface="Arial"/>
                  </a:rPr>
                  <a:t> such that </a:t>
                </a:r>
                <a:r>
                  <a:rPr lang="en-IN" sz="2400">
                    <a:solidFill>
                      <a:srgbClr val="111827"/>
                    </a:solidFill>
                    <a:latin typeface="Cambria Math" panose="02040503050406030204" pitchFamily="18" charset="0"/>
                  </a:rPr>
                  <a:t>$f'(r)=0$</a:t>
                </a:r>
                <a:r>
                  <a:rPr sz="2400" b="0">
                    <a:solidFill>
                      <a:srgbClr val="111827"/>
                    </a:solidFill>
                    <a:latin typeface="Arial"/>
                  </a:rPr>
                  <a:t>. Consider a polynomial </a:t>
                </a:r>
                <a:r>
                  <a:rPr lang="en-IN" sz="2400">
                    <a:solidFill>
                      <a:srgbClr val="111827"/>
                    </a:solidFill>
                    <a:latin typeface="Cambria Math" panose="02040503050406030204" pitchFamily="18" charset="0"/>
                  </a:rPr>
                  <a:t>$p(x)$</a:t>
                </a:r>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If </a:t>
                </a:r>
                <a:r>
                  <a:rPr lang="en-IN" sz="2400">
                    <a:solidFill>
                      <a:srgbClr val="111827"/>
                    </a:solidFill>
                    <a:latin typeface="Cambria Math" panose="02040503050406030204" pitchFamily="18" charset="0"/>
                  </a:rPr>
                  <a:t>$p(x)$</a:t>
                </a:r>
                <a:r>
                  <a:rPr sz="2400" b="0">
                    <a:solidFill>
                      <a:srgbClr val="111827"/>
                    </a:solidFill>
                    <a:latin typeface="Arial"/>
                  </a:rPr>
                  <a:t> is of degree </a:t>
                </a:r>
                <a:r>
                  <a:rPr lang="en-IN" sz="2400">
                    <a:solidFill>
                      <a:srgbClr val="111827"/>
                    </a:solidFill>
                    <a:latin typeface="Cambria Math" panose="02040503050406030204" pitchFamily="18" charset="0"/>
                  </a:rPr>
                  <a:t>$2022$</a:t>
                </a:r>
                <a:r>
                  <a:rPr sz="2400" b="0">
                    <a:solidFill>
                      <a:srgbClr val="111827"/>
                    </a:solidFill>
                    <a:latin typeface="Arial"/>
                  </a:rPr>
                  <a:t>, then </a:t>
                </a:r>
                <a:r>
                  <a:rPr lang="en-IN" sz="2400">
                    <a:solidFill>
                      <a:srgbClr val="111827"/>
                    </a:solidFill>
                    <a:latin typeface="Cambria Math" panose="02040503050406030204" pitchFamily="18" charset="0"/>
                  </a:rPr>
                  <a:t>$p(x)$</a:t>
                </a:r>
                <a:r>
                  <a:rPr sz="2400" b="0">
                    <a:solidFill>
                      <a:srgbClr val="111827"/>
                    </a:solidFill>
                    <a:latin typeface="Arial"/>
                  </a:rPr>
                  <a:t> must have at least one stationary point.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If the number of distinct real roots of </a:t>
                </a:r>
                <a:r>
                  <a:rPr lang="en-IN" sz="2400">
                    <a:solidFill>
                      <a:srgbClr val="111827"/>
                    </a:solidFill>
                    <a:latin typeface="Cambria Math" panose="02040503050406030204" pitchFamily="18" charset="0"/>
                  </a:rPr>
                  <a:t>$p(x)$</a:t>
                </a:r>
                <a:r>
                  <a:rPr sz="2400" b="0">
                    <a:solidFill>
                      <a:srgbClr val="111827"/>
                    </a:solidFill>
                    <a:latin typeface="Arial"/>
                  </a:rPr>
                  <a:t> is </a:t>
                </a:r>
                <a:r>
                  <a:rPr lang="en-IN" sz="2400">
                    <a:solidFill>
                      <a:srgbClr val="111827"/>
                    </a:solidFill>
                    <a:latin typeface="Cambria Math" panose="02040503050406030204" pitchFamily="18" charset="0"/>
                  </a:rPr>
                  <a:t>$2021$</a:t>
                </a:r>
                <a:r>
                  <a:rPr sz="2400" b="0">
                    <a:solidFill>
                      <a:srgbClr val="111827"/>
                    </a:solidFill>
                    <a:latin typeface="Arial"/>
                  </a:rPr>
                  <a:t>, then </a:t>
                </a:r>
                <a:r>
                  <a:rPr lang="en-IN" sz="2400">
                    <a:solidFill>
                      <a:srgbClr val="111827"/>
                    </a:solidFill>
                    <a:latin typeface="Cambria Math" panose="02040503050406030204" pitchFamily="18" charset="0"/>
                  </a:rPr>
                  <a:t>$p(x)$</a:t>
                </a:r>
                <a:r>
                  <a:rPr sz="2400" b="0">
                    <a:solidFill>
                      <a:srgbClr val="111827"/>
                    </a:solidFill>
                    <a:latin typeface="Arial"/>
                  </a:rPr>
                  <a:t> must have at least </a:t>
                </a:r>
                <a:r>
                  <a:rPr lang="en-IN" sz="2400">
                    <a:solidFill>
                      <a:srgbClr val="111827"/>
                    </a:solidFill>
                    <a:latin typeface="Cambria Math" panose="02040503050406030204" pitchFamily="18" charset="0"/>
                  </a:rPr>
                  <a:t>$2020$</a:t>
                </a:r>
                <a:r>
                  <a:rPr sz="2400" b="0">
                    <a:solidFill>
                      <a:srgbClr val="111827"/>
                    </a:solidFill>
                    <a:latin typeface="Arial"/>
                  </a:rPr>
                  <a:t> stationary points.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If the number of distinct real roots of </a:t>
                </a:r>
                <a:r>
                  <a:rPr lang="en-IN" sz="2400">
                    <a:solidFill>
                      <a:srgbClr val="111827"/>
                    </a:solidFill>
                    <a:latin typeface="Cambria Math" panose="02040503050406030204" pitchFamily="18" charset="0"/>
                  </a:rPr>
                  <a:t>$p(x)$</a:t>
                </a:r>
                <a:r>
                  <a:rPr sz="2400" b="0">
                    <a:solidFill>
                      <a:srgbClr val="111827"/>
                    </a:solidFill>
                    <a:latin typeface="Arial"/>
                  </a:rPr>
                  <a:t> is </a:t>
                </a:r>
                <a:r>
                  <a:rPr lang="en-IN" sz="2400">
                    <a:solidFill>
                      <a:srgbClr val="111827"/>
                    </a:solidFill>
                    <a:latin typeface="Cambria Math" panose="02040503050406030204" pitchFamily="18" charset="0"/>
                  </a:rPr>
                  <a:t>$2021$</a:t>
                </a:r>
                <a:r>
                  <a:rPr sz="2400" b="0">
                    <a:solidFill>
                      <a:srgbClr val="111827"/>
                    </a:solidFill>
                    <a:latin typeface="Arial"/>
                  </a:rPr>
                  <a:t>, then </a:t>
                </a:r>
                <a:r>
                  <a:rPr lang="en-IN" sz="2400">
                    <a:solidFill>
                      <a:srgbClr val="111827"/>
                    </a:solidFill>
                    <a:latin typeface="Cambria Math" panose="02040503050406030204" pitchFamily="18" charset="0"/>
                  </a:rPr>
                  <a:t>$p(x)$</a:t>
                </a:r>
                <a:r>
                  <a:rPr sz="2400" b="0">
                    <a:solidFill>
                      <a:srgbClr val="111827"/>
                    </a:solidFill>
                    <a:latin typeface="Arial"/>
                  </a:rPr>
                  <a:t> can have at most </a:t>
                </a:r>
                <a:r>
                  <a:rPr lang="en-IN" sz="2400">
                    <a:solidFill>
                      <a:srgbClr val="111827"/>
                    </a:solidFill>
                    <a:latin typeface="Cambria Math" panose="02040503050406030204" pitchFamily="18" charset="0"/>
                  </a:rPr>
                  <a:t>$2020$</a:t>
                </a:r>
                <a:r>
                  <a:rPr sz="2400" b="0">
                    <a:solidFill>
                      <a:srgbClr val="111827"/>
                    </a:solidFill>
                    <a:latin typeface="Arial"/>
                  </a:rPr>
                  <a:t> stationary points.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If </a:t>
                </a:r>
                <a:r>
                  <a:rPr lang="en-IN" sz="2400">
                    <a:solidFill>
                      <a:srgbClr val="111827"/>
                    </a:solidFill>
                    <a:latin typeface="Cambria Math" panose="02040503050406030204" pitchFamily="18" charset="0"/>
                  </a:rPr>
                  <a:t>$r$</a:t>
                </a:r>
                <a:r>
                  <a:rPr sz="2400" b="0">
                    <a:solidFill>
                      <a:srgbClr val="111827"/>
                    </a:solidFill>
                    <a:latin typeface="Arial"/>
                  </a:rPr>
                  <a:t> is a stationary point of </a:t>
                </a:r>
                <a:r>
                  <a:rPr lang="en-IN" sz="2400">
                    <a:solidFill>
                      <a:srgbClr val="111827"/>
                    </a:solidFill>
                    <a:latin typeface="Cambria Math" panose="02040503050406030204" pitchFamily="18" charset="0"/>
                  </a:rPr>
                  <a:t>$p(x)$</a:t>
                </a:r>
                <a:r>
                  <a:rPr sz="2400" b="0">
                    <a:solidFill>
                      <a:srgbClr val="111827"/>
                    </a:solidFill>
                    <a:latin typeface="Arial"/>
                  </a:rPr>
                  <a:t> AND </a:t>
                </a:r>
                <a:r>
                  <a:rPr lang="en-IN" sz="2400">
                    <a:solidFill>
                      <a:srgbClr val="111827"/>
                    </a:solidFill>
                    <a:latin typeface="Cambria Math" panose="02040503050406030204" pitchFamily="18" charset="0"/>
                  </a:rPr>
                  <a:t>$p''(r)=0$</a:t>
                </a:r>
                <a:r>
                  <a:rPr sz="2400" b="0">
                    <a:solidFill>
                      <a:srgbClr val="111827"/>
                    </a:solidFill>
                    <a:latin typeface="Arial"/>
                  </a:rPr>
                  <a:t>, then the point </a:t>
                </a:r>
                <a:r>
                  <a:rPr lang="en-IN" sz="2400">
                    <a:solidFill>
                      <a:srgbClr val="111827"/>
                    </a:solidFill>
                    <a:latin typeface="Cambria Math" panose="02040503050406030204" pitchFamily="18" charset="0"/>
                  </a:rPr>
                  <a:t>$(r,p(r))$</a:t>
                </a:r>
                <a:r>
                  <a:rPr sz="2400" b="0">
                    <a:solidFill>
                      <a:srgbClr val="111827"/>
                    </a:solidFill>
                    <a:latin typeface="Arial"/>
                  </a:rPr>
                  <a:t> is neither a local maximum nor a local minimum point on the graph of </a:t>
                </a:r>
                <a:r>
                  <a:rPr lang="en-IN" sz="2400">
                    <a:solidFill>
                      <a:srgbClr val="111827"/>
                    </a:solidFill>
                    <a:latin typeface="Cambria Math" panose="02040503050406030204" pitchFamily="18" charset="0"/>
                  </a:rPr>
                  <a:t>$p(x)$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One or more than one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Stationary points of polynomials: roots of </a:t>
                </a:r>
                <a14:m>
                  <m:oMath xmlns:m="http://schemas.openxmlformats.org/officeDocument/2006/math">
                    <m:sSup>
                      <m:e>
                        <m:r>
                          <a:rPr lang="en-IN" sz="2400" i="1">
                            <a:solidFill>
                              <a:srgbClr val="111827"/>
                            </a:solidFill>
                            <a:latin typeface="Cambria Math" panose="02040503050406030204" pitchFamily="18" charset="0"/>
                          </a:rPr>
                          <m:t>𝑝</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Rolle's theorem and extrema</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Choice>
        <mc:Fallback>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One or more than one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Stationary points of polynomials: roots of </a:t>
                </a:r>
                <a:r>
                  <a:rPr lang="en-IN" sz="2400">
                    <a:solidFill>
                      <a:srgbClr val="111827"/>
                    </a:solidFill>
                    <a:latin typeface="Cambria Math" panose="02040503050406030204" pitchFamily="18" charset="0"/>
                  </a:rPr>
                  <a:t>$p'$</a:t>
                </a:r>
                <a:r>
                  <a:rPr sz="2400" b="0">
                    <a:solidFill>
                      <a:srgbClr val="111827"/>
                    </a:solidFill>
                    <a:latin typeface="Arial"/>
                  </a:rPr>
                  <a:t>, Rolle's theorem and extrema</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3438144"/>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Odd degree of </a:t>
                </a:r>
                <a14:m>
                  <m:oMath xmlns:m="http://schemas.openxmlformats.org/officeDocument/2006/math">
                    <m:sSup>
                      <m:e>
                        <m:r>
                          <a:rPr lang="en-IN" sz="2400" i="1">
                            <a:solidFill>
                              <a:srgbClr val="78350F"/>
                            </a:solidFill>
                            <a:latin typeface="Cambria Math" panose="02040503050406030204" pitchFamily="18" charset="0"/>
                          </a:rPr>
                          <m:t>𝑝</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guarantees a real root for (A); Rolle's theorem between consecutive roots of </a:t>
                </a:r>
                <a14:m>
                  <m:oMath xmlns:m="http://schemas.openxmlformats.org/officeDocument/2006/math">
                    <m:r>
                      <a:rPr lang="en-IN" sz="2400" i="1">
                        <a:solidFill>
                          <a:srgbClr val="78350F"/>
                        </a:solidFill>
                        <a:latin typeface="Cambria Math" panose="02040503050406030204" pitchFamily="18" charset="0"/>
                      </a:rPr>
                      <m:t>𝑝</m:t>
                    </m:r>
                  </m:oMath>
                </a14:m>
                <a:r>
                  <a:rPr sz="2400" b="0">
                    <a:solidFill>
                      <a:srgbClr val="78350F"/>
                    </a:solidFill>
                    <a:latin typeface="Arial"/>
                  </a:rPr>
                  <a:t> gives (B); (C) and (D) fail on explicit polynomials.</a:t>
                </a:r>
                <a:endParaRPr sz="2400">
                  <a:solidFill>
                    <a:srgbClr val="78350F"/>
                  </a:solidFill>
                </a:endParaRPr>
              </a:p>
            </p:txBody>
          </p:sp>
        </mc:Choice>
        <mc:Fallback>
          <p:sp>
            <p:nvSpPr>
              <p:cNvPr id="5" name="Rounded Rectangle 4"/>
              <p:cNvSpPr/>
              <p:nvPr/>
            </p:nvSpPr>
            <p:spPr>
              <a:xfrm>
                <a:off x="731520" y="3438144"/>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Odd degree of </a:t>
                </a:r>
                <a:r>
                  <a:rPr lang="en-IN" sz="2400">
                    <a:solidFill>
                      <a:srgbClr val="78350F"/>
                    </a:solidFill>
                    <a:latin typeface="Cambria Math" panose="02040503050406030204" pitchFamily="18" charset="0"/>
                  </a:rPr>
                  <a:t>$p'$</a:t>
                </a:r>
                <a:r>
                  <a:rPr sz="2400" b="0">
                    <a:solidFill>
                      <a:srgbClr val="78350F"/>
                    </a:solidFill>
                    <a:latin typeface="Arial"/>
                  </a:rPr>
                  <a:t> guarantees a real root for (A); Rolle's theorem between consecutive roots of </a:t>
                </a:r>
                <a:r>
                  <a:rPr lang="en-IN" sz="2400">
                    <a:solidFill>
                      <a:srgbClr val="78350F"/>
                    </a:solidFill>
                    <a:latin typeface="Cambria Math" panose="02040503050406030204" pitchFamily="18" charset="0"/>
                  </a:rPr>
                  <a:t>$p$</a:t>
                </a:r>
                <a:r>
                  <a:rPr sz="2400" b="0">
                    <a:solidFill>
                      <a:srgbClr val="78350F"/>
                    </a:solidFill>
                    <a:latin typeface="Arial"/>
                  </a:rPr>
                  <a:t> gives (B); (C) and (D) fail on explicit polynomials.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5056632"/>
                <a:ext cx="10725912" cy="16184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has degree </a:t>
                </a:r>
                <a14:m>
                  <m:oMath xmlns:m="http://schemas.openxmlformats.org/officeDocument/2006/math">
                    <m:r>
                      <a:rPr lang="en-IN" sz="2400" i="1">
                        <a:solidFill>
                          <a:srgbClr val="111827"/>
                        </a:solidFill>
                        <a:latin typeface="Cambria Math" panose="02040503050406030204" pitchFamily="18" charset="0"/>
                      </a:rPr>
                      <m:t>2022</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𝑝</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 polynomial of degree </a:t>
                </a:r>
                <a14:m>
                  <m:oMath xmlns:m="http://schemas.openxmlformats.org/officeDocument/2006/math">
                    <m:r>
                      <a:rPr lang="en-IN" sz="2400" i="1">
                        <a:solidFill>
                          <a:srgbClr val="111827"/>
                        </a:solidFill>
                        <a:latin typeface="Cambria Math" panose="02040503050406030204" pitchFamily="18" charset="0"/>
                      </a:rPr>
                      <m:t>2021</m:t>
                    </m:r>
                  </m:oMath>
                </a14:m>
                <a:r>
                  <a:rPr sz="2400" b="0">
                    <a:solidFill>
                      <a:srgbClr val="111827"/>
                    </a:solidFill>
                    <a:latin typeface="Arial"/>
                  </a:rPr>
                  <a:t>, which is odd.</a:t>
                </a:r>
                <a:endParaRPr sz="2400">
                  <a:solidFill>
                    <a:srgbClr val="111827"/>
                  </a:solidFill>
                </a:endParaRPr>
              </a:p>
            </p:txBody>
          </p:sp>
        </mc:Choice>
        <mc:Fallback>
          <p:sp>
            <p:nvSpPr>
              <p:cNvPr id="6" name="Rectangle 5"/>
              <p:cNvSpPr/>
              <p:nvPr/>
            </p:nvSpPr>
            <p:spPr>
              <a:xfrm>
                <a:off x="731520" y="5056632"/>
                <a:ext cx="10725912" cy="16184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$p$</a:t>
                </a:r>
                <a:r>
                  <a:rPr sz="2400" b="0">
                    <a:solidFill>
                      <a:srgbClr val="111827"/>
                    </a:solidFill>
                    <a:latin typeface="Arial"/>
                  </a:rPr>
                  <a:t> has degree </a:t>
                </a:r>
                <a:r>
                  <a:rPr lang="en-IN" sz="2400">
                    <a:solidFill>
                      <a:srgbClr val="111827"/>
                    </a:solidFill>
                    <a:latin typeface="Cambria Math" panose="02040503050406030204" pitchFamily="18" charset="0"/>
                  </a:rPr>
                  <a:t>$2022$</a:t>
                </a:r>
                <a:r>
                  <a:rPr sz="2400" b="0">
                    <a:solidFill>
                      <a:srgbClr val="111827"/>
                    </a:solidFill>
                    <a:latin typeface="Arial"/>
                  </a:rPr>
                  <a:t>, so </a:t>
                </a:r>
                <a:r>
                  <a:rPr lang="en-IN" sz="2400">
                    <a:solidFill>
                      <a:srgbClr val="111827"/>
                    </a:solidFill>
                    <a:latin typeface="Cambria Math" panose="02040503050406030204" pitchFamily="18" charset="0"/>
                  </a:rPr>
                  <a:t>$p'(x)$</a:t>
                </a:r>
                <a:r>
                  <a:rPr sz="2400" b="0">
                    <a:solidFill>
                      <a:srgbClr val="111827"/>
                    </a:solidFill>
                    <a:latin typeface="Arial"/>
                  </a:rPr>
                  <a:t> is a polynomial of degree </a:t>
                </a:r>
                <a:r>
                  <a:rPr lang="en-IN" sz="2400">
                    <a:solidFill>
                      <a:srgbClr val="111827"/>
                    </a:solidFill>
                    <a:latin typeface="Cambria Math" panose="02040503050406030204" pitchFamily="18" charset="0"/>
                  </a:rPr>
                  <a:t>$2021$</a:t>
                </a:r>
                <a:r>
                  <a:rPr sz="2400" b="0">
                    <a:solidFill>
                      <a:srgbClr val="111827"/>
                    </a:solidFill>
                    <a:latin typeface="Arial"/>
                  </a:rPr>
                  <a:t>, which is odd.</a:t>
                </a:r>
                <a:endParaRPr sz="2400">
                  <a:solidFill>
                    <a:srgbClr val="111827"/>
                  </a:solidFill>
                </a:endParaRPr>
              </a:p>
            </p:txBody>
          </p:sp>
        </mc:Fallback>
      </mc:AlternateContent>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polynomial of odd degree has opposite signs 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by the intermediate value theorem </a:t>
                </a:r>
                <a14:m>
                  <m:oMath xmlns:m="http://schemas.openxmlformats.org/officeDocument/2006/math">
                    <m:sSup>
                      <m:e>
                        <m:r>
                          <a:rPr lang="en-IN" sz="2400" i="1">
                            <a:solidFill>
                              <a:srgbClr val="111827"/>
                            </a:solidFill>
                            <a:latin typeface="Cambria Math" panose="02040503050406030204" pitchFamily="18" charset="0"/>
                          </a:rPr>
                          <m:t>𝑝</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has a real root. So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has at least one stationary point: (A) is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Let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have </a:t>
                </a:r>
                <a14:m>
                  <m:oMath xmlns:m="http://schemas.openxmlformats.org/officeDocument/2006/math">
                    <m:r>
                      <a:rPr lang="en-IN" sz="2400" i="1">
                        <a:solidFill>
                          <a:srgbClr val="111827"/>
                        </a:solidFill>
                        <a:latin typeface="Cambria Math" panose="02040503050406030204" pitchFamily="18" charset="0"/>
                      </a:rPr>
                      <m:t>2021</m:t>
                    </m:r>
                  </m:oMath>
                </a14:m>
                <a:r>
                  <a:rPr sz="2400" b="0">
                    <a:solidFill>
                      <a:srgbClr val="111827"/>
                    </a:solidFill>
                    <a:latin typeface="Arial"/>
                  </a:rPr>
                  <a:t> distinct real roots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2021</m:t>
                        </m:r>
                      </m:sub>
                    </m:sSub>
                  </m:oMath>
                </a14:m>
                <a:r>
                  <a:rPr sz="2400" b="0">
                    <a:solidFill>
                      <a:srgbClr val="111827"/>
                    </a:solidFill>
                    <a:latin typeface="Arial"/>
                  </a:rPr>
                  <a:t>. Between two consecutive roots the graph of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has to turn (Rolle's theorem), giving a stationary point, in fact a local maximum or minimum, in each of the </a:t>
                </a:r>
                <a14:m>
                  <m:oMath xmlns:m="http://schemas.openxmlformats.org/officeDocument/2006/math">
                    <m:r>
                      <a:rPr lang="en-IN" sz="2400" i="1">
                        <a:solidFill>
                          <a:srgbClr val="111827"/>
                        </a:solidFill>
                        <a:latin typeface="Cambria Math" panose="02040503050406030204" pitchFamily="18" charset="0"/>
                      </a:rPr>
                      <m:t>2020</m:t>
                    </m:r>
                  </m:oMath>
                </a14:m>
                <a:r>
                  <a:rPr sz="2400" b="0">
                    <a:solidFill>
                      <a:srgbClr val="111827"/>
                    </a:solidFill>
                    <a:latin typeface="Arial"/>
                  </a:rPr>
                  <a:t> gaps.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has at least </a:t>
                </a:r>
                <a14:m>
                  <m:oMath xmlns:m="http://schemas.openxmlformats.org/officeDocument/2006/math">
                    <m:r>
                      <a:rPr lang="en-IN" sz="2400" i="1">
                        <a:solidFill>
                          <a:srgbClr val="111827"/>
                        </a:solidFill>
                        <a:latin typeface="Cambria Math" panose="02040503050406030204" pitchFamily="18" charset="0"/>
                      </a:rPr>
                      <m:t>2020</m:t>
                    </m:r>
                  </m:oMath>
                </a14:m>
                <a:r>
                  <a:rPr sz="2400" b="0">
                    <a:solidFill>
                      <a:srgbClr val="111827"/>
                    </a:solidFill>
                    <a:latin typeface="Arial"/>
                  </a:rPr>
                  <a:t> stationary points: (B) is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The graph of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can turn more than once between two zeros, or turn outside the extreme zeros, or have stationary points that are not maxima or minima. So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can have more than </a:t>
                </a:r>
                <a14:m>
                  <m:oMath xmlns:m="http://schemas.openxmlformats.org/officeDocument/2006/math">
                    <m:r>
                      <a:rPr lang="en-IN" sz="2400" i="1">
                        <a:solidFill>
                          <a:srgbClr val="111827"/>
                        </a:solidFill>
                        <a:latin typeface="Cambria Math" panose="02040503050406030204" pitchFamily="18" charset="0"/>
                      </a:rPr>
                      <m:t>2020</m:t>
                    </m:r>
                  </m:oMath>
                </a14:m>
                <a:r>
                  <a:rPr sz="2400" b="0">
                    <a:solidFill>
                      <a:srgbClr val="111827"/>
                    </a:solidFill>
                    <a:latin typeface="Arial"/>
                  </a:rPr>
                  <a:t> stationary points: (C) is false.</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polynomial of odd degree has opposite signs as </a:t>
                </a:r>
                <a:r>
                  <a:rPr lang="en-IN" sz="2400">
                    <a:solidFill>
                      <a:srgbClr val="111827"/>
                    </a:solidFill>
                    <a:latin typeface="Cambria Math" panose="02040503050406030204" pitchFamily="18" charset="0"/>
                  </a:rPr>
                  <a:t>$x\to+\infty$</a:t>
                </a:r>
                <a:r>
                  <a:rPr sz="2400" b="0">
                    <a:solidFill>
                      <a:srgbClr val="111827"/>
                    </a:solidFill>
                    <a:latin typeface="Arial"/>
                  </a:rPr>
                  <a:t> and </a:t>
                </a:r>
                <a:r>
                  <a:rPr lang="en-IN" sz="2400">
                    <a:solidFill>
                      <a:srgbClr val="111827"/>
                    </a:solidFill>
                    <a:latin typeface="Cambria Math" panose="02040503050406030204" pitchFamily="18" charset="0"/>
                  </a:rPr>
                  <a:t>$x\to-\infty$</a:t>
                </a:r>
                <a:r>
                  <a:rPr sz="2400" b="0">
                    <a:solidFill>
                      <a:srgbClr val="111827"/>
                    </a:solidFill>
                    <a:latin typeface="Arial"/>
                  </a:rPr>
                  <a:t>, so by the intermediate value theorem </a:t>
                </a:r>
                <a:r>
                  <a:rPr lang="en-IN" sz="2400">
                    <a:solidFill>
                      <a:srgbClr val="111827"/>
                    </a:solidFill>
                    <a:latin typeface="Cambria Math" panose="02040503050406030204" pitchFamily="18" charset="0"/>
                  </a:rPr>
                  <a:t>$p'$</a:t>
                </a:r>
                <a:r>
                  <a:rPr sz="2400" b="0">
                    <a:solidFill>
                      <a:srgbClr val="111827"/>
                    </a:solidFill>
                    <a:latin typeface="Arial"/>
                  </a:rPr>
                  <a:t> has a real root. So </a:t>
                </a:r>
                <a:r>
                  <a:rPr lang="en-IN" sz="2400">
                    <a:solidFill>
                      <a:srgbClr val="111827"/>
                    </a:solidFill>
                    <a:latin typeface="Cambria Math" panose="02040503050406030204" pitchFamily="18" charset="0"/>
                  </a:rPr>
                  <a:t>$p$</a:t>
                </a:r>
                <a:r>
                  <a:rPr sz="2400" b="0">
                    <a:solidFill>
                      <a:srgbClr val="111827"/>
                    </a:solidFill>
                    <a:latin typeface="Arial"/>
                  </a:rPr>
                  <a:t> has at least one stationary point: (A) is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Let </a:t>
                </a:r>
                <a:r>
                  <a:rPr lang="en-IN" sz="2400">
                    <a:solidFill>
                      <a:srgbClr val="111827"/>
                    </a:solidFill>
                    <a:latin typeface="Cambria Math" panose="02040503050406030204" pitchFamily="18" charset="0"/>
                  </a:rPr>
                  <a:t>$p$</a:t>
                </a:r>
                <a:r>
                  <a:rPr sz="2400" b="0">
                    <a:solidFill>
                      <a:srgbClr val="111827"/>
                    </a:solidFill>
                    <a:latin typeface="Arial"/>
                  </a:rPr>
                  <a:t> have </a:t>
                </a:r>
                <a:r>
                  <a:rPr lang="en-IN" sz="2400">
                    <a:solidFill>
                      <a:srgbClr val="111827"/>
                    </a:solidFill>
                    <a:latin typeface="Cambria Math" panose="02040503050406030204" pitchFamily="18" charset="0"/>
                  </a:rPr>
                  <a:t>$2021$</a:t>
                </a:r>
                <a:r>
                  <a:rPr sz="2400" b="0">
                    <a:solidFill>
                      <a:srgbClr val="111827"/>
                    </a:solidFill>
                    <a:latin typeface="Arial"/>
                  </a:rPr>
                  <a:t> distinct real roots </a:t>
                </a:r>
                <a:r>
                  <a:rPr lang="en-IN" sz="2400">
                    <a:solidFill>
                      <a:srgbClr val="111827"/>
                    </a:solidFill>
                    <a:latin typeface="Cambria Math" panose="02040503050406030204" pitchFamily="18" charset="0"/>
                  </a:rPr>
                  <a:t>$a_1&lt;a_2&lt;\dots&lt;a_{2021}$</a:t>
                </a:r>
                <a:r>
                  <a:rPr sz="2400" b="0">
                    <a:solidFill>
                      <a:srgbClr val="111827"/>
                    </a:solidFill>
                    <a:latin typeface="Arial"/>
                  </a:rPr>
                  <a:t>. Between two consecutive roots the graph of </a:t>
                </a:r>
                <a:r>
                  <a:rPr lang="en-IN" sz="2400">
                    <a:solidFill>
                      <a:srgbClr val="111827"/>
                    </a:solidFill>
                    <a:latin typeface="Cambria Math" panose="02040503050406030204" pitchFamily="18" charset="0"/>
                  </a:rPr>
                  <a:t>$p$</a:t>
                </a:r>
                <a:r>
                  <a:rPr sz="2400" b="0">
                    <a:solidFill>
                      <a:srgbClr val="111827"/>
                    </a:solidFill>
                    <a:latin typeface="Arial"/>
                  </a:rPr>
                  <a:t> has to turn (Rolle's theorem), giving a stationary point, in fact a local maximum or minimum, in each of the </a:t>
                </a:r>
                <a:r>
                  <a:rPr lang="en-IN" sz="2400">
                    <a:solidFill>
                      <a:srgbClr val="111827"/>
                    </a:solidFill>
                    <a:latin typeface="Cambria Math" panose="02040503050406030204" pitchFamily="18" charset="0"/>
                  </a:rPr>
                  <a:t>$2020$</a:t>
                </a:r>
                <a:r>
                  <a:rPr sz="2400" b="0">
                    <a:solidFill>
                      <a:srgbClr val="111827"/>
                    </a:solidFill>
                    <a:latin typeface="Arial"/>
                  </a:rPr>
                  <a:t> gaps.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$p$</a:t>
                </a:r>
                <a:r>
                  <a:rPr sz="2400" b="0">
                    <a:solidFill>
                      <a:srgbClr val="111827"/>
                    </a:solidFill>
                    <a:latin typeface="Arial"/>
                  </a:rPr>
                  <a:t> has at least </a:t>
                </a:r>
                <a:r>
                  <a:rPr lang="en-IN" sz="2400">
                    <a:solidFill>
                      <a:srgbClr val="111827"/>
                    </a:solidFill>
                    <a:latin typeface="Cambria Math" panose="02040503050406030204" pitchFamily="18" charset="0"/>
                  </a:rPr>
                  <a:t>$2020$</a:t>
                </a:r>
                <a:r>
                  <a:rPr sz="2400" b="0">
                    <a:solidFill>
                      <a:srgbClr val="111827"/>
                    </a:solidFill>
                    <a:latin typeface="Arial"/>
                  </a:rPr>
                  <a:t> stationary points: (B) is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The graph of </a:t>
                </a:r>
                <a:r>
                  <a:rPr lang="en-IN" sz="2400">
                    <a:solidFill>
                      <a:srgbClr val="111827"/>
                    </a:solidFill>
                    <a:latin typeface="Cambria Math" panose="02040503050406030204" pitchFamily="18" charset="0"/>
                  </a:rPr>
                  <a:t>$p$</a:t>
                </a:r>
                <a:r>
                  <a:rPr sz="2400" b="0">
                    <a:solidFill>
                      <a:srgbClr val="111827"/>
                    </a:solidFill>
                    <a:latin typeface="Arial"/>
                  </a:rPr>
                  <a:t> can turn more than once between two zeros, or turn outside the extreme zeros, or have stationary points that are not maxima or minima. So </a:t>
                </a:r>
                <a:r>
                  <a:rPr lang="en-IN" sz="2400">
                    <a:solidFill>
                      <a:srgbClr val="111827"/>
                    </a:solidFill>
                    <a:latin typeface="Cambria Math" panose="02040503050406030204" pitchFamily="18" charset="0"/>
                  </a:rPr>
                  <a:t>$p$</a:t>
                </a:r>
                <a:r>
                  <a:rPr sz="2400" b="0">
                    <a:solidFill>
                      <a:srgbClr val="111827"/>
                    </a:solidFill>
                    <a:latin typeface="Arial"/>
                  </a:rPr>
                  <a:t> can have more than </a:t>
                </a:r>
                <a:r>
                  <a:rPr lang="en-IN" sz="2400">
                    <a:solidFill>
                      <a:srgbClr val="111827"/>
                    </a:solidFill>
                    <a:latin typeface="Cambria Math" panose="02040503050406030204" pitchFamily="18" charset="0"/>
                  </a:rPr>
                  <a:t>$2020$</a:t>
                </a:r>
                <a:r>
                  <a:rPr sz="2400" b="0">
                    <a:solidFill>
                      <a:srgbClr val="111827"/>
                    </a:solidFill>
                    <a:latin typeface="Arial"/>
                  </a:rPr>
                  <a:t> stationary points: (C) is false.</a:t>
                </a:r>
                <a:endParaRPr sz="2400">
                  <a:solidFill>
                    <a:srgbClr val="111827"/>
                  </a:solidFill>
                </a:endParaRPr>
              </a:p>
            </p:txBody>
          </p:sp>
        </mc:Fallback>
      </mc:AlternateContent>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example,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has </a:t>
                </a:r>
                <a14:m>
                  <m:oMath xmlns:m="http://schemas.openxmlformats.org/officeDocument/2006/math">
                    <m:r>
                      <a:rPr lang="en-IN" sz="2400" i="1">
                        <a:solidFill>
                          <a:srgbClr val="111827"/>
                        </a:solidFill>
                        <a:latin typeface="Cambria Math" panose="02040503050406030204" pitchFamily="18" charset="0"/>
                      </a:rPr>
                      <m:t>2021</m:t>
                    </m:r>
                  </m:oMath>
                </a14:m>
                <a:r>
                  <a:rPr sz="2400" b="0">
                    <a:solidFill>
                      <a:srgbClr val="111827"/>
                    </a:solidFill>
                    <a:latin typeface="Arial"/>
                  </a:rPr>
                  <a:t> distinct roots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2020</m:t>
                    </m:r>
                  </m:oMath>
                </a14:m>
                <a:r>
                  <a:rPr sz="2400" b="0">
                    <a:solidFill>
                      <a:srgbClr val="111827"/>
                    </a:solidFill>
                    <a:latin typeface="Arial"/>
                  </a:rPr>
                  <a:t>, at least </a:t>
                </a:r>
                <a14:m>
                  <m:oMath xmlns:m="http://schemas.openxmlformats.org/officeDocument/2006/math">
                    <m:r>
                      <a:rPr lang="en-IN" sz="2400" i="1">
                        <a:solidFill>
                          <a:srgbClr val="111827"/>
                        </a:solidFill>
                        <a:latin typeface="Cambria Math" panose="02040503050406030204" pitchFamily="18" charset="0"/>
                      </a:rPr>
                      <m:t>2020</m:t>
                    </m:r>
                  </m:oMath>
                </a14:m>
                <a:r>
                  <a:rPr sz="2400" b="0">
                    <a:solidFill>
                      <a:srgbClr val="111827"/>
                    </a:solidFill>
                    <a:latin typeface="Arial"/>
                  </a:rPr>
                  <a:t> stationary points in the gaps, and one more at the double root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is false: for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we have </a:t>
                </a:r>
                <a14:m>
                  <m:oMath xmlns:m="http://schemas.openxmlformats.org/officeDocument/2006/math">
                    <m:sSup>
                      <m:e>
                        <m:r>
                          <a:rPr lang="en-IN" sz="2400" i="1">
                            <a:solidFill>
                              <a:srgbClr val="111827"/>
                            </a:solidFill>
                            <a:latin typeface="Cambria Math" panose="02040503050406030204" pitchFamily="18" charset="0"/>
                          </a:rPr>
                          <m:t>𝑝</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𝑝</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 local minimum.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 options: (A),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example, </a:t>
                </a:r>
                <a:r>
                  <a:rPr lang="en-IN" sz="2400">
                    <a:solidFill>
                      <a:srgbClr val="111827"/>
                    </a:solidFill>
                    <a:latin typeface="Cambria Math" panose="02040503050406030204" pitchFamily="18" charset="0"/>
                  </a:rPr>
                  <a:t>$p(x)=x^2(x-1)(x-2)\cdots(x-2020)$</a:t>
                </a:r>
                <a:r>
                  <a:rPr sz="2400" b="0">
                    <a:solidFill>
                      <a:srgbClr val="111827"/>
                    </a:solidFill>
                    <a:latin typeface="Arial"/>
                  </a:rPr>
                  <a:t> has </a:t>
                </a:r>
                <a:r>
                  <a:rPr lang="en-IN" sz="2400">
                    <a:solidFill>
                      <a:srgbClr val="111827"/>
                    </a:solidFill>
                    <a:latin typeface="Cambria Math" panose="02040503050406030204" pitchFamily="18" charset="0"/>
                  </a:rPr>
                  <a:t>$2021$</a:t>
                </a:r>
                <a:r>
                  <a:rPr sz="2400" b="0">
                    <a:solidFill>
                      <a:srgbClr val="111827"/>
                    </a:solidFill>
                    <a:latin typeface="Arial"/>
                  </a:rPr>
                  <a:t> distinct roots </a:t>
                </a:r>
                <a:r>
                  <a:rPr lang="en-IN" sz="2400">
                    <a:solidFill>
                      <a:srgbClr val="111827"/>
                    </a:solidFill>
                    <a:latin typeface="Cambria Math" panose="02040503050406030204" pitchFamily="18" charset="0"/>
                  </a:rPr>
                  <a:t>$0,1,\dots,2020$</a:t>
                </a:r>
                <a:r>
                  <a:rPr sz="2400" b="0">
                    <a:solidFill>
                      <a:srgbClr val="111827"/>
                    </a:solidFill>
                    <a:latin typeface="Arial"/>
                  </a:rPr>
                  <a:t>, at least </a:t>
                </a:r>
                <a:r>
                  <a:rPr lang="en-IN" sz="2400">
                    <a:solidFill>
                      <a:srgbClr val="111827"/>
                    </a:solidFill>
                    <a:latin typeface="Cambria Math" panose="02040503050406030204" pitchFamily="18" charset="0"/>
                  </a:rPr>
                  <a:t>$2020$</a:t>
                </a:r>
                <a:r>
                  <a:rPr sz="2400" b="0">
                    <a:solidFill>
                      <a:srgbClr val="111827"/>
                    </a:solidFill>
                    <a:latin typeface="Arial"/>
                  </a:rPr>
                  <a:t> stationary points in the gaps, and one more at the double root </a:t>
                </a:r>
                <a:r>
                  <a:rPr lang="en-IN" sz="2400">
                    <a:solidFill>
                      <a:srgbClr val="111827"/>
                    </a:solidFill>
                    <a:latin typeface="Cambria Math" panose="02040503050406030204" pitchFamily="18" charset="0"/>
                  </a:rPr>
                  <a:t>$x=0$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is false: for </a:t>
                </a:r>
                <a:r>
                  <a:rPr lang="en-IN" sz="2400">
                    <a:solidFill>
                      <a:srgbClr val="111827"/>
                    </a:solidFill>
                    <a:latin typeface="Cambria Math" panose="02040503050406030204" pitchFamily="18" charset="0"/>
                  </a:rPr>
                  <a:t>$p(x)=x^4$</a:t>
                </a:r>
                <a:r>
                  <a:rPr sz="2400" b="0">
                    <a:solidFill>
                      <a:srgbClr val="111827"/>
                    </a:solidFill>
                    <a:latin typeface="Arial"/>
                  </a:rPr>
                  <a:t> and </a:t>
                </a:r>
                <a:r>
                  <a:rPr lang="en-IN" sz="2400">
                    <a:solidFill>
                      <a:srgbClr val="111827"/>
                    </a:solidFill>
                    <a:latin typeface="Cambria Math" panose="02040503050406030204" pitchFamily="18" charset="0"/>
                  </a:rPr>
                  <a:t>$r=0$</a:t>
                </a:r>
                <a:r>
                  <a:rPr sz="2400" b="0">
                    <a:solidFill>
                      <a:srgbClr val="111827"/>
                    </a:solidFill>
                    <a:latin typeface="Arial"/>
                  </a:rPr>
                  <a:t> we have </a:t>
                </a:r>
                <a:r>
                  <a:rPr lang="en-IN" sz="2400">
                    <a:solidFill>
                      <a:srgbClr val="111827"/>
                    </a:solidFill>
                    <a:latin typeface="Cambria Math" panose="02040503050406030204" pitchFamily="18" charset="0"/>
                  </a:rPr>
                  <a:t>$p'(0)=0$</a:t>
                </a:r>
                <a:r>
                  <a:rPr sz="2400" b="0">
                    <a:solidFill>
                      <a:srgbClr val="111827"/>
                    </a:solidFill>
                    <a:latin typeface="Arial"/>
                  </a:rPr>
                  <a:t> and </a:t>
                </a:r>
                <a:r>
                  <a:rPr lang="en-IN" sz="2400">
                    <a:solidFill>
                      <a:srgbClr val="111827"/>
                    </a:solidFill>
                    <a:latin typeface="Cambria Math" panose="02040503050406030204" pitchFamily="18" charset="0"/>
                  </a:rPr>
                  <a:t>$p''(0)=0$</a:t>
                </a:r>
                <a:r>
                  <a:rPr sz="2400" b="0">
                    <a:solidFill>
                      <a:srgbClr val="111827"/>
                    </a:solidFill>
                    <a:latin typeface="Arial"/>
                  </a:rPr>
                  <a:t>, but </a:t>
                </a:r>
                <a:r>
                  <a:rPr lang="en-IN" sz="2400">
                    <a:solidFill>
                      <a:srgbClr val="111827"/>
                    </a:solidFill>
                    <a:latin typeface="Cambria Math" panose="02040503050406030204" pitchFamily="18" charset="0"/>
                  </a:rPr>
                  <a:t>$(0,0)$</a:t>
                </a:r>
                <a:r>
                  <a:rPr sz="2400" b="0">
                    <a:solidFill>
                      <a:srgbClr val="111827"/>
                    </a:solidFill>
                    <a:latin typeface="Arial"/>
                  </a:rPr>
                  <a:t> is a local minimum.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 options: (A), (B).</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B)</a:t>
            </a:r>
            <a:endParaRPr sz="2800">
              <a:solidFill>
                <a:srgbClr val="15803D"/>
              </a:solidFill>
            </a:endParaRP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Prove (A) by a global-extremum argument and test (C) and (D) with explicit polynomials.</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has even degree </a:t>
                </a:r>
                <a14:m>
                  <m:oMath xmlns:m="http://schemas.openxmlformats.org/officeDocument/2006/math">
                    <m:r>
                      <a:rPr lang="en-IN" sz="2400" i="1">
                        <a:solidFill>
                          <a:srgbClr val="111827"/>
                        </a:solidFill>
                        <a:latin typeface="Cambria Math" panose="02040503050406030204" pitchFamily="18" charset="0"/>
                      </a:rPr>
                      <m:t>2022</m:t>
                    </m:r>
                  </m:oMath>
                </a14:m>
                <a:r>
                  <a:rPr sz="2400" b="0">
                    <a:solidFill>
                      <a:srgbClr val="111827"/>
                    </a:solidFill>
                    <a:latin typeface="Arial"/>
                  </a:rPr>
                  <a:t>. If the leading coefficient is positive then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there is </a:t>
                </a:r>
                <a14:m>
                  <m:oMath xmlns:m="http://schemas.openxmlformats.org/officeDocument/2006/math">
                    <m:r>
                      <a:rPr lang="en-IN" sz="2400" i="1">
                        <a:solidFill>
                          <a:srgbClr val="111827"/>
                        </a:solidFill>
                        <a:latin typeface="Cambria Math" panose="02040503050406030204" pitchFamily="18" charset="0"/>
                      </a:rPr>
                      <m:t>𝑀</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𝑀</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is continuous 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it attains a minimum there. This minimum is at most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hence it is a global minimum of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on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and it is attained at an interior point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At such a point </a:t>
                </a:r>
                <a14:m>
                  <m:oMath xmlns:m="http://schemas.openxmlformats.org/officeDocument/2006/math">
                    <m:sSup>
                      <m:e>
                        <m:r>
                          <a:rPr lang="en-IN" sz="2400" i="1">
                            <a:solidFill>
                              <a:srgbClr val="111827"/>
                            </a:solidFill>
                            <a:latin typeface="Cambria Math" panose="02040503050406030204" pitchFamily="18" charset="0"/>
                          </a:rPr>
                          <m:t>𝑝</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(if the leading coefficient is negative, use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oMath>
                </a14:m>
                <a:r>
                  <a:rPr sz="2400" b="0">
                    <a:solidFill>
                      <a:srgbClr val="111827"/>
                    </a:solidFill>
                    <a:latin typeface="Arial"/>
                  </a:rPr>
                  <a:t>). So (A) is true.</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$p$</a:t>
                </a:r>
                <a:r>
                  <a:rPr sz="2400" b="0">
                    <a:solidFill>
                      <a:srgbClr val="111827"/>
                    </a:solidFill>
                    <a:latin typeface="Arial"/>
                  </a:rPr>
                  <a:t> has even degree </a:t>
                </a:r>
                <a:r>
                  <a:rPr lang="en-IN" sz="2400">
                    <a:solidFill>
                      <a:srgbClr val="111827"/>
                    </a:solidFill>
                    <a:latin typeface="Cambria Math" panose="02040503050406030204" pitchFamily="18" charset="0"/>
                  </a:rPr>
                  <a:t>$2022$</a:t>
                </a:r>
                <a:r>
                  <a:rPr sz="2400" b="0">
                    <a:solidFill>
                      <a:srgbClr val="111827"/>
                    </a:solidFill>
                    <a:latin typeface="Arial"/>
                  </a:rPr>
                  <a:t>. If the leading coefficient is positive then </a:t>
                </a:r>
                <a:r>
                  <a:rPr lang="en-IN" sz="2400">
                    <a:solidFill>
                      <a:srgbClr val="111827"/>
                    </a:solidFill>
                    <a:latin typeface="Cambria Math" panose="02040503050406030204" pitchFamily="18" charset="0"/>
                  </a:rPr>
                  <a:t>$p(x)\to+\infty$</a:t>
                </a:r>
                <a:r>
                  <a:rPr sz="2400" b="0">
                    <a:solidFill>
                      <a:srgbClr val="111827"/>
                    </a:solidFill>
                    <a:latin typeface="Arial"/>
                  </a:rPr>
                  <a:t> as </a:t>
                </a:r>
                <a:r>
                  <a:rPr lang="en-IN" sz="2400">
                    <a:solidFill>
                      <a:srgbClr val="111827"/>
                    </a:solidFill>
                    <a:latin typeface="Cambria Math" panose="02040503050406030204" pitchFamily="18" charset="0"/>
                  </a:rPr>
                  <a:t>$x\to\pm\infty$</a:t>
                </a:r>
                <a:r>
                  <a:rPr sz="2400" b="0">
                    <a:solidFill>
                      <a:srgbClr val="111827"/>
                    </a:solidFill>
                    <a:latin typeface="Arial"/>
                  </a:rPr>
                  <a:t>, so there is </a:t>
                </a:r>
                <a:r>
                  <a:rPr lang="en-IN" sz="2400">
                    <a:solidFill>
                      <a:srgbClr val="111827"/>
                    </a:solidFill>
                    <a:latin typeface="Cambria Math" panose="02040503050406030204" pitchFamily="18" charset="0"/>
                  </a:rPr>
                  <a:t>$M$</a:t>
                </a:r>
                <a:r>
                  <a:rPr sz="2400" b="0">
                    <a:solidFill>
                      <a:srgbClr val="111827"/>
                    </a:solidFill>
                    <a:latin typeface="Arial"/>
                  </a:rPr>
                  <a:t> with </a:t>
                </a:r>
                <a:r>
                  <a:rPr lang="en-IN" sz="2400">
                    <a:solidFill>
                      <a:srgbClr val="111827"/>
                    </a:solidFill>
                    <a:latin typeface="Cambria Math" panose="02040503050406030204" pitchFamily="18" charset="0"/>
                  </a:rPr>
                  <a:t>$p(x)&gt;p(0)$</a:t>
                </a:r>
                <a:r>
                  <a:rPr sz="2400" b="0">
                    <a:solidFill>
                      <a:srgbClr val="111827"/>
                    </a:solidFill>
                    <a:latin typeface="Arial"/>
                  </a:rPr>
                  <a:t> for </a:t>
                </a:r>
                <a:r>
                  <a:rPr lang="en-IN" sz="2400">
                    <a:solidFill>
                      <a:srgbClr val="111827"/>
                    </a:solidFill>
                    <a:latin typeface="Cambria Math" panose="02040503050406030204" pitchFamily="18" charset="0"/>
                  </a:rPr>
                  <a:t>$|x|&gt;M$</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a:t>
                </a:r>
                <a:r>
                  <a:rPr sz="2400" b="0">
                    <a:solidFill>
                      <a:srgbClr val="111827"/>
                    </a:solidFill>
                    <a:latin typeface="Arial"/>
                  </a:rPr>
                  <a:t> is continuous on </a:t>
                </a:r>
                <a:r>
                  <a:rPr lang="en-IN" sz="2400">
                    <a:solidFill>
                      <a:srgbClr val="111827"/>
                    </a:solidFill>
                    <a:latin typeface="Cambria Math" panose="02040503050406030204" pitchFamily="18" charset="0"/>
                  </a:rPr>
                  <a:t>$[-M,M]$</a:t>
                </a:r>
                <a:r>
                  <a:rPr sz="2400" b="0">
                    <a:solidFill>
                      <a:srgbClr val="111827"/>
                    </a:solidFill>
                    <a:latin typeface="Arial"/>
                  </a:rPr>
                  <a:t>, so it attains a minimum there. This minimum is at most </a:t>
                </a:r>
                <a:r>
                  <a:rPr lang="en-IN" sz="2400">
                    <a:solidFill>
                      <a:srgbClr val="111827"/>
                    </a:solidFill>
                    <a:latin typeface="Cambria Math" panose="02040503050406030204" pitchFamily="18" charset="0"/>
                  </a:rPr>
                  <a:t>$p(0)$</a:t>
                </a:r>
                <a:r>
                  <a:rPr sz="2400" b="0">
                    <a:solidFill>
                      <a:srgbClr val="111827"/>
                    </a:solidFill>
                    <a:latin typeface="Arial"/>
                  </a:rPr>
                  <a:t>, hence it is a global minimum of </a:t>
                </a:r>
                <a:r>
                  <a:rPr lang="en-IN" sz="2400">
                    <a:solidFill>
                      <a:srgbClr val="111827"/>
                    </a:solidFill>
                    <a:latin typeface="Cambria Math" panose="02040503050406030204" pitchFamily="18" charset="0"/>
                  </a:rPr>
                  <a:t>$p$</a:t>
                </a:r>
                <a:r>
                  <a:rPr sz="2400" b="0">
                    <a:solidFill>
                      <a:srgbClr val="111827"/>
                    </a:solidFill>
                    <a:latin typeface="Arial"/>
                  </a:rPr>
                  <a:t> on </a:t>
                </a:r>
                <a:r>
                  <a:rPr lang="en-IN" sz="2400">
                    <a:solidFill>
                      <a:srgbClr val="111827"/>
                    </a:solidFill>
                    <a:latin typeface="Cambria Math" panose="02040503050406030204" pitchFamily="18" charset="0"/>
                  </a:rPr>
                  <a:t>$\mathbb{R}$</a:t>
                </a:r>
                <a:r>
                  <a:rPr sz="2400" b="0">
                    <a:solidFill>
                      <a:srgbClr val="111827"/>
                    </a:solidFill>
                    <a:latin typeface="Arial"/>
                  </a:rPr>
                  <a:t> and it is attained at an interior point </a:t>
                </a:r>
                <a:r>
                  <a:rPr lang="en-IN" sz="2400">
                    <a:solidFill>
                      <a:srgbClr val="111827"/>
                    </a:solidFill>
                    <a:latin typeface="Cambria Math" panose="02040503050406030204" pitchFamily="18" charset="0"/>
                  </a:rPr>
                  <a:t>$r$</a:t>
                </a:r>
                <a:r>
                  <a:rPr sz="2400" b="0">
                    <a:solidFill>
                      <a:srgbClr val="111827"/>
                    </a:solidFill>
                    <a:latin typeface="Arial"/>
                  </a:rPr>
                  <a:t>. At such a point </a:t>
                </a:r>
                <a:r>
                  <a:rPr lang="en-IN" sz="2400">
                    <a:solidFill>
                      <a:srgbClr val="111827"/>
                    </a:solidFill>
                    <a:latin typeface="Cambria Math" panose="02040503050406030204" pitchFamily="18" charset="0"/>
                  </a:rPr>
                  <a:t>$p'(r)=0$</a:t>
                </a:r>
                <a:r>
                  <a:rPr sz="2400" b="0">
                    <a:solidFill>
                      <a:srgbClr val="111827"/>
                    </a:solidFill>
                    <a:latin typeface="Arial"/>
                  </a:rPr>
                  <a:t> (if the leading coefficient is negative, use </a:t>
                </a:r>
                <a:r>
                  <a:rPr lang="en-IN" sz="2400">
                    <a:solidFill>
                      <a:srgbClr val="111827"/>
                    </a:solidFill>
                    <a:latin typeface="Cambria Math" panose="02040503050406030204" pitchFamily="18" charset="0"/>
                  </a:rPr>
                  <a:t>$-p$</a:t>
                </a:r>
                <a:r>
                  <a:rPr sz="2400" b="0">
                    <a:solidFill>
                      <a:srgbClr val="111827"/>
                    </a:solidFill>
                    <a:latin typeface="Arial"/>
                  </a:rPr>
                  <a:t>). So (A) is true.</a:t>
                </a:r>
                <a:endParaRPr sz="2400">
                  <a:solidFill>
                    <a:srgbClr val="111827"/>
                  </a:solidFill>
                </a:endParaRPr>
              </a:p>
            </p:txBody>
          </p:sp>
        </mc:Fallback>
      </mc:AlternateContent>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 Between any two consecutive distinct roots of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Rolle's theorem gives a zero of </a:t>
                </a:r>
                <a14:m>
                  <m:oMath xmlns:m="http://schemas.openxmlformats.org/officeDocument/2006/math">
                    <m:sSup>
                      <m:e>
                        <m:r>
                          <a:rPr lang="en-IN" sz="2400" i="1">
                            <a:solidFill>
                              <a:srgbClr val="111827"/>
                            </a:solidFill>
                            <a:latin typeface="Cambria Math" panose="02040503050406030204" pitchFamily="18" charset="0"/>
                          </a:rPr>
                          <m:t>𝑝</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the </a:t>
                </a:r>
                <a14:m>
                  <m:oMath xmlns:m="http://schemas.openxmlformats.org/officeDocument/2006/math">
                    <m:r>
                      <a:rPr lang="en-IN" sz="2400" i="1">
                        <a:solidFill>
                          <a:srgbClr val="111827"/>
                        </a:solidFill>
                        <a:latin typeface="Cambria Math" panose="02040503050406030204" pitchFamily="18" charset="0"/>
                      </a:rPr>
                      <m:t>2021</m:t>
                    </m:r>
                  </m:oMath>
                </a14:m>
                <a:r>
                  <a:rPr sz="2400" b="0">
                    <a:solidFill>
                      <a:srgbClr val="111827"/>
                    </a:solidFill>
                    <a:latin typeface="Arial"/>
                  </a:rPr>
                  <a:t> roots leave </a:t>
                </a:r>
                <a14:m>
                  <m:oMath xmlns:m="http://schemas.openxmlformats.org/officeDocument/2006/math">
                    <m:r>
                      <a:rPr lang="en-IN" sz="2400" i="1">
                        <a:solidFill>
                          <a:srgbClr val="111827"/>
                        </a:solidFill>
                        <a:latin typeface="Cambria Math" panose="02040503050406030204" pitchFamily="18" charset="0"/>
                      </a:rPr>
                      <m:t>2020</m:t>
                    </m:r>
                  </m:oMath>
                </a14:m>
                <a:r>
                  <a:rPr sz="2400" b="0">
                    <a:solidFill>
                      <a:srgbClr val="111827"/>
                    </a:solidFill>
                    <a:latin typeface="Arial"/>
                  </a:rPr>
                  <a:t> gaps, so there are at least </a:t>
                </a:r>
                <a14:m>
                  <m:oMath xmlns:m="http://schemas.openxmlformats.org/officeDocument/2006/math">
                    <m:r>
                      <a:rPr lang="en-IN" sz="2400" i="1">
                        <a:solidFill>
                          <a:srgbClr val="111827"/>
                        </a:solidFill>
                        <a:latin typeface="Cambria Math" panose="02040503050406030204" pitchFamily="18" charset="0"/>
                      </a:rPr>
                      <m:t>2020</m:t>
                    </m:r>
                  </m:oMath>
                </a14:m>
                <a:r>
                  <a:rPr sz="2400" b="0">
                    <a:solidFill>
                      <a:srgbClr val="111827"/>
                    </a:solidFill>
                    <a:latin typeface="Arial"/>
                  </a:rPr>
                  <a:t> stationary points: (B) is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Take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a:t>
                </a:r>
                <a14:m>
                  <m:oMath xmlns:m="http://schemas.openxmlformats.org/officeDocument/2006/math">
                    <m:r>
                      <a:rPr lang="en-IN" sz="2400" i="1">
                        <a:solidFill>
                          <a:srgbClr val="111827"/>
                        </a:solidFill>
                        <a:latin typeface="Cambria Math" panose="02040503050406030204" pitchFamily="18" charset="0"/>
                      </a:rPr>
                      <m:t>2021</m:t>
                    </m:r>
                  </m:oMath>
                </a14:m>
                <a:r>
                  <a:rPr sz="2400" b="0">
                    <a:solidFill>
                      <a:srgbClr val="111827"/>
                    </a:solidFill>
                    <a:latin typeface="Arial"/>
                  </a:rPr>
                  <a:t> distinct roots are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2020</m:t>
                    </m:r>
                  </m:oMath>
                </a14:m>
                <a:r>
                  <a:rPr sz="2400" b="0">
                    <a:solidFill>
                      <a:srgbClr val="111827"/>
                    </a:solidFill>
                    <a:latin typeface="Arial"/>
                  </a:rPr>
                  <a:t>; it has a stationary point in each of the </a:t>
                </a:r>
                <a14:m>
                  <m:oMath xmlns:m="http://schemas.openxmlformats.org/officeDocument/2006/math">
                    <m:r>
                      <a:rPr lang="en-IN" sz="2400" i="1">
                        <a:solidFill>
                          <a:srgbClr val="111827"/>
                        </a:solidFill>
                        <a:latin typeface="Cambria Math" panose="02040503050406030204" pitchFamily="18" charset="0"/>
                      </a:rPr>
                      <m:t>2020</m:t>
                    </m:r>
                  </m:oMath>
                </a14:m>
                <a:r>
                  <a:rPr sz="2400" b="0">
                    <a:solidFill>
                      <a:srgbClr val="111827"/>
                    </a:solidFill>
                    <a:latin typeface="Arial"/>
                  </a:rPr>
                  <a:t> gaps and another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(double root). That is at least </a:t>
                </a:r>
                <a14:m>
                  <m:oMath xmlns:m="http://schemas.openxmlformats.org/officeDocument/2006/math">
                    <m:r>
                      <a:rPr lang="en-IN" sz="2400" i="1">
                        <a:solidFill>
                          <a:srgbClr val="111827"/>
                        </a:solidFill>
                        <a:latin typeface="Cambria Math" panose="02040503050406030204" pitchFamily="18" charset="0"/>
                      </a:rPr>
                      <m:t>2021</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2020</m:t>
                    </m:r>
                  </m:oMath>
                </a14:m>
                <a:r>
                  <a:rPr sz="2400" b="0">
                    <a:solidFill>
                      <a:srgbClr val="111827"/>
                    </a:solidFill>
                    <a:latin typeface="Arial"/>
                  </a:rPr>
                  <a:t> stationary points, so (C)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Take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𝑝</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𝑝</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but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is a minimum, so (D)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 options: (A), (B).</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 Between any two consecutive distinct roots of </a:t>
                </a:r>
                <a:r>
                  <a:rPr lang="en-IN" sz="2400">
                    <a:solidFill>
                      <a:srgbClr val="111827"/>
                    </a:solidFill>
                    <a:latin typeface="Cambria Math" panose="02040503050406030204" pitchFamily="18" charset="0"/>
                  </a:rPr>
                  <a:t>$p$</a:t>
                </a:r>
                <a:r>
                  <a:rPr sz="2400" b="0">
                    <a:solidFill>
                      <a:srgbClr val="111827"/>
                    </a:solidFill>
                    <a:latin typeface="Arial"/>
                  </a:rPr>
                  <a:t>, Rolle's theorem gives a zero of </a:t>
                </a:r>
                <a:r>
                  <a:rPr lang="en-IN" sz="2400">
                    <a:solidFill>
                      <a:srgbClr val="111827"/>
                    </a:solidFill>
                    <a:latin typeface="Cambria Math" panose="02040503050406030204" pitchFamily="18" charset="0"/>
                  </a:rPr>
                  <a:t>$p'$</a:t>
                </a:r>
                <a:r>
                  <a:rPr sz="2400" b="0">
                    <a:solidFill>
                      <a:srgbClr val="111827"/>
                    </a:solidFill>
                    <a:latin typeface="Arial"/>
                  </a:rPr>
                  <a:t>; the </a:t>
                </a:r>
                <a:r>
                  <a:rPr lang="en-IN" sz="2400">
                    <a:solidFill>
                      <a:srgbClr val="111827"/>
                    </a:solidFill>
                    <a:latin typeface="Cambria Math" panose="02040503050406030204" pitchFamily="18" charset="0"/>
                  </a:rPr>
                  <a:t>$2021$</a:t>
                </a:r>
                <a:r>
                  <a:rPr sz="2400" b="0">
                    <a:solidFill>
                      <a:srgbClr val="111827"/>
                    </a:solidFill>
                    <a:latin typeface="Arial"/>
                  </a:rPr>
                  <a:t> roots leave </a:t>
                </a:r>
                <a:r>
                  <a:rPr lang="en-IN" sz="2400">
                    <a:solidFill>
                      <a:srgbClr val="111827"/>
                    </a:solidFill>
                    <a:latin typeface="Cambria Math" panose="02040503050406030204" pitchFamily="18" charset="0"/>
                  </a:rPr>
                  <a:t>$2020$</a:t>
                </a:r>
                <a:r>
                  <a:rPr sz="2400" b="0">
                    <a:solidFill>
                      <a:srgbClr val="111827"/>
                    </a:solidFill>
                    <a:latin typeface="Arial"/>
                  </a:rPr>
                  <a:t> gaps, so there are at least </a:t>
                </a:r>
                <a:r>
                  <a:rPr lang="en-IN" sz="2400">
                    <a:solidFill>
                      <a:srgbClr val="111827"/>
                    </a:solidFill>
                    <a:latin typeface="Cambria Math" panose="02040503050406030204" pitchFamily="18" charset="0"/>
                  </a:rPr>
                  <a:t>$2020$</a:t>
                </a:r>
                <a:r>
                  <a:rPr sz="2400" b="0">
                    <a:solidFill>
                      <a:srgbClr val="111827"/>
                    </a:solidFill>
                    <a:latin typeface="Arial"/>
                  </a:rPr>
                  <a:t> stationary points: (B) is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Take </a:t>
                </a:r>
                <a:r>
                  <a:rPr lang="en-IN" sz="2400">
                    <a:solidFill>
                      <a:srgbClr val="111827"/>
                    </a:solidFill>
                    <a:latin typeface="Cambria Math" panose="02040503050406030204" pitchFamily="18" charset="0"/>
                  </a:rPr>
                  <a:t>$p(x)=x^2(x-1)\cdots(x-2020)$</a:t>
                </a:r>
                <a:r>
                  <a:rPr sz="2400" b="0">
                    <a:solidFill>
                      <a:srgbClr val="111827"/>
                    </a:solidFill>
                    <a:latin typeface="Arial"/>
                  </a:rPr>
                  <a:t>: the </a:t>
                </a:r>
                <a:r>
                  <a:rPr lang="en-IN" sz="2400">
                    <a:solidFill>
                      <a:srgbClr val="111827"/>
                    </a:solidFill>
                    <a:latin typeface="Cambria Math" panose="02040503050406030204" pitchFamily="18" charset="0"/>
                  </a:rPr>
                  <a:t>$2021$</a:t>
                </a:r>
                <a:r>
                  <a:rPr sz="2400" b="0">
                    <a:solidFill>
                      <a:srgbClr val="111827"/>
                    </a:solidFill>
                    <a:latin typeface="Arial"/>
                  </a:rPr>
                  <a:t> distinct roots are </a:t>
                </a:r>
                <a:r>
                  <a:rPr lang="en-IN" sz="2400">
                    <a:solidFill>
                      <a:srgbClr val="111827"/>
                    </a:solidFill>
                    <a:latin typeface="Cambria Math" panose="02040503050406030204" pitchFamily="18" charset="0"/>
                  </a:rPr>
                  <a:t>$0,1,\dots,2020$</a:t>
                </a:r>
                <a:r>
                  <a:rPr sz="2400" b="0">
                    <a:solidFill>
                      <a:srgbClr val="111827"/>
                    </a:solidFill>
                    <a:latin typeface="Arial"/>
                  </a:rPr>
                  <a:t>; it has a stationary point in each of the </a:t>
                </a:r>
                <a:r>
                  <a:rPr lang="en-IN" sz="2400">
                    <a:solidFill>
                      <a:srgbClr val="111827"/>
                    </a:solidFill>
                    <a:latin typeface="Cambria Math" panose="02040503050406030204" pitchFamily="18" charset="0"/>
                  </a:rPr>
                  <a:t>$2020$</a:t>
                </a:r>
                <a:r>
                  <a:rPr sz="2400" b="0">
                    <a:solidFill>
                      <a:srgbClr val="111827"/>
                    </a:solidFill>
                    <a:latin typeface="Arial"/>
                  </a:rPr>
                  <a:t> gaps and another at </a:t>
                </a:r>
                <a:r>
                  <a:rPr lang="en-IN" sz="2400">
                    <a:solidFill>
                      <a:srgbClr val="111827"/>
                    </a:solidFill>
                    <a:latin typeface="Cambria Math" panose="02040503050406030204" pitchFamily="18" charset="0"/>
                  </a:rPr>
                  <a:t>$x=0$</a:t>
                </a:r>
                <a:r>
                  <a:rPr sz="2400" b="0">
                    <a:solidFill>
                      <a:srgbClr val="111827"/>
                    </a:solidFill>
                    <a:latin typeface="Arial"/>
                  </a:rPr>
                  <a:t> (double root). That is at least </a:t>
                </a:r>
                <a:r>
                  <a:rPr lang="en-IN" sz="2400">
                    <a:solidFill>
                      <a:srgbClr val="111827"/>
                    </a:solidFill>
                    <a:latin typeface="Cambria Math" panose="02040503050406030204" pitchFamily="18" charset="0"/>
                  </a:rPr>
                  <a:t>$2021&gt;2020$</a:t>
                </a:r>
                <a:r>
                  <a:rPr sz="2400" b="0">
                    <a:solidFill>
                      <a:srgbClr val="111827"/>
                    </a:solidFill>
                    <a:latin typeface="Arial"/>
                  </a:rPr>
                  <a:t> stationary points, so (C)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Take </a:t>
                </a:r>
                <a:r>
                  <a:rPr lang="en-IN" sz="2400">
                    <a:solidFill>
                      <a:srgbClr val="111827"/>
                    </a:solidFill>
                    <a:latin typeface="Cambria Math" panose="02040503050406030204" pitchFamily="18" charset="0"/>
                  </a:rPr>
                  <a:t>$p(x)=x^4$</a:t>
                </a:r>
                <a:r>
                  <a:rPr sz="2400" b="0">
                    <a:solidFill>
                      <a:srgbClr val="111827"/>
                    </a:solidFill>
                    <a:latin typeface="Arial"/>
                  </a:rPr>
                  <a:t>: </a:t>
                </a:r>
                <a:r>
                  <a:rPr lang="en-IN" sz="2400">
                    <a:solidFill>
                      <a:srgbClr val="111827"/>
                    </a:solidFill>
                    <a:latin typeface="Cambria Math" panose="02040503050406030204" pitchFamily="18" charset="0"/>
                  </a:rPr>
                  <a:t>$p'(0)=p''(0)=0$</a:t>
                </a:r>
                <a:r>
                  <a:rPr sz="2400" b="0">
                    <a:solidFill>
                      <a:srgbClr val="111827"/>
                    </a:solidFill>
                    <a:latin typeface="Arial"/>
                  </a:rPr>
                  <a:t> but </a:t>
                </a:r>
                <a:r>
                  <a:rPr lang="en-IN" sz="2400">
                    <a:solidFill>
                      <a:srgbClr val="111827"/>
                    </a:solidFill>
                    <a:latin typeface="Cambria Math" panose="02040503050406030204" pitchFamily="18" charset="0"/>
                  </a:rPr>
                  <a:t>$0$</a:t>
                </a:r>
                <a:r>
                  <a:rPr sz="2400" b="0">
                    <a:solidFill>
                      <a:srgbClr val="111827"/>
                    </a:solidFill>
                    <a:latin typeface="Arial"/>
                  </a:rPr>
                  <a:t> is a minimum, so (D)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Correct options: (A), (B).</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B)</a:t>
            </a:r>
            <a:endParaRPr sz="2800">
              <a:solidFill>
                <a:srgbClr val="15803D"/>
              </a:solidFill>
            </a:endParaRP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polynomial of even degree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always has a stationary point (it has a global maximum or minimum), while for odd degree it may have none: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has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distinct real roots, Rolle's theorem gives at least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distinct roots of </a:t>
                </a:r>
                <a14:m>
                  <m:oMath xmlns:m="http://schemas.openxmlformats.org/officeDocument/2006/math">
                    <m:sSup>
                      <m:e>
                        <m:r>
                          <a:rPr lang="en-IN" sz="2400" i="1">
                            <a:solidFill>
                              <a:srgbClr val="111827"/>
                            </a:solidFill>
                            <a:latin typeface="Cambria Math" panose="02040503050406030204" pitchFamily="18" charset="0"/>
                          </a:rPr>
                          <m:t>𝑝</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one in each gap; a real root of </a:t>
                </a:r>
                <a14:m>
                  <m:oMath xmlns:m="http://schemas.openxmlformats.org/officeDocument/2006/math">
                    <m:sSup>
                      <m:e>
                        <m:r>
                          <a:rPr lang="en-IN" sz="2400" i="1">
                            <a:solidFill>
                              <a:srgbClr val="111827"/>
                            </a:solidFill>
                            <a:latin typeface="Cambria Math" panose="02040503050406030204" pitchFamily="18" charset="0"/>
                          </a:rPr>
                          <m:t>𝑝</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may also occur at a repeated root of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or outside the extreme roots.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polynomial of even degree </a:t>
                </a:r>
                <a:r>
                  <a:rPr lang="en-IN" sz="2400">
                    <a:solidFill>
                      <a:srgbClr val="111827"/>
                    </a:solidFill>
                    <a:latin typeface="Cambria Math" panose="02040503050406030204" pitchFamily="18" charset="0"/>
                  </a:rPr>
                  <a:t>$\ge2$</a:t>
                </a:r>
                <a:r>
                  <a:rPr sz="2400" b="0">
                    <a:solidFill>
                      <a:srgbClr val="111827"/>
                    </a:solidFill>
                    <a:latin typeface="Arial"/>
                  </a:rPr>
                  <a:t> always has a stationary point (it has a global maximum or minimum), while for odd degree it may have none: </a:t>
                </a:r>
                <a:r>
                  <a:rPr lang="en-IN" sz="2400">
                    <a:solidFill>
                      <a:srgbClr val="111827"/>
                    </a:solidFill>
                    <a:latin typeface="Cambria Math" panose="02040503050406030204" pitchFamily="18" charset="0"/>
                  </a:rPr>
                  <a:t>$x^3+x$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$p$</a:t>
                </a:r>
                <a:r>
                  <a:rPr sz="2400" b="0">
                    <a:solidFill>
                      <a:srgbClr val="111827"/>
                    </a:solidFill>
                    <a:latin typeface="Arial"/>
                  </a:rPr>
                  <a:t> has </a:t>
                </a:r>
                <a:r>
                  <a:rPr lang="en-IN" sz="2400">
                    <a:solidFill>
                      <a:srgbClr val="111827"/>
                    </a:solidFill>
                    <a:latin typeface="Cambria Math" panose="02040503050406030204" pitchFamily="18" charset="0"/>
                  </a:rPr>
                  <a:t>$k$</a:t>
                </a:r>
                <a:r>
                  <a:rPr sz="2400" b="0">
                    <a:solidFill>
                      <a:srgbClr val="111827"/>
                    </a:solidFill>
                    <a:latin typeface="Arial"/>
                  </a:rPr>
                  <a:t> distinct real roots, Rolle's theorem gives at least </a:t>
                </a:r>
                <a:r>
                  <a:rPr lang="en-IN" sz="2400">
                    <a:solidFill>
                      <a:srgbClr val="111827"/>
                    </a:solidFill>
                    <a:latin typeface="Cambria Math" panose="02040503050406030204" pitchFamily="18" charset="0"/>
                  </a:rPr>
                  <a:t>$k-1$</a:t>
                </a:r>
                <a:r>
                  <a:rPr sz="2400" b="0">
                    <a:solidFill>
                      <a:srgbClr val="111827"/>
                    </a:solidFill>
                    <a:latin typeface="Arial"/>
                  </a:rPr>
                  <a:t> distinct roots of </a:t>
                </a:r>
                <a:r>
                  <a:rPr lang="en-IN" sz="2400">
                    <a:solidFill>
                      <a:srgbClr val="111827"/>
                    </a:solidFill>
                    <a:latin typeface="Cambria Math" panose="02040503050406030204" pitchFamily="18" charset="0"/>
                  </a:rPr>
                  <a:t>$p'$</a:t>
                </a:r>
                <a:r>
                  <a:rPr sz="2400" b="0">
                    <a:solidFill>
                      <a:srgbClr val="111827"/>
                    </a:solidFill>
                    <a:latin typeface="Arial"/>
                  </a:rPr>
                  <a:t>, one in each gap; a real root of </a:t>
                </a:r>
                <a:r>
                  <a:rPr lang="en-IN" sz="2400">
                    <a:solidFill>
                      <a:srgbClr val="111827"/>
                    </a:solidFill>
                    <a:latin typeface="Cambria Math" panose="02040503050406030204" pitchFamily="18" charset="0"/>
                  </a:rPr>
                  <a:t>$p'$</a:t>
                </a:r>
                <a:r>
                  <a:rPr sz="2400" b="0">
                    <a:solidFill>
                      <a:srgbClr val="111827"/>
                    </a:solidFill>
                    <a:latin typeface="Arial"/>
                  </a:rPr>
                  <a:t> may also occur at a repeated root of </a:t>
                </a:r>
                <a:r>
                  <a:rPr lang="en-IN" sz="2400">
                    <a:solidFill>
                      <a:srgbClr val="111827"/>
                    </a:solidFill>
                    <a:latin typeface="Cambria Math" panose="02040503050406030204" pitchFamily="18" charset="0"/>
                  </a:rPr>
                  <a:t>$p$</a:t>
                </a:r>
                <a:r>
                  <a:rPr sz="2400" b="0">
                    <a:solidFill>
                      <a:srgbClr val="111827"/>
                    </a:solidFill>
                    <a:latin typeface="Arial"/>
                  </a:rPr>
                  <a:t> or outside the extreme roots.</a:t>
                </a:r>
                <a:endParaRPr sz="2400">
                  <a:solidFill>
                    <a:srgbClr val="111827"/>
                  </a:solidFill>
                </a:endParaRPr>
              </a:p>
            </p:txBody>
          </p:sp>
        </mc:Fallback>
      </mc:AlternateContent>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polynomial of degree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has at most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stationary points, and at most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points of inflection.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a:t>
                </a:r>
                <a14:m>
                  <m:oMath xmlns:m="http://schemas.openxmlformats.org/officeDocument/2006/math">
                    <m:sSup>
                      <m:e>
                        <m:r>
                          <a:rPr lang="en-IN" sz="2400" i="1">
                            <a:solidFill>
                              <a:srgbClr val="111827"/>
                            </a:solidFill>
                            <a:latin typeface="Cambria Math" panose="02040503050406030204" pitchFamily="18" charset="0"/>
                          </a:rPr>
                          <m:t>𝑝</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𝑝</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second-derivative test is silent: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oMath>
                </a14:m>
                <a:r>
                  <a:rPr sz="2400" b="0">
                    <a:solidFill>
                      <a:srgbClr val="111827"/>
                    </a:solidFill>
                    <a:latin typeface="Arial"/>
                  </a:rPr>
                  <a:t> has a minimum,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oMath>
                </a14:m>
                <a:r>
                  <a:rPr sz="2400" b="0">
                    <a:solidFill>
                      <a:srgbClr val="111827"/>
                    </a:solidFill>
                    <a:latin typeface="Arial"/>
                  </a:rPr>
                  <a:t> a maximum and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neither at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Look at the sign change of </a:t>
                </a:r>
                <a14:m>
                  <m:oMath xmlns:m="http://schemas.openxmlformats.org/officeDocument/2006/math">
                    <m:sSup>
                      <m:e>
                        <m:r>
                          <a:rPr lang="en-IN" sz="2400" i="1">
                            <a:solidFill>
                              <a:srgbClr val="111827"/>
                            </a:solidFill>
                            <a:latin typeface="Cambria Math" panose="02040503050406030204" pitchFamily="18" charset="0"/>
                          </a:rPr>
                          <m:t>𝑝</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(first non-zero derivative: even order gives an extremum, odd order gives none).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polynomial of degree </a:t>
                </a:r>
                <a:r>
                  <a:rPr lang="en-IN" sz="2400">
                    <a:solidFill>
                      <a:srgbClr val="111827"/>
                    </a:solidFill>
                    <a:latin typeface="Cambria Math" panose="02040503050406030204" pitchFamily="18" charset="0"/>
                  </a:rPr>
                  <a:t>$d$</a:t>
                </a:r>
                <a:r>
                  <a:rPr sz="2400" b="0">
                    <a:solidFill>
                      <a:srgbClr val="111827"/>
                    </a:solidFill>
                    <a:latin typeface="Arial"/>
                  </a:rPr>
                  <a:t> has at most </a:t>
                </a:r>
                <a:r>
                  <a:rPr lang="en-IN" sz="2400">
                    <a:solidFill>
                      <a:srgbClr val="111827"/>
                    </a:solidFill>
                    <a:latin typeface="Cambria Math" panose="02040503050406030204" pitchFamily="18" charset="0"/>
                  </a:rPr>
                  <a:t>$d-1$</a:t>
                </a:r>
                <a:r>
                  <a:rPr sz="2400" b="0">
                    <a:solidFill>
                      <a:srgbClr val="111827"/>
                    </a:solidFill>
                    <a:latin typeface="Arial"/>
                  </a:rPr>
                  <a:t> stationary points, and at most </a:t>
                </a:r>
                <a:r>
                  <a:rPr lang="en-IN" sz="2400">
                    <a:solidFill>
                      <a:srgbClr val="111827"/>
                    </a:solidFill>
                    <a:latin typeface="Cambria Math" panose="02040503050406030204" pitchFamily="18" charset="0"/>
                  </a:rPr>
                  <a:t>$d-2$</a:t>
                </a:r>
                <a:r>
                  <a:rPr sz="2400" b="0">
                    <a:solidFill>
                      <a:srgbClr val="111827"/>
                    </a:solidFill>
                    <a:latin typeface="Arial"/>
                  </a:rPr>
                  <a:t> points of inflection.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a:t>
                </a:r>
                <a:r>
                  <a:rPr lang="en-IN" sz="2400">
                    <a:solidFill>
                      <a:srgbClr val="111827"/>
                    </a:solidFill>
                    <a:latin typeface="Cambria Math" panose="02040503050406030204" pitchFamily="18" charset="0"/>
                  </a:rPr>
                  <a:t>$p'(r)=p''(r)=0$</a:t>
                </a:r>
                <a:r>
                  <a:rPr sz="2400" b="0">
                    <a:solidFill>
                      <a:srgbClr val="111827"/>
                    </a:solidFill>
                    <a:latin typeface="Arial"/>
                  </a:rPr>
                  <a:t> the second-derivative test is silent: </a:t>
                </a:r>
                <a:r>
                  <a:rPr lang="en-IN" sz="2400">
                    <a:solidFill>
                      <a:srgbClr val="111827"/>
                    </a:solidFill>
                    <a:latin typeface="Cambria Math" panose="02040503050406030204" pitchFamily="18" charset="0"/>
                  </a:rPr>
                  <a:t>$x^4$</a:t>
                </a:r>
                <a:r>
                  <a:rPr sz="2400" b="0">
                    <a:solidFill>
                      <a:srgbClr val="111827"/>
                    </a:solidFill>
                    <a:latin typeface="Arial"/>
                  </a:rPr>
                  <a:t> has a minimum, </a:t>
                </a:r>
                <a:r>
                  <a:rPr lang="en-IN" sz="2400">
                    <a:solidFill>
                      <a:srgbClr val="111827"/>
                    </a:solidFill>
                    <a:latin typeface="Cambria Math" panose="02040503050406030204" pitchFamily="18" charset="0"/>
                  </a:rPr>
                  <a:t>$-x^4$</a:t>
                </a:r>
                <a:r>
                  <a:rPr sz="2400" b="0">
                    <a:solidFill>
                      <a:srgbClr val="111827"/>
                    </a:solidFill>
                    <a:latin typeface="Arial"/>
                  </a:rPr>
                  <a:t> a maximum and </a:t>
                </a:r>
                <a:r>
                  <a:rPr lang="en-IN" sz="2400">
                    <a:solidFill>
                      <a:srgbClr val="111827"/>
                    </a:solidFill>
                    <a:latin typeface="Cambria Math" panose="02040503050406030204" pitchFamily="18" charset="0"/>
                  </a:rPr>
                  <a:t>$x^3$</a:t>
                </a:r>
                <a:r>
                  <a:rPr sz="2400" b="0">
                    <a:solidFill>
                      <a:srgbClr val="111827"/>
                    </a:solidFill>
                    <a:latin typeface="Arial"/>
                  </a:rPr>
                  <a:t> neither at </a:t>
                </a:r>
                <a:r>
                  <a:rPr lang="en-IN" sz="2400">
                    <a:solidFill>
                      <a:srgbClr val="111827"/>
                    </a:solidFill>
                    <a:latin typeface="Cambria Math" panose="02040503050406030204" pitchFamily="18" charset="0"/>
                  </a:rPr>
                  <a:t>$0$</a:t>
                </a:r>
                <a:r>
                  <a:rPr sz="2400" b="0">
                    <a:solidFill>
                      <a:srgbClr val="111827"/>
                    </a:solidFill>
                    <a:latin typeface="Arial"/>
                  </a:rPr>
                  <a:t>. Look at the sign change of </a:t>
                </a:r>
                <a:r>
                  <a:rPr lang="en-IN" sz="2400">
                    <a:solidFill>
                      <a:srgbClr val="111827"/>
                    </a:solidFill>
                    <a:latin typeface="Cambria Math" panose="02040503050406030204" pitchFamily="18" charset="0"/>
                  </a:rPr>
                  <a:t>$p'$</a:t>
                </a:r>
                <a:r>
                  <a:rPr sz="2400" b="0">
                    <a:solidFill>
                      <a:srgbClr val="111827"/>
                    </a:solidFill>
                    <a:latin typeface="Arial"/>
                  </a:rPr>
                  <a:t> (first non-zero derivative: even order gives an extremum, odd order gives none).</a:t>
                </a:r>
                <a:endParaRPr sz="2400">
                  <a:solidFill>
                    <a:srgbClr val="111827"/>
                  </a:solidFill>
                </a:endParaRPr>
              </a:p>
            </p:txBody>
          </p:sp>
        </mc:Fallback>
      </mc:AlternateContent>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3</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Paragraph Based 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Q26 – Q29</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No marking scheme printed; JEE Advanced default of 3 marks assumed</a:t>
            </a:r>
            <a:endParaRPr sz="2800">
              <a:solidFill>
                <a:srgbClr val="FFFFFF"/>
              </a:solidFill>
            </a:endParaRP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5329428"/>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Paragraph: A factory is connected with a straight railway track by a highway. Town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lies on the railway track. The distance </a:t>
                </a:r>
                <a14:m>
                  <m:oMath xmlns:m="http://schemas.openxmlformats.org/officeDocument/2006/math">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𝐵</m:t>
                    </m:r>
                  </m:oMath>
                </a14:m>
                <a:r>
                  <a:rPr sz="2400" b="0">
                    <a:solidFill>
                      <a:srgbClr val="111827"/>
                    </a:solidFill>
                    <a:latin typeface="Arial"/>
                  </a:rPr>
                  <a:t> from the factory to the railway track is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km. The segment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of the railway track is equal to </a:t>
                </a:r>
                <a14:m>
                  <m:oMath xmlns:m="http://schemas.openxmlformats.org/officeDocument/2006/math">
                    <m:r>
                      <a:rPr lang="en-IN" sz="2400" i="1">
                        <a:solidFill>
                          <a:srgbClr val="111827"/>
                        </a:solidFill>
                        <a:latin typeface="Cambria Math" panose="02040503050406030204" pitchFamily="18" charset="0"/>
                      </a:rPr>
                      <m:t>ℓ</m:t>
                    </m:r>
                  </m:oMath>
                </a14:m>
                <a:r>
                  <a:rPr sz="2400" b="0">
                    <a:solidFill>
                      <a:srgbClr val="111827"/>
                    </a:solidFill>
                    <a:latin typeface="Arial"/>
                  </a:rPr>
                  <a:t> kms. Freight charges on the highway are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times higher than on the railway. A highway </a:t>
                </a:r>
                <a14:m>
                  <m:oMath xmlns:m="http://schemas.openxmlformats.org/officeDocument/2006/math">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𝑃</m:t>
                    </m:r>
                  </m:oMath>
                </a14:m>
                <a:r>
                  <a:rPr sz="2400" b="0">
                    <a:solidFill>
                      <a:srgbClr val="111827"/>
                    </a:solidFill>
                    <a:latin typeface="Arial"/>
                  </a:rPr>
                  <a:t> is connected to the railway track such that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kms. (Figure: </a:t>
                </a:r>
                <a14:m>
                  <m:oMath xmlns:m="http://schemas.openxmlformats.org/officeDocument/2006/math">
                    <m:r>
                      <a:rPr lang="en-IN" sz="2400" i="1">
                        <a:solidFill>
                          <a:srgbClr val="111827"/>
                        </a:solidFill>
                        <a:latin typeface="Cambria Math" panose="02040503050406030204" pitchFamily="18" charset="0"/>
                      </a:rPr>
                      <m:t>𝐷</m:t>
                    </m:r>
                  </m:oMath>
                </a14:m>
                <a:r>
                  <a:rPr sz="2400" b="0">
                    <a:solidFill>
                      <a:srgbClr val="111827"/>
                    </a:solidFill>
                    <a:latin typeface="Arial"/>
                  </a:rPr>
                  <a:t> is the factory,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is the foot of the perpendicular from </a:t>
                </a:r>
                <a14:m>
                  <m:oMath xmlns:m="http://schemas.openxmlformats.org/officeDocument/2006/math">
                    <m:r>
                      <a:rPr lang="en-IN" sz="2400" i="1">
                        <a:solidFill>
                          <a:srgbClr val="111827"/>
                        </a:solidFill>
                        <a:latin typeface="Cambria Math" panose="02040503050406030204" pitchFamily="18" charset="0"/>
                      </a:rPr>
                      <m:t>𝐷</m:t>
                    </m:r>
                  </m:oMath>
                </a14:m>
                <a:r>
                  <a:rPr sz="2400" b="0">
                    <a:solidFill>
                      <a:srgbClr val="111827"/>
                    </a:solidFill>
                    <a:latin typeface="Arial"/>
                  </a:rPr>
                  <a:t> to the track, and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lies on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185</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kms, then the value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for which freight charge is minimum:</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60</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kms   (B) </a:t>
                </a:r>
                <a14:m>
                  <m:oMath xmlns:m="http://schemas.openxmlformats.org/officeDocument/2006/math">
                    <m:r>
                      <a:rPr lang="en-IN" sz="2400" i="1">
                        <a:solidFill>
                          <a:srgbClr val="111827"/>
                        </a:solidFill>
                        <a:latin typeface="Cambria Math" panose="02040503050406030204" pitchFamily="18" charset="0"/>
                      </a:rPr>
                      <m:t>60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kms   (C) </a:t>
                </a:r>
                <a14:m>
                  <m:oMath xmlns:m="http://schemas.openxmlformats.org/officeDocument/2006/math">
                    <m:r>
                      <a:rPr lang="en-IN" sz="2400" i="1">
                        <a:solidFill>
                          <a:srgbClr val="111827"/>
                        </a:solidFill>
                        <a:latin typeface="Cambria Math" panose="02040503050406030204" pitchFamily="18" charset="0"/>
                      </a:rPr>
                      <m:t>120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kms   (D) </a:t>
                </a:r>
                <a14:m>
                  <m:oMath xmlns:m="http://schemas.openxmlformats.org/officeDocument/2006/math">
                    <m:r>
                      <a:rPr lang="en-IN" sz="2400" i="1">
                        <a:solidFill>
                          <a:srgbClr val="111827"/>
                        </a:solidFill>
                        <a:latin typeface="Cambria Math" panose="02040503050406030204" pitchFamily="18" charset="0"/>
                      </a:rPr>
                      <m:t>75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kms</a:t>
                </a:r>
                <a:endParaRPr sz="2400">
                  <a:solidFill>
                    <a:srgbClr val="111827"/>
                  </a:solidFill>
                </a:endParaRPr>
              </a:p>
            </p:txBody>
          </p:sp>
        </mc:Choice>
        <mc:Fallback>
          <p:sp>
            <p:nvSpPr>
              <p:cNvPr id="4" name="Rounded Rectangle 3"/>
              <p:cNvSpPr/>
              <p:nvPr/>
            </p:nvSpPr>
            <p:spPr>
              <a:xfrm>
                <a:off x="731520" y="1280160"/>
                <a:ext cx="10725912" cy="5329428"/>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Paragraph: A factory is connected with a straight railway track by a highway. Town </a:t>
                </a:r>
                <a:r>
                  <a:rPr lang="en-IN" sz="2400">
                    <a:solidFill>
                      <a:srgbClr val="111827"/>
                    </a:solidFill>
                    <a:latin typeface="Cambria Math" panose="02040503050406030204" pitchFamily="18" charset="0"/>
                  </a:rPr>
                  <a:t>$A$</a:t>
                </a:r>
                <a:r>
                  <a:rPr sz="2400" b="0">
                    <a:solidFill>
                      <a:srgbClr val="111827"/>
                    </a:solidFill>
                    <a:latin typeface="Arial"/>
                  </a:rPr>
                  <a:t> lies on the railway track. The distance </a:t>
                </a:r>
                <a:r>
                  <a:rPr lang="en-IN" sz="2400">
                    <a:solidFill>
                      <a:srgbClr val="111827"/>
                    </a:solidFill>
                    <a:latin typeface="Cambria Math" panose="02040503050406030204" pitchFamily="18" charset="0"/>
                  </a:rPr>
                  <a:t>$DB$</a:t>
                </a:r>
                <a:r>
                  <a:rPr sz="2400" b="0">
                    <a:solidFill>
                      <a:srgbClr val="111827"/>
                    </a:solidFill>
                    <a:latin typeface="Arial"/>
                  </a:rPr>
                  <a:t> from the factory to the railway track is </a:t>
                </a:r>
                <a:r>
                  <a:rPr lang="en-IN" sz="2400">
                    <a:solidFill>
                      <a:srgbClr val="111827"/>
                    </a:solidFill>
                    <a:latin typeface="Cambria Math" panose="02040503050406030204" pitchFamily="18" charset="0"/>
                  </a:rPr>
                  <a:t>$5$</a:t>
                </a:r>
                <a:r>
                  <a:rPr sz="2400" b="0">
                    <a:solidFill>
                      <a:srgbClr val="111827"/>
                    </a:solidFill>
                    <a:latin typeface="Arial"/>
                  </a:rPr>
                  <a:t> km. The segment </a:t>
                </a:r>
                <a:r>
                  <a:rPr lang="en-IN" sz="2400">
                    <a:solidFill>
                      <a:srgbClr val="111827"/>
                    </a:solidFill>
                    <a:latin typeface="Cambria Math" panose="02040503050406030204" pitchFamily="18" charset="0"/>
                  </a:rPr>
                  <a:t>$AB$</a:t>
                </a:r>
                <a:r>
                  <a:rPr sz="2400" b="0">
                    <a:solidFill>
                      <a:srgbClr val="111827"/>
                    </a:solidFill>
                    <a:latin typeface="Arial"/>
                  </a:rPr>
                  <a:t> of the railway track is equal to </a:t>
                </a:r>
                <a:r>
                  <a:rPr lang="en-IN" sz="2400">
                    <a:solidFill>
                      <a:srgbClr val="111827"/>
                    </a:solidFill>
                    <a:latin typeface="Cambria Math" panose="02040503050406030204" pitchFamily="18" charset="0"/>
                  </a:rPr>
                  <a:t>$\ell$</a:t>
                </a:r>
                <a:r>
                  <a:rPr sz="2400" b="0">
                    <a:solidFill>
                      <a:srgbClr val="111827"/>
                    </a:solidFill>
                    <a:latin typeface="Arial"/>
                  </a:rPr>
                  <a:t> kms. Freight charges on the highway are </a:t>
                </a:r>
                <a:r>
                  <a:rPr lang="en-IN" sz="2400">
                    <a:solidFill>
                      <a:srgbClr val="111827"/>
                    </a:solidFill>
                    <a:latin typeface="Cambria Math" panose="02040503050406030204" pitchFamily="18" charset="0"/>
                  </a:rPr>
                  <a:t>$2$</a:t>
                </a:r>
                <a:r>
                  <a:rPr sz="2400" b="0">
                    <a:solidFill>
                      <a:srgbClr val="111827"/>
                    </a:solidFill>
                    <a:latin typeface="Arial"/>
                  </a:rPr>
                  <a:t> times higher than on the railway. A highway </a:t>
                </a:r>
                <a:r>
                  <a:rPr lang="en-IN" sz="2400">
                    <a:solidFill>
                      <a:srgbClr val="111827"/>
                    </a:solidFill>
                    <a:latin typeface="Cambria Math" panose="02040503050406030204" pitchFamily="18" charset="0"/>
                  </a:rPr>
                  <a:t>$DP$</a:t>
                </a:r>
                <a:r>
                  <a:rPr sz="2400" b="0">
                    <a:solidFill>
                      <a:srgbClr val="111827"/>
                    </a:solidFill>
                    <a:latin typeface="Arial"/>
                  </a:rPr>
                  <a:t> is connected to the railway track such that </a:t>
                </a:r>
                <a:r>
                  <a:rPr lang="en-IN" sz="2400">
                    <a:solidFill>
                      <a:srgbClr val="111827"/>
                    </a:solidFill>
                    <a:latin typeface="Cambria Math" panose="02040503050406030204" pitchFamily="18" charset="0"/>
                  </a:rPr>
                  <a:t>$AP$</a:t>
                </a:r>
                <a:r>
                  <a:rPr sz="2400" b="0">
                    <a:solidFill>
                      <a:srgbClr val="111827"/>
                    </a:solidFill>
                    <a:latin typeface="Arial"/>
                  </a:rPr>
                  <a:t> is </a:t>
                </a:r>
                <a:r>
                  <a:rPr lang="en-IN" sz="2400">
                    <a:solidFill>
                      <a:srgbClr val="111827"/>
                    </a:solidFill>
                    <a:latin typeface="Cambria Math" panose="02040503050406030204" pitchFamily="18" charset="0"/>
                  </a:rPr>
                  <a:t>$x$</a:t>
                </a:r>
                <a:r>
                  <a:rPr sz="2400" b="0">
                    <a:solidFill>
                      <a:srgbClr val="111827"/>
                    </a:solidFill>
                    <a:latin typeface="Arial"/>
                  </a:rPr>
                  <a:t> kms. (Figure: </a:t>
                </a:r>
                <a:r>
                  <a:rPr lang="en-IN" sz="2400">
                    <a:solidFill>
                      <a:srgbClr val="111827"/>
                    </a:solidFill>
                    <a:latin typeface="Cambria Math" panose="02040503050406030204" pitchFamily="18" charset="0"/>
                  </a:rPr>
                  <a:t>$D$</a:t>
                </a:r>
                <a:r>
                  <a:rPr sz="2400" b="0">
                    <a:solidFill>
                      <a:srgbClr val="111827"/>
                    </a:solidFill>
                    <a:latin typeface="Arial"/>
                  </a:rPr>
                  <a:t> is the factory, </a:t>
                </a:r>
                <a:r>
                  <a:rPr lang="en-IN" sz="2400">
                    <a:solidFill>
                      <a:srgbClr val="111827"/>
                    </a:solidFill>
                    <a:latin typeface="Cambria Math" panose="02040503050406030204" pitchFamily="18" charset="0"/>
                  </a:rPr>
                  <a:t>$B$</a:t>
                </a:r>
                <a:r>
                  <a:rPr sz="2400" b="0">
                    <a:solidFill>
                      <a:srgbClr val="111827"/>
                    </a:solidFill>
                    <a:latin typeface="Arial"/>
                  </a:rPr>
                  <a:t> is the foot of the perpendicular from </a:t>
                </a:r>
                <a:r>
                  <a:rPr lang="en-IN" sz="2400">
                    <a:solidFill>
                      <a:srgbClr val="111827"/>
                    </a:solidFill>
                    <a:latin typeface="Cambria Math" panose="02040503050406030204" pitchFamily="18" charset="0"/>
                  </a:rPr>
                  <a:t>$D$</a:t>
                </a:r>
                <a:r>
                  <a:rPr sz="2400" b="0">
                    <a:solidFill>
                      <a:srgbClr val="111827"/>
                    </a:solidFill>
                    <a:latin typeface="Arial"/>
                  </a:rPr>
                  <a:t> to the track, and </a:t>
                </a:r>
                <a:r>
                  <a:rPr lang="en-IN" sz="2400">
                    <a:solidFill>
                      <a:srgbClr val="111827"/>
                    </a:solidFill>
                    <a:latin typeface="Cambria Math" panose="02040503050406030204" pitchFamily="18" charset="0"/>
                  </a:rPr>
                  <a:t>$P$</a:t>
                </a:r>
                <a:r>
                  <a:rPr sz="2400" b="0">
                    <a:solidFill>
                      <a:srgbClr val="111827"/>
                    </a:solidFill>
                    <a:latin typeface="Arial"/>
                  </a:rPr>
                  <a:t> lies on </a:t>
                </a:r>
                <a:r>
                  <a:rPr lang="en-IN" sz="2400">
                    <a:solidFill>
                      <a:srgbClr val="111827"/>
                    </a:solidFill>
                    <a:latin typeface="Cambria Math" panose="02040503050406030204" pitchFamily="18" charset="0"/>
                  </a:rPr>
                  <a:t>$AB$</a:t>
                </a:r>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$\ell=\frac{185}{\sqrt3}$</a:t>
                </a:r>
                <a:r>
                  <a:rPr sz="2400" b="0">
                    <a:solidFill>
                      <a:srgbClr val="111827"/>
                    </a:solidFill>
                    <a:latin typeface="Arial"/>
                  </a:rPr>
                  <a:t> kms, then the value of </a:t>
                </a:r>
                <a:r>
                  <a:rPr lang="en-IN" sz="2400">
                    <a:solidFill>
                      <a:srgbClr val="111827"/>
                    </a:solidFill>
                    <a:latin typeface="Cambria Math" panose="02040503050406030204" pitchFamily="18" charset="0"/>
                  </a:rPr>
                  <a:t>$x$</a:t>
                </a:r>
                <a:r>
                  <a:rPr sz="2400" b="0">
                    <a:solidFill>
                      <a:srgbClr val="111827"/>
                    </a:solidFill>
                    <a:latin typeface="Arial"/>
                  </a:rPr>
                  <a:t> for which freight charge is minimum:</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$\frac{60}{\sqrt3}$</a:t>
                </a:r>
                <a:r>
                  <a:rPr sz="2400" b="0">
                    <a:solidFill>
                      <a:srgbClr val="111827"/>
                    </a:solidFill>
                    <a:latin typeface="Arial"/>
                  </a:rPr>
                  <a:t> kms   (B) </a:t>
                </a:r>
                <a:r>
                  <a:rPr lang="en-IN" sz="2400">
                    <a:solidFill>
                      <a:srgbClr val="111827"/>
                    </a:solidFill>
                    <a:latin typeface="Cambria Math" panose="02040503050406030204" pitchFamily="18" charset="0"/>
                  </a:rPr>
                  <a:t>$60\sqrt3$</a:t>
                </a:r>
                <a:r>
                  <a:rPr sz="2400" b="0">
                    <a:solidFill>
                      <a:srgbClr val="111827"/>
                    </a:solidFill>
                    <a:latin typeface="Arial"/>
                  </a:rPr>
                  <a:t> kms   (C) </a:t>
                </a:r>
                <a:r>
                  <a:rPr lang="en-IN" sz="2400">
                    <a:solidFill>
                      <a:srgbClr val="111827"/>
                    </a:solidFill>
                    <a:latin typeface="Cambria Math" panose="02040503050406030204" pitchFamily="18" charset="0"/>
                  </a:rPr>
                  <a:t>$120\sqrt3$</a:t>
                </a:r>
                <a:r>
                  <a:rPr sz="2400" b="0">
                    <a:solidFill>
                      <a:srgbClr val="111827"/>
                    </a:solidFill>
                    <a:latin typeface="Arial"/>
                  </a:rPr>
                  <a:t> kms   (D) </a:t>
                </a:r>
                <a:r>
                  <a:rPr lang="en-IN" sz="2400">
                    <a:solidFill>
                      <a:srgbClr val="111827"/>
                    </a:solidFill>
                    <a:latin typeface="Cambria Math" panose="02040503050406030204" pitchFamily="18" charset="0"/>
                  </a:rPr>
                  <a:t>$75\sqrt3$</a:t>
                </a:r>
                <a:r>
                  <a:rPr sz="2400" b="0">
                    <a:solidFill>
                      <a:srgbClr val="111827"/>
                    </a:solidFill>
                    <a:latin typeface="Arial"/>
                  </a:rPr>
                  <a:t> kms</a:t>
                </a:r>
                <a:endParaRPr sz="2400">
                  <a:solidFill>
                    <a:srgbClr val="111827"/>
                  </a:solidFill>
                </a:endParaRPr>
              </a:p>
            </p:txBody>
          </p:sp>
        </mc:Fallback>
      </mc:AlternateContent>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Paragraph Based Single Correct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Optimisation: minimum cost on a closed interval</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the cost as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25</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e>
                    </m:rad>
                  </m:oMath>
                </a14:m>
                <a:r>
                  <a:rPr sz="2400" b="0">
                    <a:solidFill>
                      <a:srgbClr val="78350F"/>
                    </a:solidFill>
                    <a:latin typeface="Arial"/>
                  </a:rPr>
                  <a:t>, set its derivative to zero and keep only the root that lies in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ℓ</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the cost as </a:t>
                </a:r>
                <a:r>
                  <a:rPr lang="en-IN" sz="2400">
                    <a:solidFill>
                      <a:srgbClr val="78350F"/>
                    </a:solidFill>
                    <a:latin typeface="Cambria Math" panose="02040503050406030204" pitchFamily="18" charset="0"/>
                  </a:rPr>
                  <a:t>$x+2\sqrt{25+(\ell-x)^2}$</a:t>
                </a:r>
                <a:r>
                  <a:rPr sz="2400" b="0">
                    <a:solidFill>
                      <a:srgbClr val="78350F"/>
                    </a:solidFill>
                    <a:latin typeface="Arial"/>
                  </a:rPr>
                  <a:t>, set its derivative to zero and keep only the root that lies in </a:t>
                </a:r>
                <a:r>
                  <a:rPr lang="en-IN" sz="2400">
                    <a:solidFill>
                      <a:srgbClr val="78350F"/>
                    </a:solidFill>
                    <a:latin typeface="Cambria Math" panose="02040503050406030204" pitchFamily="18" charset="0"/>
                  </a:rPr>
                  <a:t>$[0,\ell]$</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the railway rate as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per km, so the highway rate is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per km. The freight charge is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 ... (i), where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ℓ</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is by rail, </a:t>
                </a:r>
                <a14:m>
                  <m:oMath xmlns:m="http://schemas.openxmlformats.org/officeDocument/2006/math">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 is by highway).</a:t>
                </a:r>
                <a:endParaRPr sz="2400">
                  <a:solidFill>
                    <a:srgbClr val="111827"/>
                  </a:solidFill>
                </a:endParaRPr>
              </a:p>
            </p:txBody>
          </p:sp>
        </mc:Choice>
        <mc:Fallback>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the railway rate as </a:t>
                </a:r>
                <a:r>
                  <a:rPr lang="en-IN" sz="2400">
                    <a:solidFill>
                      <a:srgbClr val="111827"/>
                    </a:solidFill>
                    <a:latin typeface="Cambria Math" panose="02040503050406030204" pitchFamily="18" charset="0"/>
                  </a:rPr>
                  <a:t>$1$</a:t>
                </a:r>
                <a:r>
                  <a:rPr sz="2400" b="0">
                    <a:solidFill>
                      <a:srgbClr val="111827"/>
                    </a:solidFill>
                    <a:latin typeface="Arial"/>
                  </a:rPr>
                  <a:t> per km, so the highway rate is </a:t>
                </a:r>
                <a:r>
                  <a:rPr lang="en-IN" sz="2400">
                    <a:solidFill>
                      <a:srgbClr val="111827"/>
                    </a:solidFill>
                    <a:latin typeface="Cambria Math" panose="02040503050406030204" pitchFamily="18" charset="0"/>
                  </a:rPr>
                  <a:t>$2$</a:t>
                </a:r>
                <a:r>
                  <a:rPr sz="2400" b="0">
                    <a:solidFill>
                      <a:srgbClr val="111827"/>
                    </a:solidFill>
                    <a:latin typeface="Arial"/>
                  </a:rPr>
                  <a:t> per km. The freight charge is </a:t>
                </a:r>
                <a:r>
                  <a:rPr lang="en-IN" sz="2400">
                    <a:solidFill>
                      <a:srgbClr val="111827"/>
                    </a:solidFill>
                    <a:latin typeface="Cambria Math" panose="02040503050406030204" pitchFamily="18" charset="0"/>
                  </a:rPr>
                  <a:t>$f(x)=x+2\sqrt{25+(\ell-x)^2}$</a:t>
                </a:r>
                <a:r>
                  <a:rPr sz="2400" b="0">
                    <a:solidFill>
                      <a:srgbClr val="111827"/>
                    </a:solidFill>
                    <a:latin typeface="Arial"/>
                  </a:rPr>
                  <a:t> ... (i), where </a:t>
                </a:r>
                <a:r>
                  <a:rPr lang="en-IN" sz="2400">
                    <a:solidFill>
                      <a:srgbClr val="111827"/>
                    </a:solidFill>
                    <a:latin typeface="Cambria Math" panose="02040503050406030204" pitchFamily="18" charset="0"/>
                  </a:rPr>
                  <a:t>$0\le x\le\ell$</a:t>
                </a:r>
                <a:r>
                  <a:rPr sz="2400" b="0">
                    <a:solidFill>
                      <a:srgbClr val="111827"/>
                    </a:solidFill>
                    <a:latin typeface="Arial"/>
                  </a:rPr>
                  <a:t> (</a:t>
                </a:r>
                <a:r>
                  <a:rPr lang="en-IN" sz="2400">
                    <a:solidFill>
                      <a:srgbClr val="111827"/>
                    </a:solidFill>
                    <a:latin typeface="Cambria Math" panose="02040503050406030204" pitchFamily="18" charset="0"/>
                  </a:rPr>
                  <a:t>$AP=x$</a:t>
                </a:r>
                <a:r>
                  <a:rPr sz="2400" b="0">
                    <a:solidFill>
                      <a:srgbClr val="111827"/>
                    </a:solidFill>
                    <a:latin typeface="Arial"/>
                  </a:rPr>
                  <a:t> is by rail, </a:t>
                </a:r>
                <a:r>
                  <a:rPr lang="en-IN" sz="2400">
                    <a:solidFill>
                      <a:srgbClr val="111827"/>
                    </a:solidFill>
                    <a:latin typeface="Cambria Math" panose="02040503050406030204" pitchFamily="18" charset="0"/>
                  </a:rPr>
                  <a:t>$DP=\sqrt{25+(\ell-x)^2}$</a:t>
                </a:r>
                <a:r>
                  <a:rPr sz="2400" b="0">
                    <a:solidFill>
                      <a:srgbClr val="111827"/>
                    </a:solidFill>
                    <a:latin typeface="Arial"/>
                  </a:rPr>
                  <a:t> is by highway).</a:t>
                </a:r>
                <a:endParaRPr sz="2400">
                  <a:solidFill>
                    <a:srgbClr val="111827"/>
                  </a:solidFill>
                </a:endParaRPr>
              </a:p>
            </p:txBody>
          </p:sp>
        </mc:Fallback>
      </mc:AlternateContent>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e>
                        </m:rad>
                      </m:den>
                    </m:f>
                  </m:oMath>
                </a14:m>
                <a:r>
                  <a:rPr sz="2400" b="0">
                    <a:solidFill>
                      <a:srgbClr val="111827"/>
                    </a:solidFill>
                    <a:latin typeface="Arial"/>
                  </a:rPr>
                  <a:t> ... (ii).</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gives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squaring, </a:t>
                </a:r>
                <a14:m>
                  <m:oMath xmlns:m="http://schemas.openxmlformats.org/officeDocument/2006/math">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 i.e.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is admissible: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lies outside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does not satisfy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m:rPr>
                            <m:sty m:val="p"/>
                          </m:rPr>
                          <a:rPr lang="en-IN" sz="2400">
                            <a:solidFill>
                              <a:srgbClr val="111827"/>
                            </a:solidFill>
                            <a:latin typeface="Cambria Math" panose="02040503050406030204" pitchFamily="18" charset="0"/>
                          </a:rPr>
                          <m:t>⋯</m:t>
                        </m:r>
                      </m:e>
                    </m:rad>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(squaring introduced it).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50</m:t>
                        </m:r>
                      </m:num>
                      <m:den>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e>
                            </m:d>
                          </m:e>
                          <m:sup>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this critical point gives the minimum.</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$f'(x)=1-\frac{2(\ell-x)}{\sqrt{25+(\ell-x)^2}}$</a:t>
                </a:r>
                <a:r>
                  <a:rPr sz="2400" b="0">
                    <a:solidFill>
                      <a:srgbClr val="111827"/>
                    </a:solidFill>
                    <a:latin typeface="Arial"/>
                  </a:rPr>
                  <a:t> ... (ii).</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$f'(x)=\frac{\sqrt{25+(\ell-x)^2}-2(\ell-x)}{\sqrt{25+(\ell-x)^2}}$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$f'(x)=0$</a:t>
                </a:r>
                <a:r>
                  <a:rPr sz="2400" b="0">
                    <a:solidFill>
                      <a:srgbClr val="111827"/>
                    </a:solidFill>
                    <a:latin typeface="Arial"/>
                  </a:rPr>
                  <a:t> gives </a:t>
                </a:r>
                <a:r>
                  <a:rPr lang="en-IN" sz="2400">
                    <a:solidFill>
                      <a:srgbClr val="111827"/>
                    </a:solidFill>
                    <a:latin typeface="Cambria Math" panose="02040503050406030204" pitchFamily="18" charset="0"/>
                  </a:rPr>
                  <a:t>$\sqrt{25+(\ell-x)^2}=2(\ell-x)$</a:t>
                </a:r>
                <a:r>
                  <a:rPr sz="2400" b="0">
                    <a:solidFill>
                      <a:srgbClr val="111827"/>
                    </a:solidFill>
                    <a:latin typeface="Arial"/>
                  </a:rPr>
                  <a:t>; squaring, </a:t>
                </a:r>
                <a:r>
                  <a:rPr lang="en-IN" sz="2400">
                    <a:solidFill>
                      <a:srgbClr val="111827"/>
                    </a:solidFill>
                    <a:latin typeface="Cambria Math" panose="02040503050406030204" pitchFamily="18" charset="0"/>
                  </a:rPr>
                  <a:t>$25+(\ell-x)^2=4(\ell-x)^2$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$3(\ell-x)^2=25$</a:t>
                </a:r>
                <a:r>
                  <a:rPr sz="2400" b="0">
                    <a:solidFill>
                      <a:srgbClr val="111827"/>
                    </a:solidFill>
                    <a:latin typeface="Arial"/>
                  </a:rPr>
                  <a:t>, i.e. </a:t>
                </a:r>
                <a:r>
                  <a:rPr lang="en-IN" sz="2400">
                    <a:solidFill>
                      <a:srgbClr val="111827"/>
                    </a:solidFill>
                    <a:latin typeface="Cambria Math" panose="02040503050406030204" pitchFamily="18" charset="0"/>
                  </a:rPr>
                  <a:t>$\sqrt3(\ell-x)=\pm5$</a:t>
                </a:r>
                <a:r>
                  <a:rPr sz="2400" b="0">
                    <a:solidFill>
                      <a:srgbClr val="111827"/>
                    </a:solidFill>
                    <a:latin typeface="Arial"/>
                  </a:rPr>
                  <a:t> and </a:t>
                </a:r>
                <a:r>
                  <a:rPr lang="en-IN" sz="2400">
                    <a:solidFill>
                      <a:srgbClr val="111827"/>
                    </a:solidFill>
                    <a:latin typeface="Cambria Math" panose="02040503050406030204" pitchFamily="18" charset="0"/>
                  </a:rPr>
                  <a:t>$x=\ell\pm\frac{5}{\sqrt3}$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a:t>
                </a:r>
                <a:r>
                  <a:rPr lang="en-IN" sz="2400">
                    <a:solidFill>
                      <a:srgbClr val="111827"/>
                    </a:solidFill>
                    <a:latin typeface="Cambria Math" panose="02040503050406030204" pitchFamily="18" charset="0"/>
                  </a:rPr>
                  <a:t>$x=\ell-\frac{5}{\sqrt3}$</a:t>
                </a:r>
                <a:r>
                  <a:rPr sz="2400" b="0">
                    <a:solidFill>
                      <a:srgbClr val="111827"/>
                    </a:solidFill>
                    <a:latin typeface="Arial"/>
                  </a:rPr>
                  <a:t> is admissible: </a:t>
                </a:r>
                <a:r>
                  <a:rPr lang="en-IN" sz="2400">
                    <a:solidFill>
                      <a:srgbClr val="111827"/>
                    </a:solidFill>
                    <a:latin typeface="Cambria Math" panose="02040503050406030204" pitchFamily="18" charset="0"/>
                  </a:rPr>
                  <a:t>$x=\ell+\frac5{\sqrt3}$</a:t>
                </a:r>
                <a:r>
                  <a:rPr sz="2400" b="0">
                    <a:solidFill>
                      <a:srgbClr val="111827"/>
                    </a:solidFill>
                    <a:latin typeface="Arial"/>
                  </a:rPr>
                  <a:t> lies outside </a:t>
                </a:r>
                <a:r>
                  <a:rPr lang="en-IN" sz="2400">
                    <a:solidFill>
                      <a:srgbClr val="111827"/>
                    </a:solidFill>
                    <a:latin typeface="Cambria Math" panose="02040503050406030204" pitchFamily="18" charset="0"/>
                  </a:rPr>
                  <a:t>$[0,\ell]$</a:t>
                </a:r>
                <a:r>
                  <a:rPr sz="2400" b="0">
                    <a:solidFill>
                      <a:srgbClr val="111827"/>
                    </a:solidFill>
                    <a:latin typeface="Arial"/>
                  </a:rPr>
                  <a:t> and does not satisfy </a:t>
                </a:r>
                <a:r>
                  <a:rPr lang="en-IN" sz="2400">
                    <a:solidFill>
                      <a:srgbClr val="111827"/>
                    </a:solidFill>
                    <a:latin typeface="Cambria Math" panose="02040503050406030204" pitchFamily="18" charset="0"/>
                  </a:rPr>
                  <a:t>$2(\ell-x)=\sqrt{\cdots}&gt;0$</a:t>
                </a:r>
                <a:r>
                  <a:rPr sz="2400" b="0">
                    <a:solidFill>
                      <a:srgbClr val="111827"/>
                    </a:solidFill>
                    <a:latin typeface="Arial"/>
                  </a:rPr>
                  <a:t> (squaring introduced it).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$f''(x)=\frac{50}{\left(25+(\ell-x)^2\right)^{3/2}}&gt;0$</a:t>
                </a:r>
                <a:r>
                  <a:rPr sz="2400" b="0">
                    <a:solidFill>
                      <a:srgbClr val="111827"/>
                    </a:solidFill>
                    <a:latin typeface="Arial"/>
                  </a:rPr>
                  <a:t>, so this critical point gives the minimum.</a:t>
                </a:r>
                <a:endParaRPr sz="2400">
                  <a:solidFill>
                    <a:srgbClr val="111827"/>
                  </a:solidFill>
                </a:endParaRPr>
              </a:p>
            </p:txBody>
          </p:sp>
        </mc:Fallback>
      </mc:AlternateContent>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185</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185</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180</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km, which lies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60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103.9</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106.8</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$\ell=\frac{185}{\sqrt3}$</a:t>
                </a:r>
                <a:r>
                  <a:rPr sz="2400" b="0">
                    <a:solidFill>
                      <a:srgbClr val="111827"/>
                    </a:solidFill>
                    <a:latin typeface="Arial"/>
                  </a:rPr>
                  <a:t>: </a:t>
                </a:r>
                <a:r>
                  <a:rPr lang="en-IN" sz="2400">
                    <a:solidFill>
                      <a:srgbClr val="111827"/>
                    </a:solidFill>
                    <a:latin typeface="Cambria Math" panose="02040503050406030204" pitchFamily="18" charset="0"/>
                  </a:rPr>
                  <a:t>$x=\frac{185}{\sqrt3}-\frac{5}{\sqrt3}=\frac{180}{\sqrt3}=60\sqrt3$</a:t>
                </a:r>
                <a:r>
                  <a:rPr sz="2400" b="0">
                    <a:solidFill>
                      <a:srgbClr val="111827"/>
                    </a:solidFill>
                    <a:latin typeface="Arial"/>
                  </a:rPr>
                  <a:t> km, which lies in </a:t>
                </a:r>
                <a:r>
                  <a:rPr lang="en-IN" sz="2400">
                    <a:solidFill>
                      <a:srgbClr val="111827"/>
                    </a:solidFill>
                    <a:latin typeface="Cambria Math" panose="02040503050406030204" pitchFamily="18" charset="0"/>
                  </a:rPr>
                  <a:t>$[0,\ell]$</a:t>
                </a:r>
                <a:r>
                  <a:rPr sz="2400" b="0">
                    <a:solidFill>
                      <a:srgbClr val="111827"/>
                    </a:solidFill>
                    <a:latin typeface="Arial"/>
                  </a:rPr>
                  <a:t> (since </a:t>
                </a:r>
                <a:r>
                  <a:rPr lang="en-IN" sz="2400">
                    <a:solidFill>
                      <a:srgbClr val="111827"/>
                    </a:solidFill>
                    <a:latin typeface="Cambria Math" panose="02040503050406030204" pitchFamily="18" charset="0"/>
                  </a:rPr>
                  <a:t>$60\sqrt3\approx103.9&lt;\ell\approx106.8$</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r>
                      <a:rPr lang="en-IN" sz="2800" i="1">
                        <a:solidFill>
                          <a:srgbClr val="15803D"/>
                        </a:solidFill>
                        <a:latin typeface="Cambria Math" panose="02040503050406030204" pitchFamily="18" charset="0"/>
                      </a:rPr>
                      <m:t>60</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oMath>
                </a14:m>
                <a:r>
                  <a:rPr sz="2800" b="1">
                    <a:solidFill>
                      <a:srgbClr val="15803D"/>
                    </a:solidFill>
                    <a:latin typeface="Arial"/>
                  </a:rPr>
                  <a:t> kms</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$60\sqrt3$</a:t>
                </a:r>
                <a:r>
                  <a:rPr sz="2800" b="1">
                    <a:solidFill>
                      <a:srgbClr val="15803D"/>
                    </a:solidFill>
                    <a:latin typeface="Arial"/>
                  </a:rPr>
                  <a:t> kms</a:t>
                </a:r>
                <a:endParaRPr sz="2800">
                  <a:solidFill>
                    <a:srgbClr val="15803D"/>
                  </a:solidFill>
                </a:endParaRPr>
              </a:p>
            </p:txBody>
          </p:sp>
        </mc:Fallback>
      </mc:AlternateContent>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Parametrise by the angle </a:t>
                </a:r>
                <a14:m>
                  <m:oMath xmlns:m="http://schemas.openxmlformats.org/officeDocument/2006/math">
                    <m:r>
                      <a:rPr lang="en-IN" sz="2400" i="1">
                        <a:solidFill>
                          <a:srgbClr val="78350F"/>
                        </a:solidFill>
                        <a:latin typeface="Cambria Math" panose="02040503050406030204" pitchFamily="18" charset="0"/>
                      </a:rPr>
                      <m:t>θ</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𝐷</m:t>
                    </m:r>
                    <m:r>
                      <a:rPr lang="en-IN" sz="2400" i="1">
                        <a:solidFill>
                          <a:srgbClr val="78350F"/>
                        </a:solidFill>
                        <a:latin typeface="Cambria Math" panose="02040503050406030204" pitchFamily="18" charset="0"/>
                      </a:rPr>
                      <m:t>𝑃</m:t>
                    </m:r>
                    <m:r>
                      <a:rPr lang="en-IN" sz="2400" i="1">
                        <a:solidFill>
                          <a:srgbClr val="78350F"/>
                        </a:solidFill>
                        <a:latin typeface="Cambria Math" panose="02040503050406030204" pitchFamily="18" charset="0"/>
                      </a:rPr>
                      <m:t>𝐵</m:t>
                    </m:r>
                  </m:oMath>
                </a14:m>
                <a:r>
                  <a:rPr sz="2400" b="0">
                    <a:solidFill>
                      <a:srgbClr val="78350F"/>
                    </a:solidFill>
                    <a:latin typeface="Arial"/>
                  </a:rPr>
                  <a:t> so that the cost becomes a function of </a:t>
                </a:r>
                <a14:m>
                  <m:oMath xmlns:m="http://schemas.openxmlformats.org/officeDocument/2006/math">
                    <m:r>
                      <a:rPr lang="en-IN" sz="2400" i="1">
                        <a:solidFill>
                          <a:srgbClr val="78350F"/>
                        </a:solidFill>
                        <a:latin typeface="Cambria Math" panose="02040503050406030204" pitchFamily="18" charset="0"/>
                      </a:rPr>
                      <m:t>θ</m:t>
                    </m:r>
                  </m:oMath>
                </a14:m>
                <a:r>
                  <a:rPr sz="2400" b="0">
                    <a:solidFill>
                      <a:srgbClr val="78350F"/>
                    </a:solidFill>
                    <a:latin typeface="Arial"/>
                  </a:rPr>
                  <a:t> with a very simple derivative (Snell's law).</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Parametrise by the angle </a:t>
                </a:r>
                <a:r>
                  <a:rPr lang="en-IN" sz="2400">
                    <a:solidFill>
                      <a:srgbClr val="78350F"/>
                    </a:solidFill>
                    <a:latin typeface="Cambria Math" panose="02040503050406030204" pitchFamily="18" charset="0"/>
                  </a:rPr>
                  <a:t>$\theta=\angle DPB$</a:t>
                </a:r>
                <a:r>
                  <a:rPr sz="2400" b="0">
                    <a:solidFill>
                      <a:srgbClr val="78350F"/>
                    </a:solidFill>
                    <a:latin typeface="Arial"/>
                  </a:rPr>
                  <a:t> so that the cost becomes a function of </a:t>
                </a:r>
                <a:r>
                  <a:rPr lang="en-IN" sz="2400">
                    <a:solidFill>
                      <a:srgbClr val="78350F"/>
                    </a:solidFill>
                    <a:latin typeface="Cambria Math" panose="02040503050406030204" pitchFamily="18" charset="0"/>
                  </a:rPr>
                  <a:t>$\theta$</a:t>
                </a:r>
                <a:r>
                  <a:rPr sz="2400" b="0">
                    <a:solidFill>
                      <a:srgbClr val="78350F"/>
                    </a:solidFill>
                    <a:latin typeface="Arial"/>
                  </a:rPr>
                  <a:t> with a very simple derivative (Snell's law).</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𝐵</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θ</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θ</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Cost (railway rate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highway rate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𝐶</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num>
                      <m:den>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num>
                      <m:den>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$\theta=\angle DPB$</a:t>
                </a:r>
                <a:r>
                  <a:rPr sz="2400" b="0">
                    <a:solidFill>
                      <a:srgbClr val="111827"/>
                    </a:solidFill>
                    <a:latin typeface="Arial"/>
                  </a:rPr>
                  <a:t>. Then </a:t>
                </a:r>
                <a:r>
                  <a:rPr lang="en-IN" sz="2400">
                    <a:solidFill>
                      <a:srgbClr val="111827"/>
                    </a:solidFill>
                    <a:latin typeface="Cambria Math" panose="02040503050406030204" pitchFamily="18" charset="0"/>
                  </a:rPr>
                  <a:t>$DP=\frac{5}{\sin\theta}$</a:t>
                </a:r>
                <a:r>
                  <a:rPr sz="2400" b="0">
                    <a:solidFill>
                      <a:srgbClr val="111827"/>
                    </a:solidFill>
                    <a:latin typeface="Arial"/>
                  </a:rPr>
                  <a:t> and </a:t>
                </a:r>
                <a:r>
                  <a:rPr lang="en-IN" sz="2400">
                    <a:solidFill>
                      <a:srgbClr val="111827"/>
                    </a:solidFill>
                    <a:latin typeface="Cambria Math" panose="02040503050406030204" pitchFamily="18" charset="0"/>
                  </a:rPr>
                  <a:t>$PB=5\cot\theta$</a:t>
                </a:r>
                <a:r>
                  <a:rPr sz="2400" b="0">
                    <a:solidFill>
                      <a:srgbClr val="111827"/>
                    </a:solidFill>
                    <a:latin typeface="Arial"/>
                  </a:rPr>
                  <a:t>, so </a:t>
                </a:r>
                <a:r>
                  <a:rPr lang="en-IN" sz="2400">
                    <a:solidFill>
                      <a:srgbClr val="111827"/>
                    </a:solidFill>
                    <a:latin typeface="Cambria Math" panose="02040503050406030204" pitchFamily="18" charset="0"/>
                  </a:rPr>
                  <a:t>$x=AP=\ell-5\cot\theta$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Cost (railway rate </a:t>
                </a:r>
                <a:r>
                  <a:rPr lang="en-IN" sz="2400">
                    <a:solidFill>
                      <a:srgbClr val="111827"/>
                    </a:solidFill>
                    <a:latin typeface="Cambria Math" panose="02040503050406030204" pitchFamily="18" charset="0"/>
                  </a:rPr>
                  <a:t>$1$</a:t>
                </a:r>
                <a:r>
                  <a:rPr sz="2400" b="0">
                    <a:solidFill>
                      <a:srgbClr val="111827"/>
                    </a:solidFill>
                    <a:latin typeface="Arial"/>
                  </a:rPr>
                  <a:t>, highway rate </a:t>
                </a:r>
                <a:r>
                  <a:rPr lang="en-IN" sz="2400">
                    <a:solidFill>
                      <a:srgbClr val="111827"/>
                    </a:solidFill>
                    <a:latin typeface="Cambria Math" panose="02040503050406030204" pitchFamily="18" charset="0"/>
                  </a:rPr>
                  <a:t>$2$</a:t>
                </a:r>
                <a:r>
                  <a:rPr sz="2400" b="0">
                    <a:solidFill>
                      <a:srgbClr val="111827"/>
                    </a:solidFill>
                    <a:latin typeface="Arial"/>
                  </a:rPr>
                  <a:t>): </a:t>
                </a:r>
                <a:r>
                  <a:rPr lang="en-IN" sz="2400">
                    <a:solidFill>
                      <a:srgbClr val="111827"/>
                    </a:solidFill>
                    <a:latin typeface="Cambria Math" panose="02040503050406030204" pitchFamily="18" charset="0"/>
                  </a:rPr>
                  <a:t>$C(\theta)=x+2\,DP=\ell-5\cot\theta+\frac{10}{\sin\theta}$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$C'(\theta)=\frac{5}{\sin^2\theta}-\frac{10\cos\theta}{\sin^2\theta}=\frac{5(1-2\cos\theta)}{\sin^2\theta}$</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𝐶</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gives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&lt;</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&gt;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𝐶</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&gt;</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𝐶</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gives the minimum.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cot</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185</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180</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km, independent of the value of </a:t>
                </a:r>
                <a14:m>
                  <m:oMath xmlns:m="http://schemas.openxmlformats.org/officeDocument/2006/math">
                    <m:r>
                      <a:rPr lang="en-IN" sz="2400" i="1">
                        <a:solidFill>
                          <a:srgbClr val="111827"/>
                        </a:solidFill>
                        <a:latin typeface="Cambria Math" panose="02040503050406030204" pitchFamily="18" charset="0"/>
                      </a:rPr>
                      <m:t>ℓ</m:t>
                    </m:r>
                  </m:oMath>
                </a14:m>
                <a:r>
                  <a:rPr sz="2400" b="0">
                    <a:solidFill>
                      <a:srgbClr val="111827"/>
                    </a:solidFill>
                    <a:latin typeface="Arial"/>
                  </a:rPr>
                  <a:t> (as long as </a:t>
                </a:r>
                <a14:m>
                  <m:oMath xmlns:m="http://schemas.openxmlformats.org/officeDocument/2006/math">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$C'(\theta)=0$</a:t>
                </a:r>
                <a:r>
                  <a:rPr sz="2400" b="0">
                    <a:solidFill>
                      <a:srgbClr val="111827"/>
                    </a:solidFill>
                    <a:latin typeface="Arial"/>
                  </a:rPr>
                  <a:t> gives </a:t>
                </a:r>
                <a:r>
                  <a:rPr lang="en-IN" sz="2400">
                    <a:solidFill>
                      <a:srgbClr val="111827"/>
                    </a:solidFill>
                    <a:latin typeface="Cambria Math" panose="02040503050406030204" pitchFamily="18" charset="0"/>
                  </a:rPr>
                  <a:t>$\cos\theta=\frac12$</a:t>
                </a:r>
                <a:r>
                  <a:rPr sz="2400" b="0">
                    <a:solidFill>
                      <a:srgbClr val="111827"/>
                    </a:solidFill>
                    <a:latin typeface="Arial"/>
                  </a:rPr>
                  <a:t>, </a:t>
                </a:r>
                <a:r>
                  <a:rPr lang="en-IN" sz="2400">
                    <a:solidFill>
                      <a:srgbClr val="111827"/>
                    </a:solidFill>
                    <a:latin typeface="Cambria Math" panose="02040503050406030204" pitchFamily="18" charset="0"/>
                  </a:rPr>
                  <a:t>$\theta=60^\circ$</a:t>
                </a:r>
                <a:r>
                  <a:rPr sz="2400" b="0">
                    <a:solidFill>
                      <a:srgbClr val="111827"/>
                    </a:solidFill>
                    <a:latin typeface="Arial"/>
                  </a:rPr>
                  <a:t>. For </a:t>
                </a:r>
                <a:r>
                  <a:rPr lang="en-IN" sz="2400">
                    <a:solidFill>
                      <a:srgbClr val="111827"/>
                    </a:solidFill>
                    <a:latin typeface="Cambria Math" panose="02040503050406030204" pitchFamily="18" charset="0"/>
                  </a:rPr>
                  <a:t>$\theta&lt;60^\circ$</a:t>
                </a:r>
                <a:r>
                  <a:rPr sz="2400" b="0">
                    <a:solidFill>
                      <a:srgbClr val="111827"/>
                    </a:solidFill>
                    <a:latin typeface="Arial"/>
                  </a:rPr>
                  <a:t>, </a:t>
                </a:r>
                <a:r>
                  <a:rPr lang="en-IN" sz="2400">
                    <a:solidFill>
                      <a:srgbClr val="111827"/>
                    </a:solidFill>
                    <a:latin typeface="Cambria Math" panose="02040503050406030204" pitchFamily="18" charset="0"/>
                  </a:rPr>
                  <a:t>$\cos\theta&gt;\frac12$</a:t>
                </a:r>
                <a:r>
                  <a:rPr sz="2400" b="0">
                    <a:solidFill>
                      <a:srgbClr val="111827"/>
                    </a:solidFill>
                    <a:latin typeface="Arial"/>
                  </a:rPr>
                  <a:t> and </a:t>
                </a:r>
                <a:r>
                  <a:rPr lang="en-IN" sz="2400">
                    <a:solidFill>
                      <a:srgbClr val="111827"/>
                    </a:solidFill>
                    <a:latin typeface="Cambria Math" panose="02040503050406030204" pitchFamily="18" charset="0"/>
                  </a:rPr>
                  <a:t>$C'&lt;0$</a:t>
                </a:r>
                <a:r>
                  <a:rPr sz="2400" b="0">
                    <a:solidFill>
                      <a:srgbClr val="111827"/>
                    </a:solidFill>
                    <a:latin typeface="Arial"/>
                  </a:rPr>
                  <a:t>; for </a:t>
                </a:r>
                <a:r>
                  <a:rPr lang="en-IN" sz="2400">
                    <a:solidFill>
                      <a:srgbClr val="111827"/>
                    </a:solidFill>
                    <a:latin typeface="Cambria Math" panose="02040503050406030204" pitchFamily="18" charset="0"/>
                  </a:rPr>
                  <a:t>$\theta&gt;60^\circ$</a:t>
                </a:r>
                <a:r>
                  <a:rPr sz="2400" b="0">
                    <a:solidFill>
                      <a:srgbClr val="111827"/>
                    </a:solidFill>
                    <a:latin typeface="Arial"/>
                  </a:rPr>
                  <a:t>, </a:t>
                </a:r>
                <a:r>
                  <a:rPr lang="en-IN" sz="2400">
                    <a:solidFill>
                      <a:srgbClr val="111827"/>
                    </a:solidFill>
                    <a:latin typeface="Cambria Math" panose="02040503050406030204" pitchFamily="18" charset="0"/>
                  </a:rPr>
                  <a:t>$C'&gt;0$</a:t>
                </a:r>
                <a:r>
                  <a:rPr sz="2400" b="0">
                    <a:solidFill>
                      <a:srgbClr val="111827"/>
                    </a:solidFill>
                    <a:latin typeface="Arial"/>
                  </a:rPr>
                  <a:t>. So </a:t>
                </a:r>
                <a:r>
                  <a:rPr lang="en-IN" sz="2400">
                    <a:solidFill>
                      <a:srgbClr val="111827"/>
                    </a:solidFill>
                    <a:latin typeface="Cambria Math" panose="02040503050406030204" pitchFamily="18" charset="0"/>
                  </a:rPr>
                  <a:t>$\theta=60^\circ$</a:t>
                </a:r>
                <a:r>
                  <a:rPr sz="2400" b="0">
                    <a:solidFill>
                      <a:srgbClr val="111827"/>
                    </a:solidFill>
                    <a:latin typeface="Arial"/>
                  </a:rPr>
                  <a:t> gives the minimum.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$PB=5\cot60^\circ=\frac{5}{\sqrt3}$</a:t>
                </a:r>
                <a:r>
                  <a:rPr sz="2400" b="0">
                    <a:solidFill>
                      <a:srgbClr val="111827"/>
                    </a:solidFill>
                    <a:latin typeface="Arial"/>
                  </a:rPr>
                  <a:t>, so </a:t>
                </a:r>
                <a:r>
                  <a:rPr lang="en-IN" sz="2400">
                    <a:solidFill>
                      <a:srgbClr val="111827"/>
                    </a:solidFill>
                    <a:latin typeface="Cambria Math" panose="02040503050406030204" pitchFamily="18" charset="0"/>
                  </a:rPr>
                  <a:t>$x=\ell-\frac5{\sqrt3}=\frac{185}{\sqrt3}-\frac{5}{\sqrt3}=\frac{180}{\sqrt3}=60\sqrt3$</a:t>
                </a:r>
                <a:r>
                  <a:rPr sz="2400" b="0">
                    <a:solidFill>
                      <a:srgbClr val="111827"/>
                    </a:solidFill>
                    <a:latin typeface="Arial"/>
                  </a:rPr>
                  <a:t> km, independent of the value of </a:t>
                </a:r>
                <a:r>
                  <a:rPr lang="en-IN" sz="2400">
                    <a:solidFill>
                      <a:srgbClr val="111827"/>
                    </a:solidFill>
                    <a:latin typeface="Cambria Math" panose="02040503050406030204" pitchFamily="18" charset="0"/>
                  </a:rPr>
                  <a:t>$\ell$</a:t>
                </a:r>
                <a:r>
                  <a:rPr sz="2400" b="0">
                    <a:solidFill>
                      <a:srgbClr val="111827"/>
                    </a:solidFill>
                    <a:latin typeface="Arial"/>
                  </a:rPr>
                  <a:t> (as long as </a:t>
                </a:r>
                <a:r>
                  <a:rPr lang="en-IN" sz="2400">
                    <a:solidFill>
                      <a:srgbClr val="111827"/>
                    </a:solidFill>
                    <a:latin typeface="Cambria Math" panose="02040503050406030204" pitchFamily="18" charset="0"/>
                  </a:rPr>
                  <a:t>$\ell\ge\frac5{\sqrt3}$</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r>
                      <a:rPr lang="en-IN" sz="2800" i="1">
                        <a:solidFill>
                          <a:srgbClr val="15803D"/>
                        </a:solidFill>
                        <a:latin typeface="Cambria Math" panose="02040503050406030204" pitchFamily="18" charset="0"/>
                      </a:rPr>
                      <m:t>60</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oMath>
                </a14:m>
                <a:r>
                  <a:rPr sz="2800" b="1">
                    <a:solidFill>
                      <a:srgbClr val="15803D"/>
                    </a:solidFill>
                    <a:latin typeface="Arial"/>
                  </a:rPr>
                  <a:t> kms</a:t>
                </a:r>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$60\sqrt3$</a:t>
                </a:r>
                <a:r>
                  <a:rPr sz="2800" b="1">
                    <a:solidFill>
                      <a:srgbClr val="15803D"/>
                    </a:solidFill>
                    <a:latin typeface="Arial"/>
                  </a:rPr>
                  <a:t> kms</a:t>
                </a:r>
                <a:endParaRPr sz="2800">
                  <a:solidFill>
                    <a:srgbClr val="15803D"/>
                  </a:solidFill>
                </a:endParaRPr>
              </a:p>
            </p:txBody>
          </p:sp>
        </mc:Fallback>
      </mc:AlternateContent>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Refraction pattern: to minimise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𝑃</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𝑎</m:t>
                    </m:r>
                  </m:oMath>
                </a14:m>
                <a:r>
                  <a:rPr sz="2400" b="0">
                    <a:solidFill>
                      <a:srgbClr val="111827"/>
                    </a:solidFill>
                    <a:latin typeface="Arial"/>
                  </a:rPr>
                  <a:t>, the optimal angle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𝐵</m:t>
                    </m:r>
                  </m:oMath>
                </a14:m>
                <a:r>
                  <a:rPr sz="2400" b="0">
                    <a:solidFill>
                      <a:srgbClr val="111827"/>
                    </a:solidFill>
                    <a:latin typeface="Arial"/>
                  </a:rPr>
                  <a:t> satisfies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𝑏</m:t>
                        </m:r>
                      </m:den>
                    </m:f>
                  </m:oMath>
                </a14:m>
                <a:r>
                  <a:rPr sz="2400" b="0">
                    <a:solidFill>
                      <a:srgbClr val="111827"/>
                    </a:solidFill>
                    <a:latin typeface="Arial"/>
                  </a:rPr>
                  <a:t> (Snell's law); here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perpendicular distance </a:t>
                </a:r>
                <a14:m>
                  <m:oMath xmlns:m="http://schemas.openxmlformats.org/officeDocument/2006/math">
                    <m:r>
                      <a:rPr lang="en-IN" sz="2400" i="1">
                        <a:solidFill>
                          <a:srgbClr val="111827"/>
                        </a:solidFill>
                        <a:latin typeface="Cambria Math" panose="02040503050406030204" pitchFamily="18" charset="0"/>
                      </a:rPr>
                      <m:t>ℎ</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𝐷</m:t>
                    </m:r>
                  </m:oMath>
                </a14:m>
                <a:r>
                  <a:rPr sz="2400" b="0">
                    <a:solidFill>
                      <a:srgbClr val="111827"/>
                    </a:solidFill>
                    <a:latin typeface="Arial"/>
                  </a:rPr>
                  <a:t> to the track, the optimal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ℎ</m:t>
                        </m:r>
                      </m:num>
                      <m:den>
                        <m:rad>
                          <m:radPr>
                            <m:degHide m:val="on"/>
                            <m:ctrlPr>
                              <a:rPr lang="en-IN" sz="2400" i="1">
                                <a:solidFill>
                                  <a:srgbClr val="111827"/>
                                </a:solidFill>
                                <a:latin typeface="Cambria Math" panose="02040503050406030204" pitchFamily="18" charset="0"/>
                              </a:rPr>
                            </m:ctrlPr>
                          </m:radPr>
                          <m:deg/>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rad>
                      </m:den>
                    </m:f>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Squaring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𝑢</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oMath>
                </a14:m>
                <a:r>
                  <a:rPr sz="2400" b="0">
                    <a:solidFill>
                      <a:srgbClr val="111827"/>
                    </a:solidFill>
                    <a:latin typeface="Arial"/>
                  </a:rPr>
                  <a:t> can create extraneous roots: always check </a:t>
                </a:r>
                <a14:m>
                  <m:oMath xmlns:m="http://schemas.openxmlformats.org/officeDocument/2006/math">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that the solution lies in the domain.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cost of the form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 is convex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its only critical point is the global minimum on the interval.</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Refraction pattern: to minimise </a:t>
                </a:r>
                <a:r>
                  <a:rPr lang="en-IN" sz="2400">
                    <a:solidFill>
                      <a:srgbClr val="111827"/>
                    </a:solidFill>
                    <a:latin typeface="Cambria Math" panose="02040503050406030204" pitchFamily="18" charset="0"/>
                  </a:rPr>
                  <a:t>$a\cdot AP+b\cdot DP$</a:t>
                </a:r>
                <a:r>
                  <a:rPr sz="2400" b="0">
                    <a:solidFill>
                      <a:srgbClr val="111827"/>
                    </a:solidFill>
                    <a:latin typeface="Arial"/>
                  </a:rPr>
                  <a:t> with </a:t>
                </a:r>
                <a:r>
                  <a:rPr lang="en-IN" sz="2400">
                    <a:solidFill>
                      <a:srgbClr val="111827"/>
                    </a:solidFill>
                    <a:latin typeface="Cambria Math" panose="02040503050406030204" pitchFamily="18" charset="0"/>
                  </a:rPr>
                  <a:t>$b&gt;a$</a:t>
                </a:r>
                <a:r>
                  <a:rPr sz="2400" b="0">
                    <a:solidFill>
                      <a:srgbClr val="111827"/>
                    </a:solidFill>
                    <a:latin typeface="Arial"/>
                  </a:rPr>
                  <a:t>, the optimal angle </a:t>
                </a:r>
                <a:r>
                  <a:rPr lang="en-IN" sz="2400">
                    <a:solidFill>
                      <a:srgbClr val="111827"/>
                    </a:solidFill>
                    <a:latin typeface="Cambria Math" panose="02040503050406030204" pitchFamily="18" charset="0"/>
                  </a:rPr>
                  <a:t>$\theta=\angle DPB$</a:t>
                </a:r>
                <a:r>
                  <a:rPr sz="2400" b="0">
                    <a:solidFill>
                      <a:srgbClr val="111827"/>
                    </a:solidFill>
                    <a:latin typeface="Arial"/>
                  </a:rPr>
                  <a:t> satisfies </a:t>
                </a:r>
                <a:r>
                  <a:rPr lang="en-IN" sz="2400">
                    <a:solidFill>
                      <a:srgbClr val="111827"/>
                    </a:solidFill>
                    <a:latin typeface="Cambria Math" panose="02040503050406030204" pitchFamily="18" charset="0"/>
                  </a:rPr>
                  <a:t>$\cos\theta=\frac{a}{b}$</a:t>
                </a:r>
                <a:r>
                  <a:rPr sz="2400" b="0">
                    <a:solidFill>
                      <a:srgbClr val="111827"/>
                    </a:solidFill>
                    <a:latin typeface="Arial"/>
                  </a:rPr>
                  <a:t> (Snell's law); here </a:t>
                </a:r>
                <a:r>
                  <a:rPr lang="en-IN" sz="2400">
                    <a:solidFill>
                      <a:srgbClr val="111827"/>
                    </a:solidFill>
                    <a:latin typeface="Cambria Math" panose="02040503050406030204" pitchFamily="18" charset="0"/>
                  </a:rPr>
                  <a:t>$a:b=1:2$</a:t>
                </a:r>
                <a:r>
                  <a:rPr sz="2400" b="0">
                    <a:solidFill>
                      <a:srgbClr val="111827"/>
                    </a:solidFill>
                    <a:latin typeface="Arial"/>
                  </a:rPr>
                  <a:t> gives </a:t>
                </a:r>
                <a:r>
                  <a:rPr lang="en-IN" sz="2400">
                    <a:solidFill>
                      <a:srgbClr val="111827"/>
                    </a:solidFill>
                    <a:latin typeface="Cambria Math" panose="02040503050406030204" pitchFamily="18" charset="0"/>
                  </a:rPr>
                  <a:t>$\theta=60^\circ$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perpendicular distance </a:t>
                </a:r>
                <a:r>
                  <a:rPr lang="en-IN" sz="2400">
                    <a:solidFill>
                      <a:srgbClr val="111827"/>
                    </a:solidFill>
                    <a:latin typeface="Cambria Math" panose="02040503050406030204" pitchFamily="18" charset="0"/>
                  </a:rPr>
                  <a:t>$h$</a:t>
                </a:r>
                <a:r>
                  <a:rPr sz="2400" b="0">
                    <a:solidFill>
                      <a:srgbClr val="111827"/>
                    </a:solidFill>
                    <a:latin typeface="Arial"/>
                  </a:rPr>
                  <a:t> from </a:t>
                </a:r>
                <a:r>
                  <a:rPr lang="en-IN" sz="2400">
                    <a:solidFill>
                      <a:srgbClr val="111827"/>
                    </a:solidFill>
                    <a:latin typeface="Cambria Math" panose="02040503050406030204" pitchFamily="18" charset="0"/>
                  </a:rPr>
                  <a:t>$D$</a:t>
                </a:r>
                <a:r>
                  <a:rPr sz="2400" b="0">
                    <a:solidFill>
                      <a:srgbClr val="111827"/>
                    </a:solidFill>
                    <a:latin typeface="Arial"/>
                  </a:rPr>
                  <a:t> to the track, the optimal </a:t>
                </a:r>
                <a:r>
                  <a:rPr lang="en-IN" sz="2400">
                    <a:solidFill>
                      <a:srgbClr val="111827"/>
                    </a:solidFill>
                    <a:latin typeface="Cambria Math" panose="02040503050406030204" pitchFamily="18" charset="0"/>
                  </a:rPr>
                  <a:t>$PB=\frac{h}{\sqrt{(b/a)^2-1}}$</a:t>
                </a:r>
                <a:r>
                  <a:rPr sz="2400" b="0">
                    <a:solidFill>
                      <a:srgbClr val="111827"/>
                    </a:solidFill>
                    <a:latin typeface="Arial"/>
                  </a:rPr>
                  <a:t>. Here </a:t>
                </a:r>
                <a:r>
                  <a:rPr lang="en-IN" sz="2400">
                    <a:solidFill>
                      <a:srgbClr val="111827"/>
                    </a:solidFill>
                    <a:latin typeface="Cambria Math" panose="02040503050406030204" pitchFamily="18" charset="0"/>
                  </a:rPr>
                  <a:t>$h=5$</a:t>
                </a:r>
                <a:r>
                  <a:rPr sz="2400" b="0">
                    <a:solidFill>
                      <a:srgbClr val="111827"/>
                    </a:solidFill>
                    <a:latin typeface="Arial"/>
                  </a:rPr>
                  <a:t>, </a:t>
                </a:r>
                <a:r>
                  <a:rPr lang="en-IN" sz="2400">
                    <a:solidFill>
                      <a:srgbClr val="111827"/>
                    </a:solidFill>
                    <a:latin typeface="Cambria Math" panose="02040503050406030204" pitchFamily="18" charset="0"/>
                  </a:rPr>
                  <a:t>$b/a=2$</a:t>
                </a:r>
                <a:r>
                  <a:rPr sz="2400" b="0">
                    <a:solidFill>
                      <a:srgbClr val="111827"/>
                    </a:solidFill>
                    <a:latin typeface="Arial"/>
                  </a:rPr>
                  <a:t> gives </a:t>
                </a:r>
                <a:r>
                  <a:rPr lang="en-IN" sz="2400">
                    <a:solidFill>
                      <a:srgbClr val="111827"/>
                    </a:solidFill>
                    <a:latin typeface="Cambria Math" panose="02040503050406030204" pitchFamily="18" charset="0"/>
                  </a:rPr>
                  <a:t>$PB=\frac5{\sqrt3}$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Squaring </a:t>
                </a:r>
                <a:r>
                  <a:rPr lang="en-IN" sz="2400">
                    <a:solidFill>
                      <a:srgbClr val="111827"/>
                    </a:solidFill>
                    <a:latin typeface="Cambria Math" panose="02040503050406030204" pitchFamily="18" charset="0"/>
                  </a:rPr>
                  <a:t>$\sqrt{u}=v$</a:t>
                </a:r>
                <a:r>
                  <a:rPr sz="2400" b="0">
                    <a:solidFill>
                      <a:srgbClr val="111827"/>
                    </a:solidFill>
                    <a:latin typeface="Arial"/>
                  </a:rPr>
                  <a:t> can create extraneous roots: always check </a:t>
                </a:r>
                <a:r>
                  <a:rPr lang="en-IN" sz="2400">
                    <a:solidFill>
                      <a:srgbClr val="111827"/>
                    </a:solidFill>
                    <a:latin typeface="Cambria Math" panose="02040503050406030204" pitchFamily="18" charset="0"/>
                  </a:rPr>
                  <a:t>$v\ge0$</a:t>
                </a:r>
                <a:r>
                  <a:rPr sz="2400" b="0">
                    <a:solidFill>
                      <a:srgbClr val="111827"/>
                    </a:solidFill>
                    <a:latin typeface="Arial"/>
                  </a:rPr>
                  <a:t> and that the solution lies in the domain.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cost of the form </a:t>
                </a:r>
                <a:r>
                  <a:rPr lang="en-IN" sz="2400">
                    <a:solidFill>
                      <a:srgbClr val="111827"/>
                    </a:solidFill>
                    <a:latin typeface="Cambria Math" panose="02040503050406030204" pitchFamily="18" charset="0"/>
                  </a:rPr>
                  <a:t>$x+k\sqrt{c^2+(\ell-x)^2}$</a:t>
                </a:r>
                <a:r>
                  <a:rPr sz="2400" b="0">
                    <a:solidFill>
                      <a:srgbClr val="111827"/>
                    </a:solidFill>
                    <a:latin typeface="Arial"/>
                  </a:rPr>
                  <a:t> is convex (</a:t>
                </a:r>
                <a:r>
                  <a:rPr lang="en-IN" sz="2400">
                    <a:solidFill>
                      <a:srgbClr val="111827"/>
                    </a:solidFill>
                    <a:latin typeface="Cambria Math" panose="02040503050406030204" pitchFamily="18" charset="0"/>
                  </a:rPr>
                  <a:t>$f''&gt;0$</a:t>
                </a:r>
                <a:r>
                  <a:rPr sz="2400" b="0">
                    <a:solidFill>
                      <a:srgbClr val="111827"/>
                    </a:solidFill>
                    <a:latin typeface="Arial"/>
                  </a:rPr>
                  <a:t>), so its only critical point is the global minimum on the interval.</a:t>
                </a:r>
                <a:endParaRPr sz="2400">
                  <a:solidFill>
                    <a:srgbClr val="111827"/>
                  </a:solidFill>
                </a:endParaRPr>
              </a:p>
            </p:txBody>
          </p:sp>
        </mc:Fallback>
      </mc:AlternateContent>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484784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Paragraph: A factory is connected with a straight railway track by a highway. Town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lies on the railway track. The distance </a:t>
                </a:r>
                <a14:m>
                  <m:oMath xmlns:m="http://schemas.openxmlformats.org/officeDocument/2006/math">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𝐵</m:t>
                    </m:r>
                  </m:oMath>
                </a14:m>
                <a:r>
                  <a:rPr sz="2400" b="0">
                    <a:solidFill>
                      <a:srgbClr val="111827"/>
                    </a:solidFill>
                    <a:latin typeface="Arial"/>
                  </a:rPr>
                  <a:t> from the factory to the railway track is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km. The segment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of the railway track is equal to </a:t>
                </a:r>
                <a14:m>
                  <m:oMath xmlns:m="http://schemas.openxmlformats.org/officeDocument/2006/math">
                    <m:r>
                      <a:rPr lang="en-IN" sz="2400" i="1">
                        <a:solidFill>
                          <a:srgbClr val="111827"/>
                        </a:solidFill>
                        <a:latin typeface="Cambria Math" panose="02040503050406030204" pitchFamily="18" charset="0"/>
                      </a:rPr>
                      <m:t>ℓ</m:t>
                    </m:r>
                  </m:oMath>
                </a14:m>
                <a:r>
                  <a:rPr sz="2400" b="0">
                    <a:solidFill>
                      <a:srgbClr val="111827"/>
                    </a:solidFill>
                    <a:latin typeface="Arial"/>
                  </a:rPr>
                  <a:t> kms. Freight charges on the highway are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times higher than on the railway. A highway </a:t>
                </a:r>
                <a14:m>
                  <m:oMath xmlns:m="http://schemas.openxmlformats.org/officeDocument/2006/math">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𝑃</m:t>
                    </m:r>
                  </m:oMath>
                </a14:m>
                <a:r>
                  <a:rPr sz="2400" b="0">
                    <a:solidFill>
                      <a:srgbClr val="111827"/>
                    </a:solidFill>
                    <a:latin typeface="Arial"/>
                  </a:rPr>
                  <a:t> is connected to the railway track such that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kms. (Figure: </a:t>
                </a:r>
                <a14:m>
                  <m:oMath xmlns:m="http://schemas.openxmlformats.org/officeDocument/2006/math">
                    <m:r>
                      <a:rPr lang="en-IN" sz="2400" i="1">
                        <a:solidFill>
                          <a:srgbClr val="111827"/>
                        </a:solidFill>
                        <a:latin typeface="Cambria Math" panose="02040503050406030204" pitchFamily="18" charset="0"/>
                      </a:rPr>
                      <m:t>𝐷</m:t>
                    </m:r>
                  </m:oMath>
                </a14:m>
                <a:r>
                  <a:rPr sz="2400" b="0">
                    <a:solidFill>
                      <a:srgbClr val="111827"/>
                    </a:solidFill>
                    <a:latin typeface="Arial"/>
                  </a:rPr>
                  <a:t> is the factory,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is the foot of the perpendicular from </a:t>
                </a:r>
                <a14:m>
                  <m:oMath xmlns:m="http://schemas.openxmlformats.org/officeDocument/2006/math">
                    <m:r>
                      <a:rPr lang="en-IN" sz="2400" i="1">
                        <a:solidFill>
                          <a:srgbClr val="111827"/>
                        </a:solidFill>
                        <a:latin typeface="Cambria Math" panose="02040503050406030204" pitchFamily="18" charset="0"/>
                      </a:rPr>
                      <m:t>𝐷</m:t>
                    </m:r>
                  </m:oMath>
                </a14:m>
                <a:r>
                  <a:rPr sz="2400" b="0">
                    <a:solidFill>
                      <a:srgbClr val="111827"/>
                    </a:solidFill>
                    <a:latin typeface="Arial"/>
                  </a:rPr>
                  <a:t> to the track, and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lies on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kms, then the value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for which freight charges are maximum:</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kms   (B) </a:t>
                </a:r>
                <a14:m>
                  <m:oMath xmlns:m="http://schemas.openxmlformats.org/officeDocument/2006/math">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kms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kms   (D)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km</a:t>
                </a:r>
                <a:endParaRPr sz="2400">
                  <a:solidFill>
                    <a:srgbClr val="111827"/>
                  </a:solidFill>
                </a:endParaRPr>
              </a:p>
            </p:txBody>
          </p:sp>
        </mc:Choice>
        <mc:Fallback>
          <p:sp>
            <p:nvSpPr>
              <p:cNvPr id="4" name="Rounded Rectangle 3"/>
              <p:cNvSpPr/>
              <p:nvPr/>
            </p:nvSpPr>
            <p:spPr>
              <a:xfrm>
                <a:off x="731520" y="1280160"/>
                <a:ext cx="10725912" cy="484784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Paragraph: A factory is connected with a straight railway track by a highway. Town </a:t>
                </a:r>
                <a:r>
                  <a:rPr lang="en-IN" sz="2400">
                    <a:solidFill>
                      <a:srgbClr val="111827"/>
                    </a:solidFill>
                    <a:latin typeface="Cambria Math" panose="02040503050406030204" pitchFamily="18" charset="0"/>
                  </a:rPr>
                  <a:t>$A$</a:t>
                </a:r>
                <a:r>
                  <a:rPr sz="2400" b="0">
                    <a:solidFill>
                      <a:srgbClr val="111827"/>
                    </a:solidFill>
                    <a:latin typeface="Arial"/>
                  </a:rPr>
                  <a:t> lies on the railway track. The distance </a:t>
                </a:r>
                <a:r>
                  <a:rPr lang="en-IN" sz="2400">
                    <a:solidFill>
                      <a:srgbClr val="111827"/>
                    </a:solidFill>
                    <a:latin typeface="Cambria Math" panose="02040503050406030204" pitchFamily="18" charset="0"/>
                  </a:rPr>
                  <a:t>$DB$</a:t>
                </a:r>
                <a:r>
                  <a:rPr sz="2400" b="0">
                    <a:solidFill>
                      <a:srgbClr val="111827"/>
                    </a:solidFill>
                    <a:latin typeface="Arial"/>
                  </a:rPr>
                  <a:t> from the factory to the railway track is </a:t>
                </a:r>
                <a:r>
                  <a:rPr lang="en-IN" sz="2400">
                    <a:solidFill>
                      <a:srgbClr val="111827"/>
                    </a:solidFill>
                    <a:latin typeface="Cambria Math" panose="02040503050406030204" pitchFamily="18" charset="0"/>
                  </a:rPr>
                  <a:t>$5$</a:t>
                </a:r>
                <a:r>
                  <a:rPr sz="2400" b="0">
                    <a:solidFill>
                      <a:srgbClr val="111827"/>
                    </a:solidFill>
                    <a:latin typeface="Arial"/>
                  </a:rPr>
                  <a:t> km. The segment </a:t>
                </a:r>
                <a:r>
                  <a:rPr lang="en-IN" sz="2400">
                    <a:solidFill>
                      <a:srgbClr val="111827"/>
                    </a:solidFill>
                    <a:latin typeface="Cambria Math" panose="02040503050406030204" pitchFamily="18" charset="0"/>
                  </a:rPr>
                  <a:t>$AB$</a:t>
                </a:r>
                <a:r>
                  <a:rPr sz="2400" b="0">
                    <a:solidFill>
                      <a:srgbClr val="111827"/>
                    </a:solidFill>
                    <a:latin typeface="Arial"/>
                  </a:rPr>
                  <a:t> of the railway track is equal to </a:t>
                </a:r>
                <a:r>
                  <a:rPr lang="en-IN" sz="2400">
                    <a:solidFill>
                      <a:srgbClr val="111827"/>
                    </a:solidFill>
                    <a:latin typeface="Cambria Math" panose="02040503050406030204" pitchFamily="18" charset="0"/>
                  </a:rPr>
                  <a:t>$\ell$</a:t>
                </a:r>
                <a:r>
                  <a:rPr sz="2400" b="0">
                    <a:solidFill>
                      <a:srgbClr val="111827"/>
                    </a:solidFill>
                    <a:latin typeface="Arial"/>
                  </a:rPr>
                  <a:t> kms. Freight charges on the highway are </a:t>
                </a:r>
                <a:r>
                  <a:rPr lang="en-IN" sz="2400">
                    <a:solidFill>
                      <a:srgbClr val="111827"/>
                    </a:solidFill>
                    <a:latin typeface="Cambria Math" panose="02040503050406030204" pitchFamily="18" charset="0"/>
                  </a:rPr>
                  <a:t>$2$</a:t>
                </a:r>
                <a:r>
                  <a:rPr sz="2400" b="0">
                    <a:solidFill>
                      <a:srgbClr val="111827"/>
                    </a:solidFill>
                    <a:latin typeface="Arial"/>
                  </a:rPr>
                  <a:t> times higher than on the railway. A highway </a:t>
                </a:r>
                <a:r>
                  <a:rPr lang="en-IN" sz="2400">
                    <a:solidFill>
                      <a:srgbClr val="111827"/>
                    </a:solidFill>
                    <a:latin typeface="Cambria Math" panose="02040503050406030204" pitchFamily="18" charset="0"/>
                  </a:rPr>
                  <a:t>$DP$</a:t>
                </a:r>
                <a:r>
                  <a:rPr sz="2400" b="0">
                    <a:solidFill>
                      <a:srgbClr val="111827"/>
                    </a:solidFill>
                    <a:latin typeface="Arial"/>
                  </a:rPr>
                  <a:t> is connected to the railway track such that </a:t>
                </a:r>
                <a:r>
                  <a:rPr lang="en-IN" sz="2400">
                    <a:solidFill>
                      <a:srgbClr val="111827"/>
                    </a:solidFill>
                    <a:latin typeface="Cambria Math" panose="02040503050406030204" pitchFamily="18" charset="0"/>
                  </a:rPr>
                  <a:t>$AP$</a:t>
                </a:r>
                <a:r>
                  <a:rPr sz="2400" b="0">
                    <a:solidFill>
                      <a:srgbClr val="111827"/>
                    </a:solidFill>
                    <a:latin typeface="Arial"/>
                  </a:rPr>
                  <a:t> is </a:t>
                </a:r>
                <a:r>
                  <a:rPr lang="en-IN" sz="2400">
                    <a:solidFill>
                      <a:srgbClr val="111827"/>
                    </a:solidFill>
                    <a:latin typeface="Cambria Math" panose="02040503050406030204" pitchFamily="18" charset="0"/>
                  </a:rPr>
                  <a:t>$x$</a:t>
                </a:r>
                <a:r>
                  <a:rPr sz="2400" b="0">
                    <a:solidFill>
                      <a:srgbClr val="111827"/>
                    </a:solidFill>
                    <a:latin typeface="Arial"/>
                  </a:rPr>
                  <a:t> kms. (Figure: </a:t>
                </a:r>
                <a:r>
                  <a:rPr lang="en-IN" sz="2400">
                    <a:solidFill>
                      <a:srgbClr val="111827"/>
                    </a:solidFill>
                    <a:latin typeface="Cambria Math" panose="02040503050406030204" pitchFamily="18" charset="0"/>
                  </a:rPr>
                  <a:t>$D$</a:t>
                </a:r>
                <a:r>
                  <a:rPr sz="2400" b="0">
                    <a:solidFill>
                      <a:srgbClr val="111827"/>
                    </a:solidFill>
                    <a:latin typeface="Arial"/>
                  </a:rPr>
                  <a:t> is the factory, </a:t>
                </a:r>
                <a:r>
                  <a:rPr lang="en-IN" sz="2400">
                    <a:solidFill>
                      <a:srgbClr val="111827"/>
                    </a:solidFill>
                    <a:latin typeface="Cambria Math" panose="02040503050406030204" pitchFamily="18" charset="0"/>
                  </a:rPr>
                  <a:t>$B$</a:t>
                </a:r>
                <a:r>
                  <a:rPr sz="2400" b="0">
                    <a:solidFill>
                      <a:srgbClr val="111827"/>
                    </a:solidFill>
                    <a:latin typeface="Arial"/>
                  </a:rPr>
                  <a:t> is the foot of the perpendicular from </a:t>
                </a:r>
                <a:r>
                  <a:rPr lang="en-IN" sz="2400">
                    <a:solidFill>
                      <a:srgbClr val="111827"/>
                    </a:solidFill>
                    <a:latin typeface="Cambria Math" panose="02040503050406030204" pitchFamily="18" charset="0"/>
                  </a:rPr>
                  <a:t>$D$</a:t>
                </a:r>
                <a:r>
                  <a:rPr sz="2400" b="0">
                    <a:solidFill>
                      <a:srgbClr val="111827"/>
                    </a:solidFill>
                    <a:latin typeface="Arial"/>
                  </a:rPr>
                  <a:t> to the track, and </a:t>
                </a:r>
                <a:r>
                  <a:rPr lang="en-IN" sz="2400">
                    <a:solidFill>
                      <a:srgbClr val="111827"/>
                    </a:solidFill>
                    <a:latin typeface="Cambria Math" panose="02040503050406030204" pitchFamily="18" charset="0"/>
                  </a:rPr>
                  <a:t>$P$</a:t>
                </a:r>
                <a:r>
                  <a:rPr sz="2400" b="0">
                    <a:solidFill>
                      <a:srgbClr val="111827"/>
                    </a:solidFill>
                    <a:latin typeface="Arial"/>
                  </a:rPr>
                  <a:t> lies on </a:t>
                </a:r>
                <a:r>
                  <a:rPr lang="en-IN" sz="2400">
                    <a:solidFill>
                      <a:srgbClr val="111827"/>
                    </a:solidFill>
                    <a:latin typeface="Cambria Math" panose="02040503050406030204" pitchFamily="18" charset="0"/>
                  </a:rPr>
                  <a:t>$AB$</a:t>
                </a:r>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$\ell=10$</a:t>
                </a:r>
                <a:r>
                  <a:rPr sz="2400" b="0">
                    <a:solidFill>
                      <a:srgbClr val="111827"/>
                    </a:solidFill>
                    <a:latin typeface="Arial"/>
                  </a:rPr>
                  <a:t> kms, then the value of </a:t>
                </a:r>
                <a:r>
                  <a:rPr lang="en-IN" sz="2400">
                    <a:solidFill>
                      <a:srgbClr val="111827"/>
                    </a:solidFill>
                    <a:latin typeface="Cambria Math" panose="02040503050406030204" pitchFamily="18" charset="0"/>
                  </a:rPr>
                  <a:t>$x$</a:t>
                </a:r>
                <a:r>
                  <a:rPr sz="2400" b="0">
                    <a:solidFill>
                      <a:srgbClr val="111827"/>
                    </a:solidFill>
                    <a:latin typeface="Arial"/>
                  </a:rPr>
                  <a:t> for which freight charges are maximum:</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$10$</a:t>
                </a:r>
                <a:r>
                  <a:rPr sz="2400" b="0">
                    <a:solidFill>
                      <a:srgbClr val="111827"/>
                    </a:solidFill>
                    <a:latin typeface="Arial"/>
                  </a:rPr>
                  <a:t> kms   (B) </a:t>
                </a:r>
                <a:r>
                  <a:rPr lang="en-IN" sz="2400">
                    <a:solidFill>
                      <a:srgbClr val="111827"/>
                    </a:solidFill>
                    <a:latin typeface="Cambria Math" panose="02040503050406030204" pitchFamily="18" charset="0"/>
                  </a:rPr>
                  <a:t>$10-\frac{5}{\sqrt3}$</a:t>
                </a:r>
                <a:r>
                  <a:rPr sz="2400" b="0">
                    <a:solidFill>
                      <a:srgbClr val="111827"/>
                    </a:solidFill>
                    <a:latin typeface="Arial"/>
                  </a:rPr>
                  <a:t> kms   (C) </a:t>
                </a:r>
                <a:r>
                  <a:rPr lang="en-IN" sz="2400">
                    <a:solidFill>
                      <a:srgbClr val="111827"/>
                    </a:solidFill>
                    <a:latin typeface="Cambria Math" panose="02040503050406030204" pitchFamily="18" charset="0"/>
                  </a:rPr>
                  <a:t>$\frac{10}{\sqrt3}$</a:t>
                </a:r>
                <a:r>
                  <a:rPr sz="2400" b="0">
                    <a:solidFill>
                      <a:srgbClr val="111827"/>
                    </a:solidFill>
                    <a:latin typeface="Arial"/>
                  </a:rPr>
                  <a:t> kms   (D) </a:t>
                </a:r>
                <a:r>
                  <a:rPr lang="en-IN" sz="2400">
                    <a:solidFill>
                      <a:srgbClr val="111827"/>
                    </a:solidFill>
                    <a:latin typeface="Cambria Math" panose="02040503050406030204" pitchFamily="18" charset="0"/>
                  </a:rPr>
                  <a:t>$0$</a:t>
                </a:r>
                <a:r>
                  <a:rPr sz="2400" b="0">
                    <a:solidFill>
                      <a:srgbClr val="111827"/>
                    </a:solidFill>
                    <a:latin typeface="Arial"/>
                  </a:rPr>
                  <a:t> km</a:t>
                </a:r>
                <a:endParaRPr sz="2400">
                  <a:solidFill>
                    <a:srgbClr val="111827"/>
                  </a:solidFill>
                </a:endParaRPr>
              </a:p>
            </p:txBody>
          </p:sp>
        </mc:Fallback>
      </mc:AlternateContent>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Paragraph Based Single Correct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Maximum of a convex function on a closed interval</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cost function is convex, so on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ℓ</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its maximum lies at an endpoint; compare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ℓ</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cost function is convex, so on </a:t>
                </a:r>
                <a:r>
                  <a:rPr lang="en-IN" sz="2400">
                    <a:solidFill>
                      <a:srgbClr val="78350F"/>
                    </a:solidFill>
                    <a:latin typeface="Cambria Math" panose="02040503050406030204" pitchFamily="18" charset="0"/>
                  </a:rPr>
                  <a:t>$[0,\ell]$</a:t>
                </a:r>
                <a:r>
                  <a:rPr sz="2400" b="0">
                    <a:solidFill>
                      <a:srgbClr val="78350F"/>
                    </a:solidFill>
                    <a:latin typeface="Arial"/>
                  </a:rPr>
                  <a:t> its maximum lies at an endpoint; compare </a:t>
                </a:r>
                <a:r>
                  <a:rPr lang="en-IN" sz="2400">
                    <a:solidFill>
                      <a:srgbClr val="78350F"/>
                    </a:solidFill>
                    <a:latin typeface="Cambria Math" panose="02040503050406030204" pitchFamily="18" charset="0"/>
                  </a:rPr>
                  <a:t>$f(0)$</a:t>
                </a:r>
                <a:r>
                  <a:rPr sz="2400" b="0">
                    <a:solidFill>
                      <a:srgbClr val="78350F"/>
                    </a:solidFill>
                    <a:latin typeface="Arial"/>
                  </a:rPr>
                  <a:t> and </a:t>
                </a:r>
                <a:r>
                  <a:rPr lang="en-IN" sz="2400">
                    <a:solidFill>
                      <a:srgbClr val="78350F"/>
                    </a:solidFill>
                    <a:latin typeface="Cambria Math" panose="02040503050406030204" pitchFamily="18" charset="0"/>
                  </a:rPr>
                  <a:t>$f(\ell)$</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freight charge is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 ... (i), for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ℓ</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freight charge is </a:t>
                </a:r>
                <a:r>
                  <a:rPr lang="en-IN" sz="2400">
                    <a:solidFill>
                      <a:srgbClr val="111827"/>
                    </a:solidFill>
                    <a:latin typeface="Cambria Math" panose="02040503050406030204" pitchFamily="18" charset="0"/>
                  </a:rPr>
                  <a:t>$f(x)=x+2\sqrt{25+(\ell-x)^2}$</a:t>
                </a:r>
                <a:r>
                  <a:rPr sz="2400" b="0">
                    <a:solidFill>
                      <a:srgbClr val="111827"/>
                    </a:solidFill>
                    <a:latin typeface="Arial"/>
                  </a:rPr>
                  <a:t> ... (i), for </a:t>
                </a:r>
                <a:r>
                  <a:rPr lang="en-IN" sz="2400">
                    <a:solidFill>
                      <a:srgbClr val="111827"/>
                    </a:solidFill>
                    <a:latin typeface="Cambria Math" panose="02040503050406030204" pitchFamily="18" charset="0"/>
                  </a:rPr>
                  <a:t>$0\le x\le\ell$</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50</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convex and its maximum on the closed interval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lies at an endpoint: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22.36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25</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10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20</m:t>
                    </m:r>
                  </m:oMath>
                </a14:m>
                <a:r>
                  <a:rPr sz="2400" b="0">
                    <a:solidFill>
                      <a:srgbClr val="111827"/>
                    </a:solidFill>
                    <a:latin typeface="Arial"/>
                  </a:rPr>
                  <a:t>, the maximum freight is </a:t>
                </a:r>
                <a14:m>
                  <m:oMath xmlns:m="http://schemas.openxmlformats.org/officeDocument/2006/math">
                    <m:r>
                      <a:rPr lang="en-IN" sz="2400" i="1">
                        <a:solidFill>
                          <a:srgbClr val="111827"/>
                        </a:solidFill>
                        <a:latin typeface="Cambria Math" panose="02040503050406030204" pitchFamily="18" charset="0"/>
                      </a:rPr>
                      <m:t>10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critical point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in option (B) gives the minimum).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km.</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$f''(x)=\frac{50}{(25+(\ell-x)^2)^{3/2}}&gt;0$</a:t>
                </a:r>
                <a:r>
                  <a:rPr sz="2400" b="0">
                    <a:solidFill>
                      <a:srgbClr val="111827"/>
                    </a:solidFill>
                    <a:latin typeface="Arial"/>
                  </a:rPr>
                  <a:t>, so </a:t>
                </a:r>
                <a:r>
                  <a:rPr lang="en-IN" sz="2400">
                    <a:solidFill>
                      <a:srgbClr val="111827"/>
                    </a:solidFill>
                    <a:latin typeface="Cambria Math" panose="02040503050406030204" pitchFamily="18" charset="0"/>
                  </a:rPr>
                  <a:t>$f$</a:t>
                </a:r>
                <a:r>
                  <a:rPr sz="2400" b="0">
                    <a:solidFill>
                      <a:srgbClr val="111827"/>
                    </a:solidFill>
                    <a:latin typeface="Arial"/>
                  </a:rPr>
                  <a:t> is convex and its maximum on the closed interval </a:t>
                </a:r>
                <a:r>
                  <a:rPr lang="en-IN" sz="2400">
                    <a:solidFill>
                      <a:srgbClr val="111827"/>
                    </a:solidFill>
                    <a:latin typeface="Cambria Math" panose="02040503050406030204" pitchFamily="18" charset="0"/>
                  </a:rPr>
                  <a:t>$[0,\ell]$</a:t>
                </a:r>
                <a:r>
                  <a:rPr sz="2400" b="0">
                    <a:solidFill>
                      <a:srgbClr val="111827"/>
                    </a:solidFill>
                    <a:latin typeface="Arial"/>
                  </a:rPr>
                  <a:t> lies at an endpoint: </a:t>
                </a:r>
                <a:r>
                  <a:rPr lang="en-IN" sz="2400">
                    <a:solidFill>
                      <a:srgbClr val="111827"/>
                    </a:solidFill>
                    <a:latin typeface="Cambria Math" panose="02040503050406030204" pitchFamily="18" charset="0"/>
                  </a:rPr>
                  <a:t>$x=0$</a:t>
                </a:r>
                <a:r>
                  <a:rPr sz="2400" b="0">
                    <a:solidFill>
                      <a:srgbClr val="111827"/>
                    </a:solidFill>
                    <a:latin typeface="Arial"/>
                  </a:rPr>
                  <a:t> or </a:t>
                </a:r>
                <a:r>
                  <a:rPr lang="en-IN" sz="2400">
                    <a:solidFill>
                      <a:srgbClr val="111827"/>
                    </a:solidFill>
                    <a:latin typeface="Cambria Math" panose="02040503050406030204" pitchFamily="18" charset="0"/>
                  </a:rPr>
                  <a:t>$x=10$</a:t>
                </a:r>
                <a:r>
                  <a:rPr sz="2400" b="0">
                    <a:solidFill>
                      <a:srgbClr val="111827"/>
                    </a:solidFill>
                    <a:latin typeface="Arial"/>
                  </a:rPr>
                  <a:t> for </a:t>
                </a:r>
                <a:r>
                  <a:rPr lang="en-IN" sz="2400">
                    <a:solidFill>
                      <a:srgbClr val="111827"/>
                    </a:solidFill>
                    <a:latin typeface="Cambria Math" panose="02040503050406030204" pitchFamily="18" charset="0"/>
                  </a:rPr>
                  <a:t>$\ell=10$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$\ell=10$</a:t>
                </a:r>
                <a:r>
                  <a:rPr sz="2400" b="0">
                    <a:solidFill>
                      <a:srgbClr val="111827"/>
                    </a:solidFill>
                    <a:latin typeface="Arial"/>
                  </a:rPr>
                  <a:t>: </a:t>
                </a:r>
                <a:r>
                  <a:rPr lang="en-IN" sz="2400">
                    <a:solidFill>
                      <a:srgbClr val="111827"/>
                    </a:solidFill>
                    <a:latin typeface="Cambria Math" panose="02040503050406030204" pitchFamily="18" charset="0"/>
                  </a:rPr>
                  <a:t>$f(x)=x+2\sqrt{25+(10-x)^2}$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$f(0)=2\sqrt{25+100}=10\sqrt5\approx22.36$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$f(10)=10+2\sqrt{25}=20$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$10\sqrt5&gt;20$</a:t>
                </a:r>
                <a:r>
                  <a:rPr sz="2400" b="0">
                    <a:solidFill>
                      <a:srgbClr val="111827"/>
                    </a:solidFill>
                    <a:latin typeface="Arial"/>
                  </a:rPr>
                  <a:t>, the maximum freight is </a:t>
                </a:r>
                <a:r>
                  <a:rPr lang="en-IN" sz="2400">
                    <a:solidFill>
                      <a:srgbClr val="111827"/>
                    </a:solidFill>
                    <a:latin typeface="Cambria Math" panose="02040503050406030204" pitchFamily="18" charset="0"/>
                  </a:rPr>
                  <a:t>$10\sqrt5$</a:t>
                </a:r>
                <a:r>
                  <a:rPr sz="2400" b="0">
                    <a:solidFill>
                      <a:srgbClr val="111827"/>
                    </a:solidFill>
                    <a:latin typeface="Arial"/>
                  </a:rPr>
                  <a:t> at </a:t>
                </a:r>
                <a:r>
                  <a:rPr lang="en-IN" sz="2400">
                    <a:solidFill>
                      <a:srgbClr val="111827"/>
                    </a:solidFill>
                    <a:latin typeface="Cambria Math" panose="02040503050406030204" pitchFamily="18" charset="0"/>
                  </a:rPr>
                  <a:t>$x=0$</a:t>
                </a:r>
                <a:r>
                  <a:rPr sz="2400" b="0">
                    <a:solidFill>
                      <a:srgbClr val="111827"/>
                    </a:solidFill>
                    <a:latin typeface="Arial"/>
                  </a:rPr>
                  <a:t> (the critical point </a:t>
                </a:r>
                <a:r>
                  <a:rPr lang="en-IN" sz="2400">
                    <a:solidFill>
                      <a:srgbClr val="111827"/>
                    </a:solidFill>
                    <a:latin typeface="Cambria Math" panose="02040503050406030204" pitchFamily="18" charset="0"/>
                  </a:rPr>
                  <a:t>$x=10-\frac5{\sqrt3}$</a:t>
                </a:r>
                <a:r>
                  <a:rPr sz="2400" b="0">
                    <a:solidFill>
                      <a:srgbClr val="111827"/>
                    </a:solidFill>
                    <a:latin typeface="Arial"/>
                  </a:rPr>
                  <a:t> in option (B) gives the minimum).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$x=0$</a:t>
                </a:r>
                <a:r>
                  <a:rPr sz="2400" b="0">
                    <a:solidFill>
                      <a:srgbClr val="111827"/>
                    </a:solidFill>
                    <a:latin typeface="Arial"/>
                  </a:rPr>
                  <a:t> km.</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0 km</a:t>
            </a:r>
            <a:endParaRPr sz="2800">
              <a:solidFill>
                <a:srgbClr val="15803D"/>
              </a:solidFill>
            </a:endParaRP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convex function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attains its maximum at an endpoint; a concave function attains its minimum at an endpoint.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Closed-interval method: compare the values at all critical points and at both endpoints. Here the minimum is </a:t>
                </a:r>
                <a14:m>
                  <m:oMath xmlns:m="http://schemas.openxmlformats.org/officeDocument/2006/math">
                    <m:r>
                      <a:rPr lang="en-IN" sz="2400" i="1">
                        <a:solidFill>
                          <a:srgbClr val="111827"/>
                        </a:solidFill>
                        <a:latin typeface="Cambria Math" panose="02040503050406030204" pitchFamily="18" charset="0"/>
                      </a:rPr>
                      <m:t>𝑓</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18.66</m:t>
                    </m:r>
                  </m:oMath>
                </a14:m>
                <a:r>
                  <a:rPr sz="2400" b="0">
                    <a:solidFill>
                      <a:srgbClr val="111827"/>
                    </a:solidFill>
                    <a:latin typeface="Arial"/>
                  </a:rPr>
                  <a:t>, the endpoint values are </a:t>
                </a:r>
                <a14:m>
                  <m:oMath xmlns:m="http://schemas.openxmlformats.org/officeDocument/2006/math">
                    <m:r>
                      <a:rPr lang="en-IN" sz="2400" i="1">
                        <a:solidFill>
                          <a:srgbClr val="111827"/>
                        </a:solidFill>
                        <a:latin typeface="Cambria Math" panose="02040503050406030204" pitchFamily="18" charset="0"/>
                      </a:rPr>
                      <m:t>22.36</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 is the length of a vector depending affinely on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hence convex; a sum of convex functions is convex.</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Quick sanity check of the answer: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50</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19.14</m:t>
                    </m:r>
                  </m:oMath>
                </a14:m>
                <a:r>
                  <a:rPr sz="2400" b="0">
                    <a:solidFill>
                      <a:srgbClr val="111827"/>
                    </a:solidFill>
                    <a:latin typeface="Arial"/>
                  </a:rPr>
                  <a:t>, which is smaller than both endpoint values.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convex function (</a:t>
                </a:r>
                <a:r>
                  <a:rPr lang="en-IN" sz="2400">
                    <a:solidFill>
                      <a:srgbClr val="111827"/>
                    </a:solidFill>
                    <a:latin typeface="Cambria Math" panose="02040503050406030204" pitchFamily="18" charset="0"/>
                  </a:rPr>
                  <a:t>$f''\ge0$</a:t>
                </a:r>
                <a:r>
                  <a:rPr sz="2400" b="0">
                    <a:solidFill>
                      <a:srgbClr val="111827"/>
                    </a:solidFill>
                    <a:latin typeface="Arial"/>
                  </a:rPr>
                  <a:t>) on </a:t>
                </a:r>
                <a:r>
                  <a:rPr lang="en-IN" sz="2400">
                    <a:solidFill>
                      <a:srgbClr val="111827"/>
                    </a:solidFill>
                    <a:latin typeface="Cambria Math" panose="02040503050406030204" pitchFamily="18" charset="0"/>
                  </a:rPr>
                  <a:t>$[a,b]$</a:t>
                </a:r>
                <a:r>
                  <a:rPr sz="2400" b="0">
                    <a:solidFill>
                      <a:srgbClr val="111827"/>
                    </a:solidFill>
                    <a:latin typeface="Arial"/>
                  </a:rPr>
                  <a:t> attains its maximum at an endpoint; a concave function attains its minimum at an endpoint.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Closed-interval method: compare the values at all critical points and at both endpoints. Here the minimum is </a:t>
                </a:r>
                <a:r>
                  <a:rPr lang="en-IN" sz="2400">
                    <a:solidFill>
                      <a:srgbClr val="111827"/>
                    </a:solidFill>
                    <a:latin typeface="Cambria Math" panose="02040503050406030204" pitchFamily="18" charset="0"/>
                  </a:rPr>
                  <a:t>$f\left(10-\frac{5}{\sqrt3}\right)=10+5\sqrt3\approx18.66$</a:t>
                </a:r>
                <a:r>
                  <a:rPr sz="2400" b="0">
                    <a:solidFill>
                      <a:srgbClr val="111827"/>
                    </a:solidFill>
                    <a:latin typeface="Arial"/>
                  </a:rPr>
                  <a:t>, the endpoint values are </a:t>
                </a:r>
                <a:r>
                  <a:rPr lang="en-IN" sz="2400">
                    <a:solidFill>
                      <a:srgbClr val="111827"/>
                    </a:solidFill>
                    <a:latin typeface="Cambria Math" panose="02040503050406030204" pitchFamily="18" charset="0"/>
                  </a:rPr>
                  <a:t>$22.36$</a:t>
                </a:r>
                <a:r>
                  <a:rPr sz="2400" b="0">
                    <a:solidFill>
                      <a:srgbClr val="111827"/>
                    </a:solidFill>
                    <a:latin typeface="Arial"/>
                  </a:rPr>
                  <a:t> and </a:t>
                </a:r>
                <a:r>
                  <a:rPr lang="en-IN" sz="2400">
                    <a:solidFill>
                      <a:srgbClr val="111827"/>
                    </a:solidFill>
                    <a:latin typeface="Cambria Math" panose="02040503050406030204" pitchFamily="18" charset="0"/>
                  </a:rPr>
                  <a:t>$20$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$x\mapsto\sqrt{c^2+(\ell-x)^2}$</a:t>
                </a:r>
                <a:r>
                  <a:rPr sz="2400" b="0">
                    <a:solidFill>
                      <a:srgbClr val="111827"/>
                    </a:solidFill>
                    <a:latin typeface="Arial"/>
                  </a:rPr>
                  <a:t> is the length of a vector depending affinely on </a:t>
                </a:r>
                <a:r>
                  <a:rPr lang="en-IN" sz="2400">
                    <a:solidFill>
                      <a:srgbClr val="111827"/>
                    </a:solidFill>
                    <a:latin typeface="Cambria Math" panose="02040503050406030204" pitchFamily="18" charset="0"/>
                  </a:rPr>
                  <a:t>$x$</a:t>
                </a:r>
                <a:r>
                  <a:rPr sz="2400" b="0">
                    <a:solidFill>
                      <a:srgbClr val="111827"/>
                    </a:solidFill>
                    <a:latin typeface="Arial"/>
                  </a:rPr>
                  <a:t>, hence convex; a sum of convex functions is convex.</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Quick sanity check of the answer: </a:t>
                </a:r>
                <a:r>
                  <a:rPr lang="en-IN" sz="2400">
                    <a:solidFill>
                      <a:srgbClr val="111827"/>
                    </a:solidFill>
                    <a:latin typeface="Cambria Math" panose="02040503050406030204" pitchFamily="18" charset="0"/>
                  </a:rPr>
                  <a:t>$f(5)=5+2\sqrt{50}\approx19.14$</a:t>
                </a:r>
                <a:r>
                  <a:rPr sz="2400" b="0">
                    <a:solidFill>
                      <a:srgbClr val="111827"/>
                    </a:solidFill>
                    <a:latin typeface="Arial"/>
                  </a:rPr>
                  <a:t>, which is smaller than both endpoint values.</a:t>
                </a:r>
                <a:endParaRPr sz="2400">
                  <a:solidFill>
                    <a:srgbClr val="111827"/>
                  </a:solidFill>
                </a:endParaRPr>
              </a:p>
            </p:txBody>
          </p:sp>
        </mc:Fallback>
      </mc:AlternateContent>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473811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Paragraph: A function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satisfies the following properties: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ub>
                    </m:sSub>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(printed 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in the paper, taken 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continuous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differentiable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b>
                    </m:sSub>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ub>
                    </m:sSub>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Now, answer the following questions: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λ</m:t>
                    </m:r>
                  </m:oMath>
                </a14:m>
                <a:r>
                  <a:rPr sz="2400" b="0">
                    <a:solidFill>
                      <a:srgbClr val="111827"/>
                    </a:solidFill>
                    <a:latin typeface="Arial"/>
                  </a:rPr>
                  <a:t> be the maximum number of solutions of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6</m:t>
                    </m:r>
                  </m:oMath>
                </a14:m>
                <a:r>
                  <a:rPr sz="2400" b="0">
                    <a:solidFill>
                      <a:srgbClr val="111827"/>
                    </a:solidFill>
                    <a:latin typeface="Arial"/>
                  </a:rPr>
                  <a:t>, then number of solutions of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endParaRPr sz="2400">
                  <a:solidFill>
                    <a:srgbClr val="111827"/>
                  </a:solidFill>
                </a:endParaRPr>
              </a:p>
            </p:txBody>
          </p:sp>
        </mc:Choice>
        <mc:Fallback>
          <p:sp>
            <p:nvSpPr>
              <p:cNvPr id="4" name="Rounded Rectangle 3"/>
              <p:cNvSpPr/>
              <p:nvPr/>
            </p:nvSpPr>
            <p:spPr>
              <a:xfrm>
                <a:off x="731520" y="1280160"/>
                <a:ext cx="10725912" cy="473811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Paragraph: A function </a:t>
                </a:r>
                <a:r>
                  <a:rPr lang="en-IN" sz="2400">
                    <a:solidFill>
                      <a:srgbClr val="111827"/>
                    </a:solidFill>
                    <a:latin typeface="Cambria Math" panose="02040503050406030204" pitchFamily="18" charset="0"/>
                  </a:rPr>
                  <a:t>$f:\mathbb{R}\to\mathbb{R}$</a:t>
                </a:r>
                <a:r>
                  <a:rPr sz="2400" b="0">
                    <a:solidFill>
                      <a:srgbClr val="111827"/>
                    </a:solidFill>
                    <a:latin typeface="Arial"/>
                  </a:rPr>
                  <a:t> satisfies the following properties: </a:t>
                </a:r>
                <a:r>
                  <a:rPr lang="en-IN" sz="2400">
                    <a:solidFill>
                      <a:srgbClr val="111827"/>
                    </a:solidFill>
                    <a:latin typeface="Cambria Math" panose="02040503050406030204" pitchFamily="18" charset="0"/>
                  </a:rPr>
                  <a:t>$f'(x)&gt;0\ \forall x\in(-\infty,-2)\cup(3,\infty)$</a:t>
                </a:r>
                <a:r>
                  <a:rPr sz="2400" b="0">
                    <a:solidFill>
                      <a:srgbClr val="111827"/>
                    </a:solidFill>
                    <a:latin typeface="Arial"/>
                  </a:rPr>
                  <a:t>, </a:t>
                </a:r>
                <a:r>
                  <a:rPr lang="en-IN" sz="2400">
                    <a:solidFill>
                      <a:srgbClr val="111827"/>
                    </a:solidFill>
                    <a:latin typeface="Cambria Math" panose="02040503050406030204" pitchFamily="18" charset="0"/>
                  </a:rPr>
                  <a:t>$f'(x)\le0\ \forall x\in(-2,3)$</a:t>
                </a:r>
                <a:r>
                  <a:rPr sz="2400" b="0">
                    <a:solidFill>
                      <a:srgbClr val="111827"/>
                    </a:solidFill>
                    <a:latin typeface="Arial"/>
                  </a:rPr>
                  <a:t>, </a:t>
                </a:r>
                <a:r>
                  <a:rPr lang="en-IN" sz="2400">
                    <a:solidFill>
                      <a:srgbClr val="111827"/>
                    </a:solidFill>
                    <a:latin typeface="Cambria Math" panose="02040503050406030204" pitchFamily="18" charset="0"/>
                  </a:rPr>
                  <a:t>$\lim_{x\to\infty}f(x)=0$</a:t>
                </a:r>
                <a:r>
                  <a:rPr sz="2400" b="0">
                    <a:solidFill>
                      <a:srgbClr val="111827"/>
                    </a:solidFill>
                    <a:latin typeface="Arial"/>
                  </a:rPr>
                  <a:t> (printed as </a:t>
                </a:r>
                <a:r>
                  <a:rPr lang="en-IN" sz="2400">
                    <a:solidFill>
                      <a:srgbClr val="111827"/>
                    </a:solidFill>
                    <a:latin typeface="Cambria Math" panose="02040503050406030204" pitchFamily="18" charset="0"/>
                  </a:rPr>
                  <a:t>$x\to2$</a:t>
                </a:r>
                <a:r>
                  <a:rPr sz="2400" b="0">
                    <a:solidFill>
                      <a:srgbClr val="111827"/>
                    </a:solidFill>
                    <a:latin typeface="Arial"/>
                  </a:rPr>
                  <a:t> in the paper, taken as </a:t>
                </a:r>
                <a:r>
                  <a:rPr lang="en-IN" sz="2400">
                    <a:solidFill>
                      <a:srgbClr val="111827"/>
                    </a:solidFill>
                    <a:latin typeface="Cambria Math" panose="02040503050406030204" pitchFamily="18" charset="0"/>
                  </a:rPr>
                  <a:t>$x\to\infty$</a:t>
                </a:r>
                <a:r>
                  <a:rPr sz="2400" b="0">
                    <a:solidFill>
                      <a:srgbClr val="111827"/>
                    </a:solidFill>
                    <a:latin typeface="Arial"/>
                  </a:rPr>
                  <a:t>); </a:t>
                </a:r>
                <a:r>
                  <a:rPr lang="en-IN" sz="2400">
                    <a:solidFill>
                      <a:srgbClr val="111827"/>
                    </a:solidFill>
                    <a:latin typeface="Cambria Math" panose="02040503050406030204" pitchFamily="18" charset="0"/>
                  </a:rPr>
                  <a:t>$f$</a:t>
                </a:r>
                <a:r>
                  <a:rPr sz="2400" b="0">
                    <a:solidFill>
                      <a:srgbClr val="111827"/>
                    </a:solidFill>
                    <a:latin typeface="Arial"/>
                  </a:rPr>
                  <a:t> is continuous </a:t>
                </a:r>
                <a:r>
                  <a:rPr lang="en-IN" sz="2400">
                    <a:solidFill>
                      <a:srgbClr val="111827"/>
                    </a:solidFill>
                    <a:latin typeface="Cambria Math" panose="02040503050406030204" pitchFamily="18" charset="0"/>
                  </a:rPr>
                  <a:t>$\forall x\in\mathbb{R}-\{3\}$</a:t>
                </a:r>
                <a:r>
                  <a:rPr sz="2400" b="0">
                    <a:solidFill>
                      <a:srgbClr val="111827"/>
                    </a:solidFill>
                    <a:latin typeface="Arial"/>
                  </a:rPr>
                  <a:t>, </a:t>
                </a:r>
                <a:r>
                  <a:rPr lang="en-IN" sz="2400">
                    <a:solidFill>
                      <a:srgbClr val="111827"/>
                    </a:solidFill>
                    <a:latin typeface="Cambria Math" panose="02040503050406030204" pitchFamily="18" charset="0"/>
                  </a:rPr>
                  <a:t>$f$</a:t>
                </a:r>
                <a:r>
                  <a:rPr sz="2400" b="0">
                    <a:solidFill>
                      <a:srgbClr val="111827"/>
                    </a:solidFill>
                    <a:latin typeface="Arial"/>
                  </a:rPr>
                  <a:t> is differentiable </a:t>
                </a:r>
                <a:r>
                  <a:rPr lang="en-IN" sz="2400">
                    <a:solidFill>
                      <a:srgbClr val="111827"/>
                    </a:solidFill>
                    <a:latin typeface="Cambria Math" panose="02040503050406030204" pitchFamily="18" charset="0"/>
                  </a:rPr>
                  <a:t>$\forall x\in\mathbb{R}-\{-2,3\}$</a:t>
                </a:r>
                <a:r>
                  <a:rPr sz="2400" b="0">
                    <a:solidFill>
                      <a:srgbClr val="111827"/>
                    </a:solidFill>
                    <a:latin typeface="Arial"/>
                  </a:rPr>
                  <a:t>, </a:t>
                </a:r>
                <a:r>
                  <a:rPr lang="en-IN" sz="2400">
                    <a:solidFill>
                      <a:srgbClr val="111827"/>
                    </a:solidFill>
                    <a:latin typeface="Cambria Math" panose="02040503050406030204" pitchFamily="18" charset="0"/>
                  </a:rPr>
                  <a:t>$\lim_{x\to3}f(x)\to-\infty$</a:t>
                </a:r>
                <a:r>
                  <a:rPr sz="2400" b="0">
                    <a:solidFill>
                      <a:srgbClr val="111827"/>
                    </a:solidFill>
                    <a:latin typeface="Arial"/>
                  </a:rPr>
                  <a:t>, </a:t>
                </a:r>
                <a:r>
                  <a:rPr lang="en-IN" sz="2400">
                    <a:solidFill>
                      <a:srgbClr val="111827"/>
                    </a:solidFill>
                    <a:latin typeface="Cambria Math" panose="02040503050406030204" pitchFamily="18" charset="0"/>
                  </a:rPr>
                  <a:t>$f''(x)&gt;0\ \forall x\in(-\infty,0)-\{-2\}$</a:t>
                </a:r>
                <a:r>
                  <a:rPr sz="2400" b="0">
                    <a:solidFill>
                      <a:srgbClr val="111827"/>
                    </a:solidFill>
                    <a:latin typeface="Arial"/>
                  </a:rPr>
                  <a:t>, </a:t>
                </a:r>
                <a:r>
                  <a:rPr lang="en-IN" sz="2400">
                    <a:solidFill>
                      <a:srgbClr val="111827"/>
                    </a:solidFill>
                    <a:latin typeface="Cambria Math" panose="02040503050406030204" pitchFamily="18" charset="0"/>
                  </a:rPr>
                  <a:t>$f''(x)&lt;0\ \forall x\in(0,\infty)-\{3\}$</a:t>
                </a:r>
                <a:r>
                  <a:rPr sz="2400" b="0">
                    <a:solidFill>
                      <a:srgbClr val="111827"/>
                    </a:solidFill>
                    <a:latin typeface="Arial"/>
                  </a:rPr>
                  <a:t>, </a:t>
                </a:r>
                <a:r>
                  <a:rPr lang="en-IN" sz="2400">
                    <a:solidFill>
                      <a:srgbClr val="111827"/>
                    </a:solidFill>
                    <a:latin typeface="Cambria Math" panose="02040503050406030204" pitchFamily="18" charset="0"/>
                  </a:rPr>
                  <a:t>$\lim_{x\to-\infty}f(x)=3$</a:t>
                </a:r>
                <a:r>
                  <a:rPr sz="2400" b="0">
                    <a:solidFill>
                      <a:srgbClr val="111827"/>
                    </a:solidFill>
                    <a:latin typeface="Arial"/>
                  </a:rPr>
                  <a:t>, and </a:t>
                </a:r>
                <a:r>
                  <a:rPr lang="en-IN" sz="2400">
                    <a:solidFill>
                      <a:srgbClr val="111827"/>
                    </a:solidFill>
                    <a:latin typeface="Cambria Math" panose="02040503050406030204" pitchFamily="18" charset="0"/>
                  </a:rPr>
                  <a:t>$f(0)=0$</a:t>
                </a:r>
                <a:r>
                  <a:rPr sz="2400" b="0">
                    <a:solidFill>
                      <a:srgbClr val="111827"/>
                    </a:solidFill>
                    <a:latin typeface="Arial"/>
                  </a:rPr>
                  <a:t>. Now, answer the following questions: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$\lambda$</a:t>
                </a:r>
                <a:r>
                  <a:rPr sz="2400" b="0">
                    <a:solidFill>
                      <a:srgbClr val="111827"/>
                    </a:solidFill>
                    <a:latin typeface="Arial"/>
                  </a:rPr>
                  <a:t> be the maximum number of solutions of </a:t>
                </a:r>
                <a:r>
                  <a:rPr lang="en-IN" sz="2400">
                    <a:solidFill>
                      <a:srgbClr val="111827"/>
                    </a:solidFill>
                    <a:latin typeface="Cambria Math" panose="02040503050406030204" pitchFamily="18" charset="0"/>
                  </a:rPr>
                  <a:t>$f(x)=|x|$</a:t>
                </a:r>
                <a:r>
                  <a:rPr sz="2400" b="0">
                    <a:solidFill>
                      <a:srgbClr val="111827"/>
                    </a:solidFill>
                    <a:latin typeface="Arial"/>
                  </a:rPr>
                  <a:t>. If </a:t>
                </a:r>
                <a:r>
                  <a:rPr lang="en-IN" sz="2400">
                    <a:solidFill>
                      <a:srgbClr val="111827"/>
                    </a:solidFill>
                    <a:latin typeface="Cambria Math" panose="02040503050406030204" pitchFamily="18" charset="0"/>
                  </a:rPr>
                  <a:t>$f'(0)&gt;-3$</a:t>
                </a:r>
                <a:r>
                  <a:rPr sz="2400" b="0">
                    <a:solidFill>
                      <a:srgbClr val="111827"/>
                    </a:solidFill>
                    <a:latin typeface="Arial"/>
                  </a:rPr>
                  <a:t> and </a:t>
                </a:r>
                <a:r>
                  <a:rPr lang="en-IN" sz="2400">
                    <a:solidFill>
                      <a:srgbClr val="111827"/>
                    </a:solidFill>
                    <a:latin typeface="Cambria Math" panose="02040503050406030204" pitchFamily="18" charset="0"/>
                  </a:rPr>
                  <a:t>$f(-2)&gt;6$</a:t>
                </a:r>
                <a:r>
                  <a:rPr sz="2400" b="0">
                    <a:solidFill>
                      <a:srgbClr val="111827"/>
                    </a:solidFill>
                    <a:latin typeface="Arial"/>
                  </a:rPr>
                  <a:t>, then number of solutions of </a:t>
                </a:r>
                <a:r>
                  <a:rPr lang="en-IN" sz="2400">
                    <a:solidFill>
                      <a:srgbClr val="111827"/>
                    </a:solidFill>
                    <a:latin typeface="Cambria Math" panose="02040503050406030204" pitchFamily="18" charset="0"/>
                  </a:rPr>
                  <a:t>$f(x)+3x=0$</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$\lambda+1$</a:t>
                </a:r>
                <a:r>
                  <a:rPr sz="2400" b="0">
                    <a:solidFill>
                      <a:srgbClr val="111827"/>
                    </a:solidFill>
                    <a:latin typeface="Arial"/>
                  </a:rPr>
                  <a:t>   (B) </a:t>
                </a:r>
                <a:r>
                  <a:rPr lang="en-IN" sz="2400">
                    <a:solidFill>
                      <a:srgbClr val="111827"/>
                    </a:solidFill>
                    <a:latin typeface="Cambria Math" panose="02040503050406030204" pitchFamily="18" charset="0"/>
                  </a:rPr>
                  <a:t>$\lambda-1$</a:t>
                </a:r>
                <a:r>
                  <a:rPr sz="2400" b="0">
                    <a:solidFill>
                      <a:srgbClr val="111827"/>
                    </a:solidFill>
                    <a:latin typeface="Arial"/>
                  </a:rPr>
                  <a:t>   (C) </a:t>
                </a:r>
                <a:r>
                  <a:rPr lang="en-IN" sz="2400">
                    <a:solidFill>
                      <a:srgbClr val="111827"/>
                    </a:solidFill>
                    <a:latin typeface="Cambria Math" panose="02040503050406030204" pitchFamily="18" charset="0"/>
                  </a:rPr>
                  <a:t>$2\lambda-1$</a:t>
                </a:r>
                <a:r>
                  <a:rPr sz="2400" b="0">
                    <a:solidFill>
                      <a:srgbClr val="111827"/>
                    </a:solidFill>
                    <a:latin typeface="Arial"/>
                  </a:rPr>
                  <a:t>   (D) </a:t>
                </a:r>
                <a:r>
                  <a:rPr lang="en-IN" sz="2400">
                    <a:solidFill>
                      <a:srgbClr val="111827"/>
                    </a:solidFill>
                    <a:latin typeface="Cambria Math" panose="02040503050406030204" pitchFamily="18" charset="0"/>
                  </a:rPr>
                  <a:t>$3\lambda-4$</a:t>
                </a:r>
                <a:endParaRPr sz="2400">
                  <a:solidFill>
                    <a:srgbClr val="111827"/>
                  </a:solidFill>
                </a:endParaRPr>
              </a:p>
            </p:txBody>
          </p:sp>
        </mc:Fallback>
      </mc:AlternateContent>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Paragraph Based Single Correct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Curve tracing from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number of roots of an equation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4(A level above Average JEE Advanced Level)</a:t>
                </a:r>
                <a:endParaRPr sz="2400">
                  <a:solidFill>
                    <a:srgbClr val="111827"/>
                  </a:solidFill>
                </a:endParaRPr>
              </a:p>
            </p:txBody>
          </p:sp>
        </mc:Choice>
        <mc:Fallback>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Paragraph Based Single Correct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Curve tracing from </a:t>
                </a:r>
                <a:r>
                  <a:rPr lang="en-IN" sz="2400">
                    <a:solidFill>
                      <a:srgbClr val="111827"/>
                    </a:solidFill>
                    <a:latin typeface="Cambria Math" panose="02040503050406030204" pitchFamily="18" charset="0"/>
                  </a:rPr>
                  <a:t>$f'$</a:t>
                </a:r>
                <a:r>
                  <a:rPr sz="2400" b="0">
                    <a:solidFill>
                      <a:srgbClr val="111827"/>
                    </a:solidFill>
                    <a:latin typeface="Arial"/>
                  </a:rPr>
                  <a:t> and </a:t>
                </a:r>
                <a:r>
                  <a:rPr lang="en-IN" sz="2400">
                    <a:solidFill>
                      <a:srgbClr val="111827"/>
                    </a:solidFill>
                    <a:latin typeface="Cambria Math" panose="02040503050406030204" pitchFamily="18" charset="0"/>
                  </a:rPr>
                  <a:t>$f''$</a:t>
                </a:r>
                <a:r>
                  <a:rPr sz="2400" b="0">
                    <a:solidFill>
                      <a:srgbClr val="111827"/>
                    </a:solidFill>
                    <a:latin typeface="Arial"/>
                  </a:rPr>
                  <a:t> and number of roots of an equation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4(A level above Average JEE Advanced Level)</a:t>
                </a:r>
                <a:endParaRPr sz="2400">
                  <a:solidFill>
                    <a:srgbClr val="111827"/>
                  </a:solidFill>
                </a:endParaRPr>
              </a:p>
            </p:txBody>
          </p:sp>
        </mc:Fallback>
      </mc:AlternateContent>
      <p:sp>
        <p:nvSpPr>
          <p:cNvPr id="5" name="Rounded Rectangle 4"/>
          <p:cNvSpPr/>
          <p:nvPr/>
        </p:nvSpPr>
        <p:spPr>
          <a:xfrm>
            <a:off x="731520" y="365760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Count the roots piece by piece: a strictly monotone piece has at most one root, a strictly convex or concave piece at most two.</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5276088"/>
                <a:ext cx="10725912" cy="1399031"/>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Reading the data. 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increases from the horizontal asymptote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3</m:t>
                    </m:r>
                  </m:oMath>
                </a14:m>
                <a:r>
                  <a:rPr sz="2400" b="0">
                    <a:solidFill>
                      <a:srgbClr val="111827"/>
                    </a:solidFill>
                    <a:latin typeface="Arial"/>
                  </a:rPr>
                  <a:t> there;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there is a corner (not differentiable)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5276088"/>
                <a:ext cx="10725912" cy="1399031"/>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Reading the data. On </a:t>
                </a:r>
                <a:r>
                  <a:rPr lang="en-IN" sz="2400">
                    <a:solidFill>
                      <a:srgbClr val="111827"/>
                    </a:solidFill>
                    <a:latin typeface="Cambria Math" panose="02040503050406030204" pitchFamily="18" charset="0"/>
                  </a:rPr>
                  <a:t>$(-\infty,-2)$</a:t>
                </a:r>
                <a:r>
                  <a:rPr sz="2400" b="0">
                    <a:solidFill>
                      <a:srgbClr val="111827"/>
                    </a:solidFill>
                    <a:latin typeface="Arial"/>
                  </a:rPr>
                  <a:t>, </a:t>
                </a:r>
                <a:r>
                  <a:rPr lang="en-IN" sz="2400">
                    <a:solidFill>
                      <a:srgbClr val="111827"/>
                    </a:solidFill>
                    <a:latin typeface="Cambria Math" panose="02040503050406030204" pitchFamily="18" charset="0"/>
                  </a:rPr>
                  <a:t>$f$</a:t>
                </a:r>
                <a:r>
                  <a:rPr sz="2400" b="0">
                    <a:solidFill>
                      <a:srgbClr val="111827"/>
                    </a:solidFill>
                    <a:latin typeface="Arial"/>
                  </a:rPr>
                  <a:t> increases from the horizontal asymptote </a:t>
                </a:r>
                <a:r>
                  <a:rPr lang="en-IN" sz="2400">
                    <a:solidFill>
                      <a:srgbClr val="111827"/>
                    </a:solidFill>
                    <a:latin typeface="Cambria Math" panose="02040503050406030204" pitchFamily="18" charset="0"/>
                  </a:rPr>
                  <a:t>$3$</a:t>
                </a:r>
                <a:r>
                  <a:rPr sz="2400" b="0">
                    <a:solidFill>
                      <a:srgbClr val="111827"/>
                    </a:solidFill>
                    <a:latin typeface="Arial"/>
                  </a:rPr>
                  <a:t>, so </a:t>
                </a:r>
                <a:r>
                  <a:rPr lang="en-IN" sz="2400">
                    <a:solidFill>
                      <a:srgbClr val="111827"/>
                    </a:solidFill>
                    <a:latin typeface="Cambria Math" panose="02040503050406030204" pitchFamily="18" charset="0"/>
                  </a:rPr>
                  <a:t>$f&gt;3$</a:t>
                </a:r>
                <a:r>
                  <a:rPr sz="2400" b="0">
                    <a:solidFill>
                      <a:srgbClr val="111827"/>
                    </a:solidFill>
                    <a:latin typeface="Arial"/>
                  </a:rPr>
                  <a:t> there; at </a:t>
                </a:r>
                <a:r>
                  <a:rPr lang="en-IN" sz="2400">
                    <a:solidFill>
                      <a:srgbClr val="111827"/>
                    </a:solidFill>
                    <a:latin typeface="Cambria Math" panose="02040503050406030204" pitchFamily="18" charset="0"/>
                  </a:rPr>
                  <a:t>$x=-2$</a:t>
                </a:r>
                <a:r>
                  <a:rPr sz="2400" b="0">
                    <a:solidFill>
                      <a:srgbClr val="111827"/>
                    </a:solidFill>
                    <a:latin typeface="Arial"/>
                  </a:rPr>
                  <a:t> there is a corner (not differentiable) and </a:t>
                </a:r>
                <a:r>
                  <a:rPr lang="en-IN" sz="2400">
                    <a:solidFill>
                      <a:srgbClr val="111827"/>
                    </a:solidFill>
                    <a:latin typeface="Cambria Math" panose="02040503050406030204" pitchFamily="18" charset="0"/>
                  </a:rPr>
                  <a:t>$f(-2)&gt;3$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decreases (strictly, since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to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increases from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to the limit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at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(increasing to the limit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Concavity: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convex 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concave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Finding </a:t>
                </a:r>
                <a14:m>
                  <m:oMath xmlns:m="http://schemas.openxmlformats.org/officeDocument/2006/math">
                    <m:r>
                      <a:rPr lang="en-IN" sz="2400" i="1">
                        <a:solidFill>
                          <a:srgbClr val="111827"/>
                        </a:solidFill>
                        <a:latin typeface="Cambria Math" panose="02040503050406030204" pitchFamily="18" charset="0"/>
                      </a:rPr>
                      <m:t>λ</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there is no solution.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 solution.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Let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there is exactly one root.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On </a:t>
                </a:r>
                <a:r>
                  <a:rPr lang="en-IN" sz="2400">
                    <a:solidFill>
                      <a:srgbClr val="111827"/>
                    </a:solidFill>
                    <a:latin typeface="Cambria Math" panose="02040503050406030204" pitchFamily="18" charset="0"/>
                  </a:rPr>
                  <a:t>$[-2,3)$</a:t>
                </a:r>
                <a:r>
                  <a:rPr sz="2400" b="0">
                    <a:solidFill>
                      <a:srgbClr val="111827"/>
                    </a:solidFill>
                    <a:latin typeface="Arial"/>
                  </a:rPr>
                  <a:t>, </a:t>
                </a:r>
                <a:r>
                  <a:rPr lang="en-IN" sz="2400">
                    <a:solidFill>
                      <a:srgbClr val="111827"/>
                    </a:solidFill>
                    <a:latin typeface="Cambria Math" panose="02040503050406030204" pitchFamily="18" charset="0"/>
                  </a:rPr>
                  <a:t>$f$</a:t>
                </a:r>
                <a:r>
                  <a:rPr sz="2400" b="0">
                    <a:solidFill>
                      <a:srgbClr val="111827"/>
                    </a:solidFill>
                    <a:latin typeface="Arial"/>
                  </a:rPr>
                  <a:t> decreases (strictly, since </a:t>
                </a:r>
                <a:r>
                  <a:rPr lang="en-IN" sz="2400">
                    <a:solidFill>
                      <a:srgbClr val="111827"/>
                    </a:solidFill>
                    <a:latin typeface="Cambria Math" panose="02040503050406030204" pitchFamily="18" charset="0"/>
                  </a:rPr>
                  <a:t>$f''\neq0$</a:t>
                </a:r>
                <a:r>
                  <a:rPr sz="2400" b="0">
                    <a:solidFill>
                      <a:srgbClr val="111827"/>
                    </a:solidFill>
                    <a:latin typeface="Arial"/>
                  </a:rPr>
                  <a:t>) to </a:t>
                </a:r>
                <a:r>
                  <a:rPr lang="en-IN" sz="2400">
                    <a:solidFill>
                      <a:srgbClr val="111827"/>
                    </a:solidFill>
                    <a:latin typeface="Cambria Math" panose="02040503050406030204" pitchFamily="18" charset="0"/>
                  </a:rPr>
                  <a:t>$-\infty$</a:t>
                </a:r>
                <a:r>
                  <a:rPr sz="2400" b="0">
                    <a:solidFill>
                      <a:srgbClr val="111827"/>
                    </a:solidFill>
                    <a:latin typeface="Arial"/>
                  </a:rPr>
                  <a:t> as </a:t>
                </a:r>
                <a:r>
                  <a:rPr lang="en-IN" sz="2400">
                    <a:solidFill>
                      <a:srgbClr val="111827"/>
                    </a:solidFill>
                    <a:latin typeface="Cambria Math" panose="02040503050406030204" pitchFamily="18" charset="0"/>
                  </a:rPr>
                  <a:t>$x\to3^-$</a:t>
                </a:r>
                <a:r>
                  <a:rPr sz="2400" b="0">
                    <a:solidFill>
                      <a:srgbClr val="111827"/>
                    </a:solidFill>
                    <a:latin typeface="Arial"/>
                  </a:rPr>
                  <a:t>. On </a:t>
                </a:r>
                <a:r>
                  <a:rPr lang="en-IN" sz="2400">
                    <a:solidFill>
                      <a:srgbClr val="111827"/>
                    </a:solidFill>
                    <a:latin typeface="Cambria Math" panose="02040503050406030204" pitchFamily="18" charset="0"/>
                  </a:rPr>
                  <a:t>$(3,\infty)$</a:t>
                </a:r>
                <a:r>
                  <a:rPr sz="2400" b="0">
                    <a:solidFill>
                      <a:srgbClr val="111827"/>
                    </a:solidFill>
                    <a:latin typeface="Arial"/>
                  </a:rPr>
                  <a:t>, </a:t>
                </a:r>
                <a:r>
                  <a:rPr lang="en-IN" sz="2400">
                    <a:solidFill>
                      <a:srgbClr val="111827"/>
                    </a:solidFill>
                    <a:latin typeface="Cambria Math" panose="02040503050406030204" pitchFamily="18" charset="0"/>
                  </a:rPr>
                  <a:t>$f$</a:t>
                </a:r>
                <a:r>
                  <a:rPr sz="2400" b="0">
                    <a:solidFill>
                      <a:srgbClr val="111827"/>
                    </a:solidFill>
                    <a:latin typeface="Arial"/>
                  </a:rPr>
                  <a:t> increases from </a:t>
                </a:r>
                <a:r>
                  <a:rPr lang="en-IN" sz="2400">
                    <a:solidFill>
                      <a:srgbClr val="111827"/>
                    </a:solidFill>
                    <a:latin typeface="Cambria Math" panose="02040503050406030204" pitchFamily="18" charset="0"/>
                  </a:rPr>
                  <a:t>$-\infty$</a:t>
                </a:r>
                <a:r>
                  <a:rPr sz="2400" b="0">
                    <a:solidFill>
                      <a:srgbClr val="111827"/>
                    </a:solidFill>
                    <a:latin typeface="Arial"/>
                  </a:rPr>
                  <a:t> to the limit </a:t>
                </a:r>
                <a:r>
                  <a:rPr lang="en-IN" sz="2400">
                    <a:solidFill>
                      <a:srgbClr val="111827"/>
                    </a:solidFill>
                    <a:latin typeface="Cambria Math" panose="02040503050406030204" pitchFamily="18" charset="0"/>
                  </a:rPr>
                  <a:t>$0$</a:t>
                </a:r>
                <a:r>
                  <a:rPr sz="2400" b="0">
                    <a:solidFill>
                      <a:srgbClr val="111827"/>
                    </a:solidFill>
                    <a:latin typeface="Arial"/>
                  </a:rPr>
                  <a:t> at </a:t>
                </a:r>
                <a:r>
                  <a:rPr lang="en-IN" sz="2400">
                    <a:solidFill>
                      <a:srgbClr val="111827"/>
                    </a:solidFill>
                    <a:latin typeface="Cambria Math" panose="02040503050406030204" pitchFamily="18" charset="0"/>
                  </a:rPr>
                  <a:t>$\infty$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$f(0)=0$</a:t>
                </a:r>
                <a:r>
                  <a:rPr sz="2400" b="0">
                    <a:solidFill>
                      <a:srgbClr val="111827"/>
                    </a:solidFill>
                    <a:latin typeface="Arial"/>
                  </a:rPr>
                  <a:t>: </a:t>
                </a:r>
                <a:r>
                  <a:rPr lang="en-IN" sz="2400">
                    <a:solidFill>
                      <a:srgbClr val="111827"/>
                    </a:solidFill>
                    <a:latin typeface="Cambria Math" panose="02040503050406030204" pitchFamily="18" charset="0"/>
                  </a:rPr>
                  <a:t>$f&gt;0$</a:t>
                </a:r>
                <a:r>
                  <a:rPr sz="2400" b="0">
                    <a:solidFill>
                      <a:srgbClr val="111827"/>
                    </a:solidFill>
                    <a:latin typeface="Arial"/>
                  </a:rPr>
                  <a:t> on </a:t>
                </a:r>
                <a:r>
                  <a:rPr lang="en-IN" sz="2400">
                    <a:solidFill>
                      <a:srgbClr val="111827"/>
                    </a:solidFill>
                    <a:latin typeface="Cambria Math" panose="02040503050406030204" pitchFamily="18" charset="0"/>
                  </a:rPr>
                  <a:t>$(-2,0)$</a:t>
                </a:r>
                <a:r>
                  <a:rPr sz="2400" b="0">
                    <a:solidFill>
                      <a:srgbClr val="111827"/>
                    </a:solidFill>
                    <a:latin typeface="Arial"/>
                  </a:rPr>
                  <a:t>, </a:t>
                </a:r>
                <a:r>
                  <a:rPr lang="en-IN" sz="2400">
                    <a:solidFill>
                      <a:srgbClr val="111827"/>
                    </a:solidFill>
                    <a:latin typeface="Cambria Math" panose="02040503050406030204" pitchFamily="18" charset="0"/>
                  </a:rPr>
                  <a:t>$f&lt;0$</a:t>
                </a:r>
                <a:r>
                  <a:rPr sz="2400" b="0">
                    <a:solidFill>
                      <a:srgbClr val="111827"/>
                    </a:solidFill>
                    <a:latin typeface="Arial"/>
                  </a:rPr>
                  <a:t> on </a:t>
                </a:r>
                <a:r>
                  <a:rPr lang="en-IN" sz="2400">
                    <a:solidFill>
                      <a:srgbClr val="111827"/>
                    </a:solidFill>
                    <a:latin typeface="Cambria Math" panose="02040503050406030204" pitchFamily="18" charset="0"/>
                  </a:rPr>
                  <a:t>$(0,3)$</a:t>
                </a:r>
                <a:r>
                  <a:rPr sz="2400" b="0">
                    <a:solidFill>
                      <a:srgbClr val="111827"/>
                    </a:solidFill>
                    <a:latin typeface="Arial"/>
                  </a:rPr>
                  <a:t> and </a:t>
                </a:r>
                <a:r>
                  <a:rPr lang="en-IN" sz="2400">
                    <a:solidFill>
                      <a:srgbClr val="111827"/>
                    </a:solidFill>
                    <a:latin typeface="Cambria Math" panose="02040503050406030204" pitchFamily="18" charset="0"/>
                  </a:rPr>
                  <a:t>$f&lt;0$</a:t>
                </a:r>
                <a:r>
                  <a:rPr sz="2400" b="0">
                    <a:solidFill>
                      <a:srgbClr val="111827"/>
                    </a:solidFill>
                    <a:latin typeface="Arial"/>
                  </a:rPr>
                  <a:t> on </a:t>
                </a:r>
                <a:r>
                  <a:rPr lang="en-IN" sz="2400">
                    <a:solidFill>
                      <a:srgbClr val="111827"/>
                    </a:solidFill>
                    <a:latin typeface="Cambria Math" panose="02040503050406030204" pitchFamily="18" charset="0"/>
                  </a:rPr>
                  <a:t>$(3,\infty)$</a:t>
                </a:r>
                <a:r>
                  <a:rPr sz="2400" b="0">
                    <a:solidFill>
                      <a:srgbClr val="111827"/>
                    </a:solidFill>
                    <a:latin typeface="Arial"/>
                  </a:rPr>
                  <a:t> (increasing to the limit </a:t>
                </a:r>
                <a:r>
                  <a:rPr lang="en-IN" sz="2400">
                    <a:solidFill>
                      <a:srgbClr val="111827"/>
                    </a:solidFill>
                    <a:latin typeface="Cambria Math" panose="02040503050406030204" pitchFamily="18" charset="0"/>
                  </a:rPr>
                  <a: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Concavity: </a:t>
                </a:r>
                <a:r>
                  <a:rPr lang="en-IN" sz="2400">
                    <a:solidFill>
                      <a:srgbClr val="111827"/>
                    </a:solidFill>
                    <a:latin typeface="Cambria Math" panose="02040503050406030204" pitchFamily="18" charset="0"/>
                  </a:rPr>
                  <a:t>$f$</a:t>
                </a:r>
                <a:r>
                  <a:rPr sz="2400" b="0">
                    <a:solidFill>
                      <a:srgbClr val="111827"/>
                    </a:solidFill>
                    <a:latin typeface="Arial"/>
                  </a:rPr>
                  <a:t> is convex on </a:t>
                </a:r>
                <a:r>
                  <a:rPr lang="en-IN" sz="2400">
                    <a:solidFill>
                      <a:srgbClr val="111827"/>
                    </a:solidFill>
                    <a:latin typeface="Cambria Math" panose="02040503050406030204" pitchFamily="18" charset="0"/>
                  </a:rPr>
                  <a:t>$(-\infty,-2)$</a:t>
                </a:r>
                <a:r>
                  <a:rPr sz="2400" b="0">
                    <a:solidFill>
                      <a:srgbClr val="111827"/>
                    </a:solidFill>
                    <a:latin typeface="Arial"/>
                  </a:rPr>
                  <a:t> and on </a:t>
                </a:r>
                <a:r>
                  <a:rPr lang="en-IN" sz="2400">
                    <a:solidFill>
                      <a:srgbClr val="111827"/>
                    </a:solidFill>
                    <a:latin typeface="Cambria Math" panose="02040503050406030204" pitchFamily="18" charset="0"/>
                  </a:rPr>
                  <a:t>$(-2,0]$</a:t>
                </a:r>
                <a:r>
                  <a:rPr sz="2400" b="0">
                    <a:solidFill>
                      <a:srgbClr val="111827"/>
                    </a:solidFill>
                    <a:latin typeface="Arial"/>
                  </a:rPr>
                  <a:t>, and concave on </a:t>
                </a:r>
                <a:r>
                  <a:rPr lang="en-IN" sz="2400">
                    <a:solidFill>
                      <a:srgbClr val="111827"/>
                    </a:solidFill>
                    <a:latin typeface="Cambria Math" panose="02040503050406030204" pitchFamily="18" charset="0"/>
                  </a:rPr>
                  <a:t>$[0,3)$</a:t>
                </a:r>
                <a:r>
                  <a:rPr sz="2400" b="0">
                    <a:solidFill>
                      <a:srgbClr val="111827"/>
                    </a:solidFill>
                    <a:latin typeface="Arial"/>
                  </a:rPr>
                  <a:t> and on </a:t>
                </a:r>
                <a:r>
                  <a:rPr lang="en-IN" sz="2400">
                    <a:solidFill>
                      <a:srgbClr val="111827"/>
                    </a:solidFill>
                    <a:latin typeface="Cambria Math" panose="02040503050406030204" pitchFamily="18" charset="0"/>
                  </a:rPr>
                  <a:t>$(3,\infty)$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Finding </a:t>
                </a:r>
                <a:r>
                  <a:rPr lang="en-IN" sz="2400">
                    <a:solidFill>
                      <a:srgbClr val="111827"/>
                    </a:solidFill>
                    <a:latin typeface="Cambria Math" panose="02040503050406030204" pitchFamily="18" charset="0"/>
                  </a:rPr>
                  <a:t>$\lambda$</a:t>
                </a:r>
                <a:r>
                  <a:rPr sz="2400" b="0">
                    <a:solidFill>
                      <a:srgbClr val="111827"/>
                    </a:solidFill>
                    <a:latin typeface="Arial"/>
                  </a:rPr>
                  <a:t>. For </a:t>
                </a:r>
                <a:r>
                  <a:rPr lang="en-IN" sz="2400">
                    <a:solidFill>
                      <a:srgbClr val="111827"/>
                    </a:solidFill>
                    <a:latin typeface="Cambria Math" panose="02040503050406030204" pitchFamily="18" charset="0"/>
                  </a:rPr>
                  <a:t>$x&gt;0$</a:t>
                </a:r>
                <a:r>
                  <a:rPr sz="2400" b="0">
                    <a:solidFill>
                      <a:srgbClr val="111827"/>
                    </a:solidFill>
                    <a:latin typeface="Arial"/>
                  </a:rPr>
                  <a:t>: </a:t>
                </a:r>
                <a:r>
                  <a:rPr lang="en-IN" sz="2400">
                    <a:solidFill>
                      <a:srgbClr val="111827"/>
                    </a:solidFill>
                    <a:latin typeface="Cambria Math" panose="02040503050406030204" pitchFamily="18" charset="0"/>
                  </a:rPr>
                  <a:t>$f(x)&lt;0&lt;|x|$</a:t>
                </a:r>
                <a:r>
                  <a:rPr sz="2400" b="0">
                    <a:solidFill>
                      <a:srgbClr val="111827"/>
                    </a:solidFill>
                    <a:latin typeface="Arial"/>
                  </a:rPr>
                  <a:t>, so there is no solution. At </a:t>
                </a:r>
                <a:r>
                  <a:rPr lang="en-IN" sz="2400">
                    <a:solidFill>
                      <a:srgbClr val="111827"/>
                    </a:solidFill>
                    <a:latin typeface="Cambria Math" panose="02040503050406030204" pitchFamily="18" charset="0"/>
                  </a:rPr>
                  <a:t>$x=0$</a:t>
                </a:r>
                <a:r>
                  <a:rPr sz="2400" b="0">
                    <a:solidFill>
                      <a:srgbClr val="111827"/>
                    </a:solidFill>
                    <a:latin typeface="Arial"/>
                  </a:rPr>
                  <a:t>: </a:t>
                </a:r>
                <a:r>
                  <a:rPr lang="en-IN" sz="2400">
                    <a:solidFill>
                      <a:srgbClr val="111827"/>
                    </a:solidFill>
                    <a:latin typeface="Cambria Math" panose="02040503050406030204" pitchFamily="18" charset="0"/>
                  </a:rPr>
                  <a:t>$f(0)=0=|0|$</a:t>
                </a:r>
                <a:r>
                  <a:rPr sz="2400" b="0">
                    <a:solidFill>
                      <a:srgbClr val="111827"/>
                    </a:solidFill>
                    <a:latin typeface="Arial"/>
                  </a:rPr>
                  <a:t>, a solution.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$x&lt;0$</a:t>
                </a:r>
                <a:r>
                  <a:rPr sz="2400" b="0">
                    <a:solidFill>
                      <a:srgbClr val="111827"/>
                    </a:solidFill>
                    <a:latin typeface="Arial"/>
                  </a:rPr>
                  <a:t>, </a:t>
                </a:r>
                <a:r>
                  <a:rPr lang="en-IN" sz="2400">
                    <a:solidFill>
                      <a:srgbClr val="111827"/>
                    </a:solidFill>
                    <a:latin typeface="Cambria Math" panose="02040503050406030204" pitchFamily="18" charset="0"/>
                  </a:rPr>
                  <a:t>$|x|=-x$</a:t>
                </a:r>
                <a:r>
                  <a:rPr sz="2400" b="0">
                    <a:solidFill>
                      <a:srgbClr val="111827"/>
                    </a:solidFill>
                    <a:latin typeface="Arial"/>
                  </a:rPr>
                  <a:t>. Let </a:t>
                </a:r>
                <a:r>
                  <a:rPr lang="en-IN" sz="2400">
                    <a:solidFill>
                      <a:srgbClr val="111827"/>
                    </a:solidFill>
                    <a:latin typeface="Cambria Math" panose="02040503050406030204" pitchFamily="18" charset="0"/>
                  </a:rPr>
                  <a:t>$g(x)=f(x)+x$</a:t>
                </a:r>
                <a:r>
                  <a:rPr sz="2400" b="0">
                    <a:solidFill>
                      <a:srgbClr val="111827"/>
                    </a:solidFill>
                    <a:latin typeface="Arial"/>
                  </a:rPr>
                  <a:t>. On </a:t>
                </a:r>
                <a:r>
                  <a:rPr lang="en-IN" sz="2400">
                    <a:solidFill>
                      <a:srgbClr val="111827"/>
                    </a:solidFill>
                    <a:latin typeface="Cambria Math" panose="02040503050406030204" pitchFamily="18" charset="0"/>
                  </a:rPr>
                  <a:t>$(-\infty,-2)$</a:t>
                </a:r>
                <a:r>
                  <a:rPr sz="2400" b="0">
                    <a:solidFill>
                      <a:srgbClr val="111827"/>
                    </a:solidFill>
                    <a:latin typeface="Arial"/>
                  </a:rPr>
                  <a:t>: </a:t>
                </a:r>
                <a:r>
                  <a:rPr lang="en-IN" sz="2400">
                    <a:solidFill>
                      <a:srgbClr val="111827"/>
                    </a:solidFill>
                    <a:latin typeface="Cambria Math" panose="02040503050406030204" pitchFamily="18" charset="0"/>
                  </a:rPr>
                  <a:t>$g'=f'+1&gt;0$</a:t>
                </a:r>
                <a:r>
                  <a:rPr sz="2400" b="0">
                    <a:solidFill>
                      <a:srgbClr val="111827"/>
                    </a:solidFill>
                    <a:latin typeface="Arial"/>
                  </a:rPr>
                  <a:t>, </a:t>
                </a:r>
                <a:r>
                  <a:rPr lang="en-IN" sz="2400">
                    <a:solidFill>
                      <a:srgbClr val="111827"/>
                    </a:solidFill>
                    <a:latin typeface="Cambria Math" panose="02040503050406030204" pitchFamily="18" charset="0"/>
                  </a:rPr>
                  <a:t>$g\to-\infty$</a:t>
                </a:r>
                <a:r>
                  <a:rPr sz="2400" b="0">
                    <a:solidFill>
                      <a:srgbClr val="111827"/>
                    </a:solidFill>
                    <a:latin typeface="Arial"/>
                  </a:rPr>
                  <a:t> as </a:t>
                </a:r>
                <a:r>
                  <a:rPr lang="en-IN" sz="2400">
                    <a:solidFill>
                      <a:srgbClr val="111827"/>
                    </a:solidFill>
                    <a:latin typeface="Cambria Math" panose="02040503050406030204" pitchFamily="18" charset="0"/>
                  </a:rPr>
                  <a:t>$x\to-\infty$</a:t>
                </a:r>
                <a:r>
                  <a:rPr sz="2400" b="0">
                    <a:solidFill>
                      <a:srgbClr val="111827"/>
                    </a:solidFill>
                    <a:latin typeface="Arial"/>
                  </a:rPr>
                  <a:t> and </a:t>
                </a:r>
                <a:r>
                  <a:rPr lang="en-IN" sz="2400">
                    <a:solidFill>
                      <a:srgbClr val="111827"/>
                    </a:solidFill>
                    <a:latin typeface="Cambria Math" panose="02040503050406030204" pitchFamily="18" charset="0"/>
                  </a:rPr>
                  <a:t>$g(-2)=f(-2)-2&gt;1&gt;0$</a:t>
                </a:r>
                <a:r>
                  <a:rPr sz="2400" b="0">
                    <a:solidFill>
                      <a:srgbClr val="111827"/>
                    </a:solidFill>
                    <a:latin typeface="Arial"/>
                  </a:rPr>
                  <a:t>, so there is exactly one root.</a:t>
                </a:r>
                <a:endParaRPr sz="2400">
                  <a:solidFill>
                    <a:srgbClr val="111827"/>
                  </a:solidFill>
                </a:endParaRPr>
              </a:p>
            </p:txBody>
          </p:sp>
        </mc:Fallback>
      </mc:AlternateContent>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is convex with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If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just left of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so there is exactly one more root in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there is none.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maximum number of solutions of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(attained when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Now let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one root, and </a:t>
                </a:r>
                <a14:m>
                  <m:oMath xmlns:m="http://schemas.openxmlformats.org/officeDocument/2006/math">
                    <m:sSup>
                      <m:e>
                        <m:r>
                          <a:rPr lang="en-IN" sz="2400" i="1">
                            <a:solidFill>
                              <a:srgbClr val="111827"/>
                            </a:solidFill>
                            <a:latin typeface="Cambria Math" panose="02040503050406030204" pitchFamily="18" charset="0"/>
                          </a:rPr>
                          <m:t>ℎ</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(given).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ℎ</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(given): exactly one root. 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ℎ</m:t>
                    </m:r>
                  </m:oMath>
                </a14:m>
                <a:r>
                  <a:rPr sz="2400" b="0">
                    <a:solidFill>
                      <a:srgbClr val="111827"/>
                    </a:solidFill>
                    <a:latin typeface="Arial"/>
                  </a:rPr>
                  <a:t> is convex,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ℎ</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just left of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exactly one root.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On </a:t>
                </a:r>
                <a:r>
                  <a:rPr lang="en-IN" sz="2400">
                    <a:solidFill>
                      <a:srgbClr val="111827"/>
                    </a:solidFill>
                    <a:latin typeface="Cambria Math" panose="02040503050406030204" pitchFamily="18" charset="0"/>
                  </a:rPr>
                  <a:t>$(-2,0)$</a:t>
                </a:r>
                <a:r>
                  <a:rPr sz="2400" b="0">
                    <a:solidFill>
                      <a:srgbClr val="111827"/>
                    </a:solidFill>
                    <a:latin typeface="Arial"/>
                  </a:rPr>
                  <a:t>: </a:t>
                </a:r>
                <a:r>
                  <a:rPr lang="en-IN" sz="2400">
                    <a:solidFill>
                      <a:srgbClr val="111827"/>
                    </a:solidFill>
                    <a:latin typeface="Cambria Math" panose="02040503050406030204" pitchFamily="18" charset="0"/>
                  </a:rPr>
                  <a:t>$g$</a:t>
                </a:r>
                <a:r>
                  <a:rPr sz="2400" b="0">
                    <a:solidFill>
                      <a:srgbClr val="111827"/>
                    </a:solidFill>
                    <a:latin typeface="Arial"/>
                  </a:rPr>
                  <a:t> is convex with </a:t>
                </a:r>
                <a:r>
                  <a:rPr lang="en-IN" sz="2400">
                    <a:solidFill>
                      <a:srgbClr val="111827"/>
                    </a:solidFill>
                    <a:latin typeface="Cambria Math" panose="02040503050406030204" pitchFamily="18" charset="0"/>
                  </a:rPr>
                  <a:t>$g(-2)&gt;0$</a:t>
                </a:r>
                <a:r>
                  <a:rPr sz="2400" b="0">
                    <a:solidFill>
                      <a:srgbClr val="111827"/>
                    </a:solidFill>
                    <a:latin typeface="Arial"/>
                  </a:rPr>
                  <a:t> and </a:t>
                </a:r>
                <a:r>
                  <a:rPr lang="en-IN" sz="2400">
                    <a:solidFill>
                      <a:srgbClr val="111827"/>
                    </a:solidFill>
                    <a:latin typeface="Cambria Math" panose="02040503050406030204" pitchFamily="18" charset="0"/>
                  </a:rPr>
                  <a:t>$g(0)=0$</a:t>
                </a:r>
                <a:r>
                  <a:rPr sz="2400" b="0">
                    <a:solidFill>
                      <a:srgbClr val="111827"/>
                    </a:solidFill>
                    <a:latin typeface="Arial"/>
                  </a:rPr>
                  <a:t>. If </a:t>
                </a:r>
                <a:r>
                  <a:rPr lang="en-IN" sz="2400">
                    <a:solidFill>
                      <a:srgbClr val="111827"/>
                    </a:solidFill>
                    <a:latin typeface="Cambria Math" panose="02040503050406030204" pitchFamily="18" charset="0"/>
                  </a:rPr>
                  <a:t>$g'(0)=f'(0)+1&gt;0$</a:t>
                </a:r>
                <a:r>
                  <a:rPr sz="2400" b="0">
                    <a:solidFill>
                      <a:srgbClr val="111827"/>
                    </a:solidFill>
                    <a:latin typeface="Arial"/>
                  </a:rPr>
                  <a:t>, then </a:t>
                </a:r>
                <a:r>
                  <a:rPr lang="en-IN" sz="2400">
                    <a:solidFill>
                      <a:srgbClr val="111827"/>
                    </a:solidFill>
                    <a:latin typeface="Cambria Math" panose="02040503050406030204" pitchFamily="18" charset="0"/>
                  </a:rPr>
                  <a:t>$g&lt;0$</a:t>
                </a:r>
                <a:r>
                  <a:rPr sz="2400" b="0">
                    <a:solidFill>
                      <a:srgbClr val="111827"/>
                    </a:solidFill>
                    <a:latin typeface="Arial"/>
                  </a:rPr>
                  <a:t> just left of </a:t>
                </a:r>
                <a:r>
                  <a:rPr lang="en-IN" sz="2400">
                    <a:solidFill>
                      <a:srgbClr val="111827"/>
                    </a:solidFill>
                    <a:latin typeface="Cambria Math" panose="02040503050406030204" pitchFamily="18" charset="0"/>
                  </a:rPr>
                  <a:t>$0$</a:t>
                </a:r>
                <a:r>
                  <a:rPr sz="2400" b="0">
                    <a:solidFill>
                      <a:srgbClr val="111827"/>
                    </a:solidFill>
                    <a:latin typeface="Arial"/>
                  </a:rPr>
                  <a:t>, so there is exactly one more root in </a:t>
                </a:r>
                <a:r>
                  <a:rPr lang="en-IN" sz="2400">
                    <a:solidFill>
                      <a:srgbClr val="111827"/>
                    </a:solidFill>
                    <a:latin typeface="Cambria Math" panose="02040503050406030204" pitchFamily="18" charset="0"/>
                  </a:rPr>
                  <a:t>$(-2,0)$</a:t>
                </a:r>
                <a:r>
                  <a:rPr sz="2400" b="0">
                    <a:solidFill>
                      <a:srgbClr val="111827"/>
                    </a:solidFill>
                    <a:latin typeface="Arial"/>
                  </a:rPr>
                  <a:t>. If </a:t>
                </a:r>
                <a:r>
                  <a:rPr lang="en-IN" sz="2400">
                    <a:solidFill>
                      <a:srgbClr val="111827"/>
                    </a:solidFill>
                    <a:latin typeface="Cambria Math" panose="02040503050406030204" pitchFamily="18" charset="0"/>
                  </a:rPr>
                  <a:t>$f'(0)\le-1$</a:t>
                </a:r>
                <a:r>
                  <a:rPr sz="2400" b="0">
                    <a:solidFill>
                      <a:srgbClr val="111827"/>
                    </a:solidFill>
                    <a:latin typeface="Arial"/>
                  </a:rPr>
                  <a:t> there is none.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maximum number of solutions of </a:t>
                </a:r>
                <a:r>
                  <a:rPr lang="en-IN" sz="2400">
                    <a:solidFill>
                      <a:srgbClr val="111827"/>
                    </a:solidFill>
                    <a:latin typeface="Cambria Math" panose="02040503050406030204" pitchFamily="18" charset="0"/>
                  </a:rPr>
                  <a:t>$f(x)=|x|$</a:t>
                </a:r>
                <a:r>
                  <a:rPr sz="2400" b="0">
                    <a:solidFill>
                      <a:srgbClr val="111827"/>
                    </a:solidFill>
                    <a:latin typeface="Arial"/>
                  </a:rPr>
                  <a:t> is </a:t>
                </a:r>
                <a:r>
                  <a:rPr lang="en-IN" sz="2400">
                    <a:solidFill>
                      <a:srgbClr val="111827"/>
                    </a:solidFill>
                    <a:latin typeface="Cambria Math" panose="02040503050406030204" pitchFamily="18" charset="0"/>
                  </a:rPr>
                  <a:t>$1+1+1=3$</a:t>
                </a:r>
                <a:r>
                  <a:rPr sz="2400" b="0">
                    <a:solidFill>
                      <a:srgbClr val="111827"/>
                    </a:solidFill>
                    <a:latin typeface="Arial"/>
                  </a:rPr>
                  <a:t> (attained when </a:t>
                </a:r>
                <a:r>
                  <a:rPr lang="en-IN" sz="2400">
                    <a:solidFill>
                      <a:srgbClr val="111827"/>
                    </a:solidFill>
                    <a:latin typeface="Cambria Math" panose="02040503050406030204" pitchFamily="18" charset="0"/>
                  </a:rPr>
                  <a:t>$f'(0)&gt;-1$</a:t>
                </a:r>
                <a:r>
                  <a:rPr sz="2400" b="0">
                    <a:solidFill>
                      <a:srgbClr val="111827"/>
                    </a:solidFill>
                    <a:latin typeface="Arial"/>
                  </a:rPr>
                  <a:t>): </a:t>
                </a:r>
                <a:r>
                  <a:rPr lang="en-IN" sz="2400">
                    <a:solidFill>
                      <a:srgbClr val="111827"/>
                    </a:solidFill>
                    <a:latin typeface="Cambria Math" panose="02040503050406030204" pitchFamily="18" charset="0"/>
                  </a:rPr>
                  <a:t>$\lambda=3$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Now let </a:t>
                </a:r>
                <a:r>
                  <a:rPr lang="en-IN" sz="2400">
                    <a:solidFill>
                      <a:srgbClr val="111827"/>
                    </a:solidFill>
                    <a:latin typeface="Cambria Math" panose="02040503050406030204" pitchFamily="18" charset="0"/>
                  </a:rPr>
                  <a:t>$h(x)=f(x)+3x$</a:t>
                </a:r>
                <a:r>
                  <a:rPr sz="2400" b="0">
                    <a:solidFill>
                      <a:srgbClr val="111827"/>
                    </a:solidFill>
                    <a:latin typeface="Arial"/>
                  </a:rPr>
                  <a:t>. </a:t>
                </a:r>
                <a:r>
                  <a:rPr lang="en-IN" sz="2400">
                    <a:solidFill>
                      <a:srgbClr val="111827"/>
                    </a:solidFill>
                    <a:latin typeface="Cambria Math" panose="02040503050406030204" pitchFamily="18" charset="0"/>
                  </a:rPr>
                  <a:t>$h(0)=0$</a:t>
                </a:r>
                <a:r>
                  <a:rPr sz="2400" b="0">
                    <a:solidFill>
                      <a:srgbClr val="111827"/>
                    </a:solidFill>
                    <a:latin typeface="Arial"/>
                  </a:rPr>
                  <a:t> is one root, and </a:t>
                </a:r>
                <a:r>
                  <a:rPr lang="en-IN" sz="2400">
                    <a:solidFill>
                      <a:srgbClr val="111827"/>
                    </a:solidFill>
                    <a:latin typeface="Cambria Math" panose="02040503050406030204" pitchFamily="18" charset="0"/>
                  </a:rPr>
                  <a:t>$h'(0)=f'(0)+3&gt;0$</a:t>
                </a:r>
                <a:r>
                  <a:rPr sz="2400" b="0">
                    <a:solidFill>
                      <a:srgbClr val="111827"/>
                    </a:solidFill>
                    <a:latin typeface="Arial"/>
                  </a:rPr>
                  <a:t> (given).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 </a:t>
                </a:r>
                <a:r>
                  <a:rPr lang="en-IN" sz="2400">
                    <a:solidFill>
                      <a:srgbClr val="111827"/>
                    </a:solidFill>
                    <a:latin typeface="Cambria Math" panose="02040503050406030204" pitchFamily="18" charset="0"/>
                  </a:rPr>
                  <a:t>$(-\infty,-2)$</a:t>
                </a:r>
                <a:r>
                  <a:rPr sz="2400" b="0">
                    <a:solidFill>
                      <a:srgbClr val="111827"/>
                    </a:solidFill>
                    <a:latin typeface="Arial"/>
                  </a:rPr>
                  <a:t>: </a:t>
                </a:r>
                <a:r>
                  <a:rPr lang="en-IN" sz="2400">
                    <a:solidFill>
                      <a:srgbClr val="111827"/>
                    </a:solidFill>
                    <a:latin typeface="Cambria Math" panose="02040503050406030204" pitchFamily="18" charset="0"/>
                  </a:rPr>
                  <a:t>$h'=f'+3&gt;0$</a:t>
                </a:r>
                <a:r>
                  <a:rPr sz="2400" b="0">
                    <a:solidFill>
                      <a:srgbClr val="111827"/>
                    </a:solidFill>
                    <a:latin typeface="Arial"/>
                  </a:rPr>
                  <a:t>, </a:t>
                </a:r>
                <a:r>
                  <a:rPr lang="en-IN" sz="2400">
                    <a:solidFill>
                      <a:srgbClr val="111827"/>
                    </a:solidFill>
                    <a:latin typeface="Cambria Math" panose="02040503050406030204" pitchFamily="18" charset="0"/>
                  </a:rPr>
                  <a:t>$h\to-\infty$</a:t>
                </a:r>
                <a:r>
                  <a:rPr sz="2400" b="0">
                    <a:solidFill>
                      <a:srgbClr val="111827"/>
                    </a:solidFill>
                    <a:latin typeface="Arial"/>
                  </a:rPr>
                  <a:t> as </a:t>
                </a:r>
                <a:r>
                  <a:rPr lang="en-IN" sz="2400">
                    <a:solidFill>
                      <a:srgbClr val="111827"/>
                    </a:solidFill>
                    <a:latin typeface="Cambria Math" panose="02040503050406030204" pitchFamily="18" charset="0"/>
                  </a:rPr>
                  <a:t>$x\to-\infty$</a:t>
                </a:r>
                <a:r>
                  <a:rPr sz="2400" b="0">
                    <a:solidFill>
                      <a:srgbClr val="111827"/>
                    </a:solidFill>
                    <a:latin typeface="Arial"/>
                  </a:rPr>
                  <a:t> and </a:t>
                </a:r>
                <a:r>
                  <a:rPr lang="en-IN" sz="2400">
                    <a:solidFill>
                      <a:srgbClr val="111827"/>
                    </a:solidFill>
                    <a:latin typeface="Cambria Math" panose="02040503050406030204" pitchFamily="18" charset="0"/>
                  </a:rPr>
                  <a:t>$h(-2)=f(-2)-6&gt;0$</a:t>
                </a:r>
                <a:r>
                  <a:rPr sz="2400" b="0">
                    <a:solidFill>
                      <a:srgbClr val="111827"/>
                    </a:solidFill>
                    <a:latin typeface="Arial"/>
                  </a:rPr>
                  <a:t> (given): exactly one root. On </a:t>
                </a:r>
                <a:r>
                  <a:rPr lang="en-IN" sz="2400">
                    <a:solidFill>
                      <a:srgbClr val="111827"/>
                    </a:solidFill>
                    <a:latin typeface="Cambria Math" panose="02040503050406030204" pitchFamily="18" charset="0"/>
                  </a:rPr>
                  <a:t>$(-2,0)$</a:t>
                </a:r>
                <a:r>
                  <a:rPr sz="2400" b="0">
                    <a:solidFill>
                      <a:srgbClr val="111827"/>
                    </a:solidFill>
                    <a:latin typeface="Arial"/>
                  </a:rPr>
                  <a:t>: </a:t>
                </a:r>
                <a:r>
                  <a:rPr lang="en-IN" sz="2400">
                    <a:solidFill>
                      <a:srgbClr val="111827"/>
                    </a:solidFill>
                    <a:latin typeface="Cambria Math" panose="02040503050406030204" pitchFamily="18" charset="0"/>
                  </a:rPr>
                  <a:t>$h$</a:t>
                </a:r>
                <a:r>
                  <a:rPr sz="2400" b="0">
                    <a:solidFill>
                      <a:srgbClr val="111827"/>
                    </a:solidFill>
                    <a:latin typeface="Arial"/>
                  </a:rPr>
                  <a:t> is convex, </a:t>
                </a:r>
                <a:r>
                  <a:rPr lang="en-IN" sz="2400">
                    <a:solidFill>
                      <a:srgbClr val="111827"/>
                    </a:solidFill>
                    <a:latin typeface="Cambria Math" panose="02040503050406030204" pitchFamily="18" charset="0"/>
                  </a:rPr>
                  <a:t>$h(-2)&gt;0$</a:t>
                </a:r>
                <a:r>
                  <a:rPr sz="2400" b="0">
                    <a:solidFill>
                      <a:srgbClr val="111827"/>
                    </a:solidFill>
                    <a:latin typeface="Arial"/>
                  </a:rPr>
                  <a:t>, </a:t>
                </a:r>
                <a:r>
                  <a:rPr lang="en-IN" sz="2400">
                    <a:solidFill>
                      <a:srgbClr val="111827"/>
                    </a:solidFill>
                    <a:latin typeface="Cambria Math" panose="02040503050406030204" pitchFamily="18" charset="0"/>
                  </a:rPr>
                  <a:t>$h(0)=0$</a:t>
                </a:r>
                <a:r>
                  <a:rPr sz="2400" b="0">
                    <a:solidFill>
                      <a:srgbClr val="111827"/>
                    </a:solidFill>
                    <a:latin typeface="Arial"/>
                  </a:rPr>
                  <a:t>, </a:t>
                </a:r>
                <a:r>
                  <a:rPr lang="en-IN" sz="2400">
                    <a:solidFill>
                      <a:srgbClr val="111827"/>
                    </a:solidFill>
                    <a:latin typeface="Cambria Math" panose="02040503050406030204" pitchFamily="18" charset="0"/>
                  </a:rPr>
                  <a:t>$h'(0)&gt;0$</a:t>
                </a:r>
                <a:r>
                  <a:rPr sz="2400" b="0">
                    <a:solidFill>
                      <a:srgbClr val="111827"/>
                    </a:solidFill>
                    <a:latin typeface="Arial"/>
                  </a:rPr>
                  <a:t> so </a:t>
                </a:r>
                <a:r>
                  <a:rPr lang="en-IN" sz="2400">
                    <a:solidFill>
                      <a:srgbClr val="111827"/>
                    </a:solidFill>
                    <a:latin typeface="Cambria Math" panose="02040503050406030204" pitchFamily="18" charset="0"/>
                  </a:rPr>
                  <a:t>$h&lt;0$</a:t>
                </a:r>
                <a:r>
                  <a:rPr sz="2400" b="0">
                    <a:solidFill>
                      <a:srgbClr val="111827"/>
                    </a:solidFill>
                    <a:latin typeface="Arial"/>
                  </a:rPr>
                  <a:t> just left of </a:t>
                </a:r>
                <a:r>
                  <a:rPr lang="en-IN" sz="2400">
                    <a:solidFill>
                      <a:srgbClr val="111827"/>
                    </a:solidFill>
                    <a:latin typeface="Cambria Math" panose="02040503050406030204" pitchFamily="18" charset="0"/>
                  </a:rPr>
                  <a:t>$0$</a:t>
                </a:r>
                <a:r>
                  <a:rPr sz="2400" b="0">
                    <a:solidFill>
                      <a:srgbClr val="111827"/>
                    </a:solidFill>
                    <a:latin typeface="Arial"/>
                  </a:rPr>
                  <a:t>: exactly one root.</a:t>
                </a:r>
                <a:endParaRPr sz="2400">
                  <a:solidFill>
                    <a:srgbClr val="111827"/>
                  </a:solidFill>
                </a:endParaRPr>
              </a:p>
            </p:txBody>
          </p:sp>
        </mc:Fallback>
      </mc:AlternateContent>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ℎ</m:t>
                    </m:r>
                  </m:oMath>
                </a14:m>
                <a:r>
                  <a:rPr sz="2400" b="0">
                    <a:solidFill>
                      <a:srgbClr val="111827"/>
                    </a:solidFill>
                    <a:latin typeface="Arial"/>
                  </a:rPr>
                  <a:t> is concave,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ℎ</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just right of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exactly one root.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ℎ</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exactly one root.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number of solutions of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the answer is (C). (The PDF key (A),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does not match this count.)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On </a:t>
                </a:r>
                <a:r>
                  <a:rPr lang="en-IN" sz="2400">
                    <a:solidFill>
                      <a:srgbClr val="111827"/>
                    </a:solidFill>
                    <a:latin typeface="Cambria Math" panose="02040503050406030204" pitchFamily="18" charset="0"/>
                  </a:rPr>
                  <a:t>$(0,3)$</a:t>
                </a:r>
                <a:r>
                  <a:rPr sz="2400" b="0">
                    <a:solidFill>
                      <a:srgbClr val="111827"/>
                    </a:solidFill>
                    <a:latin typeface="Arial"/>
                  </a:rPr>
                  <a:t>: </a:t>
                </a:r>
                <a:r>
                  <a:rPr lang="en-IN" sz="2400">
                    <a:solidFill>
                      <a:srgbClr val="111827"/>
                    </a:solidFill>
                    <a:latin typeface="Cambria Math" panose="02040503050406030204" pitchFamily="18" charset="0"/>
                  </a:rPr>
                  <a:t>$h$</a:t>
                </a:r>
                <a:r>
                  <a:rPr sz="2400" b="0">
                    <a:solidFill>
                      <a:srgbClr val="111827"/>
                    </a:solidFill>
                    <a:latin typeface="Arial"/>
                  </a:rPr>
                  <a:t> is concave, </a:t>
                </a:r>
                <a:r>
                  <a:rPr lang="en-IN" sz="2400">
                    <a:solidFill>
                      <a:srgbClr val="111827"/>
                    </a:solidFill>
                    <a:latin typeface="Cambria Math" panose="02040503050406030204" pitchFamily="18" charset="0"/>
                  </a:rPr>
                  <a:t>$h(0)=0$</a:t>
                </a:r>
                <a:r>
                  <a:rPr sz="2400" b="0">
                    <a:solidFill>
                      <a:srgbClr val="111827"/>
                    </a:solidFill>
                    <a:latin typeface="Arial"/>
                  </a:rPr>
                  <a:t>, </a:t>
                </a:r>
                <a:r>
                  <a:rPr lang="en-IN" sz="2400">
                    <a:solidFill>
                      <a:srgbClr val="111827"/>
                    </a:solidFill>
                    <a:latin typeface="Cambria Math" panose="02040503050406030204" pitchFamily="18" charset="0"/>
                  </a:rPr>
                  <a:t>$h'(0)&gt;0$</a:t>
                </a:r>
                <a:r>
                  <a:rPr sz="2400" b="0">
                    <a:solidFill>
                      <a:srgbClr val="111827"/>
                    </a:solidFill>
                    <a:latin typeface="Arial"/>
                  </a:rPr>
                  <a:t> so </a:t>
                </a:r>
                <a:r>
                  <a:rPr lang="en-IN" sz="2400">
                    <a:solidFill>
                      <a:srgbClr val="111827"/>
                    </a:solidFill>
                    <a:latin typeface="Cambria Math" panose="02040503050406030204" pitchFamily="18" charset="0"/>
                  </a:rPr>
                  <a:t>$h&gt;0$</a:t>
                </a:r>
                <a:r>
                  <a:rPr sz="2400" b="0">
                    <a:solidFill>
                      <a:srgbClr val="111827"/>
                    </a:solidFill>
                    <a:latin typeface="Arial"/>
                  </a:rPr>
                  <a:t> just right of </a:t>
                </a:r>
                <a:r>
                  <a:rPr lang="en-IN" sz="2400">
                    <a:solidFill>
                      <a:srgbClr val="111827"/>
                    </a:solidFill>
                    <a:latin typeface="Cambria Math" panose="02040503050406030204" pitchFamily="18" charset="0"/>
                  </a:rPr>
                  <a:t>$0$</a:t>
                </a:r>
                <a:r>
                  <a:rPr sz="2400" b="0">
                    <a:solidFill>
                      <a:srgbClr val="111827"/>
                    </a:solidFill>
                    <a:latin typeface="Arial"/>
                  </a:rPr>
                  <a:t>, and </a:t>
                </a:r>
                <a:r>
                  <a:rPr lang="en-IN" sz="2400">
                    <a:solidFill>
                      <a:srgbClr val="111827"/>
                    </a:solidFill>
                    <a:latin typeface="Cambria Math" panose="02040503050406030204" pitchFamily="18" charset="0"/>
                  </a:rPr>
                  <a:t>$h\to-\infty$</a:t>
                </a:r>
                <a:r>
                  <a:rPr sz="2400" b="0">
                    <a:solidFill>
                      <a:srgbClr val="111827"/>
                    </a:solidFill>
                    <a:latin typeface="Arial"/>
                  </a:rPr>
                  <a:t> as </a:t>
                </a:r>
                <a:r>
                  <a:rPr lang="en-IN" sz="2400">
                    <a:solidFill>
                      <a:srgbClr val="111827"/>
                    </a:solidFill>
                    <a:latin typeface="Cambria Math" panose="02040503050406030204" pitchFamily="18" charset="0"/>
                  </a:rPr>
                  <a:t>$x\to3^-$</a:t>
                </a:r>
                <a:r>
                  <a:rPr sz="2400" b="0">
                    <a:solidFill>
                      <a:srgbClr val="111827"/>
                    </a:solidFill>
                    <a:latin typeface="Arial"/>
                  </a:rPr>
                  <a:t>: exactly one root. On </a:t>
                </a:r>
                <a:r>
                  <a:rPr lang="en-IN" sz="2400">
                    <a:solidFill>
                      <a:srgbClr val="111827"/>
                    </a:solidFill>
                    <a:latin typeface="Cambria Math" panose="02040503050406030204" pitchFamily="18" charset="0"/>
                  </a:rPr>
                  <a:t>$(3,\infty)$</a:t>
                </a:r>
                <a:r>
                  <a:rPr sz="2400" b="0">
                    <a:solidFill>
                      <a:srgbClr val="111827"/>
                    </a:solidFill>
                    <a:latin typeface="Arial"/>
                  </a:rPr>
                  <a:t>: </a:t>
                </a:r>
                <a:r>
                  <a:rPr lang="en-IN" sz="2400">
                    <a:solidFill>
                      <a:srgbClr val="111827"/>
                    </a:solidFill>
                    <a:latin typeface="Cambria Math" panose="02040503050406030204" pitchFamily="18" charset="0"/>
                  </a:rPr>
                  <a:t>$h'=f'+3&gt;0$</a:t>
                </a:r>
                <a:r>
                  <a:rPr sz="2400" b="0">
                    <a:solidFill>
                      <a:srgbClr val="111827"/>
                    </a:solidFill>
                    <a:latin typeface="Arial"/>
                  </a:rPr>
                  <a:t>, </a:t>
                </a:r>
                <a:r>
                  <a:rPr lang="en-IN" sz="2400">
                    <a:solidFill>
                      <a:srgbClr val="111827"/>
                    </a:solidFill>
                    <a:latin typeface="Cambria Math" panose="02040503050406030204" pitchFamily="18" charset="0"/>
                  </a:rPr>
                  <a:t>$h\to-\infty$</a:t>
                </a:r>
                <a:r>
                  <a:rPr sz="2400" b="0">
                    <a:solidFill>
                      <a:srgbClr val="111827"/>
                    </a:solidFill>
                    <a:latin typeface="Arial"/>
                  </a:rPr>
                  <a:t> as </a:t>
                </a:r>
                <a:r>
                  <a:rPr lang="en-IN" sz="2400">
                    <a:solidFill>
                      <a:srgbClr val="111827"/>
                    </a:solidFill>
                    <a:latin typeface="Cambria Math" panose="02040503050406030204" pitchFamily="18" charset="0"/>
                  </a:rPr>
                  <a:t>$x\to3^+$</a:t>
                </a:r>
                <a:r>
                  <a:rPr sz="2400" b="0">
                    <a:solidFill>
                      <a:srgbClr val="111827"/>
                    </a:solidFill>
                    <a:latin typeface="Arial"/>
                  </a:rPr>
                  <a:t> and </a:t>
                </a:r>
                <a:r>
                  <a:rPr lang="en-IN" sz="2400">
                    <a:solidFill>
                      <a:srgbClr val="111827"/>
                    </a:solidFill>
                    <a:latin typeface="Cambria Math" panose="02040503050406030204" pitchFamily="18" charset="0"/>
                  </a:rPr>
                  <a:t>$h\to+\infty$</a:t>
                </a:r>
                <a:r>
                  <a:rPr sz="2400" b="0">
                    <a:solidFill>
                      <a:srgbClr val="111827"/>
                    </a:solidFill>
                    <a:latin typeface="Arial"/>
                  </a:rPr>
                  <a:t> as </a:t>
                </a:r>
                <a:r>
                  <a:rPr lang="en-IN" sz="2400">
                    <a:solidFill>
                      <a:srgbClr val="111827"/>
                    </a:solidFill>
                    <a:latin typeface="Cambria Math" panose="02040503050406030204" pitchFamily="18" charset="0"/>
                  </a:rPr>
                  <a:t>$x\to\infty$</a:t>
                </a:r>
                <a:r>
                  <a:rPr sz="2400" b="0">
                    <a:solidFill>
                      <a:srgbClr val="111827"/>
                    </a:solidFill>
                    <a:latin typeface="Arial"/>
                  </a:rPr>
                  <a:t>: exactly one root.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number of solutions of </a:t>
                </a:r>
                <a:r>
                  <a:rPr lang="en-IN" sz="2400">
                    <a:solidFill>
                      <a:srgbClr val="111827"/>
                    </a:solidFill>
                    <a:latin typeface="Cambria Math" panose="02040503050406030204" pitchFamily="18" charset="0"/>
                  </a:rPr>
                  <a:t>$f(x)+3x=0$</a:t>
                </a:r>
                <a:r>
                  <a:rPr sz="2400" b="0">
                    <a:solidFill>
                      <a:srgbClr val="111827"/>
                    </a:solidFill>
                    <a:latin typeface="Arial"/>
                  </a:rPr>
                  <a:t> is </a:t>
                </a:r>
                <a:r>
                  <a:rPr lang="en-IN" sz="2400">
                    <a:solidFill>
                      <a:srgbClr val="111827"/>
                    </a:solidFill>
                    <a:latin typeface="Cambria Math" panose="02040503050406030204" pitchFamily="18" charset="0"/>
                  </a:rPr>
                  <a:t>$1+1+1+1+1=5=2\lambda-1$</a:t>
                </a:r>
                <a:r>
                  <a:rPr sz="2400" b="0">
                    <a:solidFill>
                      <a:srgbClr val="111827"/>
                    </a:solidFill>
                    <a:latin typeface="Arial"/>
                  </a:rPr>
                  <a:t>. So the answer is (C). (The PDF key (A), </a:t>
                </a:r>
                <a:r>
                  <a:rPr lang="en-IN" sz="2400">
                    <a:solidFill>
                      <a:srgbClr val="111827"/>
                    </a:solidFill>
                    <a:latin typeface="Cambria Math" panose="02040503050406030204" pitchFamily="18" charset="0"/>
                  </a:rPr>
                  <a:t>$\lambda+1=4$</a:t>
                </a:r>
                <a:r>
                  <a:rPr sz="2400" b="0">
                    <a:solidFill>
                      <a:srgbClr val="111827"/>
                    </a:solidFill>
                    <a:latin typeface="Arial"/>
                  </a:rPr>
                  <a:t>, does not match this count.)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r>
                      <a:rPr lang="en-IN" sz="2800" i="1">
                        <a:solidFill>
                          <a:srgbClr val="15803D"/>
                        </a:solidFill>
                        <a:latin typeface="Cambria Math" panose="02040503050406030204" pitchFamily="18" charset="0"/>
                      </a:rPr>
                      <m:t>2</m:t>
                    </m:r>
                    <m:r>
                      <a:rPr lang="en-IN" sz="2800" i="1">
                        <a:solidFill>
                          <a:srgbClr val="15803D"/>
                        </a:solidFill>
                        <a:latin typeface="Cambria Math" panose="02040503050406030204" pitchFamily="18" charset="0"/>
                      </a:rPr>
                      <m:t>λ</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$2\lambda-1$</a:t>
                </a:r>
                <a:endParaRPr sz="2800">
                  <a:solidFill>
                    <a:srgbClr val="15803D"/>
                  </a:solidFill>
                </a:endParaRPr>
              </a:p>
            </p:txBody>
          </p:sp>
        </mc:Fallback>
      </mc:AlternateContent>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Root counting by pieces: on an interval where </a:t>
                </a:r>
                <a14:m>
                  <m:oMath xmlns:m="http://schemas.openxmlformats.org/officeDocument/2006/math">
                    <m:r>
                      <a:rPr lang="en-IN" sz="2400" i="1">
                        <a:solidFill>
                          <a:srgbClr val="111827"/>
                        </a:solidFill>
                        <a:latin typeface="Cambria Math" panose="02040503050406030204" pitchFamily="18" charset="0"/>
                      </a:rPr>
                      <m:t>ℎ</m:t>
                    </m:r>
                  </m:oMath>
                </a14:m>
                <a:r>
                  <a:rPr sz="2400" b="0">
                    <a:solidFill>
                      <a:srgbClr val="111827"/>
                    </a:solidFill>
                    <a:latin typeface="Arial"/>
                  </a:rPr>
                  <a:t> is strictly monotone there is at most one root; where </a:t>
                </a:r>
                <a14:m>
                  <m:oMath xmlns:m="http://schemas.openxmlformats.org/officeDocument/2006/math">
                    <m:sSup>
                      <m:e>
                        <m:r>
                          <a:rPr lang="en-IN" sz="2400" i="1">
                            <a:solidFill>
                              <a:srgbClr val="111827"/>
                            </a:solidFill>
                            <a:latin typeface="Cambria Math" panose="02040503050406030204" pitchFamily="18" charset="0"/>
                          </a:rPr>
                          <m:t>ℎ</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keeps one sign there are at most two. The intermediate value theorem plus end signs then fixes the exact number.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Equations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𝑥</m:t>
                    </m:r>
                  </m:oMath>
                </a14:m>
                <a:r>
                  <a:rPr sz="2400" b="0">
                    <a:solidFill>
                      <a:srgbClr val="111827"/>
                    </a:solidFill>
                    <a:latin typeface="Arial"/>
                  </a:rPr>
                  <a:t> always have the root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when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Compare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the slope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to see on which side of the line the graph lies just to the left and right of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Root counting by pieces: on an interval where </a:t>
                </a:r>
                <a:r>
                  <a:rPr lang="en-IN" sz="2400">
                    <a:solidFill>
                      <a:srgbClr val="111827"/>
                    </a:solidFill>
                    <a:latin typeface="Cambria Math" panose="02040503050406030204" pitchFamily="18" charset="0"/>
                  </a:rPr>
                  <a:t>$h$</a:t>
                </a:r>
                <a:r>
                  <a:rPr sz="2400" b="0">
                    <a:solidFill>
                      <a:srgbClr val="111827"/>
                    </a:solidFill>
                    <a:latin typeface="Arial"/>
                  </a:rPr>
                  <a:t> is strictly monotone there is at most one root; where </a:t>
                </a:r>
                <a:r>
                  <a:rPr lang="en-IN" sz="2400">
                    <a:solidFill>
                      <a:srgbClr val="111827"/>
                    </a:solidFill>
                    <a:latin typeface="Cambria Math" panose="02040503050406030204" pitchFamily="18" charset="0"/>
                  </a:rPr>
                  <a:t>$h''$</a:t>
                </a:r>
                <a:r>
                  <a:rPr sz="2400" b="0">
                    <a:solidFill>
                      <a:srgbClr val="111827"/>
                    </a:solidFill>
                    <a:latin typeface="Arial"/>
                  </a:rPr>
                  <a:t> keeps one sign there are at most two. The intermediate value theorem plus end signs then fixes the exact number.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Equations </a:t>
                </a:r>
                <a:r>
                  <a:rPr lang="en-IN" sz="2400">
                    <a:solidFill>
                      <a:srgbClr val="111827"/>
                    </a:solidFill>
                    <a:latin typeface="Cambria Math" panose="02040503050406030204" pitchFamily="18" charset="0"/>
                  </a:rPr>
                  <a:t>$f(x)=mx$</a:t>
                </a:r>
                <a:r>
                  <a:rPr sz="2400" b="0">
                    <a:solidFill>
                      <a:srgbClr val="111827"/>
                    </a:solidFill>
                    <a:latin typeface="Arial"/>
                  </a:rPr>
                  <a:t> always have the root </a:t>
                </a:r>
                <a:r>
                  <a:rPr lang="en-IN" sz="2400">
                    <a:solidFill>
                      <a:srgbClr val="111827"/>
                    </a:solidFill>
                    <a:latin typeface="Cambria Math" panose="02040503050406030204" pitchFamily="18" charset="0"/>
                  </a:rPr>
                  <a:t>$0$</a:t>
                </a:r>
                <a:r>
                  <a:rPr sz="2400" b="0">
                    <a:solidFill>
                      <a:srgbClr val="111827"/>
                    </a:solidFill>
                    <a:latin typeface="Arial"/>
                  </a:rPr>
                  <a:t> when </a:t>
                </a:r>
                <a:r>
                  <a:rPr lang="en-IN" sz="2400">
                    <a:solidFill>
                      <a:srgbClr val="111827"/>
                    </a:solidFill>
                    <a:latin typeface="Cambria Math" panose="02040503050406030204" pitchFamily="18" charset="0"/>
                  </a:rPr>
                  <a:t>$f(0)=0$</a:t>
                </a:r>
                <a:r>
                  <a:rPr sz="2400" b="0">
                    <a:solidFill>
                      <a:srgbClr val="111827"/>
                    </a:solidFill>
                    <a:latin typeface="Arial"/>
                  </a:rPr>
                  <a:t>. Compare </a:t>
                </a:r>
                <a:r>
                  <a:rPr lang="en-IN" sz="2400">
                    <a:solidFill>
                      <a:srgbClr val="111827"/>
                    </a:solidFill>
                    <a:latin typeface="Cambria Math" panose="02040503050406030204" pitchFamily="18" charset="0"/>
                  </a:rPr>
                  <a:t>$f'(0)$</a:t>
                </a:r>
                <a:r>
                  <a:rPr sz="2400" b="0">
                    <a:solidFill>
                      <a:srgbClr val="111827"/>
                    </a:solidFill>
                    <a:latin typeface="Arial"/>
                  </a:rPr>
                  <a:t> with the slope </a:t>
                </a:r>
                <a:r>
                  <a:rPr lang="en-IN" sz="2400">
                    <a:solidFill>
                      <a:srgbClr val="111827"/>
                    </a:solidFill>
                    <a:latin typeface="Cambria Math" panose="02040503050406030204" pitchFamily="18" charset="0"/>
                  </a:rPr>
                  <a:t>$m$</a:t>
                </a:r>
                <a:r>
                  <a:rPr sz="2400" b="0">
                    <a:solidFill>
                      <a:srgbClr val="111827"/>
                    </a:solidFill>
                    <a:latin typeface="Arial"/>
                  </a:rPr>
                  <a:t> to see on which side of the line the graph lies just to the left and right of </a:t>
                </a:r>
                <a:r>
                  <a:rPr lang="en-IN" sz="2400">
                    <a:solidFill>
                      <a:srgbClr val="111827"/>
                    </a:solidFill>
                    <a:latin typeface="Cambria Math" panose="02040503050406030204" pitchFamily="18" charset="0"/>
                  </a:rPr>
                  <a:t>$0$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Limits give end signs: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makes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vertical asymptote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makes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 both sides of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makes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sign change of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 point where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not differentiable (positive on the left, non-positive on the right) is a corner and a local maximum, here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Limits give end signs: </a:t>
                </a:r>
                <a:r>
                  <a:rPr lang="en-IN" sz="2400">
                    <a:solidFill>
                      <a:srgbClr val="111827"/>
                    </a:solidFill>
                    <a:latin typeface="Cambria Math" panose="02040503050406030204" pitchFamily="18" charset="0"/>
                  </a:rPr>
                  <a:t>$f\to3$</a:t>
                </a:r>
                <a:r>
                  <a:rPr sz="2400" b="0">
                    <a:solidFill>
                      <a:srgbClr val="111827"/>
                    </a:solidFill>
                    <a:latin typeface="Arial"/>
                  </a:rPr>
                  <a:t> at </a:t>
                </a:r>
                <a:r>
                  <a:rPr lang="en-IN" sz="2400">
                    <a:solidFill>
                      <a:srgbClr val="111827"/>
                    </a:solidFill>
                    <a:latin typeface="Cambria Math" panose="02040503050406030204" pitchFamily="18" charset="0"/>
                  </a:rPr>
                  <a:t>$-\infty$</a:t>
                </a:r>
                <a:r>
                  <a:rPr sz="2400" b="0">
                    <a:solidFill>
                      <a:srgbClr val="111827"/>
                    </a:solidFill>
                    <a:latin typeface="Arial"/>
                  </a:rPr>
                  <a:t> makes </a:t>
                </a:r>
                <a:r>
                  <a:rPr lang="en-IN" sz="2400">
                    <a:solidFill>
                      <a:srgbClr val="111827"/>
                    </a:solidFill>
                    <a:latin typeface="Cambria Math" panose="02040503050406030204" pitchFamily="18" charset="0"/>
                  </a:rPr>
                  <a:t>$f(x)+3x\to-\infty$</a:t>
                </a:r>
                <a:r>
                  <a:rPr sz="2400" b="0">
                    <a:solidFill>
                      <a:srgbClr val="111827"/>
                    </a:solidFill>
                    <a:latin typeface="Arial"/>
                  </a:rPr>
                  <a:t>; the vertical asymptote </a:t>
                </a:r>
                <a:r>
                  <a:rPr lang="en-IN" sz="2400">
                    <a:solidFill>
                      <a:srgbClr val="111827"/>
                    </a:solidFill>
                    <a:latin typeface="Cambria Math" panose="02040503050406030204" pitchFamily="18" charset="0"/>
                  </a:rPr>
                  <a:t>$f\to-\infty$</a:t>
                </a:r>
                <a:r>
                  <a:rPr sz="2400" b="0">
                    <a:solidFill>
                      <a:srgbClr val="111827"/>
                    </a:solidFill>
                    <a:latin typeface="Arial"/>
                  </a:rPr>
                  <a:t> at </a:t>
                </a:r>
                <a:r>
                  <a:rPr lang="en-IN" sz="2400">
                    <a:solidFill>
                      <a:srgbClr val="111827"/>
                    </a:solidFill>
                    <a:latin typeface="Cambria Math" panose="02040503050406030204" pitchFamily="18" charset="0"/>
                  </a:rPr>
                  <a:t>$3$</a:t>
                </a:r>
                <a:r>
                  <a:rPr sz="2400" b="0">
                    <a:solidFill>
                      <a:srgbClr val="111827"/>
                    </a:solidFill>
                    <a:latin typeface="Arial"/>
                  </a:rPr>
                  <a:t> makes </a:t>
                </a:r>
                <a:r>
                  <a:rPr lang="en-IN" sz="2400">
                    <a:solidFill>
                      <a:srgbClr val="111827"/>
                    </a:solidFill>
                    <a:latin typeface="Cambria Math" panose="02040503050406030204" pitchFamily="18" charset="0"/>
                  </a:rPr>
                  <a:t>$f(x)+3x\to-\infty$</a:t>
                </a:r>
                <a:r>
                  <a:rPr sz="2400" b="0">
                    <a:solidFill>
                      <a:srgbClr val="111827"/>
                    </a:solidFill>
                    <a:latin typeface="Arial"/>
                  </a:rPr>
                  <a:t> on both sides of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$f\to0$</a:t>
                </a:r>
                <a:r>
                  <a:rPr sz="2400" b="0">
                    <a:solidFill>
                      <a:srgbClr val="111827"/>
                    </a:solidFill>
                    <a:latin typeface="Arial"/>
                  </a:rPr>
                  <a:t> at </a:t>
                </a:r>
                <a:r>
                  <a:rPr lang="en-IN" sz="2400">
                    <a:solidFill>
                      <a:srgbClr val="111827"/>
                    </a:solidFill>
                    <a:latin typeface="Cambria Math" panose="02040503050406030204" pitchFamily="18" charset="0"/>
                  </a:rPr>
                  <a:t>$+\infty$</a:t>
                </a:r>
                <a:r>
                  <a:rPr sz="2400" b="0">
                    <a:solidFill>
                      <a:srgbClr val="111827"/>
                    </a:solidFill>
                    <a:latin typeface="Arial"/>
                  </a:rPr>
                  <a:t> makes </a:t>
                </a:r>
                <a:r>
                  <a:rPr lang="en-IN" sz="2400">
                    <a:solidFill>
                      <a:srgbClr val="111827"/>
                    </a:solidFill>
                    <a:latin typeface="Cambria Math" panose="02040503050406030204" pitchFamily="18" charset="0"/>
                  </a:rPr>
                  <a:t>$f(x)+3x\to+\infty$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sign change of </a:t>
                </a:r>
                <a:r>
                  <a:rPr lang="en-IN" sz="2400">
                    <a:solidFill>
                      <a:srgbClr val="111827"/>
                    </a:solidFill>
                    <a:latin typeface="Cambria Math" panose="02040503050406030204" pitchFamily="18" charset="0"/>
                  </a:rPr>
                  <a:t>$f'$</a:t>
                </a:r>
                <a:r>
                  <a:rPr sz="2400" b="0">
                    <a:solidFill>
                      <a:srgbClr val="111827"/>
                    </a:solidFill>
                    <a:latin typeface="Arial"/>
                  </a:rPr>
                  <a:t> at a point where </a:t>
                </a:r>
                <a:r>
                  <a:rPr lang="en-IN" sz="2400">
                    <a:solidFill>
                      <a:srgbClr val="111827"/>
                    </a:solidFill>
                    <a:latin typeface="Cambria Math" panose="02040503050406030204" pitchFamily="18" charset="0"/>
                  </a:rPr>
                  <a:t>$f$</a:t>
                </a:r>
                <a:r>
                  <a:rPr sz="2400" b="0">
                    <a:solidFill>
                      <a:srgbClr val="111827"/>
                    </a:solidFill>
                    <a:latin typeface="Arial"/>
                  </a:rPr>
                  <a:t> is not differentiable (positive on the left, non-positive on the right) is a corner and a local maximum, here at </a:t>
                </a:r>
                <a:r>
                  <a:rPr lang="en-IN" sz="2400">
                    <a:solidFill>
                      <a:srgbClr val="111827"/>
                    </a:solidFill>
                    <a:latin typeface="Cambria Math" panose="02040503050406030204" pitchFamily="18" charset="0"/>
                  </a:rPr>
                  <a:t>$x=-2$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530047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Paragraph: A function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satisfies the following properties: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ub>
                    </m:sSub>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(printed 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in the paper, taken 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continuous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differentiable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b>
                    </m:sSub>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ub>
                    </m:sSub>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Now, answer the following questions: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The function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differentiable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iff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(B) continuous but NOT differentiable at two points, iff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(C) continuous but NOT differentiable at one point, iff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(D) dis-continuous at two points if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endParaRPr sz="2400">
                  <a:solidFill>
                    <a:srgbClr val="111827"/>
                  </a:solidFill>
                </a:endParaRPr>
              </a:p>
            </p:txBody>
          </p:sp>
        </mc:Choice>
        <mc:Fallback>
          <p:sp>
            <p:nvSpPr>
              <p:cNvPr id="4" name="Rounded Rectangle 3"/>
              <p:cNvSpPr/>
              <p:nvPr/>
            </p:nvSpPr>
            <p:spPr>
              <a:xfrm>
                <a:off x="731520" y="1280160"/>
                <a:ext cx="10725912" cy="530047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Paragraph: A function </a:t>
                </a:r>
                <a:r>
                  <a:rPr lang="en-IN" sz="2400">
                    <a:solidFill>
                      <a:srgbClr val="111827"/>
                    </a:solidFill>
                    <a:latin typeface="Cambria Math" panose="02040503050406030204" pitchFamily="18" charset="0"/>
                  </a:rPr>
                  <a:t>$f:\mathbb{R}\to\mathbb{R}$</a:t>
                </a:r>
                <a:r>
                  <a:rPr sz="2400" b="0">
                    <a:solidFill>
                      <a:srgbClr val="111827"/>
                    </a:solidFill>
                    <a:latin typeface="Arial"/>
                  </a:rPr>
                  <a:t> satisfies the following properties: </a:t>
                </a:r>
                <a:r>
                  <a:rPr lang="en-IN" sz="2400">
                    <a:solidFill>
                      <a:srgbClr val="111827"/>
                    </a:solidFill>
                    <a:latin typeface="Cambria Math" panose="02040503050406030204" pitchFamily="18" charset="0"/>
                  </a:rPr>
                  <a:t>$f'(x)&gt;0\ \forall x\in(-\infty,-2)\cup(3,\infty)$</a:t>
                </a:r>
                <a:r>
                  <a:rPr sz="2400" b="0">
                    <a:solidFill>
                      <a:srgbClr val="111827"/>
                    </a:solidFill>
                    <a:latin typeface="Arial"/>
                  </a:rPr>
                  <a:t>, </a:t>
                </a:r>
                <a:r>
                  <a:rPr lang="en-IN" sz="2400">
                    <a:solidFill>
                      <a:srgbClr val="111827"/>
                    </a:solidFill>
                    <a:latin typeface="Cambria Math" panose="02040503050406030204" pitchFamily="18" charset="0"/>
                  </a:rPr>
                  <a:t>$f'(x)\le0\ \forall x\in(-2,3)$</a:t>
                </a:r>
                <a:r>
                  <a:rPr sz="2400" b="0">
                    <a:solidFill>
                      <a:srgbClr val="111827"/>
                    </a:solidFill>
                    <a:latin typeface="Arial"/>
                  </a:rPr>
                  <a:t>, </a:t>
                </a:r>
                <a:r>
                  <a:rPr lang="en-IN" sz="2400">
                    <a:solidFill>
                      <a:srgbClr val="111827"/>
                    </a:solidFill>
                    <a:latin typeface="Cambria Math" panose="02040503050406030204" pitchFamily="18" charset="0"/>
                  </a:rPr>
                  <a:t>$\lim_{x\to\infty}f(x)=0$</a:t>
                </a:r>
                <a:r>
                  <a:rPr sz="2400" b="0">
                    <a:solidFill>
                      <a:srgbClr val="111827"/>
                    </a:solidFill>
                    <a:latin typeface="Arial"/>
                  </a:rPr>
                  <a:t> (printed as </a:t>
                </a:r>
                <a:r>
                  <a:rPr lang="en-IN" sz="2400">
                    <a:solidFill>
                      <a:srgbClr val="111827"/>
                    </a:solidFill>
                    <a:latin typeface="Cambria Math" panose="02040503050406030204" pitchFamily="18" charset="0"/>
                  </a:rPr>
                  <a:t>$x\to2$</a:t>
                </a:r>
                <a:r>
                  <a:rPr sz="2400" b="0">
                    <a:solidFill>
                      <a:srgbClr val="111827"/>
                    </a:solidFill>
                    <a:latin typeface="Arial"/>
                  </a:rPr>
                  <a:t> in the paper, taken as </a:t>
                </a:r>
                <a:r>
                  <a:rPr lang="en-IN" sz="2400">
                    <a:solidFill>
                      <a:srgbClr val="111827"/>
                    </a:solidFill>
                    <a:latin typeface="Cambria Math" panose="02040503050406030204" pitchFamily="18" charset="0"/>
                  </a:rPr>
                  <a:t>$x\to\infty$</a:t>
                </a:r>
                <a:r>
                  <a:rPr sz="2400" b="0">
                    <a:solidFill>
                      <a:srgbClr val="111827"/>
                    </a:solidFill>
                    <a:latin typeface="Arial"/>
                  </a:rPr>
                  <a:t>); </a:t>
                </a:r>
                <a:r>
                  <a:rPr lang="en-IN" sz="2400">
                    <a:solidFill>
                      <a:srgbClr val="111827"/>
                    </a:solidFill>
                    <a:latin typeface="Cambria Math" panose="02040503050406030204" pitchFamily="18" charset="0"/>
                  </a:rPr>
                  <a:t>$f$</a:t>
                </a:r>
                <a:r>
                  <a:rPr sz="2400" b="0">
                    <a:solidFill>
                      <a:srgbClr val="111827"/>
                    </a:solidFill>
                    <a:latin typeface="Arial"/>
                  </a:rPr>
                  <a:t> is continuous </a:t>
                </a:r>
                <a:r>
                  <a:rPr lang="en-IN" sz="2400">
                    <a:solidFill>
                      <a:srgbClr val="111827"/>
                    </a:solidFill>
                    <a:latin typeface="Cambria Math" panose="02040503050406030204" pitchFamily="18" charset="0"/>
                  </a:rPr>
                  <a:t>$\forall x\in\mathbb{R}-\{3\}$</a:t>
                </a:r>
                <a:r>
                  <a:rPr sz="2400" b="0">
                    <a:solidFill>
                      <a:srgbClr val="111827"/>
                    </a:solidFill>
                    <a:latin typeface="Arial"/>
                  </a:rPr>
                  <a:t>, </a:t>
                </a:r>
                <a:r>
                  <a:rPr lang="en-IN" sz="2400">
                    <a:solidFill>
                      <a:srgbClr val="111827"/>
                    </a:solidFill>
                    <a:latin typeface="Cambria Math" panose="02040503050406030204" pitchFamily="18" charset="0"/>
                  </a:rPr>
                  <a:t>$f$</a:t>
                </a:r>
                <a:r>
                  <a:rPr sz="2400" b="0">
                    <a:solidFill>
                      <a:srgbClr val="111827"/>
                    </a:solidFill>
                    <a:latin typeface="Arial"/>
                  </a:rPr>
                  <a:t> is differentiable </a:t>
                </a:r>
                <a:r>
                  <a:rPr lang="en-IN" sz="2400">
                    <a:solidFill>
                      <a:srgbClr val="111827"/>
                    </a:solidFill>
                    <a:latin typeface="Cambria Math" panose="02040503050406030204" pitchFamily="18" charset="0"/>
                  </a:rPr>
                  <a:t>$\forall x\in\mathbb{R}-\{-2,3\}$</a:t>
                </a:r>
                <a:r>
                  <a:rPr sz="2400" b="0">
                    <a:solidFill>
                      <a:srgbClr val="111827"/>
                    </a:solidFill>
                    <a:latin typeface="Arial"/>
                  </a:rPr>
                  <a:t>, </a:t>
                </a:r>
                <a:r>
                  <a:rPr lang="en-IN" sz="2400">
                    <a:solidFill>
                      <a:srgbClr val="111827"/>
                    </a:solidFill>
                    <a:latin typeface="Cambria Math" panose="02040503050406030204" pitchFamily="18" charset="0"/>
                  </a:rPr>
                  <a:t>$\lim_{x\to3}f(x)\to-\infty$</a:t>
                </a:r>
                <a:r>
                  <a:rPr sz="2400" b="0">
                    <a:solidFill>
                      <a:srgbClr val="111827"/>
                    </a:solidFill>
                    <a:latin typeface="Arial"/>
                  </a:rPr>
                  <a:t>, </a:t>
                </a:r>
                <a:r>
                  <a:rPr lang="en-IN" sz="2400">
                    <a:solidFill>
                      <a:srgbClr val="111827"/>
                    </a:solidFill>
                    <a:latin typeface="Cambria Math" panose="02040503050406030204" pitchFamily="18" charset="0"/>
                  </a:rPr>
                  <a:t>$f''(x)&gt;0\ \forall x\in(-\infty,0)-\{-2\}$</a:t>
                </a:r>
                <a:r>
                  <a:rPr sz="2400" b="0">
                    <a:solidFill>
                      <a:srgbClr val="111827"/>
                    </a:solidFill>
                    <a:latin typeface="Arial"/>
                  </a:rPr>
                  <a:t>, </a:t>
                </a:r>
                <a:r>
                  <a:rPr lang="en-IN" sz="2400">
                    <a:solidFill>
                      <a:srgbClr val="111827"/>
                    </a:solidFill>
                    <a:latin typeface="Cambria Math" panose="02040503050406030204" pitchFamily="18" charset="0"/>
                  </a:rPr>
                  <a:t>$f''(x)&lt;0\ \forall x\in(0,\infty)-\{3\}$</a:t>
                </a:r>
                <a:r>
                  <a:rPr sz="2400" b="0">
                    <a:solidFill>
                      <a:srgbClr val="111827"/>
                    </a:solidFill>
                    <a:latin typeface="Arial"/>
                  </a:rPr>
                  <a:t>, </a:t>
                </a:r>
                <a:r>
                  <a:rPr lang="en-IN" sz="2400">
                    <a:solidFill>
                      <a:srgbClr val="111827"/>
                    </a:solidFill>
                    <a:latin typeface="Cambria Math" panose="02040503050406030204" pitchFamily="18" charset="0"/>
                  </a:rPr>
                  <a:t>$\lim_{x\to-\infty}f(x)=3$</a:t>
                </a:r>
                <a:r>
                  <a:rPr sz="2400" b="0">
                    <a:solidFill>
                      <a:srgbClr val="111827"/>
                    </a:solidFill>
                    <a:latin typeface="Arial"/>
                  </a:rPr>
                  <a:t>, and </a:t>
                </a:r>
                <a:r>
                  <a:rPr lang="en-IN" sz="2400">
                    <a:solidFill>
                      <a:srgbClr val="111827"/>
                    </a:solidFill>
                    <a:latin typeface="Cambria Math" panose="02040503050406030204" pitchFamily="18" charset="0"/>
                  </a:rPr>
                  <a:t>$f(0)=0$</a:t>
                </a:r>
                <a:r>
                  <a:rPr sz="2400" b="0">
                    <a:solidFill>
                      <a:srgbClr val="111827"/>
                    </a:solidFill>
                    <a:latin typeface="Arial"/>
                  </a:rPr>
                  <a:t>. Now, answer the following questions: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The function </a:t>
                </a:r>
                <a:r>
                  <a:rPr lang="en-IN" sz="2400">
                    <a:solidFill>
                      <a:srgbClr val="111827"/>
                    </a:solidFill>
                    <a:latin typeface="Cambria Math" panose="02040503050406030204" pitchFamily="18" charset="0"/>
                  </a:rPr>
                  <a:t>$y=f(-|x|)$</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differentiable </a:t>
                </a:r>
                <a:r>
                  <a:rPr lang="en-IN" sz="2400">
                    <a:solidFill>
                      <a:srgbClr val="111827"/>
                    </a:solidFill>
                    <a:latin typeface="Cambria Math" panose="02040503050406030204" pitchFamily="18" charset="0"/>
                  </a:rPr>
                  <a:t>$\forall x\in\mathbb{R}$</a:t>
                </a:r>
                <a:r>
                  <a:rPr sz="2400" b="0">
                    <a:solidFill>
                      <a:srgbClr val="111827"/>
                    </a:solidFill>
                    <a:latin typeface="Arial"/>
                  </a:rPr>
                  <a:t>, iff </a:t>
                </a:r>
                <a:r>
                  <a:rPr lang="en-IN" sz="2400">
                    <a:solidFill>
                      <a:srgbClr val="111827"/>
                    </a:solidFill>
                    <a:latin typeface="Cambria Math" panose="02040503050406030204" pitchFamily="18" charset="0"/>
                  </a:rPr>
                  <a:t>$f'(0)=0$</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continuous but NOT differentiable at two points, iff </a:t>
                </a:r>
                <a:r>
                  <a:rPr lang="en-IN" sz="2400">
                    <a:solidFill>
                      <a:srgbClr val="111827"/>
                    </a:solidFill>
                    <a:latin typeface="Cambria Math" panose="02040503050406030204" pitchFamily="18" charset="0"/>
                  </a:rPr>
                  <a:t>$f'(0)=0$</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continuous but NOT differentiable at one point, iff </a:t>
                </a:r>
                <a:r>
                  <a:rPr lang="en-IN" sz="2400">
                    <a:solidFill>
                      <a:srgbClr val="111827"/>
                    </a:solidFill>
                    <a:latin typeface="Cambria Math" panose="02040503050406030204" pitchFamily="18" charset="0"/>
                  </a:rPr>
                  <a:t>$f'(0)=0$</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dis-continuous at two points if </a:t>
                </a:r>
                <a:r>
                  <a:rPr lang="en-IN" sz="2400">
                    <a:solidFill>
                      <a:srgbClr val="111827"/>
                    </a:solidFill>
                    <a:latin typeface="Cambria Math" panose="02040503050406030204" pitchFamily="18" charset="0"/>
                  </a:rPr>
                  <a:t>$f'(0)=0$</a:t>
                </a:r>
                <a:endParaRPr sz="2400">
                  <a:solidFill>
                    <a:srgbClr val="111827"/>
                  </a:solidFill>
                </a:endParaRPr>
              </a:p>
            </p:txBody>
          </p:sp>
        </mc:Fallback>
      </mc:AlternateContent>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Paragraph Based Single Correct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Continuity and differentiability of the composite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Graph transformations involving the modulus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Choice>
        <mc:Fallback>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Paragraph Based Single Correct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Continuity and differentiability of the composite </a:t>
                </a:r>
                <a:r>
                  <a:rPr lang="en-IN" sz="2400">
                    <a:solidFill>
                      <a:srgbClr val="111827"/>
                    </a:solidFill>
                    <a:latin typeface="Cambria Math" panose="02040503050406030204" pitchFamily="18" charset="0"/>
                  </a:rPr>
                  <a:t>$f(-|x|)$</a:t>
                </a:r>
                <a:r>
                  <a:rPr sz="2400" b="0">
                    <a:solidFill>
                      <a:srgbClr val="111827"/>
                    </a:solidFill>
                    <a:latin typeface="Arial"/>
                  </a:rPr>
                  <a:t>, Graph transformations involving the modulus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3438144"/>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is the mirror image of the part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of the graph of </a:t>
                </a:r>
                <a14:m>
                  <m:oMath xmlns:m="http://schemas.openxmlformats.org/officeDocument/2006/math">
                    <m:r>
                      <a:rPr lang="en-IN" sz="2400" i="1">
                        <a:solidFill>
                          <a:srgbClr val="78350F"/>
                        </a:solidFill>
                        <a:latin typeface="Cambria Math" panose="02040503050406030204" pitchFamily="18" charset="0"/>
                      </a:rPr>
                      <m:t>𝑓</m:t>
                    </m:r>
                  </m:oMath>
                </a14:m>
                <a:r>
                  <a:rPr sz="2400" b="0">
                    <a:solidFill>
                      <a:srgbClr val="78350F"/>
                    </a:solidFill>
                    <a:latin typeface="Arial"/>
                  </a:rPr>
                  <a:t>; its one-sided derivatives at </a:t>
                </a:r>
                <a14:m>
                  <m:oMath xmlns:m="http://schemas.openxmlformats.org/officeDocument/2006/math">
                    <m:r>
                      <a:rPr lang="en-IN" sz="2400" i="1">
                        <a:solidFill>
                          <a:srgbClr val="78350F"/>
                        </a:solidFill>
                        <a:latin typeface="Cambria Math" panose="02040503050406030204" pitchFamily="18" charset="0"/>
                      </a:rPr>
                      <m:t>0</m:t>
                    </m:r>
                  </m:oMath>
                </a14:m>
                <a:r>
                  <a:rPr sz="2400" b="0">
                    <a:solidFill>
                      <a:srgbClr val="78350F"/>
                    </a:solidFill>
                    <a:latin typeface="Arial"/>
                  </a:rPr>
                  <a:t> are </a:t>
                </a:r>
                <a14:m>
                  <m:oMath xmlns:m="http://schemas.openxmlformats.org/officeDocument/2006/math">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the corner of </a:t>
                </a:r>
                <a14:m>
                  <m:oMath xmlns:m="http://schemas.openxmlformats.org/officeDocument/2006/math">
                    <m:r>
                      <a:rPr lang="en-IN" sz="2400" i="1">
                        <a:solidFill>
                          <a:srgbClr val="78350F"/>
                        </a:solidFill>
                        <a:latin typeface="Cambria Math" panose="02040503050406030204" pitchFamily="18" charset="0"/>
                      </a:rPr>
                      <m:t>𝑓</m:t>
                    </m:r>
                  </m:oMath>
                </a14:m>
                <a:r>
                  <a:rPr sz="2400" b="0">
                    <a:solidFill>
                      <a:srgbClr val="78350F"/>
                    </a:solidFill>
                    <a:latin typeface="Arial"/>
                  </a:rPr>
                  <a:t> at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appears at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438144"/>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$f(-|x|)$</a:t>
                </a:r>
                <a:r>
                  <a:rPr sz="2400" b="0">
                    <a:solidFill>
                      <a:srgbClr val="78350F"/>
                    </a:solidFill>
                    <a:latin typeface="Arial"/>
                  </a:rPr>
                  <a:t> is the mirror image of the part </a:t>
                </a:r>
                <a:r>
                  <a:rPr lang="en-IN" sz="2400">
                    <a:solidFill>
                      <a:srgbClr val="78350F"/>
                    </a:solidFill>
                    <a:latin typeface="Cambria Math" panose="02040503050406030204" pitchFamily="18" charset="0"/>
                  </a:rPr>
                  <a:t>$x\le0$</a:t>
                </a:r>
                <a:r>
                  <a:rPr sz="2400" b="0">
                    <a:solidFill>
                      <a:srgbClr val="78350F"/>
                    </a:solidFill>
                    <a:latin typeface="Arial"/>
                  </a:rPr>
                  <a:t> of the graph of </a:t>
                </a:r>
                <a:r>
                  <a:rPr lang="en-IN" sz="2400">
                    <a:solidFill>
                      <a:srgbClr val="78350F"/>
                    </a:solidFill>
                    <a:latin typeface="Cambria Math" panose="02040503050406030204" pitchFamily="18" charset="0"/>
                  </a:rPr>
                  <a:t>$f$</a:t>
                </a:r>
                <a:r>
                  <a:rPr sz="2400" b="0">
                    <a:solidFill>
                      <a:srgbClr val="78350F"/>
                    </a:solidFill>
                    <a:latin typeface="Arial"/>
                  </a:rPr>
                  <a:t>; its one-sided derivatives at </a:t>
                </a:r>
                <a:r>
                  <a:rPr lang="en-IN" sz="2400">
                    <a:solidFill>
                      <a:srgbClr val="78350F"/>
                    </a:solidFill>
                    <a:latin typeface="Cambria Math" panose="02040503050406030204" pitchFamily="18" charset="0"/>
                  </a:rPr>
                  <a:t>$0$</a:t>
                </a:r>
                <a:r>
                  <a:rPr sz="2400" b="0">
                    <a:solidFill>
                      <a:srgbClr val="78350F"/>
                    </a:solidFill>
                    <a:latin typeface="Arial"/>
                  </a:rPr>
                  <a:t> are </a:t>
                </a:r>
                <a:r>
                  <a:rPr lang="en-IN" sz="2400">
                    <a:solidFill>
                      <a:srgbClr val="78350F"/>
                    </a:solidFill>
                    <a:latin typeface="Cambria Math" panose="02040503050406030204" pitchFamily="18" charset="0"/>
                  </a:rPr>
                  <a:t>$\mp f'(0)$</a:t>
                </a:r>
                <a:r>
                  <a:rPr sz="2400" b="0">
                    <a:solidFill>
                      <a:srgbClr val="78350F"/>
                    </a:solidFill>
                    <a:latin typeface="Arial"/>
                  </a:rPr>
                  <a:t>, and the corner of </a:t>
                </a:r>
                <a:r>
                  <a:rPr lang="en-IN" sz="2400">
                    <a:solidFill>
                      <a:srgbClr val="78350F"/>
                    </a:solidFill>
                    <a:latin typeface="Cambria Math" panose="02040503050406030204" pitchFamily="18" charset="0"/>
                  </a:rPr>
                  <a:t>$f$</a:t>
                </a:r>
                <a:r>
                  <a:rPr sz="2400" b="0">
                    <a:solidFill>
                      <a:srgbClr val="78350F"/>
                    </a:solidFill>
                    <a:latin typeface="Arial"/>
                  </a:rPr>
                  <a:t> at </a:t>
                </a:r>
                <a:r>
                  <a:rPr lang="en-IN" sz="2400">
                    <a:solidFill>
                      <a:srgbClr val="78350F"/>
                    </a:solidFill>
                    <a:latin typeface="Cambria Math" panose="02040503050406030204" pitchFamily="18" charset="0"/>
                  </a:rPr>
                  <a:t>$-2$</a:t>
                </a:r>
                <a:r>
                  <a:rPr sz="2400" b="0">
                    <a:solidFill>
                      <a:srgbClr val="78350F"/>
                    </a:solidFill>
                    <a:latin typeface="Arial"/>
                  </a:rPr>
                  <a:t> appears at </a:t>
                </a:r>
                <a:r>
                  <a:rPr lang="en-IN" sz="2400">
                    <a:solidFill>
                      <a:srgbClr val="78350F"/>
                    </a:solidFill>
                    <a:latin typeface="Cambria Math" panose="02040503050406030204" pitchFamily="18" charset="0"/>
                  </a:rPr>
                  <a:t>$x=\pm2$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5056632"/>
                <a:ext cx="10725912" cy="16184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uses only the part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It is an even function.</a:t>
                </a:r>
                <a:endParaRPr sz="2400">
                  <a:solidFill>
                    <a:srgbClr val="111827"/>
                  </a:solidFill>
                </a:endParaRPr>
              </a:p>
            </p:txBody>
          </p:sp>
        </mc:Choice>
        <mc:Fallback>
          <p:sp>
            <p:nvSpPr>
              <p:cNvPr id="6" name="Rectangle 5"/>
              <p:cNvSpPr/>
              <p:nvPr/>
            </p:nvSpPr>
            <p:spPr>
              <a:xfrm>
                <a:off x="731520" y="5056632"/>
                <a:ext cx="10725912" cy="16184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$-|x|\le0$</a:t>
                </a:r>
                <a:r>
                  <a:rPr sz="2400" b="0">
                    <a:solidFill>
                      <a:srgbClr val="111827"/>
                    </a:solidFill>
                    <a:latin typeface="Arial"/>
                  </a:rPr>
                  <a:t>, </a:t>
                </a:r>
                <a:r>
                  <a:rPr lang="en-IN" sz="2400">
                    <a:solidFill>
                      <a:srgbClr val="111827"/>
                    </a:solidFill>
                    <a:latin typeface="Cambria Math" panose="02040503050406030204" pitchFamily="18" charset="0"/>
                  </a:rPr>
                  <a:t>$y=f(-|x|)$</a:t>
                </a:r>
                <a:r>
                  <a:rPr sz="2400" b="0">
                    <a:solidFill>
                      <a:srgbClr val="111827"/>
                    </a:solidFill>
                    <a:latin typeface="Arial"/>
                  </a:rPr>
                  <a:t> uses only the part </a:t>
                </a:r>
                <a:r>
                  <a:rPr lang="en-IN" sz="2400">
                    <a:solidFill>
                      <a:srgbClr val="111827"/>
                    </a:solidFill>
                    <a:latin typeface="Cambria Math" panose="02040503050406030204" pitchFamily="18" charset="0"/>
                  </a:rPr>
                  <a:t>$x\le0$</a:t>
                </a:r>
                <a:r>
                  <a:rPr sz="2400" b="0">
                    <a:solidFill>
                      <a:srgbClr val="111827"/>
                    </a:solidFill>
                    <a:latin typeface="Arial"/>
                  </a:rPr>
                  <a:t> of </a:t>
                </a:r>
                <a:r>
                  <a:rPr lang="en-IN" sz="2400">
                    <a:solidFill>
                      <a:srgbClr val="111827"/>
                    </a:solidFill>
                    <a:latin typeface="Cambria Math" panose="02040503050406030204" pitchFamily="18" charset="0"/>
                  </a:rPr>
                  <a:t>$f$</a:t>
                </a:r>
                <a:r>
                  <a:rPr sz="2400" b="0">
                    <a:solidFill>
                      <a:srgbClr val="111827"/>
                    </a:solidFill>
                    <a:latin typeface="Arial"/>
                  </a:rPr>
                  <a:t>: </a:t>
                </a:r>
                <a:r>
                  <a:rPr lang="en-IN" sz="2400">
                    <a:solidFill>
                      <a:srgbClr val="111827"/>
                    </a:solidFill>
                    <a:latin typeface="Cambria Math" panose="02040503050406030204" pitchFamily="18" charset="0"/>
                  </a:rPr>
                  <a:t>$y=f(x)$</a:t>
                </a:r>
                <a:r>
                  <a:rPr sz="2400" b="0">
                    <a:solidFill>
                      <a:srgbClr val="111827"/>
                    </a:solidFill>
                    <a:latin typeface="Arial"/>
                  </a:rPr>
                  <a:t> for </a:t>
                </a:r>
                <a:r>
                  <a:rPr lang="en-IN" sz="2400">
                    <a:solidFill>
                      <a:srgbClr val="111827"/>
                    </a:solidFill>
                    <a:latin typeface="Cambria Math" panose="02040503050406030204" pitchFamily="18" charset="0"/>
                  </a:rPr>
                  <a:t>$x\le0$</a:t>
                </a:r>
                <a:r>
                  <a:rPr sz="2400" b="0">
                    <a:solidFill>
                      <a:srgbClr val="111827"/>
                    </a:solidFill>
                    <a:latin typeface="Arial"/>
                  </a:rPr>
                  <a:t> and </a:t>
                </a:r>
                <a:r>
                  <a:rPr lang="en-IN" sz="2400">
                    <a:solidFill>
                      <a:srgbClr val="111827"/>
                    </a:solidFill>
                    <a:latin typeface="Cambria Math" panose="02040503050406030204" pitchFamily="18" charset="0"/>
                  </a:rPr>
                  <a:t>$y=f(-x)$</a:t>
                </a:r>
                <a:r>
                  <a:rPr sz="2400" b="0">
                    <a:solidFill>
                      <a:srgbClr val="111827"/>
                    </a:solidFill>
                    <a:latin typeface="Arial"/>
                  </a:rPr>
                  <a:t> for </a:t>
                </a:r>
                <a:r>
                  <a:rPr lang="en-IN" sz="2400">
                    <a:solidFill>
                      <a:srgbClr val="111827"/>
                    </a:solidFill>
                    <a:latin typeface="Cambria Math" panose="02040503050406030204" pitchFamily="18" charset="0"/>
                  </a:rPr>
                  <a:t>$x\ge0$</a:t>
                </a:r>
                <a:r>
                  <a:rPr sz="2400" b="0">
                    <a:solidFill>
                      <a:srgbClr val="111827"/>
                    </a:solidFill>
                    <a:latin typeface="Arial"/>
                  </a:rPr>
                  <a:t>. It is an even function.</a:t>
                </a:r>
                <a:endParaRPr sz="2400">
                  <a:solidFill>
                    <a:srgbClr val="111827"/>
                  </a:solidFill>
                </a:endParaRPr>
              </a:p>
            </p:txBody>
          </p:sp>
        </mc:Fallback>
      </mc:AlternateContent>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continuous 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(its only discontinuity is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continuous, so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is continuous for all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So (D) is incorrect.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is differentiable wherever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differentiable at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only point where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not differentiable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 corner,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on its left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on its right).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near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the one-sided derivatives of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are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one-sided derivatives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which differ. So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is not differentiable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right derivative is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0</m:t>
                            </m:r>
                          </m:e>
                          <m:sup>
                            <m:r>
                              <m:rPr>
                                <m:sty m:val="p"/>
                              </m:rPr>
                              <a:rPr lang="en-IN" sz="2400">
                                <a:solidFill>
                                  <a:srgbClr val="111827"/>
                                </a:solidFill>
                                <a:latin typeface="Cambria Math" panose="02040503050406030204" pitchFamily="18" charset="0"/>
                              </a:rPr>
                              <m:t>+</m:t>
                            </m:r>
                          </m:sup>
                        </m:sSup>
                      </m:sub>
                    </m:sSub>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ℎ</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the left derivative is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0</m:t>
                            </m:r>
                          </m:e>
                          <m:sup>
                            <m:r>
                              <m:rPr>
                                <m:sty m:val="p"/>
                              </m:rPr>
                              <a:rPr lang="en-IN" sz="2400">
                                <a:solidFill>
                                  <a:srgbClr val="111827"/>
                                </a:solidFill>
                                <a:latin typeface="Cambria Math" panose="02040503050406030204" pitchFamily="18" charset="0"/>
                              </a:rPr>
                              <m:t>−</m:t>
                            </m:r>
                          </m:sup>
                        </m:sSup>
                      </m:sub>
                    </m:sSub>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ℎ</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a:t>
                </a:r>
                <a:r>
                  <a:rPr sz="2400" b="0">
                    <a:solidFill>
                      <a:srgbClr val="111827"/>
                    </a:solidFill>
                    <a:latin typeface="Arial"/>
                  </a:rPr>
                  <a:t> is continuous on </a:t>
                </a:r>
                <a:r>
                  <a:rPr lang="en-IN" sz="2400">
                    <a:solidFill>
                      <a:srgbClr val="111827"/>
                    </a:solidFill>
                    <a:latin typeface="Cambria Math" panose="02040503050406030204" pitchFamily="18" charset="0"/>
                  </a:rPr>
                  <a:t>$(-\infty,0]$</a:t>
                </a:r>
                <a:r>
                  <a:rPr sz="2400" b="0">
                    <a:solidFill>
                      <a:srgbClr val="111827"/>
                    </a:solidFill>
                    <a:latin typeface="Arial"/>
                  </a:rPr>
                  <a:t> (its only discontinuity is at </a:t>
                </a:r>
                <a:r>
                  <a:rPr lang="en-IN" sz="2400">
                    <a:solidFill>
                      <a:srgbClr val="111827"/>
                    </a:solidFill>
                    <a:latin typeface="Cambria Math" panose="02040503050406030204" pitchFamily="18" charset="0"/>
                  </a:rPr>
                  <a:t>$x=3$</a:t>
                </a:r>
                <a:r>
                  <a:rPr sz="2400" b="0">
                    <a:solidFill>
                      <a:srgbClr val="111827"/>
                    </a:solidFill>
                    <a:latin typeface="Arial"/>
                  </a:rPr>
                  <a:t>) and </a:t>
                </a:r>
                <a:r>
                  <a:rPr lang="en-IN" sz="2400">
                    <a:solidFill>
                      <a:srgbClr val="111827"/>
                    </a:solidFill>
                    <a:latin typeface="Cambria Math" panose="02040503050406030204" pitchFamily="18" charset="0"/>
                  </a:rPr>
                  <a:t>$-|x|$</a:t>
                </a:r>
                <a:r>
                  <a:rPr sz="2400" b="0">
                    <a:solidFill>
                      <a:srgbClr val="111827"/>
                    </a:solidFill>
                    <a:latin typeface="Arial"/>
                  </a:rPr>
                  <a:t> is continuous, so </a:t>
                </a:r>
                <a:r>
                  <a:rPr lang="en-IN" sz="2400">
                    <a:solidFill>
                      <a:srgbClr val="111827"/>
                    </a:solidFill>
                    <a:latin typeface="Cambria Math" panose="02040503050406030204" pitchFamily="18" charset="0"/>
                  </a:rPr>
                  <a:t>$y$</a:t>
                </a:r>
                <a:r>
                  <a:rPr sz="2400" b="0">
                    <a:solidFill>
                      <a:srgbClr val="111827"/>
                    </a:solidFill>
                    <a:latin typeface="Arial"/>
                  </a:rPr>
                  <a:t> is continuous for all </a:t>
                </a:r>
                <a:r>
                  <a:rPr lang="en-IN" sz="2400">
                    <a:solidFill>
                      <a:srgbClr val="111827"/>
                    </a:solidFill>
                    <a:latin typeface="Cambria Math" panose="02040503050406030204" pitchFamily="18" charset="0"/>
                  </a:rPr>
                  <a:t>$x\in\mathbb{R}$</a:t>
                </a:r>
                <a:r>
                  <a:rPr sz="2400" b="0">
                    <a:solidFill>
                      <a:srgbClr val="111827"/>
                    </a:solidFill>
                    <a:latin typeface="Arial"/>
                  </a:rPr>
                  <a:t>. So (D) is incorrect.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$x\neq0$</a:t>
                </a:r>
                <a:r>
                  <a:rPr sz="2400" b="0">
                    <a:solidFill>
                      <a:srgbClr val="111827"/>
                    </a:solidFill>
                    <a:latin typeface="Arial"/>
                  </a:rPr>
                  <a:t>, </a:t>
                </a:r>
                <a:r>
                  <a:rPr lang="en-IN" sz="2400">
                    <a:solidFill>
                      <a:srgbClr val="111827"/>
                    </a:solidFill>
                    <a:latin typeface="Cambria Math" panose="02040503050406030204" pitchFamily="18" charset="0"/>
                  </a:rPr>
                  <a:t>$y$</a:t>
                </a:r>
                <a:r>
                  <a:rPr sz="2400" b="0">
                    <a:solidFill>
                      <a:srgbClr val="111827"/>
                    </a:solidFill>
                    <a:latin typeface="Arial"/>
                  </a:rPr>
                  <a:t> is differentiable wherever </a:t>
                </a:r>
                <a:r>
                  <a:rPr lang="en-IN" sz="2400">
                    <a:solidFill>
                      <a:srgbClr val="111827"/>
                    </a:solidFill>
                    <a:latin typeface="Cambria Math" panose="02040503050406030204" pitchFamily="18" charset="0"/>
                  </a:rPr>
                  <a:t>$f$</a:t>
                </a:r>
                <a:r>
                  <a:rPr sz="2400" b="0">
                    <a:solidFill>
                      <a:srgbClr val="111827"/>
                    </a:solidFill>
                    <a:latin typeface="Arial"/>
                  </a:rPr>
                  <a:t> is differentiable at </a:t>
                </a:r>
                <a:r>
                  <a:rPr lang="en-IN" sz="2400">
                    <a:solidFill>
                      <a:srgbClr val="111827"/>
                    </a:solidFill>
                    <a:latin typeface="Cambria Math" panose="02040503050406030204" pitchFamily="18" charset="0"/>
                  </a:rPr>
                  <a:t>$-|x|$</a:t>
                </a:r>
                <a:r>
                  <a:rPr sz="2400" b="0">
                    <a:solidFill>
                      <a:srgbClr val="111827"/>
                    </a:solidFill>
                    <a:latin typeface="Arial"/>
                  </a:rPr>
                  <a:t>. On </a:t>
                </a:r>
                <a:r>
                  <a:rPr lang="en-IN" sz="2400">
                    <a:solidFill>
                      <a:srgbClr val="111827"/>
                    </a:solidFill>
                    <a:latin typeface="Cambria Math" panose="02040503050406030204" pitchFamily="18" charset="0"/>
                  </a:rPr>
                  <a:t>$(-\infty,0)$</a:t>
                </a:r>
                <a:r>
                  <a:rPr sz="2400" b="0">
                    <a:solidFill>
                      <a:srgbClr val="111827"/>
                    </a:solidFill>
                    <a:latin typeface="Arial"/>
                  </a:rPr>
                  <a:t> the only point where </a:t>
                </a:r>
                <a:r>
                  <a:rPr lang="en-IN" sz="2400">
                    <a:solidFill>
                      <a:srgbClr val="111827"/>
                    </a:solidFill>
                    <a:latin typeface="Cambria Math" panose="02040503050406030204" pitchFamily="18" charset="0"/>
                  </a:rPr>
                  <a:t>$f$</a:t>
                </a:r>
                <a:r>
                  <a:rPr sz="2400" b="0">
                    <a:solidFill>
                      <a:srgbClr val="111827"/>
                    </a:solidFill>
                    <a:latin typeface="Arial"/>
                  </a:rPr>
                  <a:t> is not differentiable is </a:t>
                </a:r>
                <a:r>
                  <a:rPr lang="en-IN" sz="2400">
                    <a:solidFill>
                      <a:srgbClr val="111827"/>
                    </a:solidFill>
                    <a:latin typeface="Cambria Math" panose="02040503050406030204" pitchFamily="18" charset="0"/>
                  </a:rPr>
                  <a:t>$-2$</a:t>
                </a:r>
                <a:r>
                  <a:rPr sz="2400" b="0">
                    <a:solidFill>
                      <a:srgbClr val="111827"/>
                    </a:solidFill>
                    <a:latin typeface="Arial"/>
                  </a:rPr>
                  <a:t> (a corner, </a:t>
                </a:r>
                <a:r>
                  <a:rPr lang="en-IN" sz="2400">
                    <a:solidFill>
                      <a:srgbClr val="111827"/>
                    </a:solidFill>
                    <a:latin typeface="Cambria Math" panose="02040503050406030204" pitchFamily="18" charset="0"/>
                  </a:rPr>
                  <a:t>$f'&gt;0$</a:t>
                </a:r>
                <a:r>
                  <a:rPr sz="2400" b="0">
                    <a:solidFill>
                      <a:srgbClr val="111827"/>
                    </a:solidFill>
                    <a:latin typeface="Arial"/>
                  </a:rPr>
                  <a:t> on its left and </a:t>
                </a:r>
                <a:r>
                  <a:rPr lang="en-IN" sz="2400">
                    <a:solidFill>
                      <a:srgbClr val="111827"/>
                    </a:solidFill>
                    <a:latin typeface="Cambria Math" panose="02040503050406030204" pitchFamily="18" charset="0"/>
                  </a:rPr>
                  <a:t>$f'\le0$</a:t>
                </a:r>
                <a:r>
                  <a:rPr sz="2400" b="0">
                    <a:solidFill>
                      <a:srgbClr val="111827"/>
                    </a:solidFill>
                    <a:latin typeface="Arial"/>
                  </a:rPr>
                  <a:t> on its right).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$-|x|=-2$</a:t>
                </a:r>
                <a:r>
                  <a:rPr sz="2400" b="0">
                    <a:solidFill>
                      <a:srgbClr val="111827"/>
                    </a:solidFill>
                    <a:latin typeface="Arial"/>
                  </a:rPr>
                  <a:t> for </a:t>
                </a:r>
                <a:r>
                  <a:rPr lang="en-IN" sz="2400">
                    <a:solidFill>
                      <a:srgbClr val="111827"/>
                    </a:solidFill>
                    <a:latin typeface="Cambria Math" panose="02040503050406030204" pitchFamily="18" charset="0"/>
                  </a:rPr>
                  <a:t>$x=\pm2$</a:t>
                </a:r>
                <a:r>
                  <a:rPr sz="2400" b="0">
                    <a:solidFill>
                      <a:srgbClr val="111827"/>
                    </a:solidFill>
                    <a:latin typeface="Arial"/>
                  </a:rPr>
                  <a:t>, and near </a:t>
                </a:r>
                <a:r>
                  <a:rPr lang="en-IN" sz="2400">
                    <a:solidFill>
                      <a:srgbClr val="111827"/>
                    </a:solidFill>
                    <a:latin typeface="Cambria Math" panose="02040503050406030204" pitchFamily="18" charset="0"/>
                  </a:rPr>
                  <a:t>$x=\pm2$</a:t>
                </a:r>
                <a:r>
                  <a:rPr sz="2400" b="0">
                    <a:solidFill>
                      <a:srgbClr val="111827"/>
                    </a:solidFill>
                    <a:latin typeface="Arial"/>
                  </a:rPr>
                  <a:t> the one-sided derivatives of </a:t>
                </a:r>
                <a:r>
                  <a:rPr lang="en-IN" sz="2400">
                    <a:solidFill>
                      <a:srgbClr val="111827"/>
                    </a:solidFill>
                    <a:latin typeface="Cambria Math" panose="02040503050406030204" pitchFamily="18" charset="0"/>
                  </a:rPr>
                  <a:t>$y$</a:t>
                </a:r>
                <a:r>
                  <a:rPr sz="2400" b="0">
                    <a:solidFill>
                      <a:srgbClr val="111827"/>
                    </a:solidFill>
                    <a:latin typeface="Arial"/>
                  </a:rPr>
                  <a:t> are </a:t>
                </a:r>
                <a:r>
                  <a:rPr lang="en-IN" sz="2400">
                    <a:solidFill>
                      <a:srgbClr val="111827"/>
                    </a:solidFill>
                    <a:latin typeface="Cambria Math" panose="02040503050406030204" pitchFamily="18" charset="0"/>
                  </a:rPr>
                  <a:t>$\pm$</a:t>
                </a:r>
                <a:r>
                  <a:rPr sz="2400" b="0">
                    <a:solidFill>
                      <a:srgbClr val="111827"/>
                    </a:solidFill>
                    <a:latin typeface="Arial"/>
                  </a:rPr>
                  <a:t> the one-sided derivatives of </a:t>
                </a:r>
                <a:r>
                  <a:rPr lang="en-IN" sz="2400">
                    <a:solidFill>
                      <a:srgbClr val="111827"/>
                    </a:solidFill>
                    <a:latin typeface="Cambria Math" panose="02040503050406030204" pitchFamily="18" charset="0"/>
                  </a:rPr>
                  <a:t>$f$</a:t>
                </a:r>
                <a:r>
                  <a:rPr sz="2400" b="0">
                    <a:solidFill>
                      <a:srgbClr val="111827"/>
                    </a:solidFill>
                    <a:latin typeface="Arial"/>
                  </a:rPr>
                  <a:t> at </a:t>
                </a:r>
                <a:r>
                  <a:rPr lang="en-IN" sz="2400">
                    <a:solidFill>
                      <a:srgbClr val="111827"/>
                    </a:solidFill>
                    <a:latin typeface="Cambria Math" panose="02040503050406030204" pitchFamily="18" charset="0"/>
                  </a:rPr>
                  <a:t>$-2$</a:t>
                </a:r>
                <a:r>
                  <a:rPr sz="2400" b="0">
                    <a:solidFill>
                      <a:srgbClr val="111827"/>
                    </a:solidFill>
                    <a:latin typeface="Arial"/>
                  </a:rPr>
                  <a:t>, which differ. So </a:t>
                </a:r>
                <a:r>
                  <a:rPr lang="en-IN" sz="2400">
                    <a:solidFill>
                      <a:srgbClr val="111827"/>
                    </a:solidFill>
                    <a:latin typeface="Cambria Math" panose="02040503050406030204" pitchFamily="18" charset="0"/>
                  </a:rPr>
                  <a:t>$y$</a:t>
                </a:r>
                <a:r>
                  <a:rPr sz="2400" b="0">
                    <a:solidFill>
                      <a:srgbClr val="111827"/>
                    </a:solidFill>
                    <a:latin typeface="Arial"/>
                  </a:rPr>
                  <a:t> is not differentiable at </a:t>
                </a:r>
                <a:r>
                  <a:rPr lang="en-IN" sz="2400">
                    <a:solidFill>
                      <a:srgbClr val="111827"/>
                    </a:solidFill>
                    <a:latin typeface="Cambria Math" panose="02040503050406030204" pitchFamily="18" charset="0"/>
                  </a:rPr>
                  <a:t>$x=2$</a:t>
                </a:r>
                <a:r>
                  <a:rPr sz="2400" b="0">
                    <a:solidFill>
                      <a:srgbClr val="111827"/>
                    </a:solidFill>
                    <a:latin typeface="Arial"/>
                  </a:rPr>
                  <a:t> and </a:t>
                </a:r>
                <a:r>
                  <a:rPr lang="en-IN" sz="2400">
                    <a:solidFill>
                      <a:srgbClr val="111827"/>
                    </a:solidFill>
                    <a:latin typeface="Cambria Math" panose="02040503050406030204" pitchFamily="18" charset="0"/>
                  </a:rPr>
                  <a:t>$x=-2$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$x=0$</a:t>
                </a:r>
                <a:r>
                  <a:rPr sz="2400" b="0">
                    <a:solidFill>
                      <a:srgbClr val="111827"/>
                    </a:solidFill>
                    <a:latin typeface="Arial"/>
                  </a:rPr>
                  <a:t>: the right derivative is </a:t>
                </a:r>
                <a:r>
                  <a:rPr lang="en-IN" sz="2400">
                    <a:solidFill>
                      <a:srgbClr val="111827"/>
                    </a:solidFill>
                    <a:latin typeface="Cambria Math" panose="02040503050406030204" pitchFamily="18" charset="0"/>
                  </a:rPr>
                  <a:t>$\lim_{h\to0^+}\frac{f(-h)-f(0)}{h}=-f'(0)$</a:t>
                </a:r>
                <a:r>
                  <a:rPr sz="2400" b="0">
                    <a:solidFill>
                      <a:srgbClr val="111827"/>
                    </a:solidFill>
                    <a:latin typeface="Arial"/>
                  </a:rPr>
                  <a:t> and the left derivative is </a:t>
                </a:r>
                <a:r>
                  <a:rPr lang="en-IN" sz="2400">
                    <a:solidFill>
                      <a:srgbClr val="111827"/>
                    </a:solidFill>
                    <a:latin typeface="Cambria Math" panose="02040503050406030204" pitchFamily="18" charset="0"/>
                  </a:rPr>
                  <a:t>$\lim_{h\to0^-}\frac{f(h)-f(0)}{h}=f'(0)$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These are equal iff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is differentiable at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iff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if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is continuous everywhere and fails to be differentiable at exactly two points,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there are three such points. Option (A) is false because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(C) is false because there are two points, and (D)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correct option is (B). (The PDF gives no solution; it is assumed that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has a genuine corner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as the paragraph excludes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from the points of differentiability.)</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These are equal iff </a:t>
                </a:r>
                <a:r>
                  <a:rPr lang="en-IN" sz="2400">
                    <a:solidFill>
                      <a:srgbClr val="111827"/>
                    </a:solidFill>
                    <a:latin typeface="Cambria Math" panose="02040503050406030204" pitchFamily="18" charset="0"/>
                  </a:rPr>
                  <a:t>$f'(0)=0$</a:t>
                </a:r>
                <a:r>
                  <a:rPr sz="2400" b="0">
                    <a:solidFill>
                      <a:srgbClr val="111827"/>
                    </a:solidFill>
                    <a:latin typeface="Arial"/>
                  </a:rPr>
                  <a:t>. So </a:t>
                </a:r>
                <a:r>
                  <a:rPr lang="en-IN" sz="2400">
                    <a:solidFill>
                      <a:srgbClr val="111827"/>
                    </a:solidFill>
                    <a:latin typeface="Cambria Math" panose="02040503050406030204" pitchFamily="18" charset="0"/>
                  </a:rPr>
                  <a:t>$y$</a:t>
                </a:r>
                <a:r>
                  <a:rPr sz="2400" b="0">
                    <a:solidFill>
                      <a:srgbClr val="111827"/>
                    </a:solidFill>
                    <a:latin typeface="Arial"/>
                  </a:rPr>
                  <a:t> is differentiable at </a:t>
                </a:r>
                <a:r>
                  <a:rPr lang="en-IN" sz="2400">
                    <a:solidFill>
                      <a:srgbClr val="111827"/>
                    </a:solidFill>
                    <a:latin typeface="Cambria Math" panose="02040503050406030204" pitchFamily="18" charset="0"/>
                  </a:rPr>
                  <a:t>$0$</a:t>
                </a:r>
                <a:r>
                  <a:rPr sz="2400" b="0">
                    <a:solidFill>
                      <a:srgbClr val="111827"/>
                    </a:solidFill>
                    <a:latin typeface="Arial"/>
                  </a:rPr>
                  <a:t> iff </a:t>
                </a:r>
                <a:r>
                  <a:rPr lang="en-IN" sz="2400">
                    <a:solidFill>
                      <a:srgbClr val="111827"/>
                    </a:solidFill>
                    <a:latin typeface="Cambria Math" panose="02040503050406030204" pitchFamily="18" charset="0"/>
                  </a:rPr>
                  <a:t>$f'(0)=0$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if </a:t>
                </a:r>
                <a:r>
                  <a:rPr lang="en-IN" sz="2400">
                    <a:solidFill>
                      <a:srgbClr val="111827"/>
                    </a:solidFill>
                    <a:latin typeface="Cambria Math" panose="02040503050406030204" pitchFamily="18" charset="0"/>
                  </a:rPr>
                  <a:t>$f'(0)=0$</a:t>
                </a:r>
                <a:r>
                  <a:rPr sz="2400" b="0">
                    <a:solidFill>
                      <a:srgbClr val="111827"/>
                    </a:solidFill>
                    <a:latin typeface="Arial"/>
                  </a:rPr>
                  <a:t>, </a:t>
                </a:r>
                <a:r>
                  <a:rPr lang="en-IN" sz="2400">
                    <a:solidFill>
                      <a:srgbClr val="111827"/>
                    </a:solidFill>
                    <a:latin typeface="Cambria Math" panose="02040503050406030204" pitchFamily="18" charset="0"/>
                  </a:rPr>
                  <a:t>$y$</a:t>
                </a:r>
                <a:r>
                  <a:rPr sz="2400" b="0">
                    <a:solidFill>
                      <a:srgbClr val="111827"/>
                    </a:solidFill>
                    <a:latin typeface="Arial"/>
                  </a:rPr>
                  <a:t> is continuous everywhere and fails to be differentiable at exactly two points, </a:t>
                </a:r>
                <a:r>
                  <a:rPr lang="en-IN" sz="2400">
                    <a:solidFill>
                      <a:srgbClr val="111827"/>
                    </a:solidFill>
                    <a:latin typeface="Cambria Math" panose="02040503050406030204" pitchFamily="18" charset="0"/>
                  </a:rPr>
                  <a:t>$x=\pm2$</a:t>
                </a:r>
                <a:r>
                  <a:rPr sz="2400" b="0">
                    <a:solidFill>
                      <a:srgbClr val="111827"/>
                    </a:solidFill>
                    <a:latin typeface="Arial"/>
                  </a:rPr>
                  <a:t>; if </a:t>
                </a:r>
                <a:r>
                  <a:rPr lang="en-IN" sz="2400">
                    <a:solidFill>
                      <a:srgbClr val="111827"/>
                    </a:solidFill>
                    <a:latin typeface="Cambria Math" panose="02040503050406030204" pitchFamily="18" charset="0"/>
                  </a:rPr>
                  <a:t>$f'(0)\neq0$</a:t>
                </a:r>
                <a:r>
                  <a:rPr sz="2400" b="0">
                    <a:solidFill>
                      <a:srgbClr val="111827"/>
                    </a:solidFill>
                    <a:latin typeface="Arial"/>
                  </a:rPr>
                  <a:t> there are three such points. Option (A) is false because of </a:t>
                </a:r>
                <a:r>
                  <a:rPr lang="en-IN" sz="2400">
                    <a:solidFill>
                      <a:srgbClr val="111827"/>
                    </a:solidFill>
                    <a:latin typeface="Cambria Math" panose="02040503050406030204" pitchFamily="18" charset="0"/>
                  </a:rPr>
                  <a:t>$\pm2$</a:t>
                </a:r>
                <a:r>
                  <a:rPr sz="2400" b="0">
                    <a:solidFill>
                      <a:srgbClr val="111827"/>
                    </a:solidFill>
                    <a:latin typeface="Arial"/>
                  </a:rPr>
                  <a:t>, (C) is false because there are two points, and (D)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correct option is (B). (The PDF gives no solution; it is assumed that </a:t>
                </a:r>
                <a:r>
                  <a:rPr lang="en-IN" sz="2400">
                    <a:solidFill>
                      <a:srgbClr val="111827"/>
                    </a:solidFill>
                    <a:latin typeface="Cambria Math" panose="02040503050406030204" pitchFamily="18" charset="0"/>
                  </a:rPr>
                  <a:t>$f$</a:t>
                </a:r>
                <a:r>
                  <a:rPr sz="2400" b="0">
                    <a:solidFill>
                      <a:srgbClr val="111827"/>
                    </a:solidFill>
                    <a:latin typeface="Arial"/>
                  </a:rPr>
                  <a:t> has a genuine corner at </a:t>
                </a:r>
                <a:r>
                  <a:rPr lang="en-IN" sz="2400">
                    <a:solidFill>
                      <a:srgbClr val="111827"/>
                    </a:solidFill>
                    <a:latin typeface="Cambria Math" panose="02040503050406030204" pitchFamily="18" charset="0"/>
                  </a:rPr>
                  <a:t>$x=-2$</a:t>
                </a:r>
                <a:r>
                  <a:rPr sz="2400" b="0">
                    <a:solidFill>
                      <a:srgbClr val="111827"/>
                    </a:solidFill>
                    <a:latin typeface="Arial"/>
                  </a:rPr>
                  <a:t>, as the paragraph excludes </a:t>
                </a:r>
                <a:r>
                  <a:rPr lang="en-IN" sz="2400">
                    <a:solidFill>
                      <a:srgbClr val="111827"/>
                    </a:solidFill>
                    <a:latin typeface="Cambria Math" panose="02040503050406030204" pitchFamily="18" charset="0"/>
                  </a:rPr>
                  <a:t>$-2$</a:t>
                </a:r>
                <a:r>
                  <a:rPr sz="2400" b="0">
                    <a:solidFill>
                      <a:srgbClr val="111827"/>
                    </a:solidFill>
                    <a:latin typeface="Arial"/>
                  </a:rPr>
                  <a:t> from the points of differentiability.)</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a:t>
            </a:r>
            <a:endParaRPr sz="2800">
              <a:solidFill>
                <a:srgbClr val="15803D"/>
              </a:solidFill>
            </a:endParaRP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graph of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obtained by keeping the part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of the graph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and reflecting it in the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-axis (the part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is discarded);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keeps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instead.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exists, the one-sided derivatives of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are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 differentiable at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iff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Each non-differentiable point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produces two non-differentiable points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of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points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(such as the discontinuity at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are never visited.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Composing with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keeps continuity because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continuous and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continuous 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graph of </a:t>
                </a:r>
                <a:r>
                  <a:rPr lang="en-IN" sz="2400">
                    <a:solidFill>
                      <a:srgbClr val="111827"/>
                    </a:solidFill>
                    <a:latin typeface="Cambria Math" panose="02040503050406030204" pitchFamily="18" charset="0"/>
                  </a:rPr>
                  <a:t>$y=f(-|x|)$</a:t>
                </a:r>
                <a:r>
                  <a:rPr sz="2400" b="0">
                    <a:solidFill>
                      <a:srgbClr val="111827"/>
                    </a:solidFill>
                    <a:latin typeface="Arial"/>
                  </a:rPr>
                  <a:t> is obtained by keeping the part </a:t>
                </a:r>
                <a:r>
                  <a:rPr lang="en-IN" sz="2400">
                    <a:solidFill>
                      <a:srgbClr val="111827"/>
                    </a:solidFill>
                    <a:latin typeface="Cambria Math" panose="02040503050406030204" pitchFamily="18" charset="0"/>
                  </a:rPr>
                  <a:t>$x\le0$</a:t>
                </a:r>
                <a:r>
                  <a:rPr sz="2400" b="0">
                    <a:solidFill>
                      <a:srgbClr val="111827"/>
                    </a:solidFill>
                    <a:latin typeface="Arial"/>
                  </a:rPr>
                  <a:t> of the graph of </a:t>
                </a:r>
                <a:r>
                  <a:rPr lang="en-IN" sz="2400">
                    <a:solidFill>
                      <a:srgbClr val="111827"/>
                    </a:solidFill>
                    <a:latin typeface="Cambria Math" panose="02040503050406030204" pitchFamily="18" charset="0"/>
                  </a:rPr>
                  <a:t>$f$</a:t>
                </a:r>
                <a:r>
                  <a:rPr sz="2400" b="0">
                    <a:solidFill>
                      <a:srgbClr val="111827"/>
                    </a:solidFill>
                    <a:latin typeface="Arial"/>
                  </a:rPr>
                  <a:t> and reflecting it in the </a:t>
                </a:r>
                <a:r>
                  <a:rPr lang="en-IN" sz="2400">
                    <a:solidFill>
                      <a:srgbClr val="111827"/>
                    </a:solidFill>
                    <a:latin typeface="Cambria Math" panose="02040503050406030204" pitchFamily="18" charset="0"/>
                  </a:rPr>
                  <a:t>$y$</a:t>
                </a:r>
                <a:r>
                  <a:rPr sz="2400" b="0">
                    <a:solidFill>
                      <a:srgbClr val="111827"/>
                    </a:solidFill>
                    <a:latin typeface="Arial"/>
                  </a:rPr>
                  <a:t>-axis (the part </a:t>
                </a:r>
                <a:r>
                  <a:rPr lang="en-IN" sz="2400">
                    <a:solidFill>
                      <a:srgbClr val="111827"/>
                    </a:solidFill>
                    <a:latin typeface="Cambria Math" panose="02040503050406030204" pitchFamily="18" charset="0"/>
                  </a:rPr>
                  <a:t>$x&gt;0$</a:t>
                </a:r>
                <a:r>
                  <a:rPr sz="2400" b="0">
                    <a:solidFill>
                      <a:srgbClr val="111827"/>
                    </a:solidFill>
                    <a:latin typeface="Arial"/>
                  </a:rPr>
                  <a:t> is discarded); </a:t>
                </a:r>
                <a:r>
                  <a:rPr lang="en-IN" sz="2400">
                    <a:solidFill>
                      <a:srgbClr val="111827"/>
                    </a:solidFill>
                    <a:latin typeface="Cambria Math" panose="02040503050406030204" pitchFamily="18" charset="0"/>
                  </a:rPr>
                  <a:t>$y=f(|x|)$</a:t>
                </a:r>
                <a:r>
                  <a:rPr sz="2400" b="0">
                    <a:solidFill>
                      <a:srgbClr val="111827"/>
                    </a:solidFill>
                    <a:latin typeface="Arial"/>
                  </a:rPr>
                  <a:t> keeps </a:t>
                </a:r>
                <a:r>
                  <a:rPr lang="en-IN" sz="2400">
                    <a:solidFill>
                      <a:srgbClr val="111827"/>
                    </a:solidFill>
                    <a:latin typeface="Cambria Math" panose="02040503050406030204" pitchFamily="18" charset="0"/>
                  </a:rPr>
                  <a:t>$x\ge0$</a:t>
                </a:r>
                <a:r>
                  <a:rPr sz="2400" b="0">
                    <a:solidFill>
                      <a:srgbClr val="111827"/>
                    </a:solidFill>
                    <a:latin typeface="Arial"/>
                  </a:rPr>
                  <a:t> instead.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$f'(0)$</a:t>
                </a:r>
                <a:r>
                  <a:rPr sz="2400" b="0">
                    <a:solidFill>
                      <a:srgbClr val="111827"/>
                    </a:solidFill>
                    <a:latin typeface="Arial"/>
                  </a:rPr>
                  <a:t> exists, the one-sided derivatives of </a:t>
                </a:r>
                <a:r>
                  <a:rPr lang="en-IN" sz="2400">
                    <a:solidFill>
                      <a:srgbClr val="111827"/>
                    </a:solidFill>
                    <a:latin typeface="Cambria Math" panose="02040503050406030204" pitchFamily="18" charset="0"/>
                  </a:rPr>
                  <a:t>$f(\pm|x|)$</a:t>
                </a:r>
                <a:r>
                  <a:rPr sz="2400" b="0">
                    <a:solidFill>
                      <a:srgbClr val="111827"/>
                    </a:solidFill>
                    <a:latin typeface="Arial"/>
                  </a:rPr>
                  <a:t> at </a:t>
                </a:r>
                <a:r>
                  <a:rPr lang="en-IN" sz="2400">
                    <a:solidFill>
                      <a:srgbClr val="111827"/>
                    </a:solidFill>
                    <a:latin typeface="Cambria Math" panose="02040503050406030204" pitchFamily="18" charset="0"/>
                  </a:rPr>
                  <a:t>$0$</a:t>
                </a:r>
                <a:r>
                  <a:rPr sz="2400" b="0">
                    <a:solidFill>
                      <a:srgbClr val="111827"/>
                    </a:solidFill>
                    <a:latin typeface="Arial"/>
                  </a:rPr>
                  <a:t> are </a:t>
                </a:r>
                <a:r>
                  <a:rPr lang="en-IN" sz="2400">
                    <a:solidFill>
                      <a:srgbClr val="111827"/>
                    </a:solidFill>
                    <a:latin typeface="Cambria Math" panose="02040503050406030204" pitchFamily="18" charset="0"/>
                  </a:rPr>
                  <a:t>$\pm f'(0)$</a:t>
                </a:r>
                <a:r>
                  <a:rPr sz="2400" b="0">
                    <a:solidFill>
                      <a:srgbClr val="111827"/>
                    </a:solidFill>
                    <a:latin typeface="Arial"/>
                  </a:rPr>
                  <a:t> and </a:t>
                </a:r>
                <a:r>
                  <a:rPr lang="en-IN" sz="2400">
                    <a:solidFill>
                      <a:srgbClr val="111827"/>
                    </a:solidFill>
                    <a:latin typeface="Cambria Math" panose="02040503050406030204" pitchFamily="18" charset="0"/>
                  </a:rPr>
                  <a:t>$\mp f'(0)$</a:t>
                </a:r>
                <a:r>
                  <a:rPr sz="2400" b="0">
                    <a:solidFill>
                      <a:srgbClr val="111827"/>
                    </a:solidFill>
                    <a:latin typeface="Arial"/>
                  </a:rPr>
                  <a:t>; so </a:t>
                </a:r>
                <a:r>
                  <a:rPr lang="en-IN" sz="2400">
                    <a:solidFill>
                      <a:srgbClr val="111827"/>
                    </a:solidFill>
                    <a:latin typeface="Cambria Math" panose="02040503050406030204" pitchFamily="18" charset="0"/>
                  </a:rPr>
                  <a:t>$f(|x|)$</a:t>
                </a:r>
                <a:r>
                  <a:rPr sz="2400" b="0">
                    <a:solidFill>
                      <a:srgbClr val="111827"/>
                    </a:solidFill>
                    <a:latin typeface="Arial"/>
                  </a:rPr>
                  <a:t> and </a:t>
                </a:r>
                <a:r>
                  <a:rPr lang="en-IN" sz="2400">
                    <a:solidFill>
                      <a:srgbClr val="111827"/>
                    </a:solidFill>
                    <a:latin typeface="Cambria Math" panose="02040503050406030204" pitchFamily="18" charset="0"/>
                  </a:rPr>
                  <a:t>$f(-|x|)$</a:t>
                </a:r>
                <a:r>
                  <a:rPr sz="2400" b="0">
                    <a:solidFill>
                      <a:srgbClr val="111827"/>
                    </a:solidFill>
                    <a:latin typeface="Arial"/>
                  </a:rPr>
                  <a:t> are differentiable at </a:t>
                </a:r>
                <a:r>
                  <a:rPr lang="en-IN" sz="2400">
                    <a:solidFill>
                      <a:srgbClr val="111827"/>
                    </a:solidFill>
                    <a:latin typeface="Cambria Math" panose="02040503050406030204" pitchFamily="18" charset="0"/>
                  </a:rPr>
                  <a:t>$0$</a:t>
                </a:r>
                <a:r>
                  <a:rPr sz="2400" b="0">
                    <a:solidFill>
                      <a:srgbClr val="111827"/>
                    </a:solidFill>
                    <a:latin typeface="Arial"/>
                  </a:rPr>
                  <a:t> iff </a:t>
                </a:r>
                <a:r>
                  <a:rPr lang="en-IN" sz="2400">
                    <a:solidFill>
                      <a:srgbClr val="111827"/>
                    </a:solidFill>
                    <a:latin typeface="Cambria Math" panose="02040503050406030204" pitchFamily="18" charset="0"/>
                  </a:rPr>
                  <a:t>$f'(0)=0$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Each non-differentiable point </a:t>
                </a:r>
                <a:r>
                  <a:rPr lang="en-IN" sz="2400">
                    <a:solidFill>
                      <a:srgbClr val="111827"/>
                    </a:solidFill>
                    <a:latin typeface="Cambria Math" panose="02040503050406030204" pitchFamily="18" charset="0"/>
                  </a:rPr>
                  <a:t>$a&lt;0$</a:t>
                </a:r>
                <a:r>
                  <a:rPr sz="2400" b="0">
                    <a:solidFill>
                      <a:srgbClr val="111827"/>
                    </a:solidFill>
                    <a:latin typeface="Arial"/>
                  </a:rPr>
                  <a:t> of </a:t>
                </a:r>
                <a:r>
                  <a:rPr lang="en-IN" sz="2400">
                    <a:solidFill>
                      <a:srgbClr val="111827"/>
                    </a:solidFill>
                    <a:latin typeface="Cambria Math" panose="02040503050406030204" pitchFamily="18" charset="0"/>
                  </a:rPr>
                  <a:t>$f$</a:t>
                </a:r>
                <a:r>
                  <a:rPr sz="2400" b="0">
                    <a:solidFill>
                      <a:srgbClr val="111827"/>
                    </a:solidFill>
                    <a:latin typeface="Arial"/>
                  </a:rPr>
                  <a:t> produces two non-differentiable points </a:t>
                </a:r>
                <a:r>
                  <a:rPr lang="en-IN" sz="2400">
                    <a:solidFill>
                      <a:srgbClr val="111827"/>
                    </a:solidFill>
                    <a:latin typeface="Cambria Math" panose="02040503050406030204" pitchFamily="18" charset="0"/>
                  </a:rPr>
                  <a:t>$\pm a$</a:t>
                </a:r>
                <a:r>
                  <a:rPr sz="2400" b="0">
                    <a:solidFill>
                      <a:srgbClr val="111827"/>
                    </a:solidFill>
                    <a:latin typeface="Arial"/>
                  </a:rPr>
                  <a:t> of </a:t>
                </a:r>
                <a:r>
                  <a:rPr lang="en-IN" sz="2400">
                    <a:solidFill>
                      <a:srgbClr val="111827"/>
                    </a:solidFill>
                    <a:latin typeface="Cambria Math" panose="02040503050406030204" pitchFamily="18" charset="0"/>
                  </a:rPr>
                  <a:t>$f(-|x|)$</a:t>
                </a:r>
                <a:r>
                  <a:rPr sz="2400" b="0">
                    <a:solidFill>
                      <a:srgbClr val="111827"/>
                    </a:solidFill>
                    <a:latin typeface="Arial"/>
                  </a:rPr>
                  <a:t>; points of </a:t>
                </a:r>
                <a:r>
                  <a:rPr lang="en-IN" sz="2400">
                    <a:solidFill>
                      <a:srgbClr val="111827"/>
                    </a:solidFill>
                    <a:latin typeface="Cambria Math" panose="02040503050406030204" pitchFamily="18" charset="0"/>
                  </a:rPr>
                  <a:t>$f$</a:t>
                </a:r>
                <a:r>
                  <a:rPr sz="2400" b="0">
                    <a:solidFill>
                      <a:srgbClr val="111827"/>
                    </a:solidFill>
                    <a:latin typeface="Arial"/>
                  </a:rPr>
                  <a:t> with </a:t>
                </a:r>
                <a:r>
                  <a:rPr lang="en-IN" sz="2400">
                    <a:solidFill>
                      <a:srgbClr val="111827"/>
                    </a:solidFill>
                    <a:latin typeface="Cambria Math" panose="02040503050406030204" pitchFamily="18" charset="0"/>
                  </a:rPr>
                  <a:t>$x&gt;0$</a:t>
                </a:r>
                <a:r>
                  <a:rPr sz="2400" b="0">
                    <a:solidFill>
                      <a:srgbClr val="111827"/>
                    </a:solidFill>
                    <a:latin typeface="Arial"/>
                  </a:rPr>
                  <a:t> (such as the discontinuity at </a:t>
                </a:r>
                <a:r>
                  <a:rPr lang="en-IN" sz="2400">
                    <a:solidFill>
                      <a:srgbClr val="111827"/>
                    </a:solidFill>
                    <a:latin typeface="Cambria Math" panose="02040503050406030204" pitchFamily="18" charset="0"/>
                  </a:rPr>
                  <a:t>$3$</a:t>
                </a:r>
                <a:r>
                  <a:rPr sz="2400" b="0">
                    <a:solidFill>
                      <a:srgbClr val="111827"/>
                    </a:solidFill>
                    <a:latin typeface="Arial"/>
                  </a:rPr>
                  <a:t>) are never visited.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Composing with </a:t>
                </a:r>
                <a:r>
                  <a:rPr lang="en-IN" sz="2400">
                    <a:solidFill>
                      <a:srgbClr val="111827"/>
                    </a:solidFill>
                    <a:latin typeface="Cambria Math" panose="02040503050406030204" pitchFamily="18" charset="0"/>
                  </a:rPr>
                  <a:t>$-|x|$</a:t>
                </a:r>
                <a:r>
                  <a:rPr sz="2400" b="0">
                    <a:solidFill>
                      <a:srgbClr val="111827"/>
                    </a:solidFill>
                    <a:latin typeface="Arial"/>
                  </a:rPr>
                  <a:t> keeps continuity because </a:t>
                </a:r>
                <a:r>
                  <a:rPr lang="en-IN" sz="2400">
                    <a:solidFill>
                      <a:srgbClr val="111827"/>
                    </a:solidFill>
                    <a:latin typeface="Cambria Math" panose="02040503050406030204" pitchFamily="18" charset="0"/>
                  </a:rPr>
                  <a:t>$-|x|$</a:t>
                </a:r>
                <a:r>
                  <a:rPr sz="2400" b="0">
                    <a:solidFill>
                      <a:srgbClr val="111827"/>
                    </a:solidFill>
                    <a:latin typeface="Arial"/>
                  </a:rPr>
                  <a:t> is continuous and </a:t>
                </a:r>
                <a:r>
                  <a:rPr lang="en-IN" sz="2400">
                    <a:solidFill>
                      <a:srgbClr val="111827"/>
                    </a:solidFill>
                    <a:latin typeface="Cambria Math" panose="02040503050406030204" pitchFamily="18" charset="0"/>
                  </a:rPr>
                  <a:t>$f$</a:t>
                </a:r>
                <a:r>
                  <a:rPr sz="2400" b="0">
                    <a:solidFill>
                      <a:srgbClr val="111827"/>
                    </a:solidFill>
                    <a:latin typeface="Arial"/>
                  </a:rPr>
                  <a:t> is continuous on </a:t>
                </a:r>
                <a:r>
                  <a:rPr lang="en-IN" sz="2400">
                    <a:solidFill>
                      <a:srgbClr val="111827"/>
                    </a:solidFill>
                    <a:latin typeface="Cambria Math" panose="02040503050406030204" pitchFamily="18" charset="0"/>
                  </a:rPr>
                  <a:t>$(-\infty,0]$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4</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Q30 – Q34</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No marking scheme printed; JEE Advanced default of 4 marks assumed</a:t>
            </a:r>
            <a:endParaRPr sz="2800">
              <a:solidFill>
                <a:srgbClr val="FFFFFF"/>
              </a:solidFill>
            </a:endParaRP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2275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a polynomial of degree </a:t>
                </a:r>
                <a14:m>
                  <m:oMath xmlns:m="http://schemas.openxmlformats.org/officeDocument/2006/math">
                    <m:r>
                      <a:rPr lang="en-IN" sz="2400" i="1">
                        <a:solidFill>
                          <a:srgbClr val="111827"/>
                        </a:solidFill>
                        <a:latin typeface="Cambria Math" panose="02040503050406030204" pitchFamily="18" charset="0"/>
                      </a:rPr>
                      <m:t>2016</m:t>
                    </m:r>
                  </m:oMath>
                </a14:m>
                <a:r>
                  <a:rPr sz="2400" b="0">
                    <a:solidFill>
                      <a:srgbClr val="111827"/>
                    </a:solidFill>
                    <a:latin typeface="Arial"/>
                  </a:rPr>
                  <a:t> satisfying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an even function and minimum number of points of inflection of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then the value of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 is ________.</a:t>
                </a:r>
                <a:endParaRPr sz="2400">
                  <a:solidFill>
                    <a:srgbClr val="111827"/>
                  </a:solidFill>
                </a:endParaRPr>
              </a:p>
            </p:txBody>
          </p:sp>
        </mc:Choice>
        <mc:Fallback>
          <p:sp>
            <p:nvSpPr>
              <p:cNvPr id="4" name="Rounded Rectangle 3"/>
              <p:cNvSpPr/>
              <p:nvPr/>
            </p:nvSpPr>
            <p:spPr>
              <a:xfrm>
                <a:off x="731520" y="1280160"/>
                <a:ext cx="10725912" cy="22275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$f(x)$</a:t>
                </a:r>
                <a:r>
                  <a:rPr sz="2400" b="0">
                    <a:solidFill>
                      <a:srgbClr val="111827"/>
                    </a:solidFill>
                    <a:latin typeface="Arial"/>
                  </a:rPr>
                  <a:t> be a polynomial of degree </a:t>
                </a:r>
                <a:r>
                  <a:rPr lang="en-IN" sz="2400">
                    <a:solidFill>
                      <a:srgbClr val="111827"/>
                    </a:solidFill>
                    <a:latin typeface="Cambria Math" panose="02040503050406030204" pitchFamily="18" charset="0"/>
                  </a:rPr>
                  <a:t>$2016$</a:t>
                </a:r>
                <a:r>
                  <a:rPr sz="2400" b="0">
                    <a:solidFill>
                      <a:srgbClr val="111827"/>
                    </a:solidFill>
                    <a:latin typeface="Arial"/>
                  </a:rPr>
                  <a:t> satisfying </a:t>
                </a:r>
                <a:r>
                  <a:rPr lang="en-IN" sz="2400">
                    <a:solidFill>
                      <a:srgbClr val="111827"/>
                    </a:solidFill>
                    <a:latin typeface="Cambria Math" panose="02040503050406030204" pitchFamily="18" charset="0"/>
                  </a:rPr>
                  <a:t>$f(1)=\frac12$</a:t>
                </a:r>
                <a:r>
                  <a:rPr sz="2400" b="0">
                    <a:solidFill>
                      <a:srgbClr val="111827"/>
                    </a:solidFill>
                    <a:latin typeface="Arial"/>
                  </a:rPr>
                  <a:t>, </a:t>
                </a:r>
                <a:r>
                  <a:rPr lang="en-IN" sz="2400">
                    <a:solidFill>
                      <a:srgbClr val="111827"/>
                    </a:solidFill>
                    <a:latin typeface="Cambria Math" panose="02040503050406030204" pitchFamily="18" charset="0"/>
                  </a:rPr>
                  <a:t>$f(2)=2$</a:t>
                </a:r>
                <a:r>
                  <a:rPr sz="2400" b="0">
                    <a:solidFill>
                      <a:srgbClr val="111827"/>
                    </a:solidFill>
                    <a:latin typeface="Arial"/>
                  </a:rPr>
                  <a:t>, </a:t>
                </a:r>
                <a:r>
                  <a:rPr lang="en-IN" sz="2400">
                    <a:solidFill>
                      <a:srgbClr val="111827"/>
                    </a:solidFill>
                    <a:latin typeface="Cambria Math" panose="02040503050406030204" pitchFamily="18" charset="0"/>
                  </a:rPr>
                  <a:t>$f(3)=-5$</a:t>
                </a:r>
                <a:r>
                  <a:rPr sz="2400" b="0">
                    <a:solidFill>
                      <a:srgbClr val="111827"/>
                    </a:solidFill>
                    <a:latin typeface="Arial"/>
                  </a:rPr>
                  <a:t>, </a:t>
                </a:r>
                <a:r>
                  <a:rPr lang="en-IN" sz="2400">
                    <a:solidFill>
                      <a:srgbClr val="111827"/>
                    </a:solidFill>
                    <a:latin typeface="Cambria Math" panose="02040503050406030204" pitchFamily="18" charset="0"/>
                  </a:rPr>
                  <a:t>$f(-4)=3$</a:t>
                </a:r>
                <a:r>
                  <a:rPr sz="2400" b="0">
                    <a:solidFill>
                      <a:srgbClr val="111827"/>
                    </a:solidFill>
                    <a:latin typeface="Arial"/>
                  </a:rPr>
                  <a:t>. If </a:t>
                </a:r>
                <a:r>
                  <a:rPr lang="en-IN" sz="2400">
                    <a:solidFill>
                      <a:srgbClr val="111827"/>
                    </a:solidFill>
                    <a:latin typeface="Cambria Math" panose="02040503050406030204" pitchFamily="18" charset="0"/>
                  </a:rPr>
                  <a:t>$f(x)$</a:t>
                </a:r>
                <a:r>
                  <a:rPr sz="2400" b="0">
                    <a:solidFill>
                      <a:srgbClr val="111827"/>
                    </a:solidFill>
                    <a:latin typeface="Arial"/>
                  </a:rPr>
                  <a:t> is an even function and minimum number of points of inflection of </a:t>
                </a:r>
                <a:r>
                  <a:rPr lang="en-IN" sz="2400">
                    <a:solidFill>
                      <a:srgbClr val="111827"/>
                    </a:solidFill>
                    <a:latin typeface="Cambria Math" panose="02040503050406030204" pitchFamily="18" charset="0"/>
                  </a:rPr>
                  <a:t>$f(x)$</a:t>
                </a:r>
                <a:r>
                  <a:rPr sz="2400" b="0">
                    <a:solidFill>
                      <a:srgbClr val="111827"/>
                    </a:solidFill>
                    <a:latin typeface="Arial"/>
                  </a:rPr>
                  <a:t> is </a:t>
                </a:r>
                <a:r>
                  <a:rPr lang="en-IN" sz="2400">
                    <a:solidFill>
                      <a:srgbClr val="111827"/>
                    </a:solidFill>
                    <a:latin typeface="Cambria Math" panose="02040503050406030204" pitchFamily="18" charset="0"/>
                  </a:rPr>
                  <a:t>$n$</a:t>
                </a:r>
                <a:r>
                  <a:rPr sz="2400" b="0">
                    <a:solidFill>
                      <a:srgbClr val="111827"/>
                    </a:solidFill>
                    <a:latin typeface="Arial"/>
                  </a:rPr>
                  <a:t>, then the value of </a:t>
                </a:r>
                <a:r>
                  <a:rPr lang="en-IN" sz="2400">
                    <a:solidFill>
                      <a:srgbClr val="111827"/>
                    </a:solidFill>
                    <a:latin typeface="Cambria Math" panose="02040503050406030204" pitchFamily="18" charset="0"/>
                  </a:rPr>
                  <a:t>$\frac1n$</a:t>
                </a:r>
                <a:r>
                  <a:rPr sz="2400" b="0">
                    <a:solidFill>
                      <a:srgbClr val="111827"/>
                    </a:solidFill>
                    <a:latin typeface="Arial"/>
                  </a:rPr>
                  <a:t> is ________.</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736339"/>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Points of inflection of polynomials and Rolle's theorem applied to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4(A level above Average JEE Advanced Level)</a:t>
                </a:r>
                <a:endParaRPr sz="2400">
                  <a:solidFill>
                    <a:srgbClr val="111827"/>
                  </a:solidFill>
                </a:endParaRPr>
              </a:p>
            </p:txBody>
          </p:sp>
        </mc:Choice>
        <mc:Fallback>
          <p:sp>
            <p:nvSpPr>
              <p:cNvPr id="5" name="Rectangle 4"/>
              <p:cNvSpPr/>
              <p:nvPr/>
            </p:nvSpPr>
            <p:spPr>
              <a:xfrm>
                <a:off x="731520" y="3736339"/>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Points of inflection of polynomials and Rolle's theorem applied to </a:t>
                </a:r>
                <a:r>
                  <a:rPr lang="en-IN" sz="2400">
                    <a:solidFill>
                      <a:srgbClr val="111827"/>
                    </a:solidFill>
                    <a:latin typeface="Cambria Math" panose="02040503050406030204" pitchFamily="18" charset="0"/>
                  </a:rPr>
                  <a:t>$f'$</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4(A level above Average JEE Advanced Level)</a:t>
                </a:r>
                <a:endParaRPr sz="2400">
                  <a:solidFill>
                    <a:srgbClr val="111827"/>
                  </a:solidFill>
                </a:endParaRPr>
              </a:p>
            </p:txBody>
          </p:sp>
        </mc:Fallback>
      </mc:AlternateContent>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Evenness doubles the zeros of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to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β</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0</m:t>
                    </m:r>
                  </m:oMath>
                </a14:m>
                <a:r>
                  <a:rPr sz="2400" b="0">
                    <a:solidFill>
                      <a:srgbClr val="78350F"/>
                    </a:solidFill>
                    <a:latin typeface="Arial"/>
                  </a:rPr>
                  <a:t>; Rolle's theorem on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then forces four points of inflection.</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Evenness doubles the zeros of </a:t>
                </a:r>
                <a:r>
                  <a:rPr lang="en-IN" sz="2400">
                    <a:solidFill>
                      <a:srgbClr val="78350F"/>
                    </a:solidFill>
                    <a:latin typeface="Cambria Math" panose="02040503050406030204" pitchFamily="18" charset="0"/>
                  </a:rPr>
                  <a:t>$f'$</a:t>
                </a:r>
                <a:r>
                  <a:rPr sz="2400" b="0">
                    <a:solidFill>
                      <a:srgbClr val="78350F"/>
                    </a:solidFill>
                    <a:latin typeface="Arial"/>
                  </a:rPr>
                  <a:t> to </a:t>
                </a:r>
                <a:r>
                  <a:rPr lang="en-IN" sz="2400">
                    <a:solidFill>
                      <a:srgbClr val="78350F"/>
                    </a:solidFill>
                    <a:latin typeface="Cambria Math" panose="02040503050406030204" pitchFamily="18" charset="0"/>
                  </a:rPr>
                  <a:t>$\pm\alpha,\pm\beta$</a:t>
                </a:r>
                <a:r>
                  <a:rPr sz="2400" b="0">
                    <a:solidFill>
                      <a:srgbClr val="78350F"/>
                    </a:solidFill>
                    <a:latin typeface="Arial"/>
                  </a:rPr>
                  <a:t> and </a:t>
                </a:r>
                <a:r>
                  <a:rPr lang="en-IN" sz="2400">
                    <a:solidFill>
                      <a:srgbClr val="78350F"/>
                    </a:solidFill>
                    <a:latin typeface="Cambria Math" panose="02040503050406030204" pitchFamily="18" charset="0"/>
                  </a:rPr>
                  <a:t>$0$</a:t>
                </a:r>
                <a:r>
                  <a:rPr sz="2400" b="0">
                    <a:solidFill>
                      <a:srgbClr val="78350F"/>
                    </a:solidFill>
                    <a:latin typeface="Arial"/>
                  </a:rPr>
                  <a:t>; Rolle's theorem on </a:t>
                </a:r>
                <a:r>
                  <a:rPr lang="en-IN" sz="2400">
                    <a:solidFill>
                      <a:srgbClr val="78350F"/>
                    </a:solidFill>
                    <a:latin typeface="Cambria Math" panose="02040503050406030204" pitchFamily="18" charset="0"/>
                  </a:rPr>
                  <a:t>$f'$</a:t>
                </a:r>
                <a:r>
                  <a:rPr sz="2400" b="0">
                    <a:solidFill>
                      <a:srgbClr val="78350F"/>
                    </a:solidFill>
                    <a:latin typeface="Arial"/>
                  </a:rPr>
                  <a:t> then forces four points of inflection.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even, 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also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odd, 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values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increases from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decreases from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and increases from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LMVT,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for some </a:t>
                </a:r>
                <a14:m>
                  <m:oMath xmlns:m="http://schemas.openxmlformats.org/officeDocument/2006/math">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for some </a:t>
                </a:r>
                <a14:m>
                  <m:oMath xmlns:m="http://schemas.openxmlformats.org/officeDocument/2006/math">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for some </a:t>
                </a:r>
                <a14:m>
                  <m:oMath xmlns:m="http://schemas.openxmlformats.org/officeDocument/2006/math">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a:t>
                </a:r>
                <a:r>
                  <a:rPr sz="2400" b="0">
                    <a:solidFill>
                      <a:srgbClr val="111827"/>
                    </a:solidFill>
                    <a:latin typeface="Arial"/>
                  </a:rPr>
                  <a:t> is even, so </a:t>
                </a:r>
                <a:r>
                  <a:rPr lang="en-IN" sz="2400">
                    <a:solidFill>
                      <a:srgbClr val="111827"/>
                    </a:solidFill>
                    <a:latin typeface="Cambria Math" panose="02040503050406030204" pitchFamily="18" charset="0"/>
                  </a:rPr>
                  <a:t>$f(-1)=\frac12$</a:t>
                </a:r>
                <a:r>
                  <a:rPr sz="2400" b="0">
                    <a:solidFill>
                      <a:srgbClr val="111827"/>
                    </a:solidFill>
                    <a:latin typeface="Arial"/>
                  </a:rPr>
                  <a:t>, </a:t>
                </a:r>
                <a:r>
                  <a:rPr lang="en-IN" sz="2400">
                    <a:solidFill>
                      <a:srgbClr val="111827"/>
                    </a:solidFill>
                    <a:latin typeface="Cambria Math" panose="02040503050406030204" pitchFamily="18" charset="0"/>
                  </a:rPr>
                  <a:t>$f(-2)=2$</a:t>
                </a:r>
                <a:r>
                  <a:rPr sz="2400" b="0">
                    <a:solidFill>
                      <a:srgbClr val="111827"/>
                    </a:solidFill>
                    <a:latin typeface="Arial"/>
                  </a:rPr>
                  <a:t>, </a:t>
                </a:r>
                <a:r>
                  <a:rPr lang="en-IN" sz="2400">
                    <a:solidFill>
                      <a:srgbClr val="111827"/>
                    </a:solidFill>
                    <a:latin typeface="Cambria Math" panose="02040503050406030204" pitchFamily="18" charset="0"/>
                  </a:rPr>
                  <a:t>$f(-3)=-5$</a:t>
                </a:r>
                <a:r>
                  <a:rPr sz="2400" b="0">
                    <a:solidFill>
                      <a:srgbClr val="111827"/>
                    </a:solidFill>
                    <a:latin typeface="Arial"/>
                  </a:rPr>
                  <a:t>, </a:t>
                </a:r>
                <a:r>
                  <a:rPr lang="en-IN" sz="2400">
                    <a:solidFill>
                      <a:srgbClr val="111827"/>
                    </a:solidFill>
                    <a:latin typeface="Cambria Math" panose="02040503050406030204" pitchFamily="18" charset="0"/>
                  </a:rPr>
                  <a:t>$f(4)=f(-4)=3$</a:t>
                </a:r>
                <a:r>
                  <a:rPr sz="2400" b="0">
                    <a:solidFill>
                      <a:srgbClr val="111827"/>
                    </a:solidFill>
                    <a:latin typeface="Arial"/>
                  </a:rPr>
                  <a:t>; also </a:t>
                </a:r>
                <a:r>
                  <a:rPr lang="en-IN" sz="2400">
                    <a:solidFill>
                      <a:srgbClr val="111827"/>
                    </a:solidFill>
                    <a:latin typeface="Cambria Math" panose="02040503050406030204" pitchFamily="18" charset="0"/>
                  </a:rPr>
                  <a:t>$f'$</a:t>
                </a:r>
                <a:r>
                  <a:rPr sz="2400" b="0">
                    <a:solidFill>
                      <a:srgbClr val="111827"/>
                    </a:solidFill>
                    <a:latin typeface="Arial"/>
                  </a:rPr>
                  <a:t> is odd, so </a:t>
                </a:r>
                <a:r>
                  <a:rPr lang="en-IN" sz="2400">
                    <a:solidFill>
                      <a:srgbClr val="111827"/>
                    </a:solidFill>
                    <a:latin typeface="Cambria Math" panose="02040503050406030204" pitchFamily="18" charset="0"/>
                  </a:rPr>
                  <a:t>$f'(0)=0$</a:t>
                </a:r>
                <a:r>
                  <a:rPr sz="2400" b="0">
                    <a:solidFill>
                      <a:srgbClr val="111827"/>
                    </a:solidFill>
                    <a:latin typeface="Arial"/>
                  </a:rPr>
                  <a:t> and </a:t>
                </a:r>
                <a:r>
                  <a:rPr lang="en-IN" sz="2400">
                    <a:solidFill>
                      <a:srgbClr val="111827"/>
                    </a:solidFill>
                    <a:latin typeface="Cambria Math" panose="02040503050406030204" pitchFamily="18" charset="0"/>
                  </a:rPr>
                  <a:t>$f'(-x)=-f'(x)$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values at </a:t>
                </a:r>
                <a:r>
                  <a:rPr lang="en-IN" sz="2400">
                    <a:solidFill>
                      <a:srgbClr val="111827"/>
                    </a:solidFill>
                    <a:latin typeface="Cambria Math" panose="02040503050406030204" pitchFamily="18" charset="0"/>
                  </a:rPr>
                  <a:t>$1,2,3,4$</a:t>
                </a:r>
                <a:r>
                  <a:rPr sz="2400" b="0">
                    <a:solidFill>
                      <a:srgbClr val="111827"/>
                    </a:solidFill>
                    <a:latin typeface="Arial"/>
                  </a:rPr>
                  <a:t> are </a:t>
                </a:r>
                <a:r>
                  <a:rPr lang="en-IN" sz="2400">
                    <a:solidFill>
                      <a:srgbClr val="111827"/>
                    </a:solidFill>
                    <a:latin typeface="Cambria Math" panose="02040503050406030204" pitchFamily="18" charset="0"/>
                  </a:rPr>
                  <a:t>$\frac12,2,-5,3$</a:t>
                </a:r>
                <a:r>
                  <a:rPr sz="2400" b="0">
                    <a:solidFill>
                      <a:srgbClr val="111827"/>
                    </a:solidFill>
                    <a:latin typeface="Arial"/>
                  </a:rPr>
                  <a:t>: </a:t>
                </a:r>
                <a:r>
                  <a:rPr lang="en-IN" sz="2400">
                    <a:solidFill>
                      <a:srgbClr val="111827"/>
                    </a:solidFill>
                    <a:latin typeface="Cambria Math" panose="02040503050406030204" pitchFamily="18" charset="0"/>
                  </a:rPr>
                  <a:t>$f$</a:t>
                </a:r>
                <a:r>
                  <a:rPr sz="2400" b="0">
                    <a:solidFill>
                      <a:srgbClr val="111827"/>
                    </a:solidFill>
                    <a:latin typeface="Arial"/>
                  </a:rPr>
                  <a:t> increases from </a:t>
                </a:r>
                <a:r>
                  <a:rPr lang="en-IN" sz="2400">
                    <a:solidFill>
                      <a:srgbClr val="111827"/>
                    </a:solidFill>
                    <a:latin typeface="Cambria Math" panose="02040503050406030204" pitchFamily="18" charset="0"/>
                  </a:rPr>
                  <a:t>$1$</a:t>
                </a:r>
                <a:r>
                  <a:rPr sz="2400" b="0">
                    <a:solidFill>
                      <a:srgbClr val="111827"/>
                    </a:solidFill>
                    <a:latin typeface="Arial"/>
                  </a:rPr>
                  <a:t> to </a:t>
                </a:r>
                <a:r>
                  <a:rPr lang="en-IN" sz="2400">
                    <a:solidFill>
                      <a:srgbClr val="111827"/>
                    </a:solidFill>
                    <a:latin typeface="Cambria Math" panose="02040503050406030204" pitchFamily="18" charset="0"/>
                  </a:rPr>
                  <a:t>$2$</a:t>
                </a:r>
                <a:r>
                  <a:rPr sz="2400" b="0">
                    <a:solidFill>
                      <a:srgbClr val="111827"/>
                    </a:solidFill>
                    <a:latin typeface="Arial"/>
                  </a:rPr>
                  <a:t>, decreases from </a:t>
                </a:r>
                <a:r>
                  <a:rPr lang="en-IN" sz="2400">
                    <a:solidFill>
                      <a:srgbClr val="111827"/>
                    </a:solidFill>
                    <a:latin typeface="Cambria Math" panose="02040503050406030204" pitchFamily="18" charset="0"/>
                  </a:rPr>
                  <a:t>$2$</a:t>
                </a:r>
                <a:r>
                  <a:rPr sz="2400" b="0">
                    <a:solidFill>
                      <a:srgbClr val="111827"/>
                    </a:solidFill>
                    <a:latin typeface="Arial"/>
                  </a:rPr>
                  <a:t> to </a:t>
                </a:r>
                <a:r>
                  <a:rPr lang="en-IN" sz="2400">
                    <a:solidFill>
                      <a:srgbClr val="111827"/>
                    </a:solidFill>
                    <a:latin typeface="Cambria Math" panose="02040503050406030204" pitchFamily="18" charset="0"/>
                  </a:rPr>
                  <a:t>$3$</a:t>
                </a:r>
                <a:r>
                  <a:rPr sz="2400" b="0">
                    <a:solidFill>
                      <a:srgbClr val="111827"/>
                    </a:solidFill>
                    <a:latin typeface="Arial"/>
                  </a:rPr>
                  <a:t> and increases from </a:t>
                </a:r>
                <a:r>
                  <a:rPr lang="en-IN" sz="2400">
                    <a:solidFill>
                      <a:srgbClr val="111827"/>
                    </a:solidFill>
                    <a:latin typeface="Cambria Math" panose="02040503050406030204" pitchFamily="18" charset="0"/>
                  </a:rPr>
                  <a:t>$3$</a:t>
                </a:r>
                <a:r>
                  <a:rPr sz="2400" b="0">
                    <a:solidFill>
                      <a:srgbClr val="111827"/>
                    </a:solidFill>
                    <a:latin typeface="Arial"/>
                  </a:rPr>
                  <a:t> to </a:t>
                </a:r>
                <a:r>
                  <a:rPr lang="en-IN" sz="2400">
                    <a:solidFill>
                      <a:srgbClr val="111827"/>
                    </a:solidFill>
                    <a:latin typeface="Cambria Math" panose="02040503050406030204" pitchFamily="18" charset="0"/>
                  </a:rPr>
                  <a:t>$4$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LMVT, </a:t>
                </a:r>
                <a:r>
                  <a:rPr lang="en-IN" sz="2400">
                    <a:solidFill>
                      <a:srgbClr val="111827"/>
                    </a:solidFill>
                    <a:latin typeface="Cambria Math" panose="02040503050406030204" pitchFamily="18" charset="0"/>
                  </a:rPr>
                  <a:t>$f'(c_1)&gt;0$</a:t>
                </a:r>
                <a:r>
                  <a:rPr sz="2400" b="0">
                    <a:solidFill>
                      <a:srgbClr val="111827"/>
                    </a:solidFill>
                    <a:latin typeface="Arial"/>
                  </a:rPr>
                  <a:t> for some </a:t>
                </a:r>
                <a:r>
                  <a:rPr lang="en-IN" sz="2400">
                    <a:solidFill>
                      <a:srgbClr val="111827"/>
                    </a:solidFill>
                    <a:latin typeface="Cambria Math" panose="02040503050406030204" pitchFamily="18" charset="0"/>
                  </a:rPr>
                  <a:t>$c_1\in(1,2)$</a:t>
                </a:r>
                <a:r>
                  <a:rPr sz="2400" b="0">
                    <a:solidFill>
                      <a:srgbClr val="111827"/>
                    </a:solidFill>
                    <a:latin typeface="Arial"/>
                  </a:rPr>
                  <a:t>, </a:t>
                </a:r>
                <a:r>
                  <a:rPr lang="en-IN" sz="2400">
                    <a:solidFill>
                      <a:srgbClr val="111827"/>
                    </a:solidFill>
                    <a:latin typeface="Cambria Math" panose="02040503050406030204" pitchFamily="18" charset="0"/>
                  </a:rPr>
                  <a:t>$f'(c_2)&lt;0$</a:t>
                </a:r>
                <a:r>
                  <a:rPr sz="2400" b="0">
                    <a:solidFill>
                      <a:srgbClr val="111827"/>
                    </a:solidFill>
                    <a:latin typeface="Arial"/>
                  </a:rPr>
                  <a:t> for some </a:t>
                </a:r>
                <a:r>
                  <a:rPr lang="en-IN" sz="2400">
                    <a:solidFill>
                      <a:srgbClr val="111827"/>
                    </a:solidFill>
                    <a:latin typeface="Cambria Math" panose="02040503050406030204" pitchFamily="18" charset="0"/>
                  </a:rPr>
                  <a:t>$c_2\in(2,3)$</a:t>
                </a:r>
                <a:r>
                  <a:rPr sz="2400" b="0">
                    <a:solidFill>
                      <a:srgbClr val="111827"/>
                    </a:solidFill>
                    <a:latin typeface="Arial"/>
                  </a:rPr>
                  <a:t> and </a:t>
                </a:r>
                <a:r>
                  <a:rPr lang="en-IN" sz="2400">
                    <a:solidFill>
                      <a:srgbClr val="111827"/>
                    </a:solidFill>
                    <a:latin typeface="Cambria Math" panose="02040503050406030204" pitchFamily="18" charset="0"/>
                  </a:rPr>
                  <a:t>$f'(c_3)&gt;0$</a:t>
                </a:r>
                <a:r>
                  <a:rPr sz="2400" b="0">
                    <a:solidFill>
                      <a:srgbClr val="111827"/>
                    </a:solidFill>
                    <a:latin typeface="Arial"/>
                  </a:rPr>
                  <a:t> for some </a:t>
                </a:r>
                <a:r>
                  <a:rPr lang="en-IN" sz="2400">
                    <a:solidFill>
                      <a:srgbClr val="111827"/>
                    </a:solidFill>
                    <a:latin typeface="Cambria Math" panose="02040503050406030204" pitchFamily="18" charset="0"/>
                  </a:rPr>
                  <a:t>$c_3\in(3,4)$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the intermediate value theorem there are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β</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odd,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Hence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five distinct zeros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β</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Between consecutive zeros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𝑣</m:t>
                    </m:r>
                  </m:oMath>
                </a14:m>
                <a:r>
                  <a:rPr sz="2400" b="0">
                    <a:solidFill>
                      <a:srgbClr val="111827"/>
                    </a:solidFill>
                    <a:latin typeface="Arial"/>
                  </a:rPr>
                  <a:t> of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(four such gaps),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not identically zero. If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for some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then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somewhere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somewhere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(use LMVT for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the case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is the same with the signs reversed.</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the intermediate value theorem there are </a:t>
                </a:r>
                <a:r>
                  <a:rPr lang="en-IN" sz="2400">
                    <a:solidFill>
                      <a:srgbClr val="111827"/>
                    </a:solidFill>
                    <a:latin typeface="Cambria Math" panose="02040503050406030204" pitchFamily="18" charset="0"/>
                  </a:rPr>
                  <a:t>$\alpha\in(c_1,c_2)$</a:t>
                </a:r>
                <a:r>
                  <a:rPr sz="2400" b="0">
                    <a:solidFill>
                      <a:srgbClr val="111827"/>
                    </a:solidFill>
                    <a:latin typeface="Arial"/>
                  </a:rPr>
                  <a:t> and </a:t>
                </a:r>
                <a:r>
                  <a:rPr lang="en-IN" sz="2400">
                    <a:solidFill>
                      <a:srgbClr val="111827"/>
                    </a:solidFill>
                    <a:latin typeface="Cambria Math" panose="02040503050406030204" pitchFamily="18" charset="0"/>
                  </a:rPr>
                  <a:t>$\beta\in(c_2,c_3)$</a:t>
                </a:r>
                <a:r>
                  <a:rPr sz="2400" b="0">
                    <a:solidFill>
                      <a:srgbClr val="111827"/>
                    </a:solidFill>
                    <a:latin typeface="Arial"/>
                  </a:rPr>
                  <a:t> with </a:t>
                </a:r>
                <a:r>
                  <a:rPr lang="en-IN" sz="2400">
                    <a:solidFill>
                      <a:srgbClr val="111827"/>
                    </a:solidFill>
                    <a:latin typeface="Cambria Math" panose="02040503050406030204" pitchFamily="18" charset="0"/>
                  </a:rPr>
                  <a:t>$f'(\alpha)=f'(\beta)=0$</a:t>
                </a:r>
                <a:r>
                  <a:rPr sz="2400" b="0">
                    <a:solidFill>
                      <a:srgbClr val="111827"/>
                    </a:solidFill>
                    <a:latin typeface="Arial"/>
                  </a:rPr>
                  <a:t>, and </a:t>
                </a:r>
                <a:r>
                  <a:rPr lang="en-IN" sz="2400">
                    <a:solidFill>
                      <a:srgbClr val="111827"/>
                    </a:solidFill>
                    <a:latin typeface="Cambria Math" panose="02040503050406030204" pitchFamily="18" charset="0"/>
                  </a:rPr>
                  <a:t>$\alpha&lt;c_2&lt;\beta$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$f'$</a:t>
                </a:r>
                <a:r>
                  <a:rPr sz="2400" b="0">
                    <a:solidFill>
                      <a:srgbClr val="111827"/>
                    </a:solidFill>
                    <a:latin typeface="Arial"/>
                  </a:rPr>
                  <a:t> is odd, </a:t>
                </a:r>
                <a:r>
                  <a:rPr lang="en-IN" sz="2400">
                    <a:solidFill>
                      <a:srgbClr val="111827"/>
                    </a:solidFill>
                    <a:latin typeface="Cambria Math" panose="02040503050406030204" pitchFamily="18" charset="0"/>
                  </a:rPr>
                  <a:t>$f'(-\alpha)=f'(-\beta)=0$</a:t>
                </a:r>
                <a:r>
                  <a:rPr sz="2400" b="0">
                    <a:solidFill>
                      <a:srgbClr val="111827"/>
                    </a:solidFill>
                    <a:latin typeface="Arial"/>
                  </a:rPr>
                  <a:t>. Hence </a:t>
                </a:r>
                <a:r>
                  <a:rPr lang="en-IN" sz="2400">
                    <a:solidFill>
                      <a:srgbClr val="111827"/>
                    </a:solidFill>
                    <a:latin typeface="Cambria Math" panose="02040503050406030204" pitchFamily="18" charset="0"/>
                  </a:rPr>
                  <a:t>$f'(\alpha)=f'(\beta)=f'(-\alpha)=f'(-\beta)=f'(0)=0$</a:t>
                </a:r>
                <a:r>
                  <a:rPr sz="2400" b="0">
                    <a:solidFill>
                      <a:srgbClr val="111827"/>
                    </a:solidFill>
                    <a:latin typeface="Arial"/>
                  </a:rPr>
                  <a:t>: five distinct zeros </a:t>
                </a:r>
                <a:r>
                  <a:rPr lang="en-IN" sz="2400">
                    <a:solidFill>
                      <a:srgbClr val="111827"/>
                    </a:solidFill>
                    <a:latin typeface="Cambria Math" panose="02040503050406030204" pitchFamily="18" charset="0"/>
                  </a:rPr>
                  <a:t>$-\beta&lt;-\alpha&lt;0&lt;\alpha&lt;\beta$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Between consecutive zeros </a:t>
                </a:r>
                <a:r>
                  <a:rPr lang="en-IN" sz="2400">
                    <a:solidFill>
                      <a:srgbClr val="111827"/>
                    </a:solidFill>
                    <a:latin typeface="Cambria Math" panose="02040503050406030204" pitchFamily="18" charset="0"/>
                  </a:rPr>
                  <a:t>$u&lt;v$</a:t>
                </a:r>
                <a:r>
                  <a:rPr sz="2400" b="0">
                    <a:solidFill>
                      <a:srgbClr val="111827"/>
                    </a:solidFill>
                    <a:latin typeface="Arial"/>
                  </a:rPr>
                  <a:t> of </a:t>
                </a:r>
                <a:r>
                  <a:rPr lang="en-IN" sz="2400">
                    <a:solidFill>
                      <a:srgbClr val="111827"/>
                    </a:solidFill>
                    <a:latin typeface="Cambria Math" panose="02040503050406030204" pitchFamily="18" charset="0"/>
                  </a:rPr>
                  <a:t>$f'$</a:t>
                </a:r>
                <a:r>
                  <a:rPr sz="2400" b="0">
                    <a:solidFill>
                      <a:srgbClr val="111827"/>
                    </a:solidFill>
                    <a:latin typeface="Arial"/>
                  </a:rPr>
                  <a:t> (four such gaps), </a:t>
                </a:r>
                <a:r>
                  <a:rPr lang="en-IN" sz="2400">
                    <a:solidFill>
                      <a:srgbClr val="111827"/>
                    </a:solidFill>
                    <a:latin typeface="Cambria Math" panose="02040503050406030204" pitchFamily="18" charset="0"/>
                  </a:rPr>
                  <a:t>$f'$</a:t>
                </a:r>
                <a:r>
                  <a:rPr sz="2400" b="0">
                    <a:solidFill>
                      <a:srgbClr val="111827"/>
                    </a:solidFill>
                    <a:latin typeface="Arial"/>
                  </a:rPr>
                  <a:t> is not identically zero. If </a:t>
                </a:r>
                <a:r>
                  <a:rPr lang="en-IN" sz="2400">
                    <a:solidFill>
                      <a:srgbClr val="111827"/>
                    </a:solidFill>
                    <a:latin typeface="Cambria Math" panose="02040503050406030204" pitchFamily="18" charset="0"/>
                  </a:rPr>
                  <a:t>$f'(m)&gt;0$</a:t>
                </a:r>
                <a:r>
                  <a:rPr sz="2400" b="0">
                    <a:solidFill>
                      <a:srgbClr val="111827"/>
                    </a:solidFill>
                    <a:latin typeface="Arial"/>
                  </a:rPr>
                  <a:t> for some </a:t>
                </a:r>
                <a:r>
                  <a:rPr lang="en-IN" sz="2400">
                    <a:solidFill>
                      <a:srgbClr val="111827"/>
                    </a:solidFill>
                    <a:latin typeface="Cambria Math" panose="02040503050406030204" pitchFamily="18" charset="0"/>
                  </a:rPr>
                  <a:t>$m$</a:t>
                </a:r>
                <a:r>
                  <a:rPr sz="2400" b="0">
                    <a:solidFill>
                      <a:srgbClr val="111827"/>
                    </a:solidFill>
                    <a:latin typeface="Arial"/>
                  </a:rPr>
                  <a:t>, then </a:t>
                </a:r>
                <a:r>
                  <a:rPr lang="en-IN" sz="2400">
                    <a:solidFill>
                      <a:srgbClr val="111827"/>
                    </a:solidFill>
                    <a:latin typeface="Cambria Math" panose="02040503050406030204" pitchFamily="18" charset="0"/>
                  </a:rPr>
                  <a:t>$f''&gt;0$</a:t>
                </a:r>
                <a:r>
                  <a:rPr sz="2400" b="0">
                    <a:solidFill>
                      <a:srgbClr val="111827"/>
                    </a:solidFill>
                    <a:latin typeface="Arial"/>
                  </a:rPr>
                  <a:t> somewhere in </a:t>
                </a:r>
                <a:r>
                  <a:rPr lang="en-IN" sz="2400">
                    <a:solidFill>
                      <a:srgbClr val="111827"/>
                    </a:solidFill>
                    <a:latin typeface="Cambria Math" panose="02040503050406030204" pitchFamily="18" charset="0"/>
                  </a:rPr>
                  <a:t>$(u,m)$</a:t>
                </a:r>
                <a:r>
                  <a:rPr sz="2400" b="0">
                    <a:solidFill>
                      <a:srgbClr val="111827"/>
                    </a:solidFill>
                    <a:latin typeface="Arial"/>
                  </a:rPr>
                  <a:t> and </a:t>
                </a:r>
                <a:r>
                  <a:rPr lang="en-IN" sz="2400">
                    <a:solidFill>
                      <a:srgbClr val="111827"/>
                    </a:solidFill>
                    <a:latin typeface="Cambria Math" panose="02040503050406030204" pitchFamily="18" charset="0"/>
                  </a:rPr>
                  <a:t>$f''&lt;0$</a:t>
                </a:r>
                <a:r>
                  <a:rPr sz="2400" b="0">
                    <a:solidFill>
                      <a:srgbClr val="111827"/>
                    </a:solidFill>
                    <a:latin typeface="Arial"/>
                  </a:rPr>
                  <a:t> somewhere in </a:t>
                </a:r>
                <a:r>
                  <a:rPr lang="en-IN" sz="2400">
                    <a:solidFill>
                      <a:srgbClr val="111827"/>
                    </a:solidFill>
                    <a:latin typeface="Cambria Math" panose="02040503050406030204" pitchFamily="18" charset="0"/>
                  </a:rPr>
                  <a:t>$(m,v)$</a:t>
                </a:r>
                <a:r>
                  <a:rPr sz="2400" b="0">
                    <a:solidFill>
                      <a:srgbClr val="111827"/>
                    </a:solidFill>
                    <a:latin typeface="Arial"/>
                  </a:rPr>
                  <a:t> (use LMVT for </a:t>
                </a:r>
                <a:r>
                  <a:rPr lang="en-IN" sz="2400">
                    <a:solidFill>
                      <a:srgbClr val="111827"/>
                    </a:solidFill>
                    <a:latin typeface="Cambria Math" panose="02040503050406030204" pitchFamily="18" charset="0"/>
                  </a:rPr>
                  <a:t>$f'$</a:t>
                </a:r>
                <a:r>
                  <a:rPr sz="2400" b="0">
                    <a:solidFill>
                      <a:srgbClr val="111827"/>
                    </a:solidFill>
                    <a:latin typeface="Arial"/>
                  </a:rPr>
                  <a:t>); the case </a:t>
                </a:r>
                <a:r>
                  <a:rPr lang="en-IN" sz="2400">
                    <a:solidFill>
                      <a:srgbClr val="111827"/>
                    </a:solidFill>
                    <a:latin typeface="Cambria Math" panose="02040503050406030204" pitchFamily="18" charset="0"/>
                  </a:rPr>
                  <a:t>$f'(m)&lt;0$</a:t>
                </a:r>
                <a:r>
                  <a:rPr sz="2400" b="0">
                    <a:solidFill>
                      <a:srgbClr val="111827"/>
                    </a:solidFill>
                    <a:latin typeface="Arial"/>
                  </a:rPr>
                  <a:t> is the same with the signs reversed.</a:t>
                </a:r>
                <a:endParaRPr sz="2400">
                  <a:solidFill>
                    <a:srgbClr val="111827"/>
                  </a:solidFill>
                </a:endParaRPr>
              </a:p>
            </p:txBody>
          </p:sp>
        </mc:Fallback>
      </mc:AlternateContent>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changes sign in each of the four gaps, and the four gaps are disjoint: there are at least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points of inflection, i.e.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is attained. Take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1005</m:t>
                        </m:r>
                      </m:sup>
                    </m:sSup>
                  </m:oMath>
                </a14:m>
                <a:r>
                  <a:rPr sz="2400" b="0">
                    <a:solidFill>
                      <a:srgbClr val="111827"/>
                    </a:solidFill>
                    <a:latin typeface="Arial"/>
                  </a:rPr>
                  <a:t>, an even polynomial of degree </a:t>
                </a:r>
                <a14:m>
                  <m:oMath xmlns:m="http://schemas.openxmlformats.org/officeDocument/2006/math">
                    <m:r>
                      <a:rPr lang="en-IN" sz="2400" i="1">
                        <a:solidFill>
                          <a:srgbClr val="111827"/>
                        </a:solidFill>
                        <a:latin typeface="Cambria Math" panose="02040503050406030204" pitchFamily="18" charset="0"/>
                      </a:rPr>
                      <m:t>2014</m:t>
                    </m:r>
                  </m:oMath>
                </a14:m>
                <a:r>
                  <a:rPr sz="2400" b="0">
                    <a:solidFill>
                      <a:srgbClr val="111827"/>
                    </a:solidFill>
                    <a:latin typeface="Arial"/>
                  </a:rPr>
                  <a:t> with exactly four simple real roots, integrate twice with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to get an even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of degree </a:t>
                </a:r>
                <a14:m>
                  <m:oMath xmlns:m="http://schemas.openxmlformats.org/officeDocument/2006/math">
                    <m:r>
                      <a:rPr lang="en-IN" sz="2400" i="1">
                        <a:solidFill>
                          <a:srgbClr val="111827"/>
                        </a:solidFill>
                        <a:latin typeface="Cambria Math" panose="02040503050406030204" pitchFamily="18" charset="0"/>
                      </a:rPr>
                      <m:t>2016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four value conditions fix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1.0339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3.0016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0.4399</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1.2853</m:t>
                    </m:r>
                  </m:oMath>
                </a14:m>
                <a:r>
                  <a:rPr sz="2400" b="0">
                    <a:solidFill>
                      <a:srgbClr val="111827"/>
                    </a:solidFill>
                    <a:latin typeface="Arial"/>
                  </a:rPr>
                  <a:t> (solved numerically). So the minimum number of points of inflection is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0.25</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a:t>
                </a:r>
                <a:r>
                  <a:rPr sz="2400" b="0">
                    <a:solidFill>
                      <a:srgbClr val="111827"/>
                    </a:solidFill>
                    <a:latin typeface="Arial"/>
                  </a:rPr>
                  <a:t> changes sign in each of the four gaps, and the four gaps are disjoint: there are at least </a:t>
                </a:r>
                <a:r>
                  <a:rPr lang="en-IN" sz="2400">
                    <a:solidFill>
                      <a:srgbClr val="111827"/>
                    </a:solidFill>
                    <a:latin typeface="Cambria Math" panose="02040503050406030204" pitchFamily="18" charset="0"/>
                  </a:rPr>
                  <a:t>$4$</a:t>
                </a:r>
                <a:r>
                  <a:rPr sz="2400" b="0">
                    <a:solidFill>
                      <a:srgbClr val="111827"/>
                    </a:solidFill>
                    <a:latin typeface="Arial"/>
                  </a:rPr>
                  <a:t> points of inflection, i.e. </a:t>
                </a:r>
                <a:r>
                  <a:rPr lang="en-IN" sz="2400">
                    <a:solidFill>
                      <a:srgbClr val="111827"/>
                    </a:solidFill>
                    <a:latin typeface="Cambria Math" panose="02040503050406030204" pitchFamily="18" charset="0"/>
                  </a:rPr>
                  <a:t>$n\ge4$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$n=4$</a:t>
                </a:r>
                <a:r>
                  <a:rPr sz="2400" b="0">
                    <a:solidFill>
                      <a:srgbClr val="111827"/>
                    </a:solidFill>
                    <a:latin typeface="Arial"/>
                  </a:rPr>
                  <a:t> is attained. Take </a:t>
                </a:r>
                <a:r>
                  <a:rPr lang="en-IN" sz="2400">
                    <a:solidFill>
                      <a:srgbClr val="111827"/>
                    </a:solidFill>
                    <a:latin typeface="Cambria Math" panose="02040503050406030204" pitchFamily="18" charset="0"/>
                  </a:rPr>
                  <a:t>$f''(x)=c(x^2-a^2)(x^2-b^2)(1+10^{-4}x^2)^{1005}$</a:t>
                </a:r>
                <a:r>
                  <a:rPr sz="2400" b="0">
                    <a:solidFill>
                      <a:srgbClr val="111827"/>
                    </a:solidFill>
                    <a:latin typeface="Arial"/>
                  </a:rPr>
                  <a:t>, an even polynomial of degree </a:t>
                </a:r>
                <a:r>
                  <a:rPr lang="en-IN" sz="2400">
                    <a:solidFill>
                      <a:srgbClr val="111827"/>
                    </a:solidFill>
                    <a:latin typeface="Cambria Math" panose="02040503050406030204" pitchFamily="18" charset="0"/>
                  </a:rPr>
                  <a:t>$2014$</a:t>
                </a:r>
                <a:r>
                  <a:rPr sz="2400" b="0">
                    <a:solidFill>
                      <a:srgbClr val="111827"/>
                    </a:solidFill>
                    <a:latin typeface="Arial"/>
                  </a:rPr>
                  <a:t> with exactly four simple real roots, integrate twice with </a:t>
                </a:r>
                <a:r>
                  <a:rPr lang="en-IN" sz="2400">
                    <a:solidFill>
                      <a:srgbClr val="111827"/>
                    </a:solidFill>
                    <a:latin typeface="Cambria Math" panose="02040503050406030204" pitchFamily="18" charset="0"/>
                  </a:rPr>
                  <a:t>$f'(0)=0$</a:t>
                </a:r>
                <a:r>
                  <a:rPr sz="2400" b="0">
                    <a:solidFill>
                      <a:srgbClr val="111827"/>
                    </a:solidFill>
                    <a:latin typeface="Arial"/>
                  </a:rPr>
                  <a:t> to get an even </a:t>
                </a:r>
                <a:r>
                  <a:rPr lang="en-IN" sz="2400">
                    <a:solidFill>
                      <a:srgbClr val="111827"/>
                    </a:solidFill>
                    <a:latin typeface="Cambria Math" panose="02040503050406030204" pitchFamily="18" charset="0"/>
                  </a:rPr>
                  <a:t>$f$</a:t>
                </a:r>
                <a:r>
                  <a:rPr sz="2400" b="0">
                    <a:solidFill>
                      <a:srgbClr val="111827"/>
                    </a:solidFill>
                    <a:latin typeface="Arial"/>
                  </a:rPr>
                  <a:t> of degree </a:t>
                </a:r>
                <a:r>
                  <a:rPr lang="en-IN" sz="2400">
                    <a:solidFill>
                      <a:srgbClr val="111827"/>
                    </a:solidFill>
                    <a:latin typeface="Cambria Math" panose="02040503050406030204" pitchFamily="18" charset="0"/>
                  </a:rPr>
                  <a:t>$2016$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four value conditions fix </a:t>
                </a:r>
                <a:r>
                  <a:rPr lang="en-IN" sz="2400">
                    <a:solidFill>
                      <a:srgbClr val="111827"/>
                    </a:solidFill>
                    <a:latin typeface="Cambria Math" panose="02040503050406030204" pitchFamily="18" charset="0"/>
                  </a:rPr>
                  <a:t>$a\approx1.0339$</a:t>
                </a:r>
                <a:r>
                  <a:rPr sz="2400" b="0">
                    <a:solidFill>
                      <a:srgbClr val="111827"/>
                    </a:solidFill>
                    <a:latin typeface="Arial"/>
                  </a:rPr>
                  <a:t>, </a:t>
                </a:r>
                <a:r>
                  <a:rPr lang="en-IN" sz="2400">
                    <a:solidFill>
                      <a:srgbClr val="111827"/>
                    </a:solidFill>
                    <a:latin typeface="Cambria Math" panose="02040503050406030204" pitchFamily="18" charset="0"/>
                  </a:rPr>
                  <a:t>$b\approx3.0016$</a:t>
                </a:r>
                <a:r>
                  <a:rPr sz="2400" b="0">
                    <a:solidFill>
                      <a:srgbClr val="111827"/>
                    </a:solidFill>
                    <a:latin typeface="Arial"/>
                  </a:rPr>
                  <a:t>, </a:t>
                </a:r>
                <a:r>
                  <a:rPr lang="en-IN" sz="2400">
                    <a:solidFill>
                      <a:srgbClr val="111827"/>
                    </a:solidFill>
                    <a:latin typeface="Cambria Math" panose="02040503050406030204" pitchFamily="18" charset="0"/>
                  </a:rPr>
                  <a:t>$c\approx0.4399$</a:t>
                </a:r>
                <a:r>
                  <a:rPr sz="2400" b="0">
                    <a:solidFill>
                      <a:srgbClr val="111827"/>
                    </a:solidFill>
                    <a:latin typeface="Arial"/>
                  </a:rPr>
                  <a:t> and </a:t>
                </a:r>
                <a:r>
                  <a:rPr lang="en-IN" sz="2400">
                    <a:solidFill>
                      <a:srgbClr val="111827"/>
                    </a:solidFill>
                    <a:latin typeface="Cambria Math" panose="02040503050406030204" pitchFamily="18" charset="0"/>
                  </a:rPr>
                  <a:t>$f(0)\approx-1.2853$</a:t>
                </a:r>
                <a:r>
                  <a:rPr sz="2400" b="0">
                    <a:solidFill>
                      <a:srgbClr val="111827"/>
                    </a:solidFill>
                    <a:latin typeface="Arial"/>
                  </a:rPr>
                  <a:t> (solved numerically). So the minimum number of points of inflection is </a:t>
                </a:r>
                <a:r>
                  <a:rPr lang="en-IN" sz="2400">
                    <a:solidFill>
                      <a:srgbClr val="111827"/>
                    </a:solidFill>
                    <a:latin typeface="Cambria Math" panose="02040503050406030204" pitchFamily="18" charset="0"/>
                  </a:rPr>
                  <a:t>$n=4$</a:t>
                </a:r>
                <a:r>
                  <a:rPr sz="2400" b="0">
                    <a:solidFill>
                      <a:srgbClr val="111827"/>
                    </a:solidFill>
                    <a:latin typeface="Arial"/>
                  </a:rPr>
                  <a:t> and </a:t>
                </a:r>
                <a:r>
                  <a:rPr lang="en-IN" sz="2400">
                    <a:solidFill>
                      <a:srgbClr val="111827"/>
                    </a:solidFill>
                    <a:latin typeface="Cambria Math" panose="02040503050406030204" pitchFamily="18" charset="0"/>
                  </a:rPr>
                  <a:t>$\frac1n=0.25$</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0.25</a:t>
            </a:r>
            <a:endParaRPr sz="2800">
              <a:solidFill>
                <a:srgbClr val="15803D"/>
              </a:solidFill>
            </a:endParaRP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an even polynomial,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odd (so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even. Points of inflection occur in pairs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and possibly at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has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distinct real zeros, then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has at least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real zeros, one in each gap, and each of them is a sign change when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does not change sign inside the gap. If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has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distinct real zeros,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has at least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an even polynomial, </a:t>
                </a:r>
                <a:r>
                  <a:rPr lang="en-IN" sz="2400">
                    <a:solidFill>
                      <a:srgbClr val="111827"/>
                    </a:solidFill>
                    <a:latin typeface="Cambria Math" panose="02040503050406030204" pitchFamily="18" charset="0"/>
                  </a:rPr>
                  <a:t>$f'$</a:t>
                </a:r>
                <a:r>
                  <a:rPr sz="2400" b="0">
                    <a:solidFill>
                      <a:srgbClr val="111827"/>
                    </a:solidFill>
                    <a:latin typeface="Arial"/>
                  </a:rPr>
                  <a:t> is odd (so </a:t>
                </a:r>
                <a:r>
                  <a:rPr lang="en-IN" sz="2400">
                    <a:solidFill>
                      <a:srgbClr val="111827"/>
                    </a:solidFill>
                    <a:latin typeface="Cambria Math" panose="02040503050406030204" pitchFamily="18" charset="0"/>
                  </a:rPr>
                  <a:t>$f'(0)=0$</a:t>
                </a:r>
                <a:r>
                  <a:rPr sz="2400" b="0">
                    <a:solidFill>
                      <a:srgbClr val="111827"/>
                    </a:solidFill>
                    <a:latin typeface="Arial"/>
                  </a:rPr>
                  <a:t>) and </a:t>
                </a:r>
                <a:r>
                  <a:rPr lang="en-IN" sz="2400">
                    <a:solidFill>
                      <a:srgbClr val="111827"/>
                    </a:solidFill>
                    <a:latin typeface="Cambria Math" panose="02040503050406030204" pitchFamily="18" charset="0"/>
                  </a:rPr>
                  <a:t>$f''$</a:t>
                </a:r>
                <a:r>
                  <a:rPr sz="2400" b="0">
                    <a:solidFill>
                      <a:srgbClr val="111827"/>
                    </a:solidFill>
                    <a:latin typeface="Arial"/>
                  </a:rPr>
                  <a:t> is even. Points of inflection occur in pairs </a:t>
                </a:r>
                <a:r>
                  <a:rPr lang="en-IN" sz="2400">
                    <a:solidFill>
                      <a:srgbClr val="111827"/>
                    </a:solidFill>
                    <a:latin typeface="Cambria Math" panose="02040503050406030204" pitchFamily="18" charset="0"/>
                  </a:rPr>
                  <a:t>$\pm c$</a:t>
                </a:r>
                <a:r>
                  <a:rPr sz="2400" b="0">
                    <a:solidFill>
                      <a:srgbClr val="111827"/>
                    </a:solidFill>
                    <a:latin typeface="Arial"/>
                  </a:rPr>
                  <a:t>, and possibly at </a:t>
                </a:r>
                <a:r>
                  <a:rPr lang="en-IN" sz="2400">
                    <a:solidFill>
                      <a:srgbClr val="111827"/>
                    </a:solidFill>
                    <a:latin typeface="Cambria Math" panose="02040503050406030204" pitchFamily="18" charset="0"/>
                  </a:rPr>
                  <a: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$f'$</a:t>
                </a:r>
                <a:r>
                  <a:rPr sz="2400" b="0">
                    <a:solidFill>
                      <a:srgbClr val="111827"/>
                    </a:solidFill>
                    <a:latin typeface="Arial"/>
                  </a:rPr>
                  <a:t> has </a:t>
                </a:r>
                <a:r>
                  <a:rPr lang="en-IN" sz="2400">
                    <a:solidFill>
                      <a:srgbClr val="111827"/>
                    </a:solidFill>
                    <a:latin typeface="Cambria Math" panose="02040503050406030204" pitchFamily="18" charset="0"/>
                  </a:rPr>
                  <a:t>$k$</a:t>
                </a:r>
                <a:r>
                  <a:rPr sz="2400" b="0">
                    <a:solidFill>
                      <a:srgbClr val="111827"/>
                    </a:solidFill>
                    <a:latin typeface="Arial"/>
                  </a:rPr>
                  <a:t> distinct real zeros, then </a:t>
                </a:r>
                <a:r>
                  <a:rPr lang="en-IN" sz="2400">
                    <a:solidFill>
                      <a:srgbClr val="111827"/>
                    </a:solidFill>
                    <a:latin typeface="Cambria Math" panose="02040503050406030204" pitchFamily="18" charset="0"/>
                  </a:rPr>
                  <a:t>$f''$</a:t>
                </a:r>
                <a:r>
                  <a:rPr sz="2400" b="0">
                    <a:solidFill>
                      <a:srgbClr val="111827"/>
                    </a:solidFill>
                    <a:latin typeface="Arial"/>
                  </a:rPr>
                  <a:t> has at least </a:t>
                </a:r>
                <a:r>
                  <a:rPr lang="en-IN" sz="2400">
                    <a:solidFill>
                      <a:srgbClr val="111827"/>
                    </a:solidFill>
                    <a:latin typeface="Cambria Math" panose="02040503050406030204" pitchFamily="18" charset="0"/>
                  </a:rPr>
                  <a:t>$k-1$</a:t>
                </a:r>
                <a:r>
                  <a:rPr sz="2400" b="0">
                    <a:solidFill>
                      <a:srgbClr val="111827"/>
                    </a:solidFill>
                    <a:latin typeface="Arial"/>
                  </a:rPr>
                  <a:t> real zeros, one in each gap, and each of them is a sign change when </a:t>
                </a:r>
                <a:r>
                  <a:rPr lang="en-IN" sz="2400">
                    <a:solidFill>
                      <a:srgbClr val="111827"/>
                    </a:solidFill>
                    <a:latin typeface="Cambria Math" panose="02040503050406030204" pitchFamily="18" charset="0"/>
                  </a:rPr>
                  <a:t>$f'$</a:t>
                </a:r>
                <a:r>
                  <a:rPr sz="2400" b="0">
                    <a:solidFill>
                      <a:srgbClr val="111827"/>
                    </a:solidFill>
                    <a:latin typeface="Arial"/>
                  </a:rPr>
                  <a:t> does not change sign inside the gap. If </a:t>
                </a:r>
                <a:r>
                  <a:rPr lang="en-IN" sz="2400">
                    <a:solidFill>
                      <a:srgbClr val="111827"/>
                    </a:solidFill>
                    <a:latin typeface="Cambria Math" panose="02040503050406030204" pitchFamily="18" charset="0"/>
                  </a:rPr>
                  <a:t>$f$</a:t>
                </a:r>
                <a:r>
                  <a:rPr sz="2400" b="0">
                    <a:solidFill>
                      <a:srgbClr val="111827"/>
                    </a:solidFill>
                    <a:latin typeface="Arial"/>
                  </a:rPr>
                  <a:t> has </a:t>
                </a:r>
                <a:r>
                  <a:rPr lang="en-IN" sz="2400">
                    <a:solidFill>
                      <a:srgbClr val="111827"/>
                    </a:solidFill>
                    <a:latin typeface="Cambria Math" panose="02040503050406030204" pitchFamily="18" charset="0"/>
                  </a:rPr>
                  <a:t>$k$</a:t>
                </a:r>
                <a:r>
                  <a:rPr sz="2400" b="0">
                    <a:solidFill>
                      <a:srgbClr val="111827"/>
                    </a:solidFill>
                    <a:latin typeface="Arial"/>
                  </a:rPr>
                  <a:t> distinct real zeros, </a:t>
                </a:r>
                <a:r>
                  <a:rPr lang="en-IN" sz="2400">
                    <a:solidFill>
                      <a:srgbClr val="111827"/>
                    </a:solidFill>
                    <a:latin typeface="Cambria Math" panose="02040503050406030204" pitchFamily="18" charset="0"/>
                  </a:rPr>
                  <a:t>$f''$</a:t>
                </a:r>
                <a:r>
                  <a:rPr sz="2400" b="0">
                    <a:solidFill>
                      <a:srgbClr val="111827"/>
                    </a:solidFill>
                    <a:latin typeface="Arial"/>
                  </a:rPr>
                  <a:t> has at least </a:t>
                </a:r>
                <a:r>
                  <a:rPr lang="en-IN" sz="2400">
                    <a:solidFill>
                      <a:srgbClr val="111827"/>
                    </a:solidFill>
                    <a:latin typeface="Cambria Math" panose="02040503050406030204" pitchFamily="18" charset="0"/>
                  </a:rPr>
                  <a:t>$k-2$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zigzag of values such as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forces a local maximum and a local minimum in between, 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has two zeros there, and by symmetry two more.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point of inflection needs a sign change of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not just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oMath>
                </a14:m>
                <a:r>
                  <a:rPr sz="2400" b="0">
                    <a:solidFill>
                      <a:srgbClr val="111827"/>
                    </a:solidFill>
                    <a:latin typeface="Arial"/>
                  </a:rPr>
                  <a:t> has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but no inflection. For a polynomial, a sign change occurs at every zero of odd multiplicity.</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zigzag of values such as </a:t>
                </a:r>
                <a:r>
                  <a:rPr lang="en-IN" sz="2400">
                    <a:solidFill>
                      <a:srgbClr val="111827"/>
                    </a:solidFill>
                    <a:latin typeface="Cambria Math" panose="02040503050406030204" pitchFamily="18" charset="0"/>
                  </a:rPr>
                  <a:t>$f(1)&lt;f(2)&gt;f(3)&lt;f(4)$</a:t>
                </a:r>
                <a:r>
                  <a:rPr sz="2400" b="0">
                    <a:solidFill>
                      <a:srgbClr val="111827"/>
                    </a:solidFill>
                    <a:latin typeface="Arial"/>
                  </a:rPr>
                  <a:t> forces a local maximum and a local minimum in between, so </a:t>
                </a:r>
                <a:r>
                  <a:rPr lang="en-IN" sz="2400">
                    <a:solidFill>
                      <a:srgbClr val="111827"/>
                    </a:solidFill>
                    <a:latin typeface="Cambria Math" panose="02040503050406030204" pitchFamily="18" charset="0"/>
                  </a:rPr>
                  <a:t>$f'$</a:t>
                </a:r>
                <a:r>
                  <a:rPr sz="2400" b="0">
                    <a:solidFill>
                      <a:srgbClr val="111827"/>
                    </a:solidFill>
                    <a:latin typeface="Arial"/>
                  </a:rPr>
                  <a:t> has two zeros there, and by symmetry two more.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point of inflection needs a sign change of </a:t>
                </a:r>
                <a:r>
                  <a:rPr lang="en-IN" sz="2400">
                    <a:solidFill>
                      <a:srgbClr val="111827"/>
                    </a:solidFill>
                    <a:latin typeface="Cambria Math" panose="02040503050406030204" pitchFamily="18" charset="0"/>
                  </a:rPr>
                  <a:t>$f''$</a:t>
                </a:r>
                <a:r>
                  <a:rPr sz="2400" b="0">
                    <a:solidFill>
                      <a:srgbClr val="111827"/>
                    </a:solidFill>
                    <a:latin typeface="Arial"/>
                  </a:rPr>
                  <a:t>, not just </a:t>
                </a:r>
                <a:r>
                  <a:rPr lang="en-IN" sz="2400">
                    <a:solidFill>
                      <a:srgbClr val="111827"/>
                    </a:solidFill>
                    <a:latin typeface="Cambria Math" panose="02040503050406030204" pitchFamily="18" charset="0"/>
                  </a:rPr>
                  <a:t>$f''=0$</a:t>
                </a:r>
                <a:r>
                  <a:rPr sz="2400" b="0">
                    <a:solidFill>
                      <a:srgbClr val="111827"/>
                    </a:solidFill>
                    <a:latin typeface="Arial"/>
                  </a:rPr>
                  <a:t>: </a:t>
                </a:r>
                <a:r>
                  <a:rPr lang="en-IN" sz="2400">
                    <a:solidFill>
                      <a:srgbClr val="111827"/>
                    </a:solidFill>
                    <a:latin typeface="Cambria Math" panose="02040503050406030204" pitchFamily="18" charset="0"/>
                  </a:rPr>
                  <a:t>$x^4$</a:t>
                </a:r>
                <a:r>
                  <a:rPr sz="2400" b="0">
                    <a:solidFill>
                      <a:srgbClr val="111827"/>
                    </a:solidFill>
                    <a:latin typeface="Arial"/>
                  </a:rPr>
                  <a:t> has </a:t>
                </a:r>
                <a:r>
                  <a:rPr lang="en-IN" sz="2400">
                    <a:solidFill>
                      <a:srgbClr val="111827"/>
                    </a:solidFill>
                    <a:latin typeface="Cambria Math" panose="02040503050406030204" pitchFamily="18" charset="0"/>
                  </a:rPr>
                  <a:t>$f''(0)=0$</a:t>
                </a:r>
                <a:r>
                  <a:rPr sz="2400" b="0">
                    <a:solidFill>
                      <a:srgbClr val="111827"/>
                    </a:solidFill>
                    <a:latin typeface="Arial"/>
                  </a:rPr>
                  <a:t> but no inflection. For a polynomial, a sign change occurs at every zero of odd multiplicity.</a:t>
                </a:r>
                <a:endParaRPr sz="2400">
                  <a:solidFill>
                    <a:srgbClr val="111827"/>
                  </a:solidFill>
                </a:endParaRPr>
              </a:p>
            </p:txBody>
          </p:sp>
        </mc:Fallback>
      </mc:AlternateContent>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1178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cuboid, length of whose one edge is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units, is inscribed in a sphere of radius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units. If maximum possible volume of cuboid is </a:t>
                </a:r>
                <a14:m>
                  <m:oMath xmlns:m="http://schemas.openxmlformats.org/officeDocument/2006/math">
                    <m:r>
                      <a:rPr lang="en-IN" sz="2400" i="1">
                        <a:solidFill>
                          <a:srgbClr val="111827"/>
                        </a:solidFill>
                        <a:latin typeface="Cambria Math" panose="02040503050406030204" pitchFamily="18" charset="0"/>
                      </a:rPr>
                      <m:t>𝑉</m:t>
                    </m:r>
                  </m:oMath>
                </a14:m>
                <a:r>
                  <a:rPr sz="2400" b="0">
                    <a:solidFill>
                      <a:srgbClr val="111827"/>
                    </a:solidFill>
                    <a:latin typeface="Arial"/>
                  </a:rPr>
                  <a:t> cubic units, then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𝑉</m:t>
                        </m:r>
                      </m:num>
                      <m:den>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 is ________.</a:t>
                </a:r>
                <a:endParaRPr sz="2400">
                  <a:solidFill>
                    <a:srgbClr val="111827"/>
                  </a:solidFill>
                </a:endParaRPr>
              </a:p>
            </p:txBody>
          </p:sp>
        </mc:Choice>
        <mc:Fallback>
          <p:sp>
            <p:nvSpPr>
              <p:cNvPr id="4" name="Rounded Rectangle 3"/>
              <p:cNvSpPr/>
              <p:nvPr/>
            </p:nvSpPr>
            <p:spPr>
              <a:xfrm>
                <a:off x="731520" y="1280160"/>
                <a:ext cx="10725912" cy="21178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cuboid, length of whose one edge is </a:t>
                </a:r>
                <a:r>
                  <a:rPr lang="en-IN" sz="2400">
                    <a:solidFill>
                      <a:srgbClr val="111827"/>
                    </a:solidFill>
                    <a:latin typeface="Cambria Math" panose="02040503050406030204" pitchFamily="18" charset="0"/>
                  </a:rPr>
                  <a:t>$\sqrt2$</a:t>
                </a:r>
                <a:r>
                  <a:rPr sz="2400" b="0">
                    <a:solidFill>
                      <a:srgbClr val="111827"/>
                    </a:solidFill>
                    <a:latin typeface="Arial"/>
                  </a:rPr>
                  <a:t> units, is inscribed in a sphere of radius </a:t>
                </a:r>
                <a:r>
                  <a:rPr lang="en-IN" sz="2400">
                    <a:solidFill>
                      <a:srgbClr val="111827"/>
                    </a:solidFill>
                    <a:latin typeface="Cambria Math" panose="02040503050406030204" pitchFamily="18" charset="0"/>
                  </a:rPr>
                  <a:t>$\sqrt2$</a:t>
                </a:r>
                <a:r>
                  <a:rPr sz="2400" b="0">
                    <a:solidFill>
                      <a:srgbClr val="111827"/>
                    </a:solidFill>
                    <a:latin typeface="Arial"/>
                  </a:rPr>
                  <a:t> units. If maximum possible volume of cuboid is </a:t>
                </a:r>
                <a:r>
                  <a:rPr lang="en-IN" sz="2400">
                    <a:solidFill>
                      <a:srgbClr val="111827"/>
                    </a:solidFill>
                    <a:latin typeface="Cambria Math" panose="02040503050406030204" pitchFamily="18" charset="0"/>
                  </a:rPr>
                  <a:t>$V$</a:t>
                </a:r>
                <a:r>
                  <a:rPr sz="2400" b="0">
                    <a:solidFill>
                      <a:srgbClr val="111827"/>
                    </a:solidFill>
                    <a:latin typeface="Arial"/>
                  </a:rPr>
                  <a:t> cubic units, then </a:t>
                </a:r>
                <a:r>
                  <a:rPr lang="en-IN" sz="2400">
                    <a:solidFill>
                      <a:srgbClr val="111827"/>
                    </a:solidFill>
                    <a:latin typeface="Cambria Math" panose="02040503050406030204" pitchFamily="18" charset="0"/>
                  </a:rPr>
                  <a:t>$\frac{V}{2\sqrt2}$</a:t>
                </a:r>
                <a:r>
                  <a:rPr sz="2400" b="0">
                    <a:solidFill>
                      <a:srgbClr val="111827"/>
                    </a:solidFill>
                    <a:latin typeface="Arial"/>
                  </a:rPr>
                  <a:t> is ________.</a:t>
                </a:r>
                <a:endParaRPr sz="2400">
                  <a:solidFill>
                    <a:srgbClr val="111827"/>
                  </a:solidFill>
                </a:endParaRPr>
              </a:p>
            </p:txBody>
          </p:sp>
        </mc:Fallback>
      </mc:AlternateContent>
      <p:sp>
        <p:nvSpPr>
          <p:cNvPr id="5" name="Rectangle 4"/>
          <p:cNvSpPr/>
          <p:nvPr/>
        </p:nvSpPr>
        <p:spPr>
          <a:xfrm>
            <a:off x="731520" y="3626611"/>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Maximum volume of a cuboid inscribed in a sphere (AM-GM)</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space diagonal equals the diameter, so the other two edges satisfy </a:t>
                </a:r>
                <a14:m>
                  <m:oMath xmlns:m="http://schemas.openxmlformats.org/officeDocument/2006/math">
                    <m:sSup>
                      <m:e>
                        <m:r>
                          <a:rPr lang="en-IN" sz="2400" i="1">
                            <a:solidFill>
                              <a:srgbClr val="78350F"/>
                            </a:solidFill>
                            <a:latin typeface="Cambria Math" panose="02040503050406030204" pitchFamily="18" charset="0"/>
                          </a:rPr>
                          <m:t>𝑎</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𝑏</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oMath>
                </a14:m>
                <a:r>
                  <a:rPr sz="2400" b="0">
                    <a:solidFill>
                      <a:srgbClr val="78350F"/>
                    </a:solidFill>
                    <a:latin typeface="Arial"/>
                  </a:rPr>
                  <a:t> and AM-GM bounds </a:t>
                </a:r>
                <a14:m>
                  <m:oMath xmlns:m="http://schemas.openxmlformats.org/officeDocument/2006/math">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𝑏</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space diagonal equals the diameter, so the other two edges satisfy </a:t>
                </a:r>
                <a:r>
                  <a:rPr lang="en-IN" sz="2400">
                    <a:solidFill>
                      <a:srgbClr val="78350F"/>
                    </a:solidFill>
                    <a:latin typeface="Cambria Math" panose="02040503050406030204" pitchFamily="18" charset="0"/>
                  </a:rPr>
                  <a:t>$a^2+b^2=6$</a:t>
                </a:r>
                <a:r>
                  <a:rPr sz="2400" b="0">
                    <a:solidFill>
                      <a:srgbClr val="78350F"/>
                    </a:solidFill>
                    <a:latin typeface="Arial"/>
                  </a:rPr>
                  <a:t> and AM-GM bounds </a:t>
                </a:r>
                <a:r>
                  <a:rPr lang="en-IN" sz="2400">
                    <a:solidFill>
                      <a:srgbClr val="78350F"/>
                    </a:solidFill>
                    <a:latin typeface="Cambria Math" panose="02040503050406030204" pitchFamily="18" charset="0"/>
                  </a:rPr>
                  <a:t>$ab$</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other two edges be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The sphere has radius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so the space diagonal of the cuboid is the diameter </a:t>
                </a:r>
                <a14:m>
                  <m:oMath xmlns:m="http://schemas.openxmlformats.org/officeDocument/2006/math">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Half the face diagonal </a:t>
                </a:r>
                <a14:m>
                  <m:oMath xmlns:m="http://schemas.openxmlformats.org/officeDocument/2006/math">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half the edge </a:t>
                </a:r>
                <a14:m>
                  <m:oMath xmlns:m="http://schemas.openxmlformats.org/officeDocument/2006/math">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form a right triangle whose hypotenuse is the radius: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e>
                                </m:rad>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(Pythagoras).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Volume of the cuboid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other two edges be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$b$</a:t>
                </a:r>
                <a:r>
                  <a:rPr sz="2400" b="0">
                    <a:solidFill>
                      <a:srgbClr val="111827"/>
                    </a:solidFill>
                    <a:latin typeface="Arial"/>
                  </a:rPr>
                  <a:t>. The sphere has radius </a:t>
                </a:r>
                <a:r>
                  <a:rPr lang="en-IN" sz="2400">
                    <a:solidFill>
                      <a:srgbClr val="111827"/>
                    </a:solidFill>
                    <a:latin typeface="Cambria Math" panose="02040503050406030204" pitchFamily="18" charset="0"/>
                  </a:rPr>
                  <a:t>$\sqrt2$</a:t>
                </a:r>
                <a:r>
                  <a:rPr sz="2400" b="0">
                    <a:solidFill>
                      <a:srgbClr val="111827"/>
                    </a:solidFill>
                    <a:latin typeface="Arial"/>
                  </a:rPr>
                  <a:t>, so the space diagonal of the cuboid is the diameter </a:t>
                </a:r>
                <a:r>
                  <a:rPr lang="en-IN" sz="2400">
                    <a:solidFill>
                      <a:srgbClr val="111827"/>
                    </a:solidFill>
                    <a:latin typeface="Cambria Math" panose="02040503050406030204" pitchFamily="18" charset="0"/>
                  </a:rPr>
                  <a:t>$2\sqrt2$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Half the face diagonal </a:t>
                </a:r>
                <a:r>
                  <a:rPr lang="en-IN" sz="2400">
                    <a:solidFill>
                      <a:srgbClr val="111827"/>
                    </a:solidFill>
                    <a:latin typeface="Cambria Math" panose="02040503050406030204" pitchFamily="18" charset="0"/>
                  </a:rPr>
                  <a:t>$\frac{\sqrt{a^2+b^2}}{2}$</a:t>
                </a:r>
                <a:r>
                  <a:rPr sz="2400" b="0">
                    <a:solidFill>
                      <a:srgbClr val="111827"/>
                    </a:solidFill>
                    <a:latin typeface="Arial"/>
                  </a:rPr>
                  <a:t> and half the edge </a:t>
                </a:r>
                <a:r>
                  <a:rPr lang="en-IN" sz="2400">
                    <a:solidFill>
                      <a:srgbClr val="111827"/>
                    </a:solidFill>
                    <a:latin typeface="Cambria Math" panose="02040503050406030204" pitchFamily="18" charset="0"/>
                  </a:rPr>
                  <a:t>$\frac{\sqrt2}{2}$</a:t>
                </a:r>
                <a:r>
                  <a:rPr sz="2400" b="0">
                    <a:solidFill>
                      <a:srgbClr val="111827"/>
                    </a:solidFill>
                    <a:latin typeface="Arial"/>
                  </a:rPr>
                  <a:t> form a right triangle whose hypotenuse is the radius: </a:t>
                </a:r>
                <a:r>
                  <a:rPr lang="en-IN" sz="2400">
                    <a:solidFill>
                      <a:srgbClr val="111827"/>
                    </a:solidFill>
                    <a:latin typeface="Cambria Math" panose="02040503050406030204" pitchFamily="18" charset="0"/>
                  </a:rPr>
                  <a:t>$\left(\frac{\sqrt{a^2+b^2}}{2}\right)^2+\left(\frac{\sqrt2}{2}\right)^2=2$</a:t>
                </a:r>
                <a:r>
                  <a:rPr sz="2400" b="0">
                    <a:solidFill>
                      <a:srgbClr val="111827"/>
                    </a:solidFill>
                    <a:latin typeface="Arial"/>
                  </a:rPr>
                  <a:t> (Pythagoras).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$\frac{a^2+b^2}{4}+\frac{2}{4}=2$</a:t>
                </a:r>
                <a:r>
                  <a:rPr sz="2400" b="0">
                    <a:solidFill>
                      <a:srgbClr val="111827"/>
                    </a:solidFill>
                    <a:latin typeface="Arial"/>
                  </a:rPr>
                  <a:t>, so </a:t>
                </a:r>
                <a:r>
                  <a:rPr lang="en-IN" sz="2400">
                    <a:solidFill>
                      <a:srgbClr val="111827"/>
                    </a:solidFill>
                    <a:latin typeface="Cambria Math" panose="02040503050406030204" pitchFamily="18" charset="0"/>
                  </a:rPr>
                  <a:t>$a^2+b^2=6$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Volume of the cuboid </a:t>
                </a:r>
                <a:r>
                  <a:rPr lang="en-IN" sz="2400">
                    <a:solidFill>
                      <a:srgbClr val="111827"/>
                    </a:solidFill>
                    <a:latin typeface="Cambria Math" panose="02040503050406030204" pitchFamily="18" charset="0"/>
                  </a:rPr>
                  <a:t>$=ab\sqrt2$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AM-GM: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 i.e.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(equality when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14:m>
                  <m:oMath xmlns:m="http://schemas.openxmlformats.org/officeDocument/2006/math">
                    <m:sSub>
                      <m:e>
                        <m:r>
                          <a:rPr lang="en-IN" sz="2400" i="1">
                            <a:solidFill>
                              <a:srgbClr val="111827"/>
                            </a:solidFill>
                            <a:latin typeface="Cambria Math" panose="02040503050406030204" pitchFamily="18" charset="0"/>
                          </a:rPr>
                          <m:t>𝑉</m:t>
                        </m:r>
                      </m:e>
                      <m:sub>
                        <m:r>
                          <m:rPr>
                            <m:sty m:val="p"/>
                          </m:rPr>
                          <a:rPr lang="en-IN" sz="2400">
                            <a:solidFill>
                              <a:srgbClr val="111827"/>
                            </a:solidFill>
                            <a:latin typeface="Cambria Math" panose="02040503050406030204" pitchFamily="18" charset="0"/>
                          </a:rPr>
                          <m:t>max</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𝑉</m:t>
                        </m:r>
                      </m:num>
                      <m:den>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AM-GM: </a:t>
                </a:r>
                <a:r>
                  <a:rPr lang="en-IN" sz="2400">
                    <a:solidFill>
                      <a:srgbClr val="111827"/>
                    </a:solidFill>
                    <a:latin typeface="Cambria Math" panose="02040503050406030204" pitchFamily="18" charset="0"/>
                  </a:rPr>
                  <a:t>$\frac{a^2+b^2}{2}\ge\sqrt{a^2b^2}$</a:t>
                </a:r>
                <a:r>
                  <a:rPr sz="2400" b="0">
                    <a:solidFill>
                      <a:srgbClr val="111827"/>
                    </a:solidFill>
                    <a:latin typeface="Arial"/>
                  </a:rPr>
                  <a:t>, i.e. </a:t>
                </a:r>
                <a:r>
                  <a:rPr lang="en-IN" sz="2400">
                    <a:solidFill>
                      <a:srgbClr val="111827"/>
                    </a:solidFill>
                    <a:latin typeface="Cambria Math" panose="02040503050406030204" pitchFamily="18" charset="0"/>
                  </a:rPr>
                  <a:t>$\frac{a^2+b^2}{2}\ge ab$</a:t>
                </a:r>
                <a:r>
                  <a:rPr sz="2400" b="0">
                    <a:solidFill>
                      <a:srgbClr val="111827"/>
                    </a:solidFill>
                    <a:latin typeface="Arial"/>
                  </a:rPr>
                  <a:t>, so </a:t>
                </a:r>
                <a:r>
                  <a:rPr lang="en-IN" sz="2400">
                    <a:solidFill>
                      <a:srgbClr val="111827"/>
                    </a:solidFill>
                    <a:latin typeface="Cambria Math" panose="02040503050406030204" pitchFamily="18" charset="0"/>
                  </a:rPr>
                  <a:t>$ab\le3$</a:t>
                </a:r>
                <a:r>
                  <a:rPr sz="2400" b="0">
                    <a:solidFill>
                      <a:srgbClr val="111827"/>
                    </a:solidFill>
                    <a:latin typeface="Arial"/>
                  </a:rPr>
                  <a:t> (equality when </a:t>
                </a:r>
                <a:r>
                  <a:rPr lang="en-IN" sz="2400">
                    <a:solidFill>
                      <a:srgbClr val="111827"/>
                    </a:solidFill>
                    <a:latin typeface="Cambria Math" panose="02040503050406030204" pitchFamily="18" charset="0"/>
                  </a:rPr>
                  <a:t>$a=b=\sqrt3$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r>
                  <a:rPr lang="en-IN" sz="2400">
                    <a:solidFill>
                      <a:srgbClr val="111827"/>
                    </a:solidFill>
                    <a:latin typeface="Cambria Math" panose="02040503050406030204" pitchFamily="18" charset="0"/>
                  </a:rPr>
                  <a:t>$V_{\max}=3\sqrt2$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$\frac{V}{2\sqrt2}=\frac{3\sqrt2}{2\sqrt2}=1.5$</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1.50</a:t>
            </a:r>
            <a:endParaRPr sz="2800">
              <a:solidFill>
                <a:srgbClr val="15803D"/>
              </a:solidFill>
            </a:endParaRP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View the base as a rectangle of fixed diagonal </a:t>
                </a:r>
                <a14:m>
                  <m:oMath xmlns:m="http://schemas.openxmlformats.org/officeDocument/2006/math">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6</m:t>
                        </m:r>
                      </m:e>
                    </m:rad>
                  </m:oMath>
                </a14:m>
                <a:r>
                  <a:rPr sz="2400" b="0">
                    <a:solidFill>
                      <a:srgbClr val="78350F"/>
                    </a:solidFill>
                    <a:latin typeface="Arial"/>
                  </a:rPr>
                  <a:t>; among such rectangles the square has the largest area.</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View the base as a rectangle of fixed diagonal </a:t>
                </a:r>
                <a:r>
                  <a:rPr lang="en-IN" sz="2400">
                    <a:solidFill>
                      <a:srgbClr val="78350F"/>
                    </a:solidFill>
                    <a:latin typeface="Cambria Math" panose="02040503050406030204" pitchFamily="18" charset="0"/>
                  </a:rPr>
                  <a:t>$\sqrt6$</a:t>
                </a:r>
                <a:r>
                  <a:rPr sz="2400" b="0">
                    <a:solidFill>
                      <a:srgbClr val="78350F"/>
                    </a:solidFill>
                    <a:latin typeface="Arial"/>
                  </a:rPr>
                  <a:t>; among such rectangles the square has the largest area.</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space diagonal is </a:t>
                </a:r>
                <a14:m>
                  <m:oMath xmlns:m="http://schemas.openxmlformats.org/officeDocument/2006/math">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so with edges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hence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face is a rectangle with diagonal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rectangle with diagonals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meeting at angle </a:t>
                </a:r>
                <a14:m>
                  <m:oMath xmlns:m="http://schemas.openxmlformats.org/officeDocument/2006/math">
                    <m:r>
                      <a:rPr lang="en-IN" sz="2400" i="1">
                        <a:solidFill>
                          <a:srgbClr val="111827"/>
                        </a:solidFill>
                        <a:latin typeface="Cambria Math" panose="02040503050406030204" pitchFamily="18" charset="0"/>
                      </a:rPr>
                      <m:t>ψ</m:t>
                    </m:r>
                  </m:oMath>
                </a14:m>
                <a:r>
                  <a:rPr sz="2400" b="0">
                    <a:solidFill>
                      <a:srgbClr val="111827"/>
                    </a:solidFill>
                    <a:latin typeface="Arial"/>
                  </a:rPr>
                  <a:t> has area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ψ</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with equality when the diagonals are perpendicular, i.e. for the square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space diagonal is </a:t>
                </a:r>
                <a:r>
                  <a:rPr lang="en-IN" sz="2400">
                    <a:solidFill>
                      <a:srgbClr val="111827"/>
                    </a:solidFill>
                    <a:latin typeface="Cambria Math" panose="02040503050406030204" pitchFamily="18" charset="0"/>
                  </a:rPr>
                  <a:t>$2\sqrt2$</a:t>
                </a:r>
                <a:r>
                  <a:rPr sz="2400" b="0">
                    <a:solidFill>
                      <a:srgbClr val="111827"/>
                    </a:solidFill>
                    <a:latin typeface="Arial"/>
                  </a:rPr>
                  <a:t>, so with edges </a:t>
                </a:r>
                <a:r>
                  <a:rPr lang="en-IN" sz="2400">
                    <a:solidFill>
                      <a:srgbClr val="111827"/>
                    </a:solidFill>
                    <a:latin typeface="Cambria Math" panose="02040503050406030204" pitchFamily="18" charset="0"/>
                  </a:rPr>
                  <a:t>$\sqrt2,a,b$</a:t>
                </a:r>
                <a:r>
                  <a:rPr sz="2400" b="0">
                    <a:solidFill>
                      <a:srgbClr val="111827"/>
                    </a:solidFill>
                    <a:latin typeface="Arial"/>
                  </a:rPr>
                  <a:t>: </a:t>
                </a:r>
                <a:r>
                  <a:rPr lang="en-IN" sz="2400">
                    <a:solidFill>
                      <a:srgbClr val="111827"/>
                    </a:solidFill>
                    <a:latin typeface="Cambria Math" panose="02040503050406030204" pitchFamily="18" charset="0"/>
                  </a:rPr>
                  <a:t>$2+a^2+b^2=8$</a:t>
                </a:r>
                <a:r>
                  <a:rPr sz="2400" b="0">
                    <a:solidFill>
                      <a:srgbClr val="111827"/>
                    </a:solidFill>
                    <a:latin typeface="Arial"/>
                  </a:rPr>
                  <a:t>, hence </a:t>
                </a:r>
                <a:r>
                  <a:rPr lang="en-IN" sz="2400">
                    <a:solidFill>
                      <a:srgbClr val="111827"/>
                    </a:solidFill>
                    <a:latin typeface="Cambria Math" panose="02040503050406030204" pitchFamily="18" charset="0"/>
                  </a:rPr>
                  <a:t>$a^2+b^2=6$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t>
                </a:r>
                <a:r>
                  <a:rPr lang="en-IN" sz="2400">
                    <a:solidFill>
                      <a:srgbClr val="111827"/>
                    </a:solidFill>
                    <a:latin typeface="Cambria Math" panose="02040503050406030204" pitchFamily="18" charset="0"/>
                  </a:rPr>
                  <a:t>$a\times b$</a:t>
                </a:r>
                <a:r>
                  <a:rPr sz="2400" b="0">
                    <a:solidFill>
                      <a:srgbClr val="111827"/>
                    </a:solidFill>
                    <a:latin typeface="Arial"/>
                  </a:rPr>
                  <a:t> face is a rectangle with diagonal </a:t>
                </a:r>
                <a:r>
                  <a:rPr lang="en-IN" sz="2400">
                    <a:solidFill>
                      <a:srgbClr val="111827"/>
                    </a:solidFill>
                    <a:latin typeface="Cambria Math" panose="02040503050406030204" pitchFamily="18" charset="0"/>
                  </a:rPr>
                  <a:t>$d=\sqrt6$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rectangle with diagonals </a:t>
                </a:r>
                <a:r>
                  <a:rPr lang="en-IN" sz="2400">
                    <a:solidFill>
                      <a:srgbClr val="111827"/>
                    </a:solidFill>
                    <a:latin typeface="Cambria Math" panose="02040503050406030204" pitchFamily="18" charset="0"/>
                  </a:rPr>
                  <a:t>$d$</a:t>
                </a:r>
                <a:r>
                  <a:rPr sz="2400" b="0">
                    <a:solidFill>
                      <a:srgbClr val="111827"/>
                    </a:solidFill>
                    <a:latin typeface="Arial"/>
                  </a:rPr>
                  <a:t> meeting at angle </a:t>
                </a:r>
                <a:r>
                  <a:rPr lang="en-IN" sz="2400">
                    <a:solidFill>
                      <a:srgbClr val="111827"/>
                    </a:solidFill>
                    <a:latin typeface="Cambria Math" panose="02040503050406030204" pitchFamily="18" charset="0"/>
                  </a:rPr>
                  <a:t>$\psi$</a:t>
                </a:r>
                <a:r>
                  <a:rPr sz="2400" b="0">
                    <a:solidFill>
                      <a:srgbClr val="111827"/>
                    </a:solidFill>
                    <a:latin typeface="Arial"/>
                  </a:rPr>
                  <a:t> has area </a:t>
                </a:r>
                <a:r>
                  <a:rPr lang="en-IN" sz="2400">
                    <a:solidFill>
                      <a:srgbClr val="111827"/>
                    </a:solidFill>
                    <a:latin typeface="Cambria Math" panose="02040503050406030204" pitchFamily="18" charset="0"/>
                  </a:rPr>
                  <a:t>$\frac{1}{2}d^2\sin\psi\le\frac{1}{2}d^2=3$</a:t>
                </a:r>
                <a:r>
                  <a:rPr sz="2400" b="0">
                    <a:solidFill>
                      <a:srgbClr val="111827"/>
                    </a:solidFill>
                    <a:latin typeface="Arial"/>
                  </a:rPr>
                  <a:t>, with equality when the diagonals are perpendicular, i.e. for the square </a:t>
                </a:r>
                <a:r>
                  <a:rPr lang="en-IN" sz="2400">
                    <a:solidFill>
                      <a:srgbClr val="111827"/>
                    </a:solidFill>
                    <a:latin typeface="Cambria Math" panose="02040503050406030204" pitchFamily="18" charset="0"/>
                  </a:rPr>
                  <a:t>$a=b=\sqrt3$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𝑉</m:t>
                        </m:r>
                      </m:e>
                      <m:sub>
                        <m:r>
                          <m:rPr>
                            <m:sty m:val="p"/>
                          </m:rPr>
                          <a:rPr lang="en-IN" sz="2400">
                            <a:solidFill>
                              <a:srgbClr val="111827"/>
                            </a:solidFill>
                            <a:latin typeface="Cambria Math" panose="02040503050406030204" pitchFamily="18" charset="0"/>
                          </a:rPr>
                          <m:t>max</m:t>
                        </m:r>
                      </m:sub>
                    </m:sSub>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𝑉</m:t>
                        </m:r>
                      </m:num>
                      <m:den>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$ab\le3$</a:t>
                </a:r>
                <a:r>
                  <a:rPr sz="2400" b="0">
                    <a:solidFill>
                      <a:srgbClr val="111827"/>
                    </a:solidFill>
                    <a:latin typeface="Arial"/>
                  </a:rPr>
                  <a:t> and </a:t>
                </a:r>
                <a:r>
                  <a:rPr lang="en-IN" sz="2400">
                    <a:solidFill>
                      <a:srgbClr val="111827"/>
                    </a:solidFill>
                    <a:latin typeface="Cambria Math" panose="02040503050406030204" pitchFamily="18" charset="0"/>
                  </a:rPr>
                  <a:t>$V_{\max}=\sqrt2\cdot3=3\sqrt2$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$\frac{V}{2\sqrt2}=\frac{3\sqrt2}{2\sqrt2}=1.5$</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1.50</a:t>
            </a:r>
            <a:endParaRPr sz="2800">
              <a:solidFill>
                <a:srgbClr val="15803D"/>
              </a:solidFill>
            </a:endParaRP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cuboid with edges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inscribed in a sphere of radius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satisfies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(space diagonal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diameter).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fixed sum of squares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the product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oMath>
                </a14:m>
                <a:r>
                  <a:rPr sz="2400" b="0">
                    <a:solidFill>
                      <a:srgbClr val="111827"/>
                    </a:solidFill>
                    <a:latin typeface="Arial"/>
                  </a:rPr>
                  <a:t> is largest when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(AM-GM).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Of all cuboids inscribed in a sphere of radius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the cube has the greatest volume,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rectangle of diagonal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has area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oMath>
                </a14:m>
                <a:r>
                  <a:rPr sz="2400" b="0">
                    <a:solidFill>
                      <a:srgbClr val="111827"/>
                    </a:solidFill>
                    <a:latin typeface="Arial"/>
                  </a:rPr>
                  <a:t>, equality for a square. Here </a:t>
                </a:r>
                <a14:m>
                  <m:oMath xmlns:m="http://schemas.openxmlformats.org/officeDocument/2006/math">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giving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cuboid with edges </a:t>
                </a:r>
                <a:r>
                  <a:rPr lang="en-IN" sz="2400">
                    <a:solidFill>
                      <a:srgbClr val="111827"/>
                    </a:solidFill>
                    <a:latin typeface="Cambria Math" panose="02040503050406030204" pitchFamily="18" charset="0"/>
                  </a:rPr>
                  <a:t>$a,b,c$</a:t>
                </a:r>
                <a:r>
                  <a:rPr sz="2400" b="0">
                    <a:solidFill>
                      <a:srgbClr val="111827"/>
                    </a:solidFill>
                    <a:latin typeface="Arial"/>
                  </a:rPr>
                  <a:t> inscribed in a sphere of radius </a:t>
                </a:r>
                <a:r>
                  <a:rPr lang="en-IN" sz="2400">
                    <a:solidFill>
                      <a:srgbClr val="111827"/>
                    </a:solidFill>
                    <a:latin typeface="Cambria Math" panose="02040503050406030204" pitchFamily="18" charset="0"/>
                  </a:rPr>
                  <a:t>$R$</a:t>
                </a:r>
                <a:r>
                  <a:rPr sz="2400" b="0">
                    <a:solidFill>
                      <a:srgbClr val="111827"/>
                    </a:solidFill>
                    <a:latin typeface="Arial"/>
                  </a:rPr>
                  <a:t> satisfies </a:t>
                </a:r>
                <a:r>
                  <a:rPr lang="en-IN" sz="2400">
                    <a:solidFill>
                      <a:srgbClr val="111827"/>
                    </a:solidFill>
                    <a:latin typeface="Cambria Math" panose="02040503050406030204" pitchFamily="18" charset="0"/>
                  </a:rPr>
                  <a:t>$a^2+b^2+c^2=4R^2$</a:t>
                </a:r>
                <a:r>
                  <a:rPr sz="2400" b="0">
                    <a:solidFill>
                      <a:srgbClr val="111827"/>
                    </a:solidFill>
                    <a:latin typeface="Arial"/>
                  </a:rPr>
                  <a:t> (space diagonal </a:t>
                </a:r>
                <a:r>
                  <a:rPr lang="en-IN" sz="2400">
                    <a:solidFill>
                      <a:srgbClr val="111827"/>
                    </a:solidFill>
                    <a:latin typeface="Cambria Math" panose="02040503050406030204" pitchFamily="18" charset="0"/>
                  </a:rPr>
                  <a:t>$=$</a:t>
                </a:r>
                <a:r>
                  <a:rPr sz="2400" b="0">
                    <a:solidFill>
                      <a:srgbClr val="111827"/>
                    </a:solidFill>
                    <a:latin typeface="Arial"/>
                  </a:rPr>
                  <a:t> diameter).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fixed sum of squares </a:t>
                </a:r>
                <a:r>
                  <a:rPr lang="en-IN" sz="2400">
                    <a:solidFill>
                      <a:srgbClr val="111827"/>
                    </a:solidFill>
                    <a:latin typeface="Cambria Math" panose="02040503050406030204" pitchFamily="18" charset="0"/>
                  </a:rPr>
                  <a:t>$a^2+b^2=k$</a:t>
                </a:r>
                <a:r>
                  <a:rPr sz="2400" b="0">
                    <a:solidFill>
                      <a:srgbClr val="111827"/>
                    </a:solidFill>
                    <a:latin typeface="Arial"/>
                  </a:rPr>
                  <a:t>, the product </a:t>
                </a:r>
                <a:r>
                  <a:rPr lang="en-IN" sz="2400">
                    <a:solidFill>
                      <a:srgbClr val="111827"/>
                    </a:solidFill>
                    <a:latin typeface="Cambria Math" panose="02040503050406030204" pitchFamily="18" charset="0"/>
                  </a:rPr>
                  <a:t>$ab$</a:t>
                </a:r>
                <a:r>
                  <a:rPr sz="2400" b="0">
                    <a:solidFill>
                      <a:srgbClr val="111827"/>
                    </a:solidFill>
                    <a:latin typeface="Arial"/>
                  </a:rPr>
                  <a:t> is largest when </a:t>
                </a:r>
                <a:r>
                  <a:rPr lang="en-IN" sz="2400">
                    <a:solidFill>
                      <a:srgbClr val="111827"/>
                    </a:solidFill>
                    <a:latin typeface="Cambria Math" panose="02040503050406030204" pitchFamily="18" charset="0"/>
                  </a:rPr>
                  <a:t>$a=b$</a:t>
                </a:r>
                <a:r>
                  <a:rPr sz="2400" b="0">
                    <a:solidFill>
                      <a:srgbClr val="111827"/>
                    </a:solidFill>
                    <a:latin typeface="Arial"/>
                  </a:rPr>
                  <a:t>: </a:t>
                </a:r>
                <a:r>
                  <a:rPr lang="en-IN" sz="2400">
                    <a:solidFill>
                      <a:srgbClr val="111827"/>
                    </a:solidFill>
                    <a:latin typeface="Cambria Math" panose="02040503050406030204" pitchFamily="18" charset="0"/>
                  </a:rPr>
                  <a:t>$ab\le\frac{k}{2}$</a:t>
                </a:r>
                <a:r>
                  <a:rPr sz="2400" b="0">
                    <a:solidFill>
                      <a:srgbClr val="111827"/>
                    </a:solidFill>
                    <a:latin typeface="Arial"/>
                  </a:rPr>
                  <a:t> (AM-GM).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Of all cuboids inscribed in a sphere of radius </a:t>
                </a:r>
                <a:r>
                  <a:rPr lang="en-IN" sz="2400">
                    <a:solidFill>
                      <a:srgbClr val="111827"/>
                    </a:solidFill>
                    <a:latin typeface="Cambria Math" panose="02040503050406030204" pitchFamily="18" charset="0"/>
                  </a:rPr>
                  <a:t>$R$</a:t>
                </a:r>
                <a:r>
                  <a:rPr sz="2400" b="0">
                    <a:solidFill>
                      <a:srgbClr val="111827"/>
                    </a:solidFill>
                    <a:latin typeface="Arial"/>
                  </a:rPr>
                  <a:t> the cube has the greatest volume, </a:t>
                </a:r>
                <a:r>
                  <a:rPr lang="en-IN" sz="2400">
                    <a:solidFill>
                      <a:srgbClr val="111827"/>
                    </a:solidFill>
                    <a:latin typeface="Cambria Math" panose="02040503050406030204" pitchFamily="18" charset="0"/>
                  </a:rPr>
                  <a:t>$\frac{8R^3}{3\sqrt3}$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rectangle of diagonal </a:t>
                </a:r>
                <a:r>
                  <a:rPr lang="en-IN" sz="2400">
                    <a:solidFill>
                      <a:srgbClr val="111827"/>
                    </a:solidFill>
                    <a:latin typeface="Cambria Math" panose="02040503050406030204" pitchFamily="18" charset="0"/>
                  </a:rPr>
                  <a:t>$d$</a:t>
                </a:r>
                <a:r>
                  <a:rPr sz="2400" b="0">
                    <a:solidFill>
                      <a:srgbClr val="111827"/>
                    </a:solidFill>
                    <a:latin typeface="Arial"/>
                  </a:rPr>
                  <a:t> has area </a:t>
                </a:r>
                <a:r>
                  <a:rPr lang="en-IN" sz="2400">
                    <a:solidFill>
                      <a:srgbClr val="111827"/>
                    </a:solidFill>
                    <a:latin typeface="Cambria Math" panose="02040503050406030204" pitchFamily="18" charset="0"/>
                  </a:rPr>
                  <a:t>$\le\frac{d^2}{2}$</a:t>
                </a:r>
                <a:r>
                  <a:rPr sz="2400" b="0">
                    <a:solidFill>
                      <a:srgbClr val="111827"/>
                    </a:solidFill>
                    <a:latin typeface="Arial"/>
                  </a:rPr>
                  <a:t>, equality for a square. Here </a:t>
                </a:r>
                <a:r>
                  <a:rPr lang="en-IN" sz="2400">
                    <a:solidFill>
                      <a:srgbClr val="111827"/>
                    </a:solidFill>
                    <a:latin typeface="Cambria Math" panose="02040503050406030204" pitchFamily="18" charset="0"/>
                  </a:rPr>
                  <a:t>$d^2=6$</a:t>
                </a:r>
                <a:r>
                  <a:rPr sz="2400" b="0">
                    <a:solidFill>
                      <a:srgbClr val="111827"/>
                    </a:solidFill>
                    <a:latin typeface="Arial"/>
                  </a:rPr>
                  <a:t>, giving </a:t>
                </a:r>
                <a:r>
                  <a:rPr lang="en-IN" sz="2400">
                    <a:solidFill>
                      <a:srgbClr val="111827"/>
                    </a:solidFill>
                    <a:latin typeface="Cambria Math" panose="02040503050406030204" pitchFamily="18" charset="0"/>
                  </a:rPr>
                  <a:t>$3$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greatest value of the function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 is:</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greatest value of the function </a:t>
                </a:r>
                <a:r>
                  <a:rPr lang="en-IN" sz="2400">
                    <a:solidFill>
                      <a:srgbClr val="111827"/>
                    </a:solidFill>
                    <a:latin typeface="Cambria Math" panose="02040503050406030204" pitchFamily="18" charset="0"/>
                  </a:rPr>
                  <a:t>$f(x)=\frac{(x+1)^4}{x^4-x^3+x^2-x+1}$</a:t>
                </a:r>
                <a:r>
                  <a:rPr sz="2400" b="0">
                    <a:solidFill>
                      <a:srgbClr val="111827"/>
                    </a:solidFill>
                    <a:latin typeface="Arial"/>
                  </a:rPr>
                  <a:t> is:</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Greatest value of a rational function (reciprocal-polynomial substitution)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Dividing by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and putting </a:t>
                </a:r>
                <a14:m>
                  <m:oMath xmlns:m="http://schemas.openxmlformats.org/officeDocument/2006/math">
                    <m:r>
                      <a:rPr lang="en-IN" sz="2400" i="1">
                        <a:solidFill>
                          <a:srgbClr val="78350F"/>
                        </a:solidFill>
                        <a:latin typeface="Cambria Math" panose="02040503050406030204" pitchFamily="18" charset="0"/>
                      </a:rPr>
                      <m:t>𝑔</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𝑥</m:t>
                        </m:r>
                      </m:den>
                    </m:f>
                  </m:oMath>
                </a14:m>
                <a:r>
                  <a:rPr sz="2400" b="0">
                    <a:solidFill>
                      <a:srgbClr val="78350F"/>
                    </a:solidFill>
                    <a:latin typeface="Arial"/>
                  </a:rPr>
                  <a:t> turns </a:t>
                </a:r>
                <a14:m>
                  <m:oMath xmlns:m="http://schemas.openxmlformats.org/officeDocument/2006/math">
                    <m:r>
                      <a:rPr lang="en-IN" sz="2400" i="1">
                        <a:solidFill>
                          <a:srgbClr val="78350F"/>
                        </a:solidFill>
                        <a:latin typeface="Cambria Math" panose="02040503050406030204" pitchFamily="18" charset="0"/>
                      </a:rPr>
                      <m:t>𝑓</m:t>
                    </m:r>
                  </m:oMath>
                </a14:m>
                <a:r>
                  <a:rPr sz="2400" b="0">
                    <a:solidFill>
                      <a:srgbClr val="78350F"/>
                    </a:solidFill>
                    <a:latin typeface="Arial"/>
                  </a:rPr>
                  <a:t> into </a:t>
                </a:r>
                <a14:m>
                  <m:oMath xmlns:m="http://schemas.openxmlformats.org/officeDocument/2006/math">
                    <m:f>
                      <m:fPr>
                        <m:type m:val="bar"/>
                        <m:ctrlPr>
                          <a:rPr lang="en-IN" sz="2400" i="1">
                            <a:solidFill>
                              <a:srgbClr val="78350F"/>
                            </a:solidFill>
                            <a:latin typeface="Cambria Math" panose="02040503050406030204" pitchFamily="18" charset="0"/>
                          </a:rPr>
                        </m:ctrlPr>
                      </m:fPr>
                      <m:num>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𝑔</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num>
                      <m:den>
                        <m:sSup>
                          <m:e>
                            <m:r>
                              <a:rPr lang="en-IN" sz="2400" i="1">
                                <a:solidFill>
                                  <a:srgbClr val="78350F"/>
                                </a:solidFill>
                                <a:latin typeface="Cambria Math" panose="02040503050406030204" pitchFamily="18" charset="0"/>
                              </a:rPr>
                              <m:t>𝑔</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𝑔</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den>
                    </m:f>
                  </m:oMath>
                </a14:m>
                <a:r>
                  <a:rPr sz="2400" b="0">
                    <a:solidFill>
                      <a:srgbClr val="78350F"/>
                    </a:solidFill>
                    <a:latin typeface="Arial"/>
                  </a:rPr>
                  <a:t> with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𝑔</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then study this function of </a:t>
                </a:r>
                <a14:m>
                  <m:oMath xmlns:m="http://schemas.openxmlformats.org/officeDocument/2006/math">
                    <m:r>
                      <a:rPr lang="en-IN" sz="2400" i="1">
                        <a:solidFill>
                          <a:srgbClr val="78350F"/>
                        </a:solidFill>
                        <a:latin typeface="Cambria Math" panose="02040503050406030204" pitchFamily="18" charset="0"/>
                      </a:rPr>
                      <m:t>𝑔</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Dividing by </a:t>
                </a:r>
                <a:r>
                  <a:rPr lang="en-IN" sz="2400">
                    <a:solidFill>
                      <a:srgbClr val="78350F"/>
                    </a:solidFill>
                    <a:latin typeface="Cambria Math" panose="02040503050406030204" pitchFamily="18" charset="0"/>
                  </a:rPr>
                  <a:t>$x^2$</a:t>
                </a:r>
                <a:r>
                  <a:rPr sz="2400" b="0">
                    <a:solidFill>
                      <a:srgbClr val="78350F"/>
                    </a:solidFill>
                    <a:latin typeface="Arial"/>
                  </a:rPr>
                  <a:t> and putting </a:t>
                </a:r>
                <a:r>
                  <a:rPr lang="en-IN" sz="2400">
                    <a:solidFill>
                      <a:srgbClr val="78350F"/>
                    </a:solidFill>
                    <a:latin typeface="Cambria Math" panose="02040503050406030204" pitchFamily="18" charset="0"/>
                  </a:rPr>
                  <a:t>$g=x+\frac{1}{x}$</a:t>
                </a:r>
                <a:r>
                  <a:rPr sz="2400" b="0">
                    <a:solidFill>
                      <a:srgbClr val="78350F"/>
                    </a:solidFill>
                    <a:latin typeface="Arial"/>
                  </a:rPr>
                  <a:t> turns </a:t>
                </a:r>
                <a:r>
                  <a:rPr lang="en-IN" sz="2400">
                    <a:solidFill>
                      <a:srgbClr val="78350F"/>
                    </a:solidFill>
                    <a:latin typeface="Cambria Math" panose="02040503050406030204" pitchFamily="18" charset="0"/>
                  </a:rPr>
                  <a:t>$f$</a:t>
                </a:r>
                <a:r>
                  <a:rPr sz="2400" b="0">
                    <a:solidFill>
                      <a:srgbClr val="78350F"/>
                    </a:solidFill>
                    <a:latin typeface="Arial"/>
                  </a:rPr>
                  <a:t> into </a:t>
                </a:r>
                <a:r>
                  <a:rPr lang="en-IN" sz="2400">
                    <a:solidFill>
                      <a:srgbClr val="78350F"/>
                    </a:solidFill>
                    <a:latin typeface="Cambria Math" panose="02040503050406030204" pitchFamily="18" charset="0"/>
                  </a:rPr>
                  <a:t>$\frac{(g+2)^2}{g^2-g-1}$</a:t>
                </a:r>
                <a:r>
                  <a:rPr sz="2400" b="0">
                    <a:solidFill>
                      <a:srgbClr val="78350F"/>
                    </a:solidFill>
                    <a:latin typeface="Arial"/>
                  </a:rPr>
                  <a:t> with </a:t>
                </a:r>
                <a:r>
                  <a:rPr lang="en-IN" sz="2400">
                    <a:solidFill>
                      <a:srgbClr val="78350F"/>
                    </a:solidFill>
                    <a:latin typeface="Cambria Math" panose="02040503050406030204" pitchFamily="18" charset="0"/>
                  </a:rPr>
                  <a:t>$|g|\ge2$</a:t>
                </a:r>
                <a:r>
                  <a:rPr sz="2400" b="0">
                    <a:solidFill>
                      <a:srgbClr val="78350F"/>
                    </a:solidFill>
                    <a:latin typeface="Arial"/>
                  </a:rPr>
                  <a:t>; then study this function of </a:t>
                </a:r>
                <a:r>
                  <a:rPr lang="en-IN" sz="2400">
                    <a:solidFill>
                      <a:srgbClr val="78350F"/>
                    </a:solidFill>
                    <a:latin typeface="Cambria Math" panose="02040503050406030204" pitchFamily="18" charset="0"/>
                  </a:rPr>
                  <a:t>$g$</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Divide numerator and denominator by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num>
                      <m:den>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𝑔</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num>
                      <m:den>
                        <m:sSup>
                          <m:e>
                            <m:r>
                              <a:rPr lang="en-IN" sz="2400" i="1">
                                <a:solidFill>
                                  <a:srgbClr val="111827"/>
                                </a:solidFill>
                                <a:latin typeface="Cambria Math" panose="02040503050406030204" pitchFamily="18" charset="0"/>
                              </a:rPr>
                              <m:t>𝑔</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𝑔</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where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for real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$f(x)=\frac{(x+1)^4}{x^4-x^3+x^2-x+1}=\frac{x^4+4x^3+6x^2+4x+1}{x^4-x^3+x^2-x+1}$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Divide numerator and denominator by </a:t>
                </a:r>
                <a:r>
                  <a:rPr lang="en-IN" sz="2400">
                    <a:solidFill>
                      <a:srgbClr val="111827"/>
                    </a:solidFill>
                    <a:latin typeface="Cambria Math" panose="02040503050406030204" pitchFamily="18" charset="0"/>
                  </a:rPr>
                  <a:t>$x^2$</a:t>
                </a:r>
                <a:r>
                  <a:rPr sz="2400" b="0">
                    <a:solidFill>
                      <a:srgbClr val="111827"/>
                    </a:solidFill>
                    <a:latin typeface="Arial"/>
                  </a:rPr>
                  <a:t>: </a:t>
                </a:r>
                <a:r>
                  <a:rPr lang="en-IN" sz="2400">
                    <a:solidFill>
                      <a:srgbClr val="111827"/>
                    </a:solidFill>
                    <a:latin typeface="Cambria Math" panose="02040503050406030204" pitchFamily="18" charset="0"/>
                  </a:rPr>
                  <a:t>$f=\frac{\left(x^2+\frac{1}{x^2}\right)+4\left(x+\frac{1}{x}\right)+6}{\left(x^2+\frac{1}{x^2}\right)-\left(x+\frac{1}{x}\right)+1}$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$g=x+\frac{1}{x}$</a:t>
                </a:r>
                <a:r>
                  <a:rPr sz="2400" b="0">
                    <a:solidFill>
                      <a:srgbClr val="111827"/>
                    </a:solidFill>
                    <a:latin typeface="Arial"/>
                  </a:rPr>
                  <a:t>, so </a:t>
                </a:r>
                <a:r>
                  <a:rPr lang="en-IN" sz="2400">
                    <a:solidFill>
                      <a:srgbClr val="111827"/>
                    </a:solidFill>
                    <a:latin typeface="Cambria Math" panose="02040503050406030204" pitchFamily="18" charset="0"/>
                  </a:rPr>
                  <a:t>$x^2+\frac{1}{x^2}=g^2-2$</a:t>
                </a:r>
                <a:r>
                  <a:rPr sz="2400" b="0">
                    <a:solidFill>
                      <a:srgbClr val="111827"/>
                    </a:solidFill>
                    <a:latin typeface="Arial"/>
                  </a:rPr>
                  <a:t> and </a:t>
                </a:r>
                <a:r>
                  <a:rPr lang="en-IN" sz="2400">
                    <a:solidFill>
                      <a:srgbClr val="111827"/>
                    </a:solidFill>
                    <a:latin typeface="Cambria Math" panose="02040503050406030204" pitchFamily="18" charset="0"/>
                  </a:rPr>
                  <a:t>$f=\frac{g^2+4g+4}{g^2-g-1}=\frac{(g+2)^2}{g^2-g-1}=h(g)$</a:t>
                </a:r>
                <a:r>
                  <a:rPr sz="2400" b="0">
                    <a:solidFill>
                      <a:srgbClr val="111827"/>
                    </a:solidFill>
                    <a:latin typeface="Arial"/>
                  </a:rPr>
                  <a:t>, where </a:t>
                </a:r>
                <a:r>
                  <a:rPr lang="en-IN" sz="2400">
                    <a:solidFill>
                      <a:srgbClr val="111827"/>
                    </a:solidFill>
                    <a:latin typeface="Cambria Math" panose="02040503050406030204" pitchFamily="18" charset="0"/>
                  </a:rPr>
                  <a:t>$|g|\ge2$</a:t>
                </a:r>
                <a:r>
                  <a:rPr sz="2400" b="0">
                    <a:solidFill>
                      <a:srgbClr val="111827"/>
                    </a:solidFill>
                    <a:latin typeface="Arial"/>
                  </a:rPr>
                  <a:t> for real </a:t>
                </a:r>
                <a:r>
                  <a:rPr lang="en-IN" sz="2400">
                    <a:solidFill>
                      <a:srgbClr val="111827"/>
                    </a:solidFill>
                    <a:latin typeface="Cambria Math" panose="02040503050406030204" pitchFamily="18" charset="0"/>
                  </a:rPr>
                  <a:t>$x\ne0$</a:t>
                </a:r>
                <a:r>
                  <a:rPr sz="2400" b="0">
                    <a:solidFill>
                      <a:srgbClr val="111827"/>
                    </a:solidFill>
                    <a:latin typeface="Arial"/>
                  </a:rPr>
                  <a:t> (and </a:t>
                </a:r>
                <a:r>
                  <a:rPr lang="en-IN" sz="2400">
                    <a:solidFill>
                      <a:srgbClr val="111827"/>
                    </a:solidFill>
                    <a:latin typeface="Cambria Math" panose="02040503050406030204" pitchFamily="18" charset="0"/>
                  </a:rPr>
                  <a:t>$f(0)=1$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Differentiate with respect to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ℎ</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e>
                        </m:d>
                      </m:num>
                      <m:den>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ℎ</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ℎ</m:t>
                    </m:r>
                  </m:oMath>
                </a14:m>
                <a:r>
                  <a:rPr sz="2400" b="0">
                    <a:solidFill>
                      <a:srgbClr val="111827"/>
                    </a:solidFill>
                    <a:latin typeface="Arial"/>
                  </a:rPr>
                  <a:t> decreases and its largest value is at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num>
                      <m:den>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ℎ</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ℎ</m:t>
                    </m:r>
                  </m:oMath>
                </a14:m>
                <a:r>
                  <a:rPr sz="2400" b="0">
                    <a:solidFill>
                      <a:srgbClr val="111827"/>
                    </a:solidFill>
                    <a:latin typeface="Arial"/>
                  </a:rPr>
                  <a:t> decreases from its limit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all these values are below </a:t>
                </a:r>
                <a14:m>
                  <m:oMath xmlns:m="http://schemas.openxmlformats.org/officeDocument/2006/math">
                    <m:r>
                      <a:rPr lang="en-IN" sz="2400" i="1">
                        <a:solidFill>
                          <a:srgbClr val="111827"/>
                        </a:solidFill>
                        <a:latin typeface="Cambria Math" panose="02040503050406030204" pitchFamily="18" charset="0"/>
                      </a:rPr>
                      <m:t>16</m:t>
                    </m:r>
                  </m:oMath>
                </a14:m>
                <a:r>
                  <a:rPr sz="2400" b="0">
                    <a:solidFill>
                      <a:srgbClr val="111827"/>
                    </a:solidFill>
                    <a:latin typeface="Arial"/>
                  </a:rPr>
                  <a:t> (these correspond to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greatest value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Differentiate with respect to </a:t>
                </a:r>
                <a:r>
                  <a:rPr lang="en-IN" sz="2400">
                    <a:solidFill>
                      <a:srgbClr val="111827"/>
                    </a:solidFill>
                    <a:latin typeface="Cambria Math" panose="02040503050406030204" pitchFamily="18" charset="0"/>
                  </a:rPr>
                  <a:t>$g$</a:t>
                </a:r>
                <a:r>
                  <a:rPr sz="2400" b="0">
                    <a:solidFill>
                      <a:srgbClr val="111827"/>
                    </a:solidFill>
                    <a:latin typeface="Arial"/>
                  </a:rPr>
                  <a:t>: </a:t>
                </a:r>
                <a:r>
                  <a:rPr lang="en-IN" sz="2400">
                    <a:solidFill>
                      <a:srgbClr val="111827"/>
                    </a:solidFill>
                    <a:latin typeface="Cambria Math" panose="02040503050406030204" pitchFamily="18" charset="0"/>
                  </a:rPr>
                  <a:t>$h'(g)=\frac{(g+2)\left[2(g^2-g-1)-(g+2)(2g-1)\right]}{(g^2-g-1)^2}=\frac{-5g(g+2)}{(g^2-g-1)^2}$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$g\ge2$</a:t>
                </a:r>
                <a:r>
                  <a:rPr sz="2400" b="0">
                    <a:solidFill>
                      <a:srgbClr val="111827"/>
                    </a:solidFill>
                    <a:latin typeface="Arial"/>
                  </a:rPr>
                  <a:t>: </a:t>
                </a:r>
                <a:r>
                  <a:rPr lang="en-IN" sz="2400">
                    <a:solidFill>
                      <a:srgbClr val="111827"/>
                    </a:solidFill>
                    <a:latin typeface="Cambria Math" panose="02040503050406030204" pitchFamily="18" charset="0"/>
                  </a:rPr>
                  <a:t>$h'(g)&lt;0$</a:t>
                </a:r>
                <a:r>
                  <a:rPr sz="2400" b="0">
                    <a:solidFill>
                      <a:srgbClr val="111827"/>
                    </a:solidFill>
                    <a:latin typeface="Arial"/>
                  </a:rPr>
                  <a:t>, so </a:t>
                </a:r>
                <a:r>
                  <a:rPr lang="en-IN" sz="2400">
                    <a:solidFill>
                      <a:srgbClr val="111827"/>
                    </a:solidFill>
                    <a:latin typeface="Cambria Math" panose="02040503050406030204" pitchFamily="18" charset="0"/>
                  </a:rPr>
                  <a:t>$h$</a:t>
                </a:r>
                <a:r>
                  <a:rPr sz="2400" b="0">
                    <a:solidFill>
                      <a:srgbClr val="111827"/>
                    </a:solidFill>
                    <a:latin typeface="Arial"/>
                  </a:rPr>
                  <a:t> decreases and its largest value is at </a:t>
                </a:r>
                <a:r>
                  <a:rPr lang="en-IN" sz="2400">
                    <a:solidFill>
                      <a:srgbClr val="111827"/>
                    </a:solidFill>
                    <a:latin typeface="Cambria Math" panose="02040503050406030204" pitchFamily="18" charset="0"/>
                  </a:rPr>
                  <a:t>$g=2$</a:t>
                </a:r>
                <a:r>
                  <a:rPr sz="2400" b="0">
                    <a:solidFill>
                      <a:srgbClr val="111827"/>
                    </a:solidFill>
                    <a:latin typeface="Arial"/>
                  </a:rPr>
                  <a:t>, i.e. </a:t>
                </a:r>
                <a:r>
                  <a:rPr lang="en-IN" sz="2400">
                    <a:solidFill>
                      <a:srgbClr val="111827"/>
                    </a:solidFill>
                    <a:latin typeface="Cambria Math" panose="02040503050406030204" pitchFamily="18" charset="0"/>
                  </a:rPr>
                  <a:t>$x=1$</a:t>
                </a:r>
                <a:r>
                  <a:rPr sz="2400" b="0">
                    <a:solidFill>
                      <a:srgbClr val="111827"/>
                    </a:solidFill>
                    <a:latin typeface="Arial"/>
                  </a:rPr>
                  <a:t>: </a:t>
                </a:r>
                <a:r>
                  <a:rPr lang="en-IN" sz="2400">
                    <a:solidFill>
                      <a:srgbClr val="111827"/>
                    </a:solidFill>
                    <a:latin typeface="Cambria Math" panose="02040503050406030204" pitchFamily="18" charset="0"/>
                  </a:rPr>
                  <a:t>$h(2)=\frac{16}{1}=16$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$g\le-2$</a:t>
                </a:r>
                <a:r>
                  <a:rPr sz="2400" b="0">
                    <a:solidFill>
                      <a:srgbClr val="111827"/>
                    </a:solidFill>
                    <a:latin typeface="Arial"/>
                  </a:rPr>
                  <a:t>: </a:t>
                </a:r>
                <a:r>
                  <a:rPr lang="en-IN" sz="2400">
                    <a:solidFill>
                      <a:srgbClr val="111827"/>
                    </a:solidFill>
                    <a:latin typeface="Cambria Math" panose="02040503050406030204" pitchFamily="18" charset="0"/>
                  </a:rPr>
                  <a:t>$h'(g)&lt;0$</a:t>
                </a:r>
                <a:r>
                  <a:rPr sz="2400" b="0">
                    <a:solidFill>
                      <a:srgbClr val="111827"/>
                    </a:solidFill>
                    <a:latin typeface="Arial"/>
                  </a:rPr>
                  <a:t> for </a:t>
                </a:r>
                <a:r>
                  <a:rPr lang="en-IN" sz="2400">
                    <a:solidFill>
                      <a:srgbClr val="111827"/>
                    </a:solidFill>
                    <a:latin typeface="Cambria Math" panose="02040503050406030204" pitchFamily="18" charset="0"/>
                  </a:rPr>
                  <a:t>$g&lt;-2$</a:t>
                </a:r>
                <a:r>
                  <a:rPr sz="2400" b="0">
                    <a:solidFill>
                      <a:srgbClr val="111827"/>
                    </a:solidFill>
                    <a:latin typeface="Arial"/>
                  </a:rPr>
                  <a:t>, so </a:t>
                </a:r>
                <a:r>
                  <a:rPr lang="en-IN" sz="2400">
                    <a:solidFill>
                      <a:srgbClr val="111827"/>
                    </a:solidFill>
                    <a:latin typeface="Cambria Math" panose="02040503050406030204" pitchFamily="18" charset="0"/>
                  </a:rPr>
                  <a:t>$h$</a:t>
                </a:r>
                <a:r>
                  <a:rPr sz="2400" b="0">
                    <a:solidFill>
                      <a:srgbClr val="111827"/>
                    </a:solidFill>
                    <a:latin typeface="Arial"/>
                  </a:rPr>
                  <a:t> decreases from its limit </a:t>
                </a:r>
                <a:r>
                  <a:rPr lang="en-IN" sz="2400">
                    <a:solidFill>
                      <a:srgbClr val="111827"/>
                    </a:solidFill>
                    <a:latin typeface="Cambria Math" panose="02040503050406030204" pitchFamily="18" charset="0"/>
                  </a:rPr>
                  <a:t>$1$</a:t>
                </a:r>
                <a:r>
                  <a:rPr sz="2400" b="0">
                    <a:solidFill>
                      <a:srgbClr val="111827"/>
                    </a:solidFill>
                    <a:latin typeface="Arial"/>
                  </a:rPr>
                  <a:t> (as </a:t>
                </a:r>
                <a:r>
                  <a:rPr lang="en-IN" sz="2400">
                    <a:solidFill>
                      <a:srgbClr val="111827"/>
                    </a:solidFill>
                    <a:latin typeface="Cambria Math" panose="02040503050406030204" pitchFamily="18" charset="0"/>
                  </a:rPr>
                  <a:t>$g\to-\infty$</a:t>
                </a:r>
                <a:r>
                  <a:rPr sz="2400" b="0">
                    <a:solidFill>
                      <a:srgbClr val="111827"/>
                    </a:solidFill>
                    <a:latin typeface="Arial"/>
                  </a:rPr>
                  <a:t>) to </a:t>
                </a:r>
                <a:r>
                  <a:rPr lang="en-IN" sz="2400">
                    <a:solidFill>
                      <a:srgbClr val="111827"/>
                    </a:solidFill>
                    <a:latin typeface="Cambria Math" panose="02040503050406030204" pitchFamily="18" charset="0"/>
                  </a:rPr>
                  <a:t>$h(-2)=0$</a:t>
                </a:r>
                <a:r>
                  <a:rPr sz="2400" b="0">
                    <a:solidFill>
                      <a:srgbClr val="111827"/>
                    </a:solidFill>
                    <a:latin typeface="Arial"/>
                  </a:rPr>
                  <a:t>; all these values are below </a:t>
                </a:r>
                <a:r>
                  <a:rPr lang="en-IN" sz="2400">
                    <a:solidFill>
                      <a:srgbClr val="111827"/>
                    </a:solidFill>
                    <a:latin typeface="Cambria Math" panose="02040503050406030204" pitchFamily="18" charset="0"/>
                  </a:rPr>
                  <a:t>$16$</a:t>
                </a:r>
                <a:r>
                  <a:rPr sz="2400" b="0">
                    <a:solidFill>
                      <a:srgbClr val="111827"/>
                    </a:solidFill>
                    <a:latin typeface="Arial"/>
                  </a:rPr>
                  <a:t> (these correspond to </a:t>
                </a:r>
                <a:r>
                  <a:rPr lang="en-IN" sz="2400">
                    <a:solidFill>
                      <a:srgbClr val="111827"/>
                    </a:solidFill>
                    <a:latin typeface="Cambria Math" panose="02040503050406030204" pitchFamily="18" charset="0"/>
                  </a:rPr>
                  <a:t>$x&lt;0$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greatest value of </a:t>
                </a:r>
                <a:r>
                  <a:rPr lang="en-IN" sz="2400">
                    <a:solidFill>
                      <a:srgbClr val="111827"/>
                    </a:solidFill>
                    <a:latin typeface="Cambria Math" panose="02040503050406030204" pitchFamily="18" charset="0"/>
                  </a:rPr>
                  <a:t>$f$</a:t>
                </a:r>
                <a:r>
                  <a:rPr sz="2400" b="0">
                    <a:solidFill>
                      <a:srgbClr val="111827"/>
                    </a:solidFill>
                    <a:latin typeface="Arial"/>
                  </a:rPr>
                  <a:t> is </a:t>
                </a:r>
                <a:r>
                  <a:rPr lang="en-IN" sz="2400">
                    <a:solidFill>
                      <a:srgbClr val="111827"/>
                    </a:solidFill>
                    <a:latin typeface="Cambria Math" panose="02040503050406030204" pitchFamily="18" charset="0"/>
                  </a:rPr>
                  <a:t>$f(1)=\frac{2+8+6}{2-2+1}=16$</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16</a:t>
            </a:r>
            <a:endParaRPr sz="2800">
              <a:solidFill>
                <a:srgbClr val="15803D"/>
              </a:solidFill>
            </a:endParaRP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Since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4</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3</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5</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den>
                    </m:f>
                  </m:oMath>
                </a14:m>
                <a:r>
                  <a:rPr sz="2400" b="0">
                    <a:solidFill>
                      <a:srgbClr val="78350F"/>
                    </a:solidFill>
                    <a:latin typeface="Arial"/>
                  </a:rPr>
                  <a:t>, we get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5</m:t>
                            </m:r>
                          </m:sup>
                        </m:sSup>
                      </m:num>
                      <m:den>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5</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den>
                    </m:f>
                  </m:oMath>
                </a14:m>
                <a:r>
                  <a:rPr sz="2400" b="0">
                    <a:solidFill>
                      <a:srgbClr val="78350F"/>
                    </a:solidFill>
                    <a:latin typeface="Arial"/>
                  </a:rPr>
                  <a:t> and convexity of </a:t>
                </a:r>
                <a14:m>
                  <m:oMath xmlns:m="http://schemas.openxmlformats.org/officeDocument/2006/math">
                    <m:sSup>
                      <m:e>
                        <m:r>
                          <a:rPr lang="en-IN" sz="2400" i="1">
                            <a:solidFill>
                              <a:srgbClr val="78350F"/>
                            </a:solidFill>
                            <a:latin typeface="Cambria Math" panose="02040503050406030204" pitchFamily="18" charset="0"/>
                          </a:rPr>
                          <m:t>𝑡</m:t>
                        </m:r>
                      </m:e>
                      <m:sup>
                        <m:r>
                          <a:rPr lang="en-IN" sz="2400" i="1">
                            <a:solidFill>
                              <a:srgbClr val="78350F"/>
                            </a:solidFill>
                            <a:latin typeface="Cambria Math" panose="02040503050406030204" pitchFamily="18" charset="0"/>
                          </a:rPr>
                          <m:t>5</m:t>
                        </m:r>
                      </m:sup>
                    </m:sSup>
                  </m:oMath>
                </a14:m>
                <a:r>
                  <a:rPr sz="2400" b="0">
                    <a:solidFill>
                      <a:srgbClr val="78350F"/>
                    </a:solidFill>
                    <a:latin typeface="Arial"/>
                  </a:rPr>
                  <a:t> bounds it.</a:t>
                </a:r>
                <a:endParaRPr sz="2400">
                  <a:solidFill>
                    <a:srgbClr val="78350F"/>
                  </a:solidFill>
                </a:endParaRPr>
              </a:p>
            </p:txBody>
          </p:sp>
        </mc:Choice>
        <mc:Fallback>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Since </a:t>
                </a:r>
                <a:r>
                  <a:rPr lang="en-IN" sz="2400">
                    <a:solidFill>
                      <a:srgbClr val="78350F"/>
                    </a:solidFill>
                    <a:latin typeface="Cambria Math" panose="02040503050406030204" pitchFamily="18" charset="0"/>
                  </a:rPr>
                  <a:t>$x^4-x^3+x^2-x+1=\frac{x^5+1}{x+1}$</a:t>
                </a:r>
                <a:r>
                  <a:rPr sz="2400" b="0">
                    <a:solidFill>
                      <a:srgbClr val="78350F"/>
                    </a:solidFill>
                    <a:latin typeface="Arial"/>
                  </a:rPr>
                  <a:t>, we get </a:t>
                </a:r>
                <a:r>
                  <a:rPr lang="en-IN" sz="2400">
                    <a:solidFill>
                      <a:srgbClr val="78350F"/>
                    </a:solidFill>
                    <a:latin typeface="Cambria Math" panose="02040503050406030204" pitchFamily="18" charset="0"/>
                  </a:rPr>
                  <a:t>$f=\frac{(x+1)^5}{x^5+1}$</a:t>
                </a:r>
                <a:r>
                  <a:rPr sz="2400" b="0">
                    <a:solidFill>
                      <a:srgbClr val="78350F"/>
                    </a:solidFill>
                    <a:latin typeface="Arial"/>
                  </a:rPr>
                  <a:t> and convexity of </a:t>
                </a:r>
                <a:r>
                  <a:rPr lang="en-IN" sz="2400">
                    <a:solidFill>
                      <a:srgbClr val="78350F"/>
                    </a:solidFill>
                    <a:latin typeface="Cambria Math" panose="02040503050406030204" pitchFamily="18" charset="0"/>
                  </a:rPr>
                  <a:t>$t^5$</a:t>
                </a:r>
                <a:r>
                  <a:rPr sz="2400" b="0">
                    <a:solidFill>
                      <a:srgbClr val="78350F"/>
                    </a:solidFill>
                    <a:latin typeface="Arial"/>
                  </a:rPr>
                  <a:t> bounds it.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the quartic is positive for all real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5</m:t>
                        </m:r>
                      </m:sup>
                    </m:sSup>
                  </m:oMath>
                </a14:m>
                <a:r>
                  <a:rPr sz="2400" b="0">
                    <a:solidFill>
                      <a:srgbClr val="111827"/>
                    </a:solidFill>
                    <a:latin typeface="Arial"/>
                  </a:rPr>
                  <a:t> is convex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with equality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 gives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𝑥</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hence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$(x+1)(x^4-x^3+x^2-x+1)=x^5+1$</a:t>
                </a:r>
                <a:r>
                  <a:rPr sz="2400" b="0">
                    <a:solidFill>
                      <a:srgbClr val="111827"/>
                    </a:solidFill>
                    <a:latin typeface="Arial"/>
                  </a:rPr>
                  <a:t>, and the quartic is positive for all real </a:t>
                </a:r>
                <a:r>
                  <a:rPr lang="en-IN" sz="2400">
                    <a:solidFill>
                      <a:srgbClr val="111827"/>
                    </a:solidFill>
                    <a:latin typeface="Cambria Math" panose="02040503050406030204" pitchFamily="18" charset="0"/>
                  </a:rPr>
                  <a:t>$x$</a:t>
                </a:r>
                <a:r>
                  <a:rPr sz="2400" b="0">
                    <a:solidFill>
                      <a:srgbClr val="111827"/>
                    </a:solidFill>
                    <a:latin typeface="Arial"/>
                  </a:rPr>
                  <a:t>. So </a:t>
                </a:r>
                <a:r>
                  <a:rPr lang="en-IN" sz="2400">
                    <a:solidFill>
                      <a:srgbClr val="111827"/>
                    </a:solidFill>
                    <a:latin typeface="Cambria Math" panose="02040503050406030204" pitchFamily="18" charset="0"/>
                  </a:rPr>
                  <a:t>$f(x)=\frac{(x+1)^5}{x^5+1}$</a:t>
                </a:r>
                <a:r>
                  <a:rPr sz="2400" b="0">
                    <a:solidFill>
                      <a:srgbClr val="111827"/>
                    </a:solidFill>
                    <a:latin typeface="Arial"/>
                  </a:rPr>
                  <a:t> for </a:t>
                </a:r>
                <a:r>
                  <a:rPr lang="en-IN" sz="2400">
                    <a:solidFill>
                      <a:srgbClr val="111827"/>
                    </a:solidFill>
                    <a:latin typeface="Cambria Math" panose="02040503050406030204" pitchFamily="18" charset="0"/>
                  </a:rPr>
                  <a:t>$x\ne-1$</a:t>
                </a:r>
                <a:r>
                  <a:rPr sz="2400" b="0">
                    <a:solidFill>
                      <a:srgbClr val="111827"/>
                    </a:solidFill>
                    <a:latin typeface="Arial"/>
                  </a:rPr>
                  <a:t>, and </a:t>
                </a:r>
                <a:r>
                  <a:rPr lang="en-IN" sz="2400">
                    <a:solidFill>
                      <a:srgbClr val="111827"/>
                    </a:solidFill>
                    <a:latin typeface="Cambria Math" panose="02040503050406030204" pitchFamily="18" charset="0"/>
                  </a:rPr>
                  <a:t>$f(-1)=0$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$x\ge0$</a:t>
                </a:r>
                <a:r>
                  <a:rPr sz="2400" b="0">
                    <a:solidFill>
                      <a:srgbClr val="111827"/>
                    </a:solidFill>
                    <a:latin typeface="Arial"/>
                  </a:rPr>
                  <a:t>: </a:t>
                </a:r>
                <a:r>
                  <a:rPr lang="en-IN" sz="2400">
                    <a:solidFill>
                      <a:srgbClr val="111827"/>
                    </a:solidFill>
                    <a:latin typeface="Cambria Math" panose="02040503050406030204" pitchFamily="18" charset="0"/>
                  </a:rPr>
                  <a:t>$t^5$</a:t>
                </a:r>
                <a:r>
                  <a:rPr sz="2400" b="0">
                    <a:solidFill>
                      <a:srgbClr val="111827"/>
                    </a:solidFill>
                    <a:latin typeface="Arial"/>
                  </a:rPr>
                  <a:t> is convex on </a:t>
                </a:r>
                <a:r>
                  <a:rPr lang="en-IN" sz="2400">
                    <a:solidFill>
                      <a:srgbClr val="111827"/>
                    </a:solidFill>
                    <a:latin typeface="Cambria Math" panose="02040503050406030204" pitchFamily="18" charset="0"/>
                  </a:rPr>
                  <a:t>$[0,\infty)$</a:t>
                </a:r>
                <a:r>
                  <a:rPr sz="2400" b="0">
                    <a:solidFill>
                      <a:srgbClr val="111827"/>
                    </a:solidFill>
                    <a:latin typeface="Arial"/>
                  </a:rPr>
                  <a:t>, so </a:t>
                </a:r>
                <a:r>
                  <a:rPr lang="en-IN" sz="2400">
                    <a:solidFill>
                      <a:srgbClr val="111827"/>
                    </a:solidFill>
                    <a:latin typeface="Cambria Math" panose="02040503050406030204" pitchFamily="18" charset="0"/>
                  </a:rPr>
                  <a:t>$\left(\frac{x+1}{2}\right)^5\le\frac{x^5+1}{2}$</a:t>
                </a:r>
                <a:r>
                  <a:rPr sz="2400" b="0">
                    <a:solidFill>
                      <a:srgbClr val="111827"/>
                    </a:solidFill>
                    <a:latin typeface="Arial"/>
                  </a:rPr>
                  <a:t>, i.e. </a:t>
                </a:r>
                <a:r>
                  <a:rPr lang="en-IN" sz="2400">
                    <a:solidFill>
                      <a:srgbClr val="111827"/>
                    </a:solidFill>
                    <a:latin typeface="Cambria Math" panose="02040503050406030204" pitchFamily="18" charset="0"/>
                  </a:rPr>
                  <a:t>$(x+1)^5\le16(x^5+1)$</a:t>
                </a:r>
                <a:r>
                  <a:rPr sz="2400" b="0">
                    <a:solidFill>
                      <a:srgbClr val="111827"/>
                    </a:solidFill>
                    <a:latin typeface="Arial"/>
                  </a:rPr>
                  <a:t> and </a:t>
                </a:r>
                <a:r>
                  <a:rPr lang="en-IN" sz="2400">
                    <a:solidFill>
                      <a:srgbClr val="111827"/>
                    </a:solidFill>
                    <a:latin typeface="Cambria Math" panose="02040503050406030204" pitchFamily="18" charset="0"/>
                  </a:rPr>
                  <a:t>$f\le16$</a:t>
                </a:r>
                <a:r>
                  <a:rPr sz="2400" b="0">
                    <a:solidFill>
                      <a:srgbClr val="111827"/>
                    </a:solidFill>
                    <a:latin typeface="Arial"/>
                  </a:rPr>
                  <a:t>, with equality at </a:t>
                </a:r>
                <a:r>
                  <a:rPr lang="en-IN" sz="2400">
                    <a:solidFill>
                      <a:srgbClr val="111827"/>
                    </a:solidFill>
                    <a:latin typeface="Cambria Math" panose="02040503050406030204" pitchFamily="18" charset="0"/>
                  </a:rPr>
                  <a:t>$x=1$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$-1&lt;x&lt;0$</a:t>
                </a:r>
                <a:r>
                  <a:rPr sz="2400" b="0">
                    <a:solidFill>
                      <a:srgbClr val="111827"/>
                    </a:solidFill>
                    <a:latin typeface="Arial"/>
                  </a:rPr>
                  <a:t>: </a:t>
                </a:r>
                <a:r>
                  <a:rPr lang="en-IN" sz="2400">
                    <a:solidFill>
                      <a:srgbClr val="111827"/>
                    </a:solidFill>
                    <a:latin typeface="Cambria Math" panose="02040503050406030204" pitchFamily="18" charset="0"/>
                  </a:rPr>
                  <a:t>$0&lt;1+x&lt;1$</a:t>
                </a:r>
                <a:r>
                  <a:rPr sz="2400" b="0">
                    <a:solidFill>
                      <a:srgbClr val="111827"/>
                    </a:solidFill>
                    <a:latin typeface="Arial"/>
                  </a:rPr>
                  <a:t> gives </a:t>
                </a:r>
                <a:r>
                  <a:rPr lang="en-IN" sz="2400">
                    <a:solidFill>
                      <a:srgbClr val="111827"/>
                    </a:solidFill>
                    <a:latin typeface="Cambria Math" panose="02040503050406030204" pitchFamily="18" charset="0"/>
                  </a:rPr>
                  <a:t>$(1+x)^5&lt;1+x$</a:t>
                </a:r>
                <a:r>
                  <a:rPr sz="2400" b="0">
                    <a:solidFill>
                      <a:srgbClr val="111827"/>
                    </a:solidFill>
                    <a:latin typeface="Arial"/>
                  </a:rPr>
                  <a:t>, and </a:t>
                </a:r>
                <a:r>
                  <a:rPr lang="en-IN" sz="2400">
                    <a:solidFill>
                      <a:srgbClr val="111827"/>
                    </a:solidFill>
                    <a:latin typeface="Cambria Math" panose="02040503050406030204" pitchFamily="18" charset="0"/>
                  </a:rPr>
                  <a:t>$x^5&gt;x$</a:t>
                </a:r>
                <a:r>
                  <a:rPr sz="2400" b="0">
                    <a:solidFill>
                      <a:srgbClr val="111827"/>
                    </a:solidFill>
                    <a:latin typeface="Arial"/>
                  </a:rPr>
                  <a:t> gives </a:t>
                </a:r>
                <a:r>
                  <a:rPr lang="en-IN" sz="2400">
                    <a:solidFill>
                      <a:srgbClr val="111827"/>
                    </a:solidFill>
                    <a:latin typeface="Cambria Math" panose="02040503050406030204" pitchFamily="18" charset="0"/>
                  </a:rPr>
                  <a:t>$1+x^5&gt;1+x$</a:t>
                </a:r>
                <a:r>
                  <a:rPr sz="2400" b="0">
                    <a:solidFill>
                      <a:srgbClr val="111827"/>
                    </a:solidFill>
                    <a:latin typeface="Arial"/>
                  </a:rPr>
                  <a:t>; hence </a:t>
                </a:r>
                <a:r>
                  <a:rPr lang="en-IN" sz="2400">
                    <a:solidFill>
                      <a:srgbClr val="111827"/>
                    </a:solidFill>
                    <a:latin typeface="Cambria Math" panose="02040503050406030204" pitchFamily="18" charset="0"/>
                  </a:rPr>
                  <a:t>$0&lt;f&lt;1$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put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num>
                      <m:den>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greatest value is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$x&lt;-1$</a:t>
                </a:r>
                <a:r>
                  <a:rPr sz="2400" b="0">
                    <a:solidFill>
                      <a:srgbClr val="111827"/>
                    </a:solidFill>
                    <a:latin typeface="Arial"/>
                  </a:rPr>
                  <a:t> put </a:t>
                </a:r>
                <a:r>
                  <a:rPr lang="en-IN" sz="2400">
                    <a:solidFill>
                      <a:srgbClr val="111827"/>
                    </a:solidFill>
                    <a:latin typeface="Cambria Math" panose="02040503050406030204" pitchFamily="18" charset="0"/>
                  </a:rPr>
                  <a:t>$t=-x&gt;1$</a:t>
                </a:r>
                <a:r>
                  <a:rPr sz="2400" b="0">
                    <a:solidFill>
                      <a:srgbClr val="111827"/>
                    </a:solidFill>
                    <a:latin typeface="Arial"/>
                  </a:rPr>
                  <a:t>: </a:t>
                </a:r>
                <a:r>
                  <a:rPr lang="en-IN" sz="2400">
                    <a:solidFill>
                      <a:srgbClr val="111827"/>
                    </a:solidFill>
                    <a:latin typeface="Cambria Math" panose="02040503050406030204" pitchFamily="18" charset="0"/>
                  </a:rPr>
                  <a:t>$f=\frac{(t-1)^5}{t^5-1}$</a:t>
                </a:r>
                <a:r>
                  <a:rPr sz="2400" b="0">
                    <a:solidFill>
                      <a:srgbClr val="111827"/>
                    </a:solidFill>
                    <a:latin typeface="Arial"/>
                  </a:rPr>
                  <a:t> and </a:t>
                </a:r>
                <a:r>
                  <a:rPr lang="en-IN" sz="2400">
                    <a:solidFill>
                      <a:srgbClr val="111827"/>
                    </a:solidFill>
                    <a:latin typeface="Cambria Math" panose="02040503050406030204" pitchFamily="18" charset="0"/>
                  </a:rPr>
                  <a:t>$t^5-1=(t-1)(t^4+t^3+t^2+t+1)&gt;(t-1)^5$</a:t>
                </a:r>
                <a:r>
                  <a:rPr sz="2400" b="0">
                    <a:solidFill>
                      <a:srgbClr val="111827"/>
                    </a:solidFill>
                    <a:latin typeface="Arial"/>
                  </a:rPr>
                  <a:t>, so </a:t>
                </a:r>
                <a:r>
                  <a:rPr lang="en-IN" sz="2400">
                    <a:solidFill>
                      <a:srgbClr val="111827"/>
                    </a:solidFill>
                    <a:latin typeface="Cambria Math" panose="02040503050406030204" pitchFamily="18" charset="0"/>
                  </a:rPr>
                  <a:t>$0&lt;f&lt;1$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greatest value is </a:t>
                </a:r>
                <a:r>
                  <a:rPr lang="en-IN" sz="2400">
                    <a:solidFill>
                      <a:srgbClr val="111827"/>
                    </a:solidFill>
                    <a:latin typeface="Cambria Math" panose="02040503050406030204" pitchFamily="18" charset="0"/>
                  </a:rPr>
                  <a:t>$f(1)=16$</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16</a:t>
            </a:r>
            <a:endParaRPr sz="2800">
              <a:solidFill>
                <a:srgbClr val="15803D"/>
              </a:solidFill>
            </a:endParaRP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palindromic polynomial of even degree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𝑚</m:t>
                    </m:r>
                  </m:oMath>
                </a14:m>
                <a:r>
                  <a:rPr sz="2400" b="0">
                    <a:solidFill>
                      <a:srgbClr val="111827"/>
                    </a:solidFill>
                    <a:latin typeface="Arial"/>
                  </a:rPr>
                  <a:t> becomes a polynomial of degree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in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 after dividing by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𝑚</m:t>
                        </m:r>
                      </m:sup>
                    </m:sSup>
                  </m:oMath>
                </a14:m>
                <a:r>
                  <a:rPr sz="2400" b="0">
                    <a:solidFill>
                      <a:srgbClr val="111827"/>
                    </a:solidFill>
                    <a:latin typeface="Arial"/>
                  </a:rPr>
                  <a:t>; for real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(never use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𝑡</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only locates stationary points of the inner function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extrema of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must be found from </a:t>
                </a:r>
                <a14:m>
                  <m:oMath xmlns:m="http://schemas.openxmlformats.org/officeDocument/2006/math">
                    <m:sSup>
                      <m:e>
                        <m:r>
                          <a:rPr lang="en-IN" sz="2400" i="1">
                            <a:solidFill>
                              <a:srgbClr val="111827"/>
                            </a:solidFill>
                            <a:latin typeface="Cambria Math" panose="02040503050406030204" pitchFamily="18" charset="0"/>
                          </a:rPr>
                          <m:t>ℎ</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over the range of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(power-mean / convexity), equality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palindromic polynomial of even degree </a:t>
                </a:r>
                <a:r>
                  <a:rPr lang="en-IN" sz="2400">
                    <a:solidFill>
                      <a:srgbClr val="111827"/>
                    </a:solidFill>
                    <a:latin typeface="Cambria Math" panose="02040503050406030204" pitchFamily="18" charset="0"/>
                  </a:rPr>
                  <a:t>$2m$</a:t>
                </a:r>
                <a:r>
                  <a:rPr sz="2400" b="0">
                    <a:solidFill>
                      <a:srgbClr val="111827"/>
                    </a:solidFill>
                    <a:latin typeface="Arial"/>
                  </a:rPr>
                  <a:t> becomes a polynomial of degree </a:t>
                </a:r>
                <a:r>
                  <a:rPr lang="en-IN" sz="2400">
                    <a:solidFill>
                      <a:srgbClr val="111827"/>
                    </a:solidFill>
                    <a:latin typeface="Cambria Math" panose="02040503050406030204" pitchFamily="18" charset="0"/>
                  </a:rPr>
                  <a:t>$m$</a:t>
                </a:r>
                <a:r>
                  <a:rPr sz="2400" b="0">
                    <a:solidFill>
                      <a:srgbClr val="111827"/>
                    </a:solidFill>
                    <a:latin typeface="Arial"/>
                  </a:rPr>
                  <a:t> in </a:t>
                </a:r>
                <a:r>
                  <a:rPr lang="en-IN" sz="2400">
                    <a:solidFill>
                      <a:srgbClr val="111827"/>
                    </a:solidFill>
                    <a:latin typeface="Cambria Math" panose="02040503050406030204" pitchFamily="18" charset="0"/>
                  </a:rPr>
                  <a:t>$t=x+\frac{1}{x}$</a:t>
                </a:r>
                <a:r>
                  <a:rPr sz="2400" b="0">
                    <a:solidFill>
                      <a:srgbClr val="111827"/>
                    </a:solidFill>
                    <a:latin typeface="Arial"/>
                  </a:rPr>
                  <a:t> after dividing by </a:t>
                </a:r>
                <a:r>
                  <a:rPr lang="en-IN" sz="2400">
                    <a:solidFill>
                      <a:srgbClr val="111827"/>
                    </a:solidFill>
                    <a:latin typeface="Cambria Math" panose="02040503050406030204" pitchFamily="18" charset="0"/>
                  </a:rPr>
                  <a:t>$x^m$</a:t>
                </a:r>
                <a:r>
                  <a:rPr sz="2400" b="0">
                    <a:solidFill>
                      <a:srgbClr val="111827"/>
                    </a:solidFill>
                    <a:latin typeface="Arial"/>
                  </a:rPr>
                  <a:t>; for real </a:t>
                </a:r>
                <a:r>
                  <a:rPr lang="en-IN" sz="2400">
                    <a:solidFill>
                      <a:srgbClr val="111827"/>
                    </a:solidFill>
                    <a:latin typeface="Cambria Math" panose="02040503050406030204" pitchFamily="18" charset="0"/>
                  </a:rPr>
                  <a:t>$x$</a:t>
                </a:r>
                <a:r>
                  <a:rPr sz="2400" b="0">
                    <a:solidFill>
                      <a:srgbClr val="111827"/>
                    </a:solidFill>
                    <a:latin typeface="Arial"/>
                  </a:rPr>
                  <a:t>, </a:t>
                </a:r>
                <a:r>
                  <a:rPr lang="en-IN" sz="2400">
                    <a:solidFill>
                      <a:srgbClr val="111827"/>
                    </a:solidFill>
                    <a:latin typeface="Cambria Math" panose="02040503050406030204" pitchFamily="18" charset="0"/>
                  </a:rPr>
                  <a:t>$|t|\ge2$</a:t>
                </a:r>
                <a:r>
                  <a:rPr sz="2400" b="0">
                    <a:solidFill>
                      <a:srgbClr val="111827"/>
                    </a:solidFill>
                    <a:latin typeface="Arial"/>
                  </a:rPr>
                  <a:t> (never use </a:t>
                </a:r>
                <a:r>
                  <a:rPr lang="en-IN" sz="2400">
                    <a:solidFill>
                      <a:srgbClr val="111827"/>
                    </a:solidFill>
                    <a:latin typeface="Cambria Math" panose="02040503050406030204" pitchFamily="18" charset="0"/>
                  </a:rPr>
                  <a:t>$-2&lt;t&lt;2$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$x^2+\frac{1}{x^2}=t^2-2$</a:t>
                </a:r>
                <a:r>
                  <a:rPr sz="2400" b="0">
                    <a:solidFill>
                      <a:srgbClr val="111827"/>
                    </a:solidFill>
                    <a:latin typeface="Arial"/>
                  </a:rPr>
                  <a:t> and </a:t>
                </a:r>
                <a:r>
                  <a:rPr lang="en-IN" sz="2400">
                    <a:solidFill>
                      <a:srgbClr val="111827"/>
                    </a:solidFill>
                    <a:latin typeface="Cambria Math" panose="02040503050406030204" pitchFamily="18" charset="0"/>
                  </a:rPr>
                  <a:t>$x^3+\frac{1}{x^3}=t^3-3t$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$g'(x)=0$</a:t>
                </a:r>
                <a:r>
                  <a:rPr sz="2400" b="0">
                    <a:solidFill>
                      <a:srgbClr val="111827"/>
                    </a:solidFill>
                    <a:latin typeface="Arial"/>
                  </a:rPr>
                  <a:t> only locates stationary points of the inner function </a:t>
                </a:r>
                <a:r>
                  <a:rPr lang="en-IN" sz="2400">
                    <a:solidFill>
                      <a:srgbClr val="111827"/>
                    </a:solidFill>
                    <a:latin typeface="Cambria Math" panose="02040503050406030204" pitchFamily="18" charset="0"/>
                  </a:rPr>
                  <a:t>$g$</a:t>
                </a:r>
                <a:r>
                  <a:rPr sz="2400" b="0">
                    <a:solidFill>
                      <a:srgbClr val="111827"/>
                    </a:solidFill>
                    <a:latin typeface="Arial"/>
                  </a:rPr>
                  <a:t>; extrema of </a:t>
                </a:r>
                <a:r>
                  <a:rPr lang="en-IN" sz="2400">
                    <a:solidFill>
                      <a:srgbClr val="111827"/>
                    </a:solidFill>
                    <a:latin typeface="Cambria Math" panose="02040503050406030204" pitchFamily="18" charset="0"/>
                  </a:rPr>
                  <a:t>$h(g(x))$</a:t>
                </a:r>
                <a:r>
                  <a:rPr sz="2400" b="0">
                    <a:solidFill>
                      <a:srgbClr val="111827"/>
                    </a:solidFill>
                    <a:latin typeface="Arial"/>
                  </a:rPr>
                  <a:t> must be found from </a:t>
                </a:r>
                <a:r>
                  <a:rPr lang="en-IN" sz="2400">
                    <a:solidFill>
                      <a:srgbClr val="111827"/>
                    </a:solidFill>
                    <a:latin typeface="Cambria Math" panose="02040503050406030204" pitchFamily="18" charset="0"/>
                  </a:rPr>
                  <a:t>$h'(g)$</a:t>
                </a:r>
                <a:r>
                  <a:rPr sz="2400" b="0">
                    <a:solidFill>
                      <a:srgbClr val="111827"/>
                    </a:solidFill>
                    <a:latin typeface="Arial"/>
                  </a:rPr>
                  <a:t> over the range of </a:t>
                </a:r>
                <a:r>
                  <a:rPr lang="en-IN" sz="2400">
                    <a:solidFill>
                      <a:srgbClr val="111827"/>
                    </a:solidFill>
                    <a:latin typeface="Cambria Math" panose="02040503050406030204" pitchFamily="18" charset="0"/>
                  </a:rPr>
                  <a:t>$g$</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$x\ge0$</a:t>
                </a:r>
                <a:r>
                  <a:rPr sz="2400" b="0">
                    <a:solidFill>
                      <a:srgbClr val="111827"/>
                    </a:solidFill>
                    <a:latin typeface="Arial"/>
                  </a:rPr>
                  <a:t> and </a:t>
                </a:r>
                <a:r>
                  <a:rPr lang="en-IN" sz="2400">
                    <a:solidFill>
                      <a:srgbClr val="111827"/>
                    </a:solidFill>
                    <a:latin typeface="Cambria Math" panose="02040503050406030204" pitchFamily="18" charset="0"/>
                  </a:rPr>
                  <a:t>$n\ge1$</a:t>
                </a:r>
                <a:r>
                  <a:rPr sz="2400" b="0">
                    <a:solidFill>
                      <a:srgbClr val="111827"/>
                    </a:solidFill>
                    <a:latin typeface="Arial"/>
                  </a:rPr>
                  <a:t>: </a:t>
                </a:r>
                <a:r>
                  <a:rPr lang="en-IN" sz="2400">
                    <a:solidFill>
                      <a:srgbClr val="111827"/>
                    </a:solidFill>
                    <a:latin typeface="Cambria Math" panose="02040503050406030204" pitchFamily="18" charset="0"/>
                  </a:rPr>
                  <a:t>$(x+1)^n\le2^{n-1}(x^n+1)$</a:t>
                </a:r>
                <a:r>
                  <a:rPr sz="2400" b="0">
                    <a:solidFill>
                      <a:srgbClr val="111827"/>
                    </a:solidFill>
                    <a:latin typeface="Arial"/>
                  </a:rPr>
                  <a:t> (power-mean / convexity), equality at </a:t>
                </a:r>
                <a:r>
                  <a:rPr lang="en-IN" sz="2400">
                    <a:solidFill>
                      <a:srgbClr val="111827"/>
                    </a:solidFill>
                    <a:latin typeface="Cambria Math" panose="02040503050406030204" pitchFamily="18" charset="0"/>
                  </a:rPr>
                  <a:t>$x=1$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distinct real roots of equation </a:t>
                </a: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then the value of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 is ________.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distinct real roots of equation </a:t>
                </a:r>
                <a:r>
                  <a:rPr lang="en-IN" sz="2400">
                    <a:solidFill>
                      <a:srgbClr val="111827"/>
                    </a:solidFill>
                    <a:latin typeface="Cambria Math" panose="02040503050406030204" pitchFamily="18" charset="0"/>
                  </a:rPr>
                  <a:t>$2x^4-8x^3+8x^2-1=0$</a:t>
                </a:r>
                <a:r>
                  <a:rPr sz="2400" b="0">
                    <a:solidFill>
                      <a:srgbClr val="111827"/>
                    </a:solidFill>
                    <a:latin typeface="Arial"/>
                  </a:rPr>
                  <a:t> is </a:t>
                </a:r>
                <a:r>
                  <a:rPr lang="en-IN" sz="2400">
                    <a:solidFill>
                      <a:srgbClr val="111827"/>
                    </a:solidFill>
                    <a:latin typeface="Cambria Math" panose="02040503050406030204" pitchFamily="18" charset="0"/>
                  </a:rPr>
                  <a:t>$n$</a:t>
                </a:r>
                <a:r>
                  <a:rPr sz="2400" b="0">
                    <a:solidFill>
                      <a:srgbClr val="111827"/>
                    </a:solidFill>
                    <a:latin typeface="Arial"/>
                  </a:rPr>
                  <a:t>, then the value of </a:t>
                </a:r>
                <a:r>
                  <a:rPr lang="en-IN" sz="2400">
                    <a:solidFill>
                      <a:srgbClr val="111827"/>
                    </a:solidFill>
                    <a:latin typeface="Cambria Math" panose="02040503050406030204" pitchFamily="18" charset="0"/>
                  </a:rPr>
                  <a:t>$\frac{1}{n}$</a:t>
                </a:r>
                <a:r>
                  <a:rPr sz="2400" b="0">
                    <a:solidFill>
                      <a:srgbClr val="111827"/>
                    </a:solidFill>
                    <a:latin typeface="Arial"/>
                  </a:rPr>
                  <a:t> is ________.</a:t>
                </a:r>
                <a:endParaRPr sz="2400">
                  <a:solidFill>
                    <a:srgbClr val="111827"/>
                  </a:solidFill>
                </a:endParaRPr>
              </a:p>
            </p:txBody>
          </p:sp>
        </mc:Fallback>
      </mc:AlternateContent>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Number of real roots of a quartic using derivative and Rolle's theorem</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Locate the critical points of the quartic and read the signs of </a:t>
                </a:r>
                <a14:m>
                  <m:oMath xmlns:m="http://schemas.openxmlformats.org/officeDocument/2006/math">
                    <m:r>
                      <a:rPr lang="en-IN" sz="2400" i="1">
                        <a:solidFill>
                          <a:srgbClr val="78350F"/>
                        </a:solidFill>
                        <a:latin typeface="Cambria Math" panose="02040503050406030204" pitchFamily="18" charset="0"/>
                      </a:rPr>
                      <m:t>𝑓</m:t>
                    </m:r>
                  </m:oMath>
                </a14:m>
                <a:r>
                  <a:rPr sz="2400" b="0">
                    <a:solidFill>
                      <a:srgbClr val="78350F"/>
                    </a:solidFill>
                    <a:latin typeface="Arial"/>
                  </a:rPr>
                  <a:t> there: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 </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give four sign changes.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Locate the critical points of the quartic and read the signs of </a:t>
                </a:r>
                <a:r>
                  <a:rPr lang="en-IN" sz="2400">
                    <a:solidFill>
                      <a:srgbClr val="78350F"/>
                    </a:solidFill>
                    <a:latin typeface="Cambria Math" panose="02040503050406030204" pitchFamily="18" charset="0"/>
                  </a:rPr>
                  <a:t>$f$</a:t>
                </a:r>
                <a:r>
                  <a:rPr sz="2400" b="0">
                    <a:solidFill>
                      <a:srgbClr val="78350F"/>
                    </a:solidFill>
                    <a:latin typeface="Arial"/>
                  </a:rPr>
                  <a:t> there: </a:t>
                </a:r>
                <a:r>
                  <a:rPr lang="en-IN" sz="2400">
                    <a:solidFill>
                      <a:srgbClr val="78350F"/>
                    </a:solidFill>
                    <a:latin typeface="Cambria Math" panose="02040503050406030204" pitchFamily="18" charset="0"/>
                  </a:rPr>
                  <a:t>$-1,\,1,\,-1$</a:t>
                </a:r>
                <a:r>
                  <a:rPr sz="2400" b="0">
                    <a:solidFill>
                      <a:srgbClr val="78350F"/>
                    </a:solidFill>
                    <a:latin typeface="Arial"/>
                  </a:rPr>
                  <a:t> give four sign changes.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the critical points are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$f(x)=2x^4-8x^3+8x^2-1$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$f'(x)=8x^3-24x^2+16x$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$f'(x)=8x(x^2-3x+2)=8x(x-1)(x-2)$</a:t>
                </a:r>
                <a:r>
                  <a:rPr sz="2400" b="0">
                    <a:solidFill>
                      <a:srgbClr val="111827"/>
                    </a:solidFill>
                    <a:latin typeface="Arial"/>
                  </a:rPr>
                  <a:t>, so the critical points are </a:t>
                </a:r>
                <a:r>
                  <a:rPr lang="en-IN" sz="2400">
                    <a:solidFill>
                      <a:srgbClr val="111827"/>
                    </a:solidFill>
                    <a:latin typeface="Cambria Math" panose="02040503050406030204" pitchFamily="18" charset="0"/>
                  </a:rPr>
                  <a:t>$0,1,2$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sign pattern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 root in each of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has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distinct roots,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0.25</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$f(0)=-1,\ f(1)=1,\ f(2)=-1$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$f(x)\to+\infty$</a:t>
                </a:r>
                <a:r>
                  <a:rPr sz="2400" b="0">
                    <a:solidFill>
                      <a:srgbClr val="111827"/>
                    </a:solidFill>
                    <a:latin typeface="Arial"/>
                  </a:rPr>
                  <a:t> as </a:t>
                </a:r>
                <a:r>
                  <a:rPr lang="en-IN" sz="2400">
                    <a:solidFill>
                      <a:srgbClr val="111827"/>
                    </a:solidFill>
                    <a:latin typeface="Cambria Math" panose="02040503050406030204" pitchFamily="18" charset="0"/>
                  </a:rPr>
                  <a:t>$x\to\pm\infty$</a:t>
                </a:r>
                <a:r>
                  <a:rPr sz="2400" b="0">
                    <a:solidFill>
                      <a:srgbClr val="111827"/>
                    </a:solidFill>
                    <a:latin typeface="Arial"/>
                  </a:rPr>
                  <a:t>, the sign pattern </a:t>
                </a:r>
                <a:r>
                  <a:rPr lang="en-IN" sz="2400">
                    <a:solidFill>
                      <a:srgbClr val="111827"/>
                    </a:solidFill>
                    <a:latin typeface="Cambria Math" panose="02040503050406030204" pitchFamily="18" charset="0"/>
                  </a:rPr>
                  <a:t>$+,-,+,-,+$</a:t>
                </a:r>
                <a:r>
                  <a:rPr sz="2400" b="0">
                    <a:solidFill>
                      <a:srgbClr val="111827"/>
                    </a:solidFill>
                    <a:latin typeface="Arial"/>
                  </a:rPr>
                  <a:t> gives a root in each of </a:t>
                </a:r>
                <a:r>
                  <a:rPr lang="en-IN" sz="2400">
                    <a:solidFill>
                      <a:srgbClr val="111827"/>
                    </a:solidFill>
                    <a:latin typeface="Cambria Math" panose="02040503050406030204" pitchFamily="18" charset="0"/>
                  </a:rPr>
                  <a:t>$(-\infty,0),(0,1),(1,2),(2,\infty)$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$f(x)$</a:t>
                </a:r>
                <a:r>
                  <a:rPr sz="2400" b="0">
                    <a:solidFill>
                      <a:srgbClr val="111827"/>
                    </a:solidFill>
                    <a:latin typeface="Arial"/>
                  </a:rPr>
                  <a:t> has </a:t>
                </a:r>
                <a:r>
                  <a:rPr lang="en-IN" sz="2400">
                    <a:solidFill>
                      <a:srgbClr val="111827"/>
                    </a:solidFill>
                    <a:latin typeface="Cambria Math" panose="02040503050406030204" pitchFamily="18" charset="0"/>
                  </a:rPr>
                  <a:t>$4$</a:t>
                </a:r>
                <a:r>
                  <a:rPr sz="2400" b="0">
                    <a:solidFill>
                      <a:srgbClr val="111827"/>
                    </a:solidFill>
                    <a:latin typeface="Arial"/>
                  </a:rPr>
                  <a:t> distinct roots, </a:t>
                </a:r>
                <a:r>
                  <a:rPr lang="en-IN" sz="2400">
                    <a:solidFill>
                      <a:srgbClr val="111827"/>
                    </a:solidFill>
                    <a:latin typeface="Cambria Math" panose="02040503050406030204" pitchFamily="18" charset="0"/>
                  </a:rPr>
                  <a:t>$n=4$</a:t>
                </a:r>
                <a:r>
                  <a:rPr sz="2400" b="0">
                    <a:solidFill>
                      <a:srgbClr val="111827"/>
                    </a:solidFill>
                    <a:latin typeface="Arial"/>
                  </a:rPr>
                  <a:t> and </a:t>
                </a:r>
                <a:r>
                  <a:rPr lang="en-IN" sz="2400">
                    <a:solidFill>
                      <a:srgbClr val="111827"/>
                    </a:solidFill>
                    <a:latin typeface="Cambria Math" panose="02040503050406030204" pitchFamily="18" charset="0"/>
                  </a:rPr>
                  <a:t>$\frac{1}{n}=0.25$</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0.25</a:t>
            </a:r>
            <a:endParaRPr sz="2800">
              <a:solidFill>
                <a:srgbClr val="15803D"/>
              </a:solidFill>
            </a:endParaRP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the quartic part as </a:t>
                </a:r>
                <a14:m>
                  <m:oMath xmlns:m="http://schemas.openxmlformats.org/officeDocument/2006/math">
                    <m:r>
                      <a:rPr lang="en-IN" sz="2400" i="1">
                        <a:solidFill>
                          <a:srgbClr val="78350F"/>
                        </a:solidFill>
                        <a:latin typeface="Cambria Math" panose="02040503050406030204" pitchFamily="18" charset="0"/>
                      </a:rPr>
                      <m:t>2</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so the equation splits into two quadratics.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the quartic part as </a:t>
                </a:r>
                <a:r>
                  <a:rPr lang="en-IN" sz="2400">
                    <a:solidFill>
                      <a:srgbClr val="78350F"/>
                    </a:solidFill>
                    <a:latin typeface="Cambria Math" panose="02040503050406030204" pitchFamily="18" charset="0"/>
                  </a:rPr>
                  <a:t>$2x^2(x-2)^2$</a:t>
                </a:r>
                <a:r>
                  <a:rPr sz="2400" b="0">
                    <a:solidFill>
                      <a:srgbClr val="78350F"/>
                    </a:solidFill>
                    <a:latin typeface="Arial"/>
                  </a:rPr>
                  <a:t> so the equation splits into two quadratics.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so the equation is </a:t>
                </a: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$2x^4-8x^3+8x^2=2x^2(x^2-4x+4)=2x^2(x-2)^2$</a:t>
                </a:r>
                <a:r>
                  <a:rPr sz="2400" b="0">
                    <a:solidFill>
                      <a:srgbClr val="111827"/>
                    </a:solidFill>
                    <a:latin typeface="Arial"/>
                  </a:rPr>
                  <a:t>, so the equation is </a:t>
                </a:r>
                <a:r>
                  <a:rPr lang="en-IN" sz="2400">
                    <a:solidFill>
                      <a:srgbClr val="111827"/>
                    </a:solidFill>
                    <a:latin typeface="Cambria Math" panose="02040503050406030204" pitchFamily="18" charset="0"/>
                  </a:rPr>
                  <a:t>$2x^2(x-2)^2=1$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$[x(x-2)]^2=\frac{1}{2}$</a:t>
                </a:r>
                <a:r>
                  <a:rPr sz="2400" b="0">
                    <a:solidFill>
                      <a:srgbClr val="111827"/>
                    </a:solidFill>
                    <a:latin typeface="Arial"/>
                  </a:rPr>
                  <a:t>, i.e. </a:t>
                </a:r>
                <a:r>
                  <a:rPr lang="en-IN" sz="2400">
                    <a:solidFill>
                      <a:srgbClr val="111827"/>
                    </a:solidFill>
                    <a:latin typeface="Cambria Math" panose="02040503050406030204" pitchFamily="18" charset="0"/>
                  </a:rPr>
                  <a:t>$x(x-2)=\pm\frac{1}{\sqrt2}$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 and both right-hand sides are positive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0.29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Each gives two roots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e>
                    </m:rad>
                  </m:oMath>
                </a14:m>
                <a:r>
                  <a:rPr sz="2400" b="0">
                    <a:solidFill>
                      <a:srgbClr val="111827"/>
                    </a:solidFill>
                    <a:latin typeface="Arial"/>
                  </a:rPr>
                  <a:t>, and the four values are distinct.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0.25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a:t>
                </a:r>
                <a:r>
                  <a:rPr lang="en-IN" sz="2400">
                    <a:solidFill>
                      <a:srgbClr val="111827"/>
                    </a:solidFill>
                    <a:latin typeface="Cambria Math" panose="02040503050406030204" pitchFamily="18" charset="0"/>
                  </a:rPr>
                  <a:t>$x(x-2)=(x-1)^2-1$</a:t>
                </a:r>
                <a:r>
                  <a:rPr sz="2400" b="0">
                    <a:solidFill>
                      <a:srgbClr val="111827"/>
                    </a:solidFill>
                    <a:latin typeface="Arial"/>
                  </a:rPr>
                  <a:t>: then </a:t>
                </a:r>
                <a:r>
                  <a:rPr lang="en-IN" sz="2400">
                    <a:solidFill>
                      <a:srgbClr val="111827"/>
                    </a:solidFill>
                    <a:latin typeface="Cambria Math" panose="02040503050406030204" pitchFamily="18" charset="0"/>
                  </a:rPr>
                  <a:t>$(x-1)^2=1\pm\frac{1}{\sqrt2}$</a:t>
                </a:r>
                <a:r>
                  <a:rPr sz="2400" b="0">
                    <a:solidFill>
                      <a:srgbClr val="111827"/>
                    </a:solidFill>
                    <a:latin typeface="Arial"/>
                  </a:rPr>
                  <a:t>, and both right-hand sides are positive (</a:t>
                </a:r>
                <a:r>
                  <a:rPr lang="en-IN" sz="2400">
                    <a:solidFill>
                      <a:srgbClr val="111827"/>
                    </a:solidFill>
                    <a:latin typeface="Cambria Math" panose="02040503050406030204" pitchFamily="18" charset="0"/>
                  </a:rPr>
                  <a:t>$1-\frac{1}{\sqrt2}\approx0.29$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Each gives two roots </a:t>
                </a:r>
                <a:r>
                  <a:rPr lang="en-IN" sz="2400">
                    <a:solidFill>
                      <a:srgbClr val="111827"/>
                    </a:solidFill>
                    <a:latin typeface="Cambria Math" panose="02040503050406030204" pitchFamily="18" charset="0"/>
                  </a:rPr>
                  <a:t>$x=1\pm\sqrt{1\pm\frac{1}{\sqrt2}}$</a:t>
                </a:r>
                <a:r>
                  <a:rPr sz="2400" b="0">
                    <a:solidFill>
                      <a:srgbClr val="111827"/>
                    </a:solidFill>
                    <a:latin typeface="Arial"/>
                  </a:rPr>
                  <a:t>, and the four values are distinct. So </a:t>
                </a:r>
                <a:r>
                  <a:rPr lang="en-IN" sz="2400">
                    <a:solidFill>
                      <a:srgbClr val="111827"/>
                    </a:solidFill>
                    <a:latin typeface="Cambria Math" panose="02040503050406030204" pitchFamily="18" charset="0"/>
                  </a:rPr>
                  <a:t>$n=4$</a:t>
                </a:r>
                <a:r>
                  <a:rPr sz="2400" b="0">
                    <a:solidFill>
                      <a:srgbClr val="111827"/>
                    </a:solidFill>
                    <a:latin typeface="Arial"/>
                  </a:rPr>
                  <a:t> and </a:t>
                </a:r>
                <a:r>
                  <a:rPr lang="en-IN" sz="2400">
                    <a:solidFill>
                      <a:srgbClr val="111827"/>
                    </a:solidFill>
                    <a:latin typeface="Cambria Math" panose="02040503050406030204" pitchFamily="18" charset="0"/>
                  </a:rPr>
                  <a:t>$\frac{1}{n}=0.25$</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0.25</a:t>
            </a:r>
            <a:endParaRPr sz="2800">
              <a:solidFill>
                <a:srgbClr val="15803D"/>
              </a:solidFill>
            </a:endParaRP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polynomial of degree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has at most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𝑛𝑢𝑚𝑏𝑒𝑟 𝑜𝑓 𝑟𝑒𝑎𝑙 𝑟𝑜𝑜𝑡𝑠 𝑜𝑓 </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real roots (Rolle); the extreme count is reached when the values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at consecutive critical points alternate in sign.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quartic with positive leading coefficient and three real critical points </a:t>
                </a:r>
                <a14:m>
                  <m:oMath xmlns:m="http://schemas.openxmlformats.org/officeDocument/2006/math">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real roots.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polynomial of degree </a:t>
                </a:r>
                <a:r>
                  <a:rPr lang="en-IN" sz="2400">
                    <a:solidFill>
                      <a:srgbClr val="111827"/>
                    </a:solidFill>
                    <a:latin typeface="Cambria Math" panose="02040503050406030204" pitchFamily="18" charset="0"/>
                  </a:rPr>
                  <a:t>$m$</a:t>
                </a:r>
                <a:r>
                  <a:rPr sz="2400" b="0">
                    <a:solidFill>
                      <a:srgbClr val="111827"/>
                    </a:solidFill>
                    <a:latin typeface="Arial"/>
                  </a:rPr>
                  <a:t> has at most </a:t>
                </a:r>
                <a:r>
                  <a:rPr lang="en-IN" sz="2400">
                    <a:solidFill>
                      <a:srgbClr val="111827"/>
                    </a:solidFill>
                    <a:latin typeface="Cambria Math" panose="02040503050406030204" pitchFamily="18" charset="0"/>
                  </a:rPr>
                  <a:t>$1+(\text{number of real roots of } f')$</a:t>
                </a:r>
                <a:r>
                  <a:rPr sz="2400" b="0">
                    <a:solidFill>
                      <a:srgbClr val="111827"/>
                    </a:solidFill>
                    <a:latin typeface="Arial"/>
                  </a:rPr>
                  <a:t> real roots (Rolle); the extreme count is reached when the values of </a:t>
                </a:r>
                <a:r>
                  <a:rPr lang="en-IN" sz="2400">
                    <a:solidFill>
                      <a:srgbClr val="111827"/>
                    </a:solidFill>
                    <a:latin typeface="Cambria Math" panose="02040503050406030204" pitchFamily="18" charset="0"/>
                  </a:rPr>
                  <a:t>$f$</a:t>
                </a:r>
                <a:r>
                  <a:rPr sz="2400" b="0">
                    <a:solidFill>
                      <a:srgbClr val="111827"/>
                    </a:solidFill>
                    <a:latin typeface="Arial"/>
                  </a:rPr>
                  <a:t> at consecutive critical points alternate in sign.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quartic with positive leading coefficient and three real critical points </a:t>
                </a:r>
                <a:r>
                  <a:rPr lang="en-IN" sz="2400">
                    <a:solidFill>
                      <a:srgbClr val="111827"/>
                    </a:solidFill>
                    <a:latin typeface="Cambria Math" panose="02040503050406030204" pitchFamily="18" charset="0"/>
                  </a:rPr>
                  <a:t>$c_1&lt;c_2&lt;c_3$</a:t>
                </a:r>
                <a:r>
                  <a:rPr sz="2400" b="0">
                    <a:solidFill>
                      <a:srgbClr val="111827"/>
                    </a:solidFill>
                    <a:latin typeface="Arial"/>
                  </a:rPr>
                  <a:t>: </a:t>
                </a:r>
                <a:r>
                  <a:rPr lang="en-IN" sz="2400">
                    <a:solidFill>
                      <a:srgbClr val="111827"/>
                    </a:solidFill>
                    <a:latin typeface="Cambria Math" panose="02040503050406030204" pitchFamily="18" charset="0"/>
                  </a:rPr>
                  <a:t>$f(c_1)&lt;0,\ f(c_2)&gt;0,\ f(c_3)&lt;0$</a:t>
                </a:r>
                <a:r>
                  <a:rPr sz="2400" b="0">
                    <a:solidFill>
                      <a:srgbClr val="111827"/>
                    </a:solidFill>
                    <a:latin typeface="Arial"/>
                  </a:rPr>
                  <a:t> gives </a:t>
                </a:r>
                <a:r>
                  <a:rPr lang="en-IN" sz="2400">
                    <a:solidFill>
                      <a:srgbClr val="111827"/>
                    </a:solidFill>
                    <a:latin typeface="Cambria Math" panose="02040503050406030204" pitchFamily="18" charset="0"/>
                  </a:rPr>
                  <a:t>$4$</a:t>
                </a:r>
                <a:r>
                  <a:rPr sz="2400" b="0">
                    <a:solidFill>
                      <a:srgbClr val="111827"/>
                    </a:solidFill>
                    <a:latin typeface="Arial"/>
                  </a:rPr>
                  <a:t> real roots.</a:t>
                </a:r>
                <a:endParaRPr sz="2400">
                  <a:solidFill>
                    <a:srgbClr val="111827"/>
                  </a:solidFill>
                </a:endParaRPr>
              </a:p>
            </p:txBody>
          </p:sp>
        </mc:Fallback>
      </mc:AlternateContent>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Look for hidden structure: </a:t>
                </a:r>
                <a14:m>
                  <m:oMath xmlns:m="http://schemas.openxmlformats.org/officeDocument/2006/math">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with a perfect square factor, here </a:t>
                </a: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symmetric about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Roots of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separated by critical points: check the signs at the critical points rather than solving the cubic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numerically.</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Look for hidden structure: </a:t>
                </a:r>
                <a:r>
                  <a:rPr lang="en-IN" sz="2400">
                    <a:solidFill>
                      <a:srgbClr val="111827"/>
                    </a:solidFill>
                    <a:latin typeface="Cambria Math" panose="02040503050406030204" pitchFamily="18" charset="0"/>
                  </a:rPr>
                  <a:t>$a x^4+bx^3+cx^2$</a:t>
                </a:r>
                <a:r>
                  <a:rPr sz="2400" b="0">
                    <a:solidFill>
                      <a:srgbClr val="111827"/>
                    </a:solidFill>
                    <a:latin typeface="Arial"/>
                  </a:rPr>
                  <a:t> with a perfect square factor, here </a:t>
                </a:r>
                <a:r>
                  <a:rPr lang="en-IN" sz="2400">
                    <a:solidFill>
                      <a:srgbClr val="111827"/>
                    </a:solidFill>
                    <a:latin typeface="Cambria Math" panose="02040503050406030204" pitchFamily="18" charset="0"/>
                  </a:rPr>
                  <a:t>$2x^2(x-2)^2$</a:t>
                </a:r>
                <a:r>
                  <a:rPr sz="2400" b="0">
                    <a:solidFill>
                      <a:srgbClr val="111827"/>
                    </a:solidFill>
                    <a:latin typeface="Arial"/>
                  </a:rPr>
                  <a:t>, is symmetric about </a:t>
                </a:r>
                <a:r>
                  <a:rPr lang="en-IN" sz="2400">
                    <a:solidFill>
                      <a:srgbClr val="111827"/>
                    </a:solidFill>
                    <a:latin typeface="Cambria Math" panose="02040503050406030204" pitchFamily="18" charset="0"/>
                  </a:rPr>
                  <a:t>$x=1$</a:t>
                </a:r>
                <a:r>
                  <a:rPr sz="2400" b="0">
                    <a:solidFill>
                      <a:srgbClr val="111827"/>
                    </a:solidFill>
                    <a:latin typeface="Arial"/>
                  </a:rPr>
                  <a:t> (</a:t>
                </a:r>
                <a:r>
                  <a:rPr lang="en-IN" sz="2400">
                    <a:solidFill>
                      <a:srgbClr val="111827"/>
                    </a:solidFill>
                    <a:latin typeface="Cambria Math" panose="02040503050406030204" pitchFamily="18" charset="0"/>
                  </a:rPr>
                  <a:t>$f(x)=f(2-x)$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Roots of </a:t>
                </a:r>
                <a:r>
                  <a:rPr lang="en-IN" sz="2400">
                    <a:solidFill>
                      <a:srgbClr val="111827"/>
                    </a:solidFill>
                    <a:latin typeface="Cambria Math" panose="02040503050406030204" pitchFamily="18" charset="0"/>
                  </a:rPr>
                  <a:t>$f=0$</a:t>
                </a:r>
                <a:r>
                  <a:rPr sz="2400" b="0">
                    <a:solidFill>
                      <a:srgbClr val="111827"/>
                    </a:solidFill>
                    <a:latin typeface="Arial"/>
                  </a:rPr>
                  <a:t> separated by critical points: check the signs at the critical points rather than solving the cubic </a:t>
                </a:r>
                <a:r>
                  <a:rPr lang="en-IN" sz="2400">
                    <a:solidFill>
                      <a:srgbClr val="111827"/>
                    </a:solidFill>
                    <a:latin typeface="Cambria Math" panose="02040503050406030204" pitchFamily="18" charset="0"/>
                  </a:rPr>
                  <a:t>$f'=0$</a:t>
                </a:r>
                <a:r>
                  <a:rPr sz="2400" b="0">
                    <a:solidFill>
                      <a:srgbClr val="111827"/>
                    </a:solidFill>
                    <a:latin typeface="Arial"/>
                  </a:rPr>
                  <a:t> numerically.</a:t>
                </a:r>
                <a:endParaRPr sz="2400">
                  <a:solidFill>
                    <a:srgbClr val="111827"/>
                  </a:solidFill>
                </a:endParaRPr>
              </a:p>
            </p:txBody>
          </p:sp>
        </mc:Fallback>
      </mc:AlternateContent>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a non-constant thrice differentiable function defined 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such that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is the minimum number of roots of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in the interval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the value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is ________.</a:t>
                </a:r>
                <a:endParaRPr sz="2400">
                  <a:solidFill>
                    <a:srgbClr val="111827"/>
                  </a:solidFill>
                </a:endParaRPr>
              </a:p>
            </p:txBody>
          </p:sp>
        </mc:Choice>
        <mc:Fallback>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$f(x)$</a:t>
                </a:r>
                <a:r>
                  <a:rPr sz="2400" b="0">
                    <a:solidFill>
                      <a:srgbClr val="111827"/>
                    </a:solidFill>
                    <a:latin typeface="Arial"/>
                  </a:rPr>
                  <a:t> be a non-constant thrice differentiable function defined on </a:t>
                </a:r>
                <a:r>
                  <a:rPr lang="en-IN" sz="2400">
                    <a:solidFill>
                      <a:srgbClr val="111827"/>
                    </a:solidFill>
                    <a:latin typeface="Cambria Math" panose="02040503050406030204" pitchFamily="18" charset="0"/>
                  </a:rPr>
                  <a:t>$(-\infty,\infty)$</a:t>
                </a:r>
                <a:r>
                  <a:rPr sz="2400" b="0">
                    <a:solidFill>
                      <a:srgbClr val="111827"/>
                    </a:solidFill>
                    <a:latin typeface="Arial"/>
                  </a:rPr>
                  <a:t> such that </a:t>
                </a:r>
                <a:r>
                  <a:rPr lang="en-IN" sz="2400">
                    <a:solidFill>
                      <a:srgbClr val="111827"/>
                    </a:solidFill>
                    <a:latin typeface="Cambria Math" panose="02040503050406030204" pitchFamily="18" charset="0"/>
                  </a:rPr>
                  <a:t>$f(x)=f(6-x)$</a:t>
                </a:r>
                <a:r>
                  <a:rPr sz="2400" b="0">
                    <a:solidFill>
                      <a:srgbClr val="111827"/>
                    </a:solidFill>
                    <a:latin typeface="Arial"/>
                  </a:rPr>
                  <a:t> and </a:t>
                </a:r>
                <a:r>
                  <a:rPr lang="en-IN" sz="2400">
                    <a:solidFill>
                      <a:srgbClr val="111827"/>
                    </a:solidFill>
                    <a:latin typeface="Cambria Math" panose="02040503050406030204" pitchFamily="18" charset="0"/>
                  </a:rPr>
                  <a:t>$f'(0)=0=f'(2)=f'(5)$</a:t>
                </a:r>
                <a:r>
                  <a:rPr sz="2400" b="0">
                    <a:solidFill>
                      <a:srgbClr val="111827"/>
                    </a:solidFill>
                    <a:latin typeface="Arial"/>
                  </a:rPr>
                  <a:t>. If </a:t>
                </a:r>
                <a:r>
                  <a:rPr lang="en-IN" sz="2400">
                    <a:solidFill>
                      <a:srgbClr val="111827"/>
                    </a:solidFill>
                    <a:latin typeface="Cambria Math" panose="02040503050406030204" pitchFamily="18" charset="0"/>
                  </a:rPr>
                  <a:t>$n$</a:t>
                </a:r>
                <a:r>
                  <a:rPr sz="2400" b="0">
                    <a:solidFill>
                      <a:srgbClr val="111827"/>
                    </a:solidFill>
                    <a:latin typeface="Arial"/>
                  </a:rPr>
                  <a:t> is the minimum number of roots of </a:t>
                </a:r>
                <a:r>
                  <a:rPr lang="en-IN" sz="2400">
                    <a:solidFill>
                      <a:srgbClr val="111827"/>
                    </a:solidFill>
                    <a:latin typeface="Cambria Math" panose="02040503050406030204" pitchFamily="18" charset="0"/>
                  </a:rPr>
                  <a:t>$(f''(x))^2+f'(x)f'''(x)=0$</a:t>
                </a:r>
                <a:r>
                  <a:rPr sz="2400" b="0">
                    <a:solidFill>
                      <a:srgbClr val="111827"/>
                    </a:solidFill>
                    <a:latin typeface="Arial"/>
                  </a:rPr>
                  <a:t> in the interval </a:t>
                </a:r>
                <a:r>
                  <a:rPr lang="en-IN" sz="2400">
                    <a:solidFill>
                      <a:srgbClr val="111827"/>
                    </a:solidFill>
                    <a:latin typeface="Cambria Math" panose="02040503050406030204" pitchFamily="18" charset="0"/>
                  </a:rPr>
                  <a:t>$[0,6]$</a:t>
                </a:r>
                <a:r>
                  <a:rPr sz="2400" b="0">
                    <a:solidFill>
                      <a:srgbClr val="111827"/>
                    </a:solidFill>
                    <a:latin typeface="Arial"/>
                  </a:rPr>
                  <a:t>, then the value of </a:t>
                </a:r>
                <a:r>
                  <a:rPr lang="en-IN" sz="2400">
                    <a:solidFill>
                      <a:srgbClr val="111827"/>
                    </a:solidFill>
                    <a:latin typeface="Cambria Math" panose="02040503050406030204" pitchFamily="18" charset="0"/>
                  </a:rPr>
                  <a:t>$n$</a:t>
                </a:r>
                <a:r>
                  <a:rPr sz="2400" b="0">
                    <a:solidFill>
                      <a:srgbClr val="111827"/>
                    </a:solidFill>
                    <a:latin typeface="Arial"/>
                  </a:rPr>
                  <a:t> is ________.</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8887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Rolle's theorem on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on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symmetry of </a:t>
                </a:r>
                <a14:m>
                  <m:oMath xmlns:m="http://schemas.openxmlformats.org/officeDocument/2006/math">
                    <m:r>
                      <a:rPr lang="en-IN" sz="2400" i="1">
                        <a:solidFill>
                          <a:srgbClr val="111827"/>
                        </a:solidFill>
                        <a:latin typeface="Cambria Math" panose="02040503050406030204" pitchFamily="18" charset="0"/>
                      </a:rPr>
                      <m:t>𝑓</m:t>
                    </m:r>
                  </m:oMath>
                </a14:m>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4(A level above Average JEE Advanced Level)</a:t>
                </a:r>
                <a:endParaRPr sz="2400">
                  <a:solidFill>
                    <a:srgbClr val="111827"/>
                  </a:solidFill>
                </a:endParaRPr>
              </a:p>
            </p:txBody>
          </p:sp>
        </mc:Choice>
        <mc:Fallback>
          <p:sp>
            <p:nvSpPr>
              <p:cNvPr id="5" name="Rectangle 4"/>
              <p:cNvSpPr/>
              <p:nvPr/>
            </p:nvSpPr>
            <p:spPr>
              <a:xfrm>
                <a:off x="731520" y="38887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Rolle's theorem on </a:t>
                </a:r>
                <a:r>
                  <a:rPr lang="en-IN" sz="2400">
                    <a:solidFill>
                      <a:srgbClr val="111827"/>
                    </a:solidFill>
                    <a:latin typeface="Cambria Math" panose="02040503050406030204" pitchFamily="18" charset="0"/>
                  </a:rPr>
                  <a:t>$f'$</a:t>
                </a:r>
                <a:r>
                  <a:rPr sz="2400" b="0">
                    <a:solidFill>
                      <a:srgbClr val="111827"/>
                    </a:solidFill>
                    <a:latin typeface="Arial"/>
                  </a:rPr>
                  <a:t> and on </a:t>
                </a:r>
                <a:r>
                  <a:rPr lang="en-IN" sz="2400">
                    <a:solidFill>
                      <a:srgbClr val="111827"/>
                    </a:solidFill>
                    <a:latin typeface="Cambria Math" panose="02040503050406030204" pitchFamily="18" charset="0"/>
                  </a:rPr>
                  <a:t>$f'f''$</a:t>
                </a:r>
                <a:r>
                  <a:rPr sz="2400" b="0">
                    <a:solidFill>
                      <a:srgbClr val="111827"/>
                    </a:solidFill>
                    <a:latin typeface="Arial"/>
                  </a:rPr>
                  <a:t>; symmetry of </a:t>
                </a:r>
                <a:r>
                  <a:rPr lang="en-IN" sz="2400">
                    <a:solidFill>
                      <a:srgbClr val="111827"/>
                    </a:solidFill>
                    <a:latin typeface="Cambria Math" panose="02040503050406030204" pitchFamily="18" charset="0"/>
                  </a:rPr>
                  <a:t>$f$</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4(A level above Average JEE Advanced Level)</a:t>
                </a:r>
                <a:endParaRPr sz="2400">
                  <a:solidFill>
                    <a:srgbClr val="111827"/>
                  </a:solidFill>
                </a:endParaRPr>
              </a:p>
            </p:txBody>
          </p:sp>
        </mc:Fallback>
      </mc:AlternateContent>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sSup>
                      <m:e>
                        <m:r>
                          <m:rPr>
                            <m:sty m:val="p"/>
                          </m:rPr>
                          <a:rPr lang="en-IN" sz="2400">
                            <a:solidFill>
                              <a:srgbClr val="78350F"/>
                            </a:solidFill>
                            <a:latin typeface="Cambria Math" panose="02040503050406030204" pitchFamily="18" charset="0"/>
                          </a:rPr>
                          <m:t>)</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so count the zeros of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(at least </a:t>
                </a:r>
                <a14:m>
                  <m:oMath xmlns:m="http://schemas.openxmlformats.org/officeDocument/2006/math">
                    <m:r>
                      <a:rPr lang="en-IN" sz="2400" i="1">
                        <a:solidFill>
                          <a:srgbClr val="78350F"/>
                        </a:solidFill>
                        <a:latin typeface="Cambria Math" panose="02040503050406030204" pitchFamily="18" charset="0"/>
                      </a:rPr>
                      <m:t>13</m:t>
                    </m:r>
                  </m:oMath>
                </a14:m>
                <a:r>
                  <a:rPr sz="2400" b="0">
                    <a:solidFill>
                      <a:srgbClr val="78350F"/>
                    </a:solidFill>
                    <a:latin typeface="Arial"/>
                  </a:rPr>
                  <a:t>) and apply Rolle once more.</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$(f'')^2+f'f'''=(f'f'')'$</a:t>
                </a:r>
                <a:r>
                  <a:rPr sz="2400" b="0">
                    <a:solidFill>
                      <a:srgbClr val="78350F"/>
                    </a:solidFill>
                    <a:latin typeface="Arial"/>
                  </a:rPr>
                  <a:t>, so count the zeros of </a:t>
                </a:r>
                <a:r>
                  <a:rPr lang="en-IN" sz="2400">
                    <a:solidFill>
                      <a:srgbClr val="78350F"/>
                    </a:solidFill>
                    <a:latin typeface="Cambria Math" panose="02040503050406030204" pitchFamily="18" charset="0"/>
                  </a:rPr>
                  <a:t>$f'f''$</a:t>
                </a:r>
                <a:r>
                  <a:rPr sz="2400" b="0">
                    <a:solidFill>
                      <a:srgbClr val="78350F"/>
                    </a:solidFill>
                    <a:latin typeface="Arial"/>
                  </a:rPr>
                  <a:t> (at least </a:t>
                </a:r>
                <a:r>
                  <a:rPr lang="en-IN" sz="2400">
                    <a:solidFill>
                      <a:srgbClr val="78350F"/>
                    </a:solidFill>
                    <a:latin typeface="Cambria Math" panose="02040503050406030204" pitchFamily="18" charset="0"/>
                  </a:rPr>
                  <a:t>$13$</a:t>
                </a:r>
                <a:r>
                  <a:rPr sz="2400" b="0">
                    <a:solidFill>
                      <a:srgbClr val="78350F"/>
                    </a:solidFill>
                    <a:latin typeface="Arial"/>
                  </a:rPr>
                  <a:t>) and apply Rolle once more.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Given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 (1). Differentiating (1):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in (2):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Put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Put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has at least seven roots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Given </a:t>
                </a:r>
                <a:r>
                  <a:rPr lang="en-IN" sz="2400">
                    <a:solidFill>
                      <a:srgbClr val="111827"/>
                    </a:solidFill>
                    <a:latin typeface="Cambria Math" panose="02040503050406030204" pitchFamily="18" charset="0"/>
                  </a:rPr>
                  <a:t>$f(x)=f(6-x)$</a:t>
                </a:r>
                <a:r>
                  <a:rPr sz="2400" b="0">
                    <a:solidFill>
                      <a:srgbClr val="111827"/>
                    </a:solidFill>
                    <a:latin typeface="Arial"/>
                  </a:rPr>
                  <a:t> ... (1). Differentiating (1): </a:t>
                </a:r>
                <a:r>
                  <a:rPr lang="en-IN" sz="2400">
                    <a:solidFill>
                      <a:srgbClr val="111827"/>
                    </a:solidFill>
                    <a:latin typeface="Cambria Math" panose="02040503050406030204" pitchFamily="18" charset="0"/>
                  </a:rPr>
                  <a:t>$f'(x)=-f'(6-x)$</a:t>
                </a:r>
                <a:r>
                  <a:rPr sz="2400" b="0">
                    <a:solidFill>
                      <a:srgbClr val="111827"/>
                    </a:solidFill>
                    <a:latin typeface="Arial"/>
                  </a:rPr>
                  <a:t> ...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$x=0$</a:t>
                </a:r>
                <a:r>
                  <a:rPr sz="2400" b="0">
                    <a:solidFill>
                      <a:srgbClr val="111827"/>
                    </a:solidFill>
                    <a:latin typeface="Arial"/>
                  </a:rPr>
                  <a:t> in (2): </a:t>
                </a:r>
                <a:r>
                  <a:rPr lang="en-IN" sz="2400">
                    <a:solidFill>
                      <a:srgbClr val="111827"/>
                    </a:solidFill>
                    <a:latin typeface="Cambria Math" panose="02040503050406030204" pitchFamily="18" charset="0"/>
                  </a:rPr>
                  <a:t>$f'(0)=-f'(6)=0$</a:t>
                </a:r>
                <a:r>
                  <a:rPr sz="2400" b="0">
                    <a:solidFill>
                      <a:srgbClr val="111827"/>
                    </a:solidFill>
                    <a:latin typeface="Arial"/>
                  </a:rPr>
                  <a:t>, so </a:t>
                </a:r>
                <a:r>
                  <a:rPr lang="en-IN" sz="2400">
                    <a:solidFill>
                      <a:srgbClr val="111827"/>
                    </a:solidFill>
                    <a:latin typeface="Cambria Math" panose="02040503050406030204" pitchFamily="18" charset="0"/>
                  </a:rPr>
                  <a:t>$f'(6)=0$</a:t>
                </a:r>
                <a:r>
                  <a:rPr sz="2400" b="0">
                    <a:solidFill>
                      <a:srgbClr val="111827"/>
                    </a:solidFill>
                    <a:latin typeface="Arial"/>
                  </a:rPr>
                  <a:t>. Put </a:t>
                </a:r>
                <a:r>
                  <a:rPr lang="en-IN" sz="2400">
                    <a:solidFill>
                      <a:srgbClr val="111827"/>
                    </a:solidFill>
                    <a:latin typeface="Cambria Math" panose="02040503050406030204" pitchFamily="18" charset="0"/>
                  </a:rPr>
                  <a:t>$x=2$</a:t>
                </a:r>
                <a:r>
                  <a:rPr sz="2400" b="0">
                    <a:solidFill>
                      <a:srgbClr val="111827"/>
                    </a:solidFill>
                    <a:latin typeface="Arial"/>
                  </a:rPr>
                  <a:t>: </a:t>
                </a:r>
                <a:r>
                  <a:rPr lang="en-IN" sz="2400">
                    <a:solidFill>
                      <a:srgbClr val="111827"/>
                    </a:solidFill>
                    <a:latin typeface="Cambria Math" panose="02040503050406030204" pitchFamily="18" charset="0"/>
                  </a:rPr>
                  <a:t>$f'(2)=-f'(4)$</a:t>
                </a:r>
                <a:r>
                  <a:rPr sz="2400" b="0">
                    <a:solidFill>
                      <a:srgbClr val="111827"/>
                    </a:solidFill>
                    <a:latin typeface="Arial"/>
                  </a:rPr>
                  <a:t>, so </a:t>
                </a:r>
                <a:r>
                  <a:rPr lang="en-IN" sz="2400">
                    <a:solidFill>
                      <a:srgbClr val="111827"/>
                    </a:solidFill>
                    <a:latin typeface="Cambria Math" panose="02040503050406030204" pitchFamily="18" charset="0"/>
                  </a:rPr>
                  <a:t>$f'(4)=0$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$x=3$</a:t>
                </a:r>
                <a:r>
                  <a:rPr sz="2400" b="0">
                    <a:solidFill>
                      <a:srgbClr val="111827"/>
                    </a:solidFill>
                    <a:latin typeface="Arial"/>
                  </a:rPr>
                  <a:t>: </a:t>
                </a:r>
                <a:r>
                  <a:rPr lang="en-IN" sz="2400">
                    <a:solidFill>
                      <a:srgbClr val="111827"/>
                    </a:solidFill>
                    <a:latin typeface="Cambria Math" panose="02040503050406030204" pitchFamily="18" charset="0"/>
                  </a:rPr>
                  <a:t>$f'(3)=-f'(3)$</a:t>
                </a:r>
                <a:r>
                  <a:rPr sz="2400" b="0">
                    <a:solidFill>
                      <a:srgbClr val="111827"/>
                    </a:solidFill>
                    <a:latin typeface="Arial"/>
                  </a:rPr>
                  <a:t>, so </a:t>
                </a:r>
                <a:r>
                  <a:rPr lang="en-IN" sz="2400">
                    <a:solidFill>
                      <a:srgbClr val="111827"/>
                    </a:solidFill>
                    <a:latin typeface="Cambria Math" panose="02040503050406030204" pitchFamily="18" charset="0"/>
                  </a:rPr>
                  <a:t>$f'(3)=0$</a:t>
                </a:r>
                <a:r>
                  <a:rPr sz="2400" b="0">
                    <a:solidFill>
                      <a:srgbClr val="111827"/>
                    </a:solidFill>
                    <a:latin typeface="Arial"/>
                  </a:rPr>
                  <a:t>. Put </a:t>
                </a:r>
                <a:r>
                  <a:rPr lang="en-IN" sz="2400">
                    <a:solidFill>
                      <a:srgbClr val="111827"/>
                    </a:solidFill>
                    <a:latin typeface="Cambria Math" panose="02040503050406030204" pitchFamily="18" charset="0"/>
                  </a:rPr>
                  <a:t>$x=5$</a:t>
                </a:r>
                <a:r>
                  <a:rPr sz="2400" b="0">
                    <a:solidFill>
                      <a:srgbClr val="111827"/>
                    </a:solidFill>
                    <a:latin typeface="Arial"/>
                  </a:rPr>
                  <a:t>: </a:t>
                </a:r>
                <a:r>
                  <a:rPr lang="en-IN" sz="2400">
                    <a:solidFill>
                      <a:srgbClr val="111827"/>
                    </a:solidFill>
                    <a:latin typeface="Cambria Math" panose="02040503050406030204" pitchFamily="18" charset="0"/>
                  </a:rPr>
                  <a:t>$f'(5)=-f'(1)$</a:t>
                </a:r>
                <a:r>
                  <a:rPr sz="2400" b="0">
                    <a:solidFill>
                      <a:srgbClr val="111827"/>
                    </a:solidFill>
                    <a:latin typeface="Arial"/>
                  </a:rPr>
                  <a:t>, so </a:t>
                </a:r>
                <a:r>
                  <a:rPr lang="en-IN" sz="2400">
                    <a:solidFill>
                      <a:srgbClr val="111827"/>
                    </a:solidFill>
                    <a:latin typeface="Cambria Math" panose="02040503050406030204" pitchFamily="18" charset="0"/>
                  </a:rPr>
                  <a:t>$f'(1)=0$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$f'(0)=f'(1)=f'(2)=f'(3)=f'(4)=f'(5)=f'(6)=0$</a:t>
                </a:r>
                <a:r>
                  <a:rPr sz="2400" b="0">
                    <a:solidFill>
                      <a:srgbClr val="111827"/>
                    </a:solidFill>
                    <a:latin typeface="Arial"/>
                  </a:rPr>
                  <a:t>: </a:t>
                </a:r>
                <a:r>
                  <a:rPr lang="en-IN" sz="2400">
                    <a:solidFill>
                      <a:srgbClr val="111827"/>
                    </a:solidFill>
                    <a:latin typeface="Cambria Math" panose="02040503050406030204" pitchFamily="18" charset="0"/>
                  </a:rPr>
                  <a:t>$f'(x)=0$</a:t>
                </a:r>
                <a:r>
                  <a:rPr sz="2400" b="0">
                    <a:solidFill>
                      <a:srgbClr val="111827"/>
                    </a:solidFill>
                    <a:latin typeface="Arial"/>
                  </a:rPr>
                  <a:t> has at least seven roots in </a:t>
                </a:r>
                <a:r>
                  <a:rPr lang="en-IN" sz="2400">
                    <a:solidFill>
                      <a:srgbClr val="111827"/>
                    </a:solidFill>
                    <a:latin typeface="Cambria Math" panose="02040503050406030204" pitchFamily="18" charset="0"/>
                  </a:rPr>
                  <a:t>$[0,6]$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Apply Rolle's theorem to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has at least one root in each open interval, i.e. at least six roots.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sSup>
                      <m:e>
                        <m:r>
                          <a:rPr lang="en-IN" sz="2400" i="1">
                            <a:solidFill>
                              <a:srgbClr val="111827"/>
                            </a:solidFill>
                            <a:latin typeface="Cambria Math" panose="02040503050406030204" pitchFamily="18" charset="0"/>
                          </a:rPr>
                          <m:t>ℎ</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expression in the question.</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ℎ</m:t>
                    </m:r>
                  </m:oMath>
                </a14:m>
                <a:r>
                  <a:rPr sz="2400" b="0">
                    <a:solidFill>
                      <a:srgbClr val="111827"/>
                    </a:solidFill>
                    <a:latin typeface="Arial"/>
                  </a:rPr>
                  <a:t> vanishes at the seven points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(zeros of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at six further non-integer points (zeros of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inside the open intervals): at least </a:t>
                </a:r>
                <a14:m>
                  <m:oMath xmlns:m="http://schemas.openxmlformats.org/officeDocument/2006/math">
                    <m:r>
                      <a:rPr lang="en-IN" sz="2400" i="1">
                        <a:solidFill>
                          <a:srgbClr val="111827"/>
                        </a:solidFill>
                        <a:latin typeface="Cambria Math" panose="02040503050406030204" pitchFamily="18" charset="0"/>
                      </a:rPr>
                      <m:t>13</m:t>
                    </m:r>
                  </m:oMath>
                </a14:m>
                <a:r>
                  <a:rPr sz="2400" b="0">
                    <a:solidFill>
                      <a:srgbClr val="111827"/>
                    </a:solidFill>
                    <a:latin typeface="Arial"/>
                  </a:rPr>
                  <a:t> distinct roots of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Applying Rolle's theorem to </a:t>
                </a:r>
                <a14:m>
                  <m:oMath xmlns:m="http://schemas.openxmlformats.org/officeDocument/2006/math">
                    <m:r>
                      <a:rPr lang="en-IN" sz="2400" i="1">
                        <a:solidFill>
                          <a:srgbClr val="111827"/>
                        </a:solidFill>
                        <a:latin typeface="Cambria Math" panose="02040503050406030204" pitchFamily="18" charset="0"/>
                      </a:rPr>
                      <m:t>ℎ</m:t>
                    </m:r>
                  </m:oMath>
                </a14:m>
                <a:r>
                  <a:rPr sz="2400" b="0">
                    <a:solidFill>
                      <a:srgbClr val="111827"/>
                    </a:solidFill>
                    <a:latin typeface="Arial"/>
                  </a:rPr>
                  <a:t> between consecutive roots, </a:t>
                </a:r>
                <a14:m>
                  <m:oMath xmlns:m="http://schemas.openxmlformats.org/officeDocument/2006/math">
                    <m:sSup>
                      <m:e>
                        <m:r>
                          <a:rPr lang="en-IN" sz="2400" i="1">
                            <a:solidFill>
                              <a:srgbClr val="111827"/>
                            </a:solidFill>
                            <a:latin typeface="Cambria Math" panose="02040503050406030204" pitchFamily="18" charset="0"/>
                          </a:rPr>
                          <m:t>ℎ</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has at least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roots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Apply Rolle's theorem to </a:t>
                </a:r>
                <a:r>
                  <a:rPr lang="en-IN" sz="2400">
                    <a:solidFill>
                      <a:srgbClr val="111827"/>
                    </a:solidFill>
                    <a:latin typeface="Cambria Math" panose="02040503050406030204" pitchFamily="18" charset="0"/>
                  </a:rPr>
                  <a:t>$f'$</a:t>
                </a:r>
                <a:r>
                  <a:rPr sz="2400" b="0">
                    <a:solidFill>
                      <a:srgbClr val="111827"/>
                    </a:solidFill>
                    <a:latin typeface="Arial"/>
                  </a:rPr>
                  <a:t> on </a:t>
                </a:r>
                <a:r>
                  <a:rPr lang="en-IN" sz="2400">
                    <a:solidFill>
                      <a:srgbClr val="111827"/>
                    </a:solidFill>
                    <a:latin typeface="Cambria Math" panose="02040503050406030204" pitchFamily="18" charset="0"/>
                  </a:rPr>
                  <a:t>$[0,1],[1,2],[2,3],[3,4],[4,5],[5,6]$</a:t>
                </a:r>
                <a:r>
                  <a:rPr sz="2400" b="0">
                    <a:solidFill>
                      <a:srgbClr val="111827"/>
                    </a:solidFill>
                    <a:latin typeface="Arial"/>
                  </a:rPr>
                  <a:t>: </a:t>
                </a:r>
                <a:r>
                  <a:rPr lang="en-IN" sz="2400">
                    <a:solidFill>
                      <a:srgbClr val="111827"/>
                    </a:solidFill>
                    <a:latin typeface="Cambria Math" panose="02040503050406030204" pitchFamily="18" charset="0"/>
                  </a:rPr>
                  <a:t>$f''(x)=0$</a:t>
                </a:r>
                <a:r>
                  <a:rPr sz="2400" b="0">
                    <a:solidFill>
                      <a:srgbClr val="111827"/>
                    </a:solidFill>
                    <a:latin typeface="Arial"/>
                  </a:rPr>
                  <a:t> has at least one root in each open interval, i.e. at least six roots.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$h(x)=f'(x)f''(x)$</a:t>
                </a:r>
                <a:r>
                  <a:rPr sz="2400" b="0">
                    <a:solidFill>
                      <a:srgbClr val="111827"/>
                    </a:solidFill>
                    <a:latin typeface="Arial"/>
                  </a:rPr>
                  <a:t>. Then </a:t>
                </a:r>
                <a:r>
                  <a:rPr lang="en-IN" sz="2400">
                    <a:solidFill>
                      <a:srgbClr val="111827"/>
                    </a:solidFill>
                    <a:latin typeface="Cambria Math" panose="02040503050406030204" pitchFamily="18" charset="0"/>
                  </a:rPr>
                  <a:t>$h'(x)=(f''(x))^2+f'(x)f'''(x)$</a:t>
                </a:r>
                <a:r>
                  <a:rPr sz="2400" b="0">
                    <a:solidFill>
                      <a:srgbClr val="111827"/>
                    </a:solidFill>
                    <a:latin typeface="Arial"/>
                  </a:rPr>
                  <a:t>, the expression in the question.</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$h$</a:t>
                </a:r>
                <a:r>
                  <a:rPr sz="2400" b="0">
                    <a:solidFill>
                      <a:srgbClr val="111827"/>
                    </a:solidFill>
                    <a:latin typeface="Arial"/>
                  </a:rPr>
                  <a:t> vanishes at the seven points </a:t>
                </a:r>
                <a:r>
                  <a:rPr lang="en-IN" sz="2400">
                    <a:solidFill>
                      <a:srgbClr val="111827"/>
                    </a:solidFill>
                    <a:latin typeface="Cambria Math" panose="02040503050406030204" pitchFamily="18" charset="0"/>
                  </a:rPr>
                  <a:t>$0,1,\dots,6$</a:t>
                </a:r>
                <a:r>
                  <a:rPr sz="2400" b="0">
                    <a:solidFill>
                      <a:srgbClr val="111827"/>
                    </a:solidFill>
                    <a:latin typeface="Arial"/>
                  </a:rPr>
                  <a:t> (zeros of </a:t>
                </a:r>
                <a:r>
                  <a:rPr lang="en-IN" sz="2400">
                    <a:solidFill>
                      <a:srgbClr val="111827"/>
                    </a:solidFill>
                    <a:latin typeface="Cambria Math" panose="02040503050406030204" pitchFamily="18" charset="0"/>
                  </a:rPr>
                  <a:t>$f'$</a:t>
                </a:r>
                <a:r>
                  <a:rPr sz="2400" b="0">
                    <a:solidFill>
                      <a:srgbClr val="111827"/>
                    </a:solidFill>
                    <a:latin typeface="Arial"/>
                  </a:rPr>
                  <a:t>) and at six further non-integer points (zeros of </a:t>
                </a:r>
                <a:r>
                  <a:rPr lang="en-IN" sz="2400">
                    <a:solidFill>
                      <a:srgbClr val="111827"/>
                    </a:solidFill>
                    <a:latin typeface="Cambria Math" panose="02040503050406030204" pitchFamily="18" charset="0"/>
                  </a:rPr>
                  <a:t>$f''$</a:t>
                </a:r>
                <a:r>
                  <a:rPr sz="2400" b="0">
                    <a:solidFill>
                      <a:srgbClr val="111827"/>
                    </a:solidFill>
                    <a:latin typeface="Arial"/>
                  </a:rPr>
                  <a:t> inside the open intervals): at least </a:t>
                </a:r>
                <a:r>
                  <a:rPr lang="en-IN" sz="2400">
                    <a:solidFill>
                      <a:srgbClr val="111827"/>
                    </a:solidFill>
                    <a:latin typeface="Cambria Math" panose="02040503050406030204" pitchFamily="18" charset="0"/>
                  </a:rPr>
                  <a:t>$13$</a:t>
                </a:r>
                <a:r>
                  <a:rPr sz="2400" b="0">
                    <a:solidFill>
                      <a:srgbClr val="111827"/>
                    </a:solidFill>
                    <a:latin typeface="Arial"/>
                  </a:rPr>
                  <a:t> distinct roots of </a:t>
                </a:r>
                <a:r>
                  <a:rPr lang="en-IN" sz="2400">
                    <a:solidFill>
                      <a:srgbClr val="111827"/>
                    </a:solidFill>
                    <a:latin typeface="Cambria Math" panose="02040503050406030204" pitchFamily="18" charset="0"/>
                  </a:rPr>
                  <a:t>$h(x)=0$</a:t>
                </a:r>
                <a:r>
                  <a:rPr sz="2400" b="0">
                    <a:solidFill>
                      <a:srgbClr val="111827"/>
                    </a:solidFill>
                    <a:latin typeface="Arial"/>
                  </a:rPr>
                  <a:t> in </a:t>
                </a:r>
                <a:r>
                  <a:rPr lang="en-IN" sz="2400">
                    <a:solidFill>
                      <a:srgbClr val="111827"/>
                    </a:solidFill>
                    <a:latin typeface="Cambria Math" panose="02040503050406030204" pitchFamily="18" charset="0"/>
                  </a:rPr>
                  <a:t>$[0,6]$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Applying Rolle's theorem to </a:t>
                </a:r>
                <a:r>
                  <a:rPr lang="en-IN" sz="2400">
                    <a:solidFill>
                      <a:srgbClr val="111827"/>
                    </a:solidFill>
                    <a:latin typeface="Cambria Math" panose="02040503050406030204" pitchFamily="18" charset="0"/>
                  </a:rPr>
                  <a:t>$h$</a:t>
                </a:r>
                <a:r>
                  <a:rPr sz="2400" b="0">
                    <a:solidFill>
                      <a:srgbClr val="111827"/>
                    </a:solidFill>
                    <a:latin typeface="Arial"/>
                  </a:rPr>
                  <a:t> between consecutive roots, </a:t>
                </a:r>
                <a:r>
                  <a:rPr lang="en-IN" sz="2400">
                    <a:solidFill>
                      <a:srgbClr val="111827"/>
                    </a:solidFill>
                    <a:latin typeface="Cambria Math" panose="02040503050406030204" pitchFamily="18" charset="0"/>
                  </a:rPr>
                  <a:t>$h'(x)=0$</a:t>
                </a:r>
                <a:r>
                  <a:rPr sz="2400" b="0">
                    <a:solidFill>
                      <a:srgbClr val="111827"/>
                    </a:solidFill>
                    <a:latin typeface="Arial"/>
                  </a:rPr>
                  <a:t> has at least </a:t>
                </a:r>
                <a:r>
                  <a:rPr lang="en-IN" sz="2400">
                    <a:solidFill>
                      <a:srgbClr val="111827"/>
                    </a:solidFill>
                    <a:latin typeface="Cambria Math" panose="02040503050406030204" pitchFamily="18" charset="0"/>
                  </a:rPr>
                  <a:t>$12$</a:t>
                </a:r>
                <a:r>
                  <a:rPr sz="2400" b="0">
                    <a:solidFill>
                      <a:srgbClr val="111827"/>
                    </a:solidFill>
                    <a:latin typeface="Arial"/>
                  </a:rPr>
                  <a:t> roots in </a:t>
                </a:r>
                <a:r>
                  <a:rPr lang="en-IN" sz="2400">
                    <a:solidFill>
                      <a:srgbClr val="111827"/>
                    </a:solidFill>
                    <a:latin typeface="Cambria Math" panose="02040503050406030204" pitchFamily="18" charset="0"/>
                  </a:rPr>
                  <a:t>$[0,6]$</a:t>
                </a:r>
                <a:r>
                  <a:rPr sz="2400" b="0">
                    <a:solidFill>
                      <a:srgbClr val="111827"/>
                    </a:solidFill>
                    <a:latin typeface="Arial"/>
                  </a:rPr>
                  <a:t>. So </a:t>
                </a:r>
                <a:r>
                  <a:rPr lang="en-IN" sz="2400">
                    <a:solidFill>
                      <a:srgbClr val="111827"/>
                    </a:solidFill>
                    <a:latin typeface="Cambria Math" panose="02040503050406030204" pitchFamily="18" charset="0"/>
                  </a:rPr>
                  <a:t>$n=12$</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12</a:t>
            </a:r>
            <a:endParaRPr sz="2800">
              <a:solidFill>
                <a:srgbClr val="15803D"/>
              </a:solidFill>
            </a:endParaRP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Note </a:t>
                </a:r>
                <a14:m>
                  <m:oMath xmlns:m="http://schemas.openxmlformats.org/officeDocument/2006/math">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sSup>
                      <m:e>
                        <m:r>
                          <m:rPr>
                            <m:sty m:val="p"/>
                          </m:rPr>
                          <a:rPr lang="en-IN" sz="2400">
                            <a:solidFill>
                              <a:srgbClr val="78350F"/>
                            </a:solidFill>
                            <a:latin typeface="Cambria Math" panose="02040503050406030204" pitchFamily="18" charset="0"/>
                          </a:rPr>
                          <m:t>)</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den>
                    </m:f>
                    <m:sSup>
                      <m:e>
                        <m:d>
                          <m:dPr>
                            <m:begChr m:val="("/>
                            <m:sepChr m:val=""/>
                            <m:endChr m:val=")"/>
                            <m:grow/>
                            <m:ctrlPr>
                              <a:rPr lang="en-IN" sz="2400" i="1">
                                <a:solidFill>
                                  <a:srgbClr val="78350F"/>
                                </a:solidFill>
                                <a:latin typeface="Cambria Math" panose="02040503050406030204" pitchFamily="18" charset="0"/>
                              </a:rPr>
                            </m:ctrlPr>
                          </m:dPr>
                          <m:e>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e>
                        </m:d>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and show </a:t>
                </a:r>
                <a14:m>
                  <m:oMath xmlns:m="http://schemas.openxmlformats.org/officeDocument/2006/math">
                    <m:r>
                      <a:rPr lang="en-IN" sz="2400" i="1">
                        <a:solidFill>
                          <a:srgbClr val="78350F"/>
                        </a:solidFill>
                        <a:latin typeface="Cambria Math" panose="02040503050406030204" pitchFamily="18" charset="0"/>
                      </a:rPr>
                      <m:t>12</m:t>
                    </m:r>
                  </m:oMath>
                </a14:m>
                <a:r>
                  <a:rPr sz="2400" b="0">
                    <a:solidFill>
                      <a:srgbClr val="78350F"/>
                    </a:solidFill>
                    <a:latin typeface="Arial"/>
                  </a:rPr>
                  <a:t> is attained by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Note </a:t>
                </a:r>
                <a:r>
                  <a:rPr lang="en-IN" sz="2400">
                    <a:solidFill>
                      <a:srgbClr val="78350F"/>
                    </a:solidFill>
                    <a:latin typeface="Cambria Math" panose="02040503050406030204" pitchFamily="18" charset="0"/>
                  </a:rPr>
                  <a:t>$(f'f'')'=\frac{1}{2}\left((f')^2\right)''$</a:t>
                </a:r>
                <a:r>
                  <a:rPr sz="2400" b="0">
                    <a:solidFill>
                      <a:srgbClr val="78350F"/>
                    </a:solidFill>
                    <a:latin typeface="Arial"/>
                  </a:rPr>
                  <a:t>, and show </a:t>
                </a:r>
                <a:r>
                  <a:rPr lang="en-IN" sz="2400">
                    <a:solidFill>
                      <a:srgbClr val="78350F"/>
                    </a:solidFill>
                    <a:latin typeface="Cambria Math" panose="02040503050406030204" pitchFamily="18" charset="0"/>
                  </a:rPr>
                  <a:t>$12$</a:t>
                </a:r>
                <a:r>
                  <a:rPr sz="2400" b="0">
                    <a:solidFill>
                      <a:srgbClr val="78350F"/>
                    </a:solidFill>
                    <a:latin typeface="Arial"/>
                  </a:rPr>
                  <a:t> is attained by </a:t>
                </a:r>
                <a:r>
                  <a:rPr lang="en-IN" sz="2400">
                    <a:solidFill>
                      <a:srgbClr val="78350F"/>
                    </a:solidFill>
                    <a:latin typeface="Cambria Math" panose="02040503050406030204" pitchFamily="18" charset="0"/>
                  </a:rPr>
                  <a:t>$f'(x)=x(x-1)\cdots(x-6)$</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Then </a:t>
                </a:r>
                <a14:m>
                  <m:oMath xmlns:m="http://schemas.openxmlformats.org/officeDocument/2006/math">
                    <m:sSup>
                      <m:e>
                        <m:r>
                          <a:rPr lang="en-IN" sz="2400" i="1">
                            <a:solidFill>
                              <a:srgbClr val="111827"/>
                            </a:solidFill>
                            <a:latin typeface="Cambria Math" panose="02040503050406030204" pitchFamily="18" charset="0"/>
                          </a:rPr>
                          <m:t>𝑢</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𝑢</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e>
                    </m:d>
                  </m:oMath>
                </a14:m>
                <a:r>
                  <a:rPr sz="2400" b="0">
                    <a:solidFill>
                      <a:srgbClr val="111827"/>
                    </a:solidFill>
                    <a:latin typeface="Arial"/>
                  </a:rPr>
                  <a:t>, so we must count zeros of </a:t>
                </a:r>
                <a14:m>
                  <m:oMath xmlns:m="http://schemas.openxmlformats.org/officeDocument/2006/math">
                    <m:sSup>
                      <m:e>
                        <m:r>
                          <a:rPr lang="en-IN" sz="2400" i="1">
                            <a:solidFill>
                              <a:srgbClr val="111827"/>
                            </a:solidFill>
                            <a:latin typeface="Cambria Math" panose="02040503050406030204" pitchFamily="18" charset="0"/>
                          </a:rPr>
                          <m:t>𝑢</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vanishes at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(from the symmetry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the three given zeros), so </a:t>
                </a:r>
                <a14:m>
                  <m:oMath xmlns:m="http://schemas.openxmlformats.org/officeDocument/2006/math">
                    <m:r>
                      <a:rPr lang="en-IN" sz="2400" i="1">
                        <a:solidFill>
                          <a:srgbClr val="111827"/>
                        </a:solidFill>
                        <a:latin typeface="Cambria Math" panose="02040503050406030204" pitchFamily="18" charset="0"/>
                      </a:rPr>
                      <m:t>𝑢</m:t>
                    </m:r>
                  </m:oMath>
                </a14:m>
                <a:r>
                  <a:rPr sz="2400" b="0">
                    <a:solidFill>
                      <a:srgbClr val="111827"/>
                    </a:solidFill>
                    <a:latin typeface="Arial"/>
                  </a:rPr>
                  <a:t> has seven zeros, each double, hence </a:t>
                </a:r>
                <a14:m>
                  <m:oMath xmlns:m="http://schemas.openxmlformats.org/officeDocument/2006/math">
                    <m:sSup>
                      <m:e>
                        <m:r>
                          <a:rPr lang="en-IN" sz="2400" i="1">
                            <a:solidFill>
                              <a:srgbClr val="111827"/>
                            </a:solidFill>
                            <a:latin typeface="Cambria Math" panose="02040503050406030204" pitchFamily="18" charset="0"/>
                          </a:rPr>
                          <m:t>𝑢</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these seven points.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Between consecutive zeros of </a:t>
                </a:r>
                <a14:m>
                  <m:oMath xmlns:m="http://schemas.openxmlformats.org/officeDocument/2006/math">
                    <m:r>
                      <a:rPr lang="en-IN" sz="2400" i="1">
                        <a:solidFill>
                          <a:srgbClr val="111827"/>
                        </a:solidFill>
                        <a:latin typeface="Cambria Math" panose="02040503050406030204" pitchFamily="18" charset="0"/>
                      </a:rPr>
                      <m:t>𝑢</m:t>
                    </m:r>
                  </m:oMath>
                </a14:m>
                <a:r>
                  <a:rPr sz="2400" b="0">
                    <a:solidFill>
                      <a:srgbClr val="111827"/>
                    </a:solidFill>
                    <a:latin typeface="Arial"/>
                  </a:rPr>
                  <a:t> Rolle gives a zero of </a:t>
                </a:r>
                <a14:m>
                  <m:oMath xmlns:m="http://schemas.openxmlformats.org/officeDocument/2006/math">
                    <m:sSup>
                      <m:e>
                        <m:r>
                          <a:rPr lang="en-IN" sz="2400" i="1">
                            <a:solidFill>
                              <a:srgbClr val="111827"/>
                            </a:solidFill>
                            <a:latin typeface="Cambria Math" panose="02040503050406030204" pitchFamily="18" charset="0"/>
                          </a:rPr>
                          <m:t>𝑢</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(six more, in the open intervals). So </a:t>
                </a:r>
                <a14:m>
                  <m:oMath xmlns:m="http://schemas.openxmlformats.org/officeDocument/2006/math">
                    <m:sSup>
                      <m:e>
                        <m:r>
                          <a:rPr lang="en-IN" sz="2400" i="1">
                            <a:solidFill>
                              <a:srgbClr val="111827"/>
                            </a:solidFill>
                            <a:latin typeface="Cambria Math" panose="02040503050406030204" pitchFamily="18" charset="0"/>
                          </a:rPr>
                          <m:t>𝑢</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has at least </a:t>
                </a:r>
                <a14:m>
                  <m:oMath xmlns:m="http://schemas.openxmlformats.org/officeDocument/2006/math">
                    <m:r>
                      <a:rPr lang="en-IN" sz="2400" i="1">
                        <a:solidFill>
                          <a:srgbClr val="111827"/>
                        </a:solidFill>
                        <a:latin typeface="Cambria Math" panose="02040503050406030204" pitchFamily="18" charset="0"/>
                      </a:rPr>
                      <m:t>13</m:t>
                    </m:r>
                  </m:oMath>
                </a14:m>
                <a:r>
                  <a:rPr sz="2400" b="0">
                    <a:solidFill>
                      <a:srgbClr val="111827"/>
                    </a:solidFill>
                    <a:latin typeface="Arial"/>
                  </a:rPr>
                  <a:t> zeros and </a:t>
                </a:r>
                <a14:m>
                  <m:oMath xmlns:m="http://schemas.openxmlformats.org/officeDocument/2006/math">
                    <m:sSup>
                      <m:e>
                        <m:r>
                          <a:rPr lang="en-IN" sz="2400" i="1">
                            <a:solidFill>
                              <a:srgbClr val="111827"/>
                            </a:solidFill>
                            <a:latin typeface="Cambria Math" panose="02040503050406030204" pitchFamily="18" charset="0"/>
                          </a:rPr>
                          <m:t>𝑢</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has at least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$u=(f')^2\ge0$</a:t>
                </a:r>
                <a:r>
                  <a:rPr sz="2400" b="0">
                    <a:solidFill>
                      <a:srgbClr val="111827"/>
                    </a:solidFill>
                    <a:latin typeface="Arial"/>
                  </a:rPr>
                  <a:t>. Then </a:t>
                </a:r>
                <a:r>
                  <a:rPr lang="en-IN" sz="2400">
                    <a:solidFill>
                      <a:srgbClr val="111827"/>
                    </a:solidFill>
                    <a:latin typeface="Cambria Math" panose="02040503050406030204" pitchFamily="18" charset="0"/>
                  </a:rPr>
                  <a:t>$u'=2f'f''$</a:t>
                </a:r>
                <a:r>
                  <a:rPr sz="2400" b="0">
                    <a:solidFill>
                      <a:srgbClr val="111827"/>
                    </a:solidFill>
                    <a:latin typeface="Arial"/>
                  </a:rPr>
                  <a:t> and </a:t>
                </a:r>
                <a:r>
                  <a:rPr lang="en-IN" sz="2400">
                    <a:solidFill>
                      <a:srgbClr val="111827"/>
                    </a:solidFill>
                    <a:latin typeface="Cambria Math" panose="02040503050406030204" pitchFamily="18" charset="0"/>
                  </a:rPr>
                  <a:t>$u''=2\left[(f'')^2+f'f'''\right]$</a:t>
                </a:r>
                <a:r>
                  <a:rPr sz="2400" b="0">
                    <a:solidFill>
                      <a:srgbClr val="111827"/>
                    </a:solidFill>
                    <a:latin typeface="Arial"/>
                  </a:rPr>
                  <a:t>, so we must count zeros of </a:t>
                </a:r>
                <a:r>
                  <a:rPr lang="en-IN" sz="2400">
                    <a:solidFill>
                      <a:srgbClr val="111827"/>
                    </a:solidFill>
                    <a:latin typeface="Cambria Math" panose="02040503050406030204" pitchFamily="18" charset="0"/>
                  </a:rPr>
                  <a:t>$u''$</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a:t>
                </a:r>
                <a:r>
                  <a:rPr sz="2400" b="0">
                    <a:solidFill>
                      <a:srgbClr val="111827"/>
                    </a:solidFill>
                    <a:latin typeface="Arial"/>
                  </a:rPr>
                  <a:t> vanishes at </a:t>
                </a:r>
                <a:r>
                  <a:rPr lang="en-IN" sz="2400">
                    <a:solidFill>
                      <a:srgbClr val="111827"/>
                    </a:solidFill>
                    <a:latin typeface="Cambria Math" panose="02040503050406030204" pitchFamily="18" charset="0"/>
                  </a:rPr>
                  <a:t>$0,1,\dots,6$</a:t>
                </a:r>
                <a:r>
                  <a:rPr sz="2400" b="0">
                    <a:solidFill>
                      <a:srgbClr val="111827"/>
                    </a:solidFill>
                    <a:latin typeface="Arial"/>
                  </a:rPr>
                  <a:t> (from the symmetry </a:t>
                </a:r>
                <a:r>
                  <a:rPr lang="en-IN" sz="2400">
                    <a:solidFill>
                      <a:srgbClr val="111827"/>
                    </a:solidFill>
                    <a:latin typeface="Cambria Math" panose="02040503050406030204" pitchFamily="18" charset="0"/>
                  </a:rPr>
                  <a:t>$f'(x)=-f'(6-x)$</a:t>
                </a:r>
                <a:r>
                  <a:rPr sz="2400" b="0">
                    <a:solidFill>
                      <a:srgbClr val="111827"/>
                    </a:solidFill>
                    <a:latin typeface="Arial"/>
                  </a:rPr>
                  <a:t> and the three given zeros), so </a:t>
                </a:r>
                <a:r>
                  <a:rPr lang="en-IN" sz="2400">
                    <a:solidFill>
                      <a:srgbClr val="111827"/>
                    </a:solidFill>
                    <a:latin typeface="Cambria Math" panose="02040503050406030204" pitchFamily="18" charset="0"/>
                  </a:rPr>
                  <a:t>$u$</a:t>
                </a:r>
                <a:r>
                  <a:rPr sz="2400" b="0">
                    <a:solidFill>
                      <a:srgbClr val="111827"/>
                    </a:solidFill>
                    <a:latin typeface="Arial"/>
                  </a:rPr>
                  <a:t> has seven zeros, each double, hence </a:t>
                </a:r>
                <a:r>
                  <a:rPr lang="en-IN" sz="2400">
                    <a:solidFill>
                      <a:srgbClr val="111827"/>
                    </a:solidFill>
                    <a:latin typeface="Cambria Math" panose="02040503050406030204" pitchFamily="18" charset="0"/>
                  </a:rPr>
                  <a:t>$u'=0$</a:t>
                </a:r>
                <a:r>
                  <a:rPr sz="2400" b="0">
                    <a:solidFill>
                      <a:srgbClr val="111827"/>
                    </a:solidFill>
                    <a:latin typeface="Arial"/>
                  </a:rPr>
                  <a:t> at these seven points.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Between consecutive zeros of </a:t>
                </a:r>
                <a:r>
                  <a:rPr lang="en-IN" sz="2400">
                    <a:solidFill>
                      <a:srgbClr val="111827"/>
                    </a:solidFill>
                    <a:latin typeface="Cambria Math" panose="02040503050406030204" pitchFamily="18" charset="0"/>
                  </a:rPr>
                  <a:t>$u$</a:t>
                </a:r>
                <a:r>
                  <a:rPr sz="2400" b="0">
                    <a:solidFill>
                      <a:srgbClr val="111827"/>
                    </a:solidFill>
                    <a:latin typeface="Arial"/>
                  </a:rPr>
                  <a:t> Rolle gives a zero of </a:t>
                </a:r>
                <a:r>
                  <a:rPr lang="en-IN" sz="2400">
                    <a:solidFill>
                      <a:srgbClr val="111827"/>
                    </a:solidFill>
                    <a:latin typeface="Cambria Math" panose="02040503050406030204" pitchFamily="18" charset="0"/>
                  </a:rPr>
                  <a:t>$u'$</a:t>
                </a:r>
                <a:r>
                  <a:rPr sz="2400" b="0">
                    <a:solidFill>
                      <a:srgbClr val="111827"/>
                    </a:solidFill>
                    <a:latin typeface="Arial"/>
                  </a:rPr>
                  <a:t> (six more, in the open intervals). So </a:t>
                </a:r>
                <a:r>
                  <a:rPr lang="en-IN" sz="2400">
                    <a:solidFill>
                      <a:srgbClr val="111827"/>
                    </a:solidFill>
                    <a:latin typeface="Cambria Math" panose="02040503050406030204" pitchFamily="18" charset="0"/>
                  </a:rPr>
                  <a:t>$u'$</a:t>
                </a:r>
                <a:r>
                  <a:rPr sz="2400" b="0">
                    <a:solidFill>
                      <a:srgbClr val="111827"/>
                    </a:solidFill>
                    <a:latin typeface="Arial"/>
                  </a:rPr>
                  <a:t> has at least </a:t>
                </a:r>
                <a:r>
                  <a:rPr lang="en-IN" sz="2400">
                    <a:solidFill>
                      <a:srgbClr val="111827"/>
                    </a:solidFill>
                    <a:latin typeface="Cambria Math" panose="02040503050406030204" pitchFamily="18" charset="0"/>
                  </a:rPr>
                  <a:t>$13$</a:t>
                </a:r>
                <a:r>
                  <a:rPr sz="2400" b="0">
                    <a:solidFill>
                      <a:srgbClr val="111827"/>
                    </a:solidFill>
                    <a:latin typeface="Arial"/>
                  </a:rPr>
                  <a:t> zeros and </a:t>
                </a:r>
                <a:r>
                  <a:rPr lang="en-IN" sz="2400">
                    <a:solidFill>
                      <a:srgbClr val="111827"/>
                    </a:solidFill>
                    <a:latin typeface="Cambria Math" panose="02040503050406030204" pitchFamily="18" charset="0"/>
                  </a:rPr>
                  <a:t>$u''$</a:t>
                </a:r>
                <a:r>
                  <a:rPr sz="2400" b="0">
                    <a:solidFill>
                      <a:srgbClr val="111827"/>
                    </a:solidFill>
                    <a:latin typeface="Arial"/>
                  </a:rPr>
                  <a:t> has at least </a:t>
                </a:r>
                <a:r>
                  <a:rPr lang="en-IN" sz="2400">
                    <a:solidFill>
                      <a:srgbClr val="111827"/>
                    </a:solidFill>
                    <a:latin typeface="Cambria Math" panose="02040503050406030204" pitchFamily="18" charset="0"/>
                  </a:rPr>
                  <a:t>$12$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bound is attained: take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which satisfies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a degree-</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polynomial with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has degree </a:t>
                </a:r>
                <a14:m>
                  <m:oMath xmlns:m="http://schemas.openxmlformats.org/officeDocument/2006/math">
                    <m:r>
                      <a:rPr lang="en-IN" sz="2400" i="1">
                        <a:solidFill>
                          <a:srgbClr val="111827"/>
                        </a:solidFill>
                        <a:latin typeface="Cambria Math" panose="02040503050406030204" pitchFamily="18" charset="0"/>
                      </a:rPr>
                      <m:t>13</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has degree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and at most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roots.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minimum number of roots is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bound is attained: take </a:t>
                </a:r>
                <a:r>
                  <a:rPr lang="en-IN" sz="2400">
                    <a:solidFill>
                      <a:srgbClr val="111827"/>
                    </a:solidFill>
                    <a:latin typeface="Cambria Math" panose="02040503050406030204" pitchFamily="18" charset="0"/>
                  </a:rPr>
                  <a:t>$f'(x)=x(x-1)\cdots(x-6)$</a:t>
                </a:r>
                <a:r>
                  <a:rPr sz="2400" b="0">
                    <a:solidFill>
                      <a:srgbClr val="111827"/>
                    </a:solidFill>
                    <a:latin typeface="Arial"/>
                  </a:rPr>
                  <a:t>, which satisfies </a:t>
                </a:r>
                <a:r>
                  <a:rPr lang="en-IN" sz="2400">
                    <a:solidFill>
                      <a:srgbClr val="111827"/>
                    </a:solidFill>
                    <a:latin typeface="Cambria Math" panose="02040503050406030204" pitchFamily="18" charset="0"/>
                  </a:rPr>
                  <a:t>$f'(6-x)=-f'(x)$</a:t>
                </a:r>
                <a:r>
                  <a:rPr sz="2400" b="0">
                    <a:solidFill>
                      <a:srgbClr val="111827"/>
                    </a:solidFill>
                    <a:latin typeface="Arial"/>
                  </a:rPr>
                  <a:t>; then </a:t>
                </a:r>
                <a:r>
                  <a:rPr lang="en-IN" sz="2400">
                    <a:solidFill>
                      <a:srgbClr val="111827"/>
                    </a:solidFill>
                    <a:latin typeface="Cambria Math" panose="02040503050406030204" pitchFamily="18" charset="0"/>
                  </a:rPr>
                  <a:t>$f$</a:t>
                </a:r>
                <a:r>
                  <a:rPr sz="2400" b="0">
                    <a:solidFill>
                      <a:srgbClr val="111827"/>
                    </a:solidFill>
                    <a:latin typeface="Arial"/>
                  </a:rPr>
                  <a:t> is a degree-</a:t>
                </a:r>
                <a:r>
                  <a:rPr lang="en-IN" sz="2400">
                    <a:solidFill>
                      <a:srgbClr val="111827"/>
                    </a:solidFill>
                    <a:latin typeface="Cambria Math" panose="02040503050406030204" pitchFamily="18" charset="0"/>
                  </a:rPr>
                  <a:t>$8$</a:t>
                </a:r>
                <a:r>
                  <a:rPr sz="2400" b="0">
                    <a:solidFill>
                      <a:srgbClr val="111827"/>
                    </a:solidFill>
                    <a:latin typeface="Arial"/>
                  </a:rPr>
                  <a:t> polynomial with </a:t>
                </a:r>
                <a:r>
                  <a:rPr lang="en-IN" sz="2400">
                    <a:solidFill>
                      <a:srgbClr val="111827"/>
                    </a:solidFill>
                    <a:latin typeface="Cambria Math" panose="02040503050406030204" pitchFamily="18" charset="0"/>
                  </a:rPr>
                  <a:t>$f(x)=f(6-x)$</a:t>
                </a:r>
                <a:r>
                  <a:rPr sz="2400" b="0">
                    <a:solidFill>
                      <a:srgbClr val="111827"/>
                    </a:solidFill>
                    <a:latin typeface="Arial"/>
                  </a:rPr>
                  <a:t>, and </a:t>
                </a:r>
                <a:r>
                  <a:rPr lang="en-IN" sz="2400">
                    <a:solidFill>
                      <a:srgbClr val="111827"/>
                    </a:solidFill>
                    <a:latin typeface="Cambria Math" panose="02040503050406030204" pitchFamily="18" charset="0"/>
                  </a:rPr>
                  <a:t>$f'f''$</a:t>
                </a:r>
                <a:r>
                  <a:rPr sz="2400" b="0">
                    <a:solidFill>
                      <a:srgbClr val="111827"/>
                    </a:solidFill>
                    <a:latin typeface="Arial"/>
                  </a:rPr>
                  <a:t> has degree </a:t>
                </a:r>
                <a:r>
                  <a:rPr lang="en-IN" sz="2400">
                    <a:solidFill>
                      <a:srgbClr val="111827"/>
                    </a:solidFill>
                    <a:latin typeface="Cambria Math" panose="02040503050406030204" pitchFamily="18" charset="0"/>
                  </a:rPr>
                  <a:t>$13$</a:t>
                </a:r>
                <a:r>
                  <a:rPr sz="2400" b="0">
                    <a:solidFill>
                      <a:srgbClr val="111827"/>
                    </a:solidFill>
                    <a:latin typeface="Arial"/>
                  </a:rPr>
                  <a:t>, so </a:t>
                </a:r>
                <a:r>
                  <a:rPr lang="en-IN" sz="2400">
                    <a:solidFill>
                      <a:srgbClr val="111827"/>
                    </a:solidFill>
                    <a:latin typeface="Cambria Math" panose="02040503050406030204" pitchFamily="18" charset="0"/>
                  </a:rPr>
                  <a:t>$(f'f'')'$</a:t>
                </a:r>
                <a:r>
                  <a:rPr sz="2400" b="0">
                    <a:solidFill>
                      <a:srgbClr val="111827"/>
                    </a:solidFill>
                    <a:latin typeface="Arial"/>
                  </a:rPr>
                  <a:t> has degree </a:t>
                </a:r>
                <a:r>
                  <a:rPr lang="en-IN" sz="2400">
                    <a:solidFill>
                      <a:srgbClr val="111827"/>
                    </a:solidFill>
                    <a:latin typeface="Cambria Math" panose="02040503050406030204" pitchFamily="18" charset="0"/>
                  </a:rPr>
                  <a:t>$12$</a:t>
                </a:r>
                <a:r>
                  <a:rPr sz="2400" b="0">
                    <a:solidFill>
                      <a:srgbClr val="111827"/>
                    </a:solidFill>
                    <a:latin typeface="Arial"/>
                  </a:rPr>
                  <a:t> and at most </a:t>
                </a:r>
                <a:r>
                  <a:rPr lang="en-IN" sz="2400">
                    <a:solidFill>
                      <a:srgbClr val="111827"/>
                    </a:solidFill>
                    <a:latin typeface="Cambria Math" panose="02040503050406030204" pitchFamily="18" charset="0"/>
                  </a:rPr>
                  <a:t>$12$</a:t>
                </a:r>
                <a:r>
                  <a:rPr sz="2400" b="0">
                    <a:solidFill>
                      <a:srgbClr val="111827"/>
                    </a:solidFill>
                    <a:latin typeface="Arial"/>
                  </a:rPr>
                  <a:t> roots.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minimum number of roots is </a:t>
                </a:r>
                <a:r>
                  <a:rPr lang="en-IN" sz="2400">
                    <a:solidFill>
                      <a:srgbClr val="111827"/>
                    </a:solidFill>
                    <a:latin typeface="Cambria Math" panose="02040503050406030204" pitchFamily="18" charset="0"/>
                  </a:rPr>
                  <a:t>$12$</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12</a:t>
            </a:r>
            <a:endParaRPr sz="2800">
              <a:solidFill>
                <a:srgbClr val="15803D"/>
              </a:solidFill>
            </a:endParaRP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zeros of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occur in pairs symmetric about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Rolle: if a differentiable </a:t>
                </a:r>
                <a14:m>
                  <m:oMath xmlns:m="http://schemas.openxmlformats.org/officeDocument/2006/math">
                    <m:r>
                      <a:rPr lang="en-IN" sz="2400" i="1">
                        <a:solidFill>
                          <a:srgbClr val="111827"/>
                        </a:solidFill>
                        <a:latin typeface="Cambria Math" panose="02040503050406030204" pitchFamily="18" charset="0"/>
                      </a:rPr>
                      <m:t>φ</m:t>
                    </m:r>
                  </m:oMath>
                </a14:m>
                <a:r>
                  <a:rPr sz="2400" b="0">
                    <a:solidFill>
                      <a:srgbClr val="111827"/>
                    </a:solidFill>
                    <a:latin typeface="Arial"/>
                  </a:rPr>
                  <a:t> has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distinct zeros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sSup>
                      <m:e>
                        <m:r>
                          <a:rPr lang="en-IN" sz="2400" i="1">
                            <a:solidFill>
                              <a:srgbClr val="111827"/>
                            </a:solidFill>
                            <a:latin typeface="Cambria Math" panose="02040503050406030204" pitchFamily="18" charset="0"/>
                          </a:rPr>
                          <m:t>φ</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has at least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zeros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Recognise derivatives of products: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e>
                        </m:d>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Zeros created by Rolle lie strictly between the old zeros, so they are distinct from them; count the two families separately and add.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show a Rolle lower bound is sharp, use a polynomial whose degree equals the bound (degree of </a:t>
                </a:r>
                <a14:m>
                  <m:oMath xmlns:m="http://schemas.openxmlformats.org/officeDocument/2006/math">
                    <m:sSup>
                      <m:e>
                        <m:r>
                          <a:rPr lang="en-IN" sz="2400" i="1">
                            <a:solidFill>
                              <a:srgbClr val="111827"/>
                            </a:solidFill>
                            <a:latin typeface="Cambria Math" panose="02040503050406030204" pitchFamily="18" charset="0"/>
                          </a:rPr>
                          <m:t>ℎ</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here is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$f(x)=f(a-x)$</a:t>
                </a:r>
                <a:r>
                  <a:rPr sz="2400" b="0">
                    <a:solidFill>
                      <a:srgbClr val="111827"/>
                    </a:solidFill>
                    <a:latin typeface="Arial"/>
                  </a:rPr>
                  <a:t>, then </a:t>
                </a:r>
                <a:r>
                  <a:rPr lang="en-IN" sz="2400">
                    <a:solidFill>
                      <a:srgbClr val="111827"/>
                    </a:solidFill>
                    <a:latin typeface="Cambria Math" panose="02040503050406030204" pitchFamily="18" charset="0"/>
                  </a:rPr>
                  <a:t>$f'(x)=-f'(a-x)$</a:t>
                </a:r>
                <a:r>
                  <a:rPr sz="2400" b="0">
                    <a:solidFill>
                      <a:srgbClr val="111827"/>
                    </a:solidFill>
                    <a:latin typeface="Arial"/>
                  </a:rPr>
                  <a:t>, so </a:t>
                </a:r>
                <a:r>
                  <a:rPr lang="en-IN" sz="2400">
                    <a:solidFill>
                      <a:srgbClr val="111827"/>
                    </a:solidFill>
                    <a:latin typeface="Cambria Math" panose="02040503050406030204" pitchFamily="18" charset="0"/>
                  </a:rPr>
                  <a:t>$f'\left(\frac{a}{2}\right)=0$</a:t>
                </a:r>
                <a:r>
                  <a:rPr sz="2400" b="0">
                    <a:solidFill>
                      <a:srgbClr val="111827"/>
                    </a:solidFill>
                    <a:latin typeface="Arial"/>
                  </a:rPr>
                  <a:t> and zeros of </a:t>
                </a:r>
                <a:r>
                  <a:rPr lang="en-IN" sz="2400">
                    <a:solidFill>
                      <a:srgbClr val="111827"/>
                    </a:solidFill>
                    <a:latin typeface="Cambria Math" panose="02040503050406030204" pitchFamily="18" charset="0"/>
                  </a:rPr>
                  <a:t>$f'$</a:t>
                </a:r>
                <a:r>
                  <a:rPr sz="2400" b="0">
                    <a:solidFill>
                      <a:srgbClr val="111827"/>
                    </a:solidFill>
                    <a:latin typeface="Arial"/>
                  </a:rPr>
                  <a:t> occur in pairs symmetric about </a:t>
                </a:r>
                <a:r>
                  <a:rPr lang="en-IN" sz="2400">
                    <a:solidFill>
                      <a:srgbClr val="111827"/>
                    </a:solidFill>
                    <a:latin typeface="Cambria Math" panose="02040503050406030204" pitchFamily="18" charset="0"/>
                  </a:rPr>
                  <a:t>$\frac{a}{2}$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Rolle: if a differentiable </a:t>
                </a:r>
                <a:r>
                  <a:rPr lang="en-IN" sz="2400">
                    <a:solidFill>
                      <a:srgbClr val="111827"/>
                    </a:solidFill>
                    <a:latin typeface="Cambria Math" panose="02040503050406030204" pitchFamily="18" charset="0"/>
                  </a:rPr>
                  <a:t>$\varphi$</a:t>
                </a:r>
                <a:r>
                  <a:rPr sz="2400" b="0">
                    <a:solidFill>
                      <a:srgbClr val="111827"/>
                    </a:solidFill>
                    <a:latin typeface="Arial"/>
                  </a:rPr>
                  <a:t> has </a:t>
                </a:r>
                <a:r>
                  <a:rPr lang="en-IN" sz="2400">
                    <a:solidFill>
                      <a:srgbClr val="111827"/>
                    </a:solidFill>
                    <a:latin typeface="Cambria Math" panose="02040503050406030204" pitchFamily="18" charset="0"/>
                  </a:rPr>
                  <a:t>$m$</a:t>
                </a:r>
                <a:r>
                  <a:rPr sz="2400" b="0">
                    <a:solidFill>
                      <a:srgbClr val="111827"/>
                    </a:solidFill>
                    <a:latin typeface="Arial"/>
                  </a:rPr>
                  <a:t> distinct zeros in </a:t>
                </a:r>
                <a:r>
                  <a:rPr lang="en-IN" sz="2400">
                    <a:solidFill>
                      <a:srgbClr val="111827"/>
                    </a:solidFill>
                    <a:latin typeface="Cambria Math" panose="02040503050406030204" pitchFamily="18" charset="0"/>
                  </a:rPr>
                  <a:t>$[p,q]$</a:t>
                </a:r>
                <a:r>
                  <a:rPr sz="2400" b="0">
                    <a:solidFill>
                      <a:srgbClr val="111827"/>
                    </a:solidFill>
                    <a:latin typeface="Arial"/>
                  </a:rPr>
                  <a:t>, then </a:t>
                </a:r>
                <a:r>
                  <a:rPr lang="en-IN" sz="2400">
                    <a:solidFill>
                      <a:srgbClr val="111827"/>
                    </a:solidFill>
                    <a:latin typeface="Cambria Math" panose="02040503050406030204" pitchFamily="18" charset="0"/>
                  </a:rPr>
                  <a:t>$\varphi'$</a:t>
                </a:r>
                <a:r>
                  <a:rPr sz="2400" b="0">
                    <a:solidFill>
                      <a:srgbClr val="111827"/>
                    </a:solidFill>
                    <a:latin typeface="Arial"/>
                  </a:rPr>
                  <a:t> has at least </a:t>
                </a:r>
                <a:r>
                  <a:rPr lang="en-IN" sz="2400">
                    <a:solidFill>
                      <a:srgbClr val="111827"/>
                    </a:solidFill>
                    <a:latin typeface="Cambria Math" panose="02040503050406030204" pitchFamily="18" charset="0"/>
                  </a:rPr>
                  <a:t>$m-1$</a:t>
                </a:r>
                <a:r>
                  <a:rPr sz="2400" b="0">
                    <a:solidFill>
                      <a:srgbClr val="111827"/>
                    </a:solidFill>
                    <a:latin typeface="Arial"/>
                  </a:rPr>
                  <a:t> zeros in </a:t>
                </a:r>
                <a:r>
                  <a:rPr lang="en-IN" sz="2400">
                    <a:solidFill>
                      <a:srgbClr val="111827"/>
                    </a:solidFill>
                    <a:latin typeface="Cambria Math" panose="02040503050406030204" pitchFamily="18" charset="0"/>
                  </a:rPr>
                  <a:t>$(p,q)$</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Recognise derivatives of products: </a:t>
                </a:r>
                <a:r>
                  <a:rPr lang="en-IN" sz="2400">
                    <a:solidFill>
                      <a:srgbClr val="111827"/>
                    </a:solidFill>
                    <a:latin typeface="Cambria Math" panose="02040503050406030204" pitchFamily="18" charset="0"/>
                  </a:rPr>
                  <a:t>$(f'f'')'=(f'')^2+f'f'''$</a:t>
                </a:r>
                <a:r>
                  <a:rPr sz="2400" b="0">
                    <a:solidFill>
                      <a:srgbClr val="111827"/>
                    </a:solidFill>
                    <a:latin typeface="Arial"/>
                  </a:rPr>
                  <a:t> and </a:t>
                </a:r>
                <a:r>
                  <a:rPr lang="en-IN" sz="2400">
                    <a:solidFill>
                      <a:srgbClr val="111827"/>
                    </a:solidFill>
                    <a:latin typeface="Cambria Math" panose="02040503050406030204" pitchFamily="18" charset="0"/>
                  </a:rPr>
                  <a:t>$\left(f'^2\right)'=2f'f''$</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Zeros created by Rolle lie strictly between the old zeros, so they are distinct from them; count the two families separately and add.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show a Rolle lower bound is sharp, use a polynomial whose degree equals the bound (degree of </a:t>
                </a:r>
                <a:r>
                  <a:rPr lang="en-IN" sz="2400">
                    <a:solidFill>
                      <a:srgbClr val="111827"/>
                    </a:solidFill>
                    <a:latin typeface="Cambria Math" panose="02040503050406030204" pitchFamily="18" charset="0"/>
                  </a:rPr>
                  <a:t>$h'$</a:t>
                </a:r>
                <a:r>
                  <a:rPr sz="2400" b="0">
                    <a:solidFill>
                      <a:srgbClr val="111827"/>
                    </a:solidFill>
                    <a:latin typeface="Arial"/>
                  </a:rPr>
                  <a:t> here is </a:t>
                </a:r>
                <a:r>
                  <a:rPr lang="en-IN" sz="2400">
                    <a:solidFill>
                      <a:srgbClr val="111827"/>
                    </a:solidFill>
                    <a:latin typeface="Cambria Math" panose="02040503050406030204" pitchFamily="18" charset="0"/>
                  </a:rPr>
                  <a:t>$12$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5</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Integer Type(0 to 9)</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Q35 – Q45</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No marking scheme printed; JEE Advanced default of 4 marks assumed</a:t>
            </a:r>
            <a:endParaRPr sz="2800">
              <a:solidFill>
                <a:srgbClr val="FFFFFF"/>
              </a:solidFill>
            </a:endParaRP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oMath>
                </a14:m>
                <a:r>
                  <a:rPr sz="2400" b="0">
                    <a:solidFill>
                      <a:srgbClr val="111827"/>
                    </a:solidFill>
                    <a:latin typeface="Arial"/>
                  </a:rPr>
                  <a:t> then local maxima value of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$f(g(x))=4-x+5x^{1/3}-x^{2/3}$</a:t>
                </a:r>
                <a:r>
                  <a:rPr sz="2400" b="0">
                    <a:solidFill>
                      <a:srgbClr val="111827"/>
                    </a:solidFill>
                    <a:latin typeface="Arial"/>
                  </a:rPr>
                  <a:t> and </a:t>
                </a:r>
                <a:r>
                  <a:rPr lang="en-IN" sz="2400">
                    <a:solidFill>
                      <a:srgbClr val="111827"/>
                    </a:solidFill>
                    <a:latin typeface="Cambria Math" panose="02040503050406030204" pitchFamily="18" charset="0"/>
                  </a:rPr>
                  <a:t>$g(x)=2-x^{1/3}$</a:t>
                </a:r>
                <a:r>
                  <a:rPr sz="2400" b="0">
                    <a:solidFill>
                      <a:srgbClr val="111827"/>
                    </a:solidFill>
                    <a:latin typeface="Arial"/>
                  </a:rPr>
                  <a:t> then local maxima value of </a:t>
                </a:r>
                <a:r>
                  <a:rPr lang="en-IN" sz="2400">
                    <a:solidFill>
                      <a:srgbClr val="111827"/>
                    </a:solidFill>
                    <a:latin typeface="Cambria Math" panose="02040503050406030204" pitchFamily="18" charset="0"/>
                  </a:rPr>
                  <a:t>$f(x)$</a:t>
                </a:r>
                <a:r>
                  <a:rPr sz="2400" b="0">
                    <a:solidFill>
                      <a:srgbClr val="111827"/>
                    </a:solidFill>
                    <a:latin typeface="Arial"/>
                  </a:rPr>
                  <a:t> is equal to</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Integer Type(0 to 9)(4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Composite functions: finding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Local maxima of a cubic</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Choice>
        <mc:Fallback>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Integer Type(0 to 9)(4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Composite functions: finding </a:t>
                </a:r>
                <a:r>
                  <a:rPr lang="en-IN" sz="2400">
                    <a:solidFill>
                      <a:srgbClr val="111827"/>
                    </a:solidFill>
                    <a:latin typeface="Cambria Math" panose="02040503050406030204" pitchFamily="18" charset="0"/>
                  </a:rPr>
                  <a:t>$f$</a:t>
                </a:r>
                <a:r>
                  <a:rPr sz="2400" b="0">
                    <a:solidFill>
                      <a:srgbClr val="111827"/>
                    </a:solidFill>
                    <a:latin typeface="Arial"/>
                  </a:rPr>
                  <a:t> from </a:t>
                </a:r>
                <a:r>
                  <a:rPr lang="en-IN" sz="2400">
                    <a:solidFill>
                      <a:srgbClr val="111827"/>
                    </a:solidFill>
                    <a:latin typeface="Cambria Math" panose="02040503050406030204" pitchFamily="18" charset="0"/>
                  </a:rPr>
                  <a:t>$f(g(x))$</a:t>
                </a:r>
                <a:r>
                  <a:rPr sz="2400" b="0">
                    <a:solidFill>
                      <a:srgbClr val="111827"/>
                    </a:solidFill>
                    <a:latin typeface="Arial"/>
                  </a:rPr>
                  <a:t>, Local maxima of a cubic</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Fallback>
      </mc:AlternateContent>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Since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𝑔</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rewrite the right side in terms of </a:t>
                </a:r>
                <a14:m>
                  <m:oMath xmlns:m="http://schemas.openxmlformats.org/officeDocument/2006/math">
                    <m:r>
                      <a:rPr lang="en-IN" sz="2400" i="1">
                        <a:solidFill>
                          <a:srgbClr val="78350F"/>
                        </a:solidFill>
                        <a:latin typeface="Cambria Math" panose="02040503050406030204" pitchFamily="18" charset="0"/>
                      </a:rPr>
                      <m:t>𝑔</m:t>
                    </m:r>
                  </m:oMath>
                </a14:m>
                <a:r>
                  <a:rPr sz="2400" b="0">
                    <a:solidFill>
                      <a:srgbClr val="78350F"/>
                    </a:solidFill>
                    <a:latin typeface="Arial"/>
                  </a:rPr>
                  <a:t> to get </a:t>
                </a:r>
                <a14:m>
                  <m:oMath xmlns:m="http://schemas.openxmlformats.org/officeDocument/2006/math">
                    <m:r>
                      <a:rPr lang="en-IN" sz="2400" i="1">
                        <a:solidFill>
                          <a:srgbClr val="78350F"/>
                        </a:solidFill>
                        <a:latin typeface="Cambria Math" panose="02040503050406030204" pitchFamily="18" charset="0"/>
                      </a:rPr>
                      <m:t>𝑓</m:t>
                    </m:r>
                  </m:oMath>
                </a14:m>
                <a:r>
                  <a:rPr sz="2400" b="0">
                    <a:solidFill>
                      <a:srgbClr val="78350F"/>
                    </a:solidFill>
                    <a:latin typeface="Arial"/>
                  </a:rPr>
                  <a:t> explicitly.</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Since </a:t>
                </a:r>
                <a:r>
                  <a:rPr lang="en-IN" sz="2400">
                    <a:solidFill>
                      <a:srgbClr val="78350F"/>
                    </a:solidFill>
                    <a:latin typeface="Cambria Math" panose="02040503050406030204" pitchFamily="18" charset="0"/>
                  </a:rPr>
                  <a:t>$x^{1/3}=2-g(x)$</a:t>
                </a:r>
                <a:r>
                  <a:rPr sz="2400" b="0">
                    <a:solidFill>
                      <a:srgbClr val="78350F"/>
                    </a:solidFill>
                    <a:latin typeface="Arial"/>
                  </a:rPr>
                  <a:t>, rewrite the right side in terms of </a:t>
                </a:r>
                <a:r>
                  <a:rPr lang="en-IN" sz="2400">
                    <a:solidFill>
                      <a:srgbClr val="78350F"/>
                    </a:solidFill>
                    <a:latin typeface="Cambria Math" panose="02040503050406030204" pitchFamily="18" charset="0"/>
                  </a:rPr>
                  <a:t>$g$</a:t>
                </a:r>
                <a:r>
                  <a:rPr sz="2400" b="0">
                    <a:solidFill>
                      <a:srgbClr val="78350F"/>
                    </a:solidFill>
                    <a:latin typeface="Arial"/>
                  </a:rPr>
                  <a:t> to get </a:t>
                </a:r>
                <a:r>
                  <a:rPr lang="en-IN" sz="2400">
                    <a:solidFill>
                      <a:srgbClr val="78350F"/>
                    </a:solidFill>
                    <a:latin typeface="Cambria Math" panose="02040503050406030204" pitchFamily="18" charset="0"/>
                  </a:rPr>
                  <a:t>$f$</a:t>
                </a:r>
                <a:r>
                  <a:rPr sz="2400" b="0">
                    <a:solidFill>
                      <a:srgbClr val="78350F"/>
                    </a:solidFill>
                    <a:latin typeface="Arial"/>
                  </a:rPr>
                  <a:t> explicitly.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oMath>
                </a14:m>
                <a:r>
                  <a:rPr sz="2400" b="0">
                    <a:solidFill>
                      <a:srgbClr val="111827"/>
                    </a:solidFill>
                    <a:latin typeface="Arial"/>
                  </a:rPr>
                  <a:t> we get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taking all real values, 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Expanding: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a:t>
                </a:r>
                <a:r>
                  <a:rPr lang="en-IN" sz="2400">
                    <a:solidFill>
                      <a:srgbClr val="111827"/>
                    </a:solidFill>
                    <a:latin typeface="Cambria Math" panose="02040503050406030204" pitchFamily="18" charset="0"/>
                  </a:rPr>
                  <a:t>$g(x)=2-x^{1/3}$</a:t>
                </a:r>
                <a:r>
                  <a:rPr sz="2400" b="0">
                    <a:solidFill>
                      <a:srgbClr val="111827"/>
                    </a:solidFill>
                    <a:latin typeface="Arial"/>
                  </a:rPr>
                  <a:t> we get </a:t>
                </a:r>
                <a:r>
                  <a:rPr lang="en-IN" sz="2400">
                    <a:solidFill>
                      <a:srgbClr val="111827"/>
                    </a:solidFill>
                    <a:latin typeface="Cambria Math" panose="02040503050406030204" pitchFamily="18" charset="0"/>
                  </a:rPr>
                  <a:t>$x^{1/3}=2-g(x)$</a:t>
                </a:r>
                <a:r>
                  <a:rPr sz="2400" b="0">
                    <a:solidFill>
                      <a:srgbClr val="111827"/>
                    </a:solidFill>
                    <a:latin typeface="Arial"/>
                  </a:rPr>
                  <a:t> and </a:t>
                </a:r>
                <a:r>
                  <a:rPr lang="en-IN" sz="2400">
                    <a:solidFill>
                      <a:srgbClr val="111827"/>
                    </a:solidFill>
                    <a:latin typeface="Cambria Math" panose="02040503050406030204" pitchFamily="18" charset="0"/>
                  </a:rPr>
                  <a:t>$x=(2-g(x))^3$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$f(g(x))=4-(2-g)^3+5(2-g)-(2-g)^2$</a:t>
                </a:r>
                <a:r>
                  <a:rPr sz="2400" b="0">
                    <a:solidFill>
                      <a:srgbClr val="111827"/>
                    </a:solidFill>
                    <a:latin typeface="Arial"/>
                  </a:rPr>
                  <a:t> with </a:t>
                </a:r>
                <a:r>
                  <a:rPr lang="en-IN" sz="2400">
                    <a:solidFill>
                      <a:srgbClr val="111827"/>
                    </a:solidFill>
                    <a:latin typeface="Cambria Math" panose="02040503050406030204" pitchFamily="18" charset="0"/>
                  </a:rPr>
                  <a:t>$g=g(x)$</a:t>
                </a:r>
                <a:r>
                  <a:rPr sz="2400" b="0">
                    <a:solidFill>
                      <a:srgbClr val="111827"/>
                    </a:solidFill>
                    <a:latin typeface="Arial"/>
                  </a:rPr>
                  <a:t> taking all real values, so </a:t>
                </a:r>
                <a:r>
                  <a:rPr lang="en-IN" sz="2400">
                    <a:solidFill>
                      <a:srgbClr val="111827"/>
                    </a:solidFill>
                    <a:latin typeface="Cambria Math" panose="02040503050406030204" pitchFamily="18" charset="0"/>
                  </a:rPr>
                  <a:t>$f(x)=4-(2-x)^3+5(2-x)-(2-x)^2$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Expanding: </a:t>
                </a:r>
                <a:r>
                  <a:rPr lang="en-IN" sz="2400">
                    <a:solidFill>
                      <a:srgbClr val="111827"/>
                    </a:solidFill>
                    <a:latin typeface="Cambria Math" panose="02040503050406030204" pitchFamily="18" charset="0"/>
                  </a:rPr>
                  <a:t>$f(x)=x^3-7x^2+11x+2$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has a local maximum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 local minimum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so the local maximum value is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$f'(x)=3x^2-14x+11=(3x-11)(x-1)=0$</a:t>
                </a:r>
                <a:r>
                  <a:rPr sz="2400" b="0">
                    <a:solidFill>
                      <a:srgbClr val="111827"/>
                    </a:solidFill>
                    <a:latin typeface="Arial"/>
                  </a:rPr>
                  <a:t> gives </a:t>
                </a:r>
                <a:r>
                  <a:rPr lang="en-IN" sz="2400">
                    <a:solidFill>
                      <a:srgbClr val="111827"/>
                    </a:solidFill>
                    <a:latin typeface="Cambria Math" panose="02040503050406030204" pitchFamily="18" charset="0"/>
                  </a:rPr>
                  <a:t>$x=1,\ \frac{11}{3}$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$f''(x)=6x-14$</a:t>
                </a:r>
                <a:r>
                  <a:rPr sz="2400" b="0">
                    <a:solidFill>
                      <a:srgbClr val="111827"/>
                    </a:solidFill>
                    <a:latin typeface="Arial"/>
                  </a:rPr>
                  <a:t>, so </a:t>
                </a:r>
                <a:r>
                  <a:rPr lang="en-IN" sz="2400">
                    <a:solidFill>
                      <a:srgbClr val="111827"/>
                    </a:solidFill>
                    <a:latin typeface="Cambria Math" panose="02040503050406030204" pitchFamily="18" charset="0"/>
                  </a:rPr>
                  <a:t>$f''(1)=-8&lt;0$</a:t>
                </a:r>
                <a:r>
                  <a:rPr sz="2400" b="0">
                    <a:solidFill>
                      <a:srgbClr val="111827"/>
                    </a:solidFill>
                    <a:latin typeface="Arial"/>
                  </a:rPr>
                  <a:t>: </a:t>
                </a:r>
                <a:r>
                  <a:rPr lang="en-IN" sz="2400">
                    <a:solidFill>
                      <a:srgbClr val="111827"/>
                    </a:solidFill>
                    <a:latin typeface="Cambria Math" panose="02040503050406030204" pitchFamily="18" charset="0"/>
                  </a:rPr>
                  <a:t>$f$</a:t>
                </a:r>
                <a:r>
                  <a:rPr sz="2400" b="0">
                    <a:solidFill>
                      <a:srgbClr val="111827"/>
                    </a:solidFill>
                    <a:latin typeface="Arial"/>
                  </a:rPr>
                  <a:t> has a local maximum at </a:t>
                </a:r>
                <a:r>
                  <a:rPr lang="en-IN" sz="2400">
                    <a:solidFill>
                      <a:srgbClr val="111827"/>
                    </a:solidFill>
                    <a:latin typeface="Cambria Math" panose="02040503050406030204" pitchFamily="18" charset="0"/>
                  </a:rPr>
                  <a:t>$x=1$</a:t>
                </a:r>
                <a:r>
                  <a:rPr sz="2400" b="0">
                    <a:solidFill>
                      <a:srgbClr val="111827"/>
                    </a:solidFill>
                    <a:latin typeface="Arial"/>
                  </a:rPr>
                  <a:t> (and a local minimum at </a:t>
                </a:r>
                <a:r>
                  <a:rPr lang="en-IN" sz="2400">
                    <a:solidFill>
                      <a:srgbClr val="111827"/>
                    </a:solidFill>
                    <a:latin typeface="Cambria Math" panose="02040503050406030204" pitchFamily="18" charset="0"/>
                  </a:rPr>
                  <a:t>$x=\frac{11}{3}$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$f(1)=1-7+11+2=7$</a:t>
                </a:r>
                <a:r>
                  <a:rPr sz="2400" b="0">
                    <a:solidFill>
                      <a:srgbClr val="111827"/>
                    </a:solidFill>
                    <a:latin typeface="Arial"/>
                  </a:rPr>
                  <a:t>, so the local maximum value is </a:t>
                </a:r>
                <a:r>
                  <a:rPr lang="en-IN" sz="2400">
                    <a:solidFill>
                      <a:srgbClr val="111827"/>
                    </a:solidFill>
                    <a:latin typeface="Cambria Math" panose="02040503050406030204" pitchFamily="18" charset="0"/>
                  </a:rPr>
                  <a:t>$7$</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7</a:t>
            </a:r>
            <a:endParaRPr sz="2800">
              <a:solidFill>
                <a:srgbClr val="15803D"/>
              </a:solidFill>
            </a:endParaRP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Local maxima of </a:t>
                </a:r>
                <a14:m>
                  <m:oMath xmlns:m="http://schemas.openxmlformats.org/officeDocument/2006/math">
                    <m:r>
                      <a:rPr lang="en-IN" sz="2400" i="1">
                        <a:solidFill>
                          <a:srgbClr val="78350F"/>
                        </a:solidFill>
                        <a:latin typeface="Cambria Math" panose="02040503050406030204" pitchFamily="18" charset="0"/>
                      </a:rPr>
                      <m:t>𝑓</m:t>
                    </m:r>
                  </m:oMath>
                </a14:m>
                <a:r>
                  <a:rPr sz="2400" b="0">
                    <a:solidFill>
                      <a:srgbClr val="78350F"/>
                    </a:solidFill>
                    <a:latin typeface="Arial"/>
                  </a:rPr>
                  <a:t> and of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𝑔</m:t>
                    </m:r>
                  </m:oMath>
                </a14:m>
                <a:r>
                  <a:rPr sz="2400" b="0">
                    <a:solidFill>
                      <a:srgbClr val="78350F"/>
                    </a:solidFill>
                    <a:latin typeface="Arial"/>
                  </a:rPr>
                  <a:t> coincide as values because </a:t>
                </a:r>
                <a14:m>
                  <m:oMath xmlns:m="http://schemas.openxmlformats.org/officeDocument/2006/math">
                    <m:r>
                      <a:rPr lang="en-IN" sz="2400" i="1">
                        <a:solidFill>
                          <a:srgbClr val="78350F"/>
                        </a:solidFill>
                        <a:latin typeface="Cambria Math" panose="02040503050406030204" pitchFamily="18" charset="0"/>
                      </a:rPr>
                      <m:t>𝑔</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sup>
                    </m:sSup>
                  </m:oMath>
                </a14:m>
                <a:r>
                  <a:rPr sz="2400" b="0">
                    <a:solidFill>
                      <a:srgbClr val="78350F"/>
                    </a:solidFill>
                    <a:latin typeface="Arial"/>
                  </a:rPr>
                  <a:t> is a decreasing bijection of </a:t>
                </a:r>
                <a14:m>
                  <m:oMath xmlns:m="http://schemas.openxmlformats.org/officeDocument/2006/math">
                    <m:r>
                      <m:rPr>
                        <m:scr m:val="double-struck"/>
                        <m:sty m:val="p"/>
                      </m:rPr>
                      <a:rPr lang="en-IN" sz="2400">
                        <a:solidFill>
                          <a:srgbClr val="78350F"/>
                        </a:solidFill>
                        <a:latin typeface="Cambria Math" panose="02040503050406030204" pitchFamily="18" charset="0"/>
                      </a:rPr>
                      <m:t>R</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Local maxima of </a:t>
                </a:r>
                <a:r>
                  <a:rPr lang="en-IN" sz="2400">
                    <a:solidFill>
                      <a:srgbClr val="78350F"/>
                    </a:solidFill>
                    <a:latin typeface="Cambria Math" panose="02040503050406030204" pitchFamily="18" charset="0"/>
                  </a:rPr>
                  <a:t>$f$</a:t>
                </a:r>
                <a:r>
                  <a:rPr sz="2400" b="0">
                    <a:solidFill>
                      <a:srgbClr val="78350F"/>
                    </a:solidFill>
                    <a:latin typeface="Arial"/>
                  </a:rPr>
                  <a:t> and of </a:t>
                </a:r>
                <a:r>
                  <a:rPr lang="en-IN" sz="2400">
                    <a:solidFill>
                      <a:srgbClr val="78350F"/>
                    </a:solidFill>
                    <a:latin typeface="Cambria Math" panose="02040503050406030204" pitchFamily="18" charset="0"/>
                  </a:rPr>
                  <a:t>$f\circ g$</a:t>
                </a:r>
                <a:r>
                  <a:rPr sz="2400" b="0">
                    <a:solidFill>
                      <a:srgbClr val="78350F"/>
                    </a:solidFill>
                    <a:latin typeface="Arial"/>
                  </a:rPr>
                  <a:t> coincide as values because </a:t>
                </a:r>
                <a:r>
                  <a:rPr lang="en-IN" sz="2400">
                    <a:solidFill>
                      <a:srgbClr val="78350F"/>
                    </a:solidFill>
                    <a:latin typeface="Cambria Math" panose="02040503050406030204" pitchFamily="18" charset="0"/>
                  </a:rPr>
                  <a:t>$g(x)=2-x^{1/3}$</a:t>
                </a:r>
                <a:r>
                  <a:rPr sz="2400" b="0">
                    <a:solidFill>
                      <a:srgbClr val="78350F"/>
                    </a:solidFill>
                    <a:latin typeface="Arial"/>
                  </a:rPr>
                  <a:t> is a decreasing bijection of </a:t>
                </a:r>
                <a:r>
                  <a:rPr lang="en-IN" sz="2400">
                    <a:solidFill>
                      <a:srgbClr val="78350F"/>
                    </a:solidFill>
                    <a:latin typeface="Cambria Math" panose="02040503050406030204" pitchFamily="18" charset="0"/>
                  </a:rPr>
                  <a:t>$\mathbb R$</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oMath>
                </a14:m>
                <a:r>
                  <a:rPr sz="2400" b="0">
                    <a:solidFill>
                      <a:srgbClr val="111827"/>
                    </a:solidFill>
                    <a:latin typeface="Arial"/>
                  </a:rPr>
                  <a:t> runs over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 does.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is a bijection of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onto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𝐻</m:t>
                    </m:r>
                  </m:oMath>
                </a14:m>
                <a:r>
                  <a:rPr sz="2400" b="0">
                    <a:solidFill>
                      <a:srgbClr val="111827"/>
                    </a:solidFill>
                    <a:latin typeface="Arial"/>
                  </a:rPr>
                  <a:t> take the same set of values and their local maxima values coincide (a decreasing homeomorphism swaps left and right but preserves local maxima).</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𝐻</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zero 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$H(t)=f(g(x))$</a:t>
                </a:r>
                <a:r>
                  <a:rPr sz="2400" b="0">
                    <a:solidFill>
                      <a:srgbClr val="111827"/>
                    </a:solidFill>
                    <a:latin typeface="Arial"/>
                  </a:rPr>
                  <a:t> with </a:t>
                </a:r>
                <a:r>
                  <a:rPr lang="en-IN" sz="2400">
                    <a:solidFill>
                      <a:srgbClr val="111827"/>
                    </a:solidFill>
                    <a:latin typeface="Cambria Math" panose="02040503050406030204" pitchFamily="18" charset="0"/>
                  </a:rPr>
                  <a:t>$t=x^{1/3}$</a:t>
                </a:r>
                <a:r>
                  <a:rPr sz="2400" b="0">
                    <a:solidFill>
                      <a:srgbClr val="111827"/>
                    </a:solidFill>
                    <a:latin typeface="Arial"/>
                  </a:rPr>
                  <a:t>: </a:t>
                </a:r>
                <a:r>
                  <a:rPr lang="en-IN" sz="2400">
                    <a:solidFill>
                      <a:srgbClr val="111827"/>
                    </a:solidFill>
                    <a:latin typeface="Cambria Math" panose="02040503050406030204" pitchFamily="18" charset="0"/>
                  </a:rPr>
                  <a:t>$H(t)=4-t^3+5t-t^2$</a:t>
                </a:r>
                <a:r>
                  <a:rPr sz="2400" b="0">
                    <a:solidFill>
                      <a:srgbClr val="111827"/>
                    </a:solidFill>
                    <a:latin typeface="Arial"/>
                  </a:rPr>
                  <a:t>, and </a:t>
                </a:r>
                <a:r>
                  <a:rPr lang="en-IN" sz="2400">
                    <a:solidFill>
                      <a:srgbClr val="111827"/>
                    </a:solidFill>
                    <a:latin typeface="Cambria Math" panose="02040503050406030204" pitchFamily="18" charset="0"/>
                  </a:rPr>
                  <a:t>$g=2-t$</a:t>
                </a:r>
                <a:r>
                  <a:rPr sz="2400" b="0">
                    <a:solidFill>
                      <a:srgbClr val="111827"/>
                    </a:solidFill>
                    <a:latin typeface="Arial"/>
                  </a:rPr>
                  <a:t> runs over </a:t>
                </a:r>
                <a:r>
                  <a:rPr lang="en-IN" sz="2400">
                    <a:solidFill>
                      <a:srgbClr val="111827"/>
                    </a:solidFill>
                    <a:latin typeface="Cambria Math" panose="02040503050406030204" pitchFamily="18" charset="0"/>
                  </a:rPr>
                  <a:t>$\mathbb R$</a:t>
                </a:r>
                <a:r>
                  <a:rPr sz="2400" b="0">
                    <a:solidFill>
                      <a:srgbClr val="111827"/>
                    </a:solidFill>
                    <a:latin typeface="Arial"/>
                  </a:rPr>
                  <a:t> as </a:t>
                </a:r>
                <a:r>
                  <a:rPr lang="en-IN" sz="2400">
                    <a:solidFill>
                      <a:srgbClr val="111827"/>
                    </a:solidFill>
                    <a:latin typeface="Cambria Math" panose="02040503050406030204" pitchFamily="18" charset="0"/>
                  </a:rPr>
                  <a:t>$t$</a:t>
                </a:r>
                <a:r>
                  <a:rPr sz="2400" b="0">
                    <a:solidFill>
                      <a:srgbClr val="111827"/>
                    </a:solidFill>
                    <a:latin typeface="Arial"/>
                  </a:rPr>
                  <a:t> does.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a:t>
                </a:r>
                <a:r>
                  <a:rPr sz="2400" b="0">
                    <a:solidFill>
                      <a:srgbClr val="111827"/>
                    </a:solidFill>
                    <a:latin typeface="Arial"/>
                  </a:rPr>
                  <a:t> is a bijection of </a:t>
                </a:r>
                <a:r>
                  <a:rPr lang="en-IN" sz="2400">
                    <a:solidFill>
                      <a:srgbClr val="111827"/>
                    </a:solidFill>
                    <a:latin typeface="Cambria Math" panose="02040503050406030204" pitchFamily="18" charset="0"/>
                  </a:rPr>
                  <a:t>$\mathbb R$</a:t>
                </a:r>
                <a:r>
                  <a:rPr sz="2400" b="0">
                    <a:solidFill>
                      <a:srgbClr val="111827"/>
                    </a:solidFill>
                    <a:latin typeface="Arial"/>
                  </a:rPr>
                  <a:t> onto </a:t>
                </a:r>
                <a:r>
                  <a:rPr lang="en-IN" sz="2400">
                    <a:solidFill>
                      <a:srgbClr val="111827"/>
                    </a:solidFill>
                    <a:latin typeface="Cambria Math" panose="02040503050406030204" pitchFamily="18" charset="0"/>
                  </a:rPr>
                  <a:t>$\mathbb R$</a:t>
                </a:r>
                <a:r>
                  <a:rPr sz="2400" b="0">
                    <a:solidFill>
                      <a:srgbClr val="111827"/>
                    </a:solidFill>
                    <a:latin typeface="Arial"/>
                  </a:rPr>
                  <a:t>, so </a:t>
                </a:r>
                <a:r>
                  <a:rPr lang="en-IN" sz="2400">
                    <a:solidFill>
                      <a:srgbClr val="111827"/>
                    </a:solidFill>
                    <a:latin typeface="Cambria Math" panose="02040503050406030204" pitchFamily="18" charset="0"/>
                  </a:rPr>
                  <a:t>$f$</a:t>
                </a:r>
                <a:r>
                  <a:rPr sz="2400" b="0">
                    <a:solidFill>
                      <a:srgbClr val="111827"/>
                    </a:solidFill>
                    <a:latin typeface="Arial"/>
                  </a:rPr>
                  <a:t> and </a:t>
                </a:r>
                <a:r>
                  <a:rPr lang="en-IN" sz="2400">
                    <a:solidFill>
                      <a:srgbClr val="111827"/>
                    </a:solidFill>
                    <a:latin typeface="Cambria Math" panose="02040503050406030204" pitchFamily="18" charset="0"/>
                  </a:rPr>
                  <a:t>$H$</a:t>
                </a:r>
                <a:r>
                  <a:rPr sz="2400" b="0">
                    <a:solidFill>
                      <a:srgbClr val="111827"/>
                    </a:solidFill>
                    <a:latin typeface="Arial"/>
                  </a:rPr>
                  <a:t> take the same set of values and their local maxima values coincide (a decreasing homeomorphism swaps left and right but preserves local maxima).</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$H'(t)=-3t^2-2t+5=-(3t+5)(t-1)$</a:t>
                </a:r>
                <a:r>
                  <a:rPr sz="2400" b="0">
                    <a:solidFill>
                      <a:srgbClr val="111827"/>
                    </a:solidFill>
                    <a:latin typeface="Arial"/>
                  </a:rPr>
                  <a:t>, zero at </a:t>
                </a:r>
                <a:r>
                  <a:rPr lang="en-IN" sz="2400">
                    <a:solidFill>
                      <a:srgbClr val="111827"/>
                    </a:solidFill>
                    <a:latin typeface="Cambria Math" panose="02040503050406030204" pitchFamily="18" charset="0"/>
                  </a:rPr>
                  <a:t>$t=1$</a:t>
                </a:r>
                <a:r>
                  <a:rPr sz="2400" b="0">
                    <a:solidFill>
                      <a:srgbClr val="111827"/>
                    </a:solidFill>
                    <a:latin typeface="Arial"/>
                  </a:rPr>
                  <a:t> and </a:t>
                </a:r>
                <a:r>
                  <a:rPr lang="en-IN" sz="2400">
                    <a:solidFill>
                      <a:srgbClr val="111827"/>
                    </a:solidFill>
                    <a:latin typeface="Cambria Math" panose="02040503050406030204" pitchFamily="18" charset="0"/>
                  </a:rPr>
                  <a:t>$t=-\frac{5}{3}$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𝐻</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𝐻</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(local maximum), </a:t>
                </a:r>
                <a14:m>
                  <m:oMath xmlns:m="http://schemas.openxmlformats.org/officeDocument/2006/math">
                    <m:sSup>
                      <m:e>
                        <m:r>
                          <a:rPr lang="en-IN" sz="2400" i="1">
                            <a:solidFill>
                              <a:srgbClr val="111827"/>
                            </a:solidFill>
                            <a:latin typeface="Cambria Math" panose="02040503050406030204" pitchFamily="18" charset="0"/>
                          </a:rPr>
                          <m:t>𝐻</m:t>
                        </m:r>
                      </m:e>
                      <m:sup>
                        <m:r>
                          <m:rPr>
                            <m:sty m:val="p"/>
                          </m:rPr>
                          <a:rPr lang="en-IN" sz="2400">
                            <a:solidFill>
                              <a:srgbClr val="111827"/>
                            </a:solidFill>
                            <a:latin typeface="Cambria Math" panose="02040503050406030204" pitchFamily="18" charset="0"/>
                          </a:rPr>
                          <m:t>″</m:t>
                        </m:r>
                      </m:sup>
                    </m:sSup>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(local minimum).</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so the local maximum value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$H''(t)=-6t-2$</a:t>
                </a:r>
                <a:r>
                  <a:rPr sz="2400" b="0">
                    <a:solidFill>
                      <a:srgbClr val="111827"/>
                    </a:solidFill>
                    <a:latin typeface="Arial"/>
                  </a:rPr>
                  <a:t>: </a:t>
                </a:r>
                <a:r>
                  <a:rPr lang="en-IN" sz="2400">
                    <a:solidFill>
                      <a:srgbClr val="111827"/>
                    </a:solidFill>
                    <a:latin typeface="Cambria Math" panose="02040503050406030204" pitchFamily="18" charset="0"/>
                  </a:rPr>
                  <a:t>$H''(1)=-8&lt;0$</a:t>
                </a:r>
                <a:r>
                  <a:rPr sz="2400" b="0">
                    <a:solidFill>
                      <a:srgbClr val="111827"/>
                    </a:solidFill>
                    <a:latin typeface="Arial"/>
                  </a:rPr>
                  <a:t> (local maximum), </a:t>
                </a:r>
                <a:r>
                  <a:rPr lang="en-IN" sz="2400">
                    <a:solidFill>
                      <a:srgbClr val="111827"/>
                    </a:solidFill>
                    <a:latin typeface="Cambria Math" panose="02040503050406030204" pitchFamily="18" charset="0"/>
                  </a:rPr>
                  <a:t>$H''\left(-\frac{5}{3}\right)=8&gt;0$</a:t>
                </a:r>
                <a:r>
                  <a:rPr sz="2400" b="0">
                    <a:solidFill>
                      <a:srgbClr val="111827"/>
                    </a:solidFill>
                    <a:latin typeface="Arial"/>
                  </a:rPr>
                  <a:t> (local minimum).</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$H(1)=-1-1+5+4=7$</a:t>
                </a:r>
                <a:r>
                  <a:rPr sz="2400" b="0">
                    <a:solidFill>
                      <a:srgbClr val="111827"/>
                    </a:solidFill>
                    <a:latin typeface="Arial"/>
                  </a:rPr>
                  <a:t>, so the local maximum value of </a:t>
                </a:r>
                <a:r>
                  <a:rPr lang="en-IN" sz="2400">
                    <a:solidFill>
                      <a:srgbClr val="111827"/>
                    </a:solidFill>
                    <a:latin typeface="Cambria Math" panose="02040503050406030204" pitchFamily="18" charset="0"/>
                  </a:rPr>
                  <a:t>$f$</a:t>
                </a:r>
                <a:r>
                  <a:rPr sz="2400" b="0">
                    <a:solidFill>
                      <a:srgbClr val="111827"/>
                    </a:solidFill>
                    <a:latin typeface="Arial"/>
                  </a:rPr>
                  <a:t> is </a:t>
                </a:r>
                <a:r>
                  <a:rPr lang="en-IN" sz="2400">
                    <a:solidFill>
                      <a:srgbClr val="111827"/>
                    </a:solidFill>
                    <a:latin typeface="Cambria Math" panose="02040503050406030204" pitchFamily="18" charset="0"/>
                  </a:rPr>
                  <a:t>$7$</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7</a:t>
            </a:r>
            <a:endParaRPr sz="2800">
              <a:solidFill>
                <a:srgbClr val="15803D"/>
              </a:solidFill>
            </a:endParaRP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given and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is invertible, substitute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to get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explicitly.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is a continuous strictly monotone bijection of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local extreme values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oMath>
                </a14:m>
                <a:r>
                  <a:rPr sz="2400" b="0">
                    <a:solidFill>
                      <a:srgbClr val="111827"/>
                    </a:solidFill>
                    <a:latin typeface="Arial"/>
                  </a:rPr>
                  <a:t> are the same.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Cubic </a:t>
                </a:r>
                <a14:m>
                  <m:oMath xmlns:m="http://schemas.openxmlformats.org/officeDocument/2006/math">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and two critical points: local maximum at the smaller one, local minimum at the larger.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has roots with sum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14</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and product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matching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$f(g(x))$</a:t>
                </a:r>
                <a:r>
                  <a:rPr sz="2400" b="0">
                    <a:solidFill>
                      <a:srgbClr val="111827"/>
                    </a:solidFill>
                    <a:latin typeface="Arial"/>
                  </a:rPr>
                  <a:t> is given and </a:t>
                </a:r>
                <a:r>
                  <a:rPr lang="en-IN" sz="2400">
                    <a:solidFill>
                      <a:srgbClr val="111827"/>
                    </a:solidFill>
                    <a:latin typeface="Cambria Math" panose="02040503050406030204" pitchFamily="18" charset="0"/>
                  </a:rPr>
                  <a:t>$g$</a:t>
                </a:r>
                <a:r>
                  <a:rPr sz="2400" b="0">
                    <a:solidFill>
                      <a:srgbClr val="111827"/>
                    </a:solidFill>
                    <a:latin typeface="Arial"/>
                  </a:rPr>
                  <a:t> is invertible, substitute </a:t>
                </a:r>
                <a:r>
                  <a:rPr lang="en-IN" sz="2400">
                    <a:solidFill>
                      <a:srgbClr val="111827"/>
                    </a:solidFill>
                    <a:latin typeface="Cambria Math" panose="02040503050406030204" pitchFamily="18" charset="0"/>
                  </a:rPr>
                  <a:t>$u=g(x)$</a:t>
                </a:r>
                <a:r>
                  <a:rPr sz="2400" b="0">
                    <a:solidFill>
                      <a:srgbClr val="111827"/>
                    </a:solidFill>
                    <a:latin typeface="Arial"/>
                  </a:rPr>
                  <a:t> (so </a:t>
                </a:r>
                <a:r>
                  <a:rPr lang="en-IN" sz="2400">
                    <a:solidFill>
                      <a:srgbClr val="111827"/>
                    </a:solidFill>
                    <a:latin typeface="Cambria Math" panose="02040503050406030204" pitchFamily="18" charset="0"/>
                  </a:rPr>
                  <a:t>$x=g^{-1}(u)$</a:t>
                </a:r>
                <a:r>
                  <a:rPr sz="2400" b="0">
                    <a:solidFill>
                      <a:srgbClr val="111827"/>
                    </a:solidFill>
                    <a:latin typeface="Arial"/>
                  </a:rPr>
                  <a:t>) to get </a:t>
                </a:r>
                <a:r>
                  <a:rPr lang="en-IN" sz="2400">
                    <a:solidFill>
                      <a:srgbClr val="111827"/>
                    </a:solidFill>
                    <a:latin typeface="Cambria Math" panose="02040503050406030204" pitchFamily="18" charset="0"/>
                  </a:rPr>
                  <a:t>$f(u)$</a:t>
                </a:r>
                <a:r>
                  <a:rPr sz="2400" b="0">
                    <a:solidFill>
                      <a:srgbClr val="111827"/>
                    </a:solidFill>
                    <a:latin typeface="Arial"/>
                  </a:rPr>
                  <a:t> explicitly.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$g$</a:t>
                </a:r>
                <a:r>
                  <a:rPr sz="2400" b="0">
                    <a:solidFill>
                      <a:srgbClr val="111827"/>
                    </a:solidFill>
                    <a:latin typeface="Arial"/>
                  </a:rPr>
                  <a:t> is a continuous strictly monotone bijection of </a:t>
                </a:r>
                <a:r>
                  <a:rPr lang="en-IN" sz="2400">
                    <a:solidFill>
                      <a:srgbClr val="111827"/>
                    </a:solidFill>
                    <a:latin typeface="Cambria Math" panose="02040503050406030204" pitchFamily="18" charset="0"/>
                  </a:rPr>
                  <a:t>$\mathbb R$</a:t>
                </a:r>
                <a:r>
                  <a:rPr sz="2400" b="0">
                    <a:solidFill>
                      <a:srgbClr val="111827"/>
                    </a:solidFill>
                    <a:latin typeface="Arial"/>
                  </a:rPr>
                  <a:t>, local extreme values of </a:t>
                </a:r>
                <a:r>
                  <a:rPr lang="en-IN" sz="2400">
                    <a:solidFill>
                      <a:srgbClr val="111827"/>
                    </a:solidFill>
                    <a:latin typeface="Cambria Math" panose="02040503050406030204" pitchFamily="18" charset="0"/>
                  </a:rPr>
                  <a:t>$f$</a:t>
                </a:r>
                <a:r>
                  <a:rPr sz="2400" b="0">
                    <a:solidFill>
                      <a:srgbClr val="111827"/>
                    </a:solidFill>
                    <a:latin typeface="Arial"/>
                  </a:rPr>
                  <a:t> and </a:t>
                </a:r>
                <a:r>
                  <a:rPr lang="en-IN" sz="2400">
                    <a:solidFill>
                      <a:srgbClr val="111827"/>
                    </a:solidFill>
                    <a:latin typeface="Cambria Math" panose="02040503050406030204" pitchFamily="18" charset="0"/>
                  </a:rPr>
                  <a:t>$f\circ g$</a:t>
                </a:r>
                <a:r>
                  <a:rPr sz="2400" b="0">
                    <a:solidFill>
                      <a:srgbClr val="111827"/>
                    </a:solidFill>
                    <a:latin typeface="Arial"/>
                  </a:rPr>
                  <a:t> are the same.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Cubic </a:t>
                </a:r>
                <a:r>
                  <a:rPr lang="en-IN" sz="2400">
                    <a:solidFill>
                      <a:srgbClr val="111827"/>
                    </a:solidFill>
                    <a:latin typeface="Cambria Math" panose="02040503050406030204" pitchFamily="18" charset="0"/>
                  </a:rPr>
                  <a:t>$ax^3+bx^2+cx+d$</a:t>
                </a:r>
                <a:r>
                  <a:rPr sz="2400" b="0">
                    <a:solidFill>
                      <a:srgbClr val="111827"/>
                    </a:solidFill>
                    <a:latin typeface="Arial"/>
                  </a:rPr>
                  <a:t> with </a:t>
                </a:r>
                <a:r>
                  <a:rPr lang="en-IN" sz="2400">
                    <a:solidFill>
                      <a:srgbClr val="111827"/>
                    </a:solidFill>
                    <a:latin typeface="Cambria Math" panose="02040503050406030204" pitchFamily="18" charset="0"/>
                  </a:rPr>
                  <a:t>$a&gt;0$</a:t>
                </a:r>
                <a:r>
                  <a:rPr sz="2400" b="0">
                    <a:solidFill>
                      <a:srgbClr val="111827"/>
                    </a:solidFill>
                    <a:latin typeface="Arial"/>
                  </a:rPr>
                  <a:t> and two critical points: local maximum at the smaller one, local minimum at the larger.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$f'(x)=3x^2-14x+11$</a:t>
                </a:r>
                <a:r>
                  <a:rPr sz="2400" b="0">
                    <a:solidFill>
                      <a:srgbClr val="111827"/>
                    </a:solidFill>
                    <a:latin typeface="Arial"/>
                  </a:rPr>
                  <a:t> has roots with sum </a:t>
                </a:r>
                <a:r>
                  <a:rPr lang="en-IN" sz="2400">
                    <a:solidFill>
                      <a:srgbClr val="111827"/>
                    </a:solidFill>
                    <a:latin typeface="Cambria Math" panose="02040503050406030204" pitchFamily="18" charset="0"/>
                  </a:rPr>
                  <a:t>$\frac{14}{3}$</a:t>
                </a:r>
                <a:r>
                  <a:rPr sz="2400" b="0">
                    <a:solidFill>
                      <a:srgbClr val="111827"/>
                    </a:solidFill>
                    <a:latin typeface="Arial"/>
                  </a:rPr>
                  <a:t> and product </a:t>
                </a:r>
                <a:r>
                  <a:rPr lang="en-IN" sz="2400">
                    <a:solidFill>
                      <a:srgbClr val="111827"/>
                    </a:solidFill>
                    <a:latin typeface="Cambria Math" panose="02040503050406030204" pitchFamily="18" charset="0"/>
                  </a:rPr>
                  <a:t>$\frac{11}{3}$</a:t>
                </a:r>
                <a:r>
                  <a:rPr sz="2400" b="0">
                    <a:solidFill>
                      <a:srgbClr val="111827"/>
                    </a:solidFill>
                    <a:latin typeface="Arial"/>
                  </a:rPr>
                  <a:t>, matching </a:t>
                </a:r>
                <a:r>
                  <a:rPr lang="en-IN" sz="2400">
                    <a:solidFill>
                      <a:srgbClr val="111827"/>
                    </a:solidFill>
                    <a:latin typeface="Cambria Math" panose="02040503050406030204" pitchFamily="18" charset="0"/>
                  </a:rPr>
                  <a:t>$1$</a:t>
                </a:r>
                <a:r>
                  <a:rPr sz="2400" b="0">
                    <a:solidFill>
                      <a:srgbClr val="111827"/>
                    </a:solidFill>
                    <a:latin typeface="Arial"/>
                  </a:rPr>
                  <a:t> and </a:t>
                </a:r>
                <a:r>
                  <a:rPr lang="en-IN" sz="2400">
                    <a:solidFill>
                      <a:srgbClr val="111827"/>
                    </a:solidFill>
                    <a:latin typeface="Cambria Math" panose="02040503050406030204" pitchFamily="18" charset="0"/>
                  </a:rPr>
                  <a:t>$\frac{11}{3}$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4599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 function which is differentiable as well as increasing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then the number of solution of equation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den>
                    </m:f>
                  </m:oMath>
                </a14:m>
                <a:r>
                  <a:rPr sz="2400" b="0">
                    <a:solidFill>
                      <a:srgbClr val="111827"/>
                    </a:solidFill>
                    <a:latin typeface="Arial"/>
                  </a:rPr>
                  <a:t> is ________.</a:t>
                </a:r>
                <a:endParaRPr sz="2400">
                  <a:solidFill>
                    <a:srgbClr val="111827"/>
                  </a:solidFill>
                </a:endParaRPr>
              </a:p>
            </p:txBody>
          </p:sp>
        </mc:Choice>
        <mc:Fallback>
          <p:sp>
            <p:nvSpPr>
              <p:cNvPr id="4" name="Rounded Rectangle 3"/>
              <p:cNvSpPr/>
              <p:nvPr/>
            </p:nvSpPr>
            <p:spPr>
              <a:xfrm>
                <a:off x="731520" y="1280160"/>
                <a:ext cx="10725912" cy="174599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$f:[2,\infty)\to R$</a:t>
                </a:r>
                <a:r>
                  <a:rPr sz="2400" b="0">
                    <a:solidFill>
                      <a:srgbClr val="111827"/>
                    </a:solidFill>
                    <a:latin typeface="Arial"/>
                  </a:rPr>
                  <a:t>; </a:t>
                </a:r>
                <a:r>
                  <a:rPr lang="en-IN" sz="2400">
                    <a:solidFill>
                      <a:srgbClr val="111827"/>
                    </a:solidFill>
                    <a:latin typeface="Cambria Math" panose="02040503050406030204" pitchFamily="18" charset="0"/>
                  </a:rPr>
                  <a:t>$f(x)$</a:t>
                </a:r>
                <a:r>
                  <a:rPr sz="2400" b="0">
                    <a:solidFill>
                      <a:srgbClr val="111827"/>
                    </a:solidFill>
                    <a:latin typeface="Arial"/>
                  </a:rPr>
                  <a:t> is a function which is differentiable as well as increasing and </a:t>
                </a:r>
                <a:r>
                  <a:rPr lang="en-IN" sz="2400">
                    <a:solidFill>
                      <a:srgbClr val="111827"/>
                    </a:solidFill>
                    <a:latin typeface="Cambria Math" panose="02040503050406030204" pitchFamily="18" charset="0"/>
                  </a:rPr>
                  <a:t>$f(2)=2$</a:t>
                </a:r>
                <a:r>
                  <a:rPr sz="2400" b="0">
                    <a:solidFill>
                      <a:srgbClr val="111827"/>
                    </a:solidFill>
                    <a:latin typeface="Arial"/>
                  </a:rPr>
                  <a:t>; then the number of solution of equation </a:t>
                </a:r>
                <a:r>
                  <a:rPr lang="en-IN" sz="2400">
                    <a:solidFill>
                      <a:srgbClr val="111827"/>
                    </a:solidFill>
                    <a:latin typeface="Cambria Math" panose="02040503050406030204" pitchFamily="18" charset="0"/>
                  </a:rPr>
                  <a:t>$f(f(x))=\frac{4}{x^2-4x+6}$</a:t>
                </a:r>
                <a:r>
                  <a:rPr sz="2400" b="0">
                    <a:solidFill>
                      <a:srgbClr val="111827"/>
                    </a:solidFill>
                    <a:latin typeface="Arial"/>
                  </a:rPr>
                  <a:t> is ________.</a:t>
                </a:r>
                <a:endParaRPr sz="2400">
                  <a:solidFill>
                    <a:srgbClr val="111827"/>
                  </a:solidFill>
                </a:endParaRPr>
              </a:p>
            </p:txBody>
          </p:sp>
        </mc:Fallback>
      </mc:AlternateContent>
      <p:sp>
        <p:nvSpPr>
          <p:cNvPr id="5" name="Rectangle 4"/>
          <p:cNvSpPr/>
          <p:nvPr/>
        </p:nvSpPr>
        <p:spPr>
          <a:xfrm>
            <a:off x="731520" y="3254755"/>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Integer Type(0 to 9)(4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Composite functions and monotonicity, Number of solutions of an equation using monotonicity</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An increasing left side and a decreasing right side meet at most once, and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already works.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An increasing left side and a decreasing right side meet at most once, and </a:t>
                </a:r>
                <a:r>
                  <a:rPr lang="en-IN" sz="2400">
                    <a:solidFill>
                      <a:srgbClr val="78350F"/>
                    </a:solidFill>
                    <a:latin typeface="Cambria Math" panose="02040503050406030204" pitchFamily="18" charset="0"/>
                  </a:rPr>
                  <a:t>$x=2$</a:t>
                </a:r>
                <a:r>
                  <a:rPr sz="2400" b="0">
                    <a:solidFill>
                      <a:srgbClr val="78350F"/>
                    </a:solidFill>
                    <a:latin typeface="Arial"/>
                  </a:rPr>
                  <a:t> already works.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increasing with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thus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defined and is also an increasing function.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den>
                    </m:f>
                  </m:oMath>
                </a14:m>
                <a:r>
                  <a:rPr sz="2400" b="0">
                    <a:solidFill>
                      <a:srgbClr val="111827"/>
                    </a:solidFill>
                    <a:latin typeface="Arial"/>
                  </a:rPr>
                  <a:t>. Then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is a decreasing function.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 increasing function and a decreasing function intersect at most once: at most one solution.</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a:t>
                </a:r>
                <a:r>
                  <a:rPr sz="2400" b="0">
                    <a:solidFill>
                      <a:srgbClr val="111827"/>
                    </a:solidFill>
                    <a:latin typeface="Arial"/>
                  </a:rPr>
                  <a:t> is increasing with </a:t>
                </a:r>
                <a:r>
                  <a:rPr lang="en-IN" sz="2400">
                    <a:solidFill>
                      <a:srgbClr val="111827"/>
                    </a:solidFill>
                    <a:latin typeface="Cambria Math" panose="02040503050406030204" pitchFamily="18" charset="0"/>
                  </a:rPr>
                  <a:t>$f(2)=2$</a:t>
                </a:r>
                <a:r>
                  <a:rPr sz="2400" b="0">
                    <a:solidFill>
                      <a:srgbClr val="111827"/>
                    </a:solidFill>
                    <a:latin typeface="Arial"/>
                  </a:rPr>
                  <a:t>, so </a:t>
                </a:r>
                <a:r>
                  <a:rPr lang="en-IN" sz="2400">
                    <a:solidFill>
                      <a:srgbClr val="111827"/>
                    </a:solidFill>
                    <a:latin typeface="Cambria Math" panose="02040503050406030204" pitchFamily="18" charset="0"/>
                  </a:rPr>
                  <a:t>$f(x)\ge2$</a:t>
                </a:r>
                <a:r>
                  <a:rPr sz="2400" b="0">
                    <a:solidFill>
                      <a:srgbClr val="111827"/>
                    </a:solidFill>
                    <a:latin typeface="Arial"/>
                  </a:rPr>
                  <a:t> for </a:t>
                </a:r>
                <a:r>
                  <a:rPr lang="en-IN" sz="2400">
                    <a:solidFill>
                      <a:srgbClr val="111827"/>
                    </a:solidFill>
                    <a:latin typeface="Cambria Math" panose="02040503050406030204" pitchFamily="18" charset="0"/>
                  </a:rPr>
                  <a:t>$x\ge2$</a:t>
                </a:r>
                <a:r>
                  <a:rPr sz="2400" b="0">
                    <a:solidFill>
                      <a:srgbClr val="111827"/>
                    </a:solidFill>
                    <a:latin typeface="Arial"/>
                  </a:rPr>
                  <a:t>; thus </a:t>
                </a:r>
                <a:r>
                  <a:rPr lang="en-IN" sz="2400">
                    <a:solidFill>
                      <a:srgbClr val="111827"/>
                    </a:solidFill>
                    <a:latin typeface="Cambria Math" panose="02040503050406030204" pitchFamily="18" charset="0"/>
                  </a:rPr>
                  <a:t>$f(f(x))$</a:t>
                </a:r>
                <a:r>
                  <a:rPr sz="2400" b="0">
                    <a:solidFill>
                      <a:srgbClr val="111827"/>
                    </a:solidFill>
                    <a:latin typeface="Arial"/>
                  </a:rPr>
                  <a:t> is defined and is also an increasing function.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$y=\frac{4}{x^2-4x+6}$</a:t>
                </a:r>
                <a:r>
                  <a:rPr sz="2400" b="0">
                    <a:solidFill>
                      <a:srgbClr val="111827"/>
                    </a:solidFill>
                    <a:latin typeface="Arial"/>
                  </a:rPr>
                  <a:t>. Then </a:t>
                </a:r>
                <a:r>
                  <a:rPr lang="en-IN" sz="2400">
                    <a:solidFill>
                      <a:srgbClr val="111827"/>
                    </a:solidFill>
                    <a:latin typeface="Cambria Math" panose="02040503050406030204" pitchFamily="18" charset="0"/>
                  </a:rPr>
                  <a:t>$\frac{dy}{dx}=-\frac{4(2x-4)}{(x^2-4x+6)^2}=-\frac{8(x-2)}{(x^2-4x+6)^2}\le0$</a:t>
                </a:r>
                <a:r>
                  <a:rPr sz="2400" b="0">
                    <a:solidFill>
                      <a:srgbClr val="111827"/>
                    </a:solidFill>
                    <a:latin typeface="Arial"/>
                  </a:rPr>
                  <a:t> for </a:t>
                </a:r>
                <a:r>
                  <a:rPr lang="en-IN" sz="2400">
                    <a:solidFill>
                      <a:srgbClr val="111827"/>
                    </a:solidFill>
                    <a:latin typeface="Cambria Math" panose="02040503050406030204" pitchFamily="18" charset="0"/>
                  </a:rPr>
                  <a:t>$x\ge2$</a:t>
                </a:r>
                <a:r>
                  <a:rPr sz="2400" b="0">
                    <a:solidFill>
                      <a:srgbClr val="111827"/>
                    </a:solidFill>
                    <a:latin typeface="Arial"/>
                  </a:rPr>
                  <a:t>, so </a:t>
                </a:r>
                <a:r>
                  <a:rPr lang="en-IN" sz="2400">
                    <a:solidFill>
                      <a:srgbClr val="111827"/>
                    </a:solidFill>
                    <a:latin typeface="Cambria Math" panose="02040503050406030204" pitchFamily="18" charset="0"/>
                  </a:rPr>
                  <a:t>$y$</a:t>
                </a:r>
                <a:r>
                  <a:rPr sz="2400" b="0">
                    <a:solidFill>
                      <a:srgbClr val="111827"/>
                    </a:solidFill>
                    <a:latin typeface="Arial"/>
                  </a:rPr>
                  <a:t> is a decreasing function.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 increasing function and a decreasing function intersect at most once: at most one solution.</a:t>
                </a:r>
                <a:endParaRPr sz="2400">
                  <a:solidFill>
                    <a:srgbClr val="111827"/>
                  </a:solidFill>
                </a:endParaRPr>
              </a:p>
            </p:txBody>
          </p:sp>
        </mc:Fallback>
      </mc:AlternateContent>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is a solution: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there is exactly one solution.</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$x=2$</a:t>
                </a:r>
                <a:r>
                  <a:rPr sz="2400" b="0">
                    <a:solidFill>
                      <a:srgbClr val="111827"/>
                    </a:solidFill>
                    <a:latin typeface="Arial"/>
                  </a:rPr>
                  <a:t> is a solution: </a:t>
                </a:r>
                <a:r>
                  <a:rPr lang="en-IN" sz="2400">
                    <a:solidFill>
                      <a:srgbClr val="111827"/>
                    </a:solidFill>
                    <a:latin typeface="Cambria Math" panose="02040503050406030204" pitchFamily="18" charset="0"/>
                  </a:rPr>
                  <a:t>$f(f(2))=f(2)=2$</a:t>
                </a:r>
                <a:r>
                  <a:rPr sz="2400" b="0">
                    <a:solidFill>
                      <a:srgbClr val="111827"/>
                    </a:solidFill>
                    <a:latin typeface="Arial"/>
                  </a:rPr>
                  <a:t> and </a:t>
                </a:r>
                <a:r>
                  <a:rPr lang="en-IN" sz="2400">
                    <a:solidFill>
                      <a:srgbClr val="111827"/>
                    </a:solidFill>
                    <a:latin typeface="Cambria Math" panose="02040503050406030204" pitchFamily="18" charset="0"/>
                  </a:rPr>
                  <a:t>$\frac{4}{4-8+6}=2$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there is exactly one solution.</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a:t>
            </a:r>
            <a:endParaRPr sz="2800">
              <a:solidFill>
                <a:srgbClr val="15803D"/>
              </a:solidFill>
            </a:endParaRP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For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&gt;</m:t>
                    </m:r>
                    <m:r>
                      <a:rPr lang="en-IN" sz="2400" i="1">
                        <a:solidFill>
                          <a:srgbClr val="78350F"/>
                        </a:solidFill>
                        <a:latin typeface="Cambria Math" panose="02040503050406030204" pitchFamily="18" charset="0"/>
                      </a:rPr>
                      <m:t>2</m:t>
                    </m:r>
                  </m:oMath>
                </a14:m>
                <a:r>
                  <a:rPr sz="2400" b="0">
                    <a:solidFill>
                      <a:srgbClr val="78350F"/>
                    </a:solidFill>
                    <a:latin typeface="Arial"/>
                  </a:rPr>
                  <a:t> compare the two sides with the number </a:t>
                </a:r>
                <a14:m>
                  <m:oMath xmlns:m="http://schemas.openxmlformats.org/officeDocument/2006/math">
                    <m:r>
                      <a:rPr lang="en-IN" sz="2400" i="1">
                        <a:solidFill>
                          <a:srgbClr val="78350F"/>
                        </a:solidFill>
                        <a:latin typeface="Cambria Math" panose="02040503050406030204" pitchFamily="18" charset="0"/>
                      </a:rPr>
                      <m:t>2</m:t>
                    </m:r>
                  </m:oMath>
                </a14:m>
                <a:r>
                  <a:rPr sz="2400" b="0">
                    <a:solidFill>
                      <a:srgbClr val="78350F"/>
                    </a:solidFill>
                    <a:latin typeface="Arial"/>
                  </a:rPr>
                  <a:t>: the left side is at least </a:t>
                </a:r>
                <a14:m>
                  <m:oMath xmlns:m="http://schemas.openxmlformats.org/officeDocument/2006/math">
                    <m:r>
                      <a:rPr lang="en-IN" sz="2400" i="1">
                        <a:solidFill>
                          <a:srgbClr val="78350F"/>
                        </a:solidFill>
                        <a:latin typeface="Cambria Math" panose="02040503050406030204" pitchFamily="18" charset="0"/>
                      </a:rPr>
                      <m:t>2</m:t>
                    </m:r>
                  </m:oMath>
                </a14:m>
                <a:r>
                  <a:rPr sz="2400" b="0">
                    <a:solidFill>
                      <a:srgbClr val="78350F"/>
                    </a:solidFill>
                    <a:latin typeface="Arial"/>
                  </a:rPr>
                  <a:t>, the right side is below </a:t>
                </a:r>
                <a14:m>
                  <m:oMath xmlns:m="http://schemas.openxmlformats.org/officeDocument/2006/math">
                    <m:r>
                      <a:rPr lang="en-IN" sz="2400" i="1">
                        <a:solidFill>
                          <a:srgbClr val="78350F"/>
                        </a:solidFill>
                        <a:latin typeface="Cambria Math" panose="02040503050406030204" pitchFamily="18" charset="0"/>
                      </a:rPr>
                      <m:t>2</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For </a:t>
                </a:r>
                <a:r>
                  <a:rPr lang="en-IN" sz="2400">
                    <a:solidFill>
                      <a:srgbClr val="78350F"/>
                    </a:solidFill>
                    <a:latin typeface="Cambria Math" panose="02040503050406030204" pitchFamily="18" charset="0"/>
                  </a:rPr>
                  <a:t>$x&gt;2$</a:t>
                </a:r>
                <a:r>
                  <a:rPr sz="2400" b="0">
                    <a:solidFill>
                      <a:srgbClr val="78350F"/>
                    </a:solidFill>
                    <a:latin typeface="Arial"/>
                  </a:rPr>
                  <a:t> compare the two sides with the number </a:t>
                </a:r>
                <a:r>
                  <a:rPr lang="en-IN" sz="2400">
                    <a:solidFill>
                      <a:srgbClr val="78350F"/>
                    </a:solidFill>
                    <a:latin typeface="Cambria Math" panose="02040503050406030204" pitchFamily="18" charset="0"/>
                  </a:rPr>
                  <a:t>$2$</a:t>
                </a:r>
                <a:r>
                  <a:rPr sz="2400" b="0">
                    <a:solidFill>
                      <a:srgbClr val="78350F"/>
                    </a:solidFill>
                    <a:latin typeface="Arial"/>
                  </a:rPr>
                  <a:t>: the left side is at least </a:t>
                </a:r>
                <a:r>
                  <a:rPr lang="en-IN" sz="2400">
                    <a:solidFill>
                      <a:srgbClr val="78350F"/>
                    </a:solidFill>
                    <a:latin typeface="Cambria Math" panose="02040503050406030204" pitchFamily="18" charset="0"/>
                  </a:rPr>
                  <a:t>$2$</a:t>
                </a:r>
                <a:r>
                  <a:rPr sz="2400" b="0">
                    <a:solidFill>
                      <a:srgbClr val="78350F"/>
                    </a:solidFill>
                    <a:latin typeface="Arial"/>
                  </a:rPr>
                  <a:t>, the right side is below </a:t>
                </a:r>
                <a:r>
                  <a:rPr lang="en-IN" sz="2400">
                    <a:solidFill>
                      <a:srgbClr val="78350F"/>
                    </a:solidFill>
                    <a:latin typeface="Cambria Math" panose="02040503050406030204" pitchFamily="18" charset="0"/>
                  </a:rPr>
                  <a:t>$2$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increasing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we have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with equality only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$f$</a:t>
                </a:r>
                <a:r>
                  <a:rPr sz="2400" b="0">
                    <a:solidFill>
                      <a:srgbClr val="111827"/>
                    </a:solidFill>
                    <a:latin typeface="Arial"/>
                  </a:rPr>
                  <a:t> is increasing and </a:t>
                </a:r>
                <a:r>
                  <a:rPr lang="en-IN" sz="2400">
                    <a:solidFill>
                      <a:srgbClr val="111827"/>
                    </a:solidFill>
                    <a:latin typeface="Cambria Math" panose="02040503050406030204" pitchFamily="18" charset="0"/>
                  </a:rPr>
                  <a:t>$f(2)=2$</a:t>
                </a:r>
                <a:r>
                  <a:rPr sz="2400" b="0">
                    <a:solidFill>
                      <a:srgbClr val="111827"/>
                    </a:solidFill>
                    <a:latin typeface="Arial"/>
                  </a:rPr>
                  <a:t>, for </a:t>
                </a:r>
                <a:r>
                  <a:rPr lang="en-IN" sz="2400">
                    <a:solidFill>
                      <a:srgbClr val="111827"/>
                    </a:solidFill>
                    <a:latin typeface="Cambria Math" panose="02040503050406030204" pitchFamily="18" charset="0"/>
                  </a:rPr>
                  <a:t>$x\ge2$</a:t>
                </a:r>
                <a:r>
                  <a:rPr sz="2400" b="0">
                    <a:solidFill>
                      <a:srgbClr val="111827"/>
                    </a:solidFill>
                    <a:latin typeface="Arial"/>
                  </a:rPr>
                  <a:t> we have </a:t>
                </a:r>
                <a:r>
                  <a:rPr lang="en-IN" sz="2400">
                    <a:solidFill>
                      <a:srgbClr val="111827"/>
                    </a:solidFill>
                    <a:latin typeface="Cambria Math" panose="02040503050406030204" pitchFamily="18" charset="0"/>
                  </a:rPr>
                  <a:t>$f(x)\ge2$</a:t>
                </a:r>
                <a:r>
                  <a:rPr sz="2400" b="0">
                    <a:solidFill>
                      <a:srgbClr val="111827"/>
                    </a:solidFill>
                    <a:latin typeface="Arial"/>
                  </a:rPr>
                  <a:t>, so </a:t>
                </a:r>
                <a:r>
                  <a:rPr lang="en-IN" sz="2400">
                    <a:solidFill>
                      <a:srgbClr val="111827"/>
                    </a:solidFill>
                    <a:latin typeface="Cambria Math" panose="02040503050406030204" pitchFamily="18" charset="0"/>
                  </a:rPr>
                  <a:t>$f(f(x))\ge f(2)=2$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$x^2-4x+6=(x-2)^2+2\ge2$</a:t>
                </a:r>
                <a:r>
                  <a:rPr sz="2400" b="0">
                    <a:solidFill>
                      <a:srgbClr val="111827"/>
                    </a:solidFill>
                    <a:latin typeface="Arial"/>
                  </a:rPr>
                  <a:t>, so </a:t>
                </a:r>
                <a:r>
                  <a:rPr lang="en-IN" sz="2400">
                    <a:solidFill>
                      <a:srgbClr val="111827"/>
                    </a:solidFill>
                    <a:latin typeface="Cambria Math" panose="02040503050406030204" pitchFamily="18" charset="0"/>
                  </a:rPr>
                  <a:t>$\frac{4}{x^2-4x+6}\le2$</a:t>
                </a:r>
                <a:r>
                  <a:rPr sz="2400" b="0">
                    <a:solidFill>
                      <a:srgbClr val="111827"/>
                    </a:solidFill>
                    <a:latin typeface="Arial"/>
                  </a:rPr>
                  <a:t>, with equality only at </a:t>
                </a:r>
                <a:r>
                  <a:rPr lang="en-IN" sz="2400">
                    <a:solidFill>
                      <a:srgbClr val="111827"/>
                    </a:solidFill>
                    <a:latin typeface="Cambria Math" panose="02040503050406030204" pitchFamily="18" charset="0"/>
                  </a:rPr>
                  <a:t>$x=2$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2</m:t>
                    </m:r>
                  </m:oMath>
                </a14:m>
                <a:r>
                  <a:rPr sz="2400" b="0">
                    <a:solidFill>
                      <a:srgbClr val="111827"/>
                    </a:solidFill>
                    <a:latin typeface="Arial"/>
                  </a:rPr>
                  <a:t>: left side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&gt;</m:t>
                    </m:r>
                  </m:oMath>
                </a14:m>
                <a:r>
                  <a:rPr sz="2400" b="0">
                    <a:solidFill>
                      <a:srgbClr val="111827"/>
                    </a:solidFill>
                    <a:latin typeface="Arial"/>
                  </a:rPr>
                  <a:t> right side, so there is no solution.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both sides equal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exactly one solution.</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$x&gt;2$</a:t>
                </a:r>
                <a:r>
                  <a:rPr sz="2400" b="0">
                    <a:solidFill>
                      <a:srgbClr val="111827"/>
                    </a:solidFill>
                    <a:latin typeface="Arial"/>
                  </a:rPr>
                  <a:t>: left side </a:t>
                </a:r>
                <a:r>
                  <a:rPr lang="en-IN" sz="2400">
                    <a:solidFill>
                      <a:srgbClr val="111827"/>
                    </a:solidFill>
                    <a:latin typeface="Cambria Math" panose="02040503050406030204" pitchFamily="18" charset="0"/>
                  </a:rPr>
                  <a:t>$\ge2&gt;$</a:t>
                </a:r>
                <a:r>
                  <a:rPr sz="2400" b="0">
                    <a:solidFill>
                      <a:srgbClr val="111827"/>
                    </a:solidFill>
                    <a:latin typeface="Arial"/>
                  </a:rPr>
                  <a:t> right side, so there is no solution.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$x=2$</a:t>
                </a:r>
                <a:r>
                  <a:rPr sz="2400" b="0">
                    <a:solidFill>
                      <a:srgbClr val="111827"/>
                    </a:solidFill>
                    <a:latin typeface="Arial"/>
                  </a:rPr>
                  <a:t> both sides equal </a:t>
                </a:r>
                <a:r>
                  <a:rPr lang="en-IN" sz="2400">
                    <a:solidFill>
                      <a:srgbClr val="111827"/>
                    </a:solidFill>
                    <a:latin typeface="Cambria Math" panose="02040503050406030204" pitchFamily="18" charset="0"/>
                  </a:rPr>
                  <a:t>$2$</a:t>
                </a:r>
                <a:r>
                  <a:rPr sz="2400" b="0">
                    <a:solidFill>
                      <a:srgbClr val="111827"/>
                    </a:solidFill>
                    <a:latin typeface="Arial"/>
                  </a:rPr>
                  <a:t> (</a:t>
                </a:r>
                <a:r>
                  <a:rPr lang="en-IN" sz="2400">
                    <a:solidFill>
                      <a:srgbClr val="111827"/>
                    </a:solidFill>
                    <a:latin typeface="Cambria Math" panose="02040503050406030204" pitchFamily="18" charset="0"/>
                  </a:rPr>
                  <a:t>$f(f(2))=f(2)=2$</a:t>
                </a:r>
                <a:r>
                  <a:rPr sz="2400" b="0">
                    <a:solidFill>
                      <a:srgbClr val="111827"/>
                    </a:solidFill>
                    <a:latin typeface="Arial"/>
                  </a:rPr>
                  <a:t>). So exactly one solution.</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a:t>
            </a:r>
            <a:endParaRPr sz="2800">
              <a:solidFill>
                <a:srgbClr val="15803D"/>
              </a:solidFill>
            </a:endParaRP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φ</m:t>
                    </m:r>
                  </m:oMath>
                </a14:m>
                <a:r>
                  <a:rPr sz="2400" b="0">
                    <a:solidFill>
                      <a:srgbClr val="111827"/>
                    </a:solidFill>
                    <a:latin typeface="Arial"/>
                  </a:rPr>
                  <a:t> is increasing and </a:t>
                </a:r>
                <a14:m>
                  <m:oMath xmlns:m="http://schemas.openxmlformats.org/officeDocument/2006/math">
                    <m:r>
                      <a:rPr lang="en-IN" sz="2400" i="1">
                        <a:solidFill>
                          <a:srgbClr val="111827"/>
                        </a:solidFill>
                        <a:latin typeface="Cambria Math" panose="02040503050406030204" pitchFamily="18" charset="0"/>
                      </a:rPr>
                      <m:t>ψ</m:t>
                    </m:r>
                  </m:oMath>
                </a14:m>
                <a:r>
                  <a:rPr sz="2400" b="0">
                    <a:solidFill>
                      <a:srgbClr val="111827"/>
                    </a:solidFill>
                    <a:latin typeface="Arial"/>
                  </a:rPr>
                  <a:t> is decreasing on an interval, </a:t>
                </a:r>
                <a14:m>
                  <m:oMath xmlns:m="http://schemas.openxmlformats.org/officeDocument/2006/math">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ψ</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has at most one solution (and exactly one if a crossing is shown).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composition of increasing functions is increasing; an increasing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keeps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show existence as well as uniqueness; a monotonic argument gives only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solution.</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completing the square gives the exact range of the right side.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$\varphi$</a:t>
                </a:r>
                <a:r>
                  <a:rPr sz="2400" b="0">
                    <a:solidFill>
                      <a:srgbClr val="111827"/>
                    </a:solidFill>
                    <a:latin typeface="Arial"/>
                  </a:rPr>
                  <a:t> is increasing and </a:t>
                </a:r>
                <a:r>
                  <a:rPr lang="en-IN" sz="2400">
                    <a:solidFill>
                      <a:srgbClr val="111827"/>
                    </a:solidFill>
                    <a:latin typeface="Cambria Math" panose="02040503050406030204" pitchFamily="18" charset="0"/>
                  </a:rPr>
                  <a:t>$\psi$</a:t>
                </a:r>
                <a:r>
                  <a:rPr sz="2400" b="0">
                    <a:solidFill>
                      <a:srgbClr val="111827"/>
                    </a:solidFill>
                    <a:latin typeface="Arial"/>
                  </a:rPr>
                  <a:t> is decreasing on an interval, </a:t>
                </a:r>
                <a:r>
                  <a:rPr lang="en-IN" sz="2400">
                    <a:solidFill>
                      <a:srgbClr val="111827"/>
                    </a:solidFill>
                    <a:latin typeface="Cambria Math" panose="02040503050406030204" pitchFamily="18" charset="0"/>
                  </a:rPr>
                  <a:t>$\varphi(x)=\psi(x)$</a:t>
                </a:r>
                <a:r>
                  <a:rPr sz="2400" b="0">
                    <a:solidFill>
                      <a:srgbClr val="111827"/>
                    </a:solidFill>
                    <a:latin typeface="Arial"/>
                  </a:rPr>
                  <a:t> has at most one solution (and exactly one if a crossing is shown).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composition of increasing functions is increasing; an increasing </a:t>
                </a:r>
                <a:r>
                  <a:rPr lang="en-IN" sz="2400">
                    <a:solidFill>
                      <a:srgbClr val="111827"/>
                    </a:solidFill>
                    <a:latin typeface="Cambria Math" panose="02040503050406030204" pitchFamily="18" charset="0"/>
                  </a:rPr>
                  <a:t>$f$</a:t>
                </a:r>
                <a:r>
                  <a:rPr sz="2400" b="0">
                    <a:solidFill>
                      <a:srgbClr val="111827"/>
                    </a:solidFill>
                    <a:latin typeface="Arial"/>
                  </a:rPr>
                  <a:t> with </a:t>
                </a:r>
                <a:r>
                  <a:rPr lang="en-IN" sz="2400">
                    <a:solidFill>
                      <a:srgbClr val="111827"/>
                    </a:solidFill>
                    <a:latin typeface="Cambria Math" panose="02040503050406030204" pitchFamily="18" charset="0"/>
                  </a:rPr>
                  <a:t>$f(a)=a$</a:t>
                </a:r>
                <a:r>
                  <a:rPr sz="2400" b="0">
                    <a:solidFill>
                      <a:srgbClr val="111827"/>
                    </a:solidFill>
                    <a:latin typeface="Arial"/>
                  </a:rPr>
                  <a:t> keeps </a:t>
                </a:r>
                <a:r>
                  <a:rPr lang="en-IN" sz="2400">
                    <a:solidFill>
                      <a:srgbClr val="111827"/>
                    </a:solidFill>
                    <a:latin typeface="Cambria Math" panose="02040503050406030204" pitchFamily="18" charset="0"/>
                  </a:rPr>
                  <a:t>$[a,\infty)$</a:t>
                </a:r>
                <a:r>
                  <a:rPr sz="2400" b="0">
                    <a:solidFill>
                      <a:srgbClr val="111827"/>
                    </a:solidFill>
                    <a:latin typeface="Arial"/>
                  </a:rPr>
                  <a:t> in </a:t>
                </a:r>
                <a:r>
                  <a:rPr lang="en-IN" sz="2400">
                    <a:solidFill>
                      <a:srgbClr val="111827"/>
                    </a:solidFill>
                    <a:latin typeface="Cambria Math" panose="02040503050406030204" pitchFamily="18" charset="0"/>
                  </a:rPr>
                  <a:t>$[a,\infty)$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show existence as well as uniqueness; a monotonic argument gives only </a:t>
                </a:r>
                <a:r>
                  <a:rPr lang="en-IN" sz="2400">
                    <a:solidFill>
                      <a:srgbClr val="111827"/>
                    </a:solidFill>
                    <a:latin typeface="Cambria Math" panose="02040503050406030204" pitchFamily="18" charset="0"/>
                  </a:rPr>
                  <a:t>$\le1$</a:t>
                </a:r>
                <a:r>
                  <a:rPr sz="2400" b="0">
                    <a:solidFill>
                      <a:srgbClr val="111827"/>
                    </a:solidFill>
                    <a:latin typeface="Arial"/>
                  </a:rPr>
                  <a:t> solution.</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$x^2-4x+6=(x-2)^2+2$</a:t>
                </a:r>
                <a:r>
                  <a:rPr sz="2400" b="0">
                    <a:solidFill>
                      <a:srgbClr val="111827"/>
                    </a:solidFill>
                    <a:latin typeface="Arial"/>
                  </a:rPr>
                  <a:t>: completing the square gives the exact range of the right side.</a:t>
                </a:r>
                <a:endParaRPr sz="2400">
                  <a:solidFill>
                    <a:srgbClr val="111827"/>
                  </a:solidFill>
                </a:endParaRPr>
              </a:p>
            </p:txBody>
          </p:sp>
        </mc:Fallback>
      </mc:AlternateContent>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86156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Raghav and his father are standing together on a circular track of radius </a:t>
                </a:r>
                <a14:m>
                  <m:oMath xmlns:m="http://schemas.openxmlformats.org/officeDocument/2006/math">
                    <m:r>
                      <a:rPr lang="en-IN" sz="2400" i="1">
                        <a:solidFill>
                          <a:srgbClr val="111827"/>
                        </a:solidFill>
                        <a:latin typeface="Cambria Math" panose="02040503050406030204" pitchFamily="18" charset="0"/>
                      </a:rPr>
                      <m:t>100</m:t>
                    </m:r>
                  </m:oMath>
                </a14:m>
                <a:r>
                  <a:rPr sz="2400" b="0">
                    <a:solidFill>
                      <a:srgbClr val="111827"/>
                    </a:solidFill>
                    <a:latin typeface="Arial"/>
                  </a:rPr>
                  <a:t> meters. When father gives a signal Raghav starts to run around the track at a speed of </a:t>
                </a:r>
                <a14:m>
                  <m:oMath xmlns:m="http://schemas.openxmlformats.org/officeDocument/2006/math">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m:t>
                    </m:r>
                  </m:oMath>
                </a14:m>
                <a:r>
                  <a:rPr sz="2400" b="0">
                    <a:solidFill>
                      <a:srgbClr val="111827"/>
                    </a:solidFill>
                    <a:latin typeface="Arial"/>
                  </a:rPr>
                  <a:t>. If the displacement of Raghav from his father is increasing at the rate of </a:t>
                </a:r>
                <a14:m>
                  <m:oMath xmlns:m="http://schemas.openxmlformats.org/officeDocument/2006/math">
                    <m:r>
                      <a:rPr lang="en-IN" sz="2400" i="1">
                        <a:solidFill>
                          <a:srgbClr val="111827"/>
                        </a:solidFill>
                        <a:latin typeface="Cambria Math" panose="02040503050406030204" pitchFamily="18" charset="0"/>
                      </a:rPr>
                      <m:t>ℓ</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m/s when Raghav has run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of the way around the track then </a:t>
                </a:r>
                <a14:m>
                  <m:oMath xmlns:m="http://schemas.openxmlformats.org/officeDocument/2006/math">
                    <m:r>
                      <a:rPr lang="en-IN" sz="2400" i="1">
                        <a:solidFill>
                          <a:srgbClr val="111827"/>
                        </a:solidFill>
                        <a:latin typeface="Cambria Math" panose="02040503050406030204" pitchFamily="18" charset="0"/>
                      </a:rPr>
                      <m:t>ℓ</m:t>
                    </m:r>
                  </m:oMath>
                </a14:m>
                <a:r>
                  <a:rPr sz="2400" b="0">
                    <a:solidFill>
                      <a:srgbClr val="111827"/>
                    </a:solidFill>
                    <a:latin typeface="Arial"/>
                  </a:rPr>
                  <a:t> is ________.</a:t>
                </a:r>
                <a:endParaRPr sz="2400">
                  <a:solidFill>
                    <a:srgbClr val="111827"/>
                  </a:solidFill>
                </a:endParaRPr>
              </a:p>
            </p:txBody>
          </p:sp>
        </mc:Choice>
        <mc:Fallback>
          <p:sp>
            <p:nvSpPr>
              <p:cNvPr id="4" name="Rounded Rectangle 3"/>
              <p:cNvSpPr/>
              <p:nvPr/>
            </p:nvSpPr>
            <p:spPr>
              <a:xfrm>
                <a:off x="731520" y="1280160"/>
                <a:ext cx="10725912" cy="286156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Raghav and his father are standing together on a circular track of radius </a:t>
                </a:r>
                <a:r>
                  <a:rPr lang="en-IN" sz="2400">
                    <a:solidFill>
                      <a:srgbClr val="111827"/>
                    </a:solidFill>
                    <a:latin typeface="Cambria Math" panose="02040503050406030204" pitchFamily="18" charset="0"/>
                  </a:rPr>
                  <a:t>$100$</a:t>
                </a:r>
                <a:r>
                  <a:rPr sz="2400" b="0">
                    <a:solidFill>
                      <a:srgbClr val="111827"/>
                    </a:solidFill>
                    <a:latin typeface="Arial"/>
                  </a:rPr>
                  <a:t> meters. When father gives a signal Raghav starts to run around the track at a speed of </a:t>
                </a:r>
                <a:r>
                  <a:rPr lang="en-IN" sz="2400">
                    <a:solidFill>
                      <a:srgbClr val="111827"/>
                    </a:solidFill>
                    <a:latin typeface="Cambria Math" panose="02040503050406030204" pitchFamily="18" charset="0"/>
                  </a:rPr>
                  <a:t>$10\,\mathrm{m/s}$</a:t>
                </a:r>
                <a:r>
                  <a:rPr sz="2400" b="0">
                    <a:solidFill>
                      <a:srgbClr val="111827"/>
                    </a:solidFill>
                    <a:latin typeface="Arial"/>
                  </a:rPr>
                  <a:t>. If the displacement of Raghav from his father is increasing at the rate of </a:t>
                </a:r>
                <a:r>
                  <a:rPr lang="en-IN" sz="2400">
                    <a:solidFill>
                      <a:srgbClr val="111827"/>
                    </a:solidFill>
                    <a:latin typeface="Cambria Math" panose="02040503050406030204" pitchFamily="18" charset="0"/>
                  </a:rPr>
                  <a:t>$\ell\sqrt2$</a:t>
                </a:r>
                <a:r>
                  <a:rPr sz="2400" b="0">
                    <a:solidFill>
                      <a:srgbClr val="111827"/>
                    </a:solidFill>
                    <a:latin typeface="Arial"/>
                  </a:rPr>
                  <a:t> m/s when Raghav has run </a:t>
                </a:r>
                <a:r>
                  <a:rPr lang="en-IN" sz="2400">
                    <a:solidFill>
                      <a:srgbClr val="111827"/>
                    </a:solidFill>
                    <a:latin typeface="Cambria Math" panose="02040503050406030204" pitchFamily="18" charset="0"/>
                  </a:rPr>
                  <a:t>$\frac{1}{4}$</a:t>
                </a:r>
                <a:r>
                  <a:rPr sz="2400" b="0">
                    <a:solidFill>
                      <a:srgbClr val="111827"/>
                    </a:solidFill>
                    <a:latin typeface="Arial"/>
                  </a:rPr>
                  <a:t> of the way around the track then </a:t>
                </a:r>
                <a:r>
                  <a:rPr lang="en-IN" sz="2400">
                    <a:solidFill>
                      <a:srgbClr val="111827"/>
                    </a:solidFill>
                    <a:latin typeface="Cambria Math" panose="02040503050406030204" pitchFamily="18" charset="0"/>
                  </a:rPr>
                  <a:t>$\ell$</a:t>
                </a:r>
                <a:r>
                  <a:rPr sz="2400" b="0">
                    <a:solidFill>
                      <a:srgbClr val="111827"/>
                    </a:solidFill>
                    <a:latin typeface="Arial"/>
                  </a:rPr>
                  <a:t> is ________.</a:t>
                </a:r>
                <a:endParaRPr sz="2400">
                  <a:solidFill>
                    <a:srgbClr val="111827"/>
                  </a:solidFill>
                </a:endParaRPr>
              </a:p>
            </p:txBody>
          </p:sp>
        </mc:Fallback>
      </mc:AlternateContent>
      <p:sp>
        <p:nvSpPr>
          <p:cNvPr id="5" name="Rectangle 4"/>
          <p:cNvSpPr/>
          <p:nvPr/>
        </p:nvSpPr>
        <p:spPr>
          <a:xfrm>
            <a:off x="731520" y="4370323"/>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Integer Type(0 to 9)(4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Rate of change: related rates on a circular path</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chord length satisfies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Sup>
                      <m:e>
                        <m:r>
                          <a:rPr lang="en-IN" sz="2400" i="1">
                            <a:solidFill>
                              <a:srgbClr val="78350F"/>
                            </a:solidFill>
                            <a:latin typeface="Cambria Math" panose="02040503050406030204" pitchFamily="18" charset="0"/>
                          </a:rPr>
                          <m:t>𝑅</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θ</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with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θ</m:t>
                        </m:r>
                      </m:e>
                    </m:acc>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𝑣</m:t>
                        </m:r>
                      </m:num>
                      <m:den>
                        <m:r>
                          <a:rPr lang="en-IN" sz="2400" i="1">
                            <a:solidFill>
                              <a:srgbClr val="78350F"/>
                            </a:solidFill>
                            <a:latin typeface="Cambria Math" panose="02040503050406030204" pitchFamily="18" charset="0"/>
                          </a:rPr>
                          <m:t>𝑅</m:t>
                        </m:r>
                      </m:den>
                    </m:f>
                  </m:oMath>
                </a14:m>
                <a:r>
                  <a:rPr sz="2400" b="0">
                    <a:solidFill>
                      <a:srgbClr val="78350F"/>
                    </a:solidFill>
                    <a:latin typeface="Arial"/>
                  </a:rPr>
                  <a:t>; differentiate and set </a:t>
                </a:r>
                <a14:m>
                  <m:oMath xmlns:m="http://schemas.openxmlformats.org/officeDocument/2006/math">
                    <m:r>
                      <a:rPr lang="en-IN" sz="2400" i="1">
                        <a:solidFill>
                          <a:srgbClr val="78350F"/>
                        </a:solidFill>
                        <a:latin typeface="Cambria Math" panose="02040503050406030204" pitchFamily="18" charset="0"/>
                      </a:rPr>
                      <m:t>θ</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π</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chord length satisfies </a:t>
                </a:r>
                <a:r>
                  <a:rPr lang="en-IN" sz="2400">
                    <a:solidFill>
                      <a:srgbClr val="78350F"/>
                    </a:solidFill>
                    <a:latin typeface="Cambria Math" panose="02040503050406030204" pitchFamily="18" charset="0"/>
                  </a:rPr>
                  <a:t>$x^2=2R^2(1-\cos\theta)$</a:t>
                </a:r>
                <a:r>
                  <a:rPr sz="2400" b="0">
                    <a:solidFill>
                      <a:srgbClr val="78350F"/>
                    </a:solidFill>
                    <a:latin typeface="Arial"/>
                  </a:rPr>
                  <a:t> with </a:t>
                </a:r>
                <a:r>
                  <a:rPr lang="en-IN" sz="2400">
                    <a:solidFill>
                      <a:srgbClr val="78350F"/>
                    </a:solidFill>
                    <a:latin typeface="Cambria Math" panose="02040503050406030204" pitchFamily="18" charset="0"/>
                  </a:rPr>
                  <a:t>$\dot\theta=\frac{v}{R}$</a:t>
                </a:r>
                <a:r>
                  <a:rPr sz="2400" b="0">
                    <a:solidFill>
                      <a:srgbClr val="78350F"/>
                    </a:solidFill>
                    <a:latin typeface="Arial"/>
                  </a:rPr>
                  <a:t>; differentiate and set </a:t>
                </a:r>
                <a:r>
                  <a:rPr lang="en-IN" sz="2400">
                    <a:solidFill>
                      <a:srgbClr val="78350F"/>
                    </a:solidFill>
                    <a:latin typeface="Cambria Math" panose="02040503050406030204" pitchFamily="18" charset="0"/>
                  </a:rPr>
                  <a:t>$\theta=\frac{\pi}{2}$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θ</m:t>
                    </m:r>
                  </m:oMath>
                </a14:m>
                <a:r>
                  <a:rPr sz="2400" b="0">
                    <a:solidFill>
                      <a:srgbClr val="111827"/>
                    </a:solidFill>
                    <a:latin typeface="Arial"/>
                  </a:rPr>
                  <a:t> be the angle at the centre between father and Raghav and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their distance apart. By the cosine rule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100</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100</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100</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Differentiate (1) with respect to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a:rPr lang="en-IN" sz="2400" i="1">
                        <a:solidFill>
                          <a:srgbClr val="111827"/>
                        </a:solidFill>
                        <a:latin typeface="Cambria Math" panose="02040503050406030204" pitchFamily="18" charset="0"/>
                      </a:rPr>
                      <m:t> </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θ</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Arc length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a:rPr lang="en-IN" sz="2400" i="1">
                        <a:solidFill>
                          <a:srgbClr val="111827"/>
                        </a:solidFill>
                        <a:latin typeface="Cambria Math" panose="02040503050406030204" pitchFamily="18" charset="0"/>
                      </a:rPr>
                      <m:t>θ</m:t>
                    </m:r>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𝑠</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θ</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oMath>
                </a14:m>
                <a:r>
                  <a:rPr sz="2400" b="0">
                    <a:solidFill>
                      <a:srgbClr val="111827"/>
                    </a:solidFill>
                    <a:latin typeface="Arial"/>
                  </a:rPr>
                  <a:t>. Since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𝑠</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θ</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10</m:t>
                        </m:r>
                      </m:den>
                    </m:f>
                  </m:oMath>
                </a14:m>
                <a:r>
                  <a:rPr sz="2400" b="0">
                    <a:solidFill>
                      <a:srgbClr val="111827"/>
                    </a:solidFill>
                    <a:latin typeface="Arial"/>
                  </a:rPr>
                  <a:t> ... (2).</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$\theta$</a:t>
                </a:r>
                <a:r>
                  <a:rPr sz="2400" b="0">
                    <a:solidFill>
                      <a:srgbClr val="111827"/>
                    </a:solidFill>
                    <a:latin typeface="Arial"/>
                  </a:rPr>
                  <a:t> be the angle at the centre between father and Raghav and </a:t>
                </a:r>
                <a:r>
                  <a:rPr lang="en-IN" sz="2400">
                    <a:solidFill>
                      <a:srgbClr val="111827"/>
                    </a:solidFill>
                    <a:latin typeface="Cambria Math" panose="02040503050406030204" pitchFamily="18" charset="0"/>
                  </a:rPr>
                  <a:t>$x$</a:t>
                </a:r>
                <a:r>
                  <a:rPr sz="2400" b="0">
                    <a:solidFill>
                      <a:srgbClr val="111827"/>
                    </a:solidFill>
                    <a:latin typeface="Arial"/>
                  </a:rPr>
                  <a:t> their distance apart. By the cosine rule </a:t>
                </a:r>
                <a:r>
                  <a:rPr lang="en-IN" sz="2400">
                    <a:solidFill>
                      <a:srgbClr val="111827"/>
                    </a:solidFill>
                    <a:latin typeface="Cambria Math" panose="02040503050406030204" pitchFamily="18" charset="0"/>
                  </a:rPr>
                  <a:t>$x^2=100^2+100^2-2(100)^2\cos\theta=2\cdot100^2\,[1-\cos\theta]$</a:t>
                </a:r>
                <a:r>
                  <a:rPr sz="2400" b="0">
                    <a:solidFill>
                      <a:srgbClr val="111827"/>
                    </a:solidFill>
                    <a:latin typeface="Arial"/>
                  </a:rPr>
                  <a:t> ...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Differentiate (1) with respect to </a:t>
                </a:r>
                <a:r>
                  <a:rPr lang="en-IN" sz="2400">
                    <a:solidFill>
                      <a:srgbClr val="111827"/>
                    </a:solidFill>
                    <a:latin typeface="Cambria Math" panose="02040503050406030204" pitchFamily="18" charset="0"/>
                  </a:rPr>
                  <a:t>$t$</a:t>
                </a:r>
                <a:r>
                  <a:rPr sz="2400" b="0">
                    <a:solidFill>
                      <a:srgbClr val="111827"/>
                    </a:solidFill>
                    <a:latin typeface="Arial"/>
                  </a:rPr>
                  <a:t>: </a:t>
                </a:r>
                <a:r>
                  <a:rPr lang="en-IN" sz="2400">
                    <a:solidFill>
                      <a:srgbClr val="111827"/>
                    </a:solidFill>
                    <a:latin typeface="Cambria Math" panose="02040503050406030204" pitchFamily="18" charset="0"/>
                  </a:rPr>
                  <a:t>$2x\frac{dx}{dt}=2\cdot10^4\sin\theta\,\frac{d\theta}{dt}$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Arc length </a:t>
                </a:r>
                <a:r>
                  <a:rPr lang="en-IN" sz="2400">
                    <a:solidFill>
                      <a:srgbClr val="111827"/>
                    </a:solidFill>
                    <a:latin typeface="Cambria Math" panose="02040503050406030204" pitchFamily="18" charset="0"/>
                  </a:rPr>
                  <a:t>$s=100\theta$</a:t>
                </a:r>
                <a:r>
                  <a:rPr sz="2400" b="0">
                    <a:solidFill>
                      <a:srgbClr val="111827"/>
                    </a:solidFill>
                    <a:latin typeface="Arial"/>
                  </a:rPr>
                  <a:t>, so </a:t>
                </a:r>
                <a:r>
                  <a:rPr lang="en-IN" sz="2400">
                    <a:solidFill>
                      <a:srgbClr val="111827"/>
                    </a:solidFill>
                    <a:latin typeface="Cambria Math" panose="02040503050406030204" pitchFamily="18" charset="0"/>
                  </a:rPr>
                  <a:t>$\frac{ds}{dt}=100\frac{d\theta}{dt}$</a:t>
                </a:r>
                <a:r>
                  <a:rPr sz="2400" b="0">
                    <a:solidFill>
                      <a:srgbClr val="111827"/>
                    </a:solidFill>
                    <a:latin typeface="Arial"/>
                  </a:rPr>
                  <a:t>. Since </a:t>
                </a:r>
                <a:r>
                  <a:rPr lang="en-IN" sz="2400">
                    <a:solidFill>
                      <a:srgbClr val="111827"/>
                    </a:solidFill>
                    <a:latin typeface="Cambria Math" panose="02040503050406030204" pitchFamily="18" charset="0"/>
                  </a:rPr>
                  <a:t>$\frac{ds}{dt}=10$</a:t>
                </a:r>
                <a:r>
                  <a:rPr sz="2400" b="0">
                    <a:solidFill>
                      <a:srgbClr val="111827"/>
                    </a:solidFill>
                    <a:latin typeface="Arial"/>
                  </a:rPr>
                  <a:t>, </a:t>
                </a:r>
                <a:r>
                  <a:rPr lang="en-IN" sz="2400">
                    <a:solidFill>
                      <a:srgbClr val="111827"/>
                    </a:solidFill>
                    <a:latin typeface="Cambria Math" panose="02040503050406030204" pitchFamily="18" charset="0"/>
                  </a:rPr>
                  <a:t>$\frac{d\theta}{dt}=\frac{1}{10}$</a:t>
                </a:r>
                <a:r>
                  <a:rPr sz="2400" b="0">
                    <a:solidFill>
                      <a:srgbClr val="111827"/>
                    </a:solidFill>
                    <a:latin typeface="Arial"/>
                  </a:rPr>
                  <a:t> ... (2).</a:t>
                </a:r>
                <a:endParaRPr sz="2400">
                  <a:solidFill>
                    <a:srgbClr val="111827"/>
                  </a:solidFill>
                </a:endParaRPr>
              </a:p>
            </p:txBody>
          </p:sp>
        </mc:Fallback>
      </mc:AlternateContent>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After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of the way,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then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4</m:t>
                        </m:r>
                      </m:sup>
                    </m:sSup>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Substituting in the derivative: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10</m:t>
                            </m:r>
                          </m:den>
                        </m:f>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2000</m:t>
                        </m:r>
                      </m:num>
                      <m:den>
                        <m:r>
                          <a:rPr lang="en-IN" sz="2400" i="1">
                            <a:solidFill>
                              <a:srgbClr val="111827"/>
                            </a:solidFill>
                            <a:latin typeface="Cambria Math" panose="02040503050406030204" pitchFamily="18" charset="0"/>
                          </a:rPr>
                          <m:t>200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m/s.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Given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ℓ</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After </a:t>
                </a:r>
                <a:r>
                  <a:rPr lang="en-IN" sz="2400">
                    <a:solidFill>
                      <a:srgbClr val="111827"/>
                    </a:solidFill>
                    <a:latin typeface="Cambria Math" panose="02040503050406030204" pitchFamily="18" charset="0"/>
                  </a:rPr>
                  <a:t>$\frac{1}{4}$</a:t>
                </a:r>
                <a:r>
                  <a:rPr sz="2400" b="0">
                    <a:solidFill>
                      <a:srgbClr val="111827"/>
                    </a:solidFill>
                    <a:latin typeface="Arial"/>
                  </a:rPr>
                  <a:t> of the way, </a:t>
                </a:r>
                <a:r>
                  <a:rPr lang="en-IN" sz="2400">
                    <a:solidFill>
                      <a:srgbClr val="111827"/>
                    </a:solidFill>
                    <a:latin typeface="Cambria Math" panose="02040503050406030204" pitchFamily="18" charset="0"/>
                  </a:rPr>
                  <a:t>$\theta=\frac{\pi}{2}$</a:t>
                </a:r>
                <a:r>
                  <a:rPr sz="2400" b="0">
                    <a:solidFill>
                      <a:srgbClr val="111827"/>
                    </a:solidFill>
                    <a:latin typeface="Arial"/>
                  </a:rPr>
                  <a:t>, and then </a:t>
                </a:r>
                <a:r>
                  <a:rPr lang="en-IN" sz="2400">
                    <a:solidFill>
                      <a:srgbClr val="111827"/>
                    </a:solidFill>
                    <a:latin typeface="Cambria Math" panose="02040503050406030204" pitchFamily="18" charset="0"/>
                  </a:rPr>
                  <a:t>$x^2=2\cdot10^4$</a:t>
                </a:r>
                <a:r>
                  <a:rPr sz="2400" b="0">
                    <a:solidFill>
                      <a:srgbClr val="111827"/>
                    </a:solidFill>
                    <a:latin typeface="Arial"/>
                  </a:rPr>
                  <a:t>, i.e. </a:t>
                </a:r>
                <a:r>
                  <a:rPr lang="en-IN" sz="2400">
                    <a:solidFill>
                      <a:srgbClr val="111827"/>
                    </a:solidFill>
                    <a:latin typeface="Cambria Math" panose="02040503050406030204" pitchFamily="18" charset="0"/>
                  </a:rPr>
                  <a:t>$x=100\sqrt2$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Substituting in the derivative: </a:t>
                </a:r>
                <a:r>
                  <a:rPr lang="en-IN" sz="2400">
                    <a:solidFill>
                      <a:srgbClr val="111827"/>
                    </a:solidFill>
                    <a:latin typeface="Cambria Math" panose="02040503050406030204" pitchFamily="18" charset="0"/>
                  </a:rPr>
                  <a:t>$\frac{dx}{dt}=\frac{2\cdot10^4\cdot1\cdot\frac{1}{10}}{2\cdot100\sqrt2}=\frac{2000}{200\sqrt2}=5\sqrt2$</a:t>
                </a:r>
                <a:r>
                  <a:rPr sz="2400" b="0">
                    <a:solidFill>
                      <a:srgbClr val="111827"/>
                    </a:solidFill>
                    <a:latin typeface="Arial"/>
                  </a:rPr>
                  <a:t> m/s.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Given </a:t>
                </a:r>
                <a:r>
                  <a:rPr lang="en-IN" sz="2400">
                    <a:solidFill>
                      <a:srgbClr val="111827"/>
                    </a:solidFill>
                    <a:latin typeface="Cambria Math" panose="02040503050406030204" pitchFamily="18" charset="0"/>
                  </a:rPr>
                  <a:t>$\frac{dx}{dt}=\ell\sqrt2$</a:t>
                </a:r>
                <a:r>
                  <a:rPr sz="2400" b="0">
                    <a:solidFill>
                      <a:srgbClr val="111827"/>
                    </a:solidFill>
                    <a:latin typeface="Arial"/>
                  </a:rPr>
                  <a:t>, so </a:t>
                </a:r>
                <a:r>
                  <a:rPr lang="en-IN" sz="2400">
                    <a:solidFill>
                      <a:srgbClr val="111827"/>
                    </a:solidFill>
                    <a:latin typeface="Cambria Math" panose="02040503050406030204" pitchFamily="18" charset="0"/>
                  </a:rPr>
                  <a:t>$\ell=5$</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5</a:t>
            </a:r>
            <a:endParaRPr sz="2800">
              <a:solidFill>
                <a:srgbClr val="15803D"/>
              </a:solidFill>
            </a:endParaRP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rate of change of the distance from a fixed point is the component of the velocity along the line to that point; the tangent-chord angle is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θ</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rate of change of the distance from a fixed point is the component of the velocity along the line to that point; the tangent-chord angle is </a:t>
                </a:r>
                <a:r>
                  <a:rPr lang="en-IN" sz="2400">
                    <a:solidFill>
                      <a:srgbClr val="78350F"/>
                    </a:solidFill>
                    <a:latin typeface="Cambria Math" panose="02040503050406030204" pitchFamily="18" charset="0"/>
                  </a:rPr>
                  <a:t>$\frac{\theta}{2}$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Distance from the father's fixed position </a:t>
                </a:r>
                <a14:m>
                  <m:oMath xmlns:m="http://schemas.openxmlformats.org/officeDocument/2006/math">
                    <m:r>
                      <a:rPr lang="en-IN" sz="2400" i="1">
                        <a:solidFill>
                          <a:srgbClr val="111827"/>
                        </a:solidFill>
                        <a:latin typeface="Cambria Math" panose="02040503050406030204" pitchFamily="18" charset="0"/>
                      </a:rPr>
                      <m:t>𝐹</m:t>
                    </m:r>
                  </m:oMath>
                </a14:m>
                <a:r>
                  <a:rPr sz="2400" b="0">
                    <a:solidFill>
                      <a:srgbClr val="111827"/>
                    </a:solidFill>
                    <a:latin typeface="Arial"/>
                  </a:rPr>
                  <a:t> to Raghav's position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𝐹</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oMath>
                </a14:m>
                <a:r>
                  <a:rPr sz="2400" b="0">
                    <a:solidFill>
                      <a:srgbClr val="111827"/>
                    </a:solidFill>
                    <a:latin typeface="Arial"/>
                  </a:rPr>
                  <a:t> where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oMath>
                </a14:m>
                <a:r>
                  <a:rPr sz="2400" b="0">
                    <a:solidFill>
                      <a:srgbClr val="111827"/>
                    </a:solidFill>
                    <a:latin typeface="Arial"/>
                  </a:rPr>
                  <a:t> is the unit vector from </a:t>
                </a:r>
                <a14:m>
                  <m:oMath xmlns:m="http://schemas.openxmlformats.org/officeDocument/2006/math">
                    <m:r>
                      <a:rPr lang="en-IN" sz="2400" i="1">
                        <a:solidFill>
                          <a:srgbClr val="111827"/>
                        </a:solidFill>
                        <a:latin typeface="Cambria Math" panose="02040503050406030204" pitchFamily="18" charset="0"/>
                      </a:rPr>
                      <m:t>𝐹</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oMath>
                </a14:m>
                <a:r>
                  <a:rPr sz="2400" b="0">
                    <a:solidFill>
                      <a:srgbClr val="111827"/>
                    </a:solidFill>
                    <a:latin typeface="Arial"/>
                  </a:rPr>
                  <a:t> is along the tangent at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and the angle between the tangent at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and the chord </a:t>
                </a:r>
                <a14:m>
                  <m:oMath xmlns:m="http://schemas.openxmlformats.org/officeDocument/2006/math">
                    <m:r>
                      <a:rPr lang="en-IN" sz="2400" i="1">
                        <a:solidFill>
                          <a:srgbClr val="111827"/>
                        </a:solidFill>
                        <a:latin typeface="Cambria Math" panose="02040503050406030204" pitchFamily="18" charset="0"/>
                      </a:rPr>
                      <m:t>𝐹</m:t>
                    </m:r>
                    <m:r>
                      <a:rPr lang="en-IN" sz="2400" i="1">
                        <a:solidFill>
                          <a:srgbClr val="111827"/>
                        </a:solidFill>
                        <a:latin typeface="Cambria Math" panose="02040503050406030204" pitchFamily="18" charset="0"/>
                      </a:rPr>
                      <m:t>𝑃</m:t>
                    </m:r>
                  </m:oMath>
                </a14:m>
                <a:r>
                  <a:rPr sz="2400" b="0">
                    <a:solidFill>
                      <a:srgbClr val="111827"/>
                    </a:solidFill>
                    <a:latin typeface="Arial"/>
                  </a:rPr>
                  <a:t> equals half the central angle (tangent-chord theorem):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θ</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Distance from the father's fixed position </a:t>
                </a:r>
                <a:r>
                  <a:rPr lang="en-IN" sz="2400">
                    <a:solidFill>
                      <a:srgbClr val="111827"/>
                    </a:solidFill>
                    <a:latin typeface="Cambria Math" panose="02040503050406030204" pitchFamily="18" charset="0"/>
                  </a:rPr>
                  <a:t>$F$</a:t>
                </a:r>
                <a:r>
                  <a:rPr sz="2400" b="0">
                    <a:solidFill>
                      <a:srgbClr val="111827"/>
                    </a:solidFill>
                    <a:latin typeface="Arial"/>
                  </a:rPr>
                  <a:t> to Raghav's position </a:t>
                </a:r>
                <a:r>
                  <a:rPr lang="en-IN" sz="2400">
                    <a:solidFill>
                      <a:srgbClr val="111827"/>
                    </a:solidFill>
                    <a:latin typeface="Cambria Math" panose="02040503050406030204" pitchFamily="18" charset="0"/>
                  </a:rPr>
                  <a:t>$P$</a:t>
                </a:r>
                <a:r>
                  <a:rPr sz="2400" b="0">
                    <a:solidFill>
                      <a:srgbClr val="111827"/>
                    </a:solidFill>
                    <a:latin typeface="Arial"/>
                  </a:rPr>
                  <a:t> is </a:t>
                </a:r>
                <a:r>
                  <a:rPr lang="en-IN" sz="2400">
                    <a:solidFill>
                      <a:srgbClr val="111827"/>
                    </a:solidFill>
                    <a:latin typeface="Cambria Math" panose="02040503050406030204" pitchFamily="18" charset="0"/>
                  </a:rPr>
                  <a:t>$x=|FP|$</a:t>
                </a:r>
                <a:r>
                  <a:rPr sz="2400" b="0">
                    <a:solidFill>
                      <a:srgbClr val="111827"/>
                    </a:solidFill>
                    <a:latin typeface="Arial"/>
                  </a:rPr>
                  <a:t>, so </a:t>
                </a:r>
                <a:r>
                  <a:rPr lang="en-IN" sz="2400">
                    <a:solidFill>
                      <a:srgbClr val="111827"/>
                    </a:solidFill>
                    <a:latin typeface="Cambria Math" panose="02040503050406030204" pitchFamily="18" charset="0"/>
                  </a:rPr>
                  <a:t>$\frac{dx}{dt}=\vec v\cdot\hat{u}$</a:t>
                </a:r>
                <a:r>
                  <a:rPr sz="2400" b="0">
                    <a:solidFill>
                      <a:srgbClr val="111827"/>
                    </a:solidFill>
                    <a:latin typeface="Arial"/>
                  </a:rPr>
                  <a:t> where </a:t>
                </a:r>
                <a:r>
                  <a:rPr lang="en-IN" sz="2400">
                    <a:solidFill>
                      <a:srgbClr val="111827"/>
                    </a:solidFill>
                    <a:latin typeface="Cambria Math" panose="02040503050406030204" pitchFamily="18" charset="0"/>
                  </a:rPr>
                  <a:t>$\hat u$</a:t>
                </a:r>
                <a:r>
                  <a:rPr sz="2400" b="0">
                    <a:solidFill>
                      <a:srgbClr val="111827"/>
                    </a:solidFill>
                    <a:latin typeface="Arial"/>
                  </a:rPr>
                  <a:t> is the unit vector from </a:t>
                </a:r>
                <a:r>
                  <a:rPr lang="en-IN" sz="2400">
                    <a:solidFill>
                      <a:srgbClr val="111827"/>
                    </a:solidFill>
                    <a:latin typeface="Cambria Math" panose="02040503050406030204" pitchFamily="18" charset="0"/>
                  </a:rPr>
                  <a:t>$F$</a:t>
                </a:r>
                <a:r>
                  <a:rPr sz="2400" b="0">
                    <a:solidFill>
                      <a:srgbClr val="111827"/>
                    </a:solidFill>
                    <a:latin typeface="Arial"/>
                  </a:rPr>
                  <a:t> to </a:t>
                </a:r>
                <a:r>
                  <a:rPr lang="en-IN" sz="2400">
                    <a:solidFill>
                      <a:srgbClr val="111827"/>
                    </a:solidFill>
                    <a:latin typeface="Cambria Math" panose="02040503050406030204" pitchFamily="18" charset="0"/>
                  </a:rPr>
                  <a:t>$P$</a:t>
                </a:r>
                <a:r>
                  <a:rPr sz="2400" b="0">
                    <a:solidFill>
                      <a:srgbClr val="111827"/>
                    </a:solidFill>
                    <a:latin typeface="Arial"/>
                  </a:rPr>
                  <a:t> and </a:t>
                </a:r>
                <a:r>
                  <a:rPr lang="en-IN" sz="2400">
                    <a:solidFill>
                      <a:srgbClr val="111827"/>
                    </a:solidFill>
                    <a:latin typeface="Cambria Math" panose="02040503050406030204" pitchFamily="18" charset="0"/>
                  </a:rPr>
                  <a:t>$|\vec v|=10$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v$</a:t>
                </a:r>
                <a:r>
                  <a:rPr sz="2400" b="0">
                    <a:solidFill>
                      <a:srgbClr val="111827"/>
                    </a:solidFill>
                    <a:latin typeface="Arial"/>
                  </a:rPr>
                  <a:t> is along the tangent at </a:t>
                </a:r>
                <a:r>
                  <a:rPr lang="en-IN" sz="2400">
                    <a:solidFill>
                      <a:srgbClr val="111827"/>
                    </a:solidFill>
                    <a:latin typeface="Cambria Math" panose="02040503050406030204" pitchFamily="18" charset="0"/>
                  </a:rPr>
                  <a:t>$P$</a:t>
                </a:r>
                <a:r>
                  <a:rPr sz="2400" b="0">
                    <a:solidFill>
                      <a:srgbClr val="111827"/>
                    </a:solidFill>
                    <a:latin typeface="Arial"/>
                  </a:rPr>
                  <a:t>, and the angle between the tangent at </a:t>
                </a:r>
                <a:r>
                  <a:rPr lang="en-IN" sz="2400">
                    <a:solidFill>
                      <a:srgbClr val="111827"/>
                    </a:solidFill>
                    <a:latin typeface="Cambria Math" panose="02040503050406030204" pitchFamily="18" charset="0"/>
                  </a:rPr>
                  <a:t>$P$</a:t>
                </a:r>
                <a:r>
                  <a:rPr sz="2400" b="0">
                    <a:solidFill>
                      <a:srgbClr val="111827"/>
                    </a:solidFill>
                    <a:latin typeface="Arial"/>
                  </a:rPr>
                  <a:t> and the chord </a:t>
                </a:r>
                <a:r>
                  <a:rPr lang="en-IN" sz="2400">
                    <a:solidFill>
                      <a:srgbClr val="111827"/>
                    </a:solidFill>
                    <a:latin typeface="Cambria Math" panose="02040503050406030204" pitchFamily="18" charset="0"/>
                  </a:rPr>
                  <a:t>$FP$</a:t>
                </a:r>
                <a:r>
                  <a:rPr sz="2400" b="0">
                    <a:solidFill>
                      <a:srgbClr val="111827"/>
                    </a:solidFill>
                    <a:latin typeface="Arial"/>
                  </a:rPr>
                  <a:t> equals half the central angle (tangent-chord theorem): </a:t>
                </a:r>
                <a:r>
                  <a:rPr lang="en-IN" sz="2400">
                    <a:solidFill>
                      <a:srgbClr val="111827"/>
                    </a:solidFill>
                    <a:latin typeface="Cambria Math" panose="02040503050406030204" pitchFamily="18" charset="0"/>
                  </a:rPr>
                  <a:t>$\frac{\theta}{2}$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θ</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After a quarter of the track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Equating with </a:t>
                </a:r>
                <a14:m>
                  <m:oMath xmlns:m="http://schemas.openxmlformats.org/officeDocument/2006/math">
                    <m:r>
                      <a:rPr lang="en-IN" sz="2400" i="1">
                        <a:solidFill>
                          <a:srgbClr val="111827"/>
                        </a:solidFill>
                        <a:latin typeface="Cambria Math" panose="02040503050406030204" pitchFamily="18" charset="0"/>
                      </a:rPr>
                      <m:t>ℓ</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$\frac{dx}{dt}=10\cos\frac{\theta}{2}$</a:t>
                </a:r>
                <a:r>
                  <a:rPr sz="2400" b="0">
                    <a:solidFill>
                      <a:srgbClr val="111827"/>
                    </a:solidFill>
                    <a:latin typeface="Arial"/>
                  </a:rPr>
                  <a:t>. After a quarter of the track </a:t>
                </a:r>
                <a:r>
                  <a:rPr lang="en-IN" sz="2400">
                    <a:solidFill>
                      <a:srgbClr val="111827"/>
                    </a:solidFill>
                    <a:latin typeface="Cambria Math" panose="02040503050406030204" pitchFamily="18" charset="0"/>
                  </a:rPr>
                  <a:t>$\theta=\frac{\pi}{2}$</a:t>
                </a:r>
                <a:r>
                  <a:rPr sz="2400" b="0">
                    <a:solidFill>
                      <a:srgbClr val="111827"/>
                    </a:solidFill>
                    <a:latin typeface="Arial"/>
                  </a:rPr>
                  <a:t>: </a:t>
                </a:r>
                <a:r>
                  <a:rPr lang="en-IN" sz="2400">
                    <a:solidFill>
                      <a:srgbClr val="111827"/>
                    </a:solidFill>
                    <a:latin typeface="Cambria Math" panose="02040503050406030204" pitchFamily="18" charset="0"/>
                  </a:rPr>
                  <a:t>$\frac{dx}{dt}=10\cos\frac{\pi}{4}=5\sqrt2$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Equating with </a:t>
                </a:r>
                <a:r>
                  <a:rPr lang="en-IN" sz="2400">
                    <a:solidFill>
                      <a:srgbClr val="111827"/>
                    </a:solidFill>
                    <a:latin typeface="Cambria Math" panose="02040503050406030204" pitchFamily="18" charset="0"/>
                  </a:rPr>
                  <a:t>$\ell\sqrt2$</a:t>
                </a:r>
                <a:r>
                  <a:rPr sz="2400" b="0">
                    <a:solidFill>
                      <a:srgbClr val="111827"/>
                    </a:solidFill>
                    <a:latin typeface="Arial"/>
                  </a:rPr>
                  <a:t> gives </a:t>
                </a:r>
                <a:r>
                  <a:rPr lang="en-IN" sz="2400">
                    <a:solidFill>
                      <a:srgbClr val="111827"/>
                    </a:solidFill>
                    <a:latin typeface="Cambria Math" panose="02040503050406030204" pitchFamily="18" charset="0"/>
                  </a:rPr>
                  <a:t>$\ell=5$</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5</a:t>
            </a:r>
            <a:endParaRPr sz="2800">
              <a:solidFill>
                <a:srgbClr val="15803D"/>
              </a:solidFill>
            </a:endParaRP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Chord of a circle of radius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subtending angle </a:t>
                </a:r>
                <a14:m>
                  <m:oMath xmlns:m="http://schemas.openxmlformats.org/officeDocument/2006/math">
                    <m:r>
                      <a:rPr lang="en-IN" sz="2400" i="1">
                        <a:solidFill>
                          <a:srgbClr val="111827"/>
                        </a:solidFill>
                        <a:latin typeface="Cambria Math" panose="02040503050406030204" pitchFamily="18" charset="0"/>
                      </a:rPr>
                      <m:t>θ</m:t>
                    </m:r>
                  </m:oMath>
                </a14:m>
                <a:r>
                  <a:rPr sz="2400" b="0">
                    <a:solidFill>
                      <a:srgbClr val="111827"/>
                    </a:solidFill>
                    <a:latin typeface="Arial"/>
                  </a:rPr>
                  <a:t> at the centre: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θ</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θ</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θ</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motion at constant speed </a:t>
                </a:r>
                <a14:m>
                  <m:oMath xmlns:m="http://schemas.openxmlformats.org/officeDocument/2006/math">
                    <m:r>
                      <a:rPr lang="en-IN" sz="2400" i="1">
                        <a:solidFill>
                          <a:srgbClr val="111827"/>
                        </a:solidFill>
                        <a:latin typeface="Cambria Math" panose="02040503050406030204" pitchFamily="18" charset="0"/>
                      </a:rPr>
                      <m:t>𝑣</m:t>
                    </m:r>
                  </m:oMath>
                </a14:m>
                <a:r>
                  <a:rPr sz="2400" b="0">
                    <a:solidFill>
                      <a:srgbClr val="111827"/>
                    </a:solidFill>
                    <a:latin typeface="Arial"/>
                  </a:rPr>
                  <a:t> on a circle,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θ</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𝑣</m:t>
                        </m:r>
                      </m:num>
                      <m:den>
                        <m:r>
                          <a:rPr lang="en-IN" sz="2400" i="1">
                            <a:solidFill>
                              <a:srgbClr val="111827"/>
                            </a:solidFill>
                            <a:latin typeface="Cambria Math" panose="02040503050406030204" pitchFamily="18" charset="0"/>
                          </a:rPr>
                          <m:t>𝑅</m:t>
                        </m:r>
                      </m:den>
                    </m:f>
                  </m:oMath>
                </a14:m>
                <a:r>
                  <a:rPr sz="2400" b="0">
                    <a:solidFill>
                      <a:srgbClr val="111827"/>
                    </a:solidFill>
                    <a:latin typeface="Arial"/>
                  </a:rPr>
                  <a:t> and the distance from the starting point changes at </a:t>
                </a:r>
                <a14:m>
                  <m:oMath xmlns:m="http://schemas.openxmlformats.org/officeDocument/2006/math">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θ</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fastest (</a:t>
                </a:r>
                <a14:m>
                  <m:oMath xmlns:m="http://schemas.openxmlformats.org/officeDocument/2006/math">
                    <m:r>
                      <a:rPr lang="en-IN" sz="2400" i="1">
                        <a:solidFill>
                          <a:srgbClr val="111827"/>
                        </a:solidFill>
                        <a:latin typeface="Cambria Math" panose="02040503050406030204" pitchFamily="18" charset="0"/>
                      </a:rPr>
                      <m:t>𝑣</m:t>
                    </m:r>
                  </m:oMath>
                </a14:m>
                <a:r>
                  <a:rPr sz="2400" b="0">
                    <a:solidFill>
                      <a:srgbClr val="111827"/>
                    </a:solidFill>
                    <a:latin typeface="Arial"/>
                  </a:rPr>
                  <a:t>) at the start, zero at the diametrically opposite point.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Chord of a circle of radius </a:t>
                </a:r>
                <a:r>
                  <a:rPr lang="en-IN" sz="2400">
                    <a:solidFill>
                      <a:srgbClr val="111827"/>
                    </a:solidFill>
                    <a:latin typeface="Cambria Math" panose="02040503050406030204" pitchFamily="18" charset="0"/>
                  </a:rPr>
                  <a:t>$R$</a:t>
                </a:r>
                <a:r>
                  <a:rPr sz="2400" b="0">
                    <a:solidFill>
                      <a:srgbClr val="111827"/>
                    </a:solidFill>
                    <a:latin typeface="Arial"/>
                  </a:rPr>
                  <a:t> subtending angle </a:t>
                </a:r>
                <a:r>
                  <a:rPr lang="en-IN" sz="2400">
                    <a:solidFill>
                      <a:srgbClr val="111827"/>
                    </a:solidFill>
                    <a:latin typeface="Cambria Math" panose="02040503050406030204" pitchFamily="18" charset="0"/>
                  </a:rPr>
                  <a:t>$\theta$</a:t>
                </a:r>
                <a:r>
                  <a:rPr sz="2400" b="0">
                    <a:solidFill>
                      <a:srgbClr val="111827"/>
                    </a:solidFill>
                    <a:latin typeface="Arial"/>
                  </a:rPr>
                  <a:t> at the centre: </a:t>
                </a:r>
                <a:r>
                  <a:rPr lang="en-IN" sz="2400">
                    <a:solidFill>
                      <a:srgbClr val="111827"/>
                    </a:solidFill>
                    <a:latin typeface="Cambria Math" panose="02040503050406030204" pitchFamily="18" charset="0"/>
                  </a:rPr>
                  <a:t>$x=2R\sin\frac{\theta}{2}$</a:t>
                </a:r>
                <a:r>
                  <a:rPr sz="2400" b="0">
                    <a:solidFill>
                      <a:srgbClr val="111827"/>
                    </a:solidFill>
                    <a:latin typeface="Arial"/>
                  </a:rPr>
                  <a:t>, so </a:t>
                </a:r>
                <a:r>
                  <a:rPr lang="en-IN" sz="2400">
                    <a:solidFill>
                      <a:srgbClr val="111827"/>
                    </a:solidFill>
                    <a:latin typeface="Cambria Math" panose="02040503050406030204" pitchFamily="18" charset="0"/>
                  </a:rPr>
                  <a:t>$\frac{dx}{dt}=R\cos\frac{\theta}{2}\cdot\frac{d\theta}{dt}$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motion at constant speed </a:t>
                </a:r>
                <a:r>
                  <a:rPr lang="en-IN" sz="2400">
                    <a:solidFill>
                      <a:srgbClr val="111827"/>
                    </a:solidFill>
                    <a:latin typeface="Cambria Math" panose="02040503050406030204" pitchFamily="18" charset="0"/>
                  </a:rPr>
                  <a:t>$v$</a:t>
                </a:r>
                <a:r>
                  <a:rPr sz="2400" b="0">
                    <a:solidFill>
                      <a:srgbClr val="111827"/>
                    </a:solidFill>
                    <a:latin typeface="Arial"/>
                  </a:rPr>
                  <a:t> on a circle, </a:t>
                </a:r>
                <a:r>
                  <a:rPr lang="en-IN" sz="2400">
                    <a:solidFill>
                      <a:srgbClr val="111827"/>
                    </a:solidFill>
                    <a:latin typeface="Cambria Math" panose="02040503050406030204" pitchFamily="18" charset="0"/>
                  </a:rPr>
                  <a:t>$\frac{d\theta}{dt}=\frac{v}{R}$</a:t>
                </a:r>
                <a:r>
                  <a:rPr sz="2400" b="0">
                    <a:solidFill>
                      <a:srgbClr val="111827"/>
                    </a:solidFill>
                    <a:latin typeface="Arial"/>
                  </a:rPr>
                  <a:t> and the distance from the starting point changes at </a:t>
                </a:r>
                <a:r>
                  <a:rPr lang="en-IN" sz="2400">
                    <a:solidFill>
                      <a:srgbClr val="111827"/>
                    </a:solidFill>
                    <a:latin typeface="Cambria Math" panose="02040503050406030204" pitchFamily="18" charset="0"/>
                  </a:rPr>
                  <a:t>$v\cos\frac{\theta}{2}$</a:t>
                </a:r>
                <a:r>
                  <a:rPr sz="2400" b="0">
                    <a:solidFill>
                      <a:srgbClr val="111827"/>
                    </a:solidFill>
                    <a:latin typeface="Arial"/>
                  </a:rPr>
                  <a:t>: fastest (</a:t>
                </a:r>
                <a:r>
                  <a:rPr lang="en-IN" sz="2400">
                    <a:solidFill>
                      <a:srgbClr val="111827"/>
                    </a:solidFill>
                    <a:latin typeface="Cambria Math" panose="02040503050406030204" pitchFamily="18" charset="0"/>
                  </a:rPr>
                  <a:t>$v$</a:t>
                </a:r>
                <a:r>
                  <a:rPr sz="2400" b="0">
                    <a:solidFill>
                      <a:srgbClr val="111827"/>
                    </a:solidFill>
                    <a:latin typeface="Arial"/>
                  </a:rPr>
                  <a:t>) at the start, zero at the diametrically opposite point.</a:t>
                </a:r>
                <a:endParaRPr sz="2400">
                  <a:solidFill>
                    <a:srgbClr val="111827"/>
                  </a:solidFill>
                </a:endParaRPr>
              </a:p>
            </p:txBody>
          </p:sp>
        </mc:Fallback>
      </mc:AlternateContent>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moves with velocity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𝐹</m:t>
                    </m:r>
                  </m:oMath>
                </a14:m>
                <a:r>
                  <a:rPr sz="2400" b="0">
                    <a:solidFill>
                      <a:srgbClr val="111827"/>
                    </a:solidFill>
                    <a:latin typeface="Arial"/>
                  </a:rPr>
                  <a:t> is fixed,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𝐹</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𝐹</m:t>
                        </m:r>
                        <m:r>
                          <a:rPr lang="en-IN" sz="2400" i="1">
                            <a:solidFill>
                              <a:srgbClr val="111827"/>
                            </a:solidFill>
                            <a:latin typeface="Cambria Math" panose="02040503050406030204" pitchFamily="18" charset="0"/>
                          </a:rPr>
                          <m:t>𝑃</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Related-rates recipe: write a relation between the quantities, differentiate with respect to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 then substitute the instant's values.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$P$</a:t>
                </a:r>
                <a:r>
                  <a:rPr sz="2400" b="0">
                    <a:solidFill>
                      <a:srgbClr val="111827"/>
                    </a:solidFill>
                    <a:latin typeface="Arial"/>
                  </a:rPr>
                  <a:t> moves with velocity </a:t>
                </a:r>
                <a:r>
                  <a:rPr lang="en-IN" sz="2400">
                    <a:solidFill>
                      <a:srgbClr val="111827"/>
                    </a:solidFill>
                    <a:latin typeface="Cambria Math" panose="02040503050406030204" pitchFamily="18" charset="0"/>
                  </a:rPr>
                  <a:t>$\vec v$</a:t>
                </a:r>
                <a:r>
                  <a:rPr sz="2400" b="0">
                    <a:solidFill>
                      <a:srgbClr val="111827"/>
                    </a:solidFill>
                    <a:latin typeface="Arial"/>
                  </a:rPr>
                  <a:t> and </a:t>
                </a:r>
                <a:r>
                  <a:rPr lang="en-IN" sz="2400">
                    <a:solidFill>
                      <a:srgbClr val="111827"/>
                    </a:solidFill>
                    <a:latin typeface="Cambria Math" panose="02040503050406030204" pitchFamily="18" charset="0"/>
                  </a:rPr>
                  <a:t>$F$</a:t>
                </a:r>
                <a:r>
                  <a:rPr sz="2400" b="0">
                    <a:solidFill>
                      <a:srgbClr val="111827"/>
                    </a:solidFill>
                    <a:latin typeface="Arial"/>
                  </a:rPr>
                  <a:t> is fixed, </a:t>
                </a:r>
                <a:r>
                  <a:rPr lang="en-IN" sz="2400">
                    <a:solidFill>
                      <a:srgbClr val="111827"/>
                    </a:solidFill>
                    <a:latin typeface="Cambria Math" panose="02040503050406030204" pitchFamily="18" charset="0"/>
                  </a:rPr>
                  <a:t>$\frac{d|FP|}{dt}=\vec v\cdot\widehat{FP}$</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Related-rates recipe: write a relation between the quantities, differentiate with respect to </a:t>
                </a:r>
                <a:r>
                  <a:rPr lang="en-IN" sz="2400">
                    <a:solidFill>
                      <a:srgbClr val="111827"/>
                    </a:solidFill>
                    <a:latin typeface="Cambria Math" panose="02040503050406030204" pitchFamily="18" charset="0"/>
                  </a:rPr>
                  <a:t>$t$</a:t>
                </a:r>
                <a:r>
                  <a:rPr sz="2400" b="0">
                    <a:solidFill>
                      <a:srgbClr val="111827"/>
                    </a:solidFill>
                    <a:latin typeface="Arial"/>
                  </a:rPr>
                  <a:t>, then substitute the instant's values.</a:t>
                </a:r>
                <a:endParaRPr sz="2400">
                  <a:solidFill>
                    <a:srgbClr val="111827"/>
                  </a:solidFill>
                </a:endParaRPr>
              </a:p>
            </p:txBody>
          </p:sp>
        </mc:Fallback>
      </mc:AlternateContent>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08101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maximum value of the expression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𝑞</m:t>
                        </m:r>
                      </m:den>
                    </m:f>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𝑞</m:t>
                    </m:r>
                  </m:oMath>
                </a14:m>
                <a:r>
                  <a:rPr sz="2400" b="0">
                    <a:solidFill>
                      <a:srgbClr val="111827"/>
                    </a:solidFill>
                    <a:latin typeface="Arial"/>
                  </a:rPr>
                  <a:t> are relatively prime positive integers. The value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For a unique value of </a:t>
                </a:r>
                <a14:m>
                  <m:oMath xmlns:m="http://schemas.openxmlformats.org/officeDocument/2006/math">
                    <m:r>
                      <a:rPr lang="en-IN" sz="2400" i="1">
                        <a:solidFill>
                          <a:srgbClr val="111827"/>
                        </a:solidFill>
                        <a:latin typeface="Cambria Math" panose="02040503050406030204" pitchFamily="18" charset="0"/>
                      </a:rPr>
                      <m:t>μ</m:t>
                    </m:r>
                  </m:oMath>
                </a14:m>
                <a:r>
                  <a:rPr sz="2400" b="0">
                    <a:solidFill>
                      <a:srgbClr val="111827"/>
                    </a:solidFill>
                    <a:latin typeface="Arial"/>
                  </a:rPr>
                  <a:t> &amp; </a:t>
                </a:r>
                <a14:m>
                  <m:oMath xmlns:m="http://schemas.openxmlformats.org/officeDocument/2006/math">
                    <m:r>
                      <a:rPr lang="en-IN" sz="2400" i="1">
                        <a:solidFill>
                          <a:srgbClr val="111827"/>
                        </a:solidFill>
                        <a:latin typeface="Cambria Math" panose="02040503050406030204" pitchFamily="18" charset="0"/>
                      </a:rPr>
                      <m:t>λ</m:t>
                    </m:r>
                  </m:oMath>
                </a14:m>
                <a:r>
                  <a:rPr sz="2400" b="0">
                    <a:solidFill>
                      <a:srgbClr val="111827"/>
                    </a:solidFill>
                    <a:latin typeface="Arial"/>
                  </a:rPr>
                  <a:t>, the system of equations given by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oMath>
                </a14:m>
                <a:r>
                  <a:rPr sz="2400" b="0">
                    <a:solidFill>
                      <a:srgbClr val="111827"/>
                    </a:solidFill>
                    <a:latin typeface="Arial"/>
                  </a:rPr>
                  <a:t> has infinitely many solutions, then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is equal to ________.</a:t>
                </a:r>
                <a:endParaRPr sz="2400">
                  <a:solidFill>
                    <a:srgbClr val="111827"/>
                  </a:solidFill>
                </a:endParaRPr>
              </a:p>
            </p:txBody>
          </p:sp>
        </mc:Choice>
        <mc:Fallback>
          <p:sp>
            <p:nvSpPr>
              <p:cNvPr id="4" name="Rounded Rectangle 3"/>
              <p:cNvSpPr/>
              <p:nvPr/>
            </p:nvSpPr>
            <p:spPr>
              <a:xfrm>
                <a:off x="731520" y="1280160"/>
                <a:ext cx="10725912" cy="308101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maximum value of the expression </a:t>
                </a:r>
                <a:r>
                  <a:rPr lang="en-IN" sz="2400">
                    <a:solidFill>
                      <a:srgbClr val="111827"/>
                    </a:solidFill>
                    <a:latin typeface="Cambria Math" panose="02040503050406030204" pitchFamily="18" charset="0"/>
                  </a:rPr>
                  <a:t>$y=\frac{x^4-x^2}{x^6+2x^3-1}$</a:t>
                </a:r>
                <a:r>
                  <a:rPr sz="2400" b="0">
                    <a:solidFill>
                      <a:srgbClr val="111827"/>
                    </a:solidFill>
                    <a:latin typeface="Arial"/>
                  </a:rPr>
                  <a:t> for </a:t>
                </a:r>
                <a:r>
                  <a:rPr lang="en-IN" sz="2400">
                    <a:solidFill>
                      <a:srgbClr val="111827"/>
                    </a:solidFill>
                    <a:latin typeface="Cambria Math" panose="02040503050406030204" pitchFamily="18" charset="0"/>
                  </a:rPr>
                  <a:t>$x&gt;1$</a:t>
                </a:r>
                <a:r>
                  <a:rPr sz="2400" b="0">
                    <a:solidFill>
                      <a:srgbClr val="111827"/>
                    </a:solidFill>
                    <a:latin typeface="Arial"/>
                  </a:rPr>
                  <a:t> is </a:t>
                </a:r>
                <a:r>
                  <a:rPr lang="en-IN" sz="2400">
                    <a:solidFill>
                      <a:srgbClr val="111827"/>
                    </a:solidFill>
                    <a:latin typeface="Cambria Math" panose="02040503050406030204" pitchFamily="18" charset="0"/>
                  </a:rPr>
                  <a:t>$\frac{p}{q}$</a:t>
                </a:r>
                <a:r>
                  <a:rPr sz="2400" b="0">
                    <a:solidFill>
                      <a:srgbClr val="111827"/>
                    </a:solidFill>
                    <a:latin typeface="Arial"/>
                  </a:rPr>
                  <a:t> where </a:t>
                </a:r>
                <a:r>
                  <a:rPr lang="en-IN" sz="2400">
                    <a:solidFill>
                      <a:srgbClr val="111827"/>
                    </a:solidFill>
                    <a:latin typeface="Cambria Math" panose="02040503050406030204" pitchFamily="18" charset="0"/>
                  </a:rPr>
                  <a:t>$p$</a:t>
                </a:r>
                <a:r>
                  <a:rPr sz="2400" b="0">
                    <a:solidFill>
                      <a:srgbClr val="111827"/>
                    </a:solidFill>
                    <a:latin typeface="Arial"/>
                  </a:rPr>
                  <a:t> and </a:t>
                </a:r>
                <a:r>
                  <a:rPr lang="en-IN" sz="2400">
                    <a:solidFill>
                      <a:srgbClr val="111827"/>
                    </a:solidFill>
                    <a:latin typeface="Cambria Math" panose="02040503050406030204" pitchFamily="18" charset="0"/>
                  </a:rPr>
                  <a:t>$q$</a:t>
                </a:r>
                <a:r>
                  <a:rPr sz="2400" b="0">
                    <a:solidFill>
                      <a:srgbClr val="111827"/>
                    </a:solidFill>
                    <a:latin typeface="Arial"/>
                  </a:rPr>
                  <a:t> are relatively prime positive integers. The value of </a:t>
                </a:r>
                <a:r>
                  <a:rPr lang="en-IN" sz="2400">
                    <a:solidFill>
                      <a:srgbClr val="111827"/>
                    </a:solidFill>
                    <a:latin typeface="Cambria Math" panose="02040503050406030204" pitchFamily="18" charset="0"/>
                  </a:rPr>
                  <a:t>$(p+q)$</a:t>
                </a:r>
                <a:r>
                  <a:rPr sz="2400" b="0">
                    <a:solidFill>
                      <a:srgbClr val="111827"/>
                    </a:solidFill>
                    <a:latin typeface="Arial"/>
                  </a:rPr>
                  <a:t> is </a:t>
                </a:r>
                <a:r>
                  <a:rPr lang="en-IN" sz="2400">
                    <a:solidFill>
                      <a:srgbClr val="111827"/>
                    </a:solidFill>
                    <a:latin typeface="Cambria Math" panose="02040503050406030204" pitchFamily="18" charset="0"/>
                  </a:rPr>
                  <a:t>$k$</a:t>
                </a:r>
                <a:r>
                  <a:rPr sz="2400" b="0">
                    <a:solidFill>
                      <a:srgbClr val="111827"/>
                    </a:solidFill>
                    <a:latin typeface="Arial"/>
                  </a:rPr>
                  <a:t>. For a unique value of </a:t>
                </a:r>
                <a:r>
                  <a:rPr lang="en-IN" sz="2400">
                    <a:solidFill>
                      <a:srgbClr val="111827"/>
                    </a:solidFill>
                    <a:latin typeface="Cambria Math" panose="02040503050406030204" pitchFamily="18" charset="0"/>
                  </a:rPr>
                  <a:t>$\mu$</a:t>
                </a:r>
                <a:r>
                  <a:rPr sz="2400" b="0">
                    <a:solidFill>
                      <a:srgbClr val="111827"/>
                    </a:solidFill>
                    <a:latin typeface="Arial"/>
                  </a:rPr>
                  <a:t> &amp; </a:t>
                </a:r>
                <a:r>
                  <a:rPr lang="en-IN" sz="2400">
                    <a:solidFill>
                      <a:srgbClr val="111827"/>
                    </a:solidFill>
                    <a:latin typeface="Cambria Math" panose="02040503050406030204" pitchFamily="18" charset="0"/>
                  </a:rPr>
                  <a:t>$\lambda$</a:t>
                </a:r>
                <a:r>
                  <a:rPr sz="2400" b="0">
                    <a:solidFill>
                      <a:srgbClr val="111827"/>
                    </a:solidFill>
                    <a:latin typeface="Arial"/>
                  </a:rPr>
                  <a:t>, the system of equations given by </a:t>
                </a:r>
                <a:r>
                  <a:rPr lang="en-IN" sz="2400">
                    <a:solidFill>
                      <a:srgbClr val="111827"/>
                    </a:solidFill>
                    <a:latin typeface="Cambria Math" panose="02040503050406030204" pitchFamily="18" charset="0"/>
                  </a:rPr>
                  <a:t>$x+y+z=6,\ x+2y+3z=14,\ 2x+5y+\lambda z=\mu$</a:t>
                </a:r>
                <a:r>
                  <a:rPr sz="2400" b="0">
                    <a:solidFill>
                      <a:srgbClr val="111827"/>
                    </a:solidFill>
                    <a:latin typeface="Arial"/>
                  </a:rPr>
                  <a:t> has infinitely many solutions, then </a:t>
                </a:r>
                <a:r>
                  <a:rPr lang="en-IN" sz="2400">
                    <a:solidFill>
                      <a:srgbClr val="111827"/>
                    </a:solidFill>
                    <a:latin typeface="Cambria Math" panose="02040503050406030204" pitchFamily="18" charset="0"/>
                  </a:rPr>
                  <a:t>$\frac{\mu-\lambda}{4}-k$</a:t>
                </a:r>
                <a:r>
                  <a:rPr sz="2400" b="0">
                    <a:solidFill>
                      <a:srgbClr val="111827"/>
                    </a:solidFill>
                    <a:latin typeface="Arial"/>
                  </a:rPr>
                  <a:t> is equal to ________.</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4589779"/>
                <a:ext cx="10725912" cy="2084831"/>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Integer Type(0 to 9)(4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Maximum of a rational function using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 and AM-GM, System of linear equations with infinitely many solutions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Choice>
        <mc:Fallback>
          <p:sp>
            <p:nvSpPr>
              <p:cNvPr id="5" name="Rectangle 4"/>
              <p:cNvSpPr/>
              <p:nvPr/>
            </p:nvSpPr>
            <p:spPr>
              <a:xfrm>
                <a:off x="731520" y="4589779"/>
                <a:ext cx="10725912" cy="2084831"/>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Integer Type(0 to 9)(4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Maximum of a rational function using </a:t>
                </a:r>
                <a:r>
                  <a:rPr lang="en-IN" sz="2400">
                    <a:solidFill>
                      <a:srgbClr val="111827"/>
                    </a:solidFill>
                    <a:latin typeface="Cambria Math" panose="02040503050406030204" pitchFamily="18" charset="0"/>
                  </a:rPr>
                  <a:t>$x-\frac{1}{x}$</a:t>
                </a:r>
                <a:r>
                  <a:rPr sz="2400" b="0">
                    <a:solidFill>
                      <a:srgbClr val="111827"/>
                    </a:solidFill>
                    <a:latin typeface="Arial"/>
                  </a:rPr>
                  <a:t> and AM-GM, System of linear equations with infinitely many solutions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Fallback>
      </mc:AlternateContent>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Dividing by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3</m:t>
                        </m:r>
                      </m:sup>
                    </m:sSup>
                  </m:oMath>
                </a14:m>
                <a:r>
                  <a:rPr sz="2400" b="0">
                    <a:solidFill>
                      <a:srgbClr val="78350F"/>
                    </a:solidFill>
                    <a:latin typeface="Arial"/>
                  </a:rPr>
                  <a:t> and putting </a:t>
                </a:r>
                <a14:m>
                  <m:oMath xmlns:m="http://schemas.openxmlformats.org/officeDocument/2006/math">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𝑥</m:t>
                        </m:r>
                      </m:den>
                    </m:f>
                  </m:oMath>
                </a14:m>
                <a:r>
                  <a:rPr sz="2400" b="0">
                    <a:solidFill>
                      <a:srgbClr val="78350F"/>
                    </a:solidFill>
                    <a:latin typeface="Arial"/>
                  </a:rPr>
                  <a:t> gives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sSup>
                          <m:e>
                            <m:r>
                              <a:rPr lang="en-IN" sz="2400" i="1">
                                <a:solidFill>
                                  <a:srgbClr val="78350F"/>
                                </a:solidFill>
                                <a:latin typeface="Cambria Math" panose="02040503050406030204" pitchFamily="18" charset="0"/>
                              </a:rPr>
                              <m:t>𝑡</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m:t>
                            </m:r>
                          </m:num>
                          <m:den>
                            <m:r>
                              <a:rPr lang="en-IN" sz="2400" i="1">
                                <a:solidFill>
                                  <a:srgbClr val="78350F"/>
                                </a:solidFill>
                                <a:latin typeface="Cambria Math" panose="02040503050406030204" pitchFamily="18" charset="0"/>
                              </a:rPr>
                              <m:t>𝑡</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den>
                    </m:f>
                  </m:oMath>
                </a14:m>
                <a:r>
                  <a:rPr sz="2400" b="0">
                    <a:solidFill>
                      <a:srgbClr val="78350F"/>
                    </a:solidFill>
                    <a:latin typeface="Arial"/>
                  </a:rPr>
                  <a:t>; AM-GM gives </a:t>
                </a:r>
                <a14:m>
                  <m:oMath xmlns:m="http://schemas.openxmlformats.org/officeDocument/2006/math">
                    <m:sSub>
                      <m:e>
                        <m:r>
                          <a:rPr lang="en-IN" sz="2400" i="1">
                            <a:solidFill>
                              <a:srgbClr val="78350F"/>
                            </a:solidFill>
                            <a:latin typeface="Cambria Math" panose="02040503050406030204" pitchFamily="18" charset="0"/>
                          </a:rPr>
                          <m:t>𝑦</m:t>
                        </m:r>
                      </m:e>
                      <m:sub>
                        <m:r>
                          <m:rPr>
                            <m:sty m:val="p"/>
                          </m:rPr>
                          <a:rPr lang="en-IN" sz="2400">
                            <a:solidFill>
                              <a:srgbClr val="78350F"/>
                            </a:solidFill>
                            <a:latin typeface="Cambria Math" panose="02040503050406030204" pitchFamily="18" charset="0"/>
                          </a:rPr>
                          <m:t>max</m:t>
                        </m:r>
                      </m:sub>
                    </m:sSub>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6</m:t>
                        </m:r>
                      </m:den>
                    </m:f>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Dividing by </a:t>
                </a:r>
                <a:r>
                  <a:rPr lang="en-IN" sz="2400">
                    <a:solidFill>
                      <a:srgbClr val="78350F"/>
                    </a:solidFill>
                    <a:latin typeface="Cambria Math" panose="02040503050406030204" pitchFamily="18" charset="0"/>
                  </a:rPr>
                  <a:t>$x^3$</a:t>
                </a:r>
                <a:r>
                  <a:rPr sz="2400" b="0">
                    <a:solidFill>
                      <a:srgbClr val="78350F"/>
                    </a:solidFill>
                    <a:latin typeface="Arial"/>
                  </a:rPr>
                  <a:t> and putting </a:t>
                </a:r>
                <a:r>
                  <a:rPr lang="en-IN" sz="2400">
                    <a:solidFill>
                      <a:srgbClr val="78350F"/>
                    </a:solidFill>
                    <a:latin typeface="Cambria Math" panose="02040503050406030204" pitchFamily="18" charset="0"/>
                  </a:rPr>
                  <a:t>$t=x-\frac{1}{x}$</a:t>
                </a:r>
                <a:r>
                  <a:rPr sz="2400" b="0">
                    <a:solidFill>
                      <a:srgbClr val="78350F"/>
                    </a:solidFill>
                    <a:latin typeface="Arial"/>
                  </a:rPr>
                  <a:t> gives </a:t>
                </a:r>
                <a:r>
                  <a:rPr lang="en-IN" sz="2400">
                    <a:solidFill>
                      <a:srgbClr val="78350F"/>
                    </a:solidFill>
                    <a:latin typeface="Cambria Math" panose="02040503050406030204" pitchFamily="18" charset="0"/>
                  </a:rPr>
                  <a:t>$y=\frac{1}{t^2+\frac{2}{t}+3}$</a:t>
                </a:r>
                <a:r>
                  <a:rPr sz="2400" b="0">
                    <a:solidFill>
                      <a:srgbClr val="78350F"/>
                    </a:solidFill>
                    <a:latin typeface="Arial"/>
                  </a:rPr>
                  <a:t>; AM-GM gives </a:t>
                </a:r>
                <a:r>
                  <a:rPr lang="en-IN" sz="2400">
                    <a:solidFill>
                      <a:srgbClr val="78350F"/>
                    </a:solidFill>
                    <a:latin typeface="Cambria Math" panose="02040503050406030204" pitchFamily="18" charset="0"/>
                  </a:rPr>
                  <a:t>$y_{\max}=\frac{1}{6}$</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Divide numerator and denominator by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Then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𝑡</m:t>
                        </m:r>
                      </m:num>
                      <m:den>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by AM-GM (equality 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Divide numerator and denominator by </a:t>
                </a:r>
                <a:r>
                  <a:rPr lang="en-IN" sz="2400">
                    <a:solidFill>
                      <a:srgbClr val="111827"/>
                    </a:solidFill>
                    <a:latin typeface="Cambria Math" panose="02040503050406030204" pitchFamily="18" charset="0"/>
                  </a:rPr>
                  <a:t>$x^3$</a:t>
                </a:r>
                <a:r>
                  <a:rPr sz="2400" b="0">
                    <a:solidFill>
                      <a:srgbClr val="111827"/>
                    </a:solidFill>
                    <a:latin typeface="Arial"/>
                  </a:rPr>
                  <a:t>: </a:t>
                </a:r>
                <a:r>
                  <a:rPr lang="en-IN" sz="2400">
                    <a:solidFill>
                      <a:srgbClr val="111827"/>
                    </a:solidFill>
                    <a:latin typeface="Cambria Math" panose="02040503050406030204" pitchFamily="18" charset="0"/>
                  </a:rPr>
                  <a:t>$y=\frac{x-\frac{1}{x}}{x^3-\frac{1}{x^3}+2}$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$t=x-\frac{1}{x}&gt;0$</a:t>
                </a:r>
                <a:r>
                  <a:rPr sz="2400" b="0">
                    <a:solidFill>
                      <a:srgbClr val="111827"/>
                    </a:solidFill>
                    <a:latin typeface="Arial"/>
                  </a:rPr>
                  <a:t> for </a:t>
                </a:r>
                <a:r>
                  <a:rPr lang="en-IN" sz="2400">
                    <a:solidFill>
                      <a:srgbClr val="111827"/>
                    </a:solidFill>
                    <a:latin typeface="Cambria Math" panose="02040503050406030204" pitchFamily="18" charset="0"/>
                  </a:rPr>
                  <a:t>$x&gt;1$</a:t>
                </a:r>
                <a:r>
                  <a:rPr sz="2400" b="0">
                    <a:solidFill>
                      <a:srgbClr val="111827"/>
                    </a:solidFill>
                    <a:latin typeface="Arial"/>
                  </a:rPr>
                  <a:t>. Then </a:t>
                </a:r>
                <a:r>
                  <a:rPr lang="en-IN" sz="2400">
                    <a:solidFill>
                      <a:srgbClr val="111827"/>
                    </a:solidFill>
                    <a:latin typeface="Cambria Math" panose="02040503050406030204" pitchFamily="18" charset="0"/>
                  </a:rPr>
                  <a:t>$x^3-\frac{1}{x^3}=t^3+3t=t(t^2+3)$</a:t>
                </a:r>
                <a:r>
                  <a:rPr sz="2400" b="0">
                    <a:solidFill>
                      <a:srgbClr val="111827"/>
                    </a:solidFill>
                    <a:latin typeface="Arial"/>
                  </a:rPr>
                  <a:t>, so </a:t>
                </a:r>
                <a:r>
                  <a:rPr lang="en-IN" sz="2400">
                    <a:solidFill>
                      <a:srgbClr val="111827"/>
                    </a:solidFill>
                    <a:latin typeface="Cambria Math" panose="02040503050406030204" pitchFamily="18" charset="0"/>
                  </a:rPr>
                  <a:t>$y=\frac{t}{t(t^2+3)+2}=\frac{t}{t^3+3t+2}=\frac{1}{t^2+\frac{2}{t}+3}$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$t^2+\frac{2}{t}=t^2+\frac{1}{t}+\frac{1}{t}\ge3$</a:t>
                </a:r>
                <a:r>
                  <a:rPr sz="2400" b="0">
                    <a:solidFill>
                      <a:srgbClr val="111827"/>
                    </a:solidFill>
                    <a:latin typeface="Arial"/>
                  </a:rPr>
                  <a:t> by AM-GM (equality at </a:t>
                </a:r>
                <a:r>
                  <a:rPr lang="en-IN" sz="2400">
                    <a:solidFill>
                      <a:srgbClr val="111827"/>
                    </a:solidFill>
                    <a:latin typeface="Cambria Math" panose="02040503050406030204" pitchFamily="18" charset="0"/>
                  </a:rPr>
                  <a:t>$t=1$</a:t>
                </a:r>
                <a:r>
                  <a:rPr sz="2400" b="0">
                    <a:solidFill>
                      <a:srgbClr val="111827"/>
                    </a:solidFill>
                    <a:latin typeface="Arial"/>
                  </a:rPr>
                  <a:t>), so </a:t>
                </a:r>
                <a:r>
                  <a:rPr lang="en-IN" sz="2400">
                    <a:solidFill>
                      <a:srgbClr val="111827"/>
                    </a:solidFill>
                    <a:latin typeface="Cambria Math" panose="02040503050406030204" pitchFamily="18" charset="0"/>
                  </a:rPr>
                  <a:t>$t^2+\frac{2}{t}+3\ge6$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𝑦</m:t>
                        </m:r>
                      </m:e>
                      <m:sub>
                        <m:r>
                          <m:rPr>
                            <m:sty m:val="p"/>
                          </m:rPr>
                          <a:rPr lang="en-IN" sz="2400">
                            <a:solidFill>
                              <a:srgbClr val="111827"/>
                            </a:solidFill>
                            <a:latin typeface="Cambria Math" panose="02040503050406030204" pitchFamily="18" charset="0"/>
                          </a:rPr>
                          <m:t>max</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(attained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the system: </a:t>
                </a: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2</m:t>
                              </m:r>
                            </m:e>
                            <m:e>
                              <m:r>
                                <a:rPr lang="en-IN" sz="2400" i="1">
                                  <a:solidFill>
                                    <a:srgbClr val="111827"/>
                                  </a:solidFill>
                                  <a:latin typeface="Cambria Math" panose="02040503050406030204" pitchFamily="18" charset="0"/>
                                </a:rPr>
                                <m:t>3</m:t>
                              </m:r>
                            </m:e>
                          </m:mr>
                          <m:mr>
                            <m:e>
                              <m:r>
                                <a:rPr lang="en-IN" sz="2400" i="1">
                                  <a:solidFill>
                                    <a:srgbClr val="111827"/>
                                  </a:solidFill>
                                  <a:latin typeface="Cambria Math" panose="02040503050406030204" pitchFamily="18" charset="0"/>
                                </a:rPr>
                                <m:t>2</m:t>
                              </m:r>
                            </m:e>
                            <m:e>
                              <m:r>
                                <a:rPr lang="en-IN" sz="2400" i="1">
                                  <a:solidFill>
                                    <a:srgbClr val="111827"/>
                                  </a:solidFill>
                                  <a:latin typeface="Cambria Math" panose="02040503050406030204" pitchFamily="18" charset="0"/>
                                </a:rPr>
                                <m:t>5</m:t>
                              </m:r>
                            </m:e>
                            <m:e>
                              <m:r>
                                <a:rPr lang="en-IN" sz="2400" i="1">
                                  <a:solidFill>
                                    <a:srgbClr val="111827"/>
                                  </a:solidFill>
                                  <a:latin typeface="Cambria Math" panose="02040503050406030204" pitchFamily="18" charset="0"/>
                                </a:rPr>
                                <m:t>λ</m:t>
                              </m:r>
                            </m:e>
                          </m:mr>
                        </m:m>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Infinitely many solutions need </a:t>
                </a: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6</m:t>
                              </m:r>
                            </m:e>
                          </m:mr>
                          <m:mr>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2</m:t>
                              </m:r>
                            </m:e>
                            <m:e>
                              <m:r>
                                <a:rPr lang="en-IN" sz="2400" i="1">
                                  <a:solidFill>
                                    <a:srgbClr val="111827"/>
                                  </a:solidFill>
                                  <a:latin typeface="Cambria Math" panose="02040503050406030204" pitchFamily="18" charset="0"/>
                                </a:rPr>
                                <m:t>14</m:t>
                              </m:r>
                            </m:e>
                          </m:mr>
                          <m:mr>
                            <m:e>
                              <m:r>
                                <a:rPr lang="en-IN" sz="2400" i="1">
                                  <a:solidFill>
                                    <a:srgbClr val="111827"/>
                                  </a:solidFill>
                                  <a:latin typeface="Cambria Math" panose="02040503050406030204" pitchFamily="18" charset="0"/>
                                </a:rPr>
                                <m:t>2</m:t>
                              </m:r>
                            </m:e>
                            <m:e>
                              <m:r>
                                <a:rPr lang="en-IN" sz="2400" i="1">
                                  <a:solidFill>
                                    <a:srgbClr val="111827"/>
                                  </a:solidFill>
                                  <a:latin typeface="Cambria Math" panose="02040503050406030204" pitchFamily="18" charset="0"/>
                                </a:rPr>
                                <m:t>5</m:t>
                              </m:r>
                            </m:e>
                            <m:e>
                              <m:r>
                                <a:rPr lang="en-IN" sz="2400" i="1">
                                  <a:solidFill>
                                    <a:srgbClr val="111827"/>
                                  </a:solidFill>
                                  <a:latin typeface="Cambria Math" panose="02040503050406030204" pitchFamily="18" charset="0"/>
                                </a:rPr>
                                <m:t>μ</m:t>
                              </m:r>
                            </m:e>
                          </m:mr>
                        </m:m>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for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 the third equation equals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(first)</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(second)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 so the system is consistent with infinitely many solutions.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$y_{\max}=\frac{1}{6}$</a:t>
                </a:r>
                <a:r>
                  <a:rPr sz="2400" b="0">
                    <a:solidFill>
                      <a:srgbClr val="111827"/>
                    </a:solidFill>
                    <a:latin typeface="Arial"/>
                  </a:rPr>
                  <a:t> (attained at </a:t>
                </a:r>
                <a:r>
                  <a:rPr lang="en-IN" sz="2400">
                    <a:solidFill>
                      <a:srgbClr val="111827"/>
                    </a:solidFill>
                    <a:latin typeface="Cambria Math" panose="02040503050406030204" pitchFamily="18" charset="0"/>
                  </a:rPr>
                  <a:t>$x-\frac{1}{x}=1$</a:t>
                </a:r>
                <a:r>
                  <a:rPr sz="2400" b="0">
                    <a:solidFill>
                      <a:srgbClr val="111827"/>
                    </a:solidFill>
                    <a:latin typeface="Arial"/>
                  </a:rPr>
                  <a:t>, i.e. </a:t>
                </a:r>
                <a:r>
                  <a:rPr lang="en-IN" sz="2400">
                    <a:solidFill>
                      <a:srgbClr val="111827"/>
                    </a:solidFill>
                    <a:latin typeface="Cambria Math" panose="02040503050406030204" pitchFamily="18" charset="0"/>
                  </a:rPr>
                  <a:t>$x=\frac{1+\sqrt5}{2}&gt;1$</a:t>
                </a:r>
                <a:r>
                  <a:rPr sz="2400" b="0">
                    <a:solidFill>
                      <a:srgbClr val="111827"/>
                    </a:solidFill>
                    <a:latin typeface="Arial"/>
                  </a:rPr>
                  <a:t>). So </a:t>
                </a:r>
                <a:r>
                  <a:rPr lang="en-IN" sz="2400">
                    <a:solidFill>
                      <a:srgbClr val="111827"/>
                    </a:solidFill>
                    <a:latin typeface="Cambria Math" panose="02040503050406030204" pitchFamily="18" charset="0"/>
                  </a:rPr>
                  <a:t>$p=1,\ q=6$</a:t>
                </a:r>
                <a:r>
                  <a:rPr sz="2400" b="0">
                    <a:solidFill>
                      <a:srgbClr val="111827"/>
                    </a:solidFill>
                    <a:latin typeface="Arial"/>
                  </a:rPr>
                  <a:t> and </a:t>
                </a:r>
                <a:r>
                  <a:rPr lang="en-IN" sz="2400">
                    <a:solidFill>
                      <a:srgbClr val="111827"/>
                    </a:solidFill>
                    <a:latin typeface="Cambria Math" panose="02040503050406030204" pitchFamily="18" charset="0"/>
                  </a:rPr>
                  <a:t>$k=7$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the system: </a:t>
                </a:r>
                <a:r>
                  <a:rPr lang="en-IN" sz="2400">
                    <a:solidFill>
                      <a:srgbClr val="111827"/>
                    </a:solidFill>
                    <a:latin typeface="Cambria Math" panose="02040503050406030204" pitchFamily="18" charset="0"/>
                  </a:rPr>
                  <a:t>$D=\begin{vmatrix}1&amp;1&amp;1\\1&amp;2&amp;3\\2&amp;5&amp;\lambda\end{vmatrix}=\lambda-8$</a:t>
                </a:r>
                <a:r>
                  <a:rPr sz="2400" b="0">
                    <a:solidFill>
                      <a:srgbClr val="111827"/>
                    </a:solidFill>
                    <a:latin typeface="Arial"/>
                  </a:rPr>
                  <a:t>. Infinitely many solutions need </a:t>
                </a:r>
                <a:r>
                  <a:rPr lang="en-IN" sz="2400">
                    <a:solidFill>
                      <a:srgbClr val="111827"/>
                    </a:solidFill>
                    <a:latin typeface="Cambria Math" panose="02040503050406030204" pitchFamily="18" charset="0"/>
                  </a:rPr>
                  <a:t>$D=0$</a:t>
                </a:r>
                <a:r>
                  <a:rPr sz="2400" b="0">
                    <a:solidFill>
                      <a:srgbClr val="111827"/>
                    </a:solidFill>
                    <a:latin typeface="Arial"/>
                  </a:rPr>
                  <a:t>, so </a:t>
                </a:r>
                <a:r>
                  <a:rPr lang="en-IN" sz="2400">
                    <a:solidFill>
                      <a:srgbClr val="111827"/>
                    </a:solidFill>
                    <a:latin typeface="Cambria Math" panose="02040503050406030204" pitchFamily="18" charset="0"/>
                  </a:rPr>
                  <a:t>$\lambda=8$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$D_3=\begin{vmatrix}1&amp;1&amp;6\\1&amp;2&amp;14\\2&amp;5&amp;\mu\end{vmatrix}=\mu-36=0$</a:t>
                </a:r>
                <a:r>
                  <a:rPr sz="2400" b="0">
                    <a:solidFill>
                      <a:srgbClr val="111827"/>
                    </a:solidFill>
                    <a:latin typeface="Arial"/>
                  </a:rPr>
                  <a:t>, so </a:t>
                </a:r>
                <a:r>
                  <a:rPr lang="en-IN" sz="2400">
                    <a:solidFill>
                      <a:srgbClr val="111827"/>
                    </a:solidFill>
                    <a:latin typeface="Cambria Math" panose="02040503050406030204" pitchFamily="18" charset="0"/>
                  </a:rPr>
                  <a:t>$\mu=36$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for </a:t>
                </a:r>
                <a:r>
                  <a:rPr lang="en-IN" sz="2400">
                    <a:solidFill>
                      <a:srgbClr val="111827"/>
                    </a:solidFill>
                    <a:latin typeface="Cambria Math" panose="02040503050406030204" pitchFamily="18" charset="0"/>
                  </a:rPr>
                  <a:t>$\lambda=8,\mu=36$</a:t>
                </a:r>
                <a:r>
                  <a:rPr sz="2400" b="0">
                    <a:solidFill>
                      <a:srgbClr val="111827"/>
                    </a:solidFill>
                    <a:latin typeface="Arial"/>
                  </a:rPr>
                  <a:t> the third equation equals </a:t>
                </a:r>
                <a:r>
                  <a:rPr lang="en-IN" sz="2400">
                    <a:solidFill>
                      <a:srgbClr val="111827"/>
                    </a:solidFill>
                    <a:latin typeface="Cambria Math" panose="02040503050406030204" pitchFamily="18" charset="0"/>
                  </a:rPr>
                  <a:t>$-1\times$</a:t>
                </a:r>
                <a:r>
                  <a:rPr sz="2400" b="0">
                    <a:solidFill>
                      <a:srgbClr val="111827"/>
                    </a:solidFill>
                    <a:latin typeface="Arial"/>
                  </a:rPr>
                  <a:t>(first)</a:t>
                </a:r>
                <a:r>
                  <a:rPr lang="en-IN" sz="2400">
                    <a:solidFill>
                      <a:srgbClr val="111827"/>
                    </a:solidFill>
                    <a:latin typeface="Cambria Math" panose="02040503050406030204" pitchFamily="18" charset="0"/>
                  </a:rPr>
                  <a:t>$+3\times$</a:t>
                </a:r>
                <a:r>
                  <a:rPr sz="2400" b="0">
                    <a:solidFill>
                      <a:srgbClr val="111827"/>
                    </a:solidFill>
                    <a:latin typeface="Arial"/>
                  </a:rPr>
                  <a:t>(second) (</a:t>
                </a:r>
                <a:r>
                  <a:rPr lang="en-IN" sz="2400">
                    <a:solidFill>
                      <a:srgbClr val="111827"/>
                    </a:solidFill>
                    <a:latin typeface="Cambria Math" panose="02040503050406030204" pitchFamily="18" charset="0"/>
                  </a:rPr>
                  <a:t>$-6+42=36$</a:t>
                </a:r>
                <a:r>
                  <a:rPr sz="2400" b="0">
                    <a:solidFill>
                      <a:srgbClr val="111827"/>
                    </a:solidFill>
                    <a:latin typeface="Arial"/>
                  </a:rPr>
                  <a:t>), so the system is consistent with infinitely many solutions.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$\frac{\mu-\lambda}{4}-k=\frac{36-8}{4}-7=7-7=0$</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0</a:t>
            </a:r>
            <a:endParaRPr sz="2800">
              <a:solidFill>
                <a:srgbClr val="15803D"/>
              </a:solidFill>
            </a:endParaRP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Maximise </a:t>
                </a:r>
                <a14:m>
                  <m:oMath xmlns:m="http://schemas.openxmlformats.org/officeDocument/2006/math">
                    <m:r>
                      <a:rPr lang="en-IN" sz="2400" i="1">
                        <a:solidFill>
                          <a:srgbClr val="78350F"/>
                        </a:solidFill>
                        <a:latin typeface="Cambria Math" panose="02040503050406030204" pitchFamily="18" charset="0"/>
                      </a:rPr>
                      <m:t>𝑔</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𝑡</m:t>
                        </m:r>
                      </m:num>
                      <m:den>
                        <m:sSup>
                          <m:e>
                            <m:r>
                              <a:rPr lang="en-IN" sz="2400" i="1">
                                <a:solidFill>
                                  <a:srgbClr val="78350F"/>
                                </a:solidFill>
                                <a:latin typeface="Cambria Math" panose="02040503050406030204" pitchFamily="18" charset="0"/>
                              </a:rPr>
                              <m:t>𝑡</m:t>
                            </m:r>
                          </m:e>
                          <m:sup>
                            <m:r>
                              <a:rPr lang="en-IN" sz="2400" i="1">
                                <a:solidFill>
                                  <a:srgbClr val="78350F"/>
                                </a:solidFill>
                                <a:latin typeface="Cambria Math" panose="02040503050406030204" pitchFamily="18" charset="0"/>
                              </a:rPr>
                              <m:t>3</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den>
                    </m:f>
                  </m:oMath>
                </a14:m>
                <a:r>
                  <a:rPr sz="2400" b="0">
                    <a:solidFill>
                      <a:srgbClr val="78350F"/>
                    </a:solidFill>
                    <a:latin typeface="Arial"/>
                  </a:rPr>
                  <a:t> by calculus, and solve the system by row reduction instead of determinants.</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Maximise </a:t>
                </a:r>
                <a:r>
                  <a:rPr lang="en-IN" sz="2400">
                    <a:solidFill>
                      <a:srgbClr val="78350F"/>
                    </a:solidFill>
                    <a:latin typeface="Cambria Math" panose="02040503050406030204" pitchFamily="18" charset="0"/>
                  </a:rPr>
                  <a:t>$g(t)=\frac{t}{t^3+3t+2}$</a:t>
                </a:r>
                <a:r>
                  <a:rPr sz="2400" b="0">
                    <a:solidFill>
                      <a:srgbClr val="78350F"/>
                    </a:solidFill>
                    <a:latin typeface="Arial"/>
                  </a:rPr>
                  <a:t> by calculus, and solve the system by row reduction instead of determinants.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 (range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𝑡</m:t>
                        </m:r>
                      </m:num>
                      <m:den>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positive for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 negative for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so the maximum is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Thus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Row reduction: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$t=x-\frac{1}{x}$</a:t>
                </a:r>
                <a:r>
                  <a:rPr sz="2400" b="0">
                    <a:solidFill>
                      <a:srgbClr val="111827"/>
                    </a:solidFill>
                    <a:latin typeface="Arial"/>
                  </a:rPr>
                  <a:t> (range </a:t>
                </a:r>
                <a:r>
                  <a:rPr lang="en-IN" sz="2400">
                    <a:solidFill>
                      <a:srgbClr val="111827"/>
                    </a:solidFill>
                    <a:latin typeface="Cambria Math" panose="02040503050406030204" pitchFamily="18" charset="0"/>
                  </a:rPr>
                  <a:t>$(0,\infty)$</a:t>
                </a:r>
                <a:r>
                  <a:rPr sz="2400" b="0">
                    <a:solidFill>
                      <a:srgbClr val="111827"/>
                    </a:solidFill>
                    <a:latin typeface="Arial"/>
                  </a:rPr>
                  <a:t> for </a:t>
                </a:r>
                <a:r>
                  <a:rPr lang="en-IN" sz="2400">
                    <a:solidFill>
                      <a:srgbClr val="111827"/>
                    </a:solidFill>
                    <a:latin typeface="Cambria Math" panose="02040503050406030204" pitchFamily="18" charset="0"/>
                  </a:rPr>
                  <a:t>$x&gt;1$</a:t>
                </a:r>
                <a:r>
                  <a:rPr sz="2400" b="0">
                    <a:solidFill>
                      <a:srgbClr val="111827"/>
                    </a:solidFill>
                    <a:latin typeface="Arial"/>
                  </a:rPr>
                  <a:t>), </a:t>
                </a:r>
                <a:r>
                  <a:rPr lang="en-IN" sz="2400">
                    <a:solidFill>
                      <a:srgbClr val="111827"/>
                    </a:solidFill>
                    <a:latin typeface="Cambria Math" panose="02040503050406030204" pitchFamily="18" charset="0"/>
                  </a:rPr>
                  <a:t>$y=g(t)=\frac{t}{t^3+3t+2}$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$g'(t)=\frac{(t^3+3t+2)-t(3t^2+3)}{(t^3+3t+2)^2}=\frac{2(1-t^3)}{(t^3+3t+2)^2}$</a:t>
                </a:r>
                <a:r>
                  <a:rPr sz="2400" b="0">
                    <a:solidFill>
                      <a:srgbClr val="111827"/>
                    </a:solidFill>
                    <a:latin typeface="Arial"/>
                  </a:rPr>
                  <a:t>: positive for </a:t>
                </a:r>
                <a:r>
                  <a:rPr lang="en-IN" sz="2400">
                    <a:solidFill>
                      <a:srgbClr val="111827"/>
                    </a:solidFill>
                    <a:latin typeface="Cambria Math" panose="02040503050406030204" pitchFamily="18" charset="0"/>
                  </a:rPr>
                  <a:t>$t&lt;1$</a:t>
                </a:r>
                <a:r>
                  <a:rPr sz="2400" b="0">
                    <a:solidFill>
                      <a:srgbClr val="111827"/>
                    </a:solidFill>
                    <a:latin typeface="Arial"/>
                  </a:rPr>
                  <a:t>, negative for </a:t>
                </a:r>
                <a:r>
                  <a:rPr lang="en-IN" sz="2400">
                    <a:solidFill>
                      <a:srgbClr val="111827"/>
                    </a:solidFill>
                    <a:latin typeface="Cambria Math" panose="02040503050406030204" pitchFamily="18" charset="0"/>
                  </a:rPr>
                  <a:t>$t&gt;1$</a:t>
                </a:r>
                <a:r>
                  <a:rPr sz="2400" b="0">
                    <a:solidFill>
                      <a:srgbClr val="111827"/>
                    </a:solidFill>
                    <a:latin typeface="Arial"/>
                  </a:rPr>
                  <a:t>, so the maximum is </a:t>
                </a:r>
                <a:r>
                  <a:rPr lang="en-IN" sz="2400">
                    <a:solidFill>
                      <a:srgbClr val="111827"/>
                    </a:solidFill>
                    <a:latin typeface="Cambria Math" panose="02040503050406030204" pitchFamily="18" charset="0"/>
                  </a:rPr>
                  <a:t>$g(1)=\frac{1}{6}$</a:t>
                </a:r>
                <a:r>
                  <a:rPr sz="2400" b="0">
                    <a:solidFill>
                      <a:srgbClr val="111827"/>
                    </a:solidFill>
                    <a:latin typeface="Arial"/>
                  </a:rPr>
                  <a:t>. Thus </a:t>
                </a:r>
                <a:r>
                  <a:rPr lang="en-IN" sz="2400">
                    <a:solidFill>
                      <a:srgbClr val="111827"/>
                    </a:solidFill>
                    <a:latin typeface="Cambria Math" panose="02040503050406030204" pitchFamily="18" charset="0"/>
                  </a:rPr>
                  <a:t>$k=1+6=7$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Row reduction: </a:t>
                </a:r>
                <a:r>
                  <a:rPr lang="en-IN" sz="2400">
                    <a:solidFill>
                      <a:srgbClr val="111827"/>
                    </a:solidFill>
                    <a:latin typeface="Cambria Math" panose="02040503050406030204" pitchFamily="18" charset="0"/>
                  </a:rPr>
                  <a:t>$R_2-R_1$</a:t>
                </a:r>
                <a:r>
                  <a:rPr sz="2400" b="0">
                    <a:solidFill>
                      <a:srgbClr val="111827"/>
                    </a:solidFill>
                    <a:latin typeface="Arial"/>
                  </a:rPr>
                  <a:t>: </a:t>
                </a:r>
                <a:r>
                  <a:rPr lang="en-IN" sz="2400">
                    <a:solidFill>
                      <a:srgbClr val="111827"/>
                    </a:solidFill>
                    <a:latin typeface="Cambria Math" panose="02040503050406030204" pitchFamily="18" charset="0"/>
                  </a:rPr>
                  <a:t>$y+2z=8$</a:t>
                </a:r>
                <a:r>
                  <a:rPr sz="2400" b="0">
                    <a:solidFill>
                      <a:srgbClr val="111827"/>
                    </a:solidFill>
                    <a:latin typeface="Arial"/>
                  </a:rPr>
                  <a:t>; </a:t>
                </a:r>
                <a:r>
                  <a:rPr lang="en-IN" sz="2400">
                    <a:solidFill>
                      <a:srgbClr val="111827"/>
                    </a:solidFill>
                    <a:latin typeface="Cambria Math" panose="02040503050406030204" pitchFamily="18" charset="0"/>
                  </a:rPr>
                  <a:t>$R_3-2R_1$</a:t>
                </a:r>
                <a:r>
                  <a:rPr sz="2400" b="0">
                    <a:solidFill>
                      <a:srgbClr val="111827"/>
                    </a:solidFill>
                    <a:latin typeface="Arial"/>
                  </a:rPr>
                  <a:t>: </a:t>
                </a:r>
                <a:r>
                  <a:rPr lang="en-IN" sz="2400">
                    <a:solidFill>
                      <a:srgbClr val="111827"/>
                    </a:solidFill>
                    <a:latin typeface="Cambria Math" panose="02040503050406030204" pitchFamily="18" charset="0"/>
                  </a:rPr>
                  <a:t>$3y+(\lambda-2)z=\mu-12$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 Infinitely many solutions need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$R_3-3(R_2)$</a:t>
                </a:r>
                <a:r>
                  <a:rPr sz="2400" b="0">
                    <a:solidFill>
                      <a:srgbClr val="111827"/>
                    </a:solidFill>
                    <a:latin typeface="Arial"/>
                  </a:rPr>
                  <a:t>: </a:t>
                </a:r>
                <a:r>
                  <a:rPr lang="en-IN" sz="2400">
                    <a:solidFill>
                      <a:srgbClr val="111827"/>
                    </a:solidFill>
                    <a:latin typeface="Cambria Math" panose="02040503050406030204" pitchFamily="18" charset="0"/>
                  </a:rPr>
                  <a:t>$(\lambda-8)z=\mu-36$</a:t>
                </a:r>
                <a:r>
                  <a:rPr sz="2400" b="0">
                    <a:solidFill>
                      <a:srgbClr val="111827"/>
                    </a:solidFill>
                    <a:latin typeface="Arial"/>
                  </a:rPr>
                  <a:t>. Infinitely many solutions need </a:t>
                </a:r>
                <a:r>
                  <a:rPr lang="en-IN" sz="2400">
                    <a:solidFill>
                      <a:srgbClr val="111827"/>
                    </a:solidFill>
                    <a:latin typeface="Cambria Math" panose="02040503050406030204" pitchFamily="18" charset="0"/>
                  </a:rPr>
                  <a:t>$\lambda-8=0$</a:t>
                </a:r>
                <a:r>
                  <a:rPr sz="2400" b="0">
                    <a:solidFill>
                      <a:srgbClr val="111827"/>
                    </a:solidFill>
                    <a:latin typeface="Arial"/>
                  </a:rPr>
                  <a:t> and </a:t>
                </a:r>
                <a:r>
                  <a:rPr lang="en-IN" sz="2400">
                    <a:solidFill>
                      <a:srgbClr val="111827"/>
                    </a:solidFill>
                    <a:latin typeface="Cambria Math" panose="02040503050406030204" pitchFamily="18" charset="0"/>
                  </a:rPr>
                  <a:t>$\mu-36=0$</a:t>
                </a:r>
                <a:r>
                  <a:rPr sz="2400" b="0">
                    <a:solidFill>
                      <a:srgbClr val="111827"/>
                    </a:solidFill>
                    <a:latin typeface="Arial"/>
                  </a:rPr>
                  <a:t>, so </a:t>
                </a:r>
                <a:r>
                  <a:rPr lang="en-IN" sz="2400">
                    <a:solidFill>
                      <a:srgbClr val="111827"/>
                    </a:solidFill>
                    <a:latin typeface="Cambria Math" panose="02040503050406030204" pitchFamily="18" charset="0"/>
                  </a:rPr>
                  <a:t>$\lambda=8,\mu=36$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$\frac{\mu-\lambda}{4}-k=7-7=0$</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0</a:t>
            </a:r>
            <a:endParaRPr sz="2800">
              <a:solidFill>
                <a:srgbClr val="15803D"/>
              </a:solidFill>
            </a:endParaRP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𝑡</m:t>
                    </m:r>
                  </m:oMath>
                </a14:m>
                <a:r>
                  <a:rPr sz="2400" b="0">
                    <a:solidFill>
                      <a:srgbClr val="111827"/>
                    </a:solidFill>
                    <a:latin typeface="Arial"/>
                  </a:rPr>
                  <a:t> (check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63</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27</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AM-GM for a minimum: split terms to make products constant and terms equal, e.g.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ad>
                      <m:deg>
                        <m:r>
                          <a:rPr lang="en-IN" sz="2400" i="1">
                            <a:solidFill>
                              <a:srgbClr val="111827"/>
                            </a:solidFill>
                            <a:latin typeface="Cambria Math" panose="02040503050406030204" pitchFamily="18" charset="0"/>
                          </a:rPr>
                          <m:t>3</m:t>
                        </m:r>
                      </m:deg>
                      <m:e>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𝑡</m:t>
                            </m:r>
                          </m:den>
                        </m:f>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system with </a:t>
                </a: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has infinitely many solutions only if it is also consistent: </a:t>
                </a:r>
                <a14:m>
                  <m:oMath xmlns:m="http://schemas.openxmlformats.org/officeDocument/2006/math">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necessary but check the rank (here rank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the left sides are dependent,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consistency forces the same relation on the right sides.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$t=x-\frac{1}{x}$</a:t>
                </a:r>
                <a:r>
                  <a:rPr sz="2400" b="0">
                    <a:solidFill>
                      <a:srgbClr val="111827"/>
                    </a:solidFill>
                    <a:latin typeface="Arial"/>
                  </a:rPr>
                  <a:t>: </a:t>
                </a:r>
                <a:r>
                  <a:rPr lang="en-IN" sz="2400">
                    <a:solidFill>
                      <a:srgbClr val="111827"/>
                    </a:solidFill>
                    <a:latin typeface="Cambria Math" panose="02040503050406030204" pitchFamily="18" charset="0"/>
                  </a:rPr>
                  <a:t>$x^2+\frac{1}{x^2}=t^2+2$</a:t>
                </a:r>
                <a:r>
                  <a:rPr sz="2400" b="0">
                    <a:solidFill>
                      <a:srgbClr val="111827"/>
                    </a:solidFill>
                    <a:latin typeface="Arial"/>
                  </a:rPr>
                  <a:t> and </a:t>
                </a:r>
                <a:r>
                  <a:rPr lang="en-IN" sz="2400">
                    <a:solidFill>
                      <a:srgbClr val="111827"/>
                    </a:solidFill>
                    <a:latin typeface="Cambria Math" panose="02040503050406030204" pitchFamily="18" charset="0"/>
                  </a:rPr>
                  <a:t>$x^3-\frac{1}{x^3}=t^3+3t$</a:t>
                </a:r>
                <a:r>
                  <a:rPr sz="2400" b="0">
                    <a:solidFill>
                      <a:srgbClr val="111827"/>
                    </a:solidFill>
                    <a:latin typeface="Arial"/>
                  </a:rPr>
                  <a:t> (check at </a:t>
                </a:r>
                <a:r>
                  <a:rPr lang="en-IN" sz="2400">
                    <a:solidFill>
                      <a:srgbClr val="111827"/>
                    </a:solidFill>
                    <a:latin typeface="Cambria Math" panose="02040503050406030204" pitchFamily="18" charset="0"/>
                  </a:rPr>
                  <a:t>$x=2$</a:t>
                </a:r>
                <a:r>
                  <a:rPr sz="2400" b="0">
                    <a:solidFill>
                      <a:srgbClr val="111827"/>
                    </a:solidFill>
                    <a:latin typeface="Arial"/>
                  </a:rPr>
                  <a:t>: </a:t>
                </a:r>
                <a:r>
                  <a:rPr lang="en-IN" sz="2400">
                    <a:solidFill>
                      <a:srgbClr val="111827"/>
                    </a:solidFill>
                    <a:latin typeface="Cambria Math" panose="02040503050406030204" pitchFamily="18" charset="0"/>
                  </a:rPr>
                  <a:t>$t=\frac{3}{2}$</a:t>
                </a:r>
                <a:r>
                  <a:rPr sz="2400" b="0">
                    <a:solidFill>
                      <a:srgbClr val="111827"/>
                    </a:solidFill>
                    <a:latin typeface="Arial"/>
                  </a:rPr>
                  <a:t>, </a:t>
                </a:r>
                <a:r>
                  <a:rPr lang="en-IN" sz="2400">
                    <a:solidFill>
                      <a:srgbClr val="111827"/>
                    </a:solidFill>
                    <a:latin typeface="Cambria Math" panose="02040503050406030204" pitchFamily="18" charset="0"/>
                  </a:rPr>
                  <a:t>$8-\frac{1}{8}=\frac{63}{8}=\frac{27}{8}+\frac{9}{2}$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AM-GM for a minimum: split terms to make products constant and terms equal, e.g. </a:t>
                </a:r>
                <a:r>
                  <a:rPr lang="en-IN" sz="2400">
                    <a:solidFill>
                      <a:srgbClr val="111827"/>
                    </a:solidFill>
                    <a:latin typeface="Cambria Math" panose="02040503050406030204" pitchFamily="18" charset="0"/>
                  </a:rPr>
                  <a:t>$t^2+\frac{1}{t}+\frac{1}{t}\ge3\sqrt[3]{t^2\cdot\frac{1}{t}\cdot\frac{1}{t}}=3$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$3\times3$</a:t>
                </a:r>
                <a:r>
                  <a:rPr sz="2400" b="0">
                    <a:solidFill>
                      <a:srgbClr val="111827"/>
                    </a:solidFill>
                    <a:latin typeface="Arial"/>
                  </a:rPr>
                  <a:t> system with </a:t>
                </a:r>
                <a:r>
                  <a:rPr lang="en-IN" sz="2400">
                    <a:solidFill>
                      <a:srgbClr val="111827"/>
                    </a:solidFill>
                    <a:latin typeface="Cambria Math" panose="02040503050406030204" pitchFamily="18" charset="0"/>
                  </a:rPr>
                  <a:t>$D=0$</a:t>
                </a:r>
                <a:r>
                  <a:rPr sz="2400" b="0">
                    <a:solidFill>
                      <a:srgbClr val="111827"/>
                    </a:solidFill>
                    <a:latin typeface="Arial"/>
                  </a:rPr>
                  <a:t> has infinitely many solutions only if it is also consistent: </a:t>
                </a:r>
                <a:r>
                  <a:rPr lang="en-IN" sz="2400">
                    <a:solidFill>
                      <a:srgbClr val="111827"/>
                    </a:solidFill>
                    <a:latin typeface="Cambria Math" panose="02040503050406030204" pitchFamily="18" charset="0"/>
                  </a:rPr>
                  <a:t>$D_1=D_2=D_3=0$</a:t>
                </a:r>
                <a:r>
                  <a:rPr sz="2400" b="0">
                    <a:solidFill>
                      <a:srgbClr val="111827"/>
                    </a:solidFill>
                    <a:latin typeface="Arial"/>
                  </a:rPr>
                  <a:t> is necessary but check the rank (here rank </a:t>
                </a:r>
                <a:r>
                  <a:rPr lang="en-IN" sz="2400">
                    <a:solidFill>
                      <a:srgbClr val="111827"/>
                    </a:solidFill>
                    <a:latin typeface="Cambria Math" panose="02040503050406030204" pitchFamily="18" charset="0"/>
                  </a:rPr>
                  <a: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the left sides are dependent, </a:t>
                </a:r>
                <a:r>
                  <a:rPr lang="en-IN" sz="2400">
                    <a:solidFill>
                      <a:srgbClr val="111827"/>
                    </a:solidFill>
                    <a:latin typeface="Cambria Math" panose="02040503050406030204" pitchFamily="18" charset="0"/>
                  </a:rPr>
                  <a:t>$R_3=aR_1+bR_2$</a:t>
                </a:r>
                <a:r>
                  <a:rPr sz="2400" b="0">
                    <a:solidFill>
                      <a:srgbClr val="111827"/>
                    </a:solidFill>
                    <a:latin typeface="Arial"/>
                  </a:rPr>
                  <a:t>, consistency forces the same relation on the right sides.</a:t>
                </a:r>
                <a:endParaRPr sz="2400">
                  <a:solidFill>
                    <a:srgbClr val="111827"/>
                  </a:solidFill>
                </a:endParaRPr>
              </a:p>
            </p:txBody>
          </p:sp>
        </mc:Fallback>
      </mc:AlternateContent>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92861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value of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π</m:t>
                        </m:r>
                      </m:den>
                    </m:f>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cos</m:t>
                        </m:r>
                        <m:d>
                          <m:dPr>
                            <m:begChr m:val="{"/>
                            <m:sepChr m:val=""/>
                            <m:endChr m:val="}"/>
                            <m:grow/>
                            <m:ctrlPr>
                              <a:rPr lang="en-IN" sz="2400" i="1">
                                <a:solidFill>
                                  <a:srgbClr val="111827"/>
                                </a:solidFill>
                                <a:latin typeface="Cambria Math" panose="02040503050406030204" pitchFamily="18" charset="0"/>
                              </a:rPr>
                            </m:ctrlPr>
                          </m:dPr>
                          <m:e>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e>
                        </m:d>
                      </m:e>
                    </m:d>
                  </m:oMath>
                </a14:m>
                <a:r>
                  <a:rPr sz="2400" b="0">
                    <a:solidFill>
                      <a:srgbClr val="111827"/>
                    </a:solidFill>
                    <a:latin typeface="Arial"/>
                  </a:rPr>
                  <a:t> where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π</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A differentiable function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satisfying a relation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and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Find the value of definite integral </a:t>
                </a:r>
                <a14:m>
                  <m:oMath xmlns:m="http://schemas.openxmlformats.org/officeDocument/2006/math">
                    <m:nary>
                      <m:naryPr>
                        <m:chr m:val="∫"/>
                        <m:limLoc m:val="subSup"/>
                        <m:subHide m:val="off"/>
                        <m:supHide m:val="off"/>
                        <m:ctrlPr>
                          <a:rPr lang="en-IN" sz="2400" i="1">
                            <a:solidFill>
                              <a:srgbClr val="111827"/>
                            </a:solidFill>
                            <a:latin typeface="Cambria Math" panose="02040503050406030204" pitchFamily="18" charset="0"/>
                          </a:rPr>
                        </m:ctrlPr>
                      </m:naryPr>
                      <m: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b>
                      <m:sup>
                        <m:r>
                          <a:rPr lang="en-IN" sz="2400" i="1">
                            <a:solidFill>
                              <a:srgbClr val="111827"/>
                            </a:solidFill>
                            <a:latin typeface="Cambria Math" panose="02040503050406030204" pitchFamily="18" charset="0"/>
                          </a:rPr>
                          <m:t>3</m:t>
                        </m:r>
                      </m:sup>
                      <m:e>
                        <m:r>
                          <a:rPr lang="en-IN" sz="2400" i="1">
                            <a:solidFill>
                              <a:srgbClr val="111827"/>
                            </a:solidFill>
                            <a:latin typeface="Cambria Math" panose="02040503050406030204" pitchFamily="18" charset="0"/>
                          </a:rPr>
                          <m:t>𝑓</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oMath>
                </a14:m>
                <a:r>
                  <a:rPr sz="2400" b="0">
                    <a:solidFill>
                      <a:srgbClr val="111827"/>
                    </a:solidFill>
                    <a:latin typeface="Arial"/>
                  </a:rPr>
                  <a:t> ________.</a:t>
                </a:r>
                <a:endParaRPr sz="2400">
                  <a:solidFill>
                    <a:srgbClr val="111827"/>
                  </a:solidFill>
                </a:endParaRPr>
              </a:p>
            </p:txBody>
          </p:sp>
        </mc:Choice>
        <mc:Fallback>
          <p:sp>
            <p:nvSpPr>
              <p:cNvPr id="4" name="Rounded Rectangle 3"/>
              <p:cNvSpPr/>
              <p:nvPr/>
            </p:nvSpPr>
            <p:spPr>
              <a:xfrm>
                <a:off x="731520" y="1280160"/>
                <a:ext cx="10725912" cy="292861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value of </a:t>
                </a:r>
                <a:r>
                  <a:rPr lang="en-IN" sz="2400">
                    <a:solidFill>
                      <a:srgbClr val="111827"/>
                    </a:solidFill>
                    <a:latin typeface="Cambria Math" panose="02040503050406030204" pitchFamily="18" charset="0"/>
                  </a:rPr>
                  <a:t>$7+\frac{2}{\pi}\sin^{-1}\left[\cos\left\{\cos^{-1}(\cos x)+\sin^{-1}(\sin x)\right\}\right]$</a:t>
                </a:r>
                <a:r>
                  <a:rPr sz="2400" b="0">
                    <a:solidFill>
                      <a:srgbClr val="111827"/>
                    </a:solidFill>
                    <a:latin typeface="Arial"/>
                  </a:rPr>
                  <a:t> where </a:t>
                </a:r>
                <a:r>
                  <a:rPr lang="en-IN" sz="2400">
                    <a:solidFill>
                      <a:srgbClr val="111827"/>
                    </a:solidFill>
                    <a:latin typeface="Cambria Math" panose="02040503050406030204" pitchFamily="18" charset="0"/>
                  </a:rPr>
                  <a:t>$\frac{\pi}{2}&lt;x&lt;\pi$</a:t>
                </a:r>
                <a:r>
                  <a:rPr sz="2400" b="0">
                    <a:solidFill>
                      <a:srgbClr val="111827"/>
                    </a:solidFill>
                    <a:latin typeface="Arial"/>
                  </a:rPr>
                  <a:t> is </a:t>
                </a:r>
                <a:r>
                  <a:rPr lang="en-IN" sz="2400">
                    <a:solidFill>
                      <a:srgbClr val="111827"/>
                    </a:solidFill>
                    <a:latin typeface="Cambria Math" panose="02040503050406030204" pitchFamily="18" charset="0"/>
                  </a:rPr>
                  <a:t>$k$</a:t>
                </a:r>
                <a:r>
                  <a:rPr sz="2400" b="0">
                    <a:solidFill>
                      <a:srgbClr val="111827"/>
                    </a:solidFill>
                    <a:latin typeface="Arial"/>
                  </a:rPr>
                  <a:t>. A differentiable function </a:t>
                </a:r>
                <a:r>
                  <a:rPr lang="en-IN" sz="2400">
                    <a:solidFill>
                      <a:srgbClr val="111827"/>
                    </a:solidFill>
                    <a:latin typeface="Cambria Math" panose="02040503050406030204" pitchFamily="18" charset="0"/>
                  </a:rPr>
                  <a:t>$f$</a:t>
                </a:r>
                <a:r>
                  <a:rPr sz="2400" b="0">
                    <a:solidFill>
                      <a:srgbClr val="111827"/>
                    </a:solidFill>
                    <a:latin typeface="Arial"/>
                  </a:rPr>
                  <a:t> satisfying a relation </a:t>
                </a:r>
                <a:r>
                  <a:rPr lang="en-IN" sz="2400">
                    <a:solidFill>
                      <a:srgbClr val="111827"/>
                    </a:solidFill>
                    <a:latin typeface="Cambria Math" panose="02040503050406030204" pitchFamily="18" charset="0"/>
                  </a:rPr>
                  <a:t>$f(x+y)=f(x)+f(y)+2xy(x+y)-\frac{1}{3}\ \forall x,y\in R$</a:t>
                </a:r>
                <a:r>
                  <a:rPr sz="2400" b="0">
                    <a:solidFill>
                      <a:srgbClr val="111827"/>
                    </a:solidFill>
                    <a:latin typeface="Arial"/>
                  </a:rPr>
                  <a:t> and </a:t>
                </a:r>
                <a:r>
                  <a:rPr lang="en-IN" sz="2400">
                    <a:solidFill>
                      <a:srgbClr val="111827"/>
                    </a:solidFill>
                    <a:latin typeface="Cambria Math" panose="02040503050406030204" pitchFamily="18" charset="0"/>
                  </a:rPr>
                  <a:t>$\lim_{h\to0}\frac{3f(h)-1}{kh}=\frac{2}{3}$</a:t>
                </a:r>
                <a:r>
                  <a:rPr sz="2400" b="0">
                    <a:solidFill>
                      <a:srgbClr val="111827"/>
                    </a:solidFill>
                    <a:latin typeface="Arial"/>
                  </a:rPr>
                  <a:t>. Find the value of definite integral </a:t>
                </a:r>
                <a:r>
                  <a:rPr lang="en-IN" sz="2400">
                    <a:solidFill>
                      <a:srgbClr val="111827"/>
                    </a:solidFill>
                    <a:latin typeface="Cambria Math" panose="02040503050406030204" pitchFamily="18" charset="0"/>
                  </a:rPr>
                  <a:t>$\int_{-3}^{3}f(x)\,dx$</a:t>
                </a:r>
                <a:r>
                  <a:rPr sz="2400" b="0">
                    <a:solidFill>
                      <a:srgbClr val="111827"/>
                    </a:solidFill>
                    <a:latin typeface="Arial"/>
                  </a:rPr>
                  <a:t> ________.</a:t>
                </a:r>
                <a:endParaRPr sz="2400">
                  <a:solidFill>
                    <a:srgbClr val="111827"/>
                  </a:solidFill>
                </a:endParaRPr>
              </a:p>
            </p:txBody>
          </p:sp>
        </mc:Fallback>
      </mc:AlternateContent>
      <p:sp>
        <p:nvSpPr>
          <p:cNvPr id="5" name="Rectangle 4"/>
          <p:cNvSpPr/>
          <p:nvPr/>
        </p:nvSpPr>
        <p:spPr>
          <a:xfrm>
            <a:off x="731520" y="443738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Integer Type(0 to 9)(4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Principal values of inverse trigonometric functions, Functional equation and definite integral of an odd-plus-constant function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oMath>
                </a14:m>
                <a:r>
                  <a:rPr sz="2400" b="0">
                    <a:solidFill>
                      <a:srgbClr val="78350F"/>
                    </a:solidFill>
                    <a:latin typeface="Arial"/>
                  </a:rPr>
                  <a:t> from principal values; then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and the odd part of </a:t>
                </a:r>
                <a14:m>
                  <m:oMath xmlns:m="http://schemas.openxmlformats.org/officeDocument/2006/math">
                    <m:r>
                      <a:rPr lang="en-IN" sz="2400" i="1">
                        <a:solidFill>
                          <a:srgbClr val="78350F"/>
                        </a:solidFill>
                        <a:latin typeface="Cambria Math" panose="02040503050406030204" pitchFamily="18" charset="0"/>
                      </a:rPr>
                      <m:t>𝑓</m:t>
                    </m:r>
                  </m:oMath>
                </a14:m>
                <a:r>
                  <a:rPr sz="2400" b="0">
                    <a:solidFill>
                      <a:srgbClr val="78350F"/>
                    </a:solidFill>
                    <a:latin typeface="Arial"/>
                  </a:rPr>
                  <a:t> integrates to zero over </a:t>
                </a:r>
                <a14:m>
                  <m:oMath xmlns:m="http://schemas.openxmlformats.org/officeDocument/2006/math">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$k=6$</a:t>
                </a:r>
                <a:r>
                  <a:rPr sz="2400" b="0">
                    <a:solidFill>
                      <a:srgbClr val="78350F"/>
                    </a:solidFill>
                    <a:latin typeface="Arial"/>
                  </a:rPr>
                  <a:t> from principal values; then </a:t>
                </a:r>
                <a:r>
                  <a:rPr lang="en-IN" sz="2400">
                    <a:solidFill>
                      <a:srgbClr val="78350F"/>
                    </a:solidFill>
                    <a:latin typeface="Cambria Math" panose="02040503050406030204" pitchFamily="18" charset="0"/>
                  </a:rPr>
                  <a:t>$f'(x)=f'(0)+2x^2$</a:t>
                </a:r>
                <a:r>
                  <a:rPr sz="2400" b="0">
                    <a:solidFill>
                      <a:srgbClr val="78350F"/>
                    </a:solidFill>
                    <a:latin typeface="Arial"/>
                  </a:rPr>
                  <a:t> and the odd part of </a:t>
                </a:r>
                <a:r>
                  <a:rPr lang="en-IN" sz="2400">
                    <a:solidFill>
                      <a:srgbClr val="78350F"/>
                    </a:solidFill>
                    <a:latin typeface="Cambria Math" panose="02040503050406030204" pitchFamily="18" charset="0"/>
                  </a:rPr>
                  <a:t>$f$</a:t>
                </a:r>
                <a:r>
                  <a:rPr sz="2400" b="0">
                    <a:solidFill>
                      <a:srgbClr val="78350F"/>
                    </a:solidFill>
                    <a:latin typeface="Arial"/>
                  </a:rPr>
                  <a:t> integrates to zero over </a:t>
                </a:r>
                <a:r>
                  <a:rPr lang="en-IN" sz="2400">
                    <a:solidFill>
                      <a:srgbClr val="78350F"/>
                    </a:solidFill>
                    <a:latin typeface="Cambria Math" panose="02040503050406030204" pitchFamily="18" charset="0"/>
                  </a:rPr>
                  <a:t>$[-3,3]$</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e>
                    </m:d>
                  </m:oMath>
                </a14:m>
                <a:r>
                  <a:rPr sz="2400" b="0">
                    <a:solidFill>
                      <a:srgbClr val="111827"/>
                    </a:solidFill>
                    <a:latin typeface="Arial"/>
                  </a:rPr>
                  <a:t>: </a:t>
                </a:r>
                <a14:m>
                  <m:oMath xmlns:m="http://schemas.openxmlformats.org/officeDocument/2006/math">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so the sum is </a:t>
                </a:r>
                <a14:m>
                  <m:oMath xmlns:m="http://schemas.openxmlformats.org/officeDocument/2006/math">
                    <m:r>
                      <a:rPr lang="en-IN" sz="2400" i="1">
                        <a:solidFill>
                          <a:srgbClr val="111827"/>
                        </a:solidFill>
                        <a:latin typeface="Cambria Math" panose="02040503050406030204" pitchFamily="18" charset="0"/>
                      </a:rPr>
                      <m:t>π</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π</m:t>
                        </m:r>
                      </m:den>
                    </m:f>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in the relation: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lim</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e>
                        </m:d>
                      </m:num>
                      <m:den>
                        <m:r>
                          <a:rPr lang="en-IN" sz="2400" i="1">
                            <a:solidFill>
                              <a:srgbClr val="111827"/>
                            </a:solidFill>
                            <a:latin typeface="Cambria Math" panose="02040503050406030204" pitchFamily="18" charset="0"/>
                          </a:rPr>
                          <m:t>ℎ</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$x\in\left(\frac{\pi}{2},\pi\right)$</a:t>
                </a:r>
                <a:r>
                  <a:rPr sz="2400" b="0">
                    <a:solidFill>
                      <a:srgbClr val="111827"/>
                    </a:solidFill>
                    <a:latin typeface="Arial"/>
                  </a:rPr>
                  <a:t>: </a:t>
                </a:r>
                <a:r>
                  <a:rPr lang="en-IN" sz="2400">
                    <a:solidFill>
                      <a:srgbClr val="111827"/>
                    </a:solidFill>
                    <a:latin typeface="Cambria Math" panose="02040503050406030204" pitchFamily="18" charset="0"/>
                  </a:rPr>
                  <a:t>$\cos^{-1}(\cos x)=x$</a:t>
                </a:r>
                <a:r>
                  <a:rPr sz="2400" b="0">
                    <a:solidFill>
                      <a:srgbClr val="111827"/>
                    </a:solidFill>
                    <a:latin typeface="Arial"/>
                  </a:rPr>
                  <a:t> and </a:t>
                </a:r>
                <a:r>
                  <a:rPr lang="en-IN" sz="2400">
                    <a:solidFill>
                      <a:srgbClr val="111827"/>
                    </a:solidFill>
                    <a:latin typeface="Cambria Math" panose="02040503050406030204" pitchFamily="18" charset="0"/>
                  </a:rPr>
                  <a:t>$\sin^{-1}(\sin x)=\pi-x$</a:t>
                </a:r>
                <a:r>
                  <a:rPr sz="2400" b="0">
                    <a:solidFill>
                      <a:srgbClr val="111827"/>
                    </a:solidFill>
                    <a:latin typeface="Arial"/>
                  </a:rPr>
                  <a:t>, so the sum is </a:t>
                </a:r>
                <a:r>
                  <a:rPr lang="en-IN" sz="2400">
                    <a:solidFill>
                      <a:srgbClr val="111827"/>
                    </a:solidFill>
                    <a:latin typeface="Cambria Math" panose="02040503050406030204" pitchFamily="18" charset="0"/>
                  </a:rPr>
                  <a:t>$\pi$</a:t>
                </a:r>
                <a:r>
                  <a:rPr sz="2400" b="0">
                    <a:solidFill>
                      <a:srgbClr val="111827"/>
                    </a:solidFill>
                    <a:latin typeface="Arial"/>
                  </a:rPr>
                  <a:t> and </a:t>
                </a:r>
                <a:r>
                  <a:rPr lang="en-IN" sz="2400">
                    <a:solidFill>
                      <a:srgbClr val="111827"/>
                    </a:solidFill>
                    <a:latin typeface="Cambria Math" panose="02040503050406030204" pitchFamily="18" charset="0"/>
                  </a:rPr>
                  <a:t>$\cos\pi=-1$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$\sin^{-1}(-1)=-\frac{\pi}{2}$</a:t>
                </a:r>
                <a:r>
                  <a:rPr sz="2400" b="0">
                    <a:solidFill>
                      <a:srgbClr val="111827"/>
                    </a:solidFill>
                    <a:latin typeface="Arial"/>
                  </a:rPr>
                  <a:t>, so </a:t>
                </a:r>
                <a:r>
                  <a:rPr lang="en-IN" sz="2400">
                    <a:solidFill>
                      <a:srgbClr val="111827"/>
                    </a:solidFill>
                    <a:latin typeface="Cambria Math" panose="02040503050406030204" pitchFamily="18" charset="0"/>
                  </a:rPr>
                  <a:t>$k=7+\frac{2}{\pi}\left(-\frac{\pi}{2}\right)=6$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$x=y=0$</a:t>
                </a:r>
                <a:r>
                  <a:rPr sz="2400" b="0">
                    <a:solidFill>
                      <a:srgbClr val="111827"/>
                    </a:solidFill>
                    <a:latin typeface="Arial"/>
                  </a:rPr>
                  <a:t> in the relation: </a:t>
                </a:r>
                <a:r>
                  <a:rPr lang="en-IN" sz="2400">
                    <a:solidFill>
                      <a:srgbClr val="111827"/>
                    </a:solidFill>
                    <a:latin typeface="Cambria Math" panose="02040503050406030204" pitchFamily="18" charset="0"/>
                  </a:rPr>
                  <a:t>$f(0)=2f(0)-\frac{1}{3}$</a:t>
                </a:r>
                <a:r>
                  <a:rPr sz="2400" b="0">
                    <a:solidFill>
                      <a:srgbClr val="111827"/>
                    </a:solidFill>
                    <a:latin typeface="Arial"/>
                  </a:rPr>
                  <a:t>, so </a:t>
                </a:r>
                <a:r>
                  <a:rPr lang="en-IN" sz="2400">
                    <a:solidFill>
                      <a:srgbClr val="111827"/>
                    </a:solidFill>
                    <a:latin typeface="Cambria Math" panose="02040503050406030204" pitchFamily="18" charset="0"/>
                  </a:rPr>
                  <a:t>$f(0)=\frac{1}{3}$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$k=6$</a:t>
                </a:r>
                <a:r>
                  <a:rPr sz="2400" b="0">
                    <a:solidFill>
                      <a:srgbClr val="111827"/>
                    </a:solidFill>
                    <a:latin typeface="Arial"/>
                  </a:rPr>
                  <a:t>: </a:t>
                </a:r>
                <a:r>
                  <a:rPr lang="en-IN" sz="2400">
                    <a:solidFill>
                      <a:srgbClr val="111827"/>
                    </a:solidFill>
                    <a:latin typeface="Cambria Math" panose="02040503050406030204" pitchFamily="18" charset="0"/>
                  </a:rPr>
                  <a:t>$\lim_{h\to0}\frac{3f(h)-1}{6h}=\frac{2}{3}$</a:t>
                </a:r>
                <a:r>
                  <a:rPr sz="2400" b="0">
                    <a:solidFill>
                      <a:srgbClr val="111827"/>
                    </a:solidFill>
                    <a:latin typeface="Arial"/>
                  </a:rPr>
                  <a:t>, so </a:t>
                </a:r>
                <a:r>
                  <a:rPr lang="en-IN" sz="2400">
                    <a:solidFill>
                      <a:srgbClr val="111827"/>
                    </a:solidFill>
                    <a:latin typeface="Cambria Math" panose="02040503050406030204" pitchFamily="18" charset="0"/>
                  </a:rPr>
                  <a:t>$\lim\frac{3\left(f(h)-f(0)\right)}{h}=4$</a:t>
                </a:r>
                <a:r>
                  <a:rPr sz="2400" b="0">
                    <a:solidFill>
                      <a:srgbClr val="111827"/>
                    </a:solidFill>
                    <a:latin typeface="Arial"/>
                  </a:rPr>
                  <a:t> and </a:t>
                </a:r>
                <a:r>
                  <a:rPr lang="en-IN" sz="2400">
                    <a:solidFill>
                      <a:srgbClr val="111827"/>
                    </a:solidFill>
                    <a:latin typeface="Cambria Math" panose="02040503050406030204" pitchFamily="18" charset="0"/>
                  </a:rPr>
                  <a:t>$f'(0)=\frac{4}{3}$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ℎ</m:t>
                        </m:r>
                      </m:den>
                    </m:f>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num>
                          <m:den>
                            <m:r>
                              <a:rPr lang="en-IN" sz="2400" i="1">
                                <a:solidFill>
                                  <a:srgbClr val="111827"/>
                                </a:solidFill>
                                <a:latin typeface="Cambria Math" panose="02040503050406030204" pitchFamily="18" charset="0"/>
                              </a:rPr>
                              <m:t>ℎ</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Integrating: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nary>
                      <m:naryPr>
                        <m:chr m:val="∫"/>
                        <m:limLoc m:val="subSup"/>
                        <m:subHide m:val="off"/>
                        <m:supHide m:val="off"/>
                        <m:ctrlPr>
                          <a:rPr lang="en-IN" sz="2400" i="1">
                            <a:solidFill>
                              <a:srgbClr val="111827"/>
                            </a:solidFill>
                            <a:latin typeface="Cambria Math" panose="02040503050406030204" pitchFamily="18" charset="0"/>
                          </a:rPr>
                        </m:ctrlPr>
                      </m:naryPr>
                      <m: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b>
                      <m:sup>
                        <m:r>
                          <a:rPr lang="en-IN" sz="2400" i="1">
                            <a:solidFill>
                              <a:srgbClr val="111827"/>
                            </a:solidFill>
                            <a:latin typeface="Cambria Math" panose="02040503050406030204" pitchFamily="18" charset="0"/>
                          </a:rPr>
                          <m:t>3</m:t>
                        </m:r>
                      </m:sup>
                      <m:e>
                        <m:r>
                          <a:rPr lang="en-IN" sz="2400" i="1">
                            <a:solidFill>
                              <a:srgbClr val="111827"/>
                            </a:solidFill>
                            <a:latin typeface="Cambria Math" panose="02040503050406030204" pitchFamily="18" charset="0"/>
                          </a:rPr>
                          <m:t>𝑓</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ary>
                      <m:naryPr>
                        <m:chr m:val="∫"/>
                        <m:limLoc m:val="subSup"/>
                        <m:subHide m:val="off"/>
                        <m:supHide m:val="off"/>
                        <m:ctrlPr>
                          <a:rPr lang="en-IN" sz="2400" i="1">
                            <a:solidFill>
                              <a:srgbClr val="111827"/>
                            </a:solidFill>
                            <a:latin typeface="Cambria Math" panose="02040503050406030204" pitchFamily="18" charset="0"/>
                          </a:rPr>
                        </m:ctrlPr>
                      </m:naryPr>
                      <m: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b>
                      <m:sup>
                        <m:r>
                          <a:rPr lang="en-IN" sz="2400" i="1">
                            <a:solidFill>
                              <a:srgbClr val="111827"/>
                            </a:solidFill>
                            <a:latin typeface="Cambria Math" panose="02040503050406030204" pitchFamily="18" charset="0"/>
                          </a:rPr>
                          <m:t>3</m:t>
                        </m:r>
                      </m: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r>
                              <a:rPr lang="en-IN" sz="2400" i="1">
                                <a:solidFill>
                                  <a:srgbClr val="111827"/>
                                </a:solidFill>
                                <a:latin typeface="Cambria Math" panose="02040503050406030204" pitchFamily="18" charset="0"/>
                              </a:rPr>
                              <m:t>𝑥</m:t>
                            </m:r>
                          </m:e>
                        </m:d>
                      </m:e>
                    </m:nary>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ary>
                      <m:naryPr>
                        <m:chr m:val="∫"/>
                        <m:limLoc m:val="subSup"/>
                        <m:subHide m:val="off"/>
                        <m:supHide m:val="off"/>
                        <m:ctrlPr>
                          <a:rPr lang="en-IN" sz="2400" i="1">
                            <a:solidFill>
                              <a:srgbClr val="111827"/>
                            </a:solidFill>
                            <a:latin typeface="Cambria Math" panose="02040503050406030204" pitchFamily="18" charset="0"/>
                          </a:rPr>
                        </m:ctrlPr>
                      </m:naryPr>
                      <m: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b>
                      <m:sup>
                        <m:r>
                          <a:rPr lang="en-IN" sz="2400" i="1">
                            <a:solidFill>
                              <a:srgbClr val="111827"/>
                            </a:solidFill>
                            <a:latin typeface="Cambria Math" panose="02040503050406030204" pitchFamily="18" charset="0"/>
                          </a:rPr>
                          <m:t>3</m:t>
                        </m:r>
                      </m:sup>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e>
                    </m:nary>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$f'(x)=\lim_{h\to0}\frac{f(x+h)-f(x)}{h}=\lim_{h\to0}\left[\frac{f(h)-\frac{1}{3}}{h}+2x(x+h)\right]$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$f'(x)=f'(0)+2x^2=\frac{4}{3}+2x^2$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Integrating: </a:t>
                </a:r>
                <a:r>
                  <a:rPr lang="en-IN" sz="2400">
                    <a:solidFill>
                      <a:srgbClr val="111827"/>
                    </a:solidFill>
                    <a:latin typeface="Cambria Math" panose="02040503050406030204" pitchFamily="18" charset="0"/>
                  </a:rPr>
                  <a:t>$f(x)=\frac{4}{3}x+\frac{2}{3}x^3+C$</a:t>
                </a:r>
                <a:r>
                  <a:rPr sz="2400" b="0">
                    <a:solidFill>
                      <a:srgbClr val="111827"/>
                    </a:solidFill>
                    <a:latin typeface="Arial"/>
                  </a:rPr>
                  <a:t>, and </a:t>
                </a:r>
                <a:r>
                  <a:rPr lang="en-IN" sz="2400">
                    <a:solidFill>
                      <a:srgbClr val="111827"/>
                    </a:solidFill>
                    <a:latin typeface="Cambria Math" panose="02040503050406030204" pitchFamily="18" charset="0"/>
                  </a:rPr>
                  <a:t>$f(0)=\frac{1}{3}$</a:t>
                </a:r>
                <a:r>
                  <a:rPr sz="2400" b="0">
                    <a:solidFill>
                      <a:srgbClr val="111827"/>
                    </a:solidFill>
                    <a:latin typeface="Arial"/>
                  </a:rPr>
                  <a:t> gives </a:t>
                </a:r>
                <a:r>
                  <a:rPr lang="en-IN" sz="2400">
                    <a:solidFill>
                      <a:srgbClr val="111827"/>
                    </a:solidFill>
                    <a:latin typeface="Cambria Math" panose="02040503050406030204" pitchFamily="18" charset="0"/>
                  </a:rPr>
                  <a:t>$C=\frac{1}{3}$</a:t>
                </a:r>
                <a:r>
                  <a:rPr sz="2400" b="0">
                    <a:solidFill>
                      <a:srgbClr val="111827"/>
                    </a:solidFill>
                    <a:latin typeface="Arial"/>
                  </a:rPr>
                  <a:t>, so </a:t>
                </a:r>
                <a:r>
                  <a:rPr lang="en-IN" sz="2400">
                    <a:solidFill>
                      <a:srgbClr val="111827"/>
                    </a:solidFill>
                    <a:latin typeface="Cambria Math" panose="02040503050406030204" pitchFamily="18" charset="0"/>
                  </a:rPr>
                  <a:t>$f(x)=\frac{2}{3}x^3+\frac{4}{3}x+\frac{1}{3}$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$\int_{-3}^{3}f(x)\,dx=\int_{-3}^{3}\left(\frac{2}{3}x^3+\frac{4}{3}x\right)dx+\int_{-3}^{3}\frac{1}{3}\,dx=0+\frac{1}{3}\cdot6=2$</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2</a:t>
            </a:r>
            <a:endParaRPr sz="2800">
              <a:solidFill>
                <a:srgbClr val="15803D"/>
              </a:solidFill>
            </a:endParaRP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Subtract the cubic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m:t>
                        </m:r>
                      </m:num>
                      <m:den>
                        <m:r>
                          <a:rPr lang="en-IN" sz="2400" i="1">
                            <a:solidFill>
                              <a:srgbClr val="78350F"/>
                            </a:solidFill>
                            <a:latin typeface="Cambria Math" panose="02040503050406030204" pitchFamily="18" charset="0"/>
                          </a:rPr>
                          <m:t>3</m:t>
                        </m:r>
                      </m:den>
                    </m:f>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3</m:t>
                        </m:r>
                      </m:sup>
                    </m:sSup>
                  </m:oMath>
                </a14:m>
                <a:r>
                  <a:rPr sz="2400" b="0">
                    <a:solidFill>
                      <a:srgbClr val="78350F"/>
                    </a:solidFill>
                    <a:latin typeface="Arial"/>
                  </a:rPr>
                  <a:t> and the constant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3</m:t>
                        </m:r>
                      </m:den>
                    </m:f>
                  </m:oMath>
                </a14:m>
                <a:r>
                  <a:rPr sz="2400" b="0">
                    <a:solidFill>
                      <a:srgbClr val="78350F"/>
                    </a:solidFill>
                    <a:latin typeface="Arial"/>
                  </a:rPr>
                  <a:t> so the remaining function is additive, hence linear.</a:t>
                </a:r>
                <a:endParaRPr sz="2400">
                  <a:solidFill>
                    <a:srgbClr val="78350F"/>
                  </a:solidFill>
                </a:endParaRPr>
              </a:p>
            </p:txBody>
          </p:sp>
        </mc:Choice>
        <mc:Fallback>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Subtract the cubic </a:t>
                </a:r>
                <a:r>
                  <a:rPr lang="en-IN" sz="2400">
                    <a:solidFill>
                      <a:srgbClr val="78350F"/>
                    </a:solidFill>
                    <a:latin typeface="Cambria Math" panose="02040503050406030204" pitchFamily="18" charset="0"/>
                  </a:rPr>
                  <a:t>$\frac{2}{3}x^3$</a:t>
                </a:r>
                <a:r>
                  <a:rPr sz="2400" b="0">
                    <a:solidFill>
                      <a:srgbClr val="78350F"/>
                    </a:solidFill>
                    <a:latin typeface="Arial"/>
                  </a:rPr>
                  <a:t> and the constant </a:t>
                </a:r>
                <a:r>
                  <a:rPr lang="en-IN" sz="2400">
                    <a:solidFill>
                      <a:srgbClr val="78350F"/>
                    </a:solidFill>
                    <a:latin typeface="Cambria Math" panose="02040503050406030204" pitchFamily="18" charset="0"/>
                  </a:rPr>
                  <a:t>$\frac{1}{3}$</a:t>
                </a:r>
                <a:r>
                  <a:rPr sz="2400" b="0">
                    <a:solidFill>
                      <a:srgbClr val="78350F"/>
                    </a:solidFill>
                    <a:latin typeface="Arial"/>
                  </a:rPr>
                  <a:t> so the remaining function is additive, hence linear.</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As before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Define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As before </a:t>
                </a:r>
                <a:r>
                  <a:rPr lang="en-IN" sz="2400">
                    <a:solidFill>
                      <a:srgbClr val="111827"/>
                    </a:solidFill>
                    <a:latin typeface="Cambria Math" panose="02040503050406030204" pitchFamily="18" charset="0"/>
                  </a:rPr>
                  <a:t>$k=6$</a:t>
                </a:r>
                <a:r>
                  <a:rPr sz="2400" b="0">
                    <a:solidFill>
                      <a:srgbClr val="111827"/>
                    </a:solidFill>
                    <a:latin typeface="Arial"/>
                  </a:rPr>
                  <a:t>, </a:t>
                </a:r>
                <a:r>
                  <a:rPr lang="en-IN" sz="2400">
                    <a:solidFill>
                      <a:srgbClr val="111827"/>
                    </a:solidFill>
                    <a:latin typeface="Cambria Math" panose="02040503050406030204" pitchFamily="18" charset="0"/>
                  </a:rPr>
                  <a:t>$f(0)=\frac{1}{3}$</a:t>
                </a:r>
                <a:r>
                  <a:rPr sz="2400" b="0">
                    <a:solidFill>
                      <a:srgbClr val="111827"/>
                    </a:solidFill>
                    <a:latin typeface="Arial"/>
                  </a:rPr>
                  <a:t> and </a:t>
                </a:r>
                <a:r>
                  <a:rPr lang="en-IN" sz="2400">
                    <a:solidFill>
                      <a:srgbClr val="111827"/>
                    </a:solidFill>
                    <a:latin typeface="Cambria Math" panose="02040503050406030204" pitchFamily="18" charset="0"/>
                  </a:rPr>
                  <a:t>$f'(0)=\frac{4}{3}$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Use </a:t>
                </a:r>
                <a:r>
                  <a:rPr lang="en-IN" sz="2400">
                    <a:solidFill>
                      <a:srgbClr val="111827"/>
                    </a:solidFill>
                    <a:latin typeface="Cambria Math" panose="02040503050406030204" pitchFamily="18" charset="0"/>
                  </a:rPr>
                  <a:t>$(x+y)^3-x^3-y^3=3xy(x+y)$</a:t>
                </a:r>
                <a:r>
                  <a:rPr sz="2400" b="0">
                    <a:solidFill>
                      <a:srgbClr val="111827"/>
                    </a:solidFill>
                    <a:latin typeface="Arial"/>
                  </a:rPr>
                  <a:t>. Define </a:t>
                </a:r>
                <a:r>
                  <a:rPr lang="en-IN" sz="2400">
                    <a:solidFill>
                      <a:srgbClr val="111827"/>
                    </a:solidFill>
                    <a:latin typeface="Cambria Math" panose="02040503050406030204" pitchFamily="18" charset="0"/>
                  </a:rPr>
                  <a:t>$g(x)=f(x)-\frac{2}{3}x^3-\frac{1}{3}$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$g(x+y)-g(x)-g(y)=\left[f(x+y)-f(x)-f(y)\right]-\frac{2}{3}\cdot3xy(x+y)-\frac{1}{3}+\frac{1}{3}+\frac{1}{3}=\left[2xy(x+y)-\frac{1}{3}\right]-2xy(x+y)+\frac{1}{3}=0$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is additive and differentiable, hence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𝑥</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(because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has zero derivative at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and </a:t>
                </a:r>
                <a14:m>
                  <m:oMath xmlns:m="http://schemas.openxmlformats.org/officeDocument/2006/math">
                    <m:nary>
                      <m:naryPr>
                        <m:chr m:val="∫"/>
                        <m:limLoc m:val="subSup"/>
                        <m:subHide m:val="off"/>
                        <m:supHide m:val="off"/>
                        <m:ctrlPr>
                          <a:rPr lang="en-IN" sz="2400" i="1">
                            <a:solidFill>
                              <a:srgbClr val="111827"/>
                            </a:solidFill>
                            <a:latin typeface="Cambria Math" panose="02040503050406030204" pitchFamily="18" charset="0"/>
                          </a:rPr>
                        </m:ctrlPr>
                      </m:naryPr>
                      <m: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b>
                      <m:sup>
                        <m:r>
                          <a:rPr lang="en-IN" sz="2400" i="1">
                            <a:solidFill>
                              <a:srgbClr val="111827"/>
                            </a:solidFill>
                            <a:latin typeface="Cambria Math" panose="02040503050406030204" pitchFamily="18" charset="0"/>
                          </a:rPr>
                          <m:t>3</m:t>
                        </m:r>
                      </m:sup>
                      <m:e>
                        <m:r>
                          <a:rPr lang="en-IN" sz="2400" i="1">
                            <a:solidFill>
                              <a:srgbClr val="111827"/>
                            </a:solidFill>
                            <a:latin typeface="Cambria Math" panose="02040503050406030204" pitchFamily="18" charset="0"/>
                          </a:rPr>
                          <m:t>𝑓</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since the other two terms are odd.</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$g$</a:t>
                </a:r>
                <a:r>
                  <a:rPr sz="2400" b="0">
                    <a:solidFill>
                      <a:srgbClr val="111827"/>
                    </a:solidFill>
                    <a:latin typeface="Arial"/>
                  </a:rPr>
                  <a:t> is additive and differentiable, hence </a:t>
                </a:r>
                <a:r>
                  <a:rPr lang="en-IN" sz="2400">
                    <a:solidFill>
                      <a:srgbClr val="111827"/>
                    </a:solidFill>
                    <a:latin typeface="Cambria Math" panose="02040503050406030204" pitchFamily="18" charset="0"/>
                  </a:rPr>
                  <a:t>$g(x)=cx$</a:t>
                </a:r>
                <a:r>
                  <a:rPr sz="2400" b="0">
                    <a:solidFill>
                      <a:srgbClr val="111827"/>
                    </a:solidFill>
                    <a:latin typeface="Arial"/>
                  </a:rPr>
                  <a:t> with </a:t>
                </a:r>
                <a:r>
                  <a:rPr lang="en-IN" sz="2400">
                    <a:solidFill>
                      <a:srgbClr val="111827"/>
                    </a:solidFill>
                    <a:latin typeface="Cambria Math" panose="02040503050406030204" pitchFamily="18" charset="0"/>
                  </a:rPr>
                  <a:t>$c=g'(0)=f'(0)=\frac{4}{3}$</a:t>
                </a:r>
                <a:r>
                  <a:rPr sz="2400" b="0">
                    <a:solidFill>
                      <a:srgbClr val="111827"/>
                    </a:solidFill>
                    <a:latin typeface="Arial"/>
                  </a:rPr>
                  <a:t> (because </a:t>
                </a:r>
                <a:r>
                  <a:rPr lang="en-IN" sz="2400">
                    <a:solidFill>
                      <a:srgbClr val="111827"/>
                    </a:solidFill>
                    <a:latin typeface="Cambria Math" panose="02040503050406030204" pitchFamily="18" charset="0"/>
                  </a:rPr>
                  <a:t>$\frac{2}{3}x^3$</a:t>
                </a:r>
                <a:r>
                  <a:rPr sz="2400" b="0">
                    <a:solidFill>
                      <a:srgbClr val="111827"/>
                    </a:solidFill>
                    <a:latin typeface="Arial"/>
                  </a:rPr>
                  <a:t> has zero derivative at </a:t>
                </a:r>
                <a:r>
                  <a:rPr lang="en-IN" sz="2400">
                    <a:solidFill>
                      <a:srgbClr val="111827"/>
                    </a:solidFill>
                    <a:latin typeface="Cambria Math" panose="02040503050406030204" pitchFamily="18" charset="0"/>
                  </a:rPr>
                  <a: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r>
                  <a:rPr lang="en-IN" sz="2400">
                    <a:solidFill>
                      <a:srgbClr val="111827"/>
                    </a:solidFill>
                    <a:latin typeface="Cambria Math" panose="02040503050406030204" pitchFamily="18" charset="0"/>
                  </a:rPr>
                  <a:t>$f(x)=\frac{2}{3}x^3+\frac{4}{3}x+\frac{1}{3}$</a:t>
                </a:r>
                <a:r>
                  <a:rPr sz="2400" b="0">
                    <a:solidFill>
                      <a:srgbClr val="111827"/>
                    </a:solidFill>
                    <a:latin typeface="Arial"/>
                  </a:rPr>
                  <a:t> and </a:t>
                </a:r>
                <a:r>
                  <a:rPr lang="en-IN" sz="2400">
                    <a:solidFill>
                      <a:srgbClr val="111827"/>
                    </a:solidFill>
                    <a:latin typeface="Cambria Math" panose="02040503050406030204" pitchFamily="18" charset="0"/>
                  </a:rPr>
                  <a:t>$\int_{-3}^{3}f(x)dx=\frac{1}{3}\cdot6=2$</a:t>
                </a:r>
                <a:r>
                  <a:rPr sz="2400" b="0">
                    <a:solidFill>
                      <a:srgbClr val="111827"/>
                    </a:solidFill>
                    <a:latin typeface="Arial"/>
                  </a:rPr>
                  <a:t> since the other two terms are odd.</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2</a:t>
            </a:r>
            <a:endParaRPr sz="2800">
              <a:solidFill>
                <a:srgbClr val="15803D"/>
              </a:solidFill>
            </a:endParaRP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Principal values: </a:t>
                </a:r>
                <a14:m>
                  <m:oMath xmlns:m="http://schemas.openxmlformats.org/officeDocument/2006/math">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put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use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lim</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ℎ</m:t>
                        </m:r>
                      </m:den>
                    </m:f>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oMath>
                </a14:m>
                <a:r>
                  <a:rPr sz="2400" b="0">
                    <a:solidFill>
                      <a:srgbClr val="111827"/>
                    </a:solidFill>
                    <a:latin typeface="Arial"/>
                  </a:rPr>
                  <a:t> to get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 terms of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differentiable (indeed continuous) additive function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nary>
                      <m:naryPr>
                        <m:chr m:val="∫"/>
                        <m:limLoc m:val="subSup"/>
                        <m:subHide m:val="off"/>
                        <m:supHide m:val="off"/>
                        <m:ctrlPr>
                          <a:rPr lang="en-IN" sz="2400" i="1">
                            <a:solidFill>
                              <a:srgbClr val="111827"/>
                            </a:solidFill>
                            <a:latin typeface="Cambria Math" panose="02040503050406030204" pitchFamily="18" charset="0"/>
                          </a:rPr>
                        </m:ctrlPr>
                      </m:naryPr>
                      <m: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ub>
                      <m:sup>
                        <m:r>
                          <a:rPr lang="en-IN" sz="2400" i="1">
                            <a:solidFill>
                              <a:srgbClr val="111827"/>
                            </a:solidFill>
                            <a:latin typeface="Cambria Math" panose="02040503050406030204" pitchFamily="18" charset="0"/>
                          </a:rPr>
                          <m:t>𝑎</m:t>
                        </m:r>
                      </m:sup>
                      <m:e>
                        <m:r>
                          <a:rPr lang="en-IN" sz="2400" i="1">
                            <a:solidFill>
                              <a:srgbClr val="111827"/>
                            </a:solidFill>
                            <a:latin typeface="Cambria Math" panose="02040503050406030204" pitchFamily="18" charset="0"/>
                          </a:rPr>
                          <m:t>φ</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odd </a:t>
                </a:r>
                <a14:m>
                  <m:oMath xmlns:m="http://schemas.openxmlformats.org/officeDocument/2006/math">
                    <m:r>
                      <a:rPr lang="en-IN" sz="2400" i="1">
                        <a:solidFill>
                          <a:srgbClr val="111827"/>
                        </a:solidFill>
                        <a:latin typeface="Cambria Math" panose="02040503050406030204" pitchFamily="18" charset="0"/>
                      </a:rPr>
                      <m:t>φ</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𝑜𝑑𝑑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the integral is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Standard cubic identity: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Principal values: </a:t>
                </a:r>
                <a:r>
                  <a:rPr lang="en-IN" sz="2400">
                    <a:solidFill>
                      <a:srgbClr val="111827"/>
                    </a:solidFill>
                    <a:latin typeface="Cambria Math" panose="02040503050406030204" pitchFamily="18" charset="0"/>
                  </a:rPr>
                  <a:t>$\cos^{-1}(\cos x)=x$</a:t>
                </a:r>
                <a:r>
                  <a:rPr sz="2400" b="0">
                    <a:solidFill>
                      <a:srgbClr val="111827"/>
                    </a:solidFill>
                    <a:latin typeface="Arial"/>
                  </a:rPr>
                  <a:t> for </a:t>
                </a:r>
                <a:r>
                  <a:rPr lang="en-IN" sz="2400">
                    <a:solidFill>
                      <a:srgbClr val="111827"/>
                    </a:solidFill>
                    <a:latin typeface="Cambria Math" panose="02040503050406030204" pitchFamily="18" charset="0"/>
                  </a:rPr>
                  <a:t>$x\in[0,\pi]$</a:t>
                </a:r>
                <a:r>
                  <a:rPr sz="2400" b="0">
                    <a:solidFill>
                      <a:srgbClr val="111827"/>
                    </a:solidFill>
                    <a:latin typeface="Arial"/>
                  </a:rPr>
                  <a:t>; </a:t>
                </a:r>
                <a:r>
                  <a:rPr lang="en-IN" sz="2400">
                    <a:solidFill>
                      <a:srgbClr val="111827"/>
                    </a:solidFill>
                    <a:latin typeface="Cambria Math" panose="02040503050406030204" pitchFamily="18" charset="0"/>
                  </a:rPr>
                  <a:t>$\sin^{-1}(\sin x)=\pi-x$</a:t>
                </a:r>
                <a:r>
                  <a:rPr sz="2400" b="0">
                    <a:solidFill>
                      <a:srgbClr val="111827"/>
                    </a:solidFill>
                    <a:latin typeface="Arial"/>
                  </a:rPr>
                  <a:t> for </a:t>
                </a:r>
                <a:r>
                  <a:rPr lang="en-IN" sz="2400">
                    <a:solidFill>
                      <a:srgbClr val="111827"/>
                    </a:solidFill>
                    <a:latin typeface="Cambria Math" panose="02040503050406030204" pitchFamily="18" charset="0"/>
                  </a:rPr>
                  <a:t>$x\in\left[\frac{\pi}{2},\frac{3\pi}{2}\right]$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$f(x+y)=f(x)+f(y)+P(x,y)$</a:t>
                </a:r>
                <a:r>
                  <a:rPr sz="2400" b="0">
                    <a:solidFill>
                      <a:srgbClr val="111827"/>
                    </a:solidFill>
                    <a:latin typeface="Arial"/>
                  </a:rPr>
                  <a:t> put </a:t>
                </a:r>
                <a:r>
                  <a:rPr lang="en-IN" sz="2400">
                    <a:solidFill>
                      <a:srgbClr val="111827"/>
                    </a:solidFill>
                    <a:latin typeface="Cambria Math" panose="02040503050406030204" pitchFamily="18" charset="0"/>
                  </a:rPr>
                  <a:t>$x=y=0$</a:t>
                </a:r>
                <a:r>
                  <a:rPr sz="2400" b="0">
                    <a:solidFill>
                      <a:srgbClr val="111827"/>
                    </a:solidFill>
                    <a:latin typeface="Arial"/>
                  </a:rPr>
                  <a:t> for </a:t>
                </a:r>
                <a:r>
                  <a:rPr lang="en-IN" sz="2400">
                    <a:solidFill>
                      <a:srgbClr val="111827"/>
                    </a:solidFill>
                    <a:latin typeface="Cambria Math" panose="02040503050406030204" pitchFamily="18" charset="0"/>
                  </a:rPr>
                  <a:t>$f(0)$</a:t>
                </a:r>
                <a:r>
                  <a:rPr sz="2400" b="0">
                    <a:solidFill>
                      <a:srgbClr val="111827"/>
                    </a:solidFill>
                    <a:latin typeface="Arial"/>
                  </a:rPr>
                  <a:t> and use </a:t>
                </a:r>
                <a:r>
                  <a:rPr lang="en-IN" sz="2400">
                    <a:solidFill>
                      <a:srgbClr val="111827"/>
                    </a:solidFill>
                    <a:latin typeface="Cambria Math" panose="02040503050406030204" pitchFamily="18" charset="0"/>
                  </a:rPr>
                  <a:t>$f'(x)=\lim\frac{f(x+h)-f(x)}{h}$</a:t>
                </a:r>
                <a:r>
                  <a:rPr sz="2400" b="0">
                    <a:solidFill>
                      <a:srgbClr val="111827"/>
                    </a:solidFill>
                    <a:latin typeface="Arial"/>
                  </a:rPr>
                  <a:t> with </a:t>
                </a:r>
                <a:r>
                  <a:rPr lang="en-IN" sz="2400">
                    <a:solidFill>
                      <a:srgbClr val="111827"/>
                    </a:solidFill>
                    <a:latin typeface="Cambria Math" panose="02040503050406030204" pitchFamily="18" charset="0"/>
                  </a:rPr>
                  <a:t>$y=h$</a:t>
                </a:r>
                <a:r>
                  <a:rPr sz="2400" b="0">
                    <a:solidFill>
                      <a:srgbClr val="111827"/>
                    </a:solidFill>
                    <a:latin typeface="Arial"/>
                  </a:rPr>
                  <a:t> to get </a:t>
                </a:r>
                <a:r>
                  <a:rPr lang="en-IN" sz="2400">
                    <a:solidFill>
                      <a:srgbClr val="111827"/>
                    </a:solidFill>
                    <a:latin typeface="Cambria Math" panose="02040503050406030204" pitchFamily="18" charset="0"/>
                  </a:rPr>
                  <a:t>$f'(x)$</a:t>
                </a:r>
                <a:r>
                  <a:rPr sz="2400" b="0">
                    <a:solidFill>
                      <a:srgbClr val="111827"/>
                    </a:solidFill>
                    <a:latin typeface="Arial"/>
                  </a:rPr>
                  <a:t> in terms of </a:t>
                </a:r>
                <a:r>
                  <a:rPr lang="en-IN" sz="2400">
                    <a:solidFill>
                      <a:srgbClr val="111827"/>
                    </a:solidFill>
                    <a:latin typeface="Cambria Math" panose="02040503050406030204" pitchFamily="18" charset="0"/>
                  </a:rPr>
                  <a:t>$f'(0)$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differentiable (indeed continuous) additive function </a:t>
                </a:r>
                <a:r>
                  <a:rPr lang="en-IN" sz="2400">
                    <a:solidFill>
                      <a:srgbClr val="111827"/>
                    </a:solidFill>
                    <a:latin typeface="Cambria Math" panose="02040503050406030204" pitchFamily="18" charset="0"/>
                  </a:rPr>
                  <a:t>$g(x+y)=g(x)+g(y)$</a:t>
                </a:r>
                <a:r>
                  <a:rPr sz="2400" b="0">
                    <a:solidFill>
                      <a:srgbClr val="111827"/>
                    </a:solidFill>
                    <a:latin typeface="Arial"/>
                  </a:rPr>
                  <a:t> is </a:t>
                </a:r>
                <a:r>
                  <a:rPr lang="en-IN" sz="2400">
                    <a:solidFill>
                      <a:srgbClr val="111827"/>
                    </a:solidFill>
                    <a:latin typeface="Cambria Math" panose="02040503050406030204" pitchFamily="18" charset="0"/>
                  </a:rPr>
                  <a:t>$g(x)=cx$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$\int_{-a}^{a}\varphi(x)\,dx=0$</a:t>
                </a:r>
                <a:r>
                  <a:rPr sz="2400" b="0">
                    <a:solidFill>
                      <a:srgbClr val="111827"/>
                    </a:solidFill>
                    <a:latin typeface="Arial"/>
                  </a:rPr>
                  <a:t> for odd </a:t>
                </a:r>
                <a:r>
                  <a:rPr lang="en-IN" sz="2400">
                    <a:solidFill>
                      <a:srgbClr val="111827"/>
                    </a:solidFill>
                    <a:latin typeface="Cambria Math" panose="02040503050406030204" pitchFamily="18" charset="0"/>
                  </a:rPr>
                  <a:t>$\varphi$</a:t>
                </a:r>
                <a:r>
                  <a:rPr sz="2400" b="0">
                    <a:solidFill>
                      <a:srgbClr val="111827"/>
                    </a:solidFill>
                    <a:latin typeface="Arial"/>
                  </a:rPr>
                  <a:t>; for </a:t>
                </a:r>
                <a:r>
                  <a:rPr lang="en-IN" sz="2400">
                    <a:solidFill>
                      <a:srgbClr val="111827"/>
                    </a:solidFill>
                    <a:latin typeface="Cambria Math" panose="02040503050406030204" pitchFamily="18" charset="0"/>
                  </a:rPr>
                  <a:t>$f=\text{odd}+c$</a:t>
                </a:r>
                <a:r>
                  <a:rPr sz="2400" b="0">
                    <a:solidFill>
                      <a:srgbClr val="111827"/>
                    </a:solidFill>
                    <a:latin typeface="Arial"/>
                  </a:rPr>
                  <a:t> the integral is </a:t>
                </a:r>
                <a:r>
                  <a:rPr lang="en-IN" sz="2400">
                    <a:solidFill>
                      <a:srgbClr val="111827"/>
                    </a:solidFill>
                    <a:latin typeface="Cambria Math" panose="02040503050406030204" pitchFamily="18" charset="0"/>
                  </a:rPr>
                  <a:t>$2ac$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Standard cubic identity: </a:t>
                </a:r>
                <a:r>
                  <a:rPr lang="en-IN" sz="2400">
                    <a:solidFill>
                      <a:srgbClr val="111827"/>
                    </a:solidFill>
                    <a:latin typeface="Cambria Math" panose="02040503050406030204" pitchFamily="18" charset="0"/>
                  </a:rPr>
                  <a:t>$(x+y)^3-x^3-y^3=3xy(x+y)$</a:t>
                </a:r>
                <a:r>
                  <a:rPr sz="2400" b="0">
                    <a:solidFill>
                      <a:srgbClr val="111827"/>
                    </a:solidFill>
                    <a:latin typeface="Arial"/>
                  </a:rPr>
                  <a:t> (check </a:t>
                </a:r>
                <a:r>
                  <a:rPr lang="en-IN" sz="2400">
                    <a:solidFill>
                      <a:srgbClr val="111827"/>
                    </a:solidFill>
                    <a:latin typeface="Cambria Math" panose="02040503050406030204" pitchFamily="18" charset="0"/>
                  </a:rPr>
                  <a:t>$x=y=1$</a:t>
                </a:r>
                <a:r>
                  <a:rPr sz="2400" b="0">
                    <a:solidFill>
                      <a:srgbClr val="111827"/>
                    </a:solidFill>
                    <a:latin typeface="Arial"/>
                  </a:rPr>
                  <a:t>: </a:t>
                </a:r>
                <a:r>
                  <a:rPr lang="en-IN" sz="2400">
                    <a:solidFill>
                      <a:srgbClr val="111827"/>
                    </a:solidFill>
                    <a:latin typeface="Cambria Math" panose="02040503050406030204" pitchFamily="18" charset="0"/>
                  </a:rPr>
                  <a:t>$8-2=6=3\cdot2$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2275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left"/>
                                </m:mcPr>
                              </m:mc>
                              <m:mc>
                                <m:mcPr>
                                  <m:count m:val="1"/>
                                  <m:mcJc m:val="left"/>
                                </m:mcPr>
                              </m:mc>
                            </m:mcs>
                            <m:ctrlPr>
                              <a:rPr lang="en-IN" sz="2400" i="1">
                                <a:solidFill>
                                  <a:srgbClr val="111827"/>
                                </a:solidFill>
                                <a:latin typeface="Cambria Math" panose="02040503050406030204" pitchFamily="18" charset="0"/>
                              </a:rPr>
                            </m:ctrlPr>
                          </m:mPr>
                          <m:mr>
                            <m:e>
                              <m:r>
                                <m:rPr>
                                  <m:sty m:val="p"/>
                                </m:rPr>
                                <a:rPr lang="en-IN" sz="2400">
                                  <a:solidFill>
                                    <a:srgbClr val="111827"/>
                                  </a:solidFill>
                                  <a:latin typeface="Cambria Math" panose="02040503050406030204" pitchFamily="18" charset="0"/>
                                </a:rPr>
                                <m:t>sin</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e>
                            <m:e>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e>
                              </m:d>
                            </m:e>
                          </m:mr>
                          <m:mr>
                            <m:e>
                              <m:r>
                                <m:rPr>
                                  <m:sty m:val="p"/>
                                </m:rPr>
                                <a:rPr lang="en-IN" sz="2400">
                                  <a:solidFill>
                                    <a:srgbClr val="111827"/>
                                  </a:solidFill>
                                  <a:latin typeface="Cambria Math" panose="02040503050406030204" pitchFamily="18" charset="0"/>
                                </a:rPr>
                                <m:t>sin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e>
                            <m:e>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e>
                              </m:d>
                            </m:e>
                          </m:mr>
                        </m:m>
                      </m:e>
                    </m:d>
                  </m:oMath>
                </a14:m>
                <a:r>
                  <a:rPr sz="2400" b="0">
                    <a:solidFill>
                      <a:srgbClr val="111827"/>
                    </a:solidFill>
                    <a:latin typeface="Arial"/>
                  </a:rPr>
                  <a:t> has a maximum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then number of all possible integral values of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endParaRPr sz="2400">
                  <a:solidFill>
                    <a:srgbClr val="111827"/>
                  </a:solidFill>
                </a:endParaRPr>
              </a:p>
            </p:txBody>
          </p:sp>
        </mc:Choice>
        <mc:Fallback>
          <p:sp>
            <p:nvSpPr>
              <p:cNvPr id="4" name="Rounded Rectangle 3"/>
              <p:cNvSpPr/>
              <p:nvPr/>
            </p:nvSpPr>
            <p:spPr>
              <a:xfrm>
                <a:off x="731520" y="1280160"/>
                <a:ext cx="10725912" cy="22275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$f(x)=\begin{cases}\sin(\cos x)+\cos(\sin x), &amp; x\in\left[-\frac{\pi}{2},0\right]\\ \sin(\lambda\cos x)-x+1, &amp; x\in\left(0,\frac{\pi}{2}\right]\end{cases}$</a:t>
                </a:r>
                <a:r>
                  <a:rPr sz="2400" b="0">
                    <a:solidFill>
                      <a:srgbClr val="111827"/>
                    </a:solidFill>
                    <a:latin typeface="Arial"/>
                  </a:rPr>
                  <a:t> has a maximum at </a:t>
                </a:r>
                <a:r>
                  <a:rPr lang="en-IN" sz="2400">
                    <a:solidFill>
                      <a:srgbClr val="111827"/>
                    </a:solidFill>
                    <a:latin typeface="Cambria Math" panose="02040503050406030204" pitchFamily="18" charset="0"/>
                  </a:rPr>
                  <a:t>$x=0$</a:t>
                </a:r>
                <a:r>
                  <a:rPr sz="2400" b="0">
                    <a:solidFill>
                      <a:srgbClr val="111827"/>
                    </a:solidFill>
                    <a:latin typeface="Arial"/>
                  </a:rPr>
                  <a:t>, then number of all possible integral values of </a:t>
                </a:r>
                <a:r>
                  <a:rPr lang="en-IN" sz="2400">
                    <a:solidFill>
                      <a:srgbClr val="111827"/>
                    </a:solidFill>
                    <a:latin typeface="Cambria Math" panose="02040503050406030204" pitchFamily="18" charset="0"/>
                  </a:rPr>
                  <a:t>$\lambda\in[0,2\pi]$</a:t>
                </a:r>
                <a:r>
                  <a:rPr sz="2400" b="0">
                    <a:solidFill>
                      <a:srgbClr val="111827"/>
                    </a:solidFill>
                    <a:latin typeface="Arial"/>
                  </a:rPr>
                  <a:t> is :</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736339"/>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Integer Type(0 to 9)(4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Local maximum of a piecewise function at the junction point, Comparison of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λ</m:t>
                    </m:r>
                  </m:oMath>
                </a14:m>
                <a:r>
                  <a:rPr sz="2400" b="0">
                    <a:solidFill>
                      <a:srgbClr val="111827"/>
                    </a:solidFill>
                    <a:latin typeface="Arial"/>
                  </a:rPr>
                  <a:t> with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1</m:t>
                    </m:r>
                  </m:oMath>
                </a14:m>
                <a:r>
                  <a:rPr sz="2400" b="0">
                    <a:solidFill>
                      <a:srgbClr val="111827"/>
                    </a:solidFill>
                    <a:latin typeface="Arial"/>
                  </a:rPr>
                  <a:t> (trigonometric inequality)</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Choice>
        <mc:Fallback>
          <p:sp>
            <p:nvSpPr>
              <p:cNvPr id="5" name="Rectangle 4"/>
              <p:cNvSpPr/>
              <p:nvPr/>
            </p:nvSpPr>
            <p:spPr>
              <a:xfrm>
                <a:off x="731520" y="3736339"/>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Integer Type(0 to 9)(4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Local maximum of a piecewise function at the junction point, Comparison of </a:t>
                </a:r>
                <a:r>
                  <a:rPr lang="en-IN" sz="2400">
                    <a:solidFill>
                      <a:srgbClr val="111827"/>
                    </a:solidFill>
                    <a:latin typeface="Cambria Math" panose="02040503050406030204" pitchFamily="18" charset="0"/>
                  </a:rPr>
                  <a:t>$\sin\lambda$</a:t>
                </a:r>
                <a:r>
                  <a:rPr sz="2400" b="0">
                    <a:solidFill>
                      <a:srgbClr val="111827"/>
                    </a:solidFill>
                    <a:latin typeface="Arial"/>
                  </a:rPr>
                  <a:t> with </a:t>
                </a:r>
                <a:r>
                  <a:rPr lang="en-IN" sz="2400">
                    <a:solidFill>
                      <a:srgbClr val="111827"/>
                    </a:solidFill>
                    <a:latin typeface="Cambria Math" panose="02040503050406030204" pitchFamily="18" charset="0"/>
                  </a:rPr>
                  <a:t>$\sin1$</a:t>
                </a:r>
                <a:r>
                  <a:rPr sz="2400" b="0">
                    <a:solidFill>
                      <a:srgbClr val="111827"/>
                    </a:solidFill>
                    <a:latin typeface="Arial"/>
                  </a:rPr>
                  <a:t> (trigonometric inequality)</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Fallback>
      </mc:AlternateContent>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Left of </a:t>
                </a:r>
                <a14:m>
                  <m:oMath xmlns:m="http://schemas.openxmlformats.org/officeDocument/2006/math">
                    <m:r>
                      <a:rPr lang="en-IN" sz="2400" i="1">
                        <a:solidFill>
                          <a:srgbClr val="78350F"/>
                        </a:solidFill>
                        <a:latin typeface="Cambria Math" panose="02040503050406030204" pitchFamily="18" charset="0"/>
                      </a:rPr>
                      <m:t>0</m:t>
                    </m:r>
                  </m:oMath>
                </a14:m>
                <a:r>
                  <a:rPr sz="2400" b="0">
                    <a:solidFill>
                      <a:srgbClr val="78350F"/>
                    </a:solidFill>
                    <a:latin typeface="Arial"/>
                  </a:rPr>
                  <a:t> the function is increasing, so the maximum at </a:t>
                </a:r>
                <a14:m>
                  <m:oMath xmlns:m="http://schemas.openxmlformats.org/officeDocument/2006/math">
                    <m:r>
                      <a:rPr lang="en-IN" sz="2400" i="1">
                        <a:solidFill>
                          <a:srgbClr val="78350F"/>
                        </a:solidFill>
                        <a:latin typeface="Cambria Math" panose="02040503050406030204" pitchFamily="18" charset="0"/>
                      </a:rPr>
                      <m:t>0</m:t>
                    </m:r>
                  </m:oMath>
                </a14:m>
                <a:r>
                  <a:rPr sz="2400" b="0">
                    <a:solidFill>
                      <a:srgbClr val="78350F"/>
                    </a:solidFill>
                    <a:latin typeface="Arial"/>
                  </a:rPr>
                  <a:t> needs only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0</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oMath>
                </a14:m>
                <a:r>
                  <a:rPr sz="2400" b="0">
                    <a:solidFill>
                      <a:srgbClr val="78350F"/>
                    </a:solidFill>
                    <a:latin typeface="Arial"/>
                  </a:rPr>
                  <a:t>, i.e. </a:t>
                </a:r>
                <a14:m>
                  <m:oMath xmlns:m="http://schemas.openxmlformats.org/officeDocument/2006/math">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λ</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1</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Left of </a:t>
                </a:r>
                <a:r>
                  <a:rPr lang="en-IN" sz="2400">
                    <a:solidFill>
                      <a:srgbClr val="78350F"/>
                    </a:solidFill>
                    <a:latin typeface="Cambria Math" panose="02040503050406030204" pitchFamily="18" charset="0"/>
                  </a:rPr>
                  <a:t>$0$</a:t>
                </a:r>
                <a:r>
                  <a:rPr sz="2400" b="0">
                    <a:solidFill>
                      <a:srgbClr val="78350F"/>
                    </a:solidFill>
                    <a:latin typeface="Arial"/>
                  </a:rPr>
                  <a:t> the function is increasing, so the maximum at </a:t>
                </a:r>
                <a:r>
                  <a:rPr lang="en-IN" sz="2400">
                    <a:solidFill>
                      <a:srgbClr val="78350F"/>
                    </a:solidFill>
                    <a:latin typeface="Cambria Math" panose="02040503050406030204" pitchFamily="18" charset="0"/>
                  </a:rPr>
                  <a:t>$0$</a:t>
                </a:r>
                <a:r>
                  <a:rPr sz="2400" b="0">
                    <a:solidFill>
                      <a:srgbClr val="78350F"/>
                    </a:solidFill>
                    <a:latin typeface="Arial"/>
                  </a:rPr>
                  <a:t> needs only </a:t>
                </a:r>
                <a:r>
                  <a:rPr lang="en-IN" sz="2400">
                    <a:solidFill>
                      <a:srgbClr val="78350F"/>
                    </a:solidFill>
                    <a:latin typeface="Cambria Math" panose="02040503050406030204" pitchFamily="18" charset="0"/>
                  </a:rPr>
                  <a:t>$f(0)\ge f(0^+)$</a:t>
                </a:r>
                <a:r>
                  <a:rPr sz="2400" b="0">
                    <a:solidFill>
                      <a:srgbClr val="78350F"/>
                    </a:solidFill>
                    <a:latin typeface="Arial"/>
                  </a:rPr>
                  <a:t>, i.e. </a:t>
                </a:r>
                <a:r>
                  <a:rPr lang="en-IN" sz="2400">
                    <a:solidFill>
                      <a:srgbClr val="78350F"/>
                    </a:solidFill>
                    <a:latin typeface="Cambria Math" panose="02040503050406030204" pitchFamily="18" charset="0"/>
                  </a:rPr>
                  <a:t>$\sin\lambda\le\sin1$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PDF wrote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but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e>
                    </m:d>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sin</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increases up to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left side never exceeds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$f(0)=\sin(\cos0)+\cos(\sin0)=\sin1+1$</a:t>
                </a:r>
                <a:r>
                  <a:rPr sz="2400" b="0">
                    <a:solidFill>
                      <a:srgbClr val="111827"/>
                    </a:solidFill>
                    <a:latin typeface="Arial"/>
                  </a:rPr>
                  <a:t> (the PDF wrote </a:t>
                </a:r>
                <a:r>
                  <a:rPr lang="en-IN" sz="2400">
                    <a:solidFill>
                      <a:srgbClr val="111827"/>
                    </a:solidFill>
                    <a:latin typeface="Cambria Math" panose="02040503050406030204" pitchFamily="18" charset="0"/>
                  </a:rPr>
                  <a:t>$\sin1+(-1)$</a:t>
                </a:r>
                <a:r>
                  <a:rPr sz="2400" b="0">
                    <a:solidFill>
                      <a:srgbClr val="111827"/>
                    </a:solidFill>
                    <a:latin typeface="Arial"/>
                  </a:rPr>
                  <a:t>, but </a:t>
                </a:r>
                <a:r>
                  <a:rPr lang="en-IN" sz="2400">
                    <a:solidFill>
                      <a:srgbClr val="111827"/>
                    </a:solidFill>
                    <a:latin typeface="Cambria Math" panose="02040503050406030204" pitchFamily="18" charset="0"/>
                  </a:rPr>
                  <a:t>$\cos0=1$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$f(0^+)=\sin(\lambda\cos0)-0+1=\sin\lambda+1$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$x\in\left(-\frac{\pi}{2},0\right)$</a:t>
                </a:r>
                <a:r>
                  <a:rPr sz="2400" b="0">
                    <a:solidFill>
                      <a:srgbClr val="111827"/>
                    </a:solidFill>
                    <a:latin typeface="Arial"/>
                  </a:rPr>
                  <a:t>: </a:t>
                </a:r>
                <a:r>
                  <a:rPr lang="en-IN" sz="2400">
                    <a:solidFill>
                      <a:srgbClr val="111827"/>
                    </a:solidFill>
                    <a:latin typeface="Cambria Math" panose="02040503050406030204" pitchFamily="18" charset="0"/>
                  </a:rPr>
                  <a:t>$f'(x)=-\sin x\cos(\cos x)-\cos x\sin(\sin x)&gt;0$</a:t>
                </a:r>
                <a:r>
                  <a:rPr sz="2400" b="0">
                    <a:solidFill>
                      <a:srgbClr val="111827"/>
                    </a:solidFill>
                    <a:latin typeface="Arial"/>
                  </a:rPr>
                  <a:t>, so </a:t>
                </a:r>
                <a:r>
                  <a:rPr lang="en-IN" sz="2400">
                    <a:solidFill>
                      <a:srgbClr val="111827"/>
                    </a:solidFill>
                    <a:latin typeface="Cambria Math" panose="02040503050406030204" pitchFamily="18" charset="0"/>
                  </a:rPr>
                  <a:t>$f$</a:t>
                </a:r>
                <a:r>
                  <a:rPr sz="2400" b="0">
                    <a:solidFill>
                      <a:srgbClr val="111827"/>
                    </a:solidFill>
                    <a:latin typeface="Arial"/>
                  </a:rPr>
                  <a:t> increases up to </a:t>
                </a:r>
                <a:r>
                  <a:rPr lang="en-IN" sz="2400">
                    <a:solidFill>
                      <a:srgbClr val="111827"/>
                    </a:solidFill>
                    <a:latin typeface="Cambria Math" panose="02040503050406030204" pitchFamily="18" charset="0"/>
                  </a:rPr>
                  <a:t>$x=0$</a:t>
                </a:r>
                <a:r>
                  <a:rPr sz="2400" b="0">
                    <a:solidFill>
                      <a:srgbClr val="111827"/>
                    </a:solidFill>
                    <a:latin typeface="Arial"/>
                  </a:rPr>
                  <a:t>; the left side never exceeds </a:t>
                </a:r>
                <a:r>
                  <a:rPr lang="en-IN" sz="2400">
                    <a:solidFill>
                      <a:srgbClr val="111827"/>
                    </a:solidFill>
                    <a:latin typeface="Cambria Math" panose="02040503050406030204" pitchFamily="18" charset="0"/>
                  </a:rPr>
                  <a:t>$f(0)$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maximum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requires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1</m:t>
                    </m:r>
                  </m:oMath>
                </a14:m>
                <a:r>
                  <a:rPr sz="2400" b="0">
                    <a:solidFill>
                      <a:srgbClr val="111827"/>
                    </a:solidFill>
                    <a:latin typeface="Arial"/>
                  </a:rPr>
                  <a:t>. (If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continuous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is still a maximum; the PDF's strict sign would wrongly drop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1</m:t>
                    </m:r>
                  </m:oMath>
                </a14:m>
                <a:r>
                  <a:rPr sz="2400" b="0">
                    <a:solidFill>
                      <a:srgbClr val="111827"/>
                    </a:solidFill>
                    <a:latin typeface="Arial"/>
                  </a:rPr>
                  <a:t> holds for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6.28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Integers: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fails since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0.909</m:t>
                    </m:r>
                    <m:r>
                      <m:rPr>
                        <m:sty m:val="p"/>
                      </m:rPr>
                      <a:rPr lang="en-IN" sz="2400">
                        <a:solidFill>
                          <a:srgbClr val="111827"/>
                        </a:solidFill>
                        <a:latin typeface="Cambria Math" panose="02040503050406030204" pitchFamily="18" charset="0"/>
                      </a:rPr>
                      <m:t>&gt;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0.841</m:t>
                    </m:r>
                  </m:oMath>
                </a14:m>
                <a:r>
                  <a:rPr sz="2400" b="0">
                    <a:solidFill>
                      <a:srgbClr val="111827"/>
                    </a:solidFill>
                    <a:latin typeface="Arial"/>
                  </a:rPr>
                  <a:t>). Number of values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maximum at </a:t>
                </a:r>
                <a:r>
                  <a:rPr lang="en-IN" sz="2400">
                    <a:solidFill>
                      <a:srgbClr val="111827"/>
                    </a:solidFill>
                    <a:latin typeface="Cambria Math" panose="02040503050406030204" pitchFamily="18" charset="0"/>
                  </a:rPr>
                  <a:t>$x=0$</a:t>
                </a:r>
                <a:r>
                  <a:rPr sz="2400" b="0">
                    <a:solidFill>
                      <a:srgbClr val="111827"/>
                    </a:solidFill>
                    <a:latin typeface="Arial"/>
                  </a:rPr>
                  <a:t> requires </a:t>
                </a:r>
                <a:r>
                  <a:rPr lang="en-IN" sz="2400">
                    <a:solidFill>
                      <a:srgbClr val="111827"/>
                    </a:solidFill>
                    <a:latin typeface="Cambria Math" panose="02040503050406030204" pitchFamily="18" charset="0"/>
                  </a:rPr>
                  <a:t>$f(0)\ge f(0^+)$</a:t>
                </a:r>
                <a:r>
                  <a:rPr sz="2400" b="0">
                    <a:solidFill>
                      <a:srgbClr val="111827"/>
                    </a:solidFill>
                    <a:latin typeface="Arial"/>
                  </a:rPr>
                  <a:t>, i.e. </a:t>
                </a:r>
                <a:r>
                  <a:rPr lang="en-IN" sz="2400">
                    <a:solidFill>
                      <a:srgbClr val="111827"/>
                    </a:solidFill>
                    <a:latin typeface="Cambria Math" panose="02040503050406030204" pitchFamily="18" charset="0"/>
                  </a:rPr>
                  <a:t>$\sin\lambda\le\sin1$</a:t>
                </a:r>
                <a:r>
                  <a:rPr sz="2400" b="0">
                    <a:solidFill>
                      <a:srgbClr val="111827"/>
                    </a:solidFill>
                    <a:latin typeface="Arial"/>
                  </a:rPr>
                  <a:t>. (If </a:t>
                </a:r>
                <a:r>
                  <a:rPr lang="en-IN" sz="2400">
                    <a:solidFill>
                      <a:srgbClr val="111827"/>
                    </a:solidFill>
                    <a:latin typeface="Cambria Math" panose="02040503050406030204" pitchFamily="18" charset="0"/>
                  </a:rPr>
                  <a:t>$\sin\lambda=\sin1$</a:t>
                </a:r>
                <a:r>
                  <a:rPr sz="2400" b="0">
                    <a:solidFill>
                      <a:srgbClr val="111827"/>
                    </a:solidFill>
                    <a:latin typeface="Arial"/>
                  </a:rPr>
                  <a:t>, </a:t>
                </a:r>
                <a:r>
                  <a:rPr lang="en-IN" sz="2400">
                    <a:solidFill>
                      <a:srgbClr val="111827"/>
                    </a:solidFill>
                    <a:latin typeface="Cambria Math" panose="02040503050406030204" pitchFamily="18" charset="0"/>
                  </a:rPr>
                  <a:t>$f$</a:t>
                </a:r>
                <a:r>
                  <a:rPr sz="2400" b="0">
                    <a:solidFill>
                      <a:srgbClr val="111827"/>
                    </a:solidFill>
                    <a:latin typeface="Arial"/>
                  </a:rPr>
                  <a:t> is continuous and </a:t>
                </a:r>
                <a:r>
                  <a:rPr lang="en-IN" sz="2400">
                    <a:solidFill>
                      <a:srgbClr val="111827"/>
                    </a:solidFill>
                    <a:latin typeface="Cambria Math" panose="02040503050406030204" pitchFamily="18" charset="0"/>
                  </a:rPr>
                  <a:t>$f'(0^+)=-1&lt;0$</a:t>
                </a:r>
                <a:r>
                  <a:rPr sz="2400" b="0">
                    <a:solidFill>
                      <a:srgbClr val="111827"/>
                    </a:solidFill>
                    <a:latin typeface="Arial"/>
                  </a:rPr>
                  <a:t>, so </a:t>
                </a:r>
                <a:r>
                  <a:rPr lang="en-IN" sz="2400">
                    <a:solidFill>
                      <a:srgbClr val="111827"/>
                    </a:solidFill>
                    <a:latin typeface="Cambria Math" panose="02040503050406030204" pitchFamily="18" charset="0"/>
                  </a:rPr>
                  <a:t>$0$</a:t>
                </a:r>
                <a:r>
                  <a:rPr sz="2400" b="0">
                    <a:solidFill>
                      <a:srgbClr val="111827"/>
                    </a:solidFill>
                    <a:latin typeface="Arial"/>
                  </a:rPr>
                  <a:t> is still a maximum; the PDF's strict sign would wrongly drop </a:t>
                </a:r>
                <a:r>
                  <a:rPr lang="en-IN" sz="2400">
                    <a:solidFill>
                      <a:srgbClr val="111827"/>
                    </a:solidFill>
                    <a:latin typeface="Cambria Math" panose="02040503050406030204" pitchFamily="18" charset="0"/>
                  </a:rPr>
                  <a:t>$\lambda=1$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$\lambda\in[0,2\pi]$</a:t>
                </a:r>
                <a:r>
                  <a:rPr sz="2400" b="0">
                    <a:solidFill>
                      <a:srgbClr val="111827"/>
                    </a:solidFill>
                    <a:latin typeface="Arial"/>
                  </a:rPr>
                  <a:t>: </a:t>
                </a:r>
                <a:r>
                  <a:rPr lang="en-IN" sz="2400">
                    <a:solidFill>
                      <a:srgbClr val="111827"/>
                    </a:solidFill>
                    <a:latin typeface="Cambria Math" panose="02040503050406030204" pitchFamily="18" charset="0"/>
                  </a:rPr>
                  <a:t>$\sin\lambda\le\sin1$</a:t>
                </a:r>
                <a:r>
                  <a:rPr sz="2400" b="0">
                    <a:solidFill>
                      <a:srgbClr val="111827"/>
                    </a:solidFill>
                    <a:latin typeface="Arial"/>
                  </a:rPr>
                  <a:t> holds for </a:t>
                </a:r>
                <a:r>
                  <a:rPr lang="en-IN" sz="2400">
                    <a:solidFill>
                      <a:srgbClr val="111827"/>
                    </a:solidFill>
                    <a:latin typeface="Cambria Math" panose="02040503050406030204" pitchFamily="18" charset="0"/>
                  </a:rPr>
                  <a:t>$\lambda\in[0,1]\cup[\pi-1,\,2\pi]=[0,1]\cup[2.14,\,6.28]$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Integers: </a:t>
                </a:r>
                <a:r>
                  <a:rPr lang="en-IN" sz="2400">
                    <a:solidFill>
                      <a:srgbClr val="111827"/>
                    </a:solidFill>
                    <a:latin typeface="Cambria Math" panose="02040503050406030204" pitchFamily="18" charset="0"/>
                  </a:rPr>
                  <a:t>$\lambda=0,1,3,4,5,6$</a:t>
                </a:r>
                <a:r>
                  <a:rPr sz="2400" b="0">
                    <a:solidFill>
                      <a:srgbClr val="111827"/>
                    </a:solidFill>
                    <a:latin typeface="Arial"/>
                  </a:rPr>
                  <a:t> (</a:t>
                </a:r>
                <a:r>
                  <a:rPr lang="en-IN" sz="2400">
                    <a:solidFill>
                      <a:srgbClr val="111827"/>
                    </a:solidFill>
                    <a:latin typeface="Cambria Math" panose="02040503050406030204" pitchFamily="18" charset="0"/>
                  </a:rPr>
                  <a:t>$\lambda=2$</a:t>
                </a:r>
                <a:r>
                  <a:rPr sz="2400" b="0">
                    <a:solidFill>
                      <a:srgbClr val="111827"/>
                    </a:solidFill>
                    <a:latin typeface="Arial"/>
                  </a:rPr>
                  <a:t> fails since </a:t>
                </a:r>
                <a:r>
                  <a:rPr lang="en-IN" sz="2400">
                    <a:solidFill>
                      <a:srgbClr val="111827"/>
                    </a:solidFill>
                    <a:latin typeface="Cambria Math" panose="02040503050406030204" pitchFamily="18" charset="0"/>
                  </a:rPr>
                  <a:t>$\sin2\approx0.909&gt;\sin1\approx0.841$</a:t>
                </a:r>
                <a:r>
                  <a:rPr sz="2400" b="0">
                    <a:solidFill>
                      <a:srgbClr val="111827"/>
                    </a:solidFill>
                    <a:latin typeface="Arial"/>
                  </a:rPr>
                  <a:t>). Number of values </a:t>
                </a:r>
                <a:r>
                  <a:rPr lang="en-IN" sz="2400">
                    <a:solidFill>
                      <a:srgbClr val="111827"/>
                    </a:solidFill>
                    <a:latin typeface="Cambria Math" panose="02040503050406030204" pitchFamily="18" charset="0"/>
                  </a:rPr>
                  <a:t>$=6$</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6</a:t>
            </a:r>
            <a:endParaRPr sz="2800">
              <a:solidFill>
                <a:srgbClr val="15803D"/>
              </a:solidFill>
            </a:endParaRP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a junction point </a:t>
                </a:r>
                <a14:m>
                  <m:oMath xmlns:m="http://schemas.openxmlformats.org/officeDocument/2006/math">
                    <m:r>
                      <a:rPr lang="en-IN" sz="2400" i="1">
                        <a:solidFill>
                          <a:srgbClr val="111827"/>
                        </a:solidFill>
                        <a:latin typeface="Cambria Math" panose="02040503050406030204" pitchFamily="18" charset="0"/>
                      </a:rPr>
                      <m:t>𝑐</m:t>
                    </m:r>
                  </m:oMath>
                </a14:m>
                <a:r>
                  <a:rPr sz="2400" b="0">
                    <a:solidFill>
                      <a:srgbClr val="111827"/>
                    </a:solidFill>
                    <a:latin typeface="Arial"/>
                  </a:rPr>
                  <a:t> of a piecewise function, a local maximum needs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continuity or a jump the right way); if a limit equals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check the one-sided derivative.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𝑎</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&lt;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holds for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sin</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increasing on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e>
                    </m:d>
                  </m:oMath>
                </a14:m>
                <a:r>
                  <a:rPr sz="2400" b="0">
                    <a:solidFill>
                      <a:srgbClr val="111827"/>
                    </a:solidFill>
                    <a:latin typeface="Arial"/>
                  </a:rPr>
                  <a:t> because both terms have positive derivatives there.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integer counting in an interval, check the values near the endpoints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2.14</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3</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is excluded and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is included.</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a junction point </a:t>
                </a:r>
                <a:r>
                  <a:rPr lang="en-IN" sz="2400">
                    <a:solidFill>
                      <a:srgbClr val="111827"/>
                    </a:solidFill>
                    <a:latin typeface="Cambria Math" panose="02040503050406030204" pitchFamily="18" charset="0"/>
                  </a:rPr>
                  <a:t>$c$</a:t>
                </a:r>
                <a:r>
                  <a:rPr sz="2400" b="0">
                    <a:solidFill>
                      <a:srgbClr val="111827"/>
                    </a:solidFill>
                    <a:latin typeface="Arial"/>
                  </a:rPr>
                  <a:t> of a piecewise function, a local maximum needs </a:t>
                </a:r>
                <a:r>
                  <a:rPr lang="en-IN" sz="2400">
                    <a:solidFill>
                      <a:srgbClr val="111827"/>
                    </a:solidFill>
                    <a:latin typeface="Cambria Math" panose="02040503050406030204" pitchFamily="18" charset="0"/>
                  </a:rPr>
                  <a:t>$f(c)\ge f(c^-)$</a:t>
                </a:r>
                <a:r>
                  <a:rPr sz="2400" b="0">
                    <a:solidFill>
                      <a:srgbClr val="111827"/>
                    </a:solidFill>
                    <a:latin typeface="Arial"/>
                  </a:rPr>
                  <a:t> and </a:t>
                </a:r>
                <a:r>
                  <a:rPr lang="en-IN" sz="2400">
                    <a:solidFill>
                      <a:srgbClr val="111827"/>
                    </a:solidFill>
                    <a:latin typeface="Cambria Math" panose="02040503050406030204" pitchFamily="18" charset="0"/>
                  </a:rPr>
                  <a:t>$f(c)\ge f(c^+)$</a:t>
                </a:r>
                <a:r>
                  <a:rPr sz="2400" b="0">
                    <a:solidFill>
                      <a:srgbClr val="111827"/>
                    </a:solidFill>
                    <a:latin typeface="Arial"/>
                  </a:rPr>
                  <a:t> (with continuity or a jump the right way); if a limit equals </a:t>
                </a:r>
                <a:r>
                  <a:rPr lang="en-IN" sz="2400">
                    <a:solidFill>
                      <a:srgbClr val="111827"/>
                    </a:solidFill>
                    <a:latin typeface="Cambria Math" panose="02040503050406030204" pitchFamily="18" charset="0"/>
                  </a:rPr>
                  <a:t>$f(c)$</a:t>
                </a:r>
                <a:r>
                  <a:rPr sz="2400" b="0">
                    <a:solidFill>
                      <a:srgbClr val="111827"/>
                    </a:solidFill>
                    <a:latin typeface="Arial"/>
                  </a:rPr>
                  <a:t>, check the one-sided derivative.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$\sin\lambda\le\sin a$</a:t>
                </a:r>
                <a:r>
                  <a:rPr sz="2400" b="0">
                    <a:solidFill>
                      <a:srgbClr val="111827"/>
                    </a:solidFill>
                    <a:latin typeface="Arial"/>
                  </a:rPr>
                  <a:t> on </a:t>
                </a:r>
                <a:r>
                  <a:rPr lang="en-IN" sz="2400">
                    <a:solidFill>
                      <a:srgbClr val="111827"/>
                    </a:solidFill>
                    <a:latin typeface="Cambria Math" panose="02040503050406030204" pitchFamily="18" charset="0"/>
                  </a:rPr>
                  <a:t>$[0,2\pi]$</a:t>
                </a:r>
                <a:r>
                  <a:rPr sz="2400" b="0">
                    <a:solidFill>
                      <a:srgbClr val="111827"/>
                    </a:solidFill>
                    <a:latin typeface="Arial"/>
                  </a:rPr>
                  <a:t> (with </a:t>
                </a:r>
                <a:r>
                  <a:rPr lang="en-IN" sz="2400">
                    <a:solidFill>
                      <a:srgbClr val="111827"/>
                    </a:solidFill>
                    <a:latin typeface="Cambria Math" panose="02040503050406030204" pitchFamily="18" charset="0"/>
                  </a:rPr>
                  <a:t>$0&lt;a&lt;\frac{\pi}{2}$</a:t>
                </a:r>
                <a:r>
                  <a:rPr sz="2400" b="0">
                    <a:solidFill>
                      <a:srgbClr val="111827"/>
                    </a:solidFill>
                    <a:latin typeface="Arial"/>
                  </a:rPr>
                  <a:t>) holds for </a:t>
                </a:r>
                <a:r>
                  <a:rPr lang="en-IN" sz="2400">
                    <a:solidFill>
                      <a:srgbClr val="111827"/>
                    </a:solidFill>
                    <a:latin typeface="Cambria Math" panose="02040503050406030204" pitchFamily="18" charset="0"/>
                  </a:rPr>
                  <a:t>$\lambda\in[0,a]\cup[\pi-a,2\pi]$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$\sin(\cos x)+\cos(\sin x)$</a:t>
                </a:r>
                <a:r>
                  <a:rPr sz="2400" b="0">
                    <a:solidFill>
                      <a:srgbClr val="111827"/>
                    </a:solidFill>
                    <a:latin typeface="Arial"/>
                  </a:rPr>
                  <a:t> is increasing on </a:t>
                </a:r>
                <a:r>
                  <a:rPr lang="en-IN" sz="2400">
                    <a:solidFill>
                      <a:srgbClr val="111827"/>
                    </a:solidFill>
                    <a:latin typeface="Cambria Math" panose="02040503050406030204" pitchFamily="18" charset="0"/>
                  </a:rPr>
                  <a:t>$\left[-\frac{\pi}{2},0\right]$</a:t>
                </a:r>
                <a:r>
                  <a:rPr sz="2400" b="0">
                    <a:solidFill>
                      <a:srgbClr val="111827"/>
                    </a:solidFill>
                    <a:latin typeface="Arial"/>
                  </a:rPr>
                  <a:t> because both terms have positive derivatives there.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integer counting in an interval, check the values near the endpoints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$\pi-a$</a:t>
                </a:r>
                <a:r>
                  <a:rPr sz="2400" b="0">
                    <a:solidFill>
                      <a:srgbClr val="111827"/>
                    </a:solidFill>
                    <a:latin typeface="Arial"/>
                  </a:rPr>
                  <a:t>: here </a:t>
                </a:r>
                <a:r>
                  <a:rPr lang="en-IN" sz="2400">
                    <a:solidFill>
                      <a:srgbClr val="111827"/>
                    </a:solidFill>
                    <a:latin typeface="Cambria Math" panose="02040503050406030204" pitchFamily="18" charset="0"/>
                  </a:rPr>
                  <a:t>$2&lt;\pi-1=2.14&lt;3$</a:t>
                </a:r>
                <a:r>
                  <a:rPr sz="2400" b="0">
                    <a:solidFill>
                      <a:srgbClr val="111827"/>
                    </a:solidFill>
                    <a:latin typeface="Arial"/>
                  </a:rPr>
                  <a:t>, so </a:t>
                </a:r>
                <a:r>
                  <a:rPr lang="en-IN" sz="2400">
                    <a:solidFill>
                      <a:srgbClr val="111827"/>
                    </a:solidFill>
                    <a:latin typeface="Cambria Math" panose="02040503050406030204" pitchFamily="18" charset="0"/>
                  </a:rPr>
                  <a:t>$2$</a:t>
                </a:r>
                <a:r>
                  <a:rPr sz="2400" b="0">
                    <a:solidFill>
                      <a:srgbClr val="111827"/>
                    </a:solidFill>
                    <a:latin typeface="Arial"/>
                  </a:rPr>
                  <a:t> is excluded and </a:t>
                </a:r>
                <a:r>
                  <a:rPr lang="en-IN" sz="2400">
                    <a:solidFill>
                      <a:srgbClr val="111827"/>
                    </a:solidFill>
                    <a:latin typeface="Cambria Math" panose="02040503050406030204" pitchFamily="18" charset="0"/>
                  </a:rPr>
                  <a:t>$3$</a:t>
                </a:r>
                <a:r>
                  <a:rPr sz="2400" b="0">
                    <a:solidFill>
                      <a:srgbClr val="111827"/>
                    </a:solidFill>
                    <a:latin typeface="Arial"/>
                  </a:rPr>
                  <a:t> is included.</a:t>
                </a:r>
                <a:endParaRPr sz="2400">
                  <a:solidFill>
                    <a:srgbClr val="111827"/>
                  </a:solidFill>
                </a:endParaRPr>
              </a:p>
            </p:txBody>
          </p:sp>
        </mc:Fallback>
      </mc:AlternateContent>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86156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For any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squares, the sum of whose area is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 rectangle of area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exists into which the squares can be placed without overlapping of interior points (Assume that the squares are to be placed with their sides parallel to the sides of the rectangle). The least value of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can be expressed as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α</m:t>
                            </m:r>
                          </m:e>
                        </m:rad>
                      </m:num>
                      <m:den>
                        <m:r>
                          <a:rPr lang="en-IN" sz="2400" i="1">
                            <a:solidFill>
                              <a:srgbClr val="111827"/>
                            </a:solidFill>
                            <a:latin typeface="Cambria Math" panose="02040503050406030204" pitchFamily="18" charset="0"/>
                          </a:rPr>
                          <m:t>β</m:t>
                        </m:r>
                      </m:den>
                    </m:f>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β</m:t>
                    </m:r>
                  </m:oMath>
                </a14:m>
                <a:r>
                  <a:rPr sz="2400" b="0">
                    <a:solidFill>
                      <a:srgbClr val="111827"/>
                    </a:solidFill>
                    <a:latin typeface="Arial"/>
                  </a:rPr>
                  <a:t> are natural numbers, then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286156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For any </a:t>
                </a:r>
                <a:r>
                  <a:rPr lang="en-IN" sz="2400">
                    <a:solidFill>
                      <a:srgbClr val="111827"/>
                    </a:solidFill>
                    <a:latin typeface="Cambria Math" panose="02040503050406030204" pitchFamily="18" charset="0"/>
                  </a:rPr>
                  <a:t>$2$</a:t>
                </a:r>
                <a:r>
                  <a:rPr sz="2400" b="0">
                    <a:solidFill>
                      <a:srgbClr val="111827"/>
                    </a:solidFill>
                    <a:latin typeface="Arial"/>
                  </a:rPr>
                  <a:t> squares, the sum of whose area is </a:t>
                </a:r>
                <a:r>
                  <a:rPr lang="en-IN" sz="2400">
                    <a:solidFill>
                      <a:srgbClr val="111827"/>
                    </a:solidFill>
                    <a:latin typeface="Cambria Math" panose="02040503050406030204" pitchFamily="18" charset="0"/>
                  </a:rPr>
                  <a:t>$1$</a:t>
                </a:r>
                <a:r>
                  <a:rPr sz="2400" b="0">
                    <a:solidFill>
                      <a:srgbClr val="111827"/>
                    </a:solidFill>
                    <a:latin typeface="Arial"/>
                  </a:rPr>
                  <a:t>, a rectangle of area </a:t>
                </a:r>
                <a:r>
                  <a:rPr lang="en-IN" sz="2400">
                    <a:solidFill>
                      <a:srgbClr val="111827"/>
                    </a:solidFill>
                    <a:latin typeface="Cambria Math" panose="02040503050406030204" pitchFamily="18" charset="0"/>
                  </a:rPr>
                  <a:t>$A$</a:t>
                </a:r>
                <a:r>
                  <a:rPr sz="2400" b="0">
                    <a:solidFill>
                      <a:srgbClr val="111827"/>
                    </a:solidFill>
                    <a:latin typeface="Arial"/>
                  </a:rPr>
                  <a:t> exists into which the squares can be placed without overlapping of interior points (Assume that the squares are to be placed with their sides parallel to the sides of the rectangle). The least value of </a:t>
                </a:r>
                <a:r>
                  <a:rPr lang="en-IN" sz="2400">
                    <a:solidFill>
                      <a:srgbClr val="111827"/>
                    </a:solidFill>
                    <a:latin typeface="Cambria Math" panose="02040503050406030204" pitchFamily="18" charset="0"/>
                  </a:rPr>
                  <a:t>$A$</a:t>
                </a:r>
                <a:r>
                  <a:rPr sz="2400" b="0">
                    <a:solidFill>
                      <a:srgbClr val="111827"/>
                    </a:solidFill>
                    <a:latin typeface="Arial"/>
                  </a:rPr>
                  <a:t> can be expressed as </a:t>
                </a:r>
                <a:r>
                  <a:rPr lang="en-IN" sz="2400">
                    <a:solidFill>
                      <a:srgbClr val="111827"/>
                    </a:solidFill>
                    <a:latin typeface="Cambria Math" panose="02040503050406030204" pitchFamily="18" charset="0"/>
                  </a:rPr>
                  <a:t>$\frac{1+\sqrt\alpha}{\beta}$</a:t>
                </a:r>
                <a:r>
                  <a:rPr sz="2400" b="0">
                    <a:solidFill>
                      <a:srgbClr val="111827"/>
                    </a:solidFill>
                    <a:latin typeface="Arial"/>
                  </a:rPr>
                  <a:t> where </a:t>
                </a:r>
                <a:r>
                  <a:rPr lang="en-IN" sz="2400">
                    <a:solidFill>
                      <a:srgbClr val="111827"/>
                    </a:solidFill>
                    <a:latin typeface="Cambria Math" panose="02040503050406030204" pitchFamily="18" charset="0"/>
                  </a:rPr>
                  <a:t>$\alpha$</a:t>
                </a:r>
                <a:r>
                  <a:rPr sz="2400" b="0">
                    <a:solidFill>
                      <a:srgbClr val="111827"/>
                    </a:solidFill>
                    <a:latin typeface="Arial"/>
                  </a:rPr>
                  <a:t> and </a:t>
                </a:r>
                <a:r>
                  <a:rPr lang="en-IN" sz="2400">
                    <a:solidFill>
                      <a:srgbClr val="111827"/>
                    </a:solidFill>
                    <a:latin typeface="Cambria Math" panose="02040503050406030204" pitchFamily="18" charset="0"/>
                  </a:rPr>
                  <a:t>$\beta$</a:t>
                </a:r>
                <a:r>
                  <a:rPr sz="2400" b="0">
                    <a:solidFill>
                      <a:srgbClr val="111827"/>
                    </a:solidFill>
                    <a:latin typeface="Arial"/>
                  </a:rPr>
                  <a:t> are natural numbers, then </a:t>
                </a:r>
                <a:r>
                  <a:rPr lang="en-IN" sz="2400">
                    <a:solidFill>
                      <a:srgbClr val="111827"/>
                    </a:solidFill>
                    <a:latin typeface="Cambria Math" panose="02040503050406030204" pitchFamily="18" charset="0"/>
                  </a:rPr>
                  <a:t>$(\alpha+\beta)$</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4370323"/>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Integer Type(0 to 9)(4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Optimisation: least rectangle containing two non-overlapping squares, Maximisation of a function of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by calculus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4(A level above Average JEE Advanced Level)</a:t>
                </a:r>
                <a:endParaRPr sz="2400">
                  <a:solidFill>
                    <a:srgbClr val="111827"/>
                  </a:solidFill>
                </a:endParaRPr>
              </a:p>
            </p:txBody>
          </p:sp>
        </mc:Choice>
        <mc:Fallback>
          <p:sp>
            <p:nvSpPr>
              <p:cNvPr id="5" name="Rectangle 4"/>
              <p:cNvSpPr/>
              <p:nvPr/>
            </p:nvSpPr>
            <p:spPr>
              <a:xfrm>
                <a:off x="731520" y="4370323"/>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Integer Type(0 to 9)(4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Optimisation: least rectangle containing two non-overlapping squares, Maximisation of a function of </a:t>
                </a:r>
                <a:r>
                  <a:rPr lang="en-IN" sz="2400">
                    <a:solidFill>
                      <a:srgbClr val="111827"/>
                    </a:solidFill>
                    <a:latin typeface="Cambria Math" panose="02040503050406030204" pitchFamily="18" charset="0"/>
                  </a:rPr>
                  <a:t>$a$</a:t>
                </a:r>
                <a:r>
                  <a:rPr sz="2400" b="0">
                    <a:solidFill>
                      <a:srgbClr val="111827"/>
                    </a:solidFill>
                    <a:latin typeface="Arial"/>
                  </a:rPr>
                  <a:t> by calculus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4(A level above Average JEE Advanced Level)</a:t>
                </a:r>
                <a:endParaRPr sz="2400">
                  <a:solidFill>
                    <a:srgbClr val="111827"/>
                  </a:solidFill>
                </a:endParaRPr>
              </a:p>
            </p:txBody>
          </p:sp>
        </mc:Fallback>
      </mc:AlternateContent>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rectangle must work for every pair, so </a:t>
                </a:r>
                <a14:m>
                  <m:oMath xmlns:m="http://schemas.openxmlformats.org/officeDocument/2006/math">
                    <m:r>
                      <a:rPr lang="en-IN" sz="2400" i="1">
                        <a:solidFill>
                          <a:srgbClr val="78350F"/>
                        </a:solidFill>
                        <a:latin typeface="Cambria Math" panose="02040503050406030204" pitchFamily="18" charset="0"/>
                      </a:rPr>
                      <m:t>𝐴</m:t>
                    </m:r>
                  </m:oMath>
                </a14:m>
                <a:r>
                  <a:rPr sz="2400" b="0">
                    <a:solidFill>
                      <a:srgbClr val="78350F"/>
                    </a:solidFill>
                    <a:latin typeface="Arial"/>
                  </a:rPr>
                  <a:t> is the maximum over pairs of the area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oMath>
                </a14:m>
                <a:r>
                  <a:rPr sz="2400" b="0">
                    <a:solidFill>
                      <a:srgbClr val="78350F"/>
                    </a:solidFill>
                    <a:latin typeface="Arial"/>
                  </a:rPr>
                  <a:t> of the smallest enclosing rectangle.</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rectangle must work for every pair, so </a:t>
                </a:r>
                <a:r>
                  <a:rPr lang="en-IN" sz="2400">
                    <a:solidFill>
                      <a:srgbClr val="78350F"/>
                    </a:solidFill>
                    <a:latin typeface="Cambria Math" panose="02040503050406030204" pitchFamily="18" charset="0"/>
                  </a:rPr>
                  <a:t>$A$</a:t>
                </a:r>
                <a:r>
                  <a:rPr sz="2400" b="0">
                    <a:solidFill>
                      <a:srgbClr val="78350F"/>
                    </a:solidFill>
                    <a:latin typeface="Arial"/>
                  </a:rPr>
                  <a:t> is the maximum over pairs of the area </a:t>
                </a:r>
                <a:r>
                  <a:rPr lang="en-IN" sz="2400">
                    <a:solidFill>
                      <a:srgbClr val="78350F"/>
                    </a:solidFill>
                    <a:latin typeface="Cambria Math" panose="02040503050406030204" pitchFamily="18" charset="0"/>
                  </a:rPr>
                  <a:t>$(a+b)b$</a:t>
                </a:r>
                <a:r>
                  <a:rPr sz="2400" b="0">
                    <a:solidFill>
                      <a:srgbClr val="78350F"/>
                    </a:solidFill>
                    <a:latin typeface="Arial"/>
                  </a:rPr>
                  <a:t> of the smallest enclosing rectangle.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sides be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𝑏</m:t>
                    </m:r>
                  </m:oMath>
                </a14:m>
                <a:r>
                  <a:rPr sz="2400" b="0">
                    <a:solidFill>
                      <a:srgbClr val="111827"/>
                    </a:solidFill>
                    <a:latin typeface="Arial"/>
                  </a:rPr>
                  <a:t> with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Squares with parallel sides and disjoint interiors have disjoint projections on one axis, so the smallest rectangle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(squares side by side):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The required rectangle must fit every pair, so the least such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is the maximum of this over all pairs.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sides be </a:t>
                </a:r>
                <a:r>
                  <a:rPr lang="en-IN" sz="2400">
                    <a:solidFill>
                      <a:srgbClr val="111827"/>
                    </a:solidFill>
                    <a:latin typeface="Cambria Math" panose="02040503050406030204" pitchFamily="18" charset="0"/>
                  </a:rPr>
                  <a:t>$a&lt;b$</a:t>
                </a:r>
                <a:r>
                  <a:rPr sz="2400" b="0">
                    <a:solidFill>
                      <a:srgbClr val="111827"/>
                    </a:solidFill>
                    <a:latin typeface="Arial"/>
                  </a:rPr>
                  <a:t> with </a:t>
                </a:r>
                <a:r>
                  <a:rPr lang="en-IN" sz="2400">
                    <a:solidFill>
                      <a:srgbClr val="111827"/>
                    </a:solidFill>
                    <a:latin typeface="Cambria Math" panose="02040503050406030204" pitchFamily="18" charset="0"/>
                  </a:rPr>
                  <a:t>$a^2+b^2=1$</a:t>
                </a:r>
                <a:r>
                  <a:rPr sz="2400" b="0">
                    <a:solidFill>
                      <a:srgbClr val="111827"/>
                    </a:solidFill>
                    <a:latin typeface="Arial"/>
                  </a:rPr>
                  <a:t> ...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Squares with parallel sides and disjoint interiors have disjoint projections on one axis, so the smallest rectangle is </a:t>
                </a:r>
                <a:r>
                  <a:rPr lang="en-IN" sz="2400">
                    <a:solidFill>
                      <a:srgbClr val="111827"/>
                    </a:solidFill>
                    <a:latin typeface="Cambria Math" panose="02040503050406030204" pitchFamily="18" charset="0"/>
                  </a:rPr>
                  <a:t>$(a+b)\times b$</a:t>
                </a:r>
                <a:r>
                  <a:rPr sz="2400" b="0">
                    <a:solidFill>
                      <a:srgbClr val="111827"/>
                    </a:solidFill>
                    <a:latin typeface="Arial"/>
                  </a:rPr>
                  <a:t> (squares side by side): </a:t>
                </a:r>
                <a:r>
                  <a:rPr lang="en-IN" sz="2400">
                    <a:solidFill>
                      <a:srgbClr val="111827"/>
                    </a:solidFill>
                    <a:latin typeface="Cambria Math" panose="02040503050406030204" pitchFamily="18" charset="0"/>
                  </a:rPr>
                  <a:t>$A=(a+b)b$</a:t>
                </a:r>
                <a:r>
                  <a:rPr sz="2400" b="0">
                    <a:solidFill>
                      <a:srgbClr val="111827"/>
                    </a:solidFill>
                    <a:latin typeface="Arial"/>
                  </a:rPr>
                  <a:t>. The required rectangle must fit every pair, so the least such </a:t>
                </a:r>
                <a:r>
                  <a:rPr lang="en-IN" sz="2400">
                    <a:solidFill>
                      <a:srgbClr val="111827"/>
                    </a:solidFill>
                    <a:latin typeface="Cambria Math" panose="02040503050406030204" pitchFamily="18" charset="0"/>
                  </a:rPr>
                  <a:t>$A$</a:t>
                </a:r>
                <a:r>
                  <a:rPr sz="2400" b="0">
                    <a:solidFill>
                      <a:srgbClr val="111827"/>
                    </a:solidFill>
                    <a:latin typeface="Arial"/>
                  </a:rPr>
                  <a:t> is the maximum of this over all pairs.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$A=(a+b)b=a\sqrt{1-a^2}+(1-a^2)$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𝑏</m:t>
                    </m:r>
                  </m:oMath>
                </a14:m>
                <a:r>
                  <a:rPr sz="2400" b="0">
                    <a:solidFill>
                      <a:srgbClr val="111827"/>
                    </a:solidFill>
                    <a:latin typeface="Arial"/>
                  </a:rPr>
                  <a:t> needs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&lt;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hence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e>
                        </m:rad>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α</m:t>
                            </m:r>
                          </m:e>
                        </m:rad>
                      </m:num>
                      <m:den>
                        <m:r>
                          <a:rPr lang="en-IN" sz="2400" i="1">
                            <a:solidFill>
                              <a:srgbClr val="111827"/>
                            </a:solidFill>
                            <a:latin typeface="Cambria Math" panose="02040503050406030204" pitchFamily="18" charset="0"/>
                          </a:rPr>
                          <m:t>β</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(lowest terms).</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$\frac{dA}{da}=\sqrt{1-a^2}-\frac{a^2}{\sqrt{1-a^2}}-2a=0\Rightarrow1-2a^2=2a\sqrt{1-a^2}\Rightarrow8a^4-8a^2+1=0$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$a^2=\frac{2\mp\sqrt2}{4}$</a:t>
                </a:r>
                <a:r>
                  <a:rPr sz="2400" b="0">
                    <a:solidFill>
                      <a:srgbClr val="111827"/>
                    </a:solidFill>
                    <a:latin typeface="Arial"/>
                  </a:rPr>
                  <a:t>; </a:t>
                </a:r>
                <a:r>
                  <a:rPr lang="en-IN" sz="2400">
                    <a:solidFill>
                      <a:srgbClr val="111827"/>
                    </a:solidFill>
                    <a:latin typeface="Cambria Math" panose="02040503050406030204" pitchFamily="18" charset="0"/>
                  </a:rPr>
                  <a:t>$a&lt;b$</a:t>
                </a:r>
                <a:r>
                  <a:rPr sz="2400" b="0">
                    <a:solidFill>
                      <a:srgbClr val="111827"/>
                    </a:solidFill>
                    <a:latin typeface="Arial"/>
                  </a:rPr>
                  <a:t> needs </a:t>
                </a:r>
                <a:r>
                  <a:rPr lang="en-IN" sz="2400">
                    <a:solidFill>
                      <a:srgbClr val="111827"/>
                    </a:solidFill>
                    <a:latin typeface="Cambria Math" panose="02040503050406030204" pitchFamily="18" charset="0"/>
                  </a:rPr>
                  <a:t>$a^2&lt;\frac{1}{2}$</a:t>
                </a:r>
                <a:r>
                  <a:rPr sz="2400" b="0">
                    <a:solidFill>
                      <a:srgbClr val="111827"/>
                    </a:solidFill>
                    <a:latin typeface="Arial"/>
                  </a:rPr>
                  <a:t>, hence </a:t>
                </a:r>
                <a:r>
                  <a:rPr lang="en-IN" sz="2400">
                    <a:solidFill>
                      <a:srgbClr val="111827"/>
                    </a:solidFill>
                    <a:latin typeface="Cambria Math" panose="02040503050406030204" pitchFamily="18" charset="0"/>
                  </a:rPr>
                  <a:t>$a^2=\frac{2-\sqrt2}{4}$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$b^2=1-a^2=\frac{2+\sqrt2}{4}$</a:t>
                </a:r>
                <a:r>
                  <a:rPr sz="2400" b="0">
                    <a:solidFill>
                      <a:srgbClr val="111827"/>
                    </a:solidFill>
                    <a:latin typeface="Arial"/>
                  </a:rPr>
                  <a:t> and </a:t>
                </a:r>
                <a:r>
                  <a:rPr lang="en-IN" sz="2400">
                    <a:solidFill>
                      <a:srgbClr val="111827"/>
                    </a:solidFill>
                    <a:latin typeface="Cambria Math" panose="02040503050406030204" pitchFamily="18" charset="0"/>
                  </a:rPr>
                  <a:t>$ab=\frac{\sqrt{(2-\sqrt2)(2+\sqrt2)}}{4}=\frac{\sqrt2}{4}$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$A=ab+b^2=\frac{\sqrt2}{4}+\frac{2+\sqrt2}{4}=\frac{1+\sqrt2}{2}$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$\frac{1+\sqrt\alpha}{\beta}=\frac{1+\sqrt2}{2}$</a:t>
                </a:r>
                <a:r>
                  <a:rPr sz="2400" b="0">
                    <a:solidFill>
                      <a:srgbClr val="111827"/>
                    </a:solidFill>
                    <a:latin typeface="Arial"/>
                  </a:rPr>
                  <a:t> gives </a:t>
                </a:r>
                <a:r>
                  <a:rPr lang="en-IN" sz="2400">
                    <a:solidFill>
                      <a:srgbClr val="111827"/>
                    </a:solidFill>
                    <a:latin typeface="Cambria Math" panose="02040503050406030204" pitchFamily="18" charset="0"/>
                  </a:rPr>
                  <a:t>$\alpha=2,\ \beta=2$</a:t>
                </a:r>
                <a:r>
                  <a:rPr sz="2400" b="0">
                    <a:solidFill>
                      <a:srgbClr val="111827"/>
                    </a:solidFill>
                    <a:latin typeface="Arial"/>
                  </a:rPr>
                  <a:t> and </a:t>
                </a:r>
                <a:r>
                  <a:rPr lang="en-IN" sz="2400">
                    <a:solidFill>
                      <a:srgbClr val="111827"/>
                    </a:solidFill>
                    <a:latin typeface="Cambria Math" panose="02040503050406030204" pitchFamily="18" charset="0"/>
                  </a:rPr>
                  <a:t>$\alpha+\beta=4$</a:t>
                </a:r>
                <a:r>
                  <a:rPr sz="2400" b="0">
                    <a:solidFill>
                      <a:srgbClr val="111827"/>
                    </a:solidFill>
                    <a:latin typeface="Arial"/>
                  </a:rPr>
                  <a:t> (lowest terms).</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4</a:t>
            </a:r>
            <a:endParaRPr sz="2800">
              <a:solidFill>
                <a:srgbClr val="15803D"/>
              </a:solidFill>
            </a:endParaRP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Put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φ</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φ</m:t>
                    </m:r>
                  </m:oMath>
                </a14:m>
                <a:r>
                  <a:rPr sz="2400" b="0">
                    <a:solidFill>
                      <a:srgbClr val="78350F"/>
                    </a:solidFill>
                    <a:latin typeface="Arial"/>
                  </a:rPr>
                  <a:t> so </a:t>
                </a:r>
                <a14:m>
                  <m:oMath xmlns:m="http://schemas.openxmlformats.org/officeDocument/2006/math">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φ</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φ</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 and use the bound </a:t>
                </a:r>
                <a14:m>
                  <m:oMath xmlns:m="http://schemas.openxmlformats.org/officeDocument/2006/math">
                    <m:r>
                      <a:rPr lang="en-IN" sz="2400" i="1">
                        <a:solidFill>
                          <a:srgbClr val="78350F"/>
                        </a:solidFill>
                        <a:latin typeface="Cambria Math" panose="02040503050406030204" pitchFamily="18" charset="0"/>
                      </a:rPr>
                      <m:t>𝑝</m:t>
                    </m:r>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θ</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𝑞</m:t>
                    </m:r>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θ</m:t>
                    </m:r>
                    <m:r>
                      <m:rPr>
                        <m:sty m:val="p"/>
                      </m:rPr>
                      <a:rPr lang="en-IN" sz="2400">
                        <a:solidFill>
                          <a:srgbClr val="78350F"/>
                        </a:solidFill>
                        <a:latin typeface="Cambria Math" panose="02040503050406030204" pitchFamily="18" charset="0"/>
                      </a:rPr>
                      <m:t>≤</m:t>
                    </m:r>
                    <m:rad>
                      <m:radPr>
                        <m:degHide m:val="on"/>
                        <m:ctrlPr>
                          <a:rPr lang="en-IN" sz="2400" i="1">
                            <a:solidFill>
                              <a:srgbClr val="78350F"/>
                            </a:solidFill>
                            <a:latin typeface="Cambria Math" panose="02040503050406030204" pitchFamily="18" charset="0"/>
                          </a:rPr>
                        </m:ctrlPr>
                      </m:radPr>
                      <m:deg/>
                      <m:e>
                        <m:sSup>
                          <m:e>
                            <m:r>
                              <a:rPr lang="en-IN" sz="2400" i="1">
                                <a:solidFill>
                                  <a:srgbClr val="78350F"/>
                                </a:solidFill>
                                <a:latin typeface="Cambria Math" panose="02040503050406030204" pitchFamily="18" charset="0"/>
                              </a:rPr>
                              <m:t>𝑝</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𝑞</m:t>
                            </m:r>
                          </m:e>
                          <m:sup>
                            <m:r>
                              <a:rPr lang="en-IN" sz="2400" i="1">
                                <a:solidFill>
                                  <a:srgbClr val="78350F"/>
                                </a:solidFill>
                                <a:latin typeface="Cambria Math" panose="02040503050406030204" pitchFamily="18" charset="0"/>
                              </a:rPr>
                              <m:t>2</m:t>
                            </m:r>
                          </m:sup>
                        </m:sSup>
                      </m:e>
                    </m:rad>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Put </a:t>
                </a:r>
                <a:r>
                  <a:rPr lang="en-IN" sz="2400">
                    <a:solidFill>
                      <a:srgbClr val="78350F"/>
                    </a:solidFill>
                    <a:latin typeface="Cambria Math" panose="02040503050406030204" pitchFamily="18" charset="0"/>
                  </a:rPr>
                  <a:t>$a=\sin\varphi,\ b=\cos\varphi$</a:t>
                </a:r>
                <a:r>
                  <a:rPr sz="2400" b="0">
                    <a:solidFill>
                      <a:srgbClr val="78350F"/>
                    </a:solidFill>
                    <a:latin typeface="Arial"/>
                  </a:rPr>
                  <a:t> so </a:t>
                </a:r>
                <a:r>
                  <a:rPr lang="en-IN" sz="2400">
                    <a:solidFill>
                      <a:srgbClr val="78350F"/>
                    </a:solidFill>
                    <a:latin typeface="Cambria Math" panose="02040503050406030204" pitchFamily="18" charset="0"/>
                  </a:rPr>
                  <a:t>$A=\frac{1+\sin2\varphi+\cos2\varphi}{2}$</a:t>
                </a:r>
                <a:r>
                  <a:rPr sz="2400" b="0">
                    <a:solidFill>
                      <a:srgbClr val="78350F"/>
                    </a:solidFill>
                    <a:latin typeface="Arial"/>
                  </a:rPr>
                  <a:t> and use the bound </a:t>
                </a:r>
                <a:r>
                  <a:rPr lang="en-IN" sz="2400">
                    <a:solidFill>
                      <a:srgbClr val="78350F"/>
                    </a:solidFill>
                    <a:latin typeface="Cambria Math" panose="02040503050406030204" pitchFamily="18" charset="0"/>
                  </a:rPr>
                  <a:t>$p\sin\theta+q\cos\theta\le\sqrt{p^2+q^2}$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φ</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φ</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&lt;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𝑏</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Smallest enclosing rectangle for the pair: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area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$a=\sin\varphi$</a:t>
                </a:r>
                <a:r>
                  <a:rPr sz="2400" b="0">
                    <a:solidFill>
                      <a:srgbClr val="111827"/>
                    </a:solidFill>
                    <a:latin typeface="Arial"/>
                  </a:rPr>
                  <a:t>, </a:t>
                </a:r>
                <a:r>
                  <a:rPr lang="en-IN" sz="2400">
                    <a:solidFill>
                      <a:srgbClr val="111827"/>
                    </a:solidFill>
                    <a:latin typeface="Cambria Math" panose="02040503050406030204" pitchFamily="18" charset="0"/>
                  </a:rPr>
                  <a:t>$b=\cos\varphi$</a:t>
                </a:r>
                <a:r>
                  <a:rPr sz="2400" b="0">
                    <a:solidFill>
                      <a:srgbClr val="111827"/>
                    </a:solidFill>
                    <a:latin typeface="Arial"/>
                  </a:rPr>
                  <a:t> with </a:t>
                </a:r>
                <a:r>
                  <a:rPr lang="en-IN" sz="2400">
                    <a:solidFill>
                      <a:srgbClr val="111827"/>
                    </a:solidFill>
                    <a:latin typeface="Cambria Math" panose="02040503050406030204" pitchFamily="18" charset="0"/>
                  </a:rPr>
                  <a:t>$0&lt;\varphi&lt;\frac{\pi}{4}$</a:t>
                </a:r>
                <a:r>
                  <a:rPr sz="2400" b="0">
                    <a:solidFill>
                      <a:srgbClr val="111827"/>
                    </a:solidFill>
                    <a:latin typeface="Arial"/>
                  </a:rPr>
                  <a:t> (so </a:t>
                </a:r>
                <a:r>
                  <a:rPr lang="en-IN" sz="2400">
                    <a:solidFill>
                      <a:srgbClr val="111827"/>
                    </a:solidFill>
                    <a:latin typeface="Cambria Math" panose="02040503050406030204" pitchFamily="18" charset="0"/>
                  </a:rPr>
                  <a:t>$a&lt;b$</a:t>
                </a:r>
                <a:r>
                  <a:rPr sz="2400" b="0">
                    <a:solidFill>
                      <a:srgbClr val="111827"/>
                    </a:solidFill>
                    <a:latin typeface="Arial"/>
                  </a:rPr>
                  <a:t>) and </a:t>
                </a:r>
                <a:r>
                  <a:rPr lang="en-IN" sz="2400">
                    <a:solidFill>
                      <a:srgbClr val="111827"/>
                    </a:solidFill>
                    <a:latin typeface="Cambria Math" panose="02040503050406030204" pitchFamily="18" charset="0"/>
                  </a:rPr>
                  <a:t>$a^2+b^2=1$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Smallest enclosing rectangle for the pair: </a:t>
                </a:r>
                <a:r>
                  <a:rPr lang="en-IN" sz="2400">
                    <a:solidFill>
                      <a:srgbClr val="111827"/>
                    </a:solidFill>
                    <a:latin typeface="Cambria Math" panose="02040503050406030204" pitchFamily="18" charset="0"/>
                  </a:rPr>
                  <a:t>$(a+b)\times b$</a:t>
                </a:r>
                <a:r>
                  <a:rPr sz="2400" b="0">
                    <a:solidFill>
                      <a:srgbClr val="111827"/>
                    </a:solidFill>
                    <a:latin typeface="Arial"/>
                  </a:rPr>
                  <a:t>, area </a:t>
                </a:r>
                <a:r>
                  <a:rPr lang="en-IN" sz="2400">
                    <a:solidFill>
                      <a:srgbClr val="111827"/>
                    </a:solidFill>
                    <a:latin typeface="Cambria Math" panose="02040503050406030204" pitchFamily="18" charset="0"/>
                  </a:rPr>
                  <a:t>$A=ab+b^2=\sin\varphi\cos\varphi+\cos^2\varphi=\frac{\sin2\varphi+\cos2\varphi+1}{2}$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with equality at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 (so the pair is valid).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rectangle must fit every pair, so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max</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giving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$\sin2\varphi+\cos2\varphi\le\sqrt2$</a:t>
                </a:r>
                <a:r>
                  <a:rPr sz="2400" b="0">
                    <a:solidFill>
                      <a:srgbClr val="111827"/>
                    </a:solidFill>
                    <a:latin typeface="Arial"/>
                  </a:rPr>
                  <a:t>, with equality at </a:t>
                </a:r>
                <a:r>
                  <a:rPr lang="en-IN" sz="2400">
                    <a:solidFill>
                      <a:srgbClr val="111827"/>
                    </a:solidFill>
                    <a:latin typeface="Cambria Math" panose="02040503050406030204" pitchFamily="18" charset="0"/>
                  </a:rPr>
                  <a:t>$2\varphi=\frac{\pi}{4}$</a:t>
                </a:r>
                <a:r>
                  <a:rPr sz="2400" b="0">
                    <a:solidFill>
                      <a:srgbClr val="111827"/>
                    </a:solidFill>
                    <a:latin typeface="Arial"/>
                  </a:rPr>
                  <a:t>, i.e. </a:t>
                </a:r>
                <a:r>
                  <a:rPr lang="en-IN" sz="2400">
                    <a:solidFill>
                      <a:srgbClr val="111827"/>
                    </a:solidFill>
                    <a:latin typeface="Cambria Math" panose="02040503050406030204" pitchFamily="18" charset="0"/>
                  </a:rPr>
                  <a:t>$\varphi=\frac{\pi}{8}\in\left(0,\frac{\pi}{4}\right)$</a:t>
                </a:r>
                <a:r>
                  <a:rPr sz="2400" b="0">
                    <a:solidFill>
                      <a:srgbClr val="111827"/>
                    </a:solidFill>
                    <a:latin typeface="Arial"/>
                  </a:rPr>
                  <a:t> (so the pair is valid).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rectangle must fit every pair, so </a:t>
                </a:r>
                <a:r>
                  <a:rPr lang="en-IN" sz="2400">
                    <a:solidFill>
                      <a:srgbClr val="111827"/>
                    </a:solidFill>
                    <a:latin typeface="Cambria Math" panose="02040503050406030204" pitchFamily="18" charset="0"/>
                  </a:rPr>
                  <a:t>$A=\max=\frac{1+\sqrt2}{2}$</a:t>
                </a:r>
                <a:r>
                  <a:rPr sz="2400" b="0">
                    <a:solidFill>
                      <a:srgbClr val="111827"/>
                    </a:solidFill>
                    <a:latin typeface="Arial"/>
                  </a:rPr>
                  <a:t>, giving </a:t>
                </a:r>
                <a:r>
                  <a:rPr lang="en-IN" sz="2400">
                    <a:solidFill>
                      <a:srgbClr val="111827"/>
                    </a:solidFill>
                    <a:latin typeface="Cambria Math" panose="02040503050406030204" pitchFamily="18" charset="0"/>
                  </a:rPr>
                  <a:t>$\alpha=\beta=2$</a:t>
                </a:r>
                <a:r>
                  <a:rPr sz="2400" b="0">
                    <a:solidFill>
                      <a:srgbClr val="111827"/>
                    </a:solidFill>
                    <a:latin typeface="Arial"/>
                  </a:rPr>
                  <a:t> and </a:t>
                </a:r>
                <a:r>
                  <a:rPr lang="en-IN" sz="2400">
                    <a:solidFill>
                      <a:srgbClr val="111827"/>
                    </a:solidFill>
                    <a:latin typeface="Cambria Math" panose="02040503050406030204" pitchFamily="18" charset="0"/>
                  </a:rPr>
                  <a:t>$\alpha+\beta=4$</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4</a:t>
            </a:r>
            <a:endParaRPr sz="2800">
              <a:solidFill>
                <a:srgbClr val="15803D"/>
              </a:solidFill>
            </a:endParaRP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Two axis-parallel non-overlapping rectangles have disjoint projections on at least one axis, so their bounding box has width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sum of widths (or height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sum of heights).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'Least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that works for every configuration' is the maximum over configurations of the minimal required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 max-min).</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oMath>
                </a14:m>
                <a:r>
                  <a:rPr sz="2400" b="0">
                    <a:solidFill>
                      <a:srgbClr val="111827"/>
                    </a:solidFill>
                    <a:latin typeface="Arial"/>
                  </a:rPr>
                  <a:t> has maximum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 parametrising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by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avoids square roots.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8</m:t>
                            </m:r>
                          </m:e>
                        </m:rad>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18</m:t>
                            </m:r>
                          </m:e>
                        </m:rad>
                      </m:num>
                      <m:den>
                        <m:r>
                          <a:rPr lang="en-IN" sz="2400" i="1">
                            <a:solidFill>
                              <a:srgbClr val="111827"/>
                            </a:solidFill>
                            <a:latin typeface="Cambria Math" panose="02040503050406030204" pitchFamily="18" charset="0"/>
                          </a:rPr>
                          <m:t>6</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oMath>
                </a14:m>
                <a:r>
                  <a:rPr sz="2400" b="0">
                    <a:solidFill>
                      <a:srgbClr val="111827"/>
                    </a:solidFill>
                    <a:latin typeface="Arial"/>
                  </a:rPr>
                  <a:t> is unique only in lowest terms).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Two axis-parallel non-overlapping rectangles have disjoint projections on at least one axis, so their bounding box has width </a:t>
                </a:r>
                <a:r>
                  <a:rPr lang="en-IN" sz="2400">
                    <a:solidFill>
                      <a:srgbClr val="111827"/>
                    </a:solidFill>
                    <a:latin typeface="Cambria Math" panose="02040503050406030204" pitchFamily="18" charset="0"/>
                  </a:rPr>
                  <a:t>$\ge$</a:t>
                </a:r>
                <a:r>
                  <a:rPr sz="2400" b="0">
                    <a:solidFill>
                      <a:srgbClr val="111827"/>
                    </a:solidFill>
                    <a:latin typeface="Arial"/>
                  </a:rPr>
                  <a:t> sum of widths (or height </a:t>
                </a:r>
                <a:r>
                  <a:rPr lang="en-IN" sz="2400">
                    <a:solidFill>
                      <a:srgbClr val="111827"/>
                    </a:solidFill>
                    <a:latin typeface="Cambria Math" panose="02040503050406030204" pitchFamily="18" charset="0"/>
                  </a:rPr>
                  <a:t>$\ge$</a:t>
                </a:r>
                <a:r>
                  <a:rPr sz="2400" b="0">
                    <a:solidFill>
                      <a:srgbClr val="111827"/>
                    </a:solidFill>
                    <a:latin typeface="Arial"/>
                  </a:rPr>
                  <a:t> sum of heights).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'Least </a:t>
                </a:r>
                <a:r>
                  <a:rPr lang="en-IN" sz="2400">
                    <a:solidFill>
                      <a:srgbClr val="111827"/>
                    </a:solidFill>
                    <a:latin typeface="Cambria Math" panose="02040503050406030204" pitchFamily="18" charset="0"/>
                  </a:rPr>
                  <a:t>$A$</a:t>
                </a:r>
                <a:r>
                  <a:rPr sz="2400" b="0">
                    <a:solidFill>
                      <a:srgbClr val="111827"/>
                    </a:solidFill>
                    <a:latin typeface="Arial"/>
                  </a:rPr>
                  <a:t> that works for every configuration' is the maximum over configurations of the minimal required </a:t>
                </a:r>
                <a:r>
                  <a:rPr lang="en-IN" sz="2400">
                    <a:solidFill>
                      <a:srgbClr val="111827"/>
                    </a:solidFill>
                    <a:latin typeface="Cambria Math" panose="02040503050406030204" pitchFamily="18" charset="0"/>
                  </a:rPr>
                  <a:t>$A$</a:t>
                </a:r>
                <a:r>
                  <a:rPr sz="2400" b="0">
                    <a:solidFill>
                      <a:srgbClr val="111827"/>
                    </a:solidFill>
                    <a:latin typeface="Arial"/>
                  </a:rPr>
                  <a:t> (a max-min).</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$p\sin\theta+q\cos\theta$</a:t>
                </a:r>
                <a:r>
                  <a:rPr sz="2400" b="0">
                    <a:solidFill>
                      <a:srgbClr val="111827"/>
                    </a:solidFill>
                    <a:latin typeface="Arial"/>
                  </a:rPr>
                  <a:t> has maximum </a:t>
                </a:r>
                <a:r>
                  <a:rPr lang="en-IN" sz="2400">
                    <a:solidFill>
                      <a:srgbClr val="111827"/>
                    </a:solidFill>
                    <a:latin typeface="Cambria Math" panose="02040503050406030204" pitchFamily="18" charset="0"/>
                  </a:rPr>
                  <a:t>$\sqrt{p^2+q^2}$</a:t>
                </a:r>
                <a:r>
                  <a:rPr sz="2400" b="0">
                    <a:solidFill>
                      <a:srgbClr val="111827"/>
                    </a:solidFill>
                    <a:latin typeface="Arial"/>
                  </a:rPr>
                  <a:t>; parametrising </a:t>
                </a:r>
                <a:r>
                  <a:rPr lang="en-IN" sz="2400">
                    <a:solidFill>
                      <a:srgbClr val="111827"/>
                    </a:solidFill>
                    <a:latin typeface="Cambria Math" panose="02040503050406030204" pitchFamily="18" charset="0"/>
                  </a:rPr>
                  <a:t>$a^2+b^2=1$</a:t>
                </a:r>
                <a:r>
                  <a:rPr sz="2400" b="0">
                    <a:solidFill>
                      <a:srgbClr val="111827"/>
                    </a:solidFill>
                    <a:latin typeface="Arial"/>
                  </a:rPr>
                  <a:t> by </a:t>
                </a:r>
                <a:r>
                  <a:rPr lang="en-IN" sz="2400">
                    <a:solidFill>
                      <a:srgbClr val="111827"/>
                    </a:solidFill>
                    <a:latin typeface="Cambria Math" panose="02040503050406030204" pitchFamily="18" charset="0"/>
                  </a:rPr>
                  <a:t>$(\sin\varphi,\cos\varphi)$</a:t>
                </a:r>
                <a:r>
                  <a:rPr sz="2400" b="0">
                    <a:solidFill>
                      <a:srgbClr val="111827"/>
                    </a:solidFill>
                    <a:latin typeface="Arial"/>
                  </a:rPr>
                  <a:t> avoids square roots.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$\sin^2\frac{\pi}{8}=\frac{2-\sqrt2}{4}$</a:t>
                </a:r>
                <a:r>
                  <a:rPr sz="2400" b="0">
                    <a:solidFill>
                      <a:srgbClr val="111827"/>
                    </a:solidFill>
                    <a:latin typeface="Arial"/>
                  </a:rPr>
                  <a:t> and </a:t>
                </a:r>
                <a:r>
                  <a:rPr lang="en-IN" sz="2400">
                    <a:solidFill>
                      <a:srgbClr val="111827"/>
                    </a:solidFill>
                    <a:latin typeface="Cambria Math" panose="02040503050406030204" pitchFamily="18" charset="0"/>
                  </a:rPr>
                  <a:t>$\frac{1+\sqrt2}{2}=\frac{1+\sqrt8}{4}=\frac{1+\sqrt{18}}{6}$</a:t>
                </a:r>
                <a:r>
                  <a:rPr sz="2400" b="0">
                    <a:solidFill>
                      <a:srgbClr val="111827"/>
                    </a:solidFill>
                    <a:latin typeface="Arial"/>
                  </a:rPr>
                  <a:t> (so </a:t>
                </a:r>
                <a:r>
                  <a:rPr lang="en-IN" sz="2400">
                    <a:solidFill>
                      <a:srgbClr val="111827"/>
                    </a:solidFill>
                    <a:latin typeface="Cambria Math" panose="02040503050406030204" pitchFamily="18" charset="0"/>
                  </a:rPr>
                  <a:t>$\alpha+\beta$</a:t>
                </a:r>
                <a:r>
                  <a:rPr sz="2400" b="0">
                    <a:solidFill>
                      <a:srgbClr val="111827"/>
                    </a:solidFill>
                    <a:latin typeface="Arial"/>
                  </a:rPr>
                  <a:t> is unique only in lowest terms).</a:t>
                </a:r>
                <a:endParaRPr sz="2400">
                  <a:solidFill>
                    <a:srgbClr val="111827"/>
                  </a:solidFill>
                </a:endParaRPr>
              </a:p>
            </p:txBody>
          </p:sp>
        </mc:Fallback>
      </mc:AlternateContent>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sum of max. and the min. values of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oMath>
                </a14:m>
                <a:r>
                  <a:rPr sz="2400" b="0">
                    <a:solidFill>
                      <a:srgbClr val="111827"/>
                    </a:solidFill>
                    <a:latin typeface="Arial"/>
                  </a:rPr>
                  <a:t> subject to condition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sum of max. and the min. values of </a:t>
                </a:r>
                <a:r>
                  <a:rPr lang="en-IN" sz="2400">
                    <a:solidFill>
                      <a:srgbClr val="111827"/>
                    </a:solidFill>
                    <a:latin typeface="Cambria Math" panose="02040503050406030204" pitchFamily="18" charset="0"/>
                  </a:rPr>
                  <a:t>$f(x)=x^3-3x$</a:t>
                </a:r>
                <a:r>
                  <a:rPr sz="2400" b="0">
                    <a:solidFill>
                      <a:srgbClr val="111827"/>
                    </a:solidFill>
                    <a:latin typeface="Arial"/>
                  </a:rPr>
                  <a:t> subject to condition </a:t>
                </a:r>
                <a:r>
                  <a:rPr lang="en-IN" sz="2400">
                    <a:solidFill>
                      <a:srgbClr val="111827"/>
                    </a:solidFill>
                    <a:latin typeface="Cambria Math" panose="02040503050406030204" pitchFamily="18" charset="0"/>
                  </a:rPr>
                  <a:t>$x^4+36\le13x^2$</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Integer Type(0 to 9)(4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Maxima and minima on a restricted domain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constraint is a quadratic in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giving </a:t>
                </a:r>
                <a14:m>
                  <m:oMath xmlns:m="http://schemas.openxmlformats.org/officeDocument/2006/math">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9</m:t>
                    </m:r>
                  </m:oMath>
                </a14:m>
                <a:r>
                  <a:rPr sz="2400" b="0">
                    <a:solidFill>
                      <a:srgbClr val="78350F"/>
                    </a:solidFill>
                    <a:latin typeface="Arial"/>
                  </a:rPr>
                  <a:t>; on this domain </a:t>
                </a:r>
                <a14:m>
                  <m:oMath xmlns:m="http://schemas.openxmlformats.org/officeDocument/2006/math">
                    <m:r>
                      <a:rPr lang="en-IN" sz="2400" i="1">
                        <a:solidFill>
                          <a:srgbClr val="78350F"/>
                        </a:solidFill>
                        <a:latin typeface="Cambria Math" panose="02040503050406030204" pitchFamily="18" charset="0"/>
                      </a:rPr>
                      <m:t>𝑓</m:t>
                    </m:r>
                  </m:oMath>
                </a14:m>
                <a:r>
                  <a:rPr sz="2400" b="0">
                    <a:solidFill>
                      <a:srgbClr val="78350F"/>
                    </a:solidFill>
                    <a:latin typeface="Arial"/>
                  </a:rPr>
                  <a:t> is monotonic so the extremes sit at the endpoints.</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constraint is a quadratic in </a:t>
                </a:r>
                <a:r>
                  <a:rPr lang="en-IN" sz="2400">
                    <a:solidFill>
                      <a:srgbClr val="78350F"/>
                    </a:solidFill>
                    <a:latin typeface="Cambria Math" panose="02040503050406030204" pitchFamily="18" charset="0"/>
                  </a:rPr>
                  <a:t>$x^2$</a:t>
                </a:r>
                <a:r>
                  <a:rPr sz="2400" b="0">
                    <a:solidFill>
                      <a:srgbClr val="78350F"/>
                    </a:solidFill>
                    <a:latin typeface="Arial"/>
                  </a:rPr>
                  <a:t>, giving </a:t>
                </a:r>
                <a:r>
                  <a:rPr lang="en-IN" sz="2400">
                    <a:solidFill>
                      <a:srgbClr val="78350F"/>
                    </a:solidFill>
                    <a:latin typeface="Cambria Math" panose="02040503050406030204" pitchFamily="18" charset="0"/>
                  </a:rPr>
                  <a:t>$4\le x^2\le9$</a:t>
                </a:r>
                <a:r>
                  <a:rPr sz="2400" b="0">
                    <a:solidFill>
                      <a:srgbClr val="78350F"/>
                    </a:solidFill>
                    <a:latin typeface="Arial"/>
                  </a:rPr>
                  <a:t>; on this domain </a:t>
                </a:r>
                <a:r>
                  <a:rPr lang="en-IN" sz="2400">
                    <a:solidFill>
                      <a:srgbClr val="78350F"/>
                    </a:solidFill>
                    <a:latin typeface="Cambria Math" panose="02040503050406030204" pitchFamily="18" charset="0"/>
                  </a:rPr>
                  <a:t>$f$</a:t>
                </a:r>
                <a:r>
                  <a:rPr sz="2400" b="0">
                    <a:solidFill>
                      <a:srgbClr val="78350F"/>
                    </a:solidFill>
                    <a:latin typeface="Arial"/>
                  </a:rPr>
                  <a:t> is monotonic so the extremes sit at the endpoints.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given condition is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Factorise: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Now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which vanishes only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given condition is </a:t>
                </a:r>
                <a:r>
                  <a:rPr lang="en-IN" sz="2400">
                    <a:solidFill>
                      <a:srgbClr val="111827"/>
                    </a:solidFill>
                    <a:latin typeface="Cambria Math" panose="02040503050406030204" pitchFamily="18" charset="0"/>
                  </a:rPr>
                  <a:t>$x^4+36-13x^2\le0$</a:t>
                </a:r>
                <a:r>
                  <a:rPr sz="2400" b="0">
                    <a:solidFill>
                      <a:srgbClr val="111827"/>
                    </a:solidFill>
                    <a:latin typeface="Arial"/>
                  </a:rPr>
                  <a:t>, i.e. </a:t>
                </a:r>
                <a:r>
                  <a:rPr lang="en-IN" sz="2400">
                    <a:solidFill>
                      <a:srgbClr val="111827"/>
                    </a:solidFill>
                    <a:latin typeface="Cambria Math" panose="02040503050406030204" pitchFamily="18" charset="0"/>
                  </a:rPr>
                  <a:t>$x^4-13x^2+36\le0$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Factorise: </a:t>
                </a:r>
                <a:r>
                  <a:rPr lang="en-IN" sz="2400">
                    <a:solidFill>
                      <a:srgbClr val="111827"/>
                    </a:solidFill>
                    <a:latin typeface="Cambria Math" panose="02040503050406030204" pitchFamily="18" charset="0"/>
                  </a:rPr>
                  <a:t>$(x^2-9)(x^2-4)\le0$</a:t>
                </a:r>
                <a:r>
                  <a:rPr sz="2400" b="0">
                    <a:solidFill>
                      <a:srgbClr val="111827"/>
                    </a:solidFill>
                    <a:latin typeface="Arial"/>
                  </a:rPr>
                  <a:t>, i.e. </a:t>
                </a:r>
                <a:r>
                  <a:rPr lang="en-IN" sz="2400">
                    <a:solidFill>
                      <a:srgbClr val="111827"/>
                    </a:solidFill>
                    <a:latin typeface="Cambria Math" panose="02040503050406030204" pitchFamily="18" charset="0"/>
                  </a:rPr>
                  <a:t>$(x+3)(x-3)(x+2)(x-2)\le0$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$4\le x^2\le9$</a:t>
                </a:r>
                <a:r>
                  <a:rPr sz="2400" b="0">
                    <a:solidFill>
                      <a:srgbClr val="111827"/>
                    </a:solidFill>
                    <a:latin typeface="Arial"/>
                  </a:rPr>
                  <a:t>, so </a:t>
                </a:r>
                <a:r>
                  <a:rPr lang="en-IN" sz="2400">
                    <a:solidFill>
                      <a:srgbClr val="111827"/>
                    </a:solidFill>
                    <a:latin typeface="Cambria Math" panose="02040503050406030204" pitchFamily="18" charset="0"/>
                  </a:rPr>
                  <a:t>$x\in[-3,-2]\cup[2,3]$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Now </a:t>
                </a:r>
                <a:r>
                  <a:rPr lang="en-IN" sz="2400">
                    <a:solidFill>
                      <a:srgbClr val="111827"/>
                    </a:solidFill>
                    <a:latin typeface="Cambria Math" panose="02040503050406030204" pitchFamily="18" charset="0"/>
                  </a:rPr>
                  <a:t>$f(x)=x^3-3x$</a:t>
                </a:r>
                <a:r>
                  <a:rPr sz="2400" b="0">
                    <a:solidFill>
                      <a:srgbClr val="111827"/>
                    </a:solidFill>
                    <a:latin typeface="Arial"/>
                  </a:rPr>
                  <a:t> and </a:t>
                </a:r>
                <a:r>
                  <a:rPr lang="en-IN" sz="2400">
                    <a:solidFill>
                      <a:srgbClr val="111827"/>
                    </a:solidFill>
                    <a:latin typeface="Cambria Math" panose="02040503050406030204" pitchFamily="18" charset="0"/>
                  </a:rPr>
                  <a:t>$f'(x)=3x^2-3=3(x-1)(x+1)$</a:t>
                </a:r>
                <a:r>
                  <a:rPr sz="2400" b="0">
                    <a:solidFill>
                      <a:srgbClr val="111827"/>
                    </a:solidFill>
                    <a:latin typeface="Arial"/>
                  </a:rPr>
                  <a:t>, which vanishes only at </a:t>
                </a:r>
                <a:r>
                  <a:rPr lang="en-IN" sz="2400">
                    <a:solidFill>
                      <a:srgbClr val="111827"/>
                    </a:solidFill>
                    <a:latin typeface="Cambria Math" panose="02040503050406030204" pitchFamily="18" charset="0"/>
                  </a:rPr>
                  <a:t>$x=\pm1$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These points do not lie in the domain,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increasing on each of the two intervals; the extremes occur at the endpoints.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Endpoint values: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Thus the maximum value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18</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the minimum value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maximum and minimum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These points do not lie in the domain, and </a:t>
                </a:r>
                <a:r>
                  <a:rPr lang="en-IN" sz="2400">
                    <a:solidFill>
                      <a:srgbClr val="111827"/>
                    </a:solidFill>
                    <a:latin typeface="Cambria Math" panose="02040503050406030204" pitchFamily="18" charset="0"/>
                  </a:rPr>
                  <a:t>$f'(x)&gt;0$</a:t>
                </a:r>
                <a:r>
                  <a:rPr sz="2400" b="0">
                    <a:solidFill>
                      <a:srgbClr val="111827"/>
                    </a:solidFill>
                    <a:latin typeface="Arial"/>
                  </a:rPr>
                  <a:t> for </a:t>
                </a:r>
                <a:r>
                  <a:rPr lang="en-IN" sz="2400">
                    <a:solidFill>
                      <a:srgbClr val="111827"/>
                    </a:solidFill>
                    <a:latin typeface="Cambria Math" panose="02040503050406030204" pitchFamily="18" charset="0"/>
                  </a:rPr>
                  <a:t>$|x|\ge2$</a:t>
                </a:r>
                <a:r>
                  <a:rPr sz="2400" b="0">
                    <a:solidFill>
                      <a:srgbClr val="111827"/>
                    </a:solidFill>
                    <a:latin typeface="Arial"/>
                  </a:rPr>
                  <a:t>, so </a:t>
                </a:r>
                <a:r>
                  <a:rPr lang="en-IN" sz="2400">
                    <a:solidFill>
                      <a:srgbClr val="111827"/>
                    </a:solidFill>
                    <a:latin typeface="Cambria Math" panose="02040503050406030204" pitchFamily="18" charset="0"/>
                  </a:rPr>
                  <a:t>$f$</a:t>
                </a:r>
                <a:r>
                  <a:rPr sz="2400" b="0">
                    <a:solidFill>
                      <a:srgbClr val="111827"/>
                    </a:solidFill>
                    <a:latin typeface="Arial"/>
                  </a:rPr>
                  <a:t> is increasing on each of the two intervals; the extremes occur at the endpoints.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Endpoint values: </a:t>
                </a:r>
                <a:r>
                  <a:rPr lang="en-IN" sz="2400">
                    <a:solidFill>
                      <a:srgbClr val="111827"/>
                    </a:solidFill>
                    <a:latin typeface="Cambria Math" panose="02040503050406030204" pitchFamily="18" charset="0"/>
                  </a:rPr>
                  <a:t>$f(2)=8-6=2$</a:t>
                </a:r>
                <a:r>
                  <a:rPr sz="2400" b="0">
                    <a:solidFill>
                      <a:srgbClr val="111827"/>
                    </a:solidFill>
                    <a:latin typeface="Arial"/>
                  </a:rPr>
                  <a:t>, </a:t>
                </a:r>
                <a:r>
                  <a:rPr lang="en-IN" sz="2400">
                    <a:solidFill>
                      <a:srgbClr val="111827"/>
                    </a:solidFill>
                    <a:latin typeface="Cambria Math" panose="02040503050406030204" pitchFamily="18" charset="0"/>
                  </a:rPr>
                  <a:t>$f(-2)=-8+6=-2$</a:t>
                </a:r>
                <a:r>
                  <a:rPr sz="2400" b="0">
                    <a:solidFill>
                      <a:srgbClr val="111827"/>
                    </a:solidFill>
                    <a:latin typeface="Arial"/>
                  </a:rPr>
                  <a:t>, </a:t>
                </a:r>
                <a:r>
                  <a:rPr lang="en-IN" sz="2400">
                    <a:solidFill>
                      <a:srgbClr val="111827"/>
                    </a:solidFill>
                    <a:latin typeface="Cambria Math" panose="02040503050406030204" pitchFamily="18" charset="0"/>
                  </a:rPr>
                  <a:t>$f(3)=27-9=18$</a:t>
                </a:r>
                <a:r>
                  <a:rPr sz="2400" b="0">
                    <a:solidFill>
                      <a:srgbClr val="111827"/>
                    </a:solidFill>
                    <a:latin typeface="Arial"/>
                  </a:rPr>
                  <a:t>, </a:t>
                </a:r>
                <a:r>
                  <a:rPr lang="en-IN" sz="2400">
                    <a:solidFill>
                      <a:srgbClr val="111827"/>
                    </a:solidFill>
                    <a:latin typeface="Cambria Math" panose="02040503050406030204" pitchFamily="18" charset="0"/>
                  </a:rPr>
                  <a:t>$f(-3)=-27+9=-18$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Thus the maximum value of </a:t>
                </a:r>
                <a:r>
                  <a:rPr lang="en-IN" sz="2400">
                    <a:solidFill>
                      <a:srgbClr val="111827"/>
                    </a:solidFill>
                    <a:latin typeface="Cambria Math" panose="02040503050406030204" pitchFamily="18" charset="0"/>
                  </a:rPr>
                  <a:t>$f$</a:t>
                </a:r>
                <a:r>
                  <a:rPr sz="2400" b="0">
                    <a:solidFill>
                      <a:srgbClr val="111827"/>
                    </a:solidFill>
                    <a:latin typeface="Arial"/>
                  </a:rPr>
                  <a:t> is </a:t>
                </a:r>
                <a:r>
                  <a:rPr lang="en-IN" sz="2400">
                    <a:solidFill>
                      <a:srgbClr val="111827"/>
                    </a:solidFill>
                    <a:latin typeface="Cambria Math" panose="02040503050406030204" pitchFamily="18" charset="0"/>
                  </a:rPr>
                  <a:t>$18$</a:t>
                </a:r>
                <a:r>
                  <a:rPr sz="2400" b="0">
                    <a:solidFill>
                      <a:srgbClr val="111827"/>
                    </a:solidFill>
                    <a:latin typeface="Arial"/>
                  </a:rPr>
                  <a:t> (at </a:t>
                </a:r>
                <a:r>
                  <a:rPr lang="en-IN" sz="2400">
                    <a:solidFill>
                      <a:srgbClr val="111827"/>
                    </a:solidFill>
                    <a:latin typeface="Cambria Math" panose="02040503050406030204" pitchFamily="18" charset="0"/>
                  </a:rPr>
                  <a:t>$x=3$</a:t>
                </a:r>
                <a:r>
                  <a:rPr sz="2400" b="0">
                    <a:solidFill>
                      <a:srgbClr val="111827"/>
                    </a:solidFill>
                    <a:latin typeface="Arial"/>
                  </a:rPr>
                  <a:t>) and the minimum value is </a:t>
                </a:r>
                <a:r>
                  <a:rPr lang="en-IN" sz="2400">
                    <a:solidFill>
                      <a:srgbClr val="111827"/>
                    </a:solidFill>
                    <a:latin typeface="Cambria Math" panose="02040503050406030204" pitchFamily="18" charset="0"/>
                  </a:rPr>
                  <a:t>$-18$</a:t>
                </a:r>
                <a:r>
                  <a:rPr sz="2400" b="0">
                    <a:solidFill>
                      <a:srgbClr val="111827"/>
                    </a:solidFill>
                    <a:latin typeface="Arial"/>
                  </a:rPr>
                  <a:t> (at </a:t>
                </a:r>
                <a:r>
                  <a:rPr lang="en-IN" sz="2400">
                    <a:solidFill>
                      <a:srgbClr val="111827"/>
                    </a:solidFill>
                    <a:latin typeface="Cambria Math" panose="02040503050406030204" pitchFamily="18" charset="0"/>
                  </a:rPr>
                  <a:t>$x=-3$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maximum and minimum </a:t>
                </a:r>
                <a:r>
                  <a:rPr lang="en-IN" sz="2400">
                    <a:solidFill>
                      <a:srgbClr val="111827"/>
                    </a:solidFill>
                    <a:latin typeface="Cambria Math" panose="02040503050406030204" pitchFamily="18" charset="0"/>
                  </a:rPr>
                  <a:t>$=18+(-18)=0$</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0</a:t>
            </a:r>
            <a:endParaRPr sz="2800">
              <a:solidFill>
                <a:srgbClr val="15803D"/>
              </a:solidFill>
            </a:endParaRP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14:m>
                  <m:oMath xmlns:m="http://schemas.openxmlformats.org/officeDocument/2006/math">
                    <m:r>
                      <a:rPr lang="en-IN" sz="2400" i="1">
                        <a:solidFill>
                          <a:srgbClr val="78350F"/>
                        </a:solidFill>
                        <a:latin typeface="Cambria Math" panose="02040503050406030204" pitchFamily="18" charset="0"/>
                      </a:rPr>
                      <m:t>𝑓</m:t>
                    </m:r>
                  </m:oMath>
                </a14:m>
                <a:r>
                  <a:rPr sz="2400" b="0">
                    <a:solidFill>
                      <a:srgbClr val="78350F"/>
                    </a:solidFill>
                    <a:latin typeface="Arial"/>
                  </a:rPr>
                  <a:t> is odd and the constraint set is symmetric about </a:t>
                </a:r>
                <a14:m>
                  <m:oMath xmlns:m="http://schemas.openxmlformats.org/officeDocument/2006/math">
                    <m:r>
                      <a:rPr lang="en-IN" sz="2400" i="1">
                        <a:solidFill>
                          <a:srgbClr val="78350F"/>
                        </a:solidFill>
                        <a:latin typeface="Cambria Math" panose="02040503050406030204" pitchFamily="18" charset="0"/>
                      </a:rPr>
                      <m:t>0</m:t>
                    </m:r>
                  </m:oMath>
                </a14:m>
                <a:r>
                  <a:rPr sz="2400" b="0">
                    <a:solidFill>
                      <a:srgbClr val="78350F"/>
                    </a:solidFill>
                    <a:latin typeface="Arial"/>
                  </a:rPr>
                  <a:t>, so the minimum is the negative of the maximum.</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lang="en-IN" sz="2400">
                    <a:solidFill>
                      <a:srgbClr val="78350F"/>
                    </a:solidFill>
                    <a:latin typeface="Cambria Math" panose="02040503050406030204" pitchFamily="18" charset="0"/>
                  </a:rPr>
                  <a:t>$f$</a:t>
                </a:r>
                <a:r>
                  <a:rPr sz="2400" b="0">
                    <a:solidFill>
                      <a:srgbClr val="78350F"/>
                    </a:solidFill>
                    <a:latin typeface="Arial"/>
                  </a:rPr>
                  <a:t> is odd and the constraint set is symmetric about </a:t>
                </a:r>
                <a:r>
                  <a:rPr lang="en-IN" sz="2400">
                    <a:solidFill>
                      <a:srgbClr val="78350F"/>
                    </a:solidFill>
                    <a:latin typeface="Cambria Math" panose="02040503050406030204" pitchFamily="18" charset="0"/>
                  </a:rPr>
                  <a:t>$0$</a:t>
                </a:r>
                <a:r>
                  <a:rPr sz="2400" b="0">
                    <a:solidFill>
                      <a:srgbClr val="78350F"/>
                    </a:solidFill>
                    <a:latin typeface="Arial"/>
                  </a:rPr>
                  <a:t>, so the minimum is the negative of the maximum.</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constraint depends only on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so the feasible set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symmetric about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and it is closed and bounded.</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an odd function.</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continuous on a closed bounded set, so it attains a maximum </a:t>
                </a:r>
                <a14:m>
                  <m:oMath xmlns:m="http://schemas.openxmlformats.org/officeDocument/2006/math">
                    <m:r>
                      <a:rPr lang="en-IN" sz="2400" i="1">
                        <a:solidFill>
                          <a:srgbClr val="111827"/>
                        </a:solidFill>
                        <a:latin typeface="Cambria Math" panose="02040503050406030204" pitchFamily="18" charset="0"/>
                      </a:rPr>
                      <m:t>𝑀</m:t>
                    </m:r>
                  </m:oMath>
                </a14:m>
                <a:r>
                  <a:rPr sz="2400" b="0">
                    <a:solidFill>
                      <a:srgbClr val="111827"/>
                    </a:solidFill>
                    <a:latin typeface="Arial"/>
                  </a:rPr>
                  <a:t> at some feasible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constraint depends only on </a:t>
                </a:r>
                <a:r>
                  <a:rPr lang="en-IN" sz="2400">
                    <a:solidFill>
                      <a:srgbClr val="111827"/>
                    </a:solidFill>
                    <a:latin typeface="Cambria Math" panose="02040503050406030204" pitchFamily="18" charset="0"/>
                  </a:rPr>
                  <a:t>$x^2$</a:t>
                </a:r>
                <a:r>
                  <a:rPr sz="2400" b="0">
                    <a:solidFill>
                      <a:srgbClr val="111827"/>
                    </a:solidFill>
                    <a:latin typeface="Arial"/>
                  </a:rPr>
                  <a:t>, so the feasible set </a:t>
                </a:r>
                <a:r>
                  <a:rPr lang="en-IN" sz="2400">
                    <a:solidFill>
                      <a:srgbClr val="111827"/>
                    </a:solidFill>
                    <a:latin typeface="Cambria Math" panose="02040503050406030204" pitchFamily="18" charset="0"/>
                  </a:rPr>
                  <a:t>$[-3,-2]\cup[2,3]$</a:t>
                </a:r>
                <a:r>
                  <a:rPr sz="2400" b="0">
                    <a:solidFill>
                      <a:srgbClr val="111827"/>
                    </a:solidFill>
                    <a:latin typeface="Arial"/>
                  </a:rPr>
                  <a:t> is symmetric about </a:t>
                </a:r>
                <a:r>
                  <a:rPr lang="en-IN" sz="2400">
                    <a:solidFill>
                      <a:srgbClr val="111827"/>
                    </a:solidFill>
                    <a:latin typeface="Cambria Math" panose="02040503050406030204" pitchFamily="18" charset="0"/>
                  </a:rPr>
                  <a:t>$0$</a:t>
                </a:r>
                <a:r>
                  <a:rPr sz="2400" b="0">
                    <a:solidFill>
                      <a:srgbClr val="111827"/>
                    </a:solidFill>
                    <a:latin typeface="Arial"/>
                  </a:rPr>
                  <a:t>, and it is closed and bounded.</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$f(-x)=-x^3+3x=-f(x)$</a:t>
                </a:r>
                <a:r>
                  <a:rPr sz="2400" b="0">
                    <a:solidFill>
                      <a:srgbClr val="111827"/>
                    </a:solidFill>
                    <a:latin typeface="Arial"/>
                  </a:rPr>
                  <a:t>, so </a:t>
                </a:r>
                <a:r>
                  <a:rPr lang="en-IN" sz="2400">
                    <a:solidFill>
                      <a:srgbClr val="111827"/>
                    </a:solidFill>
                    <a:latin typeface="Cambria Math" panose="02040503050406030204" pitchFamily="18" charset="0"/>
                  </a:rPr>
                  <a:t>$f$</a:t>
                </a:r>
                <a:r>
                  <a:rPr sz="2400" b="0">
                    <a:solidFill>
                      <a:srgbClr val="111827"/>
                    </a:solidFill>
                    <a:latin typeface="Arial"/>
                  </a:rPr>
                  <a:t> is an odd function.</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a:t>
                </a:r>
                <a:r>
                  <a:rPr sz="2400" b="0">
                    <a:solidFill>
                      <a:srgbClr val="111827"/>
                    </a:solidFill>
                    <a:latin typeface="Arial"/>
                  </a:rPr>
                  <a:t> is continuous on a closed bounded set, so it attains a maximum </a:t>
                </a:r>
                <a:r>
                  <a:rPr lang="en-IN" sz="2400">
                    <a:solidFill>
                      <a:srgbClr val="111827"/>
                    </a:solidFill>
                    <a:latin typeface="Cambria Math" panose="02040503050406030204" pitchFamily="18" charset="0"/>
                  </a:rPr>
                  <a:t>$M$</a:t>
                </a:r>
                <a:r>
                  <a:rPr sz="2400" b="0">
                    <a:solidFill>
                      <a:srgbClr val="111827"/>
                    </a:solidFill>
                    <a:latin typeface="Arial"/>
                  </a:rPr>
                  <a:t> at some feasible </a:t>
                </a:r>
                <a:r>
                  <a:rPr lang="en-IN" sz="2400">
                    <a:solidFill>
                      <a:srgbClr val="111827"/>
                    </a:solidFill>
                    <a:latin typeface="Cambria Math" panose="02040503050406030204" pitchFamily="18" charset="0"/>
                  </a:rPr>
                  <a:t>$x_0$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oMath>
                </a14:m>
                <a:r>
                  <a:rPr sz="2400" b="0">
                    <a:solidFill>
                      <a:srgbClr val="111827"/>
                    </a:solidFill>
                    <a:latin typeface="Arial"/>
                  </a:rPr>
                  <a:t> is feasible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oMath>
                </a14:m>
                <a:r>
                  <a:rPr sz="2400" b="0">
                    <a:solidFill>
                      <a:srgbClr val="111827"/>
                    </a:solidFill>
                    <a:latin typeface="Arial"/>
                  </a:rPr>
                  <a:t>; for any feasible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oMath>
                </a14:m>
                <a:r>
                  <a:rPr sz="2400" b="0">
                    <a:solidFill>
                      <a:srgbClr val="111827"/>
                    </a:solidFill>
                    <a:latin typeface="Arial"/>
                  </a:rPr>
                  <a:t>, hence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oMath>
                </a14:m>
                <a:r>
                  <a:rPr sz="2400" b="0">
                    <a:solidFill>
                      <a:srgbClr val="111827"/>
                    </a:solidFill>
                    <a:latin typeface="Arial"/>
                  </a:rPr>
                  <a:t> everywhere, so the minimum is exactly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maximum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minimum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with no need to find </a:t>
                </a:r>
                <a14:m>
                  <m:oMath xmlns:m="http://schemas.openxmlformats.org/officeDocument/2006/math">
                    <m:r>
                      <a:rPr lang="en-IN" sz="2400" i="1">
                        <a:solidFill>
                          <a:srgbClr val="111827"/>
                        </a:solidFill>
                        <a:latin typeface="Cambria Math" panose="02040503050406030204" pitchFamily="18" charset="0"/>
                      </a:rPr>
                      <m:t>𝑀</m:t>
                    </m:r>
                  </m:oMath>
                </a14:m>
                <a:r>
                  <a:rPr sz="2400" b="0">
                    <a:solidFill>
                      <a:srgbClr val="111827"/>
                    </a:solidFill>
                    <a:latin typeface="Arial"/>
                  </a:rPr>
                  <a:t> (which is </a:t>
                </a:r>
                <a14:m>
                  <m:oMath xmlns:m="http://schemas.openxmlformats.org/officeDocument/2006/math">
                    <m:r>
                      <a:rPr lang="en-IN" sz="2400" i="1">
                        <a:solidFill>
                          <a:srgbClr val="111827"/>
                        </a:solidFill>
                        <a:latin typeface="Cambria Math" panose="02040503050406030204" pitchFamily="18" charset="0"/>
                      </a:rPr>
                      <m:t>18</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$-x_0$</a:t>
                </a:r>
                <a:r>
                  <a:rPr sz="2400" b="0">
                    <a:solidFill>
                      <a:srgbClr val="111827"/>
                    </a:solidFill>
                    <a:latin typeface="Arial"/>
                  </a:rPr>
                  <a:t> is feasible and </a:t>
                </a:r>
                <a:r>
                  <a:rPr lang="en-IN" sz="2400">
                    <a:solidFill>
                      <a:srgbClr val="111827"/>
                    </a:solidFill>
                    <a:latin typeface="Cambria Math" panose="02040503050406030204" pitchFamily="18" charset="0"/>
                  </a:rPr>
                  <a:t>$f(-x_0)=-M$</a:t>
                </a:r>
                <a:r>
                  <a:rPr sz="2400" b="0">
                    <a:solidFill>
                      <a:srgbClr val="111827"/>
                    </a:solidFill>
                    <a:latin typeface="Arial"/>
                  </a:rPr>
                  <a:t>; for any feasible </a:t>
                </a:r>
                <a:r>
                  <a:rPr lang="en-IN" sz="2400">
                    <a:solidFill>
                      <a:srgbClr val="111827"/>
                    </a:solidFill>
                    <a:latin typeface="Cambria Math" panose="02040503050406030204" pitchFamily="18" charset="0"/>
                  </a:rPr>
                  <a:t>$x$</a:t>
                </a:r>
                <a:r>
                  <a:rPr sz="2400" b="0">
                    <a:solidFill>
                      <a:srgbClr val="111827"/>
                    </a:solidFill>
                    <a:latin typeface="Arial"/>
                  </a:rPr>
                  <a:t>, </a:t>
                </a:r>
                <a:r>
                  <a:rPr lang="en-IN" sz="2400">
                    <a:solidFill>
                      <a:srgbClr val="111827"/>
                    </a:solidFill>
                    <a:latin typeface="Cambria Math" panose="02040503050406030204" pitchFamily="18" charset="0"/>
                  </a:rPr>
                  <a:t>$f(-x)=-f(x)\ge-M$</a:t>
                </a:r>
                <a:r>
                  <a:rPr sz="2400" b="0">
                    <a:solidFill>
                      <a:srgbClr val="111827"/>
                    </a:solidFill>
                    <a:latin typeface="Arial"/>
                  </a:rPr>
                  <a:t>, hence </a:t>
                </a:r>
                <a:r>
                  <a:rPr lang="en-IN" sz="2400">
                    <a:solidFill>
                      <a:srgbClr val="111827"/>
                    </a:solidFill>
                    <a:latin typeface="Cambria Math" panose="02040503050406030204" pitchFamily="18" charset="0"/>
                  </a:rPr>
                  <a:t>$f(x)\ge -M$</a:t>
                </a:r>
                <a:r>
                  <a:rPr sz="2400" b="0">
                    <a:solidFill>
                      <a:srgbClr val="111827"/>
                    </a:solidFill>
                    <a:latin typeface="Arial"/>
                  </a:rPr>
                  <a:t> everywhere, so the minimum is exactly </a:t>
                </a:r>
                <a:r>
                  <a:rPr lang="en-IN" sz="2400">
                    <a:solidFill>
                      <a:srgbClr val="111827"/>
                    </a:solidFill>
                    <a:latin typeface="Cambria Math" panose="02040503050406030204" pitchFamily="18" charset="0"/>
                  </a:rPr>
                  <a:t>$-M$</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maximum </a:t>
                </a:r>
                <a:r>
                  <a:rPr lang="en-IN" sz="2400">
                    <a:solidFill>
                      <a:srgbClr val="111827"/>
                    </a:solidFill>
                    <a:latin typeface="Cambria Math" panose="02040503050406030204" pitchFamily="18" charset="0"/>
                  </a:rPr>
                  <a:t>$+$</a:t>
                </a:r>
                <a:r>
                  <a:rPr sz="2400" b="0">
                    <a:solidFill>
                      <a:srgbClr val="111827"/>
                    </a:solidFill>
                    <a:latin typeface="Arial"/>
                  </a:rPr>
                  <a:t> minimum </a:t>
                </a:r>
                <a:r>
                  <a:rPr lang="en-IN" sz="2400">
                    <a:solidFill>
                      <a:srgbClr val="111827"/>
                    </a:solidFill>
                    <a:latin typeface="Cambria Math" panose="02040503050406030204" pitchFamily="18" charset="0"/>
                  </a:rPr>
                  <a:t>$=M+(-M)=0$</a:t>
                </a:r>
                <a:r>
                  <a:rPr sz="2400" b="0">
                    <a:solidFill>
                      <a:srgbClr val="111827"/>
                    </a:solidFill>
                    <a:latin typeface="Arial"/>
                  </a:rPr>
                  <a:t>, with no need to find </a:t>
                </a:r>
                <a:r>
                  <a:rPr lang="en-IN" sz="2400">
                    <a:solidFill>
                      <a:srgbClr val="111827"/>
                    </a:solidFill>
                    <a:latin typeface="Cambria Math" panose="02040503050406030204" pitchFamily="18" charset="0"/>
                  </a:rPr>
                  <a:t>$M$</a:t>
                </a:r>
                <a:r>
                  <a:rPr sz="2400" b="0">
                    <a:solidFill>
                      <a:srgbClr val="111827"/>
                    </a:solidFill>
                    <a:latin typeface="Arial"/>
                  </a:rPr>
                  <a:t> (which is </a:t>
                </a:r>
                <a:r>
                  <a:rPr lang="en-IN" sz="2400">
                    <a:solidFill>
                      <a:srgbClr val="111827"/>
                    </a:solidFill>
                    <a:latin typeface="Cambria Math" panose="02040503050406030204" pitchFamily="18" charset="0"/>
                  </a:rPr>
                  <a:t>$18$</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0</a:t>
            </a:r>
            <a:endParaRPr sz="2800">
              <a:solidFill>
                <a:srgbClr val="15803D"/>
              </a:solidFill>
            </a:endParaRP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𝑞</m:t>
                    </m:r>
                  </m:oMath>
                </a14:m>
                <a:r>
                  <a:rPr sz="2400" b="0">
                    <a:solidFill>
                      <a:srgbClr val="111827"/>
                    </a:solidFill>
                    <a:latin typeface="Arial"/>
                  </a:rPr>
                  <a:t>, the solution set is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𝑞</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𝑝</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𝑝</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𝑞</m:t>
                        </m:r>
                      </m:e>
                    </m:rad>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continuous function on a closed bounded set attains its maximum and minimum; they occur at interior critical points or at the boundary of the set.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Critical points that lie outside the feasible set are irrelevant: here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are not in the domain, so only the endpoints matter.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odd and the feasible set is symmetric about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then </a:t>
                </a:r>
                <a14:m>
                  <m:oMath xmlns:m="http://schemas.openxmlformats.org/officeDocument/2006/math">
                    <m:r>
                      <m:rPr>
                        <m:sty m:val="p"/>
                      </m:rPr>
                      <a:rPr lang="en-IN" sz="2400">
                        <a:solidFill>
                          <a:srgbClr val="111827"/>
                        </a:solidFill>
                        <a:latin typeface="Cambria Math" panose="02040503050406030204" pitchFamily="18" charset="0"/>
                      </a:rPr>
                      <m:t>min</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max</m:t>
                    </m:r>
                    <m:r>
                      <a:rPr lang="en-IN" sz="2400" i="1">
                        <a:solidFill>
                          <a:srgbClr val="111827"/>
                        </a:solidFill>
                        <a:latin typeface="Cambria Math" panose="02040503050406030204" pitchFamily="18" charset="0"/>
                      </a:rPr>
                      <m:t>𝑓</m:t>
                    </m:r>
                  </m:oMath>
                </a14:m>
                <a:r>
                  <a:rPr sz="2400" b="0">
                    <a:solidFill>
                      <a:srgbClr val="111827"/>
                    </a:solidFill>
                    <a:latin typeface="Arial"/>
                  </a:rPr>
                  <a:t>, so their sum is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at once.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$(x^2-p)(x^2-q)\le0$</a:t>
                </a:r>
                <a:r>
                  <a:rPr sz="2400" b="0">
                    <a:solidFill>
                      <a:srgbClr val="111827"/>
                    </a:solidFill>
                    <a:latin typeface="Arial"/>
                  </a:rPr>
                  <a:t> with </a:t>
                </a:r>
                <a:r>
                  <a:rPr lang="en-IN" sz="2400">
                    <a:solidFill>
                      <a:srgbClr val="111827"/>
                    </a:solidFill>
                    <a:latin typeface="Cambria Math" panose="02040503050406030204" pitchFamily="18" charset="0"/>
                  </a:rPr>
                  <a:t>$0&lt;p&lt;q$</a:t>
                </a:r>
                <a:r>
                  <a:rPr sz="2400" b="0">
                    <a:solidFill>
                      <a:srgbClr val="111827"/>
                    </a:solidFill>
                    <a:latin typeface="Arial"/>
                  </a:rPr>
                  <a:t>, the solution set is </a:t>
                </a:r>
                <a:r>
                  <a:rPr lang="en-IN" sz="2400">
                    <a:solidFill>
                      <a:srgbClr val="111827"/>
                    </a:solidFill>
                    <a:latin typeface="Cambria Math" panose="02040503050406030204" pitchFamily="18" charset="0"/>
                  </a:rPr>
                  <a:t>$p\le x^2\le q$</a:t>
                </a:r>
                <a:r>
                  <a:rPr sz="2400" b="0">
                    <a:solidFill>
                      <a:srgbClr val="111827"/>
                    </a:solidFill>
                    <a:latin typeface="Arial"/>
                  </a:rPr>
                  <a:t>, i.e. </a:t>
                </a:r>
                <a:r>
                  <a:rPr lang="en-IN" sz="2400">
                    <a:solidFill>
                      <a:srgbClr val="111827"/>
                    </a:solidFill>
                    <a:latin typeface="Cambria Math" panose="02040503050406030204" pitchFamily="18" charset="0"/>
                  </a:rPr>
                  <a:t>$[-\sqrt q,-\sqrt p]\cup[\sqrt p,\sqrt q]$</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continuous function on a closed bounded set attains its maximum and minimum; they occur at interior critical points or at the boundary of the set.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Critical points that lie outside the feasible set are irrelevant: here </a:t>
                </a:r>
                <a:r>
                  <a:rPr lang="en-IN" sz="2400">
                    <a:solidFill>
                      <a:srgbClr val="111827"/>
                    </a:solidFill>
                    <a:latin typeface="Cambria Math" panose="02040503050406030204" pitchFamily="18" charset="0"/>
                  </a:rPr>
                  <a:t>$x=\pm1$</a:t>
                </a:r>
                <a:r>
                  <a:rPr sz="2400" b="0">
                    <a:solidFill>
                      <a:srgbClr val="111827"/>
                    </a:solidFill>
                    <a:latin typeface="Arial"/>
                  </a:rPr>
                  <a:t> are not in the domain, so only the endpoints matter.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$f$</a:t>
                </a:r>
                <a:r>
                  <a:rPr sz="2400" b="0">
                    <a:solidFill>
                      <a:srgbClr val="111827"/>
                    </a:solidFill>
                    <a:latin typeface="Arial"/>
                  </a:rPr>
                  <a:t> is odd and the feasible set is symmetric about </a:t>
                </a:r>
                <a:r>
                  <a:rPr lang="en-IN" sz="2400">
                    <a:solidFill>
                      <a:srgbClr val="111827"/>
                    </a:solidFill>
                    <a:latin typeface="Cambria Math" panose="02040503050406030204" pitchFamily="18" charset="0"/>
                  </a:rPr>
                  <a:t>$0$</a:t>
                </a:r>
                <a:r>
                  <a:rPr sz="2400" b="0">
                    <a:solidFill>
                      <a:srgbClr val="111827"/>
                    </a:solidFill>
                    <a:latin typeface="Arial"/>
                  </a:rPr>
                  <a:t>, then </a:t>
                </a:r>
                <a:r>
                  <a:rPr lang="en-IN" sz="2400">
                    <a:solidFill>
                      <a:srgbClr val="111827"/>
                    </a:solidFill>
                    <a:latin typeface="Cambria Math" panose="02040503050406030204" pitchFamily="18" charset="0"/>
                  </a:rPr>
                  <a:t>$\min f=-\max f$</a:t>
                </a:r>
                <a:r>
                  <a:rPr sz="2400" b="0">
                    <a:solidFill>
                      <a:srgbClr val="111827"/>
                    </a:solidFill>
                    <a:latin typeface="Arial"/>
                  </a:rPr>
                  <a:t>, so their sum is </a:t>
                </a:r>
                <a:r>
                  <a:rPr lang="en-IN" sz="2400">
                    <a:solidFill>
                      <a:srgbClr val="111827"/>
                    </a:solidFill>
                    <a:latin typeface="Cambria Math" panose="02040503050406030204" pitchFamily="18" charset="0"/>
                  </a:rPr>
                  <a:t>$0$</a:t>
                </a:r>
                <a:r>
                  <a:rPr sz="2400" b="0">
                    <a:solidFill>
                      <a:srgbClr val="111827"/>
                    </a:solidFill>
                    <a:latin typeface="Arial"/>
                  </a:rPr>
                  <a:t> at once.</a:t>
                </a:r>
                <a:endParaRPr sz="2400">
                  <a:solidFill>
                    <a:srgbClr val="111827"/>
                  </a:solidFill>
                </a:endParaRPr>
              </a:p>
            </p:txBody>
          </p:sp>
        </mc:Fallback>
      </mc:AlternateContent>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470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𝑒</m:t>
                        </m:r>
                      </m:e>
                      <m: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let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be the inverse function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Let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den>
                    </m:f>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ℎ</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Then find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6</m:t>
                                </m:r>
                              </m:den>
                            </m:f>
                          </m:e>
                        </m:d>
                      </m:den>
                    </m:f>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24470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$f(x)=-4e^{\frac{1-x}{2}}+\frac{x^3}{3}+\frac{x^2}{2}+x+1$</a:t>
                </a:r>
                <a:r>
                  <a:rPr sz="2400" b="0">
                    <a:solidFill>
                      <a:srgbClr val="111827"/>
                    </a:solidFill>
                    <a:latin typeface="Arial"/>
                  </a:rPr>
                  <a:t> and let </a:t>
                </a:r>
                <a:r>
                  <a:rPr lang="en-IN" sz="2400">
                    <a:solidFill>
                      <a:srgbClr val="111827"/>
                    </a:solidFill>
                    <a:latin typeface="Cambria Math" panose="02040503050406030204" pitchFamily="18" charset="0"/>
                  </a:rPr>
                  <a:t>$g$</a:t>
                </a:r>
                <a:r>
                  <a:rPr sz="2400" b="0">
                    <a:solidFill>
                      <a:srgbClr val="111827"/>
                    </a:solidFill>
                    <a:latin typeface="Arial"/>
                  </a:rPr>
                  <a:t> be the inverse function of </a:t>
                </a:r>
                <a:r>
                  <a:rPr lang="en-IN" sz="2400">
                    <a:solidFill>
                      <a:srgbClr val="111827"/>
                    </a:solidFill>
                    <a:latin typeface="Cambria Math" panose="02040503050406030204" pitchFamily="18" charset="0"/>
                  </a:rPr>
                  <a:t>$f$</a:t>
                </a:r>
                <a:r>
                  <a:rPr sz="2400" b="0">
                    <a:solidFill>
                      <a:srgbClr val="111827"/>
                    </a:solidFill>
                    <a:latin typeface="Arial"/>
                  </a:rPr>
                  <a:t>. Let </a:t>
                </a:r>
                <a:r>
                  <a:rPr lang="en-IN" sz="2400">
                    <a:solidFill>
                      <a:srgbClr val="111827"/>
                    </a:solidFill>
                    <a:latin typeface="Cambria Math" panose="02040503050406030204" pitchFamily="18" charset="0"/>
                  </a:rPr>
                  <a:t>$h(x)=\frac{a+bx^{3/2}}{x^{5/4}}$</a:t>
                </a:r>
                <a:r>
                  <a:rPr sz="2400" b="0">
                    <a:solidFill>
                      <a:srgbClr val="111827"/>
                    </a:solidFill>
                    <a:latin typeface="Arial"/>
                  </a:rPr>
                  <a:t> and </a:t>
                </a:r>
                <a:r>
                  <a:rPr lang="en-IN" sz="2400">
                    <a:solidFill>
                      <a:srgbClr val="111827"/>
                    </a:solidFill>
                    <a:latin typeface="Cambria Math" panose="02040503050406030204" pitchFamily="18" charset="0"/>
                  </a:rPr>
                  <a:t>$h'(5)=0$</a:t>
                </a:r>
                <a:r>
                  <a:rPr sz="2400" b="0">
                    <a:solidFill>
                      <a:srgbClr val="111827"/>
                    </a:solidFill>
                    <a:latin typeface="Arial"/>
                  </a:rPr>
                  <a:t>. Then find </a:t>
                </a:r>
                <a:r>
                  <a:rPr lang="en-IN" sz="2400">
                    <a:solidFill>
                      <a:srgbClr val="111827"/>
                    </a:solidFill>
                    <a:latin typeface="Cambria Math" panose="02040503050406030204" pitchFamily="18" charset="0"/>
                  </a:rPr>
                  <a:t>$\frac{a^2}{5b^2\,g'\left(-\frac76\right)}$</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955795"/>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Integer Type(0 to 9)(4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Derivative of an inverse function, Differentiation of exponential and power functions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sSup>
                      <m:e>
                        <m:r>
                          <a:rPr lang="en-IN" sz="2400" i="1">
                            <a:solidFill>
                              <a:srgbClr val="78350F"/>
                            </a:solidFill>
                            <a:latin typeface="Cambria Math" panose="02040503050406030204" pitchFamily="18" charset="0"/>
                          </a:rPr>
                          <m:t>𝑔</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0</m:t>
                        </m:r>
                      </m:sub>
                    </m:sSub>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0</m:t>
                            </m:r>
                          </m:sub>
                        </m:sSub>
                        <m:r>
                          <m:rPr>
                            <m:sty m:val="p"/>
                          </m:rPr>
                          <a:rPr lang="en-IN" sz="2400">
                            <a:solidFill>
                              <a:srgbClr val="78350F"/>
                            </a:solidFill>
                            <a:latin typeface="Cambria Math" panose="02040503050406030204" pitchFamily="18" charset="0"/>
                          </a:rPr>
                          <m:t>)</m:t>
                        </m:r>
                      </m:den>
                    </m:f>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0</m:t>
                        </m:r>
                      </m:sub>
                    </m:sSub>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7</m:t>
                        </m:r>
                      </m:num>
                      <m:den>
                        <m:r>
                          <a:rPr lang="en-IN" sz="2400" i="1">
                            <a:solidFill>
                              <a:srgbClr val="78350F"/>
                            </a:solidFill>
                            <a:latin typeface="Cambria Math" panose="02040503050406030204" pitchFamily="18" charset="0"/>
                          </a:rPr>
                          <m:t>6</m:t>
                        </m:r>
                      </m:den>
                    </m:f>
                  </m:oMath>
                </a14:m>
                <a:r>
                  <a:rPr sz="2400" b="0">
                    <a:solidFill>
                      <a:srgbClr val="78350F"/>
                    </a:solidFill>
                    <a:latin typeface="Arial"/>
                  </a:rPr>
                  <a:t> is solved by inspection at </a:t>
                </a:r>
                <a14:m>
                  <m:oMath xmlns:m="http://schemas.openxmlformats.org/officeDocument/2006/math">
                    <m:sSub>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0</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where the exponential becomes </a:t>
                </a:r>
                <a14:m>
                  <m:oMath xmlns:m="http://schemas.openxmlformats.org/officeDocument/2006/math">
                    <m:sSup>
                      <m:e>
                        <m:r>
                          <a:rPr lang="en-IN" sz="2400" i="1">
                            <a:solidFill>
                              <a:srgbClr val="78350F"/>
                            </a:solidFill>
                            <a:latin typeface="Cambria Math" panose="02040503050406030204" pitchFamily="18" charset="0"/>
                          </a:rPr>
                          <m:t>𝑒</m:t>
                        </m:r>
                      </m:e>
                      <m:sup>
                        <m:r>
                          <a:rPr lang="en-IN" sz="2400" i="1">
                            <a:solidFill>
                              <a:srgbClr val="78350F"/>
                            </a:solidFill>
                            <a:latin typeface="Cambria Math" panose="02040503050406030204" pitchFamily="18" charset="0"/>
                          </a:rPr>
                          <m:t>0</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$g'(f(x_0))=\frac{1}{f'(x_0)}$</a:t>
                </a:r>
                <a:r>
                  <a:rPr sz="2400" b="0">
                    <a:solidFill>
                      <a:srgbClr val="78350F"/>
                    </a:solidFill>
                    <a:latin typeface="Arial"/>
                  </a:rPr>
                  <a:t>, and </a:t>
                </a:r>
                <a:r>
                  <a:rPr lang="en-IN" sz="2400">
                    <a:solidFill>
                      <a:srgbClr val="78350F"/>
                    </a:solidFill>
                    <a:latin typeface="Cambria Math" panose="02040503050406030204" pitchFamily="18" charset="0"/>
                  </a:rPr>
                  <a:t>$f(x_0)=-\frac76$</a:t>
                </a:r>
                <a:r>
                  <a:rPr sz="2400" b="0">
                    <a:solidFill>
                      <a:srgbClr val="78350F"/>
                    </a:solidFill>
                    <a:latin typeface="Arial"/>
                  </a:rPr>
                  <a:t> is solved by inspection at </a:t>
                </a:r>
                <a:r>
                  <a:rPr lang="en-IN" sz="2400">
                    <a:solidFill>
                      <a:srgbClr val="78350F"/>
                    </a:solidFill>
                    <a:latin typeface="Cambria Math" panose="02040503050406030204" pitchFamily="18" charset="0"/>
                  </a:rPr>
                  <a:t>$x_0=1$</a:t>
                </a:r>
                <a:r>
                  <a:rPr sz="2400" b="0">
                    <a:solidFill>
                      <a:srgbClr val="78350F"/>
                    </a:solidFill>
                    <a:latin typeface="Arial"/>
                  </a:rPr>
                  <a:t> where the exponential becomes </a:t>
                </a:r>
                <a:r>
                  <a:rPr lang="en-IN" sz="2400">
                    <a:solidFill>
                      <a:srgbClr val="78350F"/>
                    </a:solidFill>
                    <a:latin typeface="Cambria Math" panose="02040503050406030204" pitchFamily="18" charset="0"/>
                  </a:rPr>
                  <a:t>$e^0$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so differentiating,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We need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6</m:t>
                            </m:r>
                          </m:den>
                        </m:f>
                      </m:e>
                    </m:d>
                  </m:oMath>
                </a14:m>
                <a:r>
                  <a:rPr sz="2400" b="0">
                    <a:solidFill>
                      <a:srgbClr val="111827"/>
                    </a:solidFill>
                    <a:latin typeface="Arial"/>
                  </a:rPr>
                  <a:t>, so solve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(unique, as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makes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increasing).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6</m:t>
                            </m:r>
                          </m:den>
                        </m:f>
                      </m:e>
                    </m:d>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6</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𝑒</m:t>
                        </m:r>
                      </m:e>
                      <m: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sup>
                    </m:sSup>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6</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Write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$g(f(x))=x$</a:t>
                </a:r>
                <a:r>
                  <a:rPr sz="2400" b="0">
                    <a:solidFill>
                      <a:srgbClr val="111827"/>
                    </a:solidFill>
                    <a:latin typeface="Arial"/>
                  </a:rPr>
                  <a:t>, so differentiating, </a:t>
                </a:r>
                <a:r>
                  <a:rPr lang="en-IN" sz="2400">
                    <a:solidFill>
                      <a:srgbClr val="111827"/>
                    </a:solidFill>
                    <a:latin typeface="Cambria Math" panose="02040503050406030204" pitchFamily="18" charset="0"/>
                  </a:rPr>
                  <a:t>$g'(f(x))\,f'(x)=1$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We need </a:t>
                </a:r>
                <a:r>
                  <a:rPr lang="en-IN" sz="2400">
                    <a:solidFill>
                      <a:srgbClr val="111827"/>
                    </a:solidFill>
                    <a:latin typeface="Cambria Math" panose="02040503050406030204" pitchFamily="18" charset="0"/>
                  </a:rPr>
                  <a:t>$g'\left(-\frac76\right)$</a:t>
                </a:r>
                <a:r>
                  <a:rPr sz="2400" b="0">
                    <a:solidFill>
                      <a:srgbClr val="111827"/>
                    </a:solidFill>
                    <a:latin typeface="Arial"/>
                  </a:rPr>
                  <a:t>, so solve </a:t>
                </a:r>
                <a:r>
                  <a:rPr lang="en-IN" sz="2400">
                    <a:solidFill>
                      <a:srgbClr val="111827"/>
                    </a:solidFill>
                    <a:latin typeface="Cambria Math" panose="02040503050406030204" pitchFamily="18" charset="0"/>
                  </a:rPr>
                  <a:t>$f(x)=-\frac76$</a:t>
                </a:r>
                <a:r>
                  <a:rPr sz="2400" b="0">
                    <a:solidFill>
                      <a:srgbClr val="111827"/>
                    </a:solidFill>
                    <a:latin typeface="Arial"/>
                  </a:rPr>
                  <a:t>: </a:t>
                </a:r>
                <a:r>
                  <a:rPr lang="en-IN" sz="2400">
                    <a:solidFill>
                      <a:srgbClr val="111827"/>
                    </a:solidFill>
                    <a:latin typeface="Cambria Math" panose="02040503050406030204" pitchFamily="18" charset="0"/>
                  </a:rPr>
                  <a:t>$f(1)=-4+\frac13+\frac12+1+1=-\frac76$</a:t>
                </a:r>
                <a:r>
                  <a:rPr sz="2400" b="0">
                    <a:solidFill>
                      <a:srgbClr val="111827"/>
                    </a:solidFill>
                    <a:latin typeface="Arial"/>
                  </a:rPr>
                  <a:t>, so </a:t>
                </a:r>
                <a:r>
                  <a:rPr lang="en-IN" sz="2400">
                    <a:solidFill>
                      <a:srgbClr val="111827"/>
                    </a:solidFill>
                    <a:latin typeface="Cambria Math" panose="02040503050406030204" pitchFamily="18" charset="0"/>
                  </a:rPr>
                  <a:t>$x=1$</a:t>
                </a:r>
                <a:r>
                  <a:rPr sz="2400" b="0">
                    <a:solidFill>
                      <a:srgbClr val="111827"/>
                    </a:solidFill>
                    <a:latin typeface="Arial"/>
                  </a:rPr>
                  <a:t> (unique, as </a:t>
                </a:r>
                <a:r>
                  <a:rPr lang="en-IN" sz="2400">
                    <a:solidFill>
                      <a:srgbClr val="111827"/>
                    </a:solidFill>
                    <a:latin typeface="Cambria Math" panose="02040503050406030204" pitchFamily="18" charset="0"/>
                  </a:rPr>
                  <a:t>$f'&gt;0$</a:t>
                </a:r>
                <a:r>
                  <a:rPr sz="2400" b="0">
                    <a:solidFill>
                      <a:srgbClr val="111827"/>
                    </a:solidFill>
                    <a:latin typeface="Arial"/>
                  </a:rPr>
                  <a:t> makes </a:t>
                </a:r>
                <a:r>
                  <a:rPr lang="en-IN" sz="2400">
                    <a:solidFill>
                      <a:srgbClr val="111827"/>
                    </a:solidFill>
                    <a:latin typeface="Cambria Math" panose="02040503050406030204" pitchFamily="18" charset="0"/>
                  </a:rPr>
                  <a:t>$f$</a:t>
                </a:r>
                <a:r>
                  <a:rPr sz="2400" b="0">
                    <a:solidFill>
                      <a:srgbClr val="111827"/>
                    </a:solidFill>
                    <a:latin typeface="Arial"/>
                  </a:rPr>
                  <a:t> increasing).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$g'\left(-\frac76\right)f'(1)=1$</a:t>
                </a:r>
                <a:r>
                  <a:rPr sz="2400" b="0">
                    <a:solidFill>
                      <a:srgbClr val="111827"/>
                    </a:solidFill>
                    <a:latin typeface="Arial"/>
                  </a:rPr>
                  <a:t>, i.e. </a:t>
                </a:r>
                <a:r>
                  <a:rPr lang="en-IN" sz="2400">
                    <a:solidFill>
                      <a:srgbClr val="111827"/>
                    </a:solidFill>
                    <a:latin typeface="Cambria Math" panose="02040503050406030204" pitchFamily="18" charset="0"/>
                  </a:rPr>
                  <a:t>$g'\left(-\frac76\right)=\frac{1}{f'(1)}$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$f'(x)=-4e^{\frac{1-x}{2}}\left(-\frac12\right)+x^2+x+1$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$f'(1)=2+1+1+1=5$</a:t>
                </a:r>
                <a:r>
                  <a:rPr sz="2400" b="0">
                    <a:solidFill>
                      <a:srgbClr val="111827"/>
                    </a:solidFill>
                    <a:latin typeface="Arial"/>
                  </a:rPr>
                  <a:t>, so </a:t>
                </a:r>
                <a:r>
                  <a:rPr lang="en-IN" sz="2400">
                    <a:solidFill>
                      <a:srgbClr val="111827"/>
                    </a:solidFill>
                    <a:latin typeface="Cambria Math" panose="02040503050406030204" pitchFamily="18" charset="0"/>
                  </a:rPr>
                  <a:t>$g'\left(-\frac76\right)=\frac15$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Write </a:t>
                </a:r>
                <a:r>
                  <a:rPr lang="en-IN" sz="2400">
                    <a:solidFill>
                      <a:srgbClr val="111827"/>
                    </a:solidFill>
                    <a:latin typeface="Cambria Math" panose="02040503050406030204" pitchFamily="18" charset="0"/>
                  </a:rPr>
                  <a:t>$h(x)=ax^{-5/4}+bx^{1/4}$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ℎ</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4</m:t>
                        </m:r>
                      </m:den>
                    </m:f>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4</m:t>
                        </m:r>
                      </m:den>
                    </m:f>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ℎ</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5</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5</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Multiplying by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5</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oMath>
                </a14:m>
                <a:r>
                  <a:rPr sz="2400" b="0">
                    <a:solidFill>
                      <a:srgbClr val="111827"/>
                    </a:solidFill>
                    <a:latin typeface="Arial"/>
                  </a:rPr>
                  <a:t> and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𝑏</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6</m:t>
                                </m:r>
                              </m:den>
                            </m:f>
                          </m:e>
                        </m: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den>
                        </m:f>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$h'(x)=-\frac{5a}{4}x^{-9/4}+\frac b4x^{-3/4}$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$h'(5)=0\Rightarrow-\frac{5a}{4}\cdot5^{-9/4}+\frac b4\cdot5^{-3/4}=0$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Multiplying by </a:t>
                </a:r>
                <a:r>
                  <a:rPr lang="en-IN" sz="2400">
                    <a:solidFill>
                      <a:srgbClr val="111827"/>
                    </a:solidFill>
                    <a:latin typeface="Cambria Math" panose="02040503050406030204" pitchFamily="18" charset="0"/>
                  </a:rPr>
                  <a:t>$4\cdot5^{3/4}$</a:t>
                </a:r>
                <a:r>
                  <a:rPr sz="2400" b="0">
                    <a:solidFill>
                      <a:srgbClr val="111827"/>
                    </a:solidFill>
                    <a:latin typeface="Arial"/>
                  </a:rPr>
                  <a:t>: </a:t>
                </a:r>
                <a:r>
                  <a:rPr lang="en-IN" sz="2400">
                    <a:solidFill>
                      <a:srgbClr val="111827"/>
                    </a:solidFill>
                    <a:latin typeface="Cambria Math" panose="02040503050406030204" pitchFamily="18" charset="0"/>
                  </a:rPr>
                  <a:t>$5a\cdot5^{-3/2}=b$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$\frac ab=5^{1/2}$</a:t>
                </a:r>
                <a:r>
                  <a:rPr sz="2400" b="0">
                    <a:solidFill>
                      <a:srgbClr val="111827"/>
                    </a:solidFill>
                    <a:latin typeface="Arial"/>
                  </a:rPr>
                  <a:t> and </a:t>
                </a:r>
                <a:r>
                  <a:rPr lang="en-IN" sz="2400">
                    <a:solidFill>
                      <a:srgbClr val="111827"/>
                    </a:solidFill>
                    <a:latin typeface="Cambria Math" panose="02040503050406030204" pitchFamily="18" charset="0"/>
                  </a:rPr>
                  <a:t>$\left(\frac ab\right)^2=5$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r>
                  <a:rPr lang="en-IN" sz="2400">
                    <a:solidFill>
                      <a:srgbClr val="111827"/>
                    </a:solidFill>
                    <a:latin typeface="Cambria Math" panose="02040503050406030204" pitchFamily="18" charset="0"/>
                  </a:rPr>
                  <a:t>$\frac{a^2}{5b^2\,g'\left(-\frac76\right)}=\frac{5}{5\cdot\frac15}=5$</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5</a:t>
            </a:r>
            <a:endParaRPr sz="2800">
              <a:solidFill>
                <a:srgbClr val="15803D"/>
              </a:solidFill>
            </a:endParaRP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is the inverse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then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0</m:t>
                        </m:r>
                      </m:sub>
                    </m:sSub>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must be strictly monotonic, here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find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0</m:t>
                        </m:r>
                      </m:sub>
                    </m:sSub>
                  </m:oMath>
                </a14:m>
                <a:r>
                  <a:rPr sz="2400" b="0">
                    <a:solidFill>
                      <a:srgbClr val="111827"/>
                    </a:solidFill>
                    <a:latin typeface="Arial"/>
                  </a:rPr>
                  <a:t>, look for the value that kills the exponential term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here), then use monotonicity to claim uniqueness.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Before differentiating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𝑝</m:t>
                            </m:r>
                          </m:sup>
                        </m:sSup>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𝑞</m:t>
                            </m:r>
                          </m:sup>
                        </m:sSup>
                      </m:den>
                    </m:f>
                  </m:oMath>
                </a14:m>
                <a:r>
                  <a:rPr sz="2400" b="0">
                    <a:solidFill>
                      <a:srgbClr val="111827"/>
                    </a:solidFill>
                    <a:latin typeface="Arial"/>
                  </a:rPr>
                  <a:t>, split it as </a:t>
                </a:r>
                <a14:m>
                  <m:oMath xmlns:m="http://schemas.openxmlformats.org/officeDocument/2006/math">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sup>
                    </m:sSup>
                  </m:oMath>
                </a14:m>
                <a:r>
                  <a:rPr sz="2400" b="0">
                    <a:solidFill>
                      <a:srgbClr val="111827"/>
                    </a:solidFill>
                    <a:latin typeface="Arial"/>
                  </a:rPr>
                  <a:t> and apply the power rule term by term.</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ℎ</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𝑘</m:t>
                        </m:r>
                      </m:sup>
                    </m:sSup>
                  </m:oMath>
                </a14:m>
                <a:r>
                  <a:rPr sz="2400" b="0">
                    <a:solidFill>
                      <a:srgbClr val="111827"/>
                    </a:solidFill>
                    <a:latin typeface="Arial"/>
                  </a:rPr>
                  <a:t> gives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𝑚</m:t>
                        </m:r>
                      </m:den>
                    </m:f>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sup>
                    </m:sSubSup>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give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$g$</a:t>
                </a:r>
                <a:r>
                  <a:rPr sz="2400" b="0">
                    <a:solidFill>
                      <a:srgbClr val="111827"/>
                    </a:solidFill>
                    <a:latin typeface="Arial"/>
                  </a:rPr>
                  <a:t> is the inverse of </a:t>
                </a:r>
                <a:r>
                  <a:rPr lang="en-IN" sz="2400">
                    <a:solidFill>
                      <a:srgbClr val="111827"/>
                    </a:solidFill>
                    <a:latin typeface="Cambria Math" panose="02040503050406030204" pitchFamily="18" charset="0"/>
                  </a:rPr>
                  <a:t>$f$</a:t>
                </a:r>
                <a:r>
                  <a:rPr sz="2400" b="0">
                    <a:solidFill>
                      <a:srgbClr val="111827"/>
                    </a:solidFill>
                    <a:latin typeface="Arial"/>
                  </a:rPr>
                  <a:t> then </a:t>
                </a:r>
                <a:r>
                  <a:rPr lang="en-IN" sz="2400">
                    <a:solidFill>
                      <a:srgbClr val="111827"/>
                    </a:solidFill>
                    <a:latin typeface="Cambria Math" panose="02040503050406030204" pitchFamily="18" charset="0"/>
                  </a:rPr>
                  <a:t>$g'(y_0)=\frac{1}{f'(x_0)}$</a:t>
                </a:r>
                <a:r>
                  <a:rPr sz="2400" b="0">
                    <a:solidFill>
                      <a:srgbClr val="111827"/>
                    </a:solidFill>
                    <a:latin typeface="Arial"/>
                  </a:rPr>
                  <a:t> where </a:t>
                </a:r>
                <a:r>
                  <a:rPr lang="en-IN" sz="2400">
                    <a:solidFill>
                      <a:srgbClr val="111827"/>
                    </a:solidFill>
                    <a:latin typeface="Cambria Math" panose="02040503050406030204" pitchFamily="18" charset="0"/>
                  </a:rPr>
                  <a:t>$f(x_0)=y_0$</a:t>
                </a:r>
                <a:r>
                  <a:rPr sz="2400" b="0">
                    <a:solidFill>
                      <a:srgbClr val="111827"/>
                    </a:solidFill>
                    <a:latin typeface="Arial"/>
                  </a:rPr>
                  <a:t>; </a:t>
                </a:r>
                <a:r>
                  <a:rPr lang="en-IN" sz="2400">
                    <a:solidFill>
                      <a:srgbClr val="111827"/>
                    </a:solidFill>
                    <a:latin typeface="Cambria Math" panose="02040503050406030204" pitchFamily="18" charset="0"/>
                  </a:rPr>
                  <a:t>$f$</a:t>
                </a:r>
                <a:r>
                  <a:rPr sz="2400" b="0">
                    <a:solidFill>
                      <a:srgbClr val="111827"/>
                    </a:solidFill>
                    <a:latin typeface="Arial"/>
                  </a:rPr>
                  <a:t> must be strictly monotonic, here </a:t>
                </a:r>
                <a:r>
                  <a:rPr lang="en-IN" sz="2400">
                    <a:solidFill>
                      <a:srgbClr val="111827"/>
                    </a:solidFill>
                    <a:latin typeface="Cambria Math" panose="02040503050406030204" pitchFamily="18" charset="0"/>
                  </a:rPr>
                  <a:t>$f'(x)=2e^{(1-x)/2}+x^2+x+1&gt;0$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find </a:t>
                </a:r>
                <a:r>
                  <a:rPr lang="en-IN" sz="2400">
                    <a:solidFill>
                      <a:srgbClr val="111827"/>
                    </a:solidFill>
                    <a:latin typeface="Cambria Math" panose="02040503050406030204" pitchFamily="18" charset="0"/>
                  </a:rPr>
                  <a:t>$x_0$</a:t>
                </a:r>
                <a:r>
                  <a:rPr sz="2400" b="0">
                    <a:solidFill>
                      <a:srgbClr val="111827"/>
                    </a:solidFill>
                    <a:latin typeface="Arial"/>
                  </a:rPr>
                  <a:t> with </a:t>
                </a:r>
                <a:r>
                  <a:rPr lang="en-IN" sz="2400">
                    <a:solidFill>
                      <a:srgbClr val="111827"/>
                    </a:solidFill>
                    <a:latin typeface="Cambria Math" panose="02040503050406030204" pitchFamily="18" charset="0"/>
                  </a:rPr>
                  <a:t>$f(x_0)=y_0$</a:t>
                </a:r>
                <a:r>
                  <a:rPr sz="2400" b="0">
                    <a:solidFill>
                      <a:srgbClr val="111827"/>
                    </a:solidFill>
                    <a:latin typeface="Arial"/>
                  </a:rPr>
                  <a:t>, look for the value that kills the exponential term (</a:t>
                </a:r>
                <a:r>
                  <a:rPr lang="en-IN" sz="2400">
                    <a:solidFill>
                      <a:srgbClr val="111827"/>
                    </a:solidFill>
                    <a:latin typeface="Cambria Math" panose="02040503050406030204" pitchFamily="18" charset="0"/>
                  </a:rPr>
                  <a:t>$x=1$</a:t>
                </a:r>
                <a:r>
                  <a:rPr sz="2400" b="0">
                    <a:solidFill>
                      <a:srgbClr val="111827"/>
                    </a:solidFill>
                    <a:latin typeface="Arial"/>
                  </a:rPr>
                  <a:t> here), then use monotonicity to claim uniqueness.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Before differentiating </a:t>
                </a:r>
                <a:r>
                  <a:rPr lang="en-IN" sz="2400">
                    <a:solidFill>
                      <a:srgbClr val="111827"/>
                    </a:solidFill>
                    <a:latin typeface="Cambria Math" panose="02040503050406030204" pitchFamily="18" charset="0"/>
                  </a:rPr>
                  <a:t>$\frac{a+bx^p}{x^q}$</a:t>
                </a:r>
                <a:r>
                  <a:rPr sz="2400" b="0">
                    <a:solidFill>
                      <a:srgbClr val="111827"/>
                    </a:solidFill>
                    <a:latin typeface="Arial"/>
                  </a:rPr>
                  <a:t>, split it as </a:t>
                </a:r>
                <a:r>
                  <a:rPr lang="en-IN" sz="2400">
                    <a:solidFill>
                      <a:srgbClr val="111827"/>
                    </a:solidFill>
                    <a:latin typeface="Cambria Math" panose="02040503050406030204" pitchFamily="18" charset="0"/>
                  </a:rPr>
                  <a:t>$ax^{-q}+bx^{p-q}$</a:t>
                </a:r>
                <a:r>
                  <a:rPr sz="2400" b="0">
                    <a:solidFill>
                      <a:srgbClr val="111827"/>
                    </a:solidFill>
                    <a:latin typeface="Arial"/>
                  </a:rPr>
                  <a:t> and apply the power rule term by term.</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$h'(x_0)=0$</a:t>
                </a:r>
                <a:r>
                  <a:rPr sz="2400" b="0">
                    <a:solidFill>
                      <a:srgbClr val="111827"/>
                    </a:solidFill>
                    <a:latin typeface="Arial"/>
                  </a:rPr>
                  <a:t> for </a:t>
                </a:r>
                <a:r>
                  <a:rPr lang="en-IN" sz="2400">
                    <a:solidFill>
                      <a:srgbClr val="111827"/>
                    </a:solidFill>
                    <a:latin typeface="Cambria Math" panose="02040503050406030204" pitchFamily="18" charset="0"/>
                  </a:rPr>
                  <a:t>$h=ax^{-m}+bx^{k}$</a:t>
                </a:r>
                <a:r>
                  <a:rPr sz="2400" b="0">
                    <a:solidFill>
                      <a:srgbClr val="111827"/>
                    </a:solidFill>
                    <a:latin typeface="Arial"/>
                  </a:rPr>
                  <a:t> gives </a:t>
                </a:r>
                <a:r>
                  <a:rPr lang="en-IN" sz="2400">
                    <a:solidFill>
                      <a:srgbClr val="111827"/>
                    </a:solidFill>
                    <a:latin typeface="Cambria Math" panose="02040503050406030204" pitchFamily="18" charset="0"/>
                  </a:rPr>
                  <a:t>$\frac ab=\frac km x_0^{\,k+m}$</a:t>
                </a:r>
                <a:r>
                  <a:rPr sz="2400" b="0">
                    <a:solidFill>
                      <a:srgbClr val="111827"/>
                    </a:solidFill>
                    <a:latin typeface="Arial"/>
                  </a:rPr>
                  <a:t>; here </a:t>
                </a:r>
                <a:r>
                  <a:rPr lang="en-IN" sz="2400">
                    <a:solidFill>
                      <a:srgbClr val="111827"/>
                    </a:solidFill>
                    <a:latin typeface="Cambria Math" panose="02040503050406030204" pitchFamily="18" charset="0"/>
                  </a:rPr>
                  <a:t>$m=\frac54$</a:t>
                </a:r>
                <a:r>
                  <a:rPr sz="2400" b="0">
                    <a:solidFill>
                      <a:srgbClr val="111827"/>
                    </a:solidFill>
                    <a:latin typeface="Arial"/>
                  </a:rPr>
                  <a:t>, </a:t>
                </a:r>
                <a:r>
                  <a:rPr lang="en-IN" sz="2400">
                    <a:solidFill>
                      <a:srgbClr val="111827"/>
                    </a:solidFill>
                    <a:latin typeface="Cambria Math" panose="02040503050406030204" pitchFamily="18" charset="0"/>
                  </a:rPr>
                  <a:t>$k=\frac14$</a:t>
                </a:r>
                <a:r>
                  <a:rPr sz="2400" b="0">
                    <a:solidFill>
                      <a:srgbClr val="111827"/>
                    </a:solidFill>
                    <a:latin typeface="Arial"/>
                  </a:rPr>
                  <a:t>, </a:t>
                </a:r>
                <a:r>
                  <a:rPr lang="en-IN" sz="2400">
                    <a:solidFill>
                      <a:srgbClr val="111827"/>
                    </a:solidFill>
                    <a:latin typeface="Cambria Math" panose="02040503050406030204" pitchFamily="18" charset="0"/>
                  </a:rPr>
                  <a:t>$x_0=5$</a:t>
                </a:r>
                <a:r>
                  <a:rPr sz="2400" b="0">
                    <a:solidFill>
                      <a:srgbClr val="111827"/>
                    </a:solidFill>
                    <a:latin typeface="Arial"/>
                  </a:rPr>
                  <a:t> give </a:t>
                </a:r>
                <a:r>
                  <a:rPr lang="en-IN" sz="2400">
                    <a:solidFill>
                      <a:srgbClr val="111827"/>
                    </a:solidFill>
                    <a:latin typeface="Cambria Math" panose="02040503050406030204" pitchFamily="18" charset="0"/>
                  </a:rPr>
                  <a:t>$\frac15\cdot5^{3/2}=\sqrt5$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num>
                      <m:den>
                        <m:r>
                          <a:rPr lang="en-IN" sz="2400" i="1">
                            <a:solidFill>
                              <a:srgbClr val="111827"/>
                            </a:solidFill>
                            <a:latin typeface="Cambria Math" panose="02040503050406030204" pitchFamily="18" charset="0"/>
                          </a:rPr>
                          <m:t>5</m:t>
                        </m:r>
                      </m:den>
                    </m:f>
                  </m:oMath>
                </a14:m>
                <a:r>
                  <a:rPr sz="2400" b="0">
                    <a:solidFill>
                      <a:srgbClr val="111827"/>
                    </a:solidFill>
                    <a:latin typeface="Arial"/>
                  </a:rPr>
                  <a:t> and let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Find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$f(x)=x+\frac{x^2}{2}+\frac{x^3}{3}+\frac{x^4}{4}+\frac{x^5}{5}$</a:t>
                </a:r>
                <a:r>
                  <a:rPr sz="2400" b="0">
                    <a:solidFill>
                      <a:srgbClr val="111827"/>
                    </a:solidFill>
                    <a:latin typeface="Arial"/>
                  </a:rPr>
                  <a:t> and let </a:t>
                </a:r>
                <a:r>
                  <a:rPr lang="en-IN" sz="2400">
                    <a:solidFill>
                      <a:srgbClr val="111827"/>
                    </a:solidFill>
                    <a:latin typeface="Cambria Math" panose="02040503050406030204" pitchFamily="18" charset="0"/>
                  </a:rPr>
                  <a:t>$g(x)=f^{-1}(x)$</a:t>
                </a:r>
                <a:r>
                  <a:rPr sz="2400" b="0">
                    <a:solidFill>
                      <a:srgbClr val="111827"/>
                    </a:solidFill>
                    <a:latin typeface="Arial"/>
                  </a:rPr>
                  <a:t>. Find </a:t>
                </a:r>
                <a:r>
                  <a:rPr lang="en-IN" sz="2400">
                    <a:solidFill>
                      <a:srgbClr val="111827"/>
                    </a:solidFill>
                    <a:latin typeface="Cambria Math" panose="02040503050406030204" pitchFamily="18" charset="0"/>
                  </a:rPr>
                  <a:t>$g'''(0)$</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24612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Integer Type(0 to 9)(4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Higher derivatives of an inverse function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Differentiate </a:t>
                </a:r>
                <a14:m>
                  <m:oMath xmlns:m="http://schemas.openxmlformats.org/officeDocument/2006/math">
                    <m:r>
                      <a:rPr lang="en-IN" sz="2400" i="1">
                        <a:solidFill>
                          <a:srgbClr val="78350F"/>
                        </a:solidFill>
                        <a:latin typeface="Cambria Math" panose="02040503050406030204" pitchFamily="18" charset="0"/>
                      </a:rPr>
                      <m:t>𝑔</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oMath>
                </a14:m>
                <a:r>
                  <a:rPr sz="2400" b="0">
                    <a:solidFill>
                      <a:srgbClr val="78350F"/>
                    </a:solidFill>
                    <a:latin typeface="Arial"/>
                  </a:rPr>
                  <a:t> three times to express </a:t>
                </a:r>
                <a14:m>
                  <m:oMath xmlns:m="http://schemas.openxmlformats.org/officeDocument/2006/math">
                    <m:sSup>
                      <m:e>
                        <m:r>
                          <a:rPr lang="en-IN" sz="2400" i="1">
                            <a:solidFill>
                              <a:srgbClr val="78350F"/>
                            </a:solidFill>
                            <a:latin typeface="Cambria Math" panose="02040503050406030204" pitchFamily="18" charset="0"/>
                          </a:rPr>
                          <m:t>𝑔</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through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then put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Differentiate </a:t>
                </a:r>
                <a:r>
                  <a:rPr lang="en-IN" sz="2400">
                    <a:solidFill>
                      <a:srgbClr val="78350F"/>
                    </a:solidFill>
                    <a:latin typeface="Cambria Math" panose="02040503050406030204" pitchFamily="18" charset="0"/>
                  </a:rPr>
                  <a:t>$g(f(x))=x$</a:t>
                </a:r>
                <a:r>
                  <a:rPr sz="2400" b="0">
                    <a:solidFill>
                      <a:srgbClr val="78350F"/>
                    </a:solidFill>
                    <a:latin typeface="Arial"/>
                  </a:rPr>
                  <a:t> three times to express </a:t>
                </a:r>
                <a:r>
                  <a:rPr lang="en-IN" sz="2400">
                    <a:solidFill>
                      <a:srgbClr val="78350F"/>
                    </a:solidFill>
                    <a:latin typeface="Cambria Math" panose="02040503050406030204" pitchFamily="18" charset="0"/>
                  </a:rPr>
                  <a:t>$g'''(f(x))$</a:t>
                </a:r>
                <a:r>
                  <a:rPr sz="2400" b="0">
                    <a:solidFill>
                      <a:srgbClr val="78350F"/>
                    </a:solidFill>
                    <a:latin typeface="Arial"/>
                  </a:rPr>
                  <a:t> through </a:t>
                </a:r>
                <a:r>
                  <a:rPr lang="en-IN" sz="2400">
                    <a:solidFill>
                      <a:srgbClr val="78350F"/>
                    </a:solidFill>
                    <a:latin typeface="Cambria Math" panose="02040503050406030204" pitchFamily="18" charset="0"/>
                  </a:rPr>
                  <a:t>$f',f'',f'''$</a:t>
                </a:r>
                <a:r>
                  <a:rPr sz="2400" b="0">
                    <a:solidFill>
                      <a:srgbClr val="78350F"/>
                    </a:solidFill>
                    <a:latin typeface="Arial"/>
                  </a:rPr>
                  <a:t>, then put </a:t>
                </a:r>
                <a:r>
                  <a:rPr lang="en-IN" sz="2400">
                    <a:solidFill>
                      <a:srgbClr val="78350F"/>
                    </a:solidFill>
                    <a:latin typeface="Cambria Math" panose="02040503050406030204" pitchFamily="18" charset="0"/>
                  </a:rPr>
                  <a:t>$x=0$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Differentiate again: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$f'(x)=1+x+x^2+x^3+x^4$</a:t>
                </a:r>
                <a:r>
                  <a:rPr sz="2400" b="0">
                    <a:solidFill>
                      <a:srgbClr val="111827"/>
                    </a:solidFill>
                    <a:latin typeface="Arial"/>
                  </a:rPr>
                  <a:t>, </a:t>
                </a:r>
                <a:r>
                  <a:rPr lang="en-IN" sz="2400">
                    <a:solidFill>
                      <a:srgbClr val="111827"/>
                    </a:solidFill>
                    <a:latin typeface="Cambria Math" panose="02040503050406030204" pitchFamily="18" charset="0"/>
                  </a:rPr>
                  <a:t>$f''(x)=1+2x+3x^2+4x^3$</a:t>
                </a:r>
                <a:r>
                  <a:rPr sz="2400" b="0">
                    <a:solidFill>
                      <a:srgbClr val="111827"/>
                    </a:solidFill>
                    <a:latin typeface="Arial"/>
                  </a:rPr>
                  <a:t>, </a:t>
                </a:r>
                <a:r>
                  <a:rPr lang="en-IN" sz="2400">
                    <a:solidFill>
                      <a:srgbClr val="111827"/>
                    </a:solidFill>
                    <a:latin typeface="Cambria Math" panose="02040503050406030204" pitchFamily="18" charset="0"/>
                  </a:rPr>
                  <a:t>$f'''(x)=2+6x+12x^2$</a:t>
                </a:r>
                <a:r>
                  <a:rPr sz="2400" b="0">
                    <a:solidFill>
                      <a:srgbClr val="111827"/>
                    </a:solidFill>
                    <a:latin typeface="Arial"/>
                  </a:rPr>
                  <a:t>; so </a:t>
                </a:r>
                <a:r>
                  <a:rPr lang="en-IN" sz="2400">
                    <a:solidFill>
                      <a:srgbClr val="111827"/>
                    </a:solidFill>
                    <a:latin typeface="Cambria Math" panose="02040503050406030204" pitchFamily="18" charset="0"/>
                  </a:rPr>
                  <a:t>$f(0)=0$</a:t>
                </a:r>
                <a:r>
                  <a:rPr sz="2400" b="0">
                    <a:solidFill>
                      <a:srgbClr val="111827"/>
                    </a:solidFill>
                    <a:latin typeface="Arial"/>
                  </a:rPr>
                  <a:t>, </a:t>
                </a:r>
                <a:r>
                  <a:rPr lang="en-IN" sz="2400">
                    <a:solidFill>
                      <a:srgbClr val="111827"/>
                    </a:solidFill>
                    <a:latin typeface="Cambria Math" panose="02040503050406030204" pitchFamily="18" charset="0"/>
                  </a:rPr>
                  <a:t>$f'(0)=1$</a:t>
                </a:r>
                <a:r>
                  <a:rPr sz="2400" b="0">
                    <a:solidFill>
                      <a:srgbClr val="111827"/>
                    </a:solidFill>
                    <a:latin typeface="Arial"/>
                  </a:rPr>
                  <a:t>, </a:t>
                </a:r>
                <a:r>
                  <a:rPr lang="en-IN" sz="2400">
                    <a:solidFill>
                      <a:srgbClr val="111827"/>
                    </a:solidFill>
                    <a:latin typeface="Cambria Math" panose="02040503050406030204" pitchFamily="18" charset="0"/>
                  </a:rPr>
                  <a:t>$f''(0)=1$</a:t>
                </a:r>
                <a:r>
                  <a:rPr sz="2400" b="0">
                    <a:solidFill>
                      <a:srgbClr val="111827"/>
                    </a:solidFill>
                    <a:latin typeface="Arial"/>
                  </a:rPr>
                  <a:t>, </a:t>
                </a:r>
                <a:r>
                  <a:rPr lang="en-IN" sz="2400">
                    <a:solidFill>
                      <a:srgbClr val="111827"/>
                    </a:solidFill>
                    <a:latin typeface="Cambria Math" panose="02040503050406030204" pitchFamily="18" charset="0"/>
                  </a:rPr>
                  <a:t>$f'''(0)=2$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$g(f(x))=x\Rightarrow g'(f(x))\,f'(x)=1$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Differentiate again: </a:t>
                </a:r>
                <a:r>
                  <a:rPr lang="en-IN" sz="2400">
                    <a:solidFill>
                      <a:srgbClr val="111827"/>
                    </a:solidFill>
                    <a:latin typeface="Cambria Math" panose="02040503050406030204" pitchFamily="18" charset="0"/>
                  </a:rPr>
                  <a:t>$g''(f(x))=\frac{-f''(x)}{(f'(x))^3}$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Differentiate once more: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Differentiate once more: </a:t>
                </a:r>
                <a:r>
                  <a:rPr lang="en-IN" sz="2400">
                    <a:solidFill>
                      <a:srgbClr val="111827"/>
                    </a:solidFill>
                    <a:latin typeface="Cambria Math" panose="02040503050406030204" pitchFamily="18" charset="0"/>
                  </a:rPr>
                  <a:t>$g'''(f(x))\,f'(x)=-\frac{(f'(x))^3f'''(x)-3(f''(x))^2(f'(x))^2}{(f'(x))^6}$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$x=0$</a:t>
                </a:r>
                <a:r>
                  <a:rPr sz="2400" b="0">
                    <a:solidFill>
                      <a:srgbClr val="111827"/>
                    </a:solidFill>
                    <a:latin typeface="Arial"/>
                  </a:rPr>
                  <a:t> (so </a:t>
                </a:r>
                <a:r>
                  <a:rPr lang="en-IN" sz="2400">
                    <a:solidFill>
                      <a:srgbClr val="111827"/>
                    </a:solidFill>
                    <a:latin typeface="Cambria Math" panose="02040503050406030204" pitchFamily="18" charset="0"/>
                  </a:rPr>
                  <a:t>$f(0)=0$</a:t>
                </a:r>
                <a:r>
                  <a:rPr sz="2400" b="0">
                    <a:solidFill>
                      <a:srgbClr val="111827"/>
                    </a:solidFill>
                    <a:latin typeface="Arial"/>
                  </a:rPr>
                  <a:t>): </a:t>
                </a:r>
                <a:r>
                  <a:rPr lang="en-IN" sz="2400">
                    <a:solidFill>
                      <a:srgbClr val="111827"/>
                    </a:solidFill>
                    <a:latin typeface="Cambria Math" panose="02040503050406030204" pitchFamily="18" charset="0"/>
                  </a:rPr>
                  <a:t>$g'''(0)\cdot1=-\left[\frac{1\times2-3\times1}{1}\right]=1$</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a:t>
            </a:r>
            <a:endParaRPr sz="2800">
              <a:solidFill>
                <a:srgbClr val="15803D"/>
              </a:solidFill>
            </a:endParaRP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a:t>
                </a:r>
                <a14:m>
                  <m:oMath xmlns:m="http://schemas.openxmlformats.org/officeDocument/2006/math">
                    <m:r>
                      <a:rPr lang="en-IN" sz="2400" i="1">
                        <a:solidFill>
                          <a:srgbClr val="78350F"/>
                        </a:solidFill>
                        <a:latin typeface="Cambria Math" panose="02040503050406030204" pitchFamily="18" charset="0"/>
                      </a:rPr>
                      <m:t>𝑔</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α</m:t>
                    </m:r>
                    <m:sSup>
                      <m:e>
                        <m:r>
                          <a:rPr lang="en-IN" sz="2400" i="1">
                            <a:solidFill>
                              <a:srgbClr val="78350F"/>
                            </a:solidFill>
                            <a:latin typeface="Cambria Math" panose="02040503050406030204" pitchFamily="18" charset="0"/>
                          </a:rPr>
                          <m:t>𝑦</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β</m:t>
                    </m:r>
                    <m:sSup>
                      <m:e>
                        <m:r>
                          <a:rPr lang="en-IN" sz="2400" i="1">
                            <a:solidFill>
                              <a:srgbClr val="78350F"/>
                            </a:solidFill>
                            <a:latin typeface="Cambria Math" panose="02040503050406030204" pitchFamily="18" charset="0"/>
                          </a:rPr>
                          <m:t>𝑦</m:t>
                        </m:r>
                      </m:e>
                      <m:sup>
                        <m:r>
                          <a:rPr lang="en-IN" sz="2400" i="1">
                            <a:solidFill>
                              <a:srgbClr val="78350F"/>
                            </a:solidFill>
                            <a:latin typeface="Cambria Math" panose="02040503050406030204" pitchFamily="18" charset="0"/>
                          </a:rPr>
                          <m:t>3</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compare coefficients in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𝑔</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oMath>
                </a14:m>
                <a:r>
                  <a:rPr sz="2400" b="0">
                    <a:solidFill>
                      <a:srgbClr val="78350F"/>
                    </a:solidFill>
                    <a:latin typeface="Arial"/>
                  </a:rPr>
                  <a:t> (series reversion).</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a:t>
                </a:r>
                <a:r>
                  <a:rPr lang="en-IN" sz="2400">
                    <a:solidFill>
                      <a:srgbClr val="78350F"/>
                    </a:solidFill>
                    <a:latin typeface="Cambria Math" panose="02040503050406030204" pitchFamily="18" charset="0"/>
                  </a:rPr>
                  <a:t>$g(y)=y+\alpha y^2+\beta y^3+\dots$</a:t>
                </a:r>
                <a:r>
                  <a:rPr sz="2400" b="0">
                    <a:solidFill>
                      <a:srgbClr val="78350F"/>
                    </a:solidFill>
                    <a:latin typeface="Arial"/>
                  </a:rPr>
                  <a:t> and compare coefficients in </a:t>
                </a:r>
                <a:r>
                  <a:rPr lang="en-IN" sz="2400">
                    <a:solidFill>
                      <a:srgbClr val="78350F"/>
                    </a:solidFill>
                    <a:latin typeface="Cambria Math" panose="02040503050406030204" pitchFamily="18" charset="0"/>
                  </a:rPr>
                  <a:t>$f(g(y))=y$</a:t>
                </a:r>
                <a:r>
                  <a:rPr sz="2400" b="0">
                    <a:solidFill>
                      <a:srgbClr val="78350F"/>
                    </a:solidFill>
                    <a:latin typeface="Arial"/>
                  </a:rPr>
                  <a:t> (series reversion).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write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β</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Substitute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into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e>
                    </m:d>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$f(0)=0$</a:t>
                </a:r>
                <a:r>
                  <a:rPr sz="2400" b="0">
                    <a:solidFill>
                      <a:srgbClr val="111827"/>
                    </a:solidFill>
                    <a:latin typeface="Arial"/>
                  </a:rPr>
                  <a:t> and </a:t>
                </a:r>
                <a:r>
                  <a:rPr lang="en-IN" sz="2400">
                    <a:solidFill>
                      <a:srgbClr val="111827"/>
                    </a:solidFill>
                    <a:latin typeface="Cambria Math" panose="02040503050406030204" pitchFamily="18" charset="0"/>
                  </a:rPr>
                  <a:t>$f'(0)=1$</a:t>
                </a:r>
                <a:r>
                  <a:rPr sz="2400" b="0">
                    <a:solidFill>
                      <a:srgbClr val="111827"/>
                    </a:solidFill>
                    <a:latin typeface="Arial"/>
                  </a:rPr>
                  <a:t>, so </a:t>
                </a:r>
                <a:r>
                  <a:rPr lang="en-IN" sz="2400">
                    <a:solidFill>
                      <a:srgbClr val="111827"/>
                    </a:solidFill>
                    <a:latin typeface="Cambria Math" panose="02040503050406030204" pitchFamily="18" charset="0"/>
                  </a:rPr>
                  <a:t>$g(0)=0$</a:t>
                </a:r>
                <a:r>
                  <a:rPr sz="2400" b="0">
                    <a:solidFill>
                      <a:srgbClr val="111827"/>
                    </a:solidFill>
                    <a:latin typeface="Arial"/>
                  </a:rPr>
                  <a:t>, </a:t>
                </a:r>
                <a:r>
                  <a:rPr lang="en-IN" sz="2400">
                    <a:solidFill>
                      <a:srgbClr val="111827"/>
                    </a:solidFill>
                    <a:latin typeface="Cambria Math" panose="02040503050406030204" pitchFamily="18" charset="0"/>
                  </a:rPr>
                  <a:t>$g'(0)=1$</a:t>
                </a:r>
                <a:r>
                  <a:rPr sz="2400" b="0">
                    <a:solidFill>
                      <a:srgbClr val="111827"/>
                    </a:solidFill>
                    <a:latin typeface="Arial"/>
                  </a:rPr>
                  <a:t>; write </a:t>
                </a:r>
                <a:r>
                  <a:rPr lang="en-IN" sz="2400">
                    <a:solidFill>
                      <a:srgbClr val="111827"/>
                    </a:solidFill>
                    <a:latin typeface="Cambria Math" panose="02040503050406030204" pitchFamily="18" charset="0"/>
                  </a:rPr>
                  <a:t>$g(y)=y+\alpha y^2+\beta y^3+O(y^4)$</a:t>
                </a:r>
                <a:r>
                  <a:rPr sz="2400" b="0">
                    <a:solidFill>
                      <a:srgbClr val="111827"/>
                    </a:solidFill>
                    <a:latin typeface="Arial"/>
                  </a:rPr>
                  <a:t>. Then </a:t>
                </a:r>
                <a:r>
                  <a:rPr lang="en-IN" sz="2400">
                    <a:solidFill>
                      <a:srgbClr val="111827"/>
                    </a:solidFill>
                    <a:latin typeface="Cambria Math" panose="02040503050406030204" pitchFamily="18" charset="0"/>
                  </a:rPr>
                  <a:t>$g'''(0)=6\beta$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Substitute </a:t>
                </a:r>
                <a:r>
                  <a:rPr lang="en-IN" sz="2400">
                    <a:solidFill>
                      <a:srgbClr val="111827"/>
                    </a:solidFill>
                    <a:latin typeface="Cambria Math" panose="02040503050406030204" pitchFamily="18" charset="0"/>
                  </a:rPr>
                  <a:t>$t=g(y)$</a:t>
                </a:r>
                <a:r>
                  <a:rPr sz="2400" b="0">
                    <a:solidFill>
                      <a:srgbClr val="111827"/>
                    </a:solidFill>
                    <a:latin typeface="Arial"/>
                  </a:rPr>
                  <a:t> into </a:t>
                </a:r>
                <a:r>
                  <a:rPr lang="en-IN" sz="2400">
                    <a:solidFill>
                      <a:srgbClr val="111827"/>
                    </a:solidFill>
                    <a:latin typeface="Cambria Math" panose="02040503050406030204" pitchFamily="18" charset="0"/>
                  </a:rPr>
                  <a:t>$f(t)=t+\frac{t^2}{2}+\frac{t^3}{3}+\dots=y$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$t^2=y^2+2\alpha y^3+\dots$</a:t>
                </a:r>
                <a:r>
                  <a:rPr sz="2400" b="0">
                    <a:solidFill>
                      <a:srgbClr val="111827"/>
                    </a:solidFill>
                    <a:latin typeface="Arial"/>
                  </a:rPr>
                  <a:t> and </a:t>
                </a:r>
                <a:r>
                  <a:rPr lang="en-IN" sz="2400">
                    <a:solidFill>
                      <a:srgbClr val="111827"/>
                    </a:solidFill>
                    <a:latin typeface="Cambria Math" panose="02040503050406030204" pitchFamily="18" charset="0"/>
                  </a:rPr>
                  <a:t>$t^3=y^3+\dots$</a:t>
                </a:r>
                <a:r>
                  <a:rPr sz="2400" b="0">
                    <a:solidFill>
                      <a:srgbClr val="111827"/>
                    </a:solidFill>
                    <a:latin typeface="Arial"/>
                  </a:rPr>
                  <a:t>, so </a:t>
                </a:r>
                <a:r>
                  <a:rPr lang="en-IN" sz="2400">
                    <a:solidFill>
                      <a:srgbClr val="111827"/>
                    </a:solidFill>
                    <a:latin typeface="Cambria Math" panose="02040503050406030204" pitchFamily="18" charset="0"/>
                  </a:rPr>
                  <a:t>$f(g(y))=y+\left(\alpha+\frac12\right)y^2+\left(\beta+\alpha+\frac13\right)y^3+\dots$</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must vanish: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must vanish: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r>
                  <a:rPr lang="en-IN" sz="2400">
                    <a:solidFill>
                      <a:srgbClr val="111827"/>
                    </a:solidFill>
                    <a:latin typeface="Cambria Math" panose="02040503050406030204" pitchFamily="18" charset="0"/>
                  </a:rPr>
                  <a:t>$y^2$</a:t>
                </a:r>
                <a:r>
                  <a:rPr sz="2400" b="0">
                    <a:solidFill>
                      <a:srgbClr val="111827"/>
                    </a:solidFill>
                    <a:latin typeface="Arial"/>
                  </a:rPr>
                  <a:t> must vanish: </a:t>
                </a:r>
                <a:r>
                  <a:rPr lang="en-IN" sz="2400">
                    <a:solidFill>
                      <a:srgbClr val="111827"/>
                    </a:solidFill>
                    <a:latin typeface="Cambria Math" panose="02040503050406030204" pitchFamily="18" charset="0"/>
                  </a:rPr>
                  <a:t>$\alpha=-\frac12$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r>
                  <a:rPr lang="en-IN" sz="2400">
                    <a:solidFill>
                      <a:srgbClr val="111827"/>
                    </a:solidFill>
                    <a:latin typeface="Cambria Math" panose="02040503050406030204" pitchFamily="18" charset="0"/>
                  </a:rPr>
                  <a:t>$y^3$</a:t>
                </a:r>
                <a:r>
                  <a:rPr sz="2400" b="0">
                    <a:solidFill>
                      <a:srgbClr val="111827"/>
                    </a:solidFill>
                    <a:latin typeface="Arial"/>
                  </a:rPr>
                  <a:t> must vanish: </a:t>
                </a:r>
                <a:r>
                  <a:rPr lang="en-IN" sz="2400">
                    <a:solidFill>
                      <a:srgbClr val="111827"/>
                    </a:solidFill>
                    <a:latin typeface="Cambria Math" panose="02040503050406030204" pitchFamily="18" charset="0"/>
                  </a:rPr>
                  <a:t>$\beta=-\alpha-\frac13=\frac12-\frac13=\frac16$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$g'''(0)=6\beta=1$</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a:t>
            </a:r>
            <a:endParaRPr sz="2800">
              <a:solidFill>
                <a:srgbClr val="15803D"/>
              </a:solidFill>
            </a:endParaRP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den>
                    </m:f>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num>
                      <m:den>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den>
                    </m:f>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num>
                      <m:den>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den>
                    </m:f>
                  </m:oMath>
                </a14:m>
                <a:r>
                  <a:rPr sz="2400" b="0">
                    <a:solidFill>
                      <a:srgbClr val="111827"/>
                    </a:solidFill>
                    <a:latin typeface="Arial"/>
                  </a:rPr>
                  <a:t> (check here: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m:t>
                        </m:r>
                      </m:sub>
                    </m:sSub>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Sup>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Sup>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6</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for all real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strictly increasing and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is defined on all of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Derivatives of an inverse at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only need the Taylor data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because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$g=f^{-1}$</a:t>
                </a:r>
                <a:r>
                  <a:rPr sz="2400" b="0">
                    <a:solidFill>
                      <a:srgbClr val="111827"/>
                    </a:solidFill>
                    <a:latin typeface="Arial"/>
                  </a:rPr>
                  <a:t>, with </a:t>
                </a:r>
                <a:r>
                  <a:rPr lang="en-IN" sz="2400">
                    <a:solidFill>
                      <a:srgbClr val="111827"/>
                    </a:solidFill>
                    <a:latin typeface="Cambria Math" panose="02040503050406030204" pitchFamily="18" charset="0"/>
                  </a:rPr>
                  <a:t>$x=g(y)$</a:t>
                </a:r>
                <a:r>
                  <a:rPr sz="2400" b="0">
                    <a:solidFill>
                      <a:srgbClr val="111827"/>
                    </a:solidFill>
                    <a:latin typeface="Arial"/>
                  </a:rPr>
                  <a:t>: </a:t>
                </a:r>
                <a:r>
                  <a:rPr lang="en-IN" sz="2400">
                    <a:solidFill>
                      <a:srgbClr val="111827"/>
                    </a:solidFill>
                    <a:latin typeface="Cambria Math" panose="02040503050406030204" pitchFamily="18" charset="0"/>
                  </a:rPr>
                  <a:t>$g'=\frac1{f'}$</a:t>
                </a:r>
                <a:r>
                  <a:rPr sz="2400" b="0">
                    <a:solidFill>
                      <a:srgbClr val="111827"/>
                    </a:solidFill>
                    <a:latin typeface="Arial"/>
                  </a:rPr>
                  <a:t>, </a:t>
                </a:r>
                <a:r>
                  <a:rPr lang="en-IN" sz="2400">
                    <a:solidFill>
                      <a:srgbClr val="111827"/>
                    </a:solidFill>
                    <a:latin typeface="Cambria Math" panose="02040503050406030204" pitchFamily="18" charset="0"/>
                  </a:rPr>
                  <a:t>$g''=-\frac{f''}{(f')^3}$</a:t>
                </a:r>
                <a:r>
                  <a:rPr sz="2400" b="0">
                    <a:solidFill>
                      <a:srgbClr val="111827"/>
                    </a:solidFill>
                    <a:latin typeface="Arial"/>
                  </a:rPr>
                  <a:t>, </a:t>
                </a:r>
                <a:r>
                  <a:rPr lang="en-IN" sz="2400">
                    <a:solidFill>
                      <a:srgbClr val="111827"/>
                    </a:solidFill>
                    <a:latin typeface="Cambria Math" panose="02040503050406030204" pitchFamily="18" charset="0"/>
                  </a:rPr>
                  <a:t>$g'''=\frac{3(f'')^2-f'f'''}{(f')^5}$</a:t>
                </a:r>
                <a:r>
                  <a:rPr sz="2400" b="0">
                    <a:solidFill>
                      <a:srgbClr val="111827"/>
                    </a:solidFill>
                    <a:latin typeface="Arial"/>
                  </a:rPr>
                  <a:t> (check here: </a:t>
                </a:r>
                <a:r>
                  <a:rPr lang="en-IN" sz="2400">
                    <a:solidFill>
                      <a:srgbClr val="111827"/>
                    </a:solidFill>
                    <a:latin typeface="Cambria Math" panose="02040503050406030204" pitchFamily="18" charset="0"/>
                  </a:rPr>
                  <a:t>$\frac{3-2}{1}=1$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$f(x)=x+a_2x^2+a_3x^3+\dots$</a:t>
                </a:r>
                <a:r>
                  <a:rPr sz="2400" b="0">
                    <a:solidFill>
                      <a:srgbClr val="111827"/>
                    </a:solidFill>
                    <a:latin typeface="Arial"/>
                  </a:rPr>
                  <a:t> then </a:t>
                </a:r>
                <a:r>
                  <a:rPr lang="en-IN" sz="2400">
                    <a:solidFill>
                      <a:srgbClr val="111827"/>
                    </a:solidFill>
                    <a:latin typeface="Cambria Math" panose="02040503050406030204" pitchFamily="18" charset="0"/>
                  </a:rPr>
                  <a:t>$g(y)=y-a_2y^2+(2a_2^2-a_3)y^3+\dots$</a:t>
                </a:r>
                <a:r>
                  <a:rPr sz="2400" b="0">
                    <a:solidFill>
                      <a:srgbClr val="111827"/>
                    </a:solidFill>
                    <a:latin typeface="Arial"/>
                  </a:rPr>
                  <a:t>; so </a:t>
                </a:r>
                <a:r>
                  <a:rPr lang="en-IN" sz="2400">
                    <a:solidFill>
                      <a:srgbClr val="111827"/>
                    </a:solidFill>
                    <a:latin typeface="Cambria Math" panose="02040503050406030204" pitchFamily="18" charset="0"/>
                  </a:rPr>
                  <a:t>$g'''(0)=6(2a_2^2-a_3)$</a:t>
                </a:r>
                <a:r>
                  <a:rPr sz="2400" b="0">
                    <a:solidFill>
                      <a:srgbClr val="111827"/>
                    </a:solidFill>
                    <a:latin typeface="Arial"/>
                  </a:rPr>
                  <a:t>, here </a:t>
                </a:r>
                <a:r>
                  <a:rPr lang="en-IN" sz="2400">
                    <a:solidFill>
                      <a:srgbClr val="111827"/>
                    </a:solidFill>
                    <a:latin typeface="Cambria Math" panose="02040503050406030204" pitchFamily="18" charset="0"/>
                  </a:rPr>
                  <a:t>$6\left(\frac12-\frac13\right)=1$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$f'(x)=1+x+x^2+x^3+x^4&gt;0$</a:t>
                </a:r>
                <a:r>
                  <a:rPr sz="2400" b="0">
                    <a:solidFill>
                      <a:srgbClr val="111827"/>
                    </a:solidFill>
                    <a:latin typeface="Arial"/>
                  </a:rPr>
                  <a:t> for all real </a:t>
                </a:r>
                <a:r>
                  <a:rPr lang="en-IN" sz="2400">
                    <a:solidFill>
                      <a:srgbClr val="111827"/>
                    </a:solidFill>
                    <a:latin typeface="Cambria Math" panose="02040503050406030204" pitchFamily="18" charset="0"/>
                  </a:rPr>
                  <a:t>$x$</a:t>
                </a:r>
                <a:r>
                  <a:rPr sz="2400" b="0">
                    <a:solidFill>
                      <a:srgbClr val="111827"/>
                    </a:solidFill>
                    <a:latin typeface="Arial"/>
                  </a:rPr>
                  <a:t>, so </a:t>
                </a:r>
                <a:r>
                  <a:rPr lang="en-IN" sz="2400">
                    <a:solidFill>
                      <a:srgbClr val="111827"/>
                    </a:solidFill>
                    <a:latin typeface="Cambria Math" panose="02040503050406030204" pitchFamily="18" charset="0"/>
                  </a:rPr>
                  <a:t>$f$</a:t>
                </a:r>
                <a:r>
                  <a:rPr sz="2400" b="0">
                    <a:solidFill>
                      <a:srgbClr val="111827"/>
                    </a:solidFill>
                    <a:latin typeface="Arial"/>
                  </a:rPr>
                  <a:t> is strictly increasing and </a:t>
                </a:r>
                <a:r>
                  <a:rPr lang="en-IN" sz="2400">
                    <a:solidFill>
                      <a:srgbClr val="111827"/>
                    </a:solidFill>
                    <a:latin typeface="Cambria Math" panose="02040503050406030204" pitchFamily="18" charset="0"/>
                  </a:rPr>
                  <a:t>$g$</a:t>
                </a:r>
                <a:r>
                  <a:rPr sz="2400" b="0">
                    <a:solidFill>
                      <a:srgbClr val="111827"/>
                    </a:solidFill>
                    <a:latin typeface="Arial"/>
                  </a:rPr>
                  <a:t> is defined on all of </a:t>
                </a:r>
                <a:r>
                  <a:rPr lang="en-IN" sz="2400">
                    <a:solidFill>
                      <a:srgbClr val="111827"/>
                    </a:solidFill>
                    <a:latin typeface="Cambria Math" panose="02040503050406030204" pitchFamily="18" charset="0"/>
                  </a:rPr>
                  <a:t>$\mathbb 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Derivatives of an inverse at </a:t>
                </a:r>
                <a:r>
                  <a:rPr lang="en-IN" sz="2400">
                    <a:solidFill>
                      <a:srgbClr val="111827"/>
                    </a:solidFill>
                    <a:latin typeface="Cambria Math" panose="02040503050406030204" pitchFamily="18" charset="0"/>
                  </a:rPr>
                  <a:t>$0$</a:t>
                </a:r>
                <a:r>
                  <a:rPr sz="2400" b="0">
                    <a:solidFill>
                      <a:srgbClr val="111827"/>
                    </a:solidFill>
                    <a:latin typeface="Arial"/>
                  </a:rPr>
                  <a:t> only need the Taylor data of </a:t>
                </a:r>
                <a:r>
                  <a:rPr lang="en-IN" sz="2400">
                    <a:solidFill>
                      <a:srgbClr val="111827"/>
                    </a:solidFill>
                    <a:latin typeface="Cambria Math" panose="02040503050406030204" pitchFamily="18" charset="0"/>
                  </a:rPr>
                  <a:t>$f$</a:t>
                </a:r>
                <a:r>
                  <a:rPr sz="2400" b="0">
                    <a:solidFill>
                      <a:srgbClr val="111827"/>
                    </a:solidFill>
                    <a:latin typeface="Arial"/>
                  </a:rPr>
                  <a:t> at </a:t>
                </a:r>
                <a:r>
                  <a:rPr lang="en-IN" sz="2400">
                    <a:solidFill>
                      <a:srgbClr val="111827"/>
                    </a:solidFill>
                    <a:latin typeface="Cambria Math" panose="02040503050406030204" pitchFamily="18" charset="0"/>
                  </a:rPr>
                  <a:t>$0$</a:t>
                </a:r>
                <a:r>
                  <a:rPr sz="2400" b="0">
                    <a:solidFill>
                      <a:srgbClr val="111827"/>
                    </a:solidFill>
                    <a:latin typeface="Arial"/>
                  </a:rPr>
                  <a:t> because </a:t>
                </a:r>
                <a:r>
                  <a:rPr lang="en-IN" sz="2400">
                    <a:solidFill>
                      <a:srgbClr val="111827"/>
                    </a:solidFill>
                    <a:latin typeface="Cambria Math" panose="02040503050406030204" pitchFamily="18" charset="0"/>
                  </a:rPr>
                  <a:t>$f(0)=0$</a:t>
                </a:r>
                <a:r>
                  <a:rPr sz="2400" b="0">
                    <a:solidFill>
                      <a:srgbClr val="111827"/>
                    </a:solidFill>
                    <a:latin typeface="Arial"/>
                  </a:rPr>
                  <a:t> gives </a:t>
                </a:r>
                <a:r>
                  <a:rPr lang="en-IN" sz="2400">
                    <a:solidFill>
                      <a:srgbClr val="111827"/>
                    </a:solidFill>
                    <a:latin typeface="Cambria Math" panose="02040503050406030204" pitchFamily="18" charset="0"/>
                  </a:rPr>
                  <a:t>$g(0)=0$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a differentiable function such that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Let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a differentiable function such that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the minimum number of real roots of the equation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______.</a:t>
                </a:r>
                <a:endParaRPr sz="2400">
                  <a:solidFill>
                    <a:srgbClr val="111827"/>
                  </a:solidFill>
                </a:endParaRPr>
              </a:p>
            </p:txBody>
          </p:sp>
        </mc:Choice>
        <mc:Fallback>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$y=f(x)$</a:t>
                </a:r>
                <a:r>
                  <a:rPr sz="2400" b="0">
                    <a:solidFill>
                      <a:srgbClr val="111827"/>
                    </a:solidFill>
                    <a:latin typeface="Arial"/>
                  </a:rPr>
                  <a:t> be a differentiable function such that </a:t>
                </a:r>
                <a:r>
                  <a:rPr lang="en-IN" sz="2400">
                    <a:solidFill>
                      <a:srgbClr val="111827"/>
                    </a:solidFill>
                    <a:latin typeface="Cambria Math" panose="02040503050406030204" pitchFamily="18" charset="0"/>
                  </a:rPr>
                  <a:t>$f(1)=1$</a:t>
                </a:r>
                <a:r>
                  <a:rPr sz="2400" b="0">
                    <a:solidFill>
                      <a:srgbClr val="111827"/>
                    </a:solidFill>
                    <a:latin typeface="Arial"/>
                  </a:rPr>
                  <a:t>, </a:t>
                </a:r>
                <a:r>
                  <a:rPr lang="en-IN" sz="2400">
                    <a:solidFill>
                      <a:srgbClr val="111827"/>
                    </a:solidFill>
                    <a:latin typeface="Cambria Math" panose="02040503050406030204" pitchFamily="18" charset="0"/>
                  </a:rPr>
                  <a:t>$f(2)=-3$</a:t>
                </a:r>
                <a:r>
                  <a:rPr sz="2400" b="0">
                    <a:solidFill>
                      <a:srgbClr val="111827"/>
                    </a:solidFill>
                    <a:latin typeface="Arial"/>
                  </a:rPr>
                  <a:t>, </a:t>
                </a:r>
                <a:r>
                  <a:rPr lang="en-IN" sz="2400">
                    <a:solidFill>
                      <a:srgbClr val="111827"/>
                    </a:solidFill>
                    <a:latin typeface="Cambria Math" panose="02040503050406030204" pitchFamily="18" charset="0"/>
                  </a:rPr>
                  <a:t>$f(3)=4$</a:t>
                </a:r>
                <a:r>
                  <a:rPr sz="2400" b="0">
                    <a:solidFill>
                      <a:srgbClr val="111827"/>
                    </a:solidFill>
                    <a:latin typeface="Arial"/>
                  </a:rPr>
                  <a:t>, </a:t>
                </a:r>
                <a:r>
                  <a:rPr lang="en-IN" sz="2400">
                    <a:solidFill>
                      <a:srgbClr val="111827"/>
                    </a:solidFill>
                    <a:latin typeface="Cambria Math" panose="02040503050406030204" pitchFamily="18" charset="0"/>
                  </a:rPr>
                  <a:t>$f(4)=-1$</a:t>
                </a:r>
                <a:r>
                  <a:rPr sz="2400" b="0">
                    <a:solidFill>
                      <a:srgbClr val="111827"/>
                    </a:solidFill>
                    <a:latin typeface="Arial"/>
                  </a:rPr>
                  <a:t> and </a:t>
                </a:r>
                <a:r>
                  <a:rPr lang="en-IN" sz="2400">
                    <a:solidFill>
                      <a:srgbClr val="111827"/>
                    </a:solidFill>
                    <a:latin typeface="Cambria Math" panose="02040503050406030204" pitchFamily="18" charset="0"/>
                  </a:rPr>
                  <a:t>$f(5)=2$</a:t>
                </a:r>
                <a:r>
                  <a:rPr sz="2400" b="0">
                    <a:solidFill>
                      <a:srgbClr val="111827"/>
                    </a:solidFill>
                    <a:latin typeface="Arial"/>
                  </a:rPr>
                  <a:t>. Let </a:t>
                </a:r>
                <a:r>
                  <a:rPr lang="en-IN" sz="2400">
                    <a:solidFill>
                      <a:srgbClr val="111827"/>
                    </a:solidFill>
                    <a:latin typeface="Cambria Math" panose="02040503050406030204" pitchFamily="18" charset="0"/>
                  </a:rPr>
                  <a:t>$y=g(x)$</a:t>
                </a:r>
                <a:r>
                  <a:rPr sz="2400" b="0">
                    <a:solidFill>
                      <a:srgbClr val="111827"/>
                    </a:solidFill>
                    <a:latin typeface="Arial"/>
                  </a:rPr>
                  <a:t> be a differentiable function such that </a:t>
                </a:r>
                <a:r>
                  <a:rPr lang="en-IN" sz="2400">
                    <a:solidFill>
                      <a:srgbClr val="111827"/>
                    </a:solidFill>
                    <a:latin typeface="Cambria Math" panose="02040503050406030204" pitchFamily="18" charset="0"/>
                  </a:rPr>
                  <a:t>$f'(x)g(x)\ne g'(x)f(x)$</a:t>
                </a:r>
                <a:r>
                  <a:rPr sz="2400" b="0">
                    <a:solidFill>
                      <a:srgbClr val="111827"/>
                    </a:solidFill>
                    <a:latin typeface="Arial"/>
                  </a:rPr>
                  <a:t>. Then the minimum number of real roots of the equation </a:t>
                </a:r>
                <a:r>
                  <a:rPr lang="en-IN" sz="2400">
                    <a:solidFill>
                      <a:srgbClr val="111827"/>
                    </a:solidFill>
                    <a:latin typeface="Cambria Math" panose="02040503050406030204" pitchFamily="18" charset="0"/>
                  </a:rPr>
                  <a:t>$(g'(x))^2+g(x)g''(x)=0$</a:t>
                </a:r>
                <a:r>
                  <a:rPr sz="2400" b="0">
                    <a:solidFill>
                      <a:srgbClr val="111827"/>
                    </a:solidFill>
                    <a:latin typeface="Arial"/>
                  </a:rPr>
                  <a:t> is ______.</a:t>
                </a:r>
                <a:endParaRPr sz="2400">
                  <a:solidFill>
                    <a:srgbClr val="111827"/>
                  </a:solidFill>
                </a:endParaRPr>
              </a:p>
            </p:txBody>
          </p:sp>
        </mc:Fallback>
      </mc:AlternateContent>
      <p:sp>
        <p:nvSpPr>
          <p:cNvPr id="5" name="Rectangle 4"/>
          <p:cNvSpPr/>
          <p:nvPr/>
        </p:nvSpPr>
        <p:spPr>
          <a:xfrm>
            <a:off x="731520" y="38887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Integer Type(0 to 9)(4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Rolle's theorem and intermediate value theorem (number of roots)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𝑔</m:t>
                        </m:r>
                      </m:e>
                      <m:sup>
                        <m:r>
                          <m:rPr>
                            <m:sty m:val="p"/>
                          </m:rPr>
                          <a:rPr lang="en-IN" sz="2400">
                            <a:solidFill>
                              <a:srgbClr val="78350F"/>
                            </a:solidFill>
                            <a:latin typeface="Cambria Math" panose="02040503050406030204" pitchFamily="18" charset="0"/>
                          </a:rPr>
                          <m:t>′</m:t>
                        </m:r>
                      </m:sup>
                    </m:sSup>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𝑔</m:t>
                    </m:r>
                    <m:sSup>
                      <m:e>
                        <m:r>
                          <a:rPr lang="en-IN" sz="2400" i="1">
                            <a:solidFill>
                              <a:srgbClr val="78350F"/>
                            </a:solidFill>
                            <a:latin typeface="Cambria Math" panose="02040503050406030204" pitchFamily="18" charset="0"/>
                          </a:rPr>
                          <m:t>𝑔</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𝑔</m:t>
                    </m:r>
                    <m:sSup>
                      <m:e>
                        <m:r>
                          <a:rPr lang="en-IN" sz="2400" i="1">
                            <a:solidFill>
                              <a:srgbClr val="78350F"/>
                            </a:solidFill>
                            <a:latin typeface="Cambria Math" panose="02040503050406030204" pitchFamily="18" charset="0"/>
                          </a:rPr>
                          <m:t>𝑔</m:t>
                        </m:r>
                      </m:e>
                      <m:sup>
                        <m:r>
                          <m:rPr>
                            <m:sty m:val="p"/>
                          </m:rPr>
                          <a:rPr lang="en-IN" sz="2400">
                            <a:solidFill>
                              <a:srgbClr val="78350F"/>
                            </a:solidFill>
                            <a:latin typeface="Cambria Math" panose="02040503050406030204" pitchFamily="18" charset="0"/>
                          </a:rPr>
                          <m:t>′</m:t>
                        </m:r>
                      </m:sup>
                    </m:sSup>
                    <m:sSup>
                      <m:e>
                        <m:r>
                          <m:rPr>
                            <m:sty m:val="p"/>
                          </m:rPr>
                          <a:rPr lang="en-IN" sz="2400">
                            <a:solidFill>
                              <a:srgbClr val="78350F"/>
                            </a:solidFill>
                            <a:latin typeface="Cambria Math" panose="02040503050406030204" pitchFamily="18" charset="0"/>
                          </a:rPr>
                          <m:t>)</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so count roots of </a:t>
                </a:r>
                <a14:m>
                  <m:oMath xmlns:m="http://schemas.openxmlformats.org/officeDocument/2006/math">
                    <m:r>
                      <a:rPr lang="en-IN" sz="2400" i="1">
                        <a:solidFill>
                          <a:srgbClr val="78350F"/>
                        </a:solidFill>
                        <a:latin typeface="Cambria Math" panose="02040503050406030204" pitchFamily="18" charset="0"/>
                      </a:rPr>
                      <m:t>𝑔</m:t>
                    </m:r>
                    <m:sSup>
                      <m:e>
                        <m:r>
                          <a:rPr lang="en-IN" sz="2400" i="1">
                            <a:solidFill>
                              <a:srgbClr val="78350F"/>
                            </a:solidFill>
                            <a:latin typeface="Cambria Math" panose="02040503050406030204" pitchFamily="18" charset="0"/>
                          </a:rPr>
                          <m:t>𝑔</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using interlacing of zeros of </a:t>
                </a:r>
                <a14:m>
                  <m:oMath xmlns:m="http://schemas.openxmlformats.org/officeDocument/2006/math">
                    <m:r>
                      <a:rPr lang="en-IN" sz="2400" i="1">
                        <a:solidFill>
                          <a:srgbClr val="78350F"/>
                        </a:solidFill>
                        <a:latin typeface="Cambria Math" panose="02040503050406030204" pitchFamily="18" charset="0"/>
                      </a:rPr>
                      <m:t>𝑓</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𝑔</m:t>
                    </m:r>
                  </m:oMath>
                </a14:m>
                <a:r>
                  <a:rPr sz="2400" b="0">
                    <a:solidFill>
                      <a:srgbClr val="78350F"/>
                    </a:solidFill>
                    <a:latin typeface="Arial"/>
                  </a:rPr>
                  <a:t> and then apply Rolle once more.</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$(g')^2+gg''=(gg')'$</a:t>
                </a:r>
                <a:r>
                  <a:rPr sz="2400" b="0">
                    <a:solidFill>
                      <a:srgbClr val="78350F"/>
                    </a:solidFill>
                    <a:latin typeface="Arial"/>
                  </a:rPr>
                  <a:t>, so count roots of </a:t>
                </a:r>
                <a:r>
                  <a:rPr lang="en-IN" sz="2400">
                    <a:solidFill>
                      <a:srgbClr val="78350F"/>
                    </a:solidFill>
                    <a:latin typeface="Cambria Math" panose="02040503050406030204" pitchFamily="18" charset="0"/>
                  </a:rPr>
                  <a:t>$gg'$</a:t>
                </a:r>
                <a:r>
                  <a:rPr sz="2400" b="0">
                    <a:solidFill>
                      <a:srgbClr val="78350F"/>
                    </a:solidFill>
                    <a:latin typeface="Arial"/>
                  </a:rPr>
                  <a:t> using interlacing of zeros of </a:t>
                </a:r>
                <a:r>
                  <a:rPr lang="en-IN" sz="2400">
                    <a:solidFill>
                      <a:srgbClr val="78350F"/>
                    </a:solidFill>
                    <a:latin typeface="Cambria Math" panose="02040503050406030204" pitchFamily="18" charset="0"/>
                  </a:rPr>
                  <a:t>$f$</a:t>
                </a:r>
                <a:r>
                  <a:rPr sz="2400" b="0">
                    <a:solidFill>
                      <a:srgbClr val="78350F"/>
                    </a:solidFill>
                    <a:latin typeface="Arial"/>
                  </a:rPr>
                  <a:t> and </a:t>
                </a:r>
                <a:r>
                  <a:rPr lang="en-IN" sz="2400">
                    <a:solidFill>
                      <a:srgbClr val="78350F"/>
                    </a:solidFill>
                    <a:latin typeface="Cambria Math" panose="02040503050406030204" pitchFamily="18" charset="0"/>
                  </a:rPr>
                  <a:t>$g$</a:t>
                </a:r>
                <a:r>
                  <a:rPr sz="2400" b="0">
                    <a:solidFill>
                      <a:srgbClr val="78350F"/>
                    </a:solidFill>
                    <a:latin typeface="Arial"/>
                  </a:rPr>
                  <a:t> and then apply Rolle once more.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by the intermediate value theorem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has at least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real roots, one in each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 root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oMath>
                </a14:m>
                <a:r>
                  <a:rPr sz="2400" b="0">
                    <a:solidFill>
                      <a:srgbClr val="111827"/>
                    </a:solidFill>
                    <a:latin typeface="Arial"/>
                  </a:rPr>
                  <a:t>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we have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too, both sides of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a:rPr lang="en-IN" sz="2400" i="1">
                        <a:solidFill>
                          <a:srgbClr val="111827"/>
                        </a:solidFill>
                        <a:latin typeface="Cambria Math" panose="02040503050406030204" pitchFamily="18" charset="0"/>
                      </a:rPr>
                      <m:t>𝑓</m:t>
                    </m:r>
                  </m:oMath>
                </a14:m>
                <a:r>
                  <a:rPr sz="2400" b="0">
                    <a:solidFill>
                      <a:srgbClr val="111827"/>
                    </a:solidFill>
                    <a:latin typeface="Arial"/>
                  </a:rPr>
                  <a:t> would be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at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$f(1)&gt;0,\ f(2)&lt;0,\ f(3)&gt;0,\ f(4)&lt;0,\ f(5)&gt;0$</a:t>
                </a:r>
                <a:r>
                  <a:rPr sz="2400" b="0">
                    <a:solidFill>
                      <a:srgbClr val="111827"/>
                    </a:solidFill>
                    <a:latin typeface="Arial"/>
                  </a:rPr>
                  <a:t>: by the intermediate value theorem </a:t>
                </a:r>
                <a:r>
                  <a:rPr lang="en-IN" sz="2400">
                    <a:solidFill>
                      <a:srgbClr val="111827"/>
                    </a:solidFill>
                    <a:latin typeface="Cambria Math" panose="02040503050406030204" pitchFamily="18" charset="0"/>
                  </a:rPr>
                  <a:t>$f(x)=0$</a:t>
                </a:r>
                <a:r>
                  <a:rPr sz="2400" b="0">
                    <a:solidFill>
                      <a:srgbClr val="111827"/>
                    </a:solidFill>
                    <a:latin typeface="Arial"/>
                  </a:rPr>
                  <a:t> has at least </a:t>
                </a:r>
                <a:r>
                  <a:rPr lang="en-IN" sz="2400">
                    <a:solidFill>
                      <a:srgbClr val="111827"/>
                    </a:solidFill>
                    <a:latin typeface="Cambria Math" panose="02040503050406030204" pitchFamily="18" charset="0"/>
                  </a:rPr>
                  <a:t>$4$</a:t>
                </a:r>
                <a:r>
                  <a:rPr sz="2400" b="0">
                    <a:solidFill>
                      <a:srgbClr val="111827"/>
                    </a:solidFill>
                    <a:latin typeface="Arial"/>
                  </a:rPr>
                  <a:t> real roots, one in each of </a:t>
                </a:r>
                <a:r>
                  <a:rPr lang="en-IN" sz="2400">
                    <a:solidFill>
                      <a:srgbClr val="111827"/>
                    </a:solidFill>
                    <a:latin typeface="Cambria Math" panose="02040503050406030204" pitchFamily="18" charset="0"/>
                  </a:rPr>
                  <a:t>$(1,2),(2,3),(3,4),(4,5)$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 root </a:t>
                </a:r>
                <a:r>
                  <a:rPr lang="en-IN" sz="2400">
                    <a:solidFill>
                      <a:srgbClr val="111827"/>
                    </a:solidFill>
                    <a:latin typeface="Cambria Math" panose="02040503050406030204" pitchFamily="18" charset="0"/>
                  </a:rPr>
                  <a:t>$x_0$</a:t>
                </a:r>
                <a:r>
                  <a:rPr sz="2400" b="0">
                    <a:solidFill>
                      <a:srgbClr val="111827"/>
                    </a:solidFill>
                    <a:latin typeface="Arial"/>
                  </a:rPr>
                  <a:t> of </a:t>
                </a:r>
                <a:r>
                  <a:rPr lang="en-IN" sz="2400">
                    <a:solidFill>
                      <a:srgbClr val="111827"/>
                    </a:solidFill>
                    <a:latin typeface="Cambria Math" panose="02040503050406030204" pitchFamily="18" charset="0"/>
                  </a:rPr>
                  <a:t>$f$</a:t>
                </a:r>
                <a:r>
                  <a:rPr sz="2400" b="0">
                    <a:solidFill>
                      <a:srgbClr val="111827"/>
                    </a:solidFill>
                    <a:latin typeface="Arial"/>
                  </a:rPr>
                  <a:t> we have </a:t>
                </a:r>
                <a:r>
                  <a:rPr lang="en-IN" sz="2400">
                    <a:solidFill>
                      <a:srgbClr val="111827"/>
                    </a:solidFill>
                    <a:latin typeface="Cambria Math" panose="02040503050406030204" pitchFamily="18" charset="0"/>
                  </a:rPr>
                  <a:t>$g(x_0)\ne0$</a:t>
                </a:r>
                <a:r>
                  <a:rPr sz="2400" b="0">
                    <a:solidFill>
                      <a:srgbClr val="111827"/>
                    </a:solidFill>
                    <a:latin typeface="Arial"/>
                  </a:rPr>
                  <a:t>: if </a:t>
                </a:r>
                <a:r>
                  <a:rPr lang="en-IN" sz="2400">
                    <a:solidFill>
                      <a:srgbClr val="111827"/>
                    </a:solidFill>
                    <a:latin typeface="Cambria Math" panose="02040503050406030204" pitchFamily="18" charset="0"/>
                  </a:rPr>
                  <a:t>$g(x_0)=0$</a:t>
                </a:r>
                <a:r>
                  <a:rPr sz="2400" b="0">
                    <a:solidFill>
                      <a:srgbClr val="111827"/>
                    </a:solidFill>
                    <a:latin typeface="Arial"/>
                  </a:rPr>
                  <a:t> too, both sides of </a:t>
                </a:r>
                <a:r>
                  <a:rPr lang="en-IN" sz="2400">
                    <a:solidFill>
                      <a:srgbClr val="111827"/>
                    </a:solidFill>
                    <a:latin typeface="Cambria Math" panose="02040503050406030204" pitchFamily="18" charset="0"/>
                  </a:rPr>
                  <a:t>$f'g\ne g'f$</a:t>
                </a:r>
                <a:r>
                  <a:rPr sz="2400" b="0">
                    <a:solidFill>
                      <a:srgbClr val="111827"/>
                    </a:solidFill>
                    <a:latin typeface="Arial"/>
                  </a:rPr>
                  <a:t> would be </a:t>
                </a:r>
                <a:r>
                  <a:rPr lang="en-IN" sz="2400">
                    <a:solidFill>
                      <a:srgbClr val="111827"/>
                    </a:solidFill>
                    <a:latin typeface="Cambria Math" panose="02040503050406030204" pitchFamily="18" charset="0"/>
                  </a:rPr>
                  <a:t>$0$</a:t>
                </a:r>
                <a:r>
                  <a:rPr sz="2400" b="0">
                    <a:solidFill>
                      <a:srgbClr val="111827"/>
                    </a:solidFill>
                    <a:latin typeface="Arial"/>
                  </a:rPr>
                  <a:t> at </a:t>
                </a:r>
                <a:r>
                  <a:rPr lang="en-IN" sz="2400">
                    <a:solidFill>
                      <a:srgbClr val="111827"/>
                    </a:solidFill>
                    <a:latin typeface="Cambria Math" panose="02040503050406030204" pitchFamily="18" charset="0"/>
                  </a:rPr>
                  <a:t>$x_0$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Between two consecutive roots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β</m:t>
                    </m:r>
                  </m:oMath>
                </a14:m>
                <a:r>
                  <a:rPr sz="2400" b="0">
                    <a:solidFill>
                      <a:srgbClr val="111827"/>
                    </a:solidFill>
                    <a:latin typeface="Arial"/>
                  </a:rPr>
                  <a:t>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has a root: if not,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𝑓</m:t>
                        </m:r>
                      </m:num>
                      <m:den>
                        <m:r>
                          <a:rPr lang="en-IN" sz="2400" i="1">
                            <a:solidFill>
                              <a:srgbClr val="111827"/>
                            </a:solidFill>
                            <a:latin typeface="Cambria Math" panose="02040503050406030204" pitchFamily="18" charset="0"/>
                          </a:rPr>
                          <m:t>𝑔</m:t>
                        </m:r>
                      </m:den>
                    </m:f>
                  </m:oMath>
                </a14:m>
                <a:r>
                  <a:rPr sz="2400" b="0">
                    <a:solidFill>
                      <a:srgbClr val="111827"/>
                    </a:solidFill>
                    <a:latin typeface="Arial"/>
                  </a:rPr>
                  <a:t> is differentiable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vanishes at both ends, so by Rolle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𝑓</m:t>
                                </m:r>
                              </m:num>
                              <m:den>
                                <m:r>
                                  <a:rPr lang="en-IN" sz="2400" i="1">
                                    <a:solidFill>
                                      <a:srgbClr val="111827"/>
                                    </a:solidFill>
                                    <a:latin typeface="Cambria Math" panose="02040503050406030204" pitchFamily="18" charset="0"/>
                                  </a:rPr>
                                  <m:t>𝑔</m:t>
                                </m:r>
                              </m:den>
                            </m:f>
                          </m:e>
                        </m:d>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a:rPr lang="en-IN" sz="2400" i="1">
                            <a:solidFill>
                              <a:srgbClr val="111827"/>
                            </a:solidFill>
                            <a:latin typeface="Cambria Math" panose="02040503050406030204" pitchFamily="18" charset="0"/>
                          </a:rPr>
                          <m:t>𝑓</m:t>
                        </m:r>
                      </m:num>
                      <m:den>
                        <m:sSup>
                          <m:e>
                            <m:r>
                              <a:rPr lang="en-IN" sz="2400" i="1">
                                <a:solidFill>
                                  <a:srgbClr val="111827"/>
                                </a:solidFill>
                                <a:latin typeface="Cambria Math" panose="02040503050406030204" pitchFamily="18" charset="0"/>
                              </a:rPr>
                              <m:t>𝑔</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somewhere, contradicting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a:rPr lang="en-IN" sz="2400" i="1">
                        <a:solidFill>
                          <a:srgbClr val="111827"/>
                        </a:solidFill>
                        <a:latin typeface="Cambria Math" panose="02040503050406030204" pitchFamily="18" charset="0"/>
                      </a:rPr>
                      <m:t>𝑓</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has at least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real roots (one between each pair of consecutive roots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Between two consecutive roots of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has a root (Rolle), and it is not a root of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(else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there); so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has at least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more roots.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has at least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real roots.</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Between two consecutive roots </a:t>
                </a:r>
                <a:r>
                  <a:rPr lang="en-IN" sz="2400">
                    <a:solidFill>
                      <a:srgbClr val="111827"/>
                    </a:solidFill>
                    <a:latin typeface="Cambria Math" panose="02040503050406030204" pitchFamily="18" charset="0"/>
                  </a:rPr>
                  <a:t>$\alpha&lt;\beta$</a:t>
                </a:r>
                <a:r>
                  <a:rPr sz="2400" b="0">
                    <a:solidFill>
                      <a:srgbClr val="111827"/>
                    </a:solidFill>
                    <a:latin typeface="Arial"/>
                  </a:rPr>
                  <a:t> of </a:t>
                </a:r>
                <a:r>
                  <a:rPr lang="en-IN" sz="2400">
                    <a:solidFill>
                      <a:srgbClr val="111827"/>
                    </a:solidFill>
                    <a:latin typeface="Cambria Math" panose="02040503050406030204" pitchFamily="18" charset="0"/>
                  </a:rPr>
                  <a:t>$f$</a:t>
                </a:r>
                <a:r>
                  <a:rPr sz="2400" b="0">
                    <a:solidFill>
                      <a:srgbClr val="111827"/>
                    </a:solidFill>
                    <a:latin typeface="Arial"/>
                  </a:rPr>
                  <a:t>, </a:t>
                </a:r>
                <a:r>
                  <a:rPr lang="en-IN" sz="2400">
                    <a:solidFill>
                      <a:srgbClr val="111827"/>
                    </a:solidFill>
                    <a:latin typeface="Cambria Math" panose="02040503050406030204" pitchFamily="18" charset="0"/>
                  </a:rPr>
                  <a:t>$g$</a:t>
                </a:r>
                <a:r>
                  <a:rPr sz="2400" b="0">
                    <a:solidFill>
                      <a:srgbClr val="111827"/>
                    </a:solidFill>
                    <a:latin typeface="Arial"/>
                  </a:rPr>
                  <a:t> has a root: if not, </a:t>
                </a:r>
                <a:r>
                  <a:rPr lang="en-IN" sz="2400">
                    <a:solidFill>
                      <a:srgbClr val="111827"/>
                    </a:solidFill>
                    <a:latin typeface="Cambria Math" panose="02040503050406030204" pitchFamily="18" charset="0"/>
                  </a:rPr>
                  <a:t>$\frac fg$</a:t>
                </a:r>
                <a:r>
                  <a:rPr sz="2400" b="0">
                    <a:solidFill>
                      <a:srgbClr val="111827"/>
                    </a:solidFill>
                    <a:latin typeface="Arial"/>
                  </a:rPr>
                  <a:t> is differentiable on </a:t>
                </a:r>
                <a:r>
                  <a:rPr lang="en-IN" sz="2400">
                    <a:solidFill>
                      <a:srgbClr val="111827"/>
                    </a:solidFill>
                    <a:latin typeface="Cambria Math" panose="02040503050406030204" pitchFamily="18" charset="0"/>
                  </a:rPr>
                  <a:t>$[\alpha,\beta]$</a:t>
                </a:r>
                <a:r>
                  <a:rPr sz="2400" b="0">
                    <a:solidFill>
                      <a:srgbClr val="111827"/>
                    </a:solidFill>
                    <a:latin typeface="Arial"/>
                  </a:rPr>
                  <a:t> and vanishes at both ends, so by Rolle </a:t>
                </a:r>
                <a:r>
                  <a:rPr lang="en-IN" sz="2400">
                    <a:solidFill>
                      <a:srgbClr val="111827"/>
                    </a:solidFill>
                    <a:latin typeface="Cambria Math" panose="02040503050406030204" pitchFamily="18" charset="0"/>
                  </a:rPr>
                  <a:t>$\left(\frac fg\right)'=\frac{f'g-g'f}{g^2}=0$</a:t>
                </a:r>
                <a:r>
                  <a:rPr sz="2400" b="0">
                    <a:solidFill>
                      <a:srgbClr val="111827"/>
                    </a:solidFill>
                    <a:latin typeface="Arial"/>
                  </a:rPr>
                  <a:t> somewhere, contradicting </a:t>
                </a:r>
                <a:r>
                  <a:rPr lang="en-IN" sz="2400">
                    <a:solidFill>
                      <a:srgbClr val="111827"/>
                    </a:solidFill>
                    <a:latin typeface="Cambria Math" panose="02040503050406030204" pitchFamily="18" charset="0"/>
                  </a:rPr>
                  <a:t>$f'g\ne g'f$</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$g(x)=0$</a:t>
                </a:r>
                <a:r>
                  <a:rPr sz="2400" b="0">
                    <a:solidFill>
                      <a:srgbClr val="111827"/>
                    </a:solidFill>
                    <a:latin typeface="Arial"/>
                  </a:rPr>
                  <a:t> has at least </a:t>
                </a:r>
                <a:r>
                  <a:rPr lang="en-IN" sz="2400">
                    <a:solidFill>
                      <a:srgbClr val="111827"/>
                    </a:solidFill>
                    <a:latin typeface="Cambria Math" panose="02040503050406030204" pitchFamily="18" charset="0"/>
                  </a:rPr>
                  <a:t>$3$</a:t>
                </a:r>
                <a:r>
                  <a:rPr sz="2400" b="0">
                    <a:solidFill>
                      <a:srgbClr val="111827"/>
                    </a:solidFill>
                    <a:latin typeface="Arial"/>
                  </a:rPr>
                  <a:t> real roots (one between each pair of consecutive roots of </a:t>
                </a:r>
                <a:r>
                  <a:rPr lang="en-IN" sz="2400">
                    <a:solidFill>
                      <a:srgbClr val="111827"/>
                    </a:solidFill>
                    <a:latin typeface="Cambria Math" panose="02040503050406030204" pitchFamily="18" charset="0"/>
                  </a:rPr>
                  <a:t>$f$</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Between two consecutive roots of </a:t>
                </a:r>
                <a:r>
                  <a:rPr lang="en-IN" sz="2400">
                    <a:solidFill>
                      <a:srgbClr val="111827"/>
                    </a:solidFill>
                    <a:latin typeface="Cambria Math" panose="02040503050406030204" pitchFamily="18" charset="0"/>
                  </a:rPr>
                  <a:t>$g$</a:t>
                </a:r>
                <a:r>
                  <a:rPr sz="2400" b="0">
                    <a:solidFill>
                      <a:srgbClr val="111827"/>
                    </a:solidFill>
                    <a:latin typeface="Arial"/>
                  </a:rPr>
                  <a:t>, </a:t>
                </a:r>
                <a:r>
                  <a:rPr lang="en-IN" sz="2400">
                    <a:solidFill>
                      <a:srgbClr val="111827"/>
                    </a:solidFill>
                    <a:latin typeface="Cambria Math" panose="02040503050406030204" pitchFamily="18" charset="0"/>
                  </a:rPr>
                  <a:t>$g'$</a:t>
                </a:r>
                <a:r>
                  <a:rPr sz="2400" b="0">
                    <a:solidFill>
                      <a:srgbClr val="111827"/>
                    </a:solidFill>
                    <a:latin typeface="Arial"/>
                  </a:rPr>
                  <a:t> has a root (Rolle), and it is not a root of </a:t>
                </a:r>
                <a:r>
                  <a:rPr lang="en-IN" sz="2400">
                    <a:solidFill>
                      <a:srgbClr val="111827"/>
                    </a:solidFill>
                    <a:latin typeface="Cambria Math" panose="02040503050406030204" pitchFamily="18" charset="0"/>
                  </a:rPr>
                  <a:t>$g$</a:t>
                </a:r>
                <a:r>
                  <a:rPr sz="2400" b="0">
                    <a:solidFill>
                      <a:srgbClr val="111827"/>
                    </a:solidFill>
                    <a:latin typeface="Arial"/>
                  </a:rPr>
                  <a:t> (else </a:t>
                </a:r>
                <a:r>
                  <a:rPr lang="en-IN" sz="2400">
                    <a:solidFill>
                      <a:srgbClr val="111827"/>
                    </a:solidFill>
                    <a:latin typeface="Cambria Math" panose="02040503050406030204" pitchFamily="18" charset="0"/>
                  </a:rPr>
                  <a:t>$f'g-g'f=0$</a:t>
                </a:r>
                <a:r>
                  <a:rPr sz="2400" b="0">
                    <a:solidFill>
                      <a:srgbClr val="111827"/>
                    </a:solidFill>
                    <a:latin typeface="Arial"/>
                  </a:rPr>
                  <a:t> there); so </a:t>
                </a:r>
                <a:r>
                  <a:rPr lang="en-IN" sz="2400">
                    <a:solidFill>
                      <a:srgbClr val="111827"/>
                    </a:solidFill>
                    <a:latin typeface="Cambria Math" panose="02040503050406030204" pitchFamily="18" charset="0"/>
                  </a:rPr>
                  <a:t>$g'$</a:t>
                </a:r>
                <a:r>
                  <a:rPr sz="2400" b="0">
                    <a:solidFill>
                      <a:srgbClr val="111827"/>
                    </a:solidFill>
                    <a:latin typeface="Arial"/>
                  </a:rPr>
                  <a:t> has at least </a:t>
                </a:r>
                <a:r>
                  <a:rPr lang="en-IN" sz="2400">
                    <a:solidFill>
                      <a:srgbClr val="111827"/>
                    </a:solidFill>
                    <a:latin typeface="Cambria Math" panose="02040503050406030204" pitchFamily="18" charset="0"/>
                  </a:rPr>
                  <a:t>$2$</a:t>
                </a:r>
                <a:r>
                  <a:rPr sz="2400" b="0">
                    <a:solidFill>
                      <a:srgbClr val="111827"/>
                    </a:solidFill>
                    <a:latin typeface="Arial"/>
                  </a:rPr>
                  <a:t> more roots.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$g'(x)\cdot g(x)=0$</a:t>
                </a:r>
                <a:r>
                  <a:rPr sz="2400" b="0">
                    <a:solidFill>
                      <a:srgbClr val="111827"/>
                    </a:solidFill>
                    <a:latin typeface="Arial"/>
                  </a:rPr>
                  <a:t> has at least </a:t>
                </a:r>
                <a:r>
                  <a:rPr lang="en-IN" sz="2400">
                    <a:solidFill>
                      <a:srgbClr val="111827"/>
                    </a:solidFill>
                    <a:latin typeface="Cambria Math" panose="02040503050406030204" pitchFamily="18" charset="0"/>
                  </a:rPr>
                  <a:t>$3+2=5$</a:t>
                </a:r>
                <a:r>
                  <a:rPr sz="2400" b="0">
                    <a:solidFill>
                      <a:srgbClr val="111827"/>
                    </a:solidFill>
                    <a:latin typeface="Arial"/>
                  </a:rPr>
                  <a:t> real roots.</a:t>
                </a:r>
                <a:endParaRPr sz="2400">
                  <a:solidFill>
                    <a:srgbClr val="111827"/>
                  </a:solidFill>
                </a:endParaRPr>
              </a:p>
            </p:txBody>
          </p:sp>
        </mc:Fallback>
      </mc:AlternateContent>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Rolle's theorem applied to </a:t>
                </a:r>
                <a14:m>
                  <m:oMath xmlns:m="http://schemas.openxmlformats.org/officeDocument/2006/math">
                    <m:r>
                      <a:rPr lang="en-IN" sz="2400" i="1">
                        <a:solidFill>
                          <a:srgbClr val="111827"/>
                        </a:solidFill>
                        <a:latin typeface="Cambria Math" panose="02040503050406030204" pitchFamily="18" charset="0"/>
                      </a:rPr>
                      <m:t>𝑔</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gives at least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real roots of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minimum number of real roots is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$(g')^2+gg''=(gg')'$</a:t>
                </a:r>
                <a:r>
                  <a:rPr sz="2400" b="0">
                    <a:solidFill>
                      <a:srgbClr val="111827"/>
                    </a:solidFill>
                    <a:latin typeface="Arial"/>
                  </a:rPr>
                  <a:t>, Rolle's theorem applied to </a:t>
                </a:r>
                <a:r>
                  <a:rPr lang="en-IN" sz="2400">
                    <a:solidFill>
                      <a:srgbClr val="111827"/>
                    </a:solidFill>
                    <a:latin typeface="Cambria Math" panose="02040503050406030204" pitchFamily="18" charset="0"/>
                  </a:rPr>
                  <a:t>$gg'$</a:t>
                </a:r>
                <a:r>
                  <a:rPr sz="2400" b="0">
                    <a:solidFill>
                      <a:srgbClr val="111827"/>
                    </a:solidFill>
                    <a:latin typeface="Arial"/>
                  </a:rPr>
                  <a:t> gives at least </a:t>
                </a:r>
                <a:r>
                  <a:rPr lang="en-IN" sz="2400">
                    <a:solidFill>
                      <a:srgbClr val="111827"/>
                    </a:solidFill>
                    <a:latin typeface="Cambria Math" panose="02040503050406030204" pitchFamily="18" charset="0"/>
                  </a:rPr>
                  <a:t>$5-1=4$</a:t>
                </a:r>
                <a:r>
                  <a:rPr sz="2400" b="0">
                    <a:solidFill>
                      <a:srgbClr val="111827"/>
                    </a:solidFill>
                    <a:latin typeface="Arial"/>
                  </a:rPr>
                  <a:t> real roots of </a:t>
                </a:r>
                <a:r>
                  <a:rPr lang="en-IN" sz="2400">
                    <a:solidFill>
                      <a:srgbClr val="111827"/>
                    </a:solidFill>
                    <a:latin typeface="Cambria Math" panose="02040503050406030204" pitchFamily="18" charset="0"/>
                  </a:rPr>
                  <a:t>$(g')^2+gg''=0$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minimum number of real roots is </a:t>
                </a:r>
                <a:r>
                  <a:rPr lang="en-IN" sz="2400">
                    <a:solidFill>
                      <a:srgbClr val="111827"/>
                    </a:solidFill>
                    <a:latin typeface="Cambria Math" panose="02040503050406030204" pitchFamily="18" charset="0"/>
                  </a:rPr>
                  <a:t>$4$</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4</a:t>
            </a:r>
            <a:endParaRPr sz="2800">
              <a:solidFill>
                <a:srgbClr val="15803D"/>
              </a:solidFill>
            </a:endParaRP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Rolle: if </a:t>
                </a:r>
                <a14:m>
                  <m:oMath xmlns:m="http://schemas.openxmlformats.org/officeDocument/2006/math">
                    <m:r>
                      <a:rPr lang="en-IN" sz="2400" i="1">
                        <a:solidFill>
                          <a:srgbClr val="111827"/>
                        </a:solidFill>
                        <a:latin typeface="Cambria Math" panose="02040503050406030204" pitchFamily="18" charset="0"/>
                      </a:rPr>
                      <m:t>φ</m:t>
                    </m:r>
                  </m:oMath>
                </a14:m>
                <a:r>
                  <a:rPr sz="2400" b="0">
                    <a:solidFill>
                      <a:srgbClr val="111827"/>
                    </a:solidFill>
                    <a:latin typeface="Arial"/>
                  </a:rPr>
                  <a:t> is continuous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differentiable inside and </a:t>
                </a:r>
                <a14:m>
                  <m:oMath xmlns:m="http://schemas.openxmlformats.org/officeDocument/2006/math">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sSup>
                      <m:e>
                        <m:r>
                          <a:rPr lang="en-IN" sz="2400" i="1">
                            <a:solidFill>
                              <a:srgbClr val="111827"/>
                            </a:solidFill>
                            <a:latin typeface="Cambria Math" panose="02040503050406030204" pitchFamily="18" charset="0"/>
                          </a:rPr>
                          <m:t>φ</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some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if </a:t>
                </a:r>
                <a14:m>
                  <m:oMath xmlns:m="http://schemas.openxmlformats.org/officeDocument/2006/math">
                    <m:r>
                      <a:rPr lang="en-IN" sz="2400" i="1">
                        <a:solidFill>
                          <a:srgbClr val="111827"/>
                        </a:solidFill>
                        <a:latin typeface="Cambria Math" panose="02040503050406030204" pitchFamily="18" charset="0"/>
                      </a:rPr>
                      <m:t>φ</m:t>
                    </m:r>
                  </m:oMath>
                </a14:m>
                <a:r>
                  <a:rPr sz="2400" b="0">
                    <a:solidFill>
                      <a:srgbClr val="111827"/>
                    </a:solidFill>
                    <a:latin typeface="Arial"/>
                  </a:rPr>
                  <a:t> has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distinct real roots then </a:t>
                </a:r>
                <a14:m>
                  <m:oMath xmlns:m="http://schemas.openxmlformats.org/officeDocument/2006/math">
                    <m:sSup>
                      <m:e>
                        <m:r>
                          <a:rPr lang="en-IN" sz="2400" i="1">
                            <a:solidFill>
                              <a:srgbClr val="111827"/>
                            </a:solidFill>
                            <a:latin typeface="Cambria Math" panose="02040503050406030204" pitchFamily="18" charset="0"/>
                          </a:rPr>
                          <m:t>φ</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has at least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means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𝑓</m:t>
                                </m:r>
                              </m:num>
                              <m:den>
                                <m:r>
                                  <a:rPr lang="en-IN" sz="2400" i="1">
                                    <a:solidFill>
                                      <a:srgbClr val="111827"/>
                                    </a:solidFill>
                                    <a:latin typeface="Cambria Math" panose="02040503050406030204" pitchFamily="18" charset="0"/>
                                  </a:rPr>
                                  <m:t>𝑔</m:t>
                                </m:r>
                              </m:den>
                            </m:f>
                          </m:e>
                        </m:d>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wherever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oMath>
                </a14:m>
                <a:r>
                  <a:rPr sz="2400" b="0">
                    <a:solidFill>
                      <a:srgbClr val="111827"/>
                    </a:solidFill>
                    <a:latin typeface="Arial"/>
                  </a:rPr>
                  <a:t> cannot repeat a value, so between two zeros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there is a zero of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(zeros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interlace, as for </a:t>
                </a:r>
                <a14:m>
                  <m:oMath xmlns:m="http://schemas.openxmlformats.org/officeDocument/2006/math">
                    <m:r>
                      <m:rPr>
                        <m:sty m:val="p"/>
                      </m:rPr>
                      <a:rPr lang="en-IN" sz="2400">
                        <a:solidFill>
                          <a:srgbClr val="111827"/>
                        </a:solidFill>
                        <a:latin typeface="Cambria Math" panose="02040503050406030204" pitchFamily="18" charset="0"/>
                      </a:rPr>
                      <m:t>sin</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cos</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Recognise derivatives of products: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a:rPr lang="en-IN" sz="2400" i="1">
                            <a:solidFill>
                              <a:srgbClr val="111827"/>
                            </a:solidFill>
                            <a:latin typeface="Cambria Math" panose="02040503050406030204" pitchFamily="18" charset="0"/>
                          </a:rPr>
                          <m:t>2</m:t>
                        </m:r>
                      </m:sup>
                    </m:sSup>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𝑓</m:t>
                                </m:r>
                              </m:num>
                              <m:den>
                                <m:r>
                                  <a:rPr lang="en-IN" sz="2400" i="1">
                                    <a:solidFill>
                                      <a:srgbClr val="111827"/>
                                    </a:solidFill>
                                    <a:latin typeface="Cambria Math" panose="02040503050406030204" pitchFamily="18" charset="0"/>
                                  </a:rPr>
                                  <m:t>𝑔</m:t>
                                </m:r>
                              </m:den>
                            </m:f>
                          </m:e>
                        </m:d>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sign change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between two points forces a root between them (IVT); the values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alternate in sign, giving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roots.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Rolle: if </a:t>
                </a:r>
                <a:r>
                  <a:rPr lang="en-IN" sz="2400">
                    <a:solidFill>
                      <a:srgbClr val="111827"/>
                    </a:solidFill>
                    <a:latin typeface="Cambria Math" panose="02040503050406030204" pitchFamily="18" charset="0"/>
                  </a:rPr>
                  <a:t>$\varphi$</a:t>
                </a:r>
                <a:r>
                  <a:rPr sz="2400" b="0">
                    <a:solidFill>
                      <a:srgbClr val="111827"/>
                    </a:solidFill>
                    <a:latin typeface="Arial"/>
                  </a:rPr>
                  <a:t> is continuous on </a:t>
                </a:r>
                <a:r>
                  <a:rPr lang="en-IN" sz="2400">
                    <a:solidFill>
                      <a:srgbClr val="111827"/>
                    </a:solidFill>
                    <a:latin typeface="Cambria Math" panose="02040503050406030204" pitchFamily="18" charset="0"/>
                  </a:rPr>
                  <a:t>$[\alpha,\beta]$</a:t>
                </a:r>
                <a:r>
                  <a:rPr sz="2400" b="0">
                    <a:solidFill>
                      <a:srgbClr val="111827"/>
                    </a:solidFill>
                    <a:latin typeface="Arial"/>
                  </a:rPr>
                  <a:t>, differentiable inside and </a:t>
                </a:r>
                <a:r>
                  <a:rPr lang="en-IN" sz="2400">
                    <a:solidFill>
                      <a:srgbClr val="111827"/>
                    </a:solidFill>
                    <a:latin typeface="Cambria Math" panose="02040503050406030204" pitchFamily="18" charset="0"/>
                  </a:rPr>
                  <a:t>$\varphi(\alpha)=\varphi(\beta)$</a:t>
                </a:r>
                <a:r>
                  <a:rPr sz="2400" b="0">
                    <a:solidFill>
                      <a:srgbClr val="111827"/>
                    </a:solidFill>
                    <a:latin typeface="Arial"/>
                  </a:rPr>
                  <a:t>, then </a:t>
                </a:r>
                <a:r>
                  <a:rPr lang="en-IN" sz="2400">
                    <a:solidFill>
                      <a:srgbClr val="111827"/>
                    </a:solidFill>
                    <a:latin typeface="Cambria Math" panose="02040503050406030204" pitchFamily="18" charset="0"/>
                  </a:rPr>
                  <a:t>$\varphi'(c)=0$</a:t>
                </a:r>
                <a:r>
                  <a:rPr sz="2400" b="0">
                    <a:solidFill>
                      <a:srgbClr val="111827"/>
                    </a:solidFill>
                    <a:latin typeface="Arial"/>
                  </a:rPr>
                  <a:t> for some </a:t>
                </a:r>
                <a:r>
                  <a:rPr lang="en-IN" sz="2400">
                    <a:solidFill>
                      <a:srgbClr val="111827"/>
                    </a:solidFill>
                    <a:latin typeface="Cambria Math" panose="02040503050406030204" pitchFamily="18" charset="0"/>
                  </a:rPr>
                  <a:t>$c\in(\alpha,\beta)$</a:t>
                </a:r>
                <a:r>
                  <a:rPr sz="2400" b="0">
                    <a:solidFill>
                      <a:srgbClr val="111827"/>
                    </a:solidFill>
                    <a:latin typeface="Arial"/>
                  </a:rPr>
                  <a:t>; so if </a:t>
                </a:r>
                <a:r>
                  <a:rPr lang="en-IN" sz="2400">
                    <a:solidFill>
                      <a:srgbClr val="111827"/>
                    </a:solidFill>
                    <a:latin typeface="Cambria Math" panose="02040503050406030204" pitchFamily="18" charset="0"/>
                  </a:rPr>
                  <a:t>$\varphi$</a:t>
                </a:r>
                <a:r>
                  <a:rPr sz="2400" b="0">
                    <a:solidFill>
                      <a:srgbClr val="111827"/>
                    </a:solidFill>
                    <a:latin typeface="Arial"/>
                  </a:rPr>
                  <a:t> has </a:t>
                </a:r>
                <a:r>
                  <a:rPr lang="en-IN" sz="2400">
                    <a:solidFill>
                      <a:srgbClr val="111827"/>
                    </a:solidFill>
                    <a:latin typeface="Cambria Math" panose="02040503050406030204" pitchFamily="18" charset="0"/>
                  </a:rPr>
                  <a:t>$n$</a:t>
                </a:r>
                <a:r>
                  <a:rPr sz="2400" b="0">
                    <a:solidFill>
                      <a:srgbClr val="111827"/>
                    </a:solidFill>
                    <a:latin typeface="Arial"/>
                  </a:rPr>
                  <a:t> distinct real roots then </a:t>
                </a:r>
                <a:r>
                  <a:rPr lang="en-IN" sz="2400">
                    <a:solidFill>
                      <a:srgbClr val="111827"/>
                    </a:solidFill>
                    <a:latin typeface="Cambria Math" panose="02040503050406030204" pitchFamily="18" charset="0"/>
                  </a:rPr>
                  <a:t>$\varphi'$</a:t>
                </a:r>
                <a:r>
                  <a:rPr sz="2400" b="0">
                    <a:solidFill>
                      <a:srgbClr val="111827"/>
                    </a:solidFill>
                    <a:latin typeface="Arial"/>
                  </a:rPr>
                  <a:t> has at least </a:t>
                </a:r>
                <a:r>
                  <a:rPr lang="en-IN" sz="2400">
                    <a:solidFill>
                      <a:srgbClr val="111827"/>
                    </a:solidFill>
                    <a:latin typeface="Cambria Math" panose="02040503050406030204" pitchFamily="18" charset="0"/>
                  </a:rPr>
                  <a:t>$n-1$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$f'g-g'f\ne0$</a:t>
                </a:r>
                <a:r>
                  <a:rPr sz="2400" b="0">
                    <a:solidFill>
                      <a:srgbClr val="111827"/>
                    </a:solidFill>
                    <a:latin typeface="Arial"/>
                  </a:rPr>
                  <a:t> means </a:t>
                </a:r>
                <a:r>
                  <a:rPr lang="en-IN" sz="2400">
                    <a:solidFill>
                      <a:srgbClr val="111827"/>
                    </a:solidFill>
                    <a:latin typeface="Cambria Math" panose="02040503050406030204" pitchFamily="18" charset="0"/>
                  </a:rPr>
                  <a:t>$\left(\frac fg\right)'\ne0$</a:t>
                </a:r>
                <a:r>
                  <a:rPr sz="2400" b="0">
                    <a:solidFill>
                      <a:srgbClr val="111827"/>
                    </a:solidFill>
                    <a:latin typeface="Arial"/>
                  </a:rPr>
                  <a:t> wherever </a:t>
                </a:r>
                <a:r>
                  <a:rPr lang="en-IN" sz="2400">
                    <a:solidFill>
                      <a:srgbClr val="111827"/>
                    </a:solidFill>
                    <a:latin typeface="Cambria Math" panose="02040503050406030204" pitchFamily="18" charset="0"/>
                  </a:rPr>
                  <a:t>$g\ne0$</a:t>
                </a:r>
                <a:r>
                  <a:rPr sz="2400" b="0">
                    <a:solidFill>
                      <a:srgbClr val="111827"/>
                    </a:solidFill>
                    <a:latin typeface="Arial"/>
                  </a:rPr>
                  <a:t>: </a:t>
                </a:r>
                <a:r>
                  <a:rPr lang="en-IN" sz="2400">
                    <a:solidFill>
                      <a:srgbClr val="111827"/>
                    </a:solidFill>
                    <a:latin typeface="Cambria Math" panose="02040503050406030204" pitchFamily="18" charset="0"/>
                  </a:rPr>
                  <a:t>$f/g$</a:t>
                </a:r>
                <a:r>
                  <a:rPr sz="2400" b="0">
                    <a:solidFill>
                      <a:srgbClr val="111827"/>
                    </a:solidFill>
                    <a:latin typeface="Arial"/>
                  </a:rPr>
                  <a:t> cannot repeat a value, so between two zeros of </a:t>
                </a:r>
                <a:r>
                  <a:rPr lang="en-IN" sz="2400">
                    <a:solidFill>
                      <a:srgbClr val="111827"/>
                    </a:solidFill>
                    <a:latin typeface="Cambria Math" panose="02040503050406030204" pitchFamily="18" charset="0"/>
                  </a:rPr>
                  <a:t>$f$</a:t>
                </a:r>
                <a:r>
                  <a:rPr sz="2400" b="0">
                    <a:solidFill>
                      <a:srgbClr val="111827"/>
                    </a:solidFill>
                    <a:latin typeface="Arial"/>
                  </a:rPr>
                  <a:t> there is a zero of </a:t>
                </a:r>
                <a:r>
                  <a:rPr lang="en-IN" sz="2400">
                    <a:solidFill>
                      <a:srgbClr val="111827"/>
                    </a:solidFill>
                    <a:latin typeface="Cambria Math" panose="02040503050406030204" pitchFamily="18" charset="0"/>
                  </a:rPr>
                  <a:t>$g$</a:t>
                </a:r>
                <a:r>
                  <a:rPr sz="2400" b="0">
                    <a:solidFill>
                      <a:srgbClr val="111827"/>
                    </a:solidFill>
                    <a:latin typeface="Arial"/>
                  </a:rPr>
                  <a:t> (zeros of </a:t>
                </a:r>
                <a:r>
                  <a:rPr lang="en-IN" sz="2400">
                    <a:solidFill>
                      <a:srgbClr val="111827"/>
                    </a:solidFill>
                    <a:latin typeface="Cambria Math" panose="02040503050406030204" pitchFamily="18" charset="0"/>
                  </a:rPr>
                  <a:t>$f$</a:t>
                </a:r>
                <a:r>
                  <a:rPr sz="2400" b="0">
                    <a:solidFill>
                      <a:srgbClr val="111827"/>
                    </a:solidFill>
                    <a:latin typeface="Arial"/>
                  </a:rPr>
                  <a:t> and </a:t>
                </a:r>
                <a:r>
                  <a:rPr lang="en-IN" sz="2400">
                    <a:solidFill>
                      <a:srgbClr val="111827"/>
                    </a:solidFill>
                    <a:latin typeface="Cambria Math" panose="02040503050406030204" pitchFamily="18" charset="0"/>
                  </a:rPr>
                  <a:t>$g$</a:t>
                </a:r>
                <a:r>
                  <a:rPr sz="2400" b="0">
                    <a:solidFill>
                      <a:srgbClr val="111827"/>
                    </a:solidFill>
                    <a:latin typeface="Arial"/>
                  </a:rPr>
                  <a:t> interlace, as for </a:t>
                </a:r>
                <a:r>
                  <a:rPr lang="en-IN" sz="2400">
                    <a:solidFill>
                      <a:srgbClr val="111827"/>
                    </a:solidFill>
                    <a:latin typeface="Cambria Math" panose="02040503050406030204" pitchFamily="18" charset="0"/>
                  </a:rPr>
                  <a:t>$\sin$</a:t>
                </a:r>
                <a:r>
                  <a:rPr sz="2400" b="0">
                    <a:solidFill>
                      <a:srgbClr val="111827"/>
                    </a:solidFill>
                    <a:latin typeface="Arial"/>
                  </a:rPr>
                  <a:t> and </a:t>
                </a:r>
                <a:r>
                  <a:rPr lang="en-IN" sz="2400">
                    <a:solidFill>
                      <a:srgbClr val="111827"/>
                    </a:solidFill>
                    <a:latin typeface="Cambria Math" panose="02040503050406030204" pitchFamily="18" charset="0"/>
                  </a:rPr>
                  <a:t>$\cos$</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Recognise derivatives of products: </a:t>
                </a:r>
                <a:r>
                  <a:rPr lang="en-IN" sz="2400">
                    <a:solidFill>
                      <a:srgbClr val="111827"/>
                    </a:solidFill>
                    <a:latin typeface="Cambria Math" panose="02040503050406030204" pitchFamily="18" charset="0"/>
                  </a:rPr>
                  <a:t>$(g')^2+gg''=(gg')'=\frac12(g^2)''$</a:t>
                </a:r>
                <a:r>
                  <a:rPr sz="2400" b="0">
                    <a:solidFill>
                      <a:srgbClr val="111827"/>
                    </a:solidFill>
                    <a:latin typeface="Arial"/>
                  </a:rPr>
                  <a:t>, and </a:t>
                </a:r>
                <a:r>
                  <a:rPr lang="en-IN" sz="2400">
                    <a:solidFill>
                      <a:srgbClr val="111827"/>
                    </a:solidFill>
                    <a:latin typeface="Cambria Math" panose="02040503050406030204" pitchFamily="18" charset="0"/>
                  </a:rPr>
                  <a:t>$f'g-g'f=g^2\left(\frac fg\right)'$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sign change of </a:t>
                </a:r>
                <a:r>
                  <a:rPr lang="en-IN" sz="2400">
                    <a:solidFill>
                      <a:srgbClr val="111827"/>
                    </a:solidFill>
                    <a:latin typeface="Cambria Math" panose="02040503050406030204" pitchFamily="18" charset="0"/>
                  </a:rPr>
                  <a:t>$f$</a:t>
                </a:r>
                <a:r>
                  <a:rPr sz="2400" b="0">
                    <a:solidFill>
                      <a:srgbClr val="111827"/>
                    </a:solidFill>
                    <a:latin typeface="Arial"/>
                  </a:rPr>
                  <a:t> between two points forces a root between them (IVT); the values </a:t>
                </a:r>
                <a:r>
                  <a:rPr lang="en-IN" sz="2400">
                    <a:solidFill>
                      <a:srgbClr val="111827"/>
                    </a:solidFill>
                    <a:latin typeface="Cambria Math" panose="02040503050406030204" pitchFamily="18" charset="0"/>
                  </a:rPr>
                  <a:t>$1,-3,4,-1,2$</a:t>
                </a:r>
                <a:r>
                  <a:rPr sz="2400" b="0">
                    <a:solidFill>
                      <a:srgbClr val="111827"/>
                    </a:solidFill>
                    <a:latin typeface="Arial"/>
                  </a:rPr>
                  <a:t> alternate in sign, giving </a:t>
                </a:r>
                <a:r>
                  <a:rPr lang="en-IN" sz="2400">
                    <a:solidFill>
                      <a:srgbClr val="111827"/>
                    </a:solidFill>
                    <a:latin typeface="Cambria Math" panose="02040503050406030204" pitchFamily="18" charset="0"/>
                  </a:rPr>
                  <a:t>$4$</a:t>
                </a:r>
                <a:r>
                  <a:rPr sz="2400" b="0">
                    <a:solidFill>
                      <a:srgbClr val="111827"/>
                    </a:solidFill>
                    <a:latin typeface="Arial"/>
                  </a:rPr>
                  <a:t> roots.</a:t>
                </a:r>
                <a:endParaRPr sz="2400">
                  <a:solidFill>
                    <a:srgbClr val="111827"/>
                  </a:solidFill>
                </a:endParaRPr>
              </a:p>
            </p:txBody>
          </p:sp>
        </mc:Fallback>
      </mc:AlternateContent>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6</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Q46 – Q49</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No marking scheme printed; JEE Advanced default of 4 marks assumed</a:t>
            </a:r>
            <a:endParaRPr sz="2800">
              <a:solidFill>
                <a:srgbClr val="FFFFFF"/>
              </a:solidFill>
            </a:endParaRP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differentiable function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satisfies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Show that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some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differentiable function </a:t>
                </a:r>
                <a:r>
                  <a:rPr lang="en-IN" sz="2400">
                    <a:solidFill>
                      <a:srgbClr val="111827"/>
                    </a:solidFill>
                    <a:latin typeface="Cambria Math" panose="02040503050406030204" pitchFamily="18" charset="0"/>
                  </a:rPr>
                  <a:t>$f:\mathbb R\to\mathbb R$</a:t>
                </a:r>
                <a:r>
                  <a:rPr sz="2400" b="0">
                    <a:solidFill>
                      <a:srgbClr val="111827"/>
                    </a:solidFill>
                    <a:latin typeface="Arial"/>
                  </a:rPr>
                  <a:t> satisfies </a:t>
                </a:r>
                <a:r>
                  <a:rPr lang="en-IN" sz="2400">
                    <a:solidFill>
                      <a:srgbClr val="111827"/>
                    </a:solidFill>
                    <a:latin typeface="Cambria Math" panose="02040503050406030204" pitchFamily="18" charset="0"/>
                  </a:rPr>
                  <a:t>$f(1)=2$</a:t>
                </a:r>
                <a:r>
                  <a:rPr sz="2400" b="0">
                    <a:solidFill>
                      <a:srgbClr val="111827"/>
                    </a:solidFill>
                    <a:latin typeface="Arial"/>
                  </a:rPr>
                  <a:t>, </a:t>
                </a:r>
                <a:r>
                  <a:rPr lang="en-IN" sz="2400">
                    <a:solidFill>
                      <a:srgbClr val="111827"/>
                    </a:solidFill>
                    <a:latin typeface="Cambria Math" panose="02040503050406030204" pitchFamily="18" charset="0"/>
                  </a:rPr>
                  <a:t>$f(2)=3$</a:t>
                </a:r>
                <a:r>
                  <a:rPr sz="2400" b="0">
                    <a:solidFill>
                      <a:srgbClr val="111827"/>
                    </a:solidFill>
                    <a:latin typeface="Arial"/>
                  </a:rPr>
                  <a:t> and </a:t>
                </a:r>
                <a:r>
                  <a:rPr lang="en-IN" sz="2400">
                    <a:solidFill>
                      <a:srgbClr val="111827"/>
                    </a:solidFill>
                    <a:latin typeface="Cambria Math" panose="02040503050406030204" pitchFamily="18" charset="0"/>
                  </a:rPr>
                  <a:t>$f(3)=1$</a:t>
                </a:r>
                <a:r>
                  <a:rPr sz="2400" b="0">
                    <a:solidFill>
                      <a:srgbClr val="111827"/>
                    </a:solidFill>
                    <a:latin typeface="Arial"/>
                  </a:rPr>
                  <a:t>. Show that </a:t>
                </a:r>
                <a:r>
                  <a:rPr lang="en-IN" sz="2400">
                    <a:solidFill>
                      <a:srgbClr val="111827"/>
                    </a:solidFill>
                    <a:latin typeface="Cambria Math" panose="02040503050406030204" pitchFamily="18" charset="0"/>
                  </a:rPr>
                  <a:t>$f'(x)=0$</a:t>
                </a:r>
                <a:r>
                  <a:rPr sz="2400" b="0">
                    <a:solidFill>
                      <a:srgbClr val="111827"/>
                    </a:solidFill>
                    <a:latin typeface="Arial"/>
                  </a:rPr>
                  <a:t> for some </a:t>
                </a:r>
                <a:r>
                  <a:rPr lang="en-IN" sz="2400">
                    <a:solidFill>
                      <a:srgbClr val="111827"/>
                    </a:solidFill>
                    <a:latin typeface="Cambria Math" panose="02040503050406030204" pitchFamily="18" charset="0"/>
                  </a:rPr>
                  <a:t>$x$</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Rolle's theorem and intermediate value theorem</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Use the intermediate value theorem to find a point </a:t>
                </a:r>
                <a14:m>
                  <m:oMath xmlns:m="http://schemas.openxmlformats.org/officeDocument/2006/math">
                    <m:r>
                      <a:rPr lang="en-IN" sz="2400" i="1">
                        <a:solidFill>
                          <a:srgbClr val="78350F"/>
                        </a:solidFill>
                        <a:latin typeface="Cambria Math" panose="02040503050406030204" pitchFamily="18" charset="0"/>
                      </a:rPr>
                      <m:t>𝑐</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then apply Rolle's theorem on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Use the intermediate value theorem to find a point </a:t>
                </a:r>
                <a:r>
                  <a:rPr lang="en-IN" sz="2400">
                    <a:solidFill>
                      <a:srgbClr val="78350F"/>
                    </a:solidFill>
                    <a:latin typeface="Cambria Math" panose="02040503050406030204" pitchFamily="18" charset="0"/>
                  </a:rPr>
                  <a:t>$c$</a:t>
                </a:r>
                <a:r>
                  <a:rPr sz="2400" b="0">
                    <a:solidFill>
                      <a:srgbClr val="78350F"/>
                    </a:solidFill>
                    <a:latin typeface="Arial"/>
                  </a:rPr>
                  <a:t> with </a:t>
                </a:r>
                <a:r>
                  <a:rPr lang="en-IN" sz="2400">
                    <a:solidFill>
                      <a:srgbClr val="78350F"/>
                    </a:solidFill>
                    <a:latin typeface="Cambria Math" panose="02040503050406030204" pitchFamily="18" charset="0"/>
                  </a:rPr>
                  <a:t>$f(c)=f(1)$</a:t>
                </a:r>
                <a:r>
                  <a:rPr sz="2400" b="0">
                    <a:solidFill>
                      <a:srgbClr val="78350F"/>
                    </a:solidFill>
                    <a:latin typeface="Arial"/>
                  </a:rPr>
                  <a:t>, then apply Rolle's theorem on </a:t>
                </a:r>
                <a:r>
                  <a:rPr lang="en-IN" sz="2400">
                    <a:solidFill>
                      <a:srgbClr val="78350F"/>
                    </a:solidFill>
                    <a:latin typeface="Cambria Math" panose="02040503050406030204" pitchFamily="18" charset="0"/>
                  </a:rPr>
                  <a:t>$[1,c]$</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differentiable, it is continuous.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by the intermediate value theorem there is a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Now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continuous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differentiable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Rolle's theorem there is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$f$</a:t>
                </a:r>
                <a:r>
                  <a:rPr sz="2400" b="0">
                    <a:solidFill>
                      <a:srgbClr val="111827"/>
                    </a:solidFill>
                    <a:latin typeface="Arial"/>
                  </a:rPr>
                  <a:t> is differentiable, it is continuous.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$f(2)=3&gt;2&gt;1=f(3)$</a:t>
                </a:r>
                <a:r>
                  <a:rPr sz="2400" b="0">
                    <a:solidFill>
                      <a:srgbClr val="111827"/>
                    </a:solidFill>
                    <a:latin typeface="Arial"/>
                  </a:rPr>
                  <a:t>, so by the intermediate value theorem there is a </a:t>
                </a:r>
                <a:r>
                  <a:rPr lang="en-IN" sz="2400">
                    <a:solidFill>
                      <a:srgbClr val="111827"/>
                    </a:solidFill>
                    <a:latin typeface="Cambria Math" panose="02040503050406030204" pitchFamily="18" charset="0"/>
                  </a:rPr>
                  <a:t>$c\in(2,3)$</a:t>
                </a:r>
                <a:r>
                  <a:rPr sz="2400" b="0">
                    <a:solidFill>
                      <a:srgbClr val="111827"/>
                    </a:solidFill>
                    <a:latin typeface="Arial"/>
                  </a:rPr>
                  <a:t> with </a:t>
                </a:r>
                <a:r>
                  <a:rPr lang="en-IN" sz="2400">
                    <a:solidFill>
                      <a:srgbClr val="111827"/>
                    </a:solidFill>
                    <a:latin typeface="Cambria Math" panose="02040503050406030204" pitchFamily="18" charset="0"/>
                  </a:rPr>
                  <a:t>$f(c)=2=f(1)$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Now </a:t>
                </a:r>
                <a:r>
                  <a:rPr lang="en-IN" sz="2400">
                    <a:solidFill>
                      <a:srgbClr val="111827"/>
                    </a:solidFill>
                    <a:latin typeface="Cambria Math" panose="02040503050406030204" pitchFamily="18" charset="0"/>
                  </a:rPr>
                  <a:t>$f$</a:t>
                </a:r>
                <a:r>
                  <a:rPr sz="2400" b="0">
                    <a:solidFill>
                      <a:srgbClr val="111827"/>
                    </a:solidFill>
                    <a:latin typeface="Arial"/>
                  </a:rPr>
                  <a:t> is continuous on </a:t>
                </a:r>
                <a:r>
                  <a:rPr lang="en-IN" sz="2400">
                    <a:solidFill>
                      <a:srgbClr val="111827"/>
                    </a:solidFill>
                    <a:latin typeface="Cambria Math" panose="02040503050406030204" pitchFamily="18" charset="0"/>
                  </a:rPr>
                  <a:t>$[1,c]$</a:t>
                </a:r>
                <a:r>
                  <a:rPr sz="2400" b="0">
                    <a:solidFill>
                      <a:srgbClr val="111827"/>
                    </a:solidFill>
                    <a:latin typeface="Arial"/>
                  </a:rPr>
                  <a:t>, differentiable on </a:t>
                </a:r>
                <a:r>
                  <a:rPr lang="en-IN" sz="2400">
                    <a:solidFill>
                      <a:srgbClr val="111827"/>
                    </a:solidFill>
                    <a:latin typeface="Cambria Math" panose="02040503050406030204" pitchFamily="18" charset="0"/>
                  </a:rPr>
                  <a:t>$(1,c)$</a:t>
                </a:r>
                <a:r>
                  <a:rPr sz="2400" b="0">
                    <a:solidFill>
                      <a:srgbClr val="111827"/>
                    </a:solidFill>
                    <a:latin typeface="Arial"/>
                  </a:rPr>
                  <a:t> and </a:t>
                </a:r>
                <a:r>
                  <a:rPr lang="en-IN" sz="2400">
                    <a:solidFill>
                      <a:srgbClr val="111827"/>
                    </a:solidFill>
                    <a:latin typeface="Cambria Math" panose="02040503050406030204" pitchFamily="18" charset="0"/>
                  </a:rPr>
                  <a:t>$f(1)=f(c)$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Rolle's theorem there is </a:t>
                </a:r>
                <a:r>
                  <a:rPr lang="en-IN" sz="2400">
                    <a:solidFill>
                      <a:srgbClr val="111827"/>
                    </a:solidFill>
                    <a:latin typeface="Cambria Math" panose="02040503050406030204" pitchFamily="18" charset="0"/>
                  </a:rPr>
                  <a:t>$x\in(1,c)\subset(1,3)$</a:t>
                </a:r>
                <a:r>
                  <a:rPr sz="2400" b="0">
                    <a:solidFill>
                      <a:srgbClr val="111827"/>
                    </a:solidFill>
                    <a:latin typeface="Arial"/>
                  </a:rPr>
                  <a:t> with </a:t>
                </a:r>
                <a:r>
                  <a:rPr lang="en-IN" sz="2400">
                    <a:solidFill>
                      <a:srgbClr val="111827"/>
                    </a:solidFill>
                    <a:latin typeface="Cambria Math" panose="02040503050406030204" pitchFamily="18" charset="0"/>
                  </a:rPr>
                  <a:t>$f'(x)=0$</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Proved: </a:t>
                </a:r>
                <a14:m>
                  <m:oMath xmlns:m="http://schemas.openxmlformats.org/officeDocument/2006/math">
                    <m:sSup>
                      <m:e>
                        <m:r>
                          <a:rPr lang="en-IN" sz="2800" i="1">
                            <a:solidFill>
                              <a:srgbClr val="15803D"/>
                            </a:solidFill>
                            <a:latin typeface="Cambria Math" panose="02040503050406030204" pitchFamily="18" charset="0"/>
                          </a:rPr>
                          <m:t>𝑓</m:t>
                        </m:r>
                      </m:e>
                      <m:sup>
                        <m:r>
                          <m:rPr>
                            <m:sty m:val="p"/>
                          </m:rPr>
                          <a:rPr lang="en-IN" sz="2800">
                            <a:solidFill>
                              <a:srgbClr val="15803D"/>
                            </a:solidFill>
                            <a:latin typeface="Cambria Math" panose="02040503050406030204" pitchFamily="18" charset="0"/>
                          </a:rPr>
                          <m:t>′</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0</m:t>
                    </m:r>
                  </m:oMath>
                </a14:m>
                <a:r>
                  <a:rPr sz="2800" b="1">
                    <a:solidFill>
                      <a:srgbClr val="15803D"/>
                    </a:solidFill>
                    <a:latin typeface="Arial"/>
                  </a:rPr>
                  <a:t> for some </a:t>
                </a:r>
                <a14:m>
                  <m:oMath xmlns:m="http://schemas.openxmlformats.org/officeDocument/2006/math">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r>
                      <m:rPr>
                        <m:sty m:val="p"/>
                      </m:rPr>
                      <a:rPr lang="en-IN" sz="2800">
                        <a:solidFill>
                          <a:srgbClr val="15803D"/>
                        </a:solidFill>
                        <a:latin typeface="Cambria Math" panose="02040503050406030204" pitchFamily="18" charset="0"/>
                      </a:rPr>
                      <m:t>)</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Proved: </a:t>
                </a:r>
                <a:r>
                  <a:rPr lang="en-IN" sz="2800">
                    <a:solidFill>
                      <a:srgbClr val="15803D"/>
                    </a:solidFill>
                    <a:latin typeface="Cambria Math" panose="02040503050406030204" pitchFamily="18" charset="0"/>
                  </a:rPr>
                  <a:t>$f'(x)=0$</a:t>
                </a:r>
                <a:r>
                  <a:rPr sz="2800" b="1">
                    <a:solidFill>
                      <a:srgbClr val="15803D"/>
                    </a:solidFill>
                    <a:latin typeface="Arial"/>
                  </a:rPr>
                  <a:t> for some </a:t>
                </a:r>
                <a:r>
                  <a:rPr lang="en-IN" sz="2800">
                    <a:solidFill>
                      <a:srgbClr val="15803D"/>
                    </a:solidFill>
                    <a:latin typeface="Cambria Math" panose="02040503050406030204" pitchFamily="18" charset="0"/>
                  </a:rPr>
                  <a:t>$x\in(1,3)$</a:t>
                </a:r>
                <a:endParaRPr sz="2800">
                  <a:solidFill>
                    <a:srgbClr val="15803D"/>
                  </a:solidFill>
                </a:endParaRPr>
              </a:p>
            </p:txBody>
          </p:sp>
        </mc:Fallback>
      </mc:AlternateContent>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 1</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continuous function </a:t>
                </a:r>
                <a14:m>
                  <m:oMath xmlns:m="http://schemas.openxmlformats.org/officeDocument/2006/math">
                    <m:r>
                      <a:rPr lang="en-IN" sz="2400" i="1">
                        <a:solidFill>
                          <a:srgbClr val="78350F"/>
                        </a:solidFill>
                        <a:latin typeface="Cambria Math" panose="02040503050406030204" pitchFamily="18" charset="0"/>
                      </a:rPr>
                      <m:t>𝑓</m:t>
                    </m:r>
                  </m:oMath>
                </a14:m>
                <a:r>
                  <a:rPr sz="2400" b="0">
                    <a:solidFill>
                      <a:srgbClr val="78350F"/>
                    </a:solidFill>
                    <a:latin typeface="Arial"/>
                  </a:rPr>
                  <a:t> attains its maximum on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it cannot be at an end point, so it is interior and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there (Fermat).</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continuous function </a:t>
                </a:r>
                <a:r>
                  <a:rPr lang="en-IN" sz="2400">
                    <a:solidFill>
                      <a:srgbClr val="78350F"/>
                    </a:solidFill>
                    <a:latin typeface="Cambria Math" panose="02040503050406030204" pitchFamily="18" charset="0"/>
                  </a:rPr>
                  <a:t>$f$</a:t>
                </a:r>
                <a:r>
                  <a:rPr sz="2400" b="0">
                    <a:solidFill>
                      <a:srgbClr val="78350F"/>
                    </a:solidFill>
                    <a:latin typeface="Arial"/>
                  </a:rPr>
                  <a:t> attains its maximum on </a:t>
                </a:r>
                <a:r>
                  <a:rPr lang="en-IN" sz="2400">
                    <a:solidFill>
                      <a:srgbClr val="78350F"/>
                    </a:solidFill>
                    <a:latin typeface="Cambria Math" panose="02040503050406030204" pitchFamily="18" charset="0"/>
                  </a:rPr>
                  <a:t>$[1,3]$</a:t>
                </a:r>
                <a:r>
                  <a:rPr sz="2400" b="0">
                    <a:solidFill>
                      <a:srgbClr val="78350F"/>
                    </a:solidFill>
                    <a:latin typeface="Arial"/>
                  </a:rPr>
                  <a:t>; it cannot be at an end point, so it is interior and </a:t>
                </a:r>
                <a:r>
                  <a:rPr lang="en-IN" sz="2400">
                    <a:solidFill>
                      <a:srgbClr val="78350F"/>
                    </a:solidFill>
                    <a:latin typeface="Cambria Math" panose="02040503050406030204" pitchFamily="18" charset="0"/>
                  </a:rPr>
                  <a:t>$f'=0$</a:t>
                </a:r>
                <a:r>
                  <a:rPr sz="2400" b="0">
                    <a:solidFill>
                      <a:srgbClr val="78350F"/>
                    </a:solidFill>
                    <a:latin typeface="Arial"/>
                  </a:rPr>
                  <a:t> there (Fermat).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continuous on the closed interval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it attains an absolute maximum there.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maximum cannot be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cannot be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a:t>
                </a:r>
                <a:r>
                  <a:rPr sz="2400" b="0">
                    <a:solidFill>
                      <a:srgbClr val="111827"/>
                    </a:solidFill>
                    <a:latin typeface="Arial"/>
                  </a:rPr>
                  <a:t> is continuous on the closed interval </a:t>
                </a:r>
                <a:r>
                  <a:rPr lang="en-IN" sz="2400">
                    <a:solidFill>
                      <a:srgbClr val="111827"/>
                    </a:solidFill>
                    <a:latin typeface="Cambria Math" panose="02040503050406030204" pitchFamily="18" charset="0"/>
                  </a:rPr>
                  <a:t>$[1,3]$</a:t>
                </a:r>
                <a:r>
                  <a:rPr sz="2400" b="0">
                    <a:solidFill>
                      <a:srgbClr val="111827"/>
                    </a:solidFill>
                    <a:latin typeface="Arial"/>
                  </a:rPr>
                  <a:t>, so it attains an absolute maximum there.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maximum cannot be at </a:t>
                </a:r>
                <a:r>
                  <a:rPr lang="en-IN" sz="2400">
                    <a:solidFill>
                      <a:srgbClr val="111827"/>
                    </a:solidFill>
                    <a:latin typeface="Cambria Math" panose="02040503050406030204" pitchFamily="18" charset="0"/>
                  </a:rPr>
                  <a:t>$x=1$</a:t>
                </a:r>
                <a:r>
                  <a:rPr sz="2400" b="0">
                    <a:solidFill>
                      <a:srgbClr val="111827"/>
                    </a:solidFill>
                    <a:latin typeface="Arial"/>
                  </a:rPr>
                  <a:t> since </a:t>
                </a:r>
                <a:r>
                  <a:rPr lang="en-IN" sz="2400">
                    <a:solidFill>
                      <a:srgbClr val="111827"/>
                    </a:solidFill>
                    <a:latin typeface="Cambria Math" panose="02040503050406030204" pitchFamily="18" charset="0"/>
                  </a:rPr>
                  <a:t>$f(2)=3&gt;f(1)=2$</a:t>
                </a:r>
                <a:r>
                  <a:rPr sz="2400" b="0">
                    <a:solidFill>
                      <a:srgbClr val="111827"/>
                    </a:solidFill>
                    <a:latin typeface="Arial"/>
                  </a:rPr>
                  <a:t>, and cannot be at </a:t>
                </a:r>
                <a:r>
                  <a:rPr lang="en-IN" sz="2400">
                    <a:solidFill>
                      <a:srgbClr val="111827"/>
                    </a:solidFill>
                    <a:latin typeface="Cambria Math" panose="02040503050406030204" pitchFamily="18" charset="0"/>
                  </a:rPr>
                  <a:t>$x=3$</a:t>
                </a:r>
                <a:r>
                  <a:rPr sz="2400" b="0">
                    <a:solidFill>
                      <a:srgbClr val="111827"/>
                    </a:solidFill>
                    <a:latin typeface="Arial"/>
                  </a:rPr>
                  <a:t> since </a:t>
                </a:r>
                <a:r>
                  <a:rPr lang="en-IN" sz="2400">
                    <a:solidFill>
                      <a:srgbClr val="111827"/>
                    </a:solidFill>
                    <a:latin typeface="Cambria Math" panose="02040503050406030204" pitchFamily="18" charset="0"/>
                  </a:rPr>
                  <a:t>$f(2)=3&gt;f(3)=1$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 1</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the maximum is attained at an interior point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differentiable at this interior maximum, so by Fermat's theorem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the maximum is attained at an interior point </a:t>
                </a:r>
                <a:r>
                  <a:rPr lang="en-IN" sz="2400">
                    <a:solidFill>
                      <a:srgbClr val="111827"/>
                    </a:solidFill>
                    <a:latin typeface="Cambria Math" panose="02040503050406030204" pitchFamily="18" charset="0"/>
                  </a:rPr>
                  <a:t>$x\in(1,3)$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a:t>
                </a:r>
                <a:r>
                  <a:rPr sz="2400" b="0">
                    <a:solidFill>
                      <a:srgbClr val="111827"/>
                    </a:solidFill>
                    <a:latin typeface="Arial"/>
                  </a:rPr>
                  <a:t> is differentiable at this interior maximum, so by Fermat's theorem </a:t>
                </a:r>
                <a:r>
                  <a:rPr lang="en-IN" sz="2400">
                    <a:solidFill>
                      <a:srgbClr val="111827"/>
                    </a:solidFill>
                    <a:latin typeface="Cambria Math" panose="02040503050406030204" pitchFamily="18" charset="0"/>
                  </a:rPr>
                  <a:t>$f'(x)=0$</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Proved: </a:t>
                </a:r>
                <a14:m>
                  <m:oMath xmlns:m="http://schemas.openxmlformats.org/officeDocument/2006/math">
                    <m:sSup>
                      <m:e>
                        <m:r>
                          <a:rPr lang="en-IN" sz="2800" i="1">
                            <a:solidFill>
                              <a:srgbClr val="15803D"/>
                            </a:solidFill>
                            <a:latin typeface="Cambria Math" panose="02040503050406030204" pitchFamily="18" charset="0"/>
                          </a:rPr>
                          <m:t>𝑓</m:t>
                        </m:r>
                      </m:e>
                      <m:sup>
                        <m:r>
                          <m:rPr>
                            <m:sty m:val="p"/>
                          </m:rPr>
                          <a:rPr lang="en-IN" sz="2800">
                            <a:solidFill>
                              <a:srgbClr val="15803D"/>
                            </a:solidFill>
                            <a:latin typeface="Cambria Math" panose="02040503050406030204" pitchFamily="18" charset="0"/>
                          </a:rPr>
                          <m:t>′</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0</m:t>
                    </m:r>
                  </m:oMath>
                </a14:m>
                <a:r>
                  <a:rPr sz="2800" b="1">
                    <a:solidFill>
                      <a:srgbClr val="15803D"/>
                    </a:solidFill>
                    <a:latin typeface="Arial"/>
                  </a:rPr>
                  <a:t> for some </a:t>
                </a:r>
                <a14:m>
                  <m:oMath xmlns:m="http://schemas.openxmlformats.org/officeDocument/2006/math">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r>
                      <m:rPr>
                        <m:sty m:val="p"/>
                      </m:rPr>
                      <a:rPr lang="en-IN" sz="2800">
                        <a:solidFill>
                          <a:srgbClr val="15803D"/>
                        </a:solidFill>
                        <a:latin typeface="Cambria Math" panose="02040503050406030204" pitchFamily="18" charset="0"/>
                      </a:rPr>
                      <m:t>)</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Proved: </a:t>
                </a:r>
                <a:r>
                  <a:rPr lang="en-IN" sz="2800">
                    <a:solidFill>
                      <a:srgbClr val="15803D"/>
                    </a:solidFill>
                    <a:latin typeface="Cambria Math" panose="02040503050406030204" pitchFamily="18" charset="0"/>
                  </a:rPr>
                  <a:t>$f'(x)=0$</a:t>
                </a:r>
                <a:r>
                  <a:rPr sz="2800" b="1">
                    <a:solidFill>
                      <a:srgbClr val="15803D"/>
                    </a:solidFill>
                    <a:latin typeface="Arial"/>
                  </a:rPr>
                  <a:t> for some </a:t>
                </a:r>
                <a:r>
                  <a:rPr lang="en-IN" sz="2800">
                    <a:solidFill>
                      <a:srgbClr val="15803D"/>
                    </a:solidFill>
                    <a:latin typeface="Cambria Math" panose="02040503050406030204" pitchFamily="18" charset="0"/>
                  </a:rPr>
                  <a:t>$x\in(1,3)$</a:t>
                </a:r>
                <a:endParaRPr sz="2800">
                  <a:solidFill>
                    <a:srgbClr val="15803D"/>
                  </a:solidFill>
                </a:endParaRPr>
              </a:p>
            </p:txBody>
          </p:sp>
        </mc:Fallback>
      </mc:AlternateContent>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 2</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Mean value theorem gives a positive and a negative value of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Darboux's theorem then gives a zero in between.</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Mean value theorem gives a positive and a negative value of </a:t>
                </a:r>
                <a:r>
                  <a:rPr lang="en-IN" sz="2400">
                    <a:solidFill>
                      <a:srgbClr val="78350F"/>
                    </a:solidFill>
                    <a:latin typeface="Cambria Math" panose="02040503050406030204" pitchFamily="18" charset="0"/>
                  </a:rPr>
                  <a:t>$f'$</a:t>
                </a:r>
                <a:r>
                  <a:rPr sz="2400" b="0">
                    <a:solidFill>
                      <a:srgbClr val="78350F"/>
                    </a:solidFill>
                    <a:latin typeface="Arial"/>
                  </a:rPr>
                  <a:t>; Darboux's theorem then gives a zero in between.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the mean value theorem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for some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for some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the mean value theorem on </a:t>
                </a:r>
                <a:r>
                  <a:rPr lang="en-IN" sz="2400">
                    <a:solidFill>
                      <a:srgbClr val="111827"/>
                    </a:solidFill>
                    <a:latin typeface="Cambria Math" panose="02040503050406030204" pitchFamily="18" charset="0"/>
                  </a:rPr>
                  <a:t>$[1,2]$</a:t>
                </a:r>
                <a:r>
                  <a:rPr sz="2400" b="0">
                    <a:solidFill>
                      <a:srgbClr val="111827"/>
                    </a:solidFill>
                    <a:latin typeface="Arial"/>
                  </a:rPr>
                  <a:t>: </a:t>
                </a:r>
                <a:r>
                  <a:rPr lang="en-IN" sz="2400">
                    <a:solidFill>
                      <a:srgbClr val="111827"/>
                    </a:solidFill>
                    <a:latin typeface="Cambria Math" panose="02040503050406030204" pitchFamily="18" charset="0"/>
                  </a:rPr>
                  <a:t>$f'(y)=\frac{3-2}{2-1}=1&gt;0$</a:t>
                </a:r>
                <a:r>
                  <a:rPr sz="2400" b="0">
                    <a:solidFill>
                      <a:srgbClr val="111827"/>
                    </a:solidFill>
                    <a:latin typeface="Arial"/>
                  </a:rPr>
                  <a:t> for some </a:t>
                </a:r>
                <a:r>
                  <a:rPr lang="en-IN" sz="2400">
                    <a:solidFill>
                      <a:srgbClr val="111827"/>
                    </a:solidFill>
                    <a:latin typeface="Cambria Math" panose="02040503050406030204" pitchFamily="18" charset="0"/>
                  </a:rPr>
                  <a:t>$y\in(1,2)$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 </a:t>
                </a:r>
                <a:r>
                  <a:rPr lang="en-IN" sz="2400">
                    <a:solidFill>
                      <a:srgbClr val="111827"/>
                    </a:solidFill>
                    <a:latin typeface="Cambria Math" panose="02040503050406030204" pitchFamily="18" charset="0"/>
                  </a:rPr>
                  <a:t>$[2,3]$</a:t>
                </a:r>
                <a:r>
                  <a:rPr sz="2400" b="0">
                    <a:solidFill>
                      <a:srgbClr val="111827"/>
                    </a:solidFill>
                    <a:latin typeface="Arial"/>
                  </a:rPr>
                  <a:t>: </a:t>
                </a:r>
                <a:r>
                  <a:rPr lang="en-IN" sz="2400">
                    <a:solidFill>
                      <a:srgbClr val="111827"/>
                    </a:solidFill>
                    <a:latin typeface="Cambria Math" panose="02040503050406030204" pitchFamily="18" charset="0"/>
                  </a:rPr>
                  <a:t>$f'(z)=\frac{1-3}{3-2}=-2&lt;0$</a:t>
                </a:r>
                <a:r>
                  <a:rPr sz="2400" b="0">
                    <a:solidFill>
                      <a:srgbClr val="111827"/>
                    </a:solidFill>
                    <a:latin typeface="Arial"/>
                  </a:rPr>
                  <a:t> for some </a:t>
                </a:r>
                <a:r>
                  <a:rPr lang="en-IN" sz="2400">
                    <a:solidFill>
                      <a:srgbClr val="111827"/>
                    </a:solidFill>
                    <a:latin typeface="Cambria Math" panose="02040503050406030204" pitchFamily="18" charset="0"/>
                  </a:rPr>
                  <a:t>$z\in(2,3)$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 2</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derivative has the intermediate value property (Darboux's theorem), even if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not continuous; this must be said, because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need not be continuous.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some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between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𝑧</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derivative has the intermediate value property (Darboux's theorem), even if </a:t>
                </a:r>
                <a:r>
                  <a:rPr lang="en-IN" sz="2400">
                    <a:solidFill>
                      <a:srgbClr val="111827"/>
                    </a:solidFill>
                    <a:latin typeface="Cambria Math" panose="02040503050406030204" pitchFamily="18" charset="0"/>
                  </a:rPr>
                  <a:t>$f'$</a:t>
                </a:r>
                <a:r>
                  <a:rPr sz="2400" b="0">
                    <a:solidFill>
                      <a:srgbClr val="111827"/>
                    </a:solidFill>
                    <a:latin typeface="Arial"/>
                  </a:rPr>
                  <a:t> is not continuous; this must be said, because </a:t>
                </a:r>
                <a:r>
                  <a:rPr lang="en-IN" sz="2400">
                    <a:solidFill>
                      <a:srgbClr val="111827"/>
                    </a:solidFill>
                    <a:latin typeface="Cambria Math" panose="02040503050406030204" pitchFamily="18" charset="0"/>
                  </a:rPr>
                  <a:t>$f'$</a:t>
                </a:r>
                <a:r>
                  <a:rPr sz="2400" b="0">
                    <a:solidFill>
                      <a:srgbClr val="111827"/>
                    </a:solidFill>
                    <a:latin typeface="Arial"/>
                  </a:rPr>
                  <a:t> need not be continuous.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$f'(x)=0$</a:t>
                </a:r>
                <a:r>
                  <a:rPr sz="2400" b="0">
                    <a:solidFill>
                      <a:srgbClr val="111827"/>
                    </a:solidFill>
                    <a:latin typeface="Arial"/>
                  </a:rPr>
                  <a:t> for some </a:t>
                </a:r>
                <a:r>
                  <a:rPr lang="en-IN" sz="2400">
                    <a:solidFill>
                      <a:srgbClr val="111827"/>
                    </a:solidFill>
                    <a:latin typeface="Cambria Math" panose="02040503050406030204" pitchFamily="18" charset="0"/>
                  </a:rPr>
                  <a:t>$x$</a:t>
                </a:r>
                <a:r>
                  <a:rPr sz="2400" b="0">
                    <a:solidFill>
                      <a:srgbClr val="111827"/>
                    </a:solidFill>
                    <a:latin typeface="Arial"/>
                  </a:rPr>
                  <a:t> between </a:t>
                </a:r>
                <a:r>
                  <a:rPr lang="en-IN" sz="2400">
                    <a:solidFill>
                      <a:srgbClr val="111827"/>
                    </a:solidFill>
                    <a:latin typeface="Cambria Math" panose="02040503050406030204" pitchFamily="18" charset="0"/>
                  </a:rPr>
                  <a:t>$y$</a:t>
                </a:r>
                <a:r>
                  <a:rPr sz="2400" b="0">
                    <a:solidFill>
                      <a:srgbClr val="111827"/>
                    </a:solidFill>
                    <a:latin typeface="Arial"/>
                  </a:rPr>
                  <a:t> and </a:t>
                </a:r>
                <a:r>
                  <a:rPr lang="en-IN" sz="2400">
                    <a:solidFill>
                      <a:srgbClr val="111827"/>
                    </a:solidFill>
                    <a:latin typeface="Cambria Math" panose="02040503050406030204" pitchFamily="18" charset="0"/>
                  </a:rPr>
                  <a:t>$z$</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Proved: </a:t>
                </a:r>
                <a14:m>
                  <m:oMath xmlns:m="http://schemas.openxmlformats.org/officeDocument/2006/math">
                    <m:sSup>
                      <m:e>
                        <m:r>
                          <a:rPr lang="en-IN" sz="2800" i="1">
                            <a:solidFill>
                              <a:srgbClr val="15803D"/>
                            </a:solidFill>
                            <a:latin typeface="Cambria Math" panose="02040503050406030204" pitchFamily="18" charset="0"/>
                          </a:rPr>
                          <m:t>𝑓</m:t>
                        </m:r>
                      </m:e>
                      <m:sup>
                        <m:r>
                          <m:rPr>
                            <m:sty m:val="p"/>
                          </m:rPr>
                          <a:rPr lang="en-IN" sz="2800">
                            <a:solidFill>
                              <a:srgbClr val="15803D"/>
                            </a:solidFill>
                            <a:latin typeface="Cambria Math" panose="02040503050406030204" pitchFamily="18" charset="0"/>
                          </a:rPr>
                          <m:t>′</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0</m:t>
                    </m:r>
                  </m:oMath>
                </a14:m>
                <a:r>
                  <a:rPr sz="2800" b="1">
                    <a:solidFill>
                      <a:srgbClr val="15803D"/>
                    </a:solidFill>
                    <a:latin typeface="Arial"/>
                  </a:rPr>
                  <a:t> for some </a:t>
                </a:r>
                <a14:m>
                  <m:oMath xmlns:m="http://schemas.openxmlformats.org/officeDocument/2006/math">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r>
                      <m:rPr>
                        <m:sty m:val="p"/>
                      </m:rPr>
                      <a:rPr lang="en-IN" sz="2800">
                        <a:solidFill>
                          <a:srgbClr val="15803D"/>
                        </a:solidFill>
                        <a:latin typeface="Cambria Math" panose="02040503050406030204" pitchFamily="18" charset="0"/>
                      </a:rPr>
                      <m:t>)</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Proved: </a:t>
                </a:r>
                <a:r>
                  <a:rPr lang="en-IN" sz="2800">
                    <a:solidFill>
                      <a:srgbClr val="15803D"/>
                    </a:solidFill>
                    <a:latin typeface="Cambria Math" panose="02040503050406030204" pitchFamily="18" charset="0"/>
                  </a:rPr>
                  <a:t>$f'(x)=0$</a:t>
                </a:r>
                <a:r>
                  <a:rPr sz="2800" b="1">
                    <a:solidFill>
                      <a:srgbClr val="15803D"/>
                    </a:solidFill>
                    <a:latin typeface="Arial"/>
                  </a:rPr>
                  <a:t> for some </a:t>
                </a:r>
                <a:r>
                  <a:rPr lang="en-IN" sz="2800">
                    <a:solidFill>
                      <a:srgbClr val="15803D"/>
                    </a:solidFill>
                    <a:latin typeface="Cambria Math" panose="02040503050406030204" pitchFamily="18" charset="0"/>
                  </a:rPr>
                  <a:t>$x\in(1,3)$</a:t>
                </a:r>
                <a:endParaRPr sz="2800">
                  <a:solidFill>
                    <a:srgbClr val="15803D"/>
                  </a:solidFill>
                </a:endParaRPr>
              </a:p>
            </p:txBody>
          </p:sp>
        </mc:Fallback>
      </mc:AlternateContent>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Rolle's theorem: </a:t>
                </a:r>
                <a14:m>
                  <m:oMath xmlns:m="http://schemas.openxmlformats.org/officeDocument/2006/math">
                    <m:r>
                      <a:rPr lang="en-IN" sz="2400" i="1">
                        <a:solidFill>
                          <a:srgbClr val="111827"/>
                        </a:solidFill>
                        <a:latin typeface="Cambria Math" panose="02040503050406030204" pitchFamily="18" charset="0"/>
                      </a:rPr>
                      <m:t>φ</m:t>
                    </m:r>
                  </m:oMath>
                </a14:m>
                <a:r>
                  <a:rPr sz="2400" b="0">
                    <a:solidFill>
                      <a:srgbClr val="111827"/>
                    </a:solidFill>
                    <a:latin typeface="Arial"/>
                  </a:rPr>
                  <a:t> continuous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differentiable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imply </a:t>
                </a:r>
                <a14:m>
                  <m:oMath xmlns:m="http://schemas.openxmlformats.org/officeDocument/2006/math">
                    <m:sSup>
                      <m:e>
                        <m:r>
                          <a:rPr lang="en-IN" sz="2400" i="1">
                            <a:solidFill>
                              <a:srgbClr val="111827"/>
                            </a:solidFill>
                            <a:latin typeface="Cambria Math" panose="02040503050406030204" pitchFamily="18" charset="0"/>
                          </a:rPr>
                          <m:t>φ</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some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Fermat: at an interior local maximum or minimum of a differentiable function the derivative is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Darboux: a derivative has the intermediate value property even when it is not continuous, so a derivative that takes a positive and a negative value must vanish between them.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Recognition cue: if a differentiable function goes up and then down (or takes the same value twice), look for a critical point between.</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Rolle's theorem: </a:t>
                </a:r>
                <a:r>
                  <a:rPr lang="en-IN" sz="2400">
                    <a:solidFill>
                      <a:srgbClr val="111827"/>
                    </a:solidFill>
                    <a:latin typeface="Cambria Math" panose="02040503050406030204" pitchFamily="18" charset="0"/>
                  </a:rPr>
                  <a:t>$\varphi$</a:t>
                </a:r>
                <a:r>
                  <a:rPr sz="2400" b="0">
                    <a:solidFill>
                      <a:srgbClr val="111827"/>
                    </a:solidFill>
                    <a:latin typeface="Arial"/>
                  </a:rPr>
                  <a:t> continuous on </a:t>
                </a:r>
                <a:r>
                  <a:rPr lang="en-IN" sz="2400">
                    <a:solidFill>
                      <a:srgbClr val="111827"/>
                    </a:solidFill>
                    <a:latin typeface="Cambria Math" panose="02040503050406030204" pitchFamily="18" charset="0"/>
                  </a:rPr>
                  <a:t>$[a,b]$</a:t>
                </a:r>
                <a:r>
                  <a:rPr sz="2400" b="0">
                    <a:solidFill>
                      <a:srgbClr val="111827"/>
                    </a:solidFill>
                    <a:latin typeface="Arial"/>
                  </a:rPr>
                  <a:t>, differentiable on </a:t>
                </a:r>
                <a:r>
                  <a:rPr lang="en-IN" sz="2400">
                    <a:solidFill>
                      <a:srgbClr val="111827"/>
                    </a:solidFill>
                    <a:latin typeface="Cambria Math" panose="02040503050406030204" pitchFamily="18" charset="0"/>
                  </a:rPr>
                  <a:t>$(a,b)$</a:t>
                </a:r>
                <a:r>
                  <a:rPr sz="2400" b="0">
                    <a:solidFill>
                      <a:srgbClr val="111827"/>
                    </a:solidFill>
                    <a:latin typeface="Arial"/>
                  </a:rPr>
                  <a:t> and </a:t>
                </a:r>
                <a:r>
                  <a:rPr lang="en-IN" sz="2400">
                    <a:solidFill>
                      <a:srgbClr val="111827"/>
                    </a:solidFill>
                    <a:latin typeface="Cambria Math" panose="02040503050406030204" pitchFamily="18" charset="0"/>
                  </a:rPr>
                  <a:t>$\varphi(a)=\varphi(b)$</a:t>
                </a:r>
                <a:r>
                  <a:rPr sz="2400" b="0">
                    <a:solidFill>
                      <a:srgbClr val="111827"/>
                    </a:solidFill>
                    <a:latin typeface="Arial"/>
                  </a:rPr>
                  <a:t> imply </a:t>
                </a:r>
                <a:r>
                  <a:rPr lang="en-IN" sz="2400">
                    <a:solidFill>
                      <a:srgbClr val="111827"/>
                    </a:solidFill>
                    <a:latin typeface="Cambria Math" panose="02040503050406030204" pitchFamily="18" charset="0"/>
                  </a:rPr>
                  <a:t>$\varphi'(c)=0$</a:t>
                </a:r>
                <a:r>
                  <a:rPr sz="2400" b="0">
                    <a:solidFill>
                      <a:srgbClr val="111827"/>
                    </a:solidFill>
                    <a:latin typeface="Arial"/>
                  </a:rPr>
                  <a:t> for some </a:t>
                </a:r>
                <a:r>
                  <a:rPr lang="en-IN" sz="2400">
                    <a:solidFill>
                      <a:srgbClr val="111827"/>
                    </a:solidFill>
                    <a:latin typeface="Cambria Math" panose="02040503050406030204" pitchFamily="18" charset="0"/>
                  </a:rPr>
                  <a:t>$c\in(a,b)$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Fermat: at an interior local maximum or minimum of a differentiable function the derivative is </a:t>
                </a:r>
                <a:r>
                  <a:rPr lang="en-IN" sz="2400">
                    <a:solidFill>
                      <a:srgbClr val="111827"/>
                    </a:solidFill>
                    <a:latin typeface="Cambria Math" panose="02040503050406030204" pitchFamily="18" charset="0"/>
                  </a:rPr>
                  <a: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Darboux: a derivative has the intermediate value property even when it is not continuous, so a derivative that takes a positive and a negative value must vanish between them.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Recognition cue: if a differentiable function goes up and then down (or takes the same value twice), look for a critical point between.</a:t>
                </a:r>
                <a:endParaRPr sz="2400">
                  <a:solidFill>
                    <a:srgbClr val="111827"/>
                  </a:solidFill>
                </a:endParaRPr>
              </a:p>
            </p:txBody>
          </p:sp>
        </mc:Fallback>
      </mc:AlternateContent>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510336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000">
                    <a:solidFill>
                      <a:srgbClr val="111827"/>
                    </a:solidFill>
                  </a:defRPr>
                </a:lvl1pPr>
              </a:lstStyle>
              <a:p>
                <a:pPr algn="l">
                  <a:spcAft>
                    <a:spcPts val="500"/>
                  </a:spcAft>
                  <a:defRPr sz="2000">
                    <a:solidFill>
                      <a:srgbClr val="111827"/>
                    </a:solidFill>
                  </a:defRPr>
                </a:pPr>
                <a:r>
                  <a:rPr sz="2000" b="0">
                    <a:solidFill>
                      <a:srgbClr val="111827"/>
                    </a:solidFill>
                    <a:latin typeface="Arial"/>
                  </a:rPr>
                  <a:t>Let </a:t>
                </a:r>
                <a14:m>
                  <m:oMath xmlns:m="http://schemas.openxmlformats.org/officeDocument/2006/math">
                    <m:r>
                      <a:rPr lang="en-IN" sz="2000" i="1">
                        <a:solidFill>
                          <a:srgbClr val="111827"/>
                        </a:solidFill>
                        <a:latin typeface="Cambria Math" panose="02040503050406030204" pitchFamily="18" charset="0"/>
                      </a:rPr>
                      <m:t>𝑓</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𝑥</m:t>
                    </m:r>
                    <m:r>
                      <m:rPr>
                        <m:sty m:val="p"/>
                      </m:rPr>
                      <a:rPr lang="en-IN" sz="2000">
                        <a:solidFill>
                          <a:srgbClr val="111827"/>
                        </a:solidFill>
                        <a:latin typeface="Cambria Math" panose="02040503050406030204" pitchFamily="18" charset="0"/>
                      </a:rPr>
                      <m:t>)</m:t>
                    </m:r>
                    <m:r>
                      <m:rPr>
                        <m:sty m:val="p"/>
                      </m:rPr>
                      <a:rPr lang="en-IN" sz="2000">
                        <a:solidFill>
                          <a:srgbClr val="111827"/>
                        </a:solidFill>
                        <a:latin typeface="Cambria Math" panose="02040503050406030204" pitchFamily="18" charset="0"/>
                      </a:rPr>
                      <m:t>=</m:t>
                    </m:r>
                    <m:f>
                      <m:fPr>
                        <m:type m:val="bar"/>
                        <m:ctrlPr>
                          <a:rPr lang="en-IN" sz="2000" i="1">
                            <a:solidFill>
                              <a:srgbClr val="111827"/>
                            </a:solidFill>
                            <a:latin typeface="Cambria Math" panose="02040503050406030204" pitchFamily="18" charset="0"/>
                          </a:rPr>
                        </m:ctrlPr>
                      </m:fPr>
                      <m:num>
                        <m:sSup>
                          <m:e>
                            <m:r>
                              <a:rPr lang="en-IN" sz="2000" i="1">
                                <a:solidFill>
                                  <a:srgbClr val="111827"/>
                                </a:solidFill>
                                <a:latin typeface="Cambria Math" panose="02040503050406030204" pitchFamily="18" charset="0"/>
                              </a:rPr>
                              <m:t>𝑥</m:t>
                            </m:r>
                          </m:e>
                          <m:sup>
                            <m:r>
                              <a:rPr lang="en-IN" sz="2000" i="1">
                                <a:solidFill>
                                  <a:srgbClr val="111827"/>
                                </a:solidFill>
                                <a:latin typeface="Cambria Math" panose="02040503050406030204" pitchFamily="18" charset="0"/>
                              </a:rPr>
                              <m:t>4</m:t>
                            </m:r>
                          </m:sup>
                        </m:sSup>
                      </m:num>
                      <m:den>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𝑥</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1</m:t>
                        </m:r>
                        <m:r>
                          <m:rPr>
                            <m:sty m:val="p"/>
                          </m:rPr>
                          <a:rPr lang="en-IN" sz="2000">
                            <a:solidFill>
                              <a:srgbClr val="111827"/>
                            </a:solidFill>
                            <a:latin typeface="Cambria Math" panose="02040503050406030204" pitchFamily="18" charset="0"/>
                          </a:rPr>
                          <m:t>)</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𝑥</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2</m:t>
                        </m:r>
                        <m:r>
                          <m:rPr>
                            <m:sty m:val="p"/>
                          </m:rPr>
                          <a:rPr lang="en-IN" sz="2000">
                            <a:solidFill>
                              <a:srgbClr val="111827"/>
                            </a:solidFill>
                            <a:latin typeface="Cambria Math" panose="02040503050406030204" pitchFamily="18" charset="0"/>
                          </a:rPr>
                          <m:t>)</m:t>
                        </m:r>
                        <m:r>
                          <m:rPr>
                            <m:sty m:val="p"/>
                          </m:rPr>
                          <a:rPr lang="en-IN" sz="2000">
                            <a:solidFill>
                              <a:srgbClr val="111827"/>
                            </a:solidFill>
                            <a:latin typeface="Cambria Math" panose="02040503050406030204" pitchFamily="18" charset="0"/>
                          </a:rPr>
                          <m:t>…</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𝑥</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𝑛</m:t>
                        </m:r>
                        <m:r>
                          <m:rPr>
                            <m:sty m:val="p"/>
                          </m:rPr>
                          <a:rPr lang="en-IN" sz="2000">
                            <a:solidFill>
                              <a:srgbClr val="111827"/>
                            </a:solidFill>
                            <a:latin typeface="Cambria Math" panose="02040503050406030204" pitchFamily="18" charset="0"/>
                          </a:rPr>
                          <m:t>)</m:t>
                        </m:r>
                      </m:den>
                    </m:f>
                  </m:oMath>
                </a14:m>
                <a:r>
                  <a:rPr sz="2000" b="0">
                    <a:solidFill>
                      <a:srgbClr val="111827"/>
                    </a:solidFill>
                    <a:latin typeface="Arial"/>
                  </a:rPr>
                  <a:t> where the denominator is a product of </a:t>
                </a:r>
                <a14:m>
                  <m:oMath xmlns:m="http://schemas.openxmlformats.org/officeDocument/2006/math">
                    <m:r>
                      <a:rPr lang="en-IN" sz="2000" i="1">
                        <a:solidFill>
                          <a:srgbClr val="111827"/>
                        </a:solidFill>
                        <a:latin typeface="Cambria Math" panose="02040503050406030204" pitchFamily="18" charset="0"/>
                      </a:rPr>
                      <m:t>𝑛</m:t>
                    </m:r>
                  </m:oMath>
                </a14:m>
                <a:r>
                  <a:rPr sz="2000" b="0">
                    <a:solidFill>
                      <a:srgbClr val="111827"/>
                    </a:solidFill>
                    <a:latin typeface="Arial"/>
                  </a:rPr>
                  <a:t> factors, </a:t>
                </a:r>
                <a14:m>
                  <m:oMath xmlns:m="http://schemas.openxmlformats.org/officeDocument/2006/math">
                    <m:r>
                      <a:rPr lang="en-IN" sz="2000" i="1">
                        <a:solidFill>
                          <a:srgbClr val="111827"/>
                        </a:solidFill>
                        <a:latin typeface="Cambria Math" panose="02040503050406030204" pitchFamily="18" charset="0"/>
                      </a:rPr>
                      <m:t>𝑛</m:t>
                    </m:r>
                  </m:oMath>
                </a14:m>
                <a:r>
                  <a:rPr sz="2000" b="0">
                    <a:solidFill>
                      <a:srgbClr val="111827"/>
                    </a:solidFill>
                    <a:latin typeface="Arial"/>
                  </a:rPr>
                  <a:t> being a positive integer. It is also given that the </a:t>
                </a:r>
                <a14:m>
                  <m:oMath xmlns:m="http://schemas.openxmlformats.org/officeDocument/2006/math">
                    <m:r>
                      <a:rPr lang="en-IN" sz="2000" i="1">
                        <a:solidFill>
                          <a:srgbClr val="111827"/>
                        </a:solidFill>
                        <a:latin typeface="Cambria Math" panose="02040503050406030204" pitchFamily="18" charset="0"/>
                      </a:rPr>
                      <m:t>𝑋</m:t>
                    </m:r>
                  </m:oMath>
                </a14:m>
                <a:r>
                  <a:rPr sz="2000" b="0">
                    <a:solidFill>
                      <a:srgbClr val="111827"/>
                    </a:solidFill>
                    <a:latin typeface="Arial"/>
                  </a:rPr>
                  <a:t>-axis is a horizontal asymptote for the graph of </a:t>
                </a:r>
                <a14:m>
                  <m:oMath xmlns:m="http://schemas.openxmlformats.org/officeDocument/2006/math">
                    <m:r>
                      <a:rPr lang="en-IN" sz="2000" i="1">
                        <a:solidFill>
                          <a:srgbClr val="111827"/>
                        </a:solidFill>
                        <a:latin typeface="Cambria Math" panose="02040503050406030204" pitchFamily="18" charset="0"/>
                      </a:rPr>
                      <m:t>𝑓</m:t>
                    </m:r>
                  </m:oMath>
                </a14:m>
                <a:r>
                  <a:rPr sz="2000" b="0">
                    <a:solidFill>
                      <a:srgbClr val="111827"/>
                    </a:solidFill>
                    <a:latin typeface="Arial"/>
                  </a:rPr>
                  <a:t>. Answer the independent questions below by choosing the correct option from the given ones.</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a. How many vertical asymptotes does the graph of </a:t>
                </a:r>
                <a14:m>
                  <m:oMath xmlns:m="http://schemas.openxmlformats.org/officeDocument/2006/math">
                    <m:r>
                      <a:rPr lang="en-IN" sz="2000" i="1">
                        <a:solidFill>
                          <a:srgbClr val="111827"/>
                        </a:solidFill>
                        <a:latin typeface="Cambria Math" panose="02040503050406030204" pitchFamily="18" charset="0"/>
                      </a:rPr>
                      <m:t>𝑓</m:t>
                    </m:r>
                  </m:oMath>
                </a14:m>
                <a:r>
                  <a:rPr sz="2000" b="0">
                    <a:solidFill>
                      <a:srgbClr val="111827"/>
                    </a:solidFill>
                    <a:latin typeface="Arial"/>
                  </a:rPr>
                  <a:t> have?</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(A) </a:t>
                </a:r>
                <a14:m>
                  <m:oMath xmlns:m="http://schemas.openxmlformats.org/officeDocument/2006/math">
                    <m:r>
                      <a:rPr lang="en-IN" sz="2000" i="1">
                        <a:solidFill>
                          <a:srgbClr val="111827"/>
                        </a:solidFill>
                        <a:latin typeface="Cambria Math" panose="02040503050406030204" pitchFamily="18" charset="0"/>
                      </a:rPr>
                      <m:t>𝑛</m:t>
                    </m:r>
                  </m:oMath>
                </a14:m>
                <a:r>
                  <a:rPr sz="2000" b="0">
                    <a:solidFill>
                      <a:srgbClr val="111827"/>
                    </a:solidFill>
                    <a:latin typeface="Arial"/>
                  </a:rPr>
                  <a:t> (B) less than </a:t>
                </a:r>
                <a14:m>
                  <m:oMath xmlns:m="http://schemas.openxmlformats.org/officeDocument/2006/math">
                    <m:r>
                      <a:rPr lang="en-IN" sz="2000" i="1">
                        <a:solidFill>
                          <a:srgbClr val="111827"/>
                        </a:solidFill>
                        <a:latin typeface="Cambria Math" panose="02040503050406030204" pitchFamily="18" charset="0"/>
                      </a:rPr>
                      <m:t>𝑛</m:t>
                    </m:r>
                  </m:oMath>
                </a14:m>
                <a:r>
                  <a:rPr sz="2000" b="0">
                    <a:solidFill>
                      <a:srgbClr val="111827"/>
                    </a:solidFill>
                    <a:latin typeface="Arial"/>
                  </a:rPr>
                  <a:t> (C) more than </a:t>
                </a:r>
                <a14:m>
                  <m:oMath xmlns:m="http://schemas.openxmlformats.org/officeDocument/2006/math">
                    <m:r>
                      <a:rPr lang="en-IN" sz="2000" i="1">
                        <a:solidFill>
                          <a:srgbClr val="111827"/>
                        </a:solidFill>
                        <a:latin typeface="Cambria Math" panose="02040503050406030204" pitchFamily="18" charset="0"/>
                      </a:rPr>
                      <m:t>𝑛</m:t>
                    </m:r>
                  </m:oMath>
                </a14:m>
                <a:r>
                  <a:rPr sz="2000" b="0">
                    <a:solidFill>
                      <a:srgbClr val="111827"/>
                    </a:solidFill>
                    <a:latin typeface="Arial"/>
                  </a:rPr>
                  <a:t> (D) impossible to decide</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b. What can you deduce about the value of </a:t>
                </a:r>
                <a14:m>
                  <m:oMath xmlns:m="http://schemas.openxmlformats.org/officeDocument/2006/math">
                    <m:r>
                      <a:rPr lang="en-IN" sz="2000" i="1">
                        <a:solidFill>
                          <a:srgbClr val="111827"/>
                        </a:solidFill>
                        <a:latin typeface="Cambria Math" panose="02040503050406030204" pitchFamily="18" charset="0"/>
                      </a:rPr>
                      <m:t>𝑛</m:t>
                    </m:r>
                  </m:oMath>
                </a14:m>
                <a:r>
                  <a:rPr sz="2000" b="0">
                    <a:solidFill>
                      <a:srgbClr val="111827"/>
                    </a:solidFill>
                    <a:latin typeface="Arial"/>
                  </a:rPr>
                  <a:t>?</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(A) </a:t>
                </a:r>
                <a14:m>
                  <m:oMath xmlns:m="http://schemas.openxmlformats.org/officeDocument/2006/math">
                    <m:r>
                      <a:rPr lang="en-IN" sz="2000" i="1">
                        <a:solidFill>
                          <a:srgbClr val="111827"/>
                        </a:solidFill>
                        <a:latin typeface="Cambria Math" panose="02040503050406030204" pitchFamily="18" charset="0"/>
                      </a:rPr>
                      <m:t>𝑛</m:t>
                    </m:r>
                    <m:r>
                      <m:rPr>
                        <m:sty m:val="p"/>
                      </m:rPr>
                      <a:rPr lang="en-IN" sz="2000">
                        <a:solidFill>
                          <a:srgbClr val="111827"/>
                        </a:solidFill>
                        <a:latin typeface="Cambria Math" panose="02040503050406030204" pitchFamily="18" charset="0"/>
                      </a:rPr>
                      <m:t>&lt;</m:t>
                    </m:r>
                    <m:r>
                      <a:rPr lang="en-IN" sz="2000" i="1">
                        <a:solidFill>
                          <a:srgbClr val="111827"/>
                        </a:solidFill>
                        <a:latin typeface="Cambria Math" panose="02040503050406030204" pitchFamily="18" charset="0"/>
                      </a:rPr>
                      <m:t>4</m:t>
                    </m:r>
                  </m:oMath>
                </a14:m>
                <a:r>
                  <a:rPr sz="2000" b="0">
                    <a:solidFill>
                      <a:srgbClr val="111827"/>
                    </a:solidFill>
                    <a:latin typeface="Arial"/>
                  </a:rPr>
                  <a:t> (B) </a:t>
                </a:r>
                <a14:m>
                  <m:oMath xmlns:m="http://schemas.openxmlformats.org/officeDocument/2006/math">
                    <m:r>
                      <a:rPr lang="en-IN" sz="2000" i="1">
                        <a:solidFill>
                          <a:srgbClr val="111827"/>
                        </a:solidFill>
                        <a:latin typeface="Cambria Math" panose="02040503050406030204" pitchFamily="18" charset="0"/>
                      </a:rPr>
                      <m:t>𝑛</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4</m:t>
                    </m:r>
                  </m:oMath>
                </a14:m>
                <a:r>
                  <a:rPr sz="2000" b="0">
                    <a:solidFill>
                      <a:srgbClr val="111827"/>
                    </a:solidFill>
                    <a:latin typeface="Arial"/>
                  </a:rPr>
                  <a:t> (C) </a:t>
                </a:r>
                <a14:m>
                  <m:oMath xmlns:m="http://schemas.openxmlformats.org/officeDocument/2006/math">
                    <m:r>
                      <a:rPr lang="en-IN" sz="2000" i="1">
                        <a:solidFill>
                          <a:srgbClr val="111827"/>
                        </a:solidFill>
                        <a:latin typeface="Cambria Math" panose="02040503050406030204" pitchFamily="18" charset="0"/>
                      </a:rPr>
                      <m:t>𝑛</m:t>
                    </m:r>
                    <m:r>
                      <m:rPr>
                        <m:sty m:val="p"/>
                      </m:rPr>
                      <a:rPr lang="en-IN" sz="2000">
                        <a:solidFill>
                          <a:srgbClr val="111827"/>
                        </a:solidFill>
                        <a:latin typeface="Cambria Math" panose="02040503050406030204" pitchFamily="18" charset="0"/>
                      </a:rPr>
                      <m:t>&gt;</m:t>
                    </m:r>
                    <m:r>
                      <a:rPr lang="en-IN" sz="2000" i="1">
                        <a:solidFill>
                          <a:srgbClr val="111827"/>
                        </a:solidFill>
                        <a:latin typeface="Cambria Math" panose="02040503050406030204" pitchFamily="18" charset="0"/>
                      </a:rPr>
                      <m:t>4</m:t>
                    </m:r>
                  </m:oMath>
                </a14:m>
                <a:r>
                  <a:rPr sz="2000" b="0">
                    <a:solidFill>
                      <a:srgbClr val="111827"/>
                    </a:solidFill>
                    <a:latin typeface="Arial"/>
                  </a:rPr>
                  <a:t> (D) impossible to decide</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c. As one travels along the graph of </a:t>
                </a:r>
                <a14:m>
                  <m:oMath xmlns:m="http://schemas.openxmlformats.org/officeDocument/2006/math">
                    <m:r>
                      <a:rPr lang="en-IN" sz="2000" i="1">
                        <a:solidFill>
                          <a:srgbClr val="111827"/>
                        </a:solidFill>
                        <a:latin typeface="Cambria Math" panose="02040503050406030204" pitchFamily="18" charset="0"/>
                      </a:rPr>
                      <m:t>𝑓</m:t>
                    </m:r>
                  </m:oMath>
                </a14:m>
                <a:r>
                  <a:rPr sz="2000" b="0">
                    <a:solidFill>
                      <a:srgbClr val="111827"/>
                    </a:solidFill>
                    <a:latin typeface="Arial"/>
                  </a:rPr>
                  <a:t> from left to right, at which of the following points is the sign of </a:t>
                </a:r>
                <a14:m>
                  <m:oMath xmlns:m="http://schemas.openxmlformats.org/officeDocument/2006/math">
                    <m:r>
                      <a:rPr lang="en-IN" sz="2000" i="1">
                        <a:solidFill>
                          <a:srgbClr val="111827"/>
                        </a:solidFill>
                        <a:latin typeface="Cambria Math" panose="02040503050406030204" pitchFamily="18" charset="0"/>
                      </a:rPr>
                      <m:t>𝑓</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𝑥</m:t>
                    </m:r>
                    <m:r>
                      <m:rPr>
                        <m:sty m:val="p"/>
                      </m:rPr>
                      <a:rPr lang="en-IN" sz="2000">
                        <a:solidFill>
                          <a:srgbClr val="111827"/>
                        </a:solidFill>
                        <a:latin typeface="Cambria Math" panose="02040503050406030204" pitchFamily="18" charset="0"/>
                      </a:rPr>
                      <m:t>)</m:t>
                    </m:r>
                  </m:oMath>
                </a14:m>
                <a:r>
                  <a:rPr sz="2000" b="0">
                    <a:solidFill>
                      <a:srgbClr val="111827"/>
                    </a:solidFill>
                    <a:latin typeface="Arial"/>
                  </a:rPr>
                  <a:t> guaranteed to change from positive to negative?</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(A) </a:t>
                </a:r>
                <a14:m>
                  <m:oMath xmlns:m="http://schemas.openxmlformats.org/officeDocument/2006/math">
                    <m:r>
                      <a:rPr lang="en-IN" sz="2000" i="1">
                        <a:solidFill>
                          <a:srgbClr val="111827"/>
                        </a:solidFill>
                        <a:latin typeface="Cambria Math" panose="02040503050406030204" pitchFamily="18" charset="0"/>
                      </a:rPr>
                      <m:t>𝑥</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0</m:t>
                    </m:r>
                  </m:oMath>
                </a14:m>
                <a:r>
                  <a:rPr sz="2000" b="0">
                    <a:solidFill>
                      <a:srgbClr val="111827"/>
                    </a:solidFill>
                    <a:latin typeface="Arial"/>
                  </a:rPr>
                  <a:t> (B) </a:t>
                </a:r>
                <a14:m>
                  <m:oMath xmlns:m="http://schemas.openxmlformats.org/officeDocument/2006/math">
                    <m:r>
                      <a:rPr lang="en-IN" sz="2000" i="1">
                        <a:solidFill>
                          <a:srgbClr val="111827"/>
                        </a:solidFill>
                        <a:latin typeface="Cambria Math" panose="02040503050406030204" pitchFamily="18" charset="0"/>
                      </a:rPr>
                      <m:t>𝑥</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1</m:t>
                    </m:r>
                  </m:oMath>
                </a14:m>
                <a:r>
                  <a:rPr sz="2000" b="0">
                    <a:solidFill>
                      <a:srgbClr val="111827"/>
                    </a:solidFill>
                    <a:latin typeface="Arial"/>
                  </a:rPr>
                  <a:t> (C) </a:t>
                </a:r>
                <a14:m>
                  <m:oMath xmlns:m="http://schemas.openxmlformats.org/officeDocument/2006/math">
                    <m:r>
                      <a:rPr lang="en-IN" sz="2000" i="1">
                        <a:solidFill>
                          <a:srgbClr val="111827"/>
                        </a:solidFill>
                        <a:latin typeface="Cambria Math" panose="02040503050406030204" pitchFamily="18" charset="0"/>
                      </a:rPr>
                      <m:t>𝑥</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𝑛</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1</m:t>
                    </m:r>
                  </m:oMath>
                </a14:m>
                <a:r>
                  <a:rPr sz="2000" b="0">
                    <a:solidFill>
                      <a:srgbClr val="111827"/>
                    </a:solidFill>
                    <a:latin typeface="Arial"/>
                  </a:rPr>
                  <a:t> (D) </a:t>
                </a:r>
                <a14:m>
                  <m:oMath xmlns:m="http://schemas.openxmlformats.org/officeDocument/2006/math">
                    <m:r>
                      <a:rPr lang="en-IN" sz="2000" i="1">
                        <a:solidFill>
                          <a:srgbClr val="111827"/>
                        </a:solidFill>
                        <a:latin typeface="Cambria Math" panose="02040503050406030204" pitchFamily="18" charset="0"/>
                      </a:rPr>
                      <m:t>𝑥</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𝑛</m:t>
                    </m:r>
                  </m:oMath>
                </a14:m>
                <a:endParaRPr sz="2000">
                  <a:solidFill>
                    <a:srgbClr val="111827"/>
                  </a:solidFill>
                </a:endParaRPr>
              </a:p>
              <a:p>
                <a:pPr algn="l">
                  <a:spcAft>
                    <a:spcPts val="500"/>
                  </a:spcAft>
                  <a:defRPr sz="2000">
                    <a:solidFill>
                      <a:srgbClr val="111827"/>
                    </a:solidFill>
                  </a:defRPr>
                </a:pPr>
                <a:r>
                  <a:rPr sz="2000" b="0">
                    <a:solidFill>
                      <a:srgbClr val="111827"/>
                    </a:solidFill>
                    <a:latin typeface="Arial"/>
                  </a:rPr>
                  <a:t>d. How many inflection points does the graph of </a:t>
                </a:r>
                <a14:m>
                  <m:oMath xmlns:m="http://schemas.openxmlformats.org/officeDocument/2006/math">
                    <m:r>
                      <a:rPr lang="en-IN" sz="2000" i="1">
                        <a:solidFill>
                          <a:srgbClr val="111827"/>
                        </a:solidFill>
                        <a:latin typeface="Cambria Math" panose="02040503050406030204" pitchFamily="18" charset="0"/>
                      </a:rPr>
                      <m:t>𝑓</m:t>
                    </m:r>
                  </m:oMath>
                </a14:m>
                <a:r>
                  <a:rPr sz="2000" b="0">
                    <a:solidFill>
                      <a:srgbClr val="111827"/>
                    </a:solidFill>
                    <a:latin typeface="Arial"/>
                  </a:rPr>
                  <a:t> have in the region </a:t>
                </a:r>
                <a14:m>
                  <m:oMath xmlns:m="http://schemas.openxmlformats.org/officeDocument/2006/math">
                    <m:r>
                      <a:rPr lang="en-IN" sz="2000" i="1">
                        <a:solidFill>
                          <a:srgbClr val="111827"/>
                        </a:solidFill>
                        <a:latin typeface="Cambria Math" panose="02040503050406030204" pitchFamily="18" charset="0"/>
                      </a:rPr>
                      <m:t>𝑥</m:t>
                    </m:r>
                    <m:r>
                      <m:rPr>
                        <m:sty m:val="p"/>
                      </m:rPr>
                      <a:rPr lang="en-IN" sz="2000">
                        <a:solidFill>
                          <a:srgbClr val="111827"/>
                        </a:solidFill>
                        <a:latin typeface="Cambria Math" panose="02040503050406030204" pitchFamily="18" charset="0"/>
                      </a:rPr>
                      <m:t>&lt;</m:t>
                    </m:r>
                    <m:r>
                      <a:rPr lang="en-IN" sz="2000" i="1">
                        <a:solidFill>
                          <a:srgbClr val="111827"/>
                        </a:solidFill>
                        <a:latin typeface="Cambria Math" panose="02040503050406030204" pitchFamily="18" charset="0"/>
                      </a:rPr>
                      <m:t>0</m:t>
                    </m:r>
                  </m:oMath>
                </a14:m>
                <a:r>
                  <a:rPr sz="2000" b="0">
                    <a:solidFill>
                      <a:srgbClr val="111827"/>
                    </a:solidFill>
                    <a:latin typeface="Arial"/>
                  </a:rPr>
                  <a:t>?</a:t>
                </a:r>
                <a:endParaRPr sz="2000">
                  <a:solidFill>
                    <a:srgbClr val="111827"/>
                  </a:solidFill>
                </a:endParaRPr>
              </a:p>
            </p:txBody>
          </p:sp>
        </mc:Choice>
        <mc:Fallback>
          <p:sp>
            <p:nvSpPr>
              <p:cNvPr id="4" name="Rounded Rectangle 3"/>
              <p:cNvSpPr/>
              <p:nvPr/>
            </p:nvSpPr>
            <p:spPr>
              <a:xfrm>
                <a:off x="731520" y="1280160"/>
                <a:ext cx="10725912" cy="510336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000">
                    <a:solidFill>
                      <a:srgbClr val="111827"/>
                    </a:solidFill>
                  </a:defRPr>
                </a:lvl1pPr>
              </a:lstStyle>
              <a:p>
                <a:pPr algn="l">
                  <a:spcAft>
                    <a:spcPts val="500"/>
                  </a:spcAft>
                  <a:defRPr sz="2000">
                    <a:solidFill>
                      <a:srgbClr val="111827"/>
                    </a:solidFill>
                  </a:defRPr>
                </a:pPr>
                <a:r>
                  <a:rPr sz="2000" b="0">
                    <a:solidFill>
                      <a:srgbClr val="111827"/>
                    </a:solidFill>
                    <a:latin typeface="Arial"/>
                  </a:rPr>
                  <a:t>Let </a:t>
                </a:r>
                <a:r>
                  <a:rPr lang="en-IN" sz="2000">
                    <a:solidFill>
                      <a:srgbClr val="111827"/>
                    </a:solidFill>
                    <a:latin typeface="Cambria Math" panose="02040503050406030204" pitchFamily="18" charset="0"/>
                  </a:rPr>
                  <a:t>$f(x)=\frac{x^4}{(x-1)(x-2)\dots(x-n)}$</a:t>
                </a:r>
                <a:r>
                  <a:rPr sz="2000" b="0">
                    <a:solidFill>
                      <a:srgbClr val="111827"/>
                    </a:solidFill>
                    <a:latin typeface="Arial"/>
                  </a:rPr>
                  <a:t> where the denominator is a product of </a:t>
                </a:r>
                <a:r>
                  <a:rPr lang="en-IN" sz="2000">
                    <a:solidFill>
                      <a:srgbClr val="111827"/>
                    </a:solidFill>
                    <a:latin typeface="Cambria Math" panose="02040503050406030204" pitchFamily="18" charset="0"/>
                  </a:rPr>
                  <a:t>$n$</a:t>
                </a:r>
                <a:r>
                  <a:rPr sz="2000" b="0">
                    <a:solidFill>
                      <a:srgbClr val="111827"/>
                    </a:solidFill>
                    <a:latin typeface="Arial"/>
                  </a:rPr>
                  <a:t> factors, </a:t>
                </a:r>
                <a:r>
                  <a:rPr lang="en-IN" sz="2000">
                    <a:solidFill>
                      <a:srgbClr val="111827"/>
                    </a:solidFill>
                    <a:latin typeface="Cambria Math" panose="02040503050406030204" pitchFamily="18" charset="0"/>
                  </a:rPr>
                  <a:t>$n$</a:t>
                </a:r>
                <a:r>
                  <a:rPr sz="2000" b="0">
                    <a:solidFill>
                      <a:srgbClr val="111827"/>
                    </a:solidFill>
                    <a:latin typeface="Arial"/>
                  </a:rPr>
                  <a:t> being a positive integer. It is also given that the </a:t>
                </a:r>
                <a:r>
                  <a:rPr lang="en-IN" sz="2000">
                    <a:solidFill>
                      <a:srgbClr val="111827"/>
                    </a:solidFill>
                    <a:latin typeface="Cambria Math" panose="02040503050406030204" pitchFamily="18" charset="0"/>
                  </a:rPr>
                  <a:t>$X$</a:t>
                </a:r>
                <a:r>
                  <a:rPr sz="2000" b="0">
                    <a:solidFill>
                      <a:srgbClr val="111827"/>
                    </a:solidFill>
                    <a:latin typeface="Arial"/>
                  </a:rPr>
                  <a:t>-axis is a horizontal asymptote for the graph of </a:t>
                </a:r>
                <a:r>
                  <a:rPr lang="en-IN" sz="2000">
                    <a:solidFill>
                      <a:srgbClr val="111827"/>
                    </a:solidFill>
                    <a:latin typeface="Cambria Math" panose="02040503050406030204" pitchFamily="18" charset="0"/>
                  </a:rPr>
                  <a:t>$f$</a:t>
                </a:r>
                <a:r>
                  <a:rPr sz="2000" b="0">
                    <a:solidFill>
                      <a:srgbClr val="111827"/>
                    </a:solidFill>
                    <a:latin typeface="Arial"/>
                  </a:rPr>
                  <a:t>. Answer the independent questions below by choosing the correct option from the given ones.</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a. How many vertical asymptotes does the graph of </a:t>
                </a:r>
                <a:r>
                  <a:rPr lang="en-IN" sz="2000">
                    <a:solidFill>
                      <a:srgbClr val="111827"/>
                    </a:solidFill>
                    <a:latin typeface="Cambria Math" panose="02040503050406030204" pitchFamily="18" charset="0"/>
                  </a:rPr>
                  <a:t>$f$</a:t>
                </a:r>
                <a:r>
                  <a:rPr sz="2000" b="0">
                    <a:solidFill>
                      <a:srgbClr val="111827"/>
                    </a:solidFill>
                    <a:latin typeface="Arial"/>
                  </a:rPr>
                  <a:t> have?</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(A) </a:t>
                </a:r>
                <a:r>
                  <a:rPr lang="en-IN" sz="2000">
                    <a:solidFill>
                      <a:srgbClr val="111827"/>
                    </a:solidFill>
                    <a:latin typeface="Cambria Math" panose="02040503050406030204" pitchFamily="18" charset="0"/>
                  </a:rPr>
                  <a:t>$n$</a:t>
                </a:r>
                <a:r>
                  <a:rPr sz="2000" b="0">
                    <a:solidFill>
                      <a:srgbClr val="111827"/>
                    </a:solidFill>
                    <a:latin typeface="Arial"/>
                  </a:rPr>
                  <a:t> (B) less than </a:t>
                </a:r>
                <a:r>
                  <a:rPr lang="en-IN" sz="2000">
                    <a:solidFill>
                      <a:srgbClr val="111827"/>
                    </a:solidFill>
                    <a:latin typeface="Cambria Math" panose="02040503050406030204" pitchFamily="18" charset="0"/>
                  </a:rPr>
                  <a:t>$n$</a:t>
                </a:r>
                <a:r>
                  <a:rPr sz="2000" b="0">
                    <a:solidFill>
                      <a:srgbClr val="111827"/>
                    </a:solidFill>
                    <a:latin typeface="Arial"/>
                  </a:rPr>
                  <a:t> (C) more than </a:t>
                </a:r>
                <a:r>
                  <a:rPr lang="en-IN" sz="2000">
                    <a:solidFill>
                      <a:srgbClr val="111827"/>
                    </a:solidFill>
                    <a:latin typeface="Cambria Math" panose="02040503050406030204" pitchFamily="18" charset="0"/>
                  </a:rPr>
                  <a:t>$n$</a:t>
                </a:r>
                <a:r>
                  <a:rPr sz="2000" b="0">
                    <a:solidFill>
                      <a:srgbClr val="111827"/>
                    </a:solidFill>
                    <a:latin typeface="Arial"/>
                  </a:rPr>
                  <a:t> (D) impossible to decide</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b. What can you deduce about the value of </a:t>
                </a:r>
                <a:r>
                  <a:rPr lang="en-IN" sz="2000">
                    <a:solidFill>
                      <a:srgbClr val="111827"/>
                    </a:solidFill>
                    <a:latin typeface="Cambria Math" panose="02040503050406030204" pitchFamily="18" charset="0"/>
                  </a:rPr>
                  <a:t>$n$</a:t>
                </a:r>
                <a:r>
                  <a:rPr sz="2000" b="0">
                    <a:solidFill>
                      <a:srgbClr val="111827"/>
                    </a:solidFill>
                    <a:latin typeface="Arial"/>
                  </a:rPr>
                  <a:t>?</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(A) </a:t>
                </a:r>
                <a:r>
                  <a:rPr lang="en-IN" sz="2000">
                    <a:solidFill>
                      <a:srgbClr val="111827"/>
                    </a:solidFill>
                    <a:latin typeface="Cambria Math" panose="02040503050406030204" pitchFamily="18" charset="0"/>
                  </a:rPr>
                  <a:t>$n&lt;4$</a:t>
                </a:r>
                <a:r>
                  <a:rPr sz="2000" b="0">
                    <a:solidFill>
                      <a:srgbClr val="111827"/>
                    </a:solidFill>
                    <a:latin typeface="Arial"/>
                  </a:rPr>
                  <a:t> (B) </a:t>
                </a:r>
                <a:r>
                  <a:rPr lang="en-IN" sz="2000">
                    <a:solidFill>
                      <a:srgbClr val="111827"/>
                    </a:solidFill>
                    <a:latin typeface="Cambria Math" panose="02040503050406030204" pitchFamily="18" charset="0"/>
                  </a:rPr>
                  <a:t>$n=4$</a:t>
                </a:r>
                <a:r>
                  <a:rPr sz="2000" b="0">
                    <a:solidFill>
                      <a:srgbClr val="111827"/>
                    </a:solidFill>
                    <a:latin typeface="Arial"/>
                  </a:rPr>
                  <a:t> (C) </a:t>
                </a:r>
                <a:r>
                  <a:rPr lang="en-IN" sz="2000">
                    <a:solidFill>
                      <a:srgbClr val="111827"/>
                    </a:solidFill>
                    <a:latin typeface="Cambria Math" panose="02040503050406030204" pitchFamily="18" charset="0"/>
                  </a:rPr>
                  <a:t>$n&gt;4$</a:t>
                </a:r>
                <a:r>
                  <a:rPr sz="2000" b="0">
                    <a:solidFill>
                      <a:srgbClr val="111827"/>
                    </a:solidFill>
                    <a:latin typeface="Arial"/>
                  </a:rPr>
                  <a:t> (D) impossible to decide</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c. As one travels along the graph of </a:t>
                </a:r>
                <a:r>
                  <a:rPr lang="en-IN" sz="2000">
                    <a:solidFill>
                      <a:srgbClr val="111827"/>
                    </a:solidFill>
                    <a:latin typeface="Cambria Math" panose="02040503050406030204" pitchFamily="18" charset="0"/>
                  </a:rPr>
                  <a:t>$f$</a:t>
                </a:r>
                <a:r>
                  <a:rPr sz="2000" b="0">
                    <a:solidFill>
                      <a:srgbClr val="111827"/>
                    </a:solidFill>
                    <a:latin typeface="Arial"/>
                  </a:rPr>
                  <a:t> from left to right, at which of the following points is the sign of </a:t>
                </a:r>
                <a:r>
                  <a:rPr lang="en-IN" sz="2000">
                    <a:solidFill>
                      <a:srgbClr val="111827"/>
                    </a:solidFill>
                    <a:latin typeface="Cambria Math" panose="02040503050406030204" pitchFamily="18" charset="0"/>
                  </a:rPr>
                  <a:t>$f(x)$</a:t>
                </a:r>
                <a:r>
                  <a:rPr sz="2000" b="0">
                    <a:solidFill>
                      <a:srgbClr val="111827"/>
                    </a:solidFill>
                    <a:latin typeface="Arial"/>
                  </a:rPr>
                  <a:t> guaranteed to change from positive to negative?</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(A) </a:t>
                </a:r>
                <a:r>
                  <a:rPr lang="en-IN" sz="2000">
                    <a:solidFill>
                      <a:srgbClr val="111827"/>
                    </a:solidFill>
                    <a:latin typeface="Cambria Math" panose="02040503050406030204" pitchFamily="18" charset="0"/>
                  </a:rPr>
                  <a:t>$x=0$</a:t>
                </a:r>
                <a:r>
                  <a:rPr sz="2000" b="0">
                    <a:solidFill>
                      <a:srgbClr val="111827"/>
                    </a:solidFill>
                    <a:latin typeface="Arial"/>
                  </a:rPr>
                  <a:t> (B) </a:t>
                </a:r>
                <a:r>
                  <a:rPr lang="en-IN" sz="2000">
                    <a:solidFill>
                      <a:srgbClr val="111827"/>
                    </a:solidFill>
                    <a:latin typeface="Cambria Math" panose="02040503050406030204" pitchFamily="18" charset="0"/>
                  </a:rPr>
                  <a:t>$x=1$</a:t>
                </a:r>
                <a:r>
                  <a:rPr sz="2000" b="0">
                    <a:solidFill>
                      <a:srgbClr val="111827"/>
                    </a:solidFill>
                    <a:latin typeface="Arial"/>
                  </a:rPr>
                  <a:t> (C) </a:t>
                </a:r>
                <a:r>
                  <a:rPr lang="en-IN" sz="2000">
                    <a:solidFill>
                      <a:srgbClr val="111827"/>
                    </a:solidFill>
                    <a:latin typeface="Cambria Math" panose="02040503050406030204" pitchFamily="18" charset="0"/>
                  </a:rPr>
                  <a:t>$x=n-1$</a:t>
                </a:r>
                <a:r>
                  <a:rPr sz="2000" b="0">
                    <a:solidFill>
                      <a:srgbClr val="111827"/>
                    </a:solidFill>
                    <a:latin typeface="Arial"/>
                  </a:rPr>
                  <a:t> (D) </a:t>
                </a:r>
                <a:r>
                  <a:rPr lang="en-IN" sz="2000">
                    <a:solidFill>
                      <a:srgbClr val="111827"/>
                    </a:solidFill>
                    <a:latin typeface="Cambria Math" panose="02040503050406030204" pitchFamily="18" charset="0"/>
                  </a:rPr>
                  <a:t>$x=n$</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d. How many inflection points does the graph of </a:t>
                </a:r>
                <a:r>
                  <a:rPr lang="en-IN" sz="2000">
                    <a:solidFill>
                      <a:srgbClr val="111827"/>
                    </a:solidFill>
                    <a:latin typeface="Cambria Math" panose="02040503050406030204" pitchFamily="18" charset="0"/>
                  </a:rPr>
                  <a:t>$f$</a:t>
                </a:r>
                <a:r>
                  <a:rPr sz="2000" b="0">
                    <a:solidFill>
                      <a:srgbClr val="111827"/>
                    </a:solidFill>
                    <a:latin typeface="Arial"/>
                  </a:rPr>
                  <a:t> have in the region </a:t>
                </a:r>
                <a:r>
                  <a:rPr lang="en-IN" sz="2000">
                    <a:solidFill>
                      <a:srgbClr val="111827"/>
                    </a:solidFill>
                    <a:latin typeface="Cambria Math" panose="02040503050406030204" pitchFamily="18" charset="0"/>
                  </a:rPr>
                  <a:t>$x&lt;0$</a:t>
                </a:r>
                <a:r>
                  <a:rPr sz="2000" b="0">
                    <a:solidFill>
                      <a:srgbClr val="111827"/>
                    </a:solidFill>
                    <a:latin typeface="Arial"/>
                  </a:rPr>
                  <a:t>?</a:t>
                </a:r>
                <a:endParaRPr sz="2000">
                  <a:solidFill>
                    <a:srgbClr val="111827"/>
                  </a:solidFill>
                </a:endParaRPr>
              </a:p>
            </p:txBody>
          </p:sp>
        </mc:Fallback>
      </mc:AlternateContent>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Graphs of rational functions: asymptotes, sign changes and inflection points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85318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Zeros of the denominator are simple (vertical asymptotes, sign changes),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4</m:t>
                        </m:r>
                      </m:sup>
                    </m:sSup>
                  </m:oMath>
                </a14:m>
                <a:r>
                  <a:rPr sz="2400" b="0">
                    <a:solidFill>
                      <a:srgbClr val="78350F"/>
                    </a:solidFill>
                    <a:latin typeface="Arial"/>
                  </a:rPr>
                  <a:t> gives a non-sign-changing zero at </a:t>
                </a:r>
                <a14:m>
                  <m:oMath xmlns:m="http://schemas.openxmlformats.org/officeDocument/2006/math">
                    <m:r>
                      <a:rPr lang="en-IN" sz="2400" i="1">
                        <a:solidFill>
                          <a:srgbClr val="78350F"/>
                        </a:solidFill>
                        <a:latin typeface="Cambria Math" panose="02040503050406030204" pitchFamily="18" charset="0"/>
                      </a:rPr>
                      <m:t>0</m:t>
                    </m:r>
                  </m:oMath>
                </a14:m>
                <a:r>
                  <a:rPr sz="2400" b="0">
                    <a:solidFill>
                      <a:srgbClr val="78350F"/>
                    </a:solidFill>
                    <a:latin typeface="Arial"/>
                  </a:rPr>
                  <a:t>, and a positive function vanishing at both ends of </a:t>
                </a:r>
                <a14:m>
                  <m:oMath xmlns:m="http://schemas.openxmlformats.org/officeDocument/2006/math">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must bend both ways.</a:t>
                </a:r>
                <a:endParaRPr sz="2400">
                  <a:solidFill>
                    <a:srgbClr val="78350F"/>
                  </a:solidFill>
                </a:endParaRPr>
              </a:p>
            </p:txBody>
          </p:sp>
        </mc:Choice>
        <mc:Fallback>
          <p:sp>
            <p:nvSpPr>
              <p:cNvPr id="5" name="Rounded Rectangle 4"/>
              <p:cNvSpPr/>
              <p:nvPr/>
            </p:nvSpPr>
            <p:spPr>
              <a:xfrm>
                <a:off x="731520" y="3438144"/>
                <a:ext cx="10725912" cy="185318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Zeros of the denominator are simple (vertical asymptotes, sign changes), </a:t>
                </a:r>
                <a:r>
                  <a:rPr lang="en-IN" sz="2400">
                    <a:solidFill>
                      <a:srgbClr val="78350F"/>
                    </a:solidFill>
                    <a:latin typeface="Cambria Math" panose="02040503050406030204" pitchFamily="18" charset="0"/>
                  </a:rPr>
                  <a:t>$x^4$</a:t>
                </a:r>
                <a:r>
                  <a:rPr sz="2400" b="0">
                    <a:solidFill>
                      <a:srgbClr val="78350F"/>
                    </a:solidFill>
                    <a:latin typeface="Arial"/>
                  </a:rPr>
                  <a:t> gives a non-sign-changing zero at </a:t>
                </a:r>
                <a:r>
                  <a:rPr lang="en-IN" sz="2400">
                    <a:solidFill>
                      <a:srgbClr val="78350F"/>
                    </a:solidFill>
                    <a:latin typeface="Cambria Math" panose="02040503050406030204" pitchFamily="18" charset="0"/>
                  </a:rPr>
                  <a:t>$0$</a:t>
                </a:r>
                <a:r>
                  <a:rPr sz="2400" b="0">
                    <a:solidFill>
                      <a:srgbClr val="78350F"/>
                    </a:solidFill>
                    <a:latin typeface="Arial"/>
                  </a:rPr>
                  <a:t>, and a positive function vanishing at both ends of </a:t>
                </a:r>
                <a:r>
                  <a:rPr lang="en-IN" sz="2400">
                    <a:solidFill>
                      <a:srgbClr val="78350F"/>
                    </a:solidFill>
                    <a:latin typeface="Cambria Math" panose="02040503050406030204" pitchFamily="18" charset="0"/>
                  </a:rPr>
                  <a:t>$(-\infty,0)$</a:t>
                </a:r>
                <a:r>
                  <a:rPr sz="2400" b="0">
                    <a:solidFill>
                      <a:srgbClr val="78350F"/>
                    </a:solidFill>
                    <a:latin typeface="Arial"/>
                  </a:rPr>
                  <a:t> must bend both ways.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5428488"/>
                <a:ext cx="10725912" cy="1246631"/>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The denominator vanishes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and the numerator is non-zero there, so the graph has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vertical asymptotes,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Answer (A).</a:t>
                </a:r>
                <a:endParaRPr sz="2400">
                  <a:solidFill>
                    <a:srgbClr val="111827"/>
                  </a:solidFill>
                </a:endParaRPr>
              </a:p>
            </p:txBody>
          </p:sp>
        </mc:Choice>
        <mc:Fallback>
          <p:sp>
            <p:nvSpPr>
              <p:cNvPr id="6" name="Rectangle 5"/>
              <p:cNvSpPr/>
              <p:nvPr/>
            </p:nvSpPr>
            <p:spPr>
              <a:xfrm>
                <a:off x="731520" y="5428488"/>
                <a:ext cx="10725912" cy="1246631"/>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The denominator vanishes at </a:t>
                </a:r>
                <a:r>
                  <a:rPr lang="en-IN" sz="2400">
                    <a:solidFill>
                      <a:srgbClr val="111827"/>
                    </a:solidFill>
                    <a:latin typeface="Cambria Math" panose="02040503050406030204" pitchFamily="18" charset="0"/>
                  </a:rPr>
                  <a:t>$x=1,2,\dots,n$</a:t>
                </a:r>
                <a:r>
                  <a:rPr sz="2400" b="0">
                    <a:solidFill>
                      <a:srgbClr val="111827"/>
                    </a:solidFill>
                    <a:latin typeface="Arial"/>
                  </a:rPr>
                  <a:t> and the numerator is non-zero there, so the graph has </a:t>
                </a:r>
                <a:r>
                  <a:rPr lang="en-IN" sz="2400">
                    <a:solidFill>
                      <a:srgbClr val="111827"/>
                    </a:solidFill>
                    <a:latin typeface="Cambria Math" panose="02040503050406030204" pitchFamily="18" charset="0"/>
                  </a:rPr>
                  <a:t>$n$</a:t>
                </a:r>
                <a:r>
                  <a:rPr sz="2400" b="0">
                    <a:solidFill>
                      <a:srgbClr val="111827"/>
                    </a:solidFill>
                    <a:latin typeface="Arial"/>
                  </a:rPr>
                  <a:t> vertical asymptotes, at </a:t>
                </a:r>
                <a:r>
                  <a:rPr lang="en-IN" sz="2400">
                    <a:solidFill>
                      <a:srgbClr val="111827"/>
                    </a:solidFill>
                    <a:latin typeface="Cambria Math" panose="02040503050406030204" pitchFamily="18" charset="0"/>
                  </a:rPr>
                  <a:t>$x=1,2,\dots,n$</a:t>
                </a:r>
                <a:r>
                  <a:rPr sz="2400" b="0">
                    <a:solidFill>
                      <a:srgbClr val="111827"/>
                    </a:solidFill>
                    <a:latin typeface="Arial"/>
                  </a:rPr>
                  <a:t>. Answer (A).</a:t>
                </a:r>
                <a:endParaRPr sz="2400">
                  <a:solidFill>
                    <a:srgbClr val="111827"/>
                  </a:solidFill>
                </a:endParaRPr>
              </a:p>
            </p:txBody>
          </p:sp>
        </mc:Fallback>
      </mc:AlternateContent>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ub>
                    </m:sSub>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requires the degree of the denominator to exceed that of the numerator,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4</m:t>
                    </m:r>
                  </m:oMath>
                </a14:m>
                <a:r>
                  <a:rPr sz="2400" b="0">
                    <a:solidFill>
                      <a:srgbClr val="111827"/>
                    </a:solidFill>
                    <a:latin typeface="Arial"/>
                  </a:rPr>
                  <a:t>. Answer (C).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𝑛</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changes sign precisely when it passes through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(simple zeros of the denominator).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(valid since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4</m:t>
                    </m:r>
                  </m:oMath>
                </a14:m>
                <a:r>
                  <a:rPr sz="2400" b="0">
                    <a:solidFill>
                      <a:srgbClr val="111827"/>
                    </a:solidFill>
                    <a:latin typeface="Arial"/>
                  </a:rPr>
                  <a:t>): the sign changes from positive to negative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Answer (C).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the sign goes from negative to positive;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there is no change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change depends on the parity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only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with multiplicity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Without loss of generality let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be even (if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is odd,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oMath>
                </a14:m>
                <a:r>
                  <a:rPr sz="2400" b="0">
                    <a:solidFill>
                      <a:srgbClr val="111827"/>
                    </a:solidFill>
                    <a:latin typeface="Arial"/>
                  </a:rPr>
                  <a:t> is positive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and the reasoning is the same).</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$\lim_{x\to\pm\infty}f(x)=0$</a:t>
                </a:r>
                <a:r>
                  <a:rPr sz="2400" b="0">
                    <a:solidFill>
                      <a:srgbClr val="111827"/>
                    </a:solidFill>
                    <a:latin typeface="Arial"/>
                  </a:rPr>
                  <a:t> requires the degree of the denominator to exceed that of the numerator, so </a:t>
                </a:r>
                <a:r>
                  <a:rPr lang="en-IN" sz="2400">
                    <a:solidFill>
                      <a:srgbClr val="111827"/>
                    </a:solidFill>
                    <a:latin typeface="Cambria Math" panose="02040503050406030204" pitchFamily="18" charset="0"/>
                  </a:rPr>
                  <a:t>$n&gt;4$</a:t>
                </a:r>
                <a:r>
                  <a:rPr sz="2400" b="0">
                    <a:solidFill>
                      <a:srgbClr val="111827"/>
                    </a:solidFill>
                    <a:latin typeface="Arial"/>
                  </a:rPr>
                  <a:t>. Answer (C).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$f(x)&gt;0$</a:t>
                </a:r>
                <a:r>
                  <a:rPr sz="2400" b="0">
                    <a:solidFill>
                      <a:srgbClr val="111827"/>
                    </a:solidFill>
                    <a:latin typeface="Arial"/>
                  </a:rPr>
                  <a:t> for </a:t>
                </a:r>
                <a:r>
                  <a:rPr lang="en-IN" sz="2400">
                    <a:solidFill>
                      <a:srgbClr val="111827"/>
                    </a:solidFill>
                    <a:latin typeface="Cambria Math" panose="02040503050406030204" pitchFamily="18" charset="0"/>
                  </a:rPr>
                  <a:t>$x&gt;n$</a:t>
                </a:r>
                <a:r>
                  <a:rPr sz="2400" b="0">
                    <a:solidFill>
                      <a:srgbClr val="111827"/>
                    </a:solidFill>
                    <a:latin typeface="Arial"/>
                  </a:rPr>
                  <a:t>, and </a:t>
                </a:r>
                <a:r>
                  <a:rPr lang="en-IN" sz="2400">
                    <a:solidFill>
                      <a:srgbClr val="111827"/>
                    </a:solidFill>
                    <a:latin typeface="Cambria Math" panose="02040503050406030204" pitchFamily="18" charset="0"/>
                  </a:rPr>
                  <a:t>$f$</a:t>
                </a:r>
                <a:r>
                  <a:rPr sz="2400" b="0">
                    <a:solidFill>
                      <a:srgbClr val="111827"/>
                    </a:solidFill>
                    <a:latin typeface="Arial"/>
                  </a:rPr>
                  <a:t> changes sign precisely when it passes through </a:t>
                </a:r>
                <a:r>
                  <a:rPr lang="en-IN" sz="2400">
                    <a:solidFill>
                      <a:srgbClr val="111827"/>
                    </a:solidFill>
                    <a:latin typeface="Cambria Math" panose="02040503050406030204" pitchFamily="18" charset="0"/>
                  </a:rPr>
                  <a:t>$x=1,2,\dots,n$</a:t>
                </a:r>
                <a:r>
                  <a:rPr sz="2400" b="0">
                    <a:solidFill>
                      <a:srgbClr val="111827"/>
                    </a:solidFill>
                    <a:latin typeface="Arial"/>
                  </a:rPr>
                  <a:t> (simple zeros of the denominator).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$f&lt;0$</a:t>
                </a:r>
                <a:r>
                  <a:rPr sz="2400" b="0">
                    <a:solidFill>
                      <a:srgbClr val="111827"/>
                    </a:solidFill>
                    <a:latin typeface="Arial"/>
                  </a:rPr>
                  <a:t> on </a:t>
                </a:r>
                <a:r>
                  <a:rPr lang="en-IN" sz="2400">
                    <a:solidFill>
                      <a:srgbClr val="111827"/>
                    </a:solidFill>
                    <a:latin typeface="Cambria Math" panose="02040503050406030204" pitchFamily="18" charset="0"/>
                  </a:rPr>
                  <a:t>$(n-1,n)$</a:t>
                </a:r>
                <a:r>
                  <a:rPr sz="2400" b="0">
                    <a:solidFill>
                      <a:srgbClr val="111827"/>
                    </a:solidFill>
                    <a:latin typeface="Arial"/>
                  </a:rPr>
                  <a:t> and </a:t>
                </a:r>
                <a:r>
                  <a:rPr lang="en-IN" sz="2400">
                    <a:solidFill>
                      <a:srgbClr val="111827"/>
                    </a:solidFill>
                    <a:latin typeface="Cambria Math" panose="02040503050406030204" pitchFamily="18" charset="0"/>
                  </a:rPr>
                  <a:t>$f&gt;0$</a:t>
                </a:r>
                <a:r>
                  <a:rPr sz="2400" b="0">
                    <a:solidFill>
                      <a:srgbClr val="111827"/>
                    </a:solidFill>
                    <a:latin typeface="Arial"/>
                  </a:rPr>
                  <a:t> on </a:t>
                </a:r>
                <a:r>
                  <a:rPr lang="en-IN" sz="2400">
                    <a:solidFill>
                      <a:srgbClr val="111827"/>
                    </a:solidFill>
                    <a:latin typeface="Cambria Math" panose="02040503050406030204" pitchFamily="18" charset="0"/>
                  </a:rPr>
                  <a:t>$(n-2,n-1)$</a:t>
                </a:r>
                <a:r>
                  <a:rPr sz="2400" b="0">
                    <a:solidFill>
                      <a:srgbClr val="111827"/>
                    </a:solidFill>
                    <a:latin typeface="Arial"/>
                  </a:rPr>
                  <a:t> (valid since </a:t>
                </a:r>
                <a:r>
                  <a:rPr lang="en-IN" sz="2400">
                    <a:solidFill>
                      <a:srgbClr val="111827"/>
                    </a:solidFill>
                    <a:latin typeface="Cambria Math" panose="02040503050406030204" pitchFamily="18" charset="0"/>
                  </a:rPr>
                  <a:t>$n&gt;4$</a:t>
                </a:r>
                <a:r>
                  <a:rPr sz="2400" b="0">
                    <a:solidFill>
                      <a:srgbClr val="111827"/>
                    </a:solidFill>
                    <a:latin typeface="Arial"/>
                  </a:rPr>
                  <a:t>): the sign changes from positive to negative at </a:t>
                </a:r>
                <a:r>
                  <a:rPr lang="en-IN" sz="2400">
                    <a:solidFill>
                      <a:srgbClr val="111827"/>
                    </a:solidFill>
                    <a:latin typeface="Cambria Math" panose="02040503050406030204" pitchFamily="18" charset="0"/>
                  </a:rPr>
                  <a:t>$x=n-1$</a:t>
                </a:r>
                <a:r>
                  <a:rPr sz="2400" b="0">
                    <a:solidFill>
                      <a:srgbClr val="111827"/>
                    </a:solidFill>
                    <a:latin typeface="Arial"/>
                  </a:rPr>
                  <a:t>. Answer (C).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$x=n$</a:t>
                </a:r>
                <a:r>
                  <a:rPr sz="2400" b="0">
                    <a:solidFill>
                      <a:srgbClr val="111827"/>
                    </a:solidFill>
                    <a:latin typeface="Arial"/>
                  </a:rPr>
                  <a:t> the sign goes from negative to positive; at </a:t>
                </a:r>
                <a:r>
                  <a:rPr lang="en-IN" sz="2400">
                    <a:solidFill>
                      <a:srgbClr val="111827"/>
                    </a:solidFill>
                    <a:latin typeface="Cambria Math" panose="02040503050406030204" pitchFamily="18" charset="0"/>
                  </a:rPr>
                  <a:t>$x=0$</a:t>
                </a:r>
                <a:r>
                  <a:rPr sz="2400" b="0">
                    <a:solidFill>
                      <a:srgbClr val="111827"/>
                    </a:solidFill>
                    <a:latin typeface="Arial"/>
                  </a:rPr>
                  <a:t> there is no change (</a:t>
                </a:r>
                <a:r>
                  <a:rPr lang="en-IN" sz="2400">
                    <a:solidFill>
                      <a:srgbClr val="111827"/>
                    </a:solidFill>
                    <a:latin typeface="Cambria Math" panose="02040503050406030204" pitchFamily="18" charset="0"/>
                  </a:rPr>
                  <a:t>$x^4$</a:t>
                </a:r>
                <a:r>
                  <a:rPr sz="2400" b="0">
                    <a:solidFill>
                      <a:srgbClr val="111827"/>
                    </a:solidFill>
                    <a:latin typeface="Arial"/>
                  </a:rPr>
                  <a:t>); at </a:t>
                </a:r>
                <a:r>
                  <a:rPr lang="en-IN" sz="2400">
                    <a:solidFill>
                      <a:srgbClr val="111827"/>
                    </a:solidFill>
                    <a:latin typeface="Cambria Math" panose="02040503050406030204" pitchFamily="18" charset="0"/>
                  </a:rPr>
                  <a:t>$x=1$</a:t>
                </a:r>
                <a:r>
                  <a:rPr sz="2400" b="0">
                    <a:solidFill>
                      <a:srgbClr val="111827"/>
                    </a:solidFill>
                    <a:latin typeface="Arial"/>
                  </a:rPr>
                  <a:t> the change depends on the parity of </a:t>
                </a:r>
                <a:r>
                  <a:rPr lang="en-IN" sz="2400">
                    <a:solidFill>
                      <a:srgbClr val="111827"/>
                    </a:solidFill>
                    <a:latin typeface="Cambria Math" panose="02040503050406030204" pitchFamily="18" charset="0"/>
                  </a:rPr>
                  <a:t>$n$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$f(x)=0$</a:t>
                </a:r>
                <a:r>
                  <a:rPr sz="2400" b="0">
                    <a:solidFill>
                      <a:srgbClr val="111827"/>
                    </a:solidFill>
                    <a:latin typeface="Arial"/>
                  </a:rPr>
                  <a:t> only at </a:t>
                </a:r>
                <a:r>
                  <a:rPr lang="en-IN" sz="2400">
                    <a:solidFill>
                      <a:srgbClr val="111827"/>
                    </a:solidFill>
                    <a:latin typeface="Cambria Math" panose="02040503050406030204" pitchFamily="18" charset="0"/>
                  </a:rPr>
                  <a:t>$x=0$</a:t>
                </a:r>
                <a:r>
                  <a:rPr sz="2400" b="0">
                    <a:solidFill>
                      <a:srgbClr val="111827"/>
                    </a:solidFill>
                    <a:latin typeface="Arial"/>
                  </a:rPr>
                  <a:t>, with multiplicity </a:t>
                </a:r>
                <a:r>
                  <a:rPr lang="en-IN" sz="2400">
                    <a:solidFill>
                      <a:srgbClr val="111827"/>
                    </a:solidFill>
                    <a:latin typeface="Cambria Math" panose="02040503050406030204" pitchFamily="18" charset="0"/>
                  </a:rPr>
                  <a:t>$4$</a:t>
                </a:r>
                <a:r>
                  <a:rPr sz="2400" b="0">
                    <a:solidFill>
                      <a:srgbClr val="111827"/>
                    </a:solidFill>
                    <a:latin typeface="Arial"/>
                  </a:rPr>
                  <a:t>. Without loss of generality let </a:t>
                </a:r>
                <a:r>
                  <a:rPr lang="en-IN" sz="2400">
                    <a:solidFill>
                      <a:srgbClr val="111827"/>
                    </a:solidFill>
                    <a:latin typeface="Cambria Math" panose="02040503050406030204" pitchFamily="18" charset="0"/>
                  </a:rPr>
                  <a:t>$n$</a:t>
                </a:r>
                <a:r>
                  <a:rPr sz="2400" b="0">
                    <a:solidFill>
                      <a:srgbClr val="111827"/>
                    </a:solidFill>
                    <a:latin typeface="Arial"/>
                  </a:rPr>
                  <a:t> be even (if </a:t>
                </a:r>
                <a:r>
                  <a:rPr lang="en-IN" sz="2400">
                    <a:solidFill>
                      <a:srgbClr val="111827"/>
                    </a:solidFill>
                    <a:latin typeface="Cambria Math" panose="02040503050406030204" pitchFamily="18" charset="0"/>
                  </a:rPr>
                  <a:t>$n$</a:t>
                </a:r>
                <a:r>
                  <a:rPr sz="2400" b="0">
                    <a:solidFill>
                      <a:srgbClr val="111827"/>
                    </a:solidFill>
                    <a:latin typeface="Arial"/>
                  </a:rPr>
                  <a:t> is odd, </a:t>
                </a:r>
                <a:r>
                  <a:rPr lang="en-IN" sz="2400">
                    <a:solidFill>
                      <a:srgbClr val="111827"/>
                    </a:solidFill>
                    <a:latin typeface="Cambria Math" panose="02040503050406030204" pitchFamily="18" charset="0"/>
                  </a:rPr>
                  <a:t>$-f$</a:t>
                </a:r>
                <a:r>
                  <a:rPr sz="2400" b="0">
                    <a:solidFill>
                      <a:srgbClr val="111827"/>
                    </a:solidFill>
                    <a:latin typeface="Arial"/>
                  </a:rPr>
                  <a:t> is positive for </a:t>
                </a:r>
                <a:r>
                  <a:rPr lang="en-IN" sz="2400">
                    <a:solidFill>
                      <a:srgbClr val="111827"/>
                    </a:solidFill>
                    <a:latin typeface="Cambria Math" panose="02040503050406030204" pitchFamily="18" charset="0"/>
                  </a:rPr>
                  <a:t>$x&lt;0$</a:t>
                </a:r>
                <a:r>
                  <a:rPr sz="2400" b="0">
                    <a:solidFill>
                      <a:srgbClr val="111827"/>
                    </a:solidFill>
                    <a:latin typeface="Arial"/>
                  </a:rPr>
                  <a:t> and the reasoning is the same).</a:t>
                </a:r>
                <a:endParaRPr sz="2400">
                  <a:solidFill>
                    <a:srgbClr val="111827"/>
                  </a:solidFill>
                </a:endParaRPr>
              </a:p>
            </p:txBody>
          </p:sp>
        </mc:Fallback>
      </mc:AlternateContent>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even,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has all derivatives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Due to the multiple root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the graph is concave up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near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from above,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concave up for large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$n$</a:t>
                </a:r>
                <a:r>
                  <a:rPr sz="2400" b="0">
                    <a:solidFill>
                      <a:srgbClr val="111827"/>
                    </a:solidFill>
                    <a:latin typeface="Arial"/>
                  </a:rPr>
                  <a:t> even, </a:t>
                </a:r>
                <a:r>
                  <a:rPr lang="en-IN" sz="2400">
                    <a:solidFill>
                      <a:srgbClr val="111827"/>
                    </a:solidFill>
                    <a:latin typeface="Cambria Math" panose="02040503050406030204" pitchFamily="18" charset="0"/>
                  </a:rPr>
                  <a:t>$f&gt;0$</a:t>
                </a:r>
                <a:r>
                  <a:rPr sz="2400" b="0">
                    <a:solidFill>
                      <a:srgbClr val="111827"/>
                    </a:solidFill>
                    <a:latin typeface="Arial"/>
                  </a:rPr>
                  <a:t> for </a:t>
                </a:r>
                <a:r>
                  <a:rPr lang="en-IN" sz="2400">
                    <a:solidFill>
                      <a:srgbClr val="111827"/>
                    </a:solidFill>
                    <a:latin typeface="Cambria Math" panose="02040503050406030204" pitchFamily="18" charset="0"/>
                  </a:rPr>
                  <a:t>$x&lt;1$</a:t>
                </a:r>
                <a:r>
                  <a:rPr sz="2400" b="0">
                    <a:solidFill>
                      <a:srgbClr val="111827"/>
                    </a:solidFill>
                    <a:latin typeface="Arial"/>
                  </a:rPr>
                  <a:t>, </a:t>
                </a:r>
                <a:r>
                  <a:rPr lang="en-IN" sz="2400">
                    <a:solidFill>
                      <a:srgbClr val="111827"/>
                    </a:solidFill>
                    <a:latin typeface="Cambria Math" panose="02040503050406030204" pitchFamily="18" charset="0"/>
                  </a:rPr>
                  <a:t>$x\ne0$</a:t>
                </a:r>
                <a:r>
                  <a:rPr sz="2400" b="0">
                    <a:solidFill>
                      <a:srgbClr val="111827"/>
                    </a:solidFill>
                    <a:latin typeface="Arial"/>
                  </a:rPr>
                  <a:t>, and </a:t>
                </a:r>
                <a:r>
                  <a:rPr lang="en-IN" sz="2400">
                    <a:solidFill>
                      <a:srgbClr val="111827"/>
                    </a:solidFill>
                    <a:latin typeface="Cambria Math" panose="02040503050406030204" pitchFamily="18" charset="0"/>
                  </a:rPr>
                  <a:t>$f$</a:t>
                </a:r>
                <a:r>
                  <a:rPr sz="2400" b="0">
                    <a:solidFill>
                      <a:srgbClr val="111827"/>
                    </a:solidFill>
                    <a:latin typeface="Arial"/>
                  </a:rPr>
                  <a:t> has all derivatives for </a:t>
                </a:r>
                <a:r>
                  <a:rPr lang="en-IN" sz="2400">
                    <a:solidFill>
                      <a:srgbClr val="111827"/>
                    </a:solidFill>
                    <a:latin typeface="Cambria Math" panose="02040503050406030204" pitchFamily="18" charset="0"/>
                  </a:rPr>
                  <a:t>$x&lt;1$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Due to the multiple root at </a:t>
                </a:r>
                <a:r>
                  <a:rPr lang="en-IN" sz="2400">
                    <a:solidFill>
                      <a:srgbClr val="111827"/>
                    </a:solidFill>
                    <a:latin typeface="Cambria Math" panose="02040503050406030204" pitchFamily="18" charset="0"/>
                  </a:rPr>
                  <a:t>$x=0$</a:t>
                </a:r>
                <a:r>
                  <a:rPr sz="2400" b="0">
                    <a:solidFill>
                      <a:srgbClr val="111827"/>
                    </a:solidFill>
                    <a:latin typeface="Arial"/>
                  </a:rPr>
                  <a:t>, </a:t>
                </a:r>
                <a:r>
                  <a:rPr lang="en-IN" sz="2400">
                    <a:solidFill>
                      <a:srgbClr val="111827"/>
                    </a:solidFill>
                    <a:latin typeface="Cambria Math" panose="02040503050406030204" pitchFamily="18" charset="0"/>
                  </a:rPr>
                  <a:t>$f\approx cx^4$</a:t>
                </a:r>
                <a:r>
                  <a:rPr sz="2400" b="0">
                    <a:solidFill>
                      <a:srgbClr val="111827"/>
                    </a:solidFill>
                    <a:latin typeface="Arial"/>
                  </a:rPr>
                  <a:t> with </a:t>
                </a:r>
                <a:r>
                  <a:rPr lang="en-IN" sz="2400">
                    <a:solidFill>
                      <a:srgbClr val="111827"/>
                    </a:solidFill>
                    <a:latin typeface="Cambria Math" panose="02040503050406030204" pitchFamily="18" charset="0"/>
                  </a:rPr>
                  <a:t>$c&gt;0$</a:t>
                </a:r>
                <a:r>
                  <a:rPr sz="2400" b="0">
                    <a:solidFill>
                      <a:srgbClr val="111827"/>
                    </a:solidFill>
                    <a:latin typeface="Arial"/>
                  </a:rPr>
                  <a:t>, so the graph is concave up (</a:t>
                </a:r>
                <a:r>
                  <a:rPr lang="en-IN" sz="2400">
                    <a:solidFill>
                      <a:srgbClr val="111827"/>
                    </a:solidFill>
                    <a:latin typeface="Cambria Math" panose="02040503050406030204" pitchFamily="18" charset="0"/>
                  </a:rPr>
                  <a:t>$f''&gt;0$</a:t>
                </a:r>
                <a:r>
                  <a:rPr sz="2400" b="0">
                    <a:solidFill>
                      <a:srgbClr val="111827"/>
                    </a:solidFill>
                    <a:latin typeface="Arial"/>
                  </a:rPr>
                  <a:t>) near </a:t>
                </a:r>
                <a:r>
                  <a:rPr lang="en-IN" sz="2400">
                    <a:solidFill>
                      <a:srgbClr val="111827"/>
                    </a:solidFill>
                    <a:latin typeface="Cambria Math" panose="02040503050406030204" pitchFamily="18" charset="0"/>
                  </a:rPr>
                  <a:t>$x=0$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As </a:t>
                </a:r>
                <a:r>
                  <a:rPr lang="en-IN" sz="2400">
                    <a:solidFill>
                      <a:srgbClr val="111827"/>
                    </a:solidFill>
                    <a:latin typeface="Cambria Math" panose="02040503050406030204" pitchFamily="18" charset="0"/>
                  </a:rPr>
                  <a:t>$x\to-\infty$</a:t>
                </a:r>
                <a:r>
                  <a:rPr sz="2400" b="0">
                    <a:solidFill>
                      <a:srgbClr val="111827"/>
                    </a:solidFill>
                    <a:latin typeface="Arial"/>
                  </a:rPr>
                  <a:t>, </a:t>
                </a:r>
                <a:r>
                  <a:rPr lang="en-IN" sz="2400">
                    <a:solidFill>
                      <a:srgbClr val="111827"/>
                    </a:solidFill>
                    <a:latin typeface="Cambria Math" panose="02040503050406030204" pitchFamily="18" charset="0"/>
                  </a:rPr>
                  <a:t>$f(x)\sim x^{4-n}\to0$</a:t>
                </a:r>
                <a:r>
                  <a:rPr sz="2400" b="0">
                    <a:solidFill>
                      <a:srgbClr val="111827"/>
                    </a:solidFill>
                    <a:latin typeface="Arial"/>
                  </a:rPr>
                  <a:t> from above, and </a:t>
                </a:r>
                <a:r>
                  <a:rPr lang="en-IN" sz="2400">
                    <a:solidFill>
                      <a:srgbClr val="111827"/>
                    </a:solidFill>
                    <a:latin typeface="Cambria Math" panose="02040503050406030204" pitchFamily="18" charset="0"/>
                  </a:rPr>
                  <a:t>$f''\sim(4-n)(3-n)x^{2-n}&gt;0$</a:t>
                </a:r>
                <a:r>
                  <a:rPr sz="2400" b="0">
                    <a:solidFill>
                      <a:srgbClr val="111827"/>
                    </a:solidFill>
                    <a:latin typeface="Arial"/>
                  </a:rPr>
                  <a:t>: concave up for large </a:t>
                </a:r>
                <a:r>
                  <a:rPr lang="en-IN" sz="2400">
                    <a:solidFill>
                      <a:srgbClr val="111827"/>
                    </a:solidFill>
                    <a:latin typeface="Cambria Math" panose="02040503050406030204" pitchFamily="18" charset="0"/>
                  </a:rPr>
                  <a:t>$|x|$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cannot be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throughout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 convex function with limit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at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value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would be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contradicting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the graph is concave down somewhere between.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Concave up near both ends and concave down in between means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changes sign at least twice: at least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inflection points, i.e. more than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a:t>
                </a:r>
                <a:r>
                  <a:rPr sz="2400" b="0">
                    <a:solidFill>
                      <a:srgbClr val="111827"/>
                    </a:solidFill>
                    <a:latin typeface="Arial"/>
                  </a:rPr>
                  <a:t> cannot be </a:t>
                </a:r>
                <a:r>
                  <a:rPr lang="en-IN" sz="2400">
                    <a:solidFill>
                      <a:srgbClr val="111827"/>
                    </a:solidFill>
                    <a:latin typeface="Cambria Math" panose="02040503050406030204" pitchFamily="18" charset="0"/>
                  </a:rPr>
                  <a:t>$\ge0$</a:t>
                </a:r>
                <a:r>
                  <a:rPr sz="2400" b="0">
                    <a:solidFill>
                      <a:srgbClr val="111827"/>
                    </a:solidFill>
                    <a:latin typeface="Arial"/>
                  </a:rPr>
                  <a:t> throughout </a:t>
                </a:r>
                <a:r>
                  <a:rPr lang="en-IN" sz="2400">
                    <a:solidFill>
                      <a:srgbClr val="111827"/>
                    </a:solidFill>
                    <a:latin typeface="Cambria Math" panose="02040503050406030204" pitchFamily="18" charset="0"/>
                  </a:rPr>
                  <a:t>$(-\infty,0]$</a:t>
                </a:r>
                <a:r>
                  <a:rPr sz="2400" b="0">
                    <a:solidFill>
                      <a:srgbClr val="111827"/>
                    </a:solidFill>
                    <a:latin typeface="Arial"/>
                  </a:rPr>
                  <a:t>: a convex function with limit </a:t>
                </a:r>
                <a:r>
                  <a:rPr lang="en-IN" sz="2400">
                    <a:solidFill>
                      <a:srgbClr val="111827"/>
                    </a:solidFill>
                    <a:latin typeface="Cambria Math" panose="02040503050406030204" pitchFamily="18" charset="0"/>
                  </a:rPr>
                  <a:t>$0$</a:t>
                </a:r>
                <a:r>
                  <a:rPr sz="2400" b="0">
                    <a:solidFill>
                      <a:srgbClr val="111827"/>
                    </a:solidFill>
                    <a:latin typeface="Arial"/>
                  </a:rPr>
                  <a:t> at </a:t>
                </a:r>
                <a:r>
                  <a:rPr lang="en-IN" sz="2400">
                    <a:solidFill>
                      <a:srgbClr val="111827"/>
                    </a:solidFill>
                    <a:latin typeface="Cambria Math" panose="02040503050406030204" pitchFamily="18" charset="0"/>
                  </a:rPr>
                  <a:t>$-\infty$</a:t>
                </a:r>
                <a:r>
                  <a:rPr sz="2400" b="0">
                    <a:solidFill>
                      <a:srgbClr val="111827"/>
                    </a:solidFill>
                    <a:latin typeface="Arial"/>
                  </a:rPr>
                  <a:t> and value </a:t>
                </a:r>
                <a:r>
                  <a:rPr lang="en-IN" sz="2400">
                    <a:solidFill>
                      <a:srgbClr val="111827"/>
                    </a:solidFill>
                    <a:latin typeface="Cambria Math" panose="02040503050406030204" pitchFamily="18" charset="0"/>
                  </a:rPr>
                  <a:t>$0$</a:t>
                </a:r>
                <a:r>
                  <a:rPr sz="2400" b="0">
                    <a:solidFill>
                      <a:srgbClr val="111827"/>
                    </a:solidFill>
                    <a:latin typeface="Arial"/>
                  </a:rPr>
                  <a:t> at </a:t>
                </a:r>
                <a:r>
                  <a:rPr lang="en-IN" sz="2400">
                    <a:solidFill>
                      <a:srgbClr val="111827"/>
                    </a:solidFill>
                    <a:latin typeface="Cambria Math" panose="02040503050406030204" pitchFamily="18" charset="0"/>
                  </a:rPr>
                  <a:t>$0$</a:t>
                </a:r>
                <a:r>
                  <a:rPr sz="2400" b="0">
                    <a:solidFill>
                      <a:srgbClr val="111827"/>
                    </a:solidFill>
                    <a:latin typeface="Arial"/>
                  </a:rPr>
                  <a:t> would be </a:t>
                </a:r>
                <a:r>
                  <a:rPr lang="en-IN" sz="2400">
                    <a:solidFill>
                      <a:srgbClr val="111827"/>
                    </a:solidFill>
                    <a:latin typeface="Cambria Math" panose="02040503050406030204" pitchFamily="18" charset="0"/>
                  </a:rPr>
                  <a:t>$\le0$</a:t>
                </a:r>
                <a:r>
                  <a:rPr sz="2400" b="0">
                    <a:solidFill>
                      <a:srgbClr val="111827"/>
                    </a:solidFill>
                    <a:latin typeface="Arial"/>
                  </a:rPr>
                  <a:t>, contradicting </a:t>
                </a:r>
                <a:r>
                  <a:rPr lang="en-IN" sz="2400">
                    <a:solidFill>
                      <a:srgbClr val="111827"/>
                    </a:solidFill>
                    <a:latin typeface="Cambria Math" panose="02040503050406030204" pitchFamily="18" charset="0"/>
                  </a:rPr>
                  <a:t>$f&gt;0$</a:t>
                </a:r>
                <a:r>
                  <a:rPr sz="2400" b="0">
                    <a:solidFill>
                      <a:srgbClr val="111827"/>
                    </a:solidFill>
                    <a:latin typeface="Arial"/>
                  </a:rPr>
                  <a:t>. So the graph is concave down somewhere between.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Concave up near both ends and concave down in between means </a:t>
                </a:r>
                <a:r>
                  <a:rPr lang="en-IN" sz="2400">
                    <a:solidFill>
                      <a:srgbClr val="111827"/>
                    </a:solidFill>
                    <a:latin typeface="Cambria Math" panose="02040503050406030204" pitchFamily="18" charset="0"/>
                  </a:rPr>
                  <a:t>$f''$</a:t>
                </a:r>
                <a:r>
                  <a:rPr sz="2400" b="0">
                    <a:solidFill>
                      <a:srgbClr val="111827"/>
                    </a:solidFill>
                    <a:latin typeface="Arial"/>
                  </a:rPr>
                  <a:t> changes sign at least twice: at least </a:t>
                </a:r>
                <a:r>
                  <a:rPr lang="en-IN" sz="2400">
                    <a:solidFill>
                      <a:srgbClr val="111827"/>
                    </a:solidFill>
                    <a:latin typeface="Cambria Math" panose="02040503050406030204" pitchFamily="18" charset="0"/>
                  </a:rPr>
                  <a:t>$2$</a:t>
                </a:r>
                <a:r>
                  <a:rPr sz="2400" b="0">
                    <a:solidFill>
                      <a:srgbClr val="111827"/>
                    </a:solidFill>
                    <a:latin typeface="Arial"/>
                  </a:rPr>
                  <a:t> inflection points, i.e. more than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 </a:t>
                </a:r>
                <a14:m>
                  <m:oMath xmlns:m="http://schemas.openxmlformats.org/officeDocument/2006/math">
                    <m:r>
                      <a:rPr lang="en-IN" sz="2800" i="1">
                        <a:solidFill>
                          <a:srgbClr val="15803D"/>
                        </a:solidFill>
                        <a:latin typeface="Cambria Math" panose="02040503050406030204" pitchFamily="18" charset="0"/>
                      </a:rPr>
                      <m:t>𝑛</m:t>
                    </m:r>
                  </m:oMath>
                </a14:m>
                <a:r>
                  <a:rPr sz="2800" b="1">
                    <a:solidFill>
                      <a:srgbClr val="15803D"/>
                    </a:solidFill>
                    <a:latin typeface="Arial"/>
                  </a:rPr>
                  <a:t>; (b) (C) </a:t>
                </a:r>
                <a14:m>
                  <m:oMath xmlns:m="http://schemas.openxmlformats.org/officeDocument/2006/math">
                    <m:r>
                      <a:rPr lang="en-IN" sz="2800" i="1">
                        <a:solidFill>
                          <a:srgbClr val="15803D"/>
                        </a:solidFill>
                        <a:latin typeface="Cambria Math" panose="02040503050406030204" pitchFamily="18" charset="0"/>
                      </a:rPr>
                      <m:t>𝑛</m:t>
                    </m:r>
                    <m:r>
                      <m:rPr>
                        <m:sty m:val="p"/>
                      </m:rPr>
                      <a:rPr lang="en-IN" sz="2800">
                        <a:solidFill>
                          <a:srgbClr val="15803D"/>
                        </a:solidFill>
                        <a:latin typeface="Cambria Math" panose="02040503050406030204" pitchFamily="18" charset="0"/>
                      </a:rPr>
                      <m:t>&gt;</m:t>
                    </m:r>
                    <m:r>
                      <a:rPr lang="en-IN" sz="2800" i="1">
                        <a:solidFill>
                          <a:srgbClr val="15803D"/>
                        </a:solidFill>
                        <a:latin typeface="Cambria Math" panose="02040503050406030204" pitchFamily="18" charset="0"/>
                      </a:rPr>
                      <m:t>4</m:t>
                    </m:r>
                  </m:oMath>
                </a14:m>
                <a:r>
                  <a:rPr sz="2800" b="1">
                    <a:solidFill>
                      <a:srgbClr val="15803D"/>
                    </a:solidFill>
                    <a:latin typeface="Arial"/>
                  </a:rPr>
                  <a:t>; (c) (C) </a:t>
                </a:r>
                <a14:m>
                  <m:oMath xmlns:m="http://schemas.openxmlformats.org/officeDocument/2006/math">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𝑛</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oMath>
                </a14:m>
                <a:r>
                  <a:rPr sz="2800" b="1">
                    <a:solidFill>
                      <a:srgbClr val="15803D"/>
                    </a:solidFill>
                    <a:latin typeface="Arial"/>
                  </a:rPr>
                  <a:t>; (d) more than </a:t>
                </a:r>
                <a14:m>
                  <m:oMath xmlns:m="http://schemas.openxmlformats.org/officeDocument/2006/math">
                    <m:r>
                      <a:rPr lang="en-IN" sz="2800" i="1">
                        <a:solidFill>
                          <a:srgbClr val="15803D"/>
                        </a:solidFill>
                        <a:latin typeface="Cambria Math" panose="02040503050406030204" pitchFamily="18" charset="0"/>
                      </a:rPr>
                      <m:t>1</m:t>
                    </m:r>
                  </m:oMath>
                </a14:m>
                <a:r>
                  <a:rPr sz="2800" b="1">
                    <a:solidFill>
                      <a:srgbClr val="15803D"/>
                    </a:solidFill>
                    <a:latin typeface="Arial"/>
                  </a:rPr>
                  <a:t> (at least </a:t>
                </a:r>
                <a14:m>
                  <m:oMath xmlns:m="http://schemas.openxmlformats.org/officeDocument/2006/math">
                    <m:r>
                      <a:rPr lang="en-IN" sz="2800" i="1">
                        <a:solidFill>
                          <a:srgbClr val="15803D"/>
                        </a:solidFill>
                        <a:latin typeface="Cambria Math" panose="02040503050406030204" pitchFamily="18" charset="0"/>
                      </a:rPr>
                      <m:t>2</m:t>
                    </m:r>
                  </m:oMath>
                </a14:m>
                <a:r>
                  <a:rPr sz="2800" b="1">
                    <a:solidFill>
                      <a:srgbClr val="15803D"/>
                    </a:solidFill>
                    <a:latin typeface="Arial"/>
                  </a:rPr>
                  <a:t>)</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 </a:t>
                </a:r>
                <a:r>
                  <a:rPr lang="en-IN" sz="2800">
                    <a:solidFill>
                      <a:srgbClr val="15803D"/>
                    </a:solidFill>
                    <a:latin typeface="Cambria Math" panose="02040503050406030204" pitchFamily="18" charset="0"/>
                  </a:rPr>
                  <a:t>$n$</a:t>
                </a:r>
                <a:r>
                  <a:rPr sz="2800" b="1">
                    <a:solidFill>
                      <a:srgbClr val="15803D"/>
                    </a:solidFill>
                    <a:latin typeface="Arial"/>
                  </a:rPr>
                  <a:t>; (b) (C) </a:t>
                </a:r>
                <a:r>
                  <a:rPr lang="en-IN" sz="2800">
                    <a:solidFill>
                      <a:srgbClr val="15803D"/>
                    </a:solidFill>
                    <a:latin typeface="Cambria Math" panose="02040503050406030204" pitchFamily="18" charset="0"/>
                  </a:rPr>
                  <a:t>$n&gt;4$</a:t>
                </a:r>
                <a:r>
                  <a:rPr sz="2800" b="1">
                    <a:solidFill>
                      <a:srgbClr val="15803D"/>
                    </a:solidFill>
                    <a:latin typeface="Arial"/>
                  </a:rPr>
                  <a:t>; (c) (C) </a:t>
                </a:r>
                <a:r>
                  <a:rPr lang="en-IN" sz="2800">
                    <a:solidFill>
                      <a:srgbClr val="15803D"/>
                    </a:solidFill>
                    <a:latin typeface="Cambria Math" panose="02040503050406030204" pitchFamily="18" charset="0"/>
                  </a:rPr>
                  <a:t>$x=n-1$</a:t>
                </a:r>
                <a:r>
                  <a:rPr sz="2800" b="1">
                    <a:solidFill>
                      <a:srgbClr val="15803D"/>
                    </a:solidFill>
                    <a:latin typeface="Arial"/>
                  </a:rPr>
                  <a:t>; (d) more than </a:t>
                </a:r>
                <a:r>
                  <a:rPr lang="en-IN" sz="2800">
                    <a:solidFill>
                      <a:srgbClr val="15803D"/>
                    </a:solidFill>
                    <a:latin typeface="Cambria Math" panose="02040503050406030204" pitchFamily="18" charset="0"/>
                  </a:rPr>
                  <a:t>$1$</a:t>
                </a:r>
                <a:r>
                  <a:rPr sz="2800" b="1">
                    <a:solidFill>
                      <a:srgbClr val="15803D"/>
                    </a:solidFill>
                    <a:latin typeface="Arial"/>
                  </a:rPr>
                  <a:t> (at least </a:t>
                </a:r>
                <a:r>
                  <a:rPr lang="en-IN" sz="2800">
                    <a:solidFill>
                      <a:srgbClr val="15803D"/>
                    </a:solidFill>
                    <a:latin typeface="Cambria Math" panose="02040503050406030204" pitchFamily="18" charset="0"/>
                  </a:rPr>
                  <a:t>$2$</a:t>
                </a:r>
                <a:r>
                  <a:rPr sz="2800" b="1">
                    <a:solidFill>
                      <a:srgbClr val="15803D"/>
                    </a:solidFill>
                    <a:latin typeface="Arial"/>
                  </a:rPr>
                  <a:t>)</a:t>
                </a:r>
                <a:endParaRPr sz="2800">
                  <a:solidFill>
                    <a:srgbClr val="15803D"/>
                  </a:solidFill>
                </a:endParaRPr>
              </a:p>
            </p:txBody>
          </p:sp>
        </mc:Fallback>
      </mc:AlternateContent>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Vertical asymptotes of a rational function occur at the zeros of the denominator that are not cancelled by the numerator; a horizontal asymptote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needs </a:t>
                </a:r>
                <a14:m>
                  <m:oMath xmlns:m="http://schemas.openxmlformats.org/officeDocument/2006/math">
                    <m:r>
                      <m:rPr>
                        <m:sty m:val="p"/>
                      </m:rPr>
                      <a:rPr lang="en-IN" sz="2400">
                        <a:solidFill>
                          <a:srgbClr val="111827"/>
                        </a:solidFill>
                        <a:latin typeface="Cambria Math" panose="02040503050406030204" pitchFamily="18" charset="0"/>
                      </a:rPr>
                      <m:t>deg</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𝑛𝑢𝑚</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deg</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𝑑𝑒𝑛</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zero of odd multiplicity changes the sign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a zero of even multiplicity (like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oMath>
                </a14:m>
                <a:r>
                  <a:rPr sz="2400" b="0">
                    <a:solidFill>
                      <a:srgbClr val="111827"/>
                    </a:solidFill>
                    <a:latin typeface="Arial"/>
                  </a:rPr>
                  <a:t>) does not; poles of odd order also change the sign.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both ends, then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has an interior maximum, 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somewhere while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near both ends: at least two inflection points.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this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the count in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is exactly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(checked numerically), e.g.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11.07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Vertical asymptotes of a rational function occur at the zeros of the denominator that are not cancelled by the numerator; a horizontal asymptote </a:t>
                </a:r>
                <a:r>
                  <a:rPr lang="en-IN" sz="2400">
                    <a:solidFill>
                      <a:srgbClr val="111827"/>
                    </a:solidFill>
                    <a:latin typeface="Cambria Math" panose="02040503050406030204" pitchFamily="18" charset="0"/>
                  </a:rPr>
                  <a:t>$y=0$</a:t>
                </a:r>
                <a:r>
                  <a:rPr sz="2400" b="0">
                    <a:solidFill>
                      <a:srgbClr val="111827"/>
                    </a:solidFill>
                    <a:latin typeface="Arial"/>
                  </a:rPr>
                  <a:t> needs </a:t>
                </a:r>
                <a:r>
                  <a:rPr lang="en-IN" sz="2400">
                    <a:solidFill>
                      <a:srgbClr val="111827"/>
                    </a:solidFill>
                    <a:latin typeface="Cambria Math" panose="02040503050406030204" pitchFamily="18" charset="0"/>
                  </a:rPr>
                  <a:t>$\deg(\text{num})&lt;\deg(\text{den})$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zero of odd multiplicity changes the sign of </a:t>
                </a:r>
                <a:r>
                  <a:rPr lang="en-IN" sz="2400">
                    <a:solidFill>
                      <a:srgbClr val="111827"/>
                    </a:solidFill>
                    <a:latin typeface="Cambria Math" panose="02040503050406030204" pitchFamily="18" charset="0"/>
                  </a:rPr>
                  <a:t>$f$</a:t>
                </a:r>
                <a:r>
                  <a:rPr sz="2400" b="0">
                    <a:solidFill>
                      <a:srgbClr val="111827"/>
                    </a:solidFill>
                    <a:latin typeface="Arial"/>
                  </a:rPr>
                  <a:t>, a zero of even multiplicity (like </a:t>
                </a:r>
                <a:r>
                  <a:rPr lang="en-IN" sz="2400">
                    <a:solidFill>
                      <a:srgbClr val="111827"/>
                    </a:solidFill>
                    <a:latin typeface="Cambria Math" panose="02040503050406030204" pitchFamily="18" charset="0"/>
                  </a:rPr>
                  <a:t>$x^4$</a:t>
                </a:r>
                <a:r>
                  <a:rPr sz="2400" b="0">
                    <a:solidFill>
                      <a:srgbClr val="111827"/>
                    </a:solidFill>
                    <a:latin typeface="Arial"/>
                  </a:rPr>
                  <a:t>) does not; poles of odd order also change the sign.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$f&gt;0$</a:t>
                </a:r>
                <a:r>
                  <a:rPr sz="2400" b="0">
                    <a:solidFill>
                      <a:srgbClr val="111827"/>
                    </a:solidFill>
                    <a:latin typeface="Arial"/>
                  </a:rPr>
                  <a:t> on </a:t>
                </a:r>
                <a:r>
                  <a:rPr lang="en-IN" sz="2400">
                    <a:solidFill>
                      <a:srgbClr val="111827"/>
                    </a:solidFill>
                    <a:latin typeface="Cambria Math" panose="02040503050406030204" pitchFamily="18" charset="0"/>
                  </a:rPr>
                  <a:t>$(-\infty,0)$</a:t>
                </a:r>
                <a:r>
                  <a:rPr sz="2400" b="0">
                    <a:solidFill>
                      <a:srgbClr val="111827"/>
                    </a:solidFill>
                    <a:latin typeface="Arial"/>
                  </a:rPr>
                  <a:t> and </a:t>
                </a:r>
                <a:r>
                  <a:rPr lang="en-IN" sz="2400">
                    <a:solidFill>
                      <a:srgbClr val="111827"/>
                    </a:solidFill>
                    <a:latin typeface="Cambria Math" panose="02040503050406030204" pitchFamily="18" charset="0"/>
                  </a:rPr>
                  <a:t>$f\to0$</a:t>
                </a:r>
                <a:r>
                  <a:rPr sz="2400" b="0">
                    <a:solidFill>
                      <a:srgbClr val="111827"/>
                    </a:solidFill>
                    <a:latin typeface="Arial"/>
                  </a:rPr>
                  <a:t> at both ends, then </a:t>
                </a:r>
                <a:r>
                  <a:rPr lang="en-IN" sz="2400">
                    <a:solidFill>
                      <a:srgbClr val="111827"/>
                    </a:solidFill>
                    <a:latin typeface="Cambria Math" panose="02040503050406030204" pitchFamily="18" charset="0"/>
                  </a:rPr>
                  <a:t>$f$</a:t>
                </a:r>
                <a:r>
                  <a:rPr sz="2400" b="0">
                    <a:solidFill>
                      <a:srgbClr val="111827"/>
                    </a:solidFill>
                    <a:latin typeface="Arial"/>
                  </a:rPr>
                  <a:t> has an interior maximum, so </a:t>
                </a:r>
                <a:r>
                  <a:rPr lang="en-IN" sz="2400">
                    <a:solidFill>
                      <a:srgbClr val="111827"/>
                    </a:solidFill>
                    <a:latin typeface="Cambria Math" panose="02040503050406030204" pitchFamily="18" charset="0"/>
                  </a:rPr>
                  <a:t>$f''&lt;0$</a:t>
                </a:r>
                <a:r>
                  <a:rPr sz="2400" b="0">
                    <a:solidFill>
                      <a:srgbClr val="111827"/>
                    </a:solidFill>
                    <a:latin typeface="Arial"/>
                  </a:rPr>
                  <a:t> somewhere while </a:t>
                </a:r>
                <a:r>
                  <a:rPr lang="en-IN" sz="2400">
                    <a:solidFill>
                      <a:srgbClr val="111827"/>
                    </a:solidFill>
                    <a:latin typeface="Cambria Math" panose="02040503050406030204" pitchFamily="18" charset="0"/>
                  </a:rPr>
                  <a:t>$f''&gt;0$</a:t>
                </a:r>
                <a:r>
                  <a:rPr sz="2400" b="0">
                    <a:solidFill>
                      <a:srgbClr val="111827"/>
                    </a:solidFill>
                    <a:latin typeface="Arial"/>
                  </a:rPr>
                  <a:t> near both ends: at least two inflection points.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this </a:t>
                </a:r>
                <a:r>
                  <a:rPr lang="en-IN" sz="2400">
                    <a:solidFill>
                      <a:srgbClr val="111827"/>
                    </a:solidFill>
                    <a:latin typeface="Cambria Math" panose="02040503050406030204" pitchFamily="18" charset="0"/>
                  </a:rPr>
                  <a:t>$f$</a:t>
                </a:r>
                <a:r>
                  <a:rPr sz="2400" b="0">
                    <a:solidFill>
                      <a:srgbClr val="111827"/>
                    </a:solidFill>
                    <a:latin typeface="Arial"/>
                  </a:rPr>
                  <a:t> the count in </a:t>
                </a:r>
                <a:r>
                  <a:rPr lang="en-IN" sz="2400">
                    <a:solidFill>
                      <a:srgbClr val="111827"/>
                    </a:solidFill>
                    <a:latin typeface="Cambria Math" panose="02040503050406030204" pitchFamily="18" charset="0"/>
                  </a:rPr>
                  <a:t>$x&lt;0$</a:t>
                </a:r>
                <a:r>
                  <a:rPr sz="2400" b="0">
                    <a:solidFill>
                      <a:srgbClr val="111827"/>
                    </a:solidFill>
                    <a:latin typeface="Arial"/>
                  </a:rPr>
                  <a:t> is exactly </a:t>
                </a:r>
                <a:r>
                  <a:rPr lang="en-IN" sz="2400">
                    <a:solidFill>
                      <a:srgbClr val="111827"/>
                    </a:solidFill>
                    <a:latin typeface="Cambria Math" panose="02040503050406030204" pitchFamily="18" charset="0"/>
                  </a:rPr>
                  <a:t>$2$</a:t>
                </a:r>
                <a:r>
                  <a:rPr sz="2400" b="0">
                    <a:solidFill>
                      <a:srgbClr val="111827"/>
                    </a:solidFill>
                    <a:latin typeface="Arial"/>
                  </a:rPr>
                  <a:t> for </a:t>
                </a:r>
                <a:r>
                  <a:rPr lang="en-IN" sz="2400">
                    <a:solidFill>
                      <a:srgbClr val="111827"/>
                    </a:solidFill>
                    <a:latin typeface="Cambria Math" panose="02040503050406030204" pitchFamily="18" charset="0"/>
                  </a:rPr>
                  <a:t>$n=5,6,7,8$</a:t>
                </a:r>
                <a:r>
                  <a:rPr sz="2400" b="0">
                    <a:solidFill>
                      <a:srgbClr val="111827"/>
                    </a:solidFill>
                    <a:latin typeface="Arial"/>
                  </a:rPr>
                  <a:t> (checked numerically), e.g. </a:t>
                </a:r>
                <a:r>
                  <a:rPr lang="en-IN" sz="2400">
                    <a:solidFill>
                      <a:srgbClr val="111827"/>
                    </a:solidFill>
                    <a:latin typeface="Cambria Math" panose="02040503050406030204" pitchFamily="18" charset="0"/>
                  </a:rPr>
                  <a:t>$n=6$</a:t>
                </a:r>
                <a:r>
                  <a:rPr sz="2400" b="0">
                    <a:solidFill>
                      <a:srgbClr val="111827"/>
                    </a:solidFill>
                    <a:latin typeface="Arial"/>
                  </a:rPr>
                  <a:t>: </a:t>
                </a:r>
                <a:r>
                  <a:rPr lang="en-IN" sz="2400">
                    <a:solidFill>
                      <a:srgbClr val="111827"/>
                    </a:solidFill>
                    <a:latin typeface="Cambria Math" panose="02040503050406030204" pitchFamily="18" charset="0"/>
                  </a:rPr>
                  <a:t>$x\approx-11.07,\ -1.75$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2275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the function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is a positive constant. Let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largest value of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smallest value of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Show that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&gt;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 for any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22275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the function </a:t>
                </a:r>
                <a:r>
                  <a:rPr lang="en-IN" sz="2400">
                    <a:solidFill>
                      <a:srgbClr val="111827"/>
                    </a:solidFill>
                    <a:latin typeface="Cambria Math" panose="02040503050406030204" pitchFamily="18" charset="0"/>
                  </a:rPr>
                  <a:t>$f(x)=ax+\frac1{x+1}$</a:t>
                </a:r>
                <a:r>
                  <a:rPr sz="2400" b="0">
                    <a:solidFill>
                      <a:srgbClr val="111827"/>
                    </a:solidFill>
                    <a:latin typeface="Arial"/>
                  </a:rPr>
                  <a:t>, where </a:t>
                </a:r>
                <a:r>
                  <a:rPr lang="en-IN" sz="2400">
                    <a:solidFill>
                      <a:srgbClr val="111827"/>
                    </a:solidFill>
                    <a:latin typeface="Cambria Math" panose="02040503050406030204" pitchFamily="18" charset="0"/>
                  </a:rPr>
                  <a:t>$a$</a:t>
                </a:r>
                <a:r>
                  <a:rPr sz="2400" b="0">
                    <a:solidFill>
                      <a:srgbClr val="111827"/>
                    </a:solidFill>
                    <a:latin typeface="Arial"/>
                  </a:rPr>
                  <a:t> is a positive constant. Let </a:t>
                </a:r>
                <a:r>
                  <a:rPr lang="en-IN" sz="2400">
                    <a:solidFill>
                      <a:srgbClr val="111827"/>
                    </a:solidFill>
                    <a:latin typeface="Cambria Math" panose="02040503050406030204" pitchFamily="18" charset="0"/>
                  </a:rPr>
                  <a:t>$L=$</a:t>
                </a:r>
                <a:r>
                  <a:rPr sz="2400" b="0">
                    <a:solidFill>
                      <a:srgbClr val="111827"/>
                    </a:solidFill>
                    <a:latin typeface="Arial"/>
                  </a:rPr>
                  <a:t> the largest value of </a:t>
                </a:r>
                <a:r>
                  <a:rPr lang="en-IN" sz="2400">
                    <a:solidFill>
                      <a:srgbClr val="111827"/>
                    </a:solidFill>
                    <a:latin typeface="Cambria Math" panose="02040503050406030204" pitchFamily="18" charset="0"/>
                  </a:rPr>
                  <a:t>$f(x)$</a:t>
                </a:r>
                <a:r>
                  <a:rPr sz="2400" b="0">
                    <a:solidFill>
                      <a:srgbClr val="111827"/>
                    </a:solidFill>
                    <a:latin typeface="Arial"/>
                  </a:rPr>
                  <a:t> and </a:t>
                </a:r>
                <a:r>
                  <a:rPr lang="en-IN" sz="2400">
                    <a:solidFill>
                      <a:srgbClr val="111827"/>
                    </a:solidFill>
                    <a:latin typeface="Cambria Math" panose="02040503050406030204" pitchFamily="18" charset="0"/>
                  </a:rPr>
                  <a:t>$S=$</a:t>
                </a:r>
                <a:r>
                  <a:rPr sz="2400" b="0">
                    <a:solidFill>
                      <a:srgbClr val="111827"/>
                    </a:solidFill>
                    <a:latin typeface="Arial"/>
                  </a:rPr>
                  <a:t> the smallest value of </a:t>
                </a:r>
                <a:r>
                  <a:rPr lang="en-IN" sz="2400">
                    <a:solidFill>
                      <a:srgbClr val="111827"/>
                    </a:solidFill>
                    <a:latin typeface="Cambria Math" panose="02040503050406030204" pitchFamily="18" charset="0"/>
                  </a:rPr>
                  <a:t>$f(x)$</a:t>
                </a:r>
                <a:r>
                  <a:rPr sz="2400" b="0">
                    <a:solidFill>
                      <a:srgbClr val="111827"/>
                    </a:solidFill>
                    <a:latin typeface="Arial"/>
                  </a:rPr>
                  <a:t> for </a:t>
                </a:r>
                <a:r>
                  <a:rPr lang="en-IN" sz="2400">
                    <a:solidFill>
                      <a:srgbClr val="111827"/>
                    </a:solidFill>
                    <a:latin typeface="Cambria Math" panose="02040503050406030204" pitchFamily="18" charset="0"/>
                  </a:rPr>
                  <a:t>$x\in[0,1]$</a:t>
                </a:r>
                <a:r>
                  <a:rPr sz="2400" b="0">
                    <a:solidFill>
                      <a:srgbClr val="111827"/>
                    </a:solidFill>
                    <a:latin typeface="Arial"/>
                  </a:rPr>
                  <a:t>. Show that </a:t>
                </a:r>
                <a:r>
                  <a:rPr lang="en-IN" sz="2400">
                    <a:solidFill>
                      <a:srgbClr val="111827"/>
                    </a:solidFill>
                    <a:latin typeface="Cambria Math" panose="02040503050406030204" pitchFamily="18" charset="0"/>
                  </a:rPr>
                  <a:t>$L-S&gt;\frac1{12}$</a:t>
                </a:r>
                <a:r>
                  <a:rPr sz="2400" b="0">
                    <a:solidFill>
                      <a:srgbClr val="111827"/>
                    </a:solidFill>
                    <a:latin typeface="Arial"/>
                  </a:rPr>
                  <a:t> for any </a:t>
                </a:r>
                <a:r>
                  <a:rPr lang="en-IN" sz="2400">
                    <a:solidFill>
                      <a:srgbClr val="111827"/>
                    </a:solidFill>
                    <a:latin typeface="Cambria Math" panose="02040503050406030204" pitchFamily="18" charset="0"/>
                  </a:rPr>
                  <a:t>$a&gt;0$</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736339"/>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Extreme values of a function on a closed interval, Convexity and case analysis in a parameter</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4(A level above Average JEE Advanced Level)</a:t>
            </a:r>
            <a:endParaRPr sz="2400">
              <a:solidFill>
                <a:srgbClr val="111827"/>
              </a:solidFill>
            </a:endParaRP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81051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Split on the sign pattern of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den>
                    </m:f>
                  </m:oMath>
                </a14:m>
                <a:r>
                  <a:rPr sz="2400" b="0">
                    <a:solidFill>
                      <a:srgbClr val="78350F"/>
                    </a:solidFill>
                    <a:latin typeface="Arial"/>
                  </a:rPr>
                  <a:t> and show </a:t>
                </a:r>
                <a14:m>
                  <m:oMath xmlns:m="http://schemas.openxmlformats.org/officeDocument/2006/math">
                    <m:r>
                      <a:rPr lang="en-IN" sz="2400" i="1">
                        <a:solidFill>
                          <a:srgbClr val="78350F"/>
                        </a:solidFill>
                        <a:latin typeface="Cambria Math" panose="02040503050406030204" pitchFamily="18" charset="0"/>
                      </a:rPr>
                      <m:t>𝐿</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𝑆</m:t>
                    </m:r>
                  </m:oMath>
                </a14:m>
                <a:r>
                  <a:rPr sz="2400" b="0">
                    <a:solidFill>
                      <a:srgbClr val="78350F"/>
                    </a:solidFill>
                    <a:latin typeface="Arial"/>
                  </a:rPr>
                  <a:t> is smallest,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3</m:t>
                        </m:r>
                      </m:num>
                      <m:den>
                        <m:r>
                          <a:rPr lang="en-IN" sz="2400" i="1">
                            <a:solidFill>
                              <a:srgbClr val="78350F"/>
                            </a:solidFill>
                            <a:latin typeface="Cambria Math" panose="02040503050406030204" pitchFamily="18" charset="0"/>
                          </a:rPr>
                          <m:t>2</m:t>
                        </m:r>
                      </m:den>
                    </m:f>
                    <m:r>
                      <m:rPr>
                        <m:sty m:val="p"/>
                      </m:rPr>
                      <a:rPr lang="en-IN" sz="2400">
                        <a:solidFill>
                          <a:srgbClr val="78350F"/>
                        </a:solidFill>
                        <a:latin typeface="Cambria Math" panose="02040503050406030204" pitchFamily="18" charset="0"/>
                      </a:rPr>
                      <m:t>−</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2</m:t>
                        </m:r>
                      </m:e>
                    </m:rad>
                  </m:oMath>
                </a14:m>
                <a:r>
                  <a:rPr sz="2400" b="0">
                    <a:solidFill>
                      <a:srgbClr val="78350F"/>
                    </a:solidFill>
                    <a:latin typeface="Arial"/>
                  </a:rPr>
                  <a:t>, at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 which exceeds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12</m:t>
                        </m:r>
                      </m:den>
                    </m:f>
                  </m:oMath>
                </a14:m>
                <a:r>
                  <a:rPr sz="2400" b="0">
                    <a:solidFill>
                      <a:srgbClr val="78350F"/>
                    </a:solidFill>
                    <a:latin typeface="Arial"/>
                  </a:rPr>
                  <a:t> because </a:t>
                </a:r>
                <a14:m>
                  <m:oMath xmlns:m="http://schemas.openxmlformats.org/officeDocument/2006/math">
                    <m:sSup>
                      <m:e>
                        <m:r>
                          <a:rPr lang="en-IN" sz="2400" i="1">
                            <a:solidFill>
                              <a:srgbClr val="78350F"/>
                            </a:solidFill>
                            <a:latin typeface="Cambria Math" panose="02040503050406030204" pitchFamily="18" charset="0"/>
                          </a:rPr>
                          <m:t>17</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&gt;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12</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81051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Split on the sign pattern of </a:t>
                </a:r>
                <a:r>
                  <a:rPr lang="en-IN" sz="2400">
                    <a:solidFill>
                      <a:srgbClr val="78350F"/>
                    </a:solidFill>
                    <a:latin typeface="Cambria Math" panose="02040503050406030204" pitchFamily="18" charset="0"/>
                  </a:rPr>
                  <a:t>$f'(x)=a-\frac1{(x+1)^2}$</a:t>
                </a:r>
                <a:r>
                  <a:rPr sz="2400" b="0">
                    <a:solidFill>
                      <a:srgbClr val="78350F"/>
                    </a:solidFill>
                    <a:latin typeface="Arial"/>
                  </a:rPr>
                  <a:t> and show </a:t>
                </a:r>
                <a:r>
                  <a:rPr lang="en-IN" sz="2400">
                    <a:solidFill>
                      <a:srgbClr val="78350F"/>
                    </a:solidFill>
                    <a:latin typeface="Cambria Math" panose="02040503050406030204" pitchFamily="18" charset="0"/>
                  </a:rPr>
                  <a:t>$L-S$</a:t>
                </a:r>
                <a:r>
                  <a:rPr sz="2400" b="0">
                    <a:solidFill>
                      <a:srgbClr val="78350F"/>
                    </a:solidFill>
                    <a:latin typeface="Arial"/>
                  </a:rPr>
                  <a:t> is smallest, </a:t>
                </a:r>
                <a:r>
                  <a:rPr lang="en-IN" sz="2400">
                    <a:solidFill>
                      <a:srgbClr val="78350F"/>
                    </a:solidFill>
                    <a:latin typeface="Cambria Math" panose="02040503050406030204" pitchFamily="18" charset="0"/>
                  </a:rPr>
                  <a:t>$\frac32-\sqrt2$</a:t>
                </a:r>
                <a:r>
                  <a:rPr sz="2400" b="0">
                    <a:solidFill>
                      <a:srgbClr val="78350F"/>
                    </a:solidFill>
                    <a:latin typeface="Arial"/>
                  </a:rPr>
                  <a:t>, at </a:t>
                </a:r>
                <a:r>
                  <a:rPr lang="en-IN" sz="2400">
                    <a:solidFill>
                      <a:srgbClr val="78350F"/>
                    </a:solidFill>
                    <a:latin typeface="Cambria Math" panose="02040503050406030204" pitchFamily="18" charset="0"/>
                  </a:rPr>
                  <a:t>$a=\frac12$</a:t>
                </a:r>
                <a:r>
                  <a:rPr sz="2400" b="0">
                    <a:solidFill>
                      <a:srgbClr val="78350F"/>
                    </a:solidFill>
                    <a:latin typeface="Arial"/>
                  </a:rPr>
                  <a:t>, which exceeds </a:t>
                </a:r>
                <a:r>
                  <a:rPr lang="en-IN" sz="2400">
                    <a:solidFill>
                      <a:srgbClr val="78350F"/>
                    </a:solidFill>
                    <a:latin typeface="Cambria Math" panose="02040503050406030204" pitchFamily="18" charset="0"/>
                  </a:rPr>
                  <a:t>$\frac1{12}$</a:t>
                </a:r>
                <a:r>
                  <a:rPr sz="2400" b="0">
                    <a:solidFill>
                      <a:srgbClr val="78350F"/>
                    </a:solidFill>
                    <a:latin typeface="Arial"/>
                  </a:rPr>
                  <a:t> because </a:t>
                </a:r>
                <a:r>
                  <a:rPr lang="en-IN" sz="2400">
                    <a:solidFill>
                      <a:srgbClr val="78350F"/>
                    </a:solidFill>
                    <a:latin typeface="Cambria Math" panose="02040503050406030204" pitchFamily="18" charset="0"/>
                  </a:rPr>
                  <a:t>$17^2&gt;2\cdot12^2$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227832"/>
                <a:ext cx="10725912" cy="34472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Over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value of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increases from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We consider the sign of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 cases.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(1)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maximum is at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and the minimum at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&gt;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3227832"/>
                <a:ext cx="10725912" cy="34472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$f(0)=1$</a:t>
                </a:r>
                <a:r>
                  <a:rPr sz="2400" b="0">
                    <a:solidFill>
                      <a:srgbClr val="111827"/>
                    </a:solidFill>
                    <a:latin typeface="Arial"/>
                  </a:rPr>
                  <a:t>, </a:t>
                </a:r>
                <a:r>
                  <a:rPr lang="en-IN" sz="2400">
                    <a:solidFill>
                      <a:srgbClr val="111827"/>
                    </a:solidFill>
                    <a:latin typeface="Cambria Math" panose="02040503050406030204" pitchFamily="18" charset="0"/>
                  </a:rPr>
                  <a:t>$f(1)=a+\frac12$</a:t>
                </a:r>
                <a:r>
                  <a:rPr sz="2400" b="0">
                    <a:solidFill>
                      <a:srgbClr val="111827"/>
                    </a:solidFill>
                    <a:latin typeface="Arial"/>
                  </a:rPr>
                  <a:t> and </a:t>
                </a:r>
                <a:r>
                  <a:rPr lang="en-IN" sz="2400">
                    <a:solidFill>
                      <a:srgbClr val="111827"/>
                    </a:solidFill>
                    <a:latin typeface="Cambria Math" panose="02040503050406030204" pitchFamily="18" charset="0"/>
                  </a:rPr>
                  <a:t>$f'(x)=a-\frac1{(x+1)^2}$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Over </a:t>
                </a:r>
                <a:r>
                  <a:rPr lang="en-IN" sz="2400">
                    <a:solidFill>
                      <a:srgbClr val="111827"/>
                    </a:solidFill>
                    <a:latin typeface="Cambria Math" panose="02040503050406030204" pitchFamily="18" charset="0"/>
                  </a:rPr>
                  <a:t>$[0,1]$</a:t>
                </a:r>
                <a:r>
                  <a:rPr sz="2400" b="0">
                    <a:solidFill>
                      <a:srgbClr val="111827"/>
                    </a:solidFill>
                    <a:latin typeface="Arial"/>
                  </a:rPr>
                  <a:t> the value of </a:t>
                </a:r>
                <a:r>
                  <a:rPr lang="en-IN" sz="2400">
                    <a:solidFill>
                      <a:srgbClr val="111827"/>
                    </a:solidFill>
                    <a:latin typeface="Cambria Math" panose="02040503050406030204" pitchFamily="18" charset="0"/>
                  </a:rPr>
                  <a:t>$f'(x)$</a:t>
                </a:r>
                <a:r>
                  <a:rPr sz="2400" b="0">
                    <a:solidFill>
                      <a:srgbClr val="111827"/>
                    </a:solidFill>
                    <a:latin typeface="Arial"/>
                  </a:rPr>
                  <a:t> increases from </a:t>
                </a:r>
                <a:r>
                  <a:rPr lang="en-IN" sz="2400">
                    <a:solidFill>
                      <a:srgbClr val="111827"/>
                    </a:solidFill>
                    <a:latin typeface="Cambria Math" panose="02040503050406030204" pitchFamily="18" charset="0"/>
                  </a:rPr>
                  <a:t>$a-1$</a:t>
                </a:r>
                <a:r>
                  <a:rPr sz="2400" b="0">
                    <a:solidFill>
                      <a:srgbClr val="111827"/>
                    </a:solidFill>
                    <a:latin typeface="Arial"/>
                  </a:rPr>
                  <a:t> at </a:t>
                </a:r>
                <a:r>
                  <a:rPr lang="en-IN" sz="2400">
                    <a:solidFill>
                      <a:srgbClr val="111827"/>
                    </a:solidFill>
                    <a:latin typeface="Cambria Math" panose="02040503050406030204" pitchFamily="18" charset="0"/>
                  </a:rPr>
                  <a:t>$x=0$</a:t>
                </a:r>
                <a:r>
                  <a:rPr sz="2400" b="0">
                    <a:solidFill>
                      <a:srgbClr val="111827"/>
                    </a:solidFill>
                    <a:latin typeface="Arial"/>
                  </a:rPr>
                  <a:t> to </a:t>
                </a:r>
                <a:r>
                  <a:rPr lang="en-IN" sz="2400">
                    <a:solidFill>
                      <a:srgbClr val="111827"/>
                    </a:solidFill>
                    <a:latin typeface="Cambria Math" panose="02040503050406030204" pitchFamily="18" charset="0"/>
                  </a:rPr>
                  <a:t>$a-\frac14$</a:t>
                </a:r>
                <a:r>
                  <a:rPr sz="2400" b="0">
                    <a:solidFill>
                      <a:srgbClr val="111827"/>
                    </a:solidFill>
                    <a:latin typeface="Arial"/>
                  </a:rPr>
                  <a:t> at </a:t>
                </a:r>
                <a:r>
                  <a:rPr lang="en-IN" sz="2400">
                    <a:solidFill>
                      <a:srgbClr val="111827"/>
                    </a:solidFill>
                    <a:latin typeface="Cambria Math" panose="02040503050406030204" pitchFamily="18" charset="0"/>
                  </a:rPr>
                  <a:t>$x=1$</a:t>
                </a:r>
                <a:r>
                  <a:rPr sz="2400" b="0">
                    <a:solidFill>
                      <a:srgbClr val="111827"/>
                    </a:solidFill>
                    <a:latin typeface="Arial"/>
                  </a:rPr>
                  <a:t>. We consider the sign of </a:t>
                </a:r>
                <a:r>
                  <a:rPr lang="en-IN" sz="2400">
                    <a:solidFill>
                      <a:srgbClr val="111827"/>
                    </a:solidFill>
                    <a:latin typeface="Cambria Math" panose="02040503050406030204" pitchFamily="18" charset="0"/>
                  </a:rPr>
                  <a:t>$f'(x)$</a:t>
                </a:r>
                <a:r>
                  <a:rPr sz="2400" b="0">
                    <a:solidFill>
                      <a:srgbClr val="111827"/>
                    </a:solidFill>
                    <a:latin typeface="Arial"/>
                  </a:rPr>
                  <a:t> in cases.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(1) </a:t>
                </a:r>
                <a:r>
                  <a:rPr lang="en-IN" sz="2400">
                    <a:solidFill>
                      <a:srgbClr val="111827"/>
                    </a:solidFill>
                    <a:latin typeface="Cambria Math" panose="02040503050406030204" pitchFamily="18" charset="0"/>
                  </a:rPr>
                  <a:t>$a\le\frac14$</a:t>
                </a:r>
                <a:r>
                  <a:rPr sz="2400" b="0">
                    <a:solidFill>
                      <a:srgbClr val="111827"/>
                    </a:solidFill>
                    <a:latin typeface="Arial"/>
                  </a:rPr>
                  <a:t>: </a:t>
                </a:r>
                <a:r>
                  <a:rPr lang="en-IN" sz="2400">
                    <a:solidFill>
                      <a:srgbClr val="111827"/>
                    </a:solidFill>
                    <a:latin typeface="Cambria Math" panose="02040503050406030204" pitchFamily="18" charset="0"/>
                  </a:rPr>
                  <a:t>$\frac1{(x+1)^2}\ge\frac14\ge a$</a:t>
                </a:r>
                <a:r>
                  <a:rPr sz="2400" b="0">
                    <a:solidFill>
                      <a:srgbClr val="111827"/>
                    </a:solidFill>
                    <a:latin typeface="Arial"/>
                  </a:rPr>
                  <a:t> on </a:t>
                </a:r>
                <a:r>
                  <a:rPr lang="en-IN" sz="2400">
                    <a:solidFill>
                      <a:srgbClr val="111827"/>
                    </a:solidFill>
                    <a:latin typeface="Cambria Math" panose="02040503050406030204" pitchFamily="18" charset="0"/>
                  </a:rPr>
                  <a:t>$[0,1]$</a:t>
                </a:r>
                <a:r>
                  <a:rPr sz="2400" b="0">
                    <a:solidFill>
                      <a:srgbClr val="111827"/>
                    </a:solidFill>
                    <a:latin typeface="Arial"/>
                  </a:rPr>
                  <a:t>, so </a:t>
                </a:r>
                <a:r>
                  <a:rPr lang="en-IN" sz="2400">
                    <a:solidFill>
                      <a:srgbClr val="111827"/>
                    </a:solidFill>
                    <a:latin typeface="Cambria Math" panose="02040503050406030204" pitchFamily="18" charset="0"/>
                  </a:rPr>
                  <a:t>$f'\le0$</a:t>
                </a:r>
                <a:r>
                  <a:rPr sz="2400" b="0">
                    <a:solidFill>
                      <a:srgbClr val="111827"/>
                    </a:solidFill>
                    <a:latin typeface="Arial"/>
                  </a:rPr>
                  <a:t>; the maximum is at </a:t>
                </a:r>
                <a:r>
                  <a:rPr lang="en-IN" sz="2400">
                    <a:solidFill>
                      <a:srgbClr val="111827"/>
                    </a:solidFill>
                    <a:latin typeface="Cambria Math" panose="02040503050406030204" pitchFamily="18" charset="0"/>
                  </a:rPr>
                  <a:t>$0$</a:t>
                </a:r>
                <a:r>
                  <a:rPr sz="2400" b="0">
                    <a:solidFill>
                      <a:srgbClr val="111827"/>
                    </a:solidFill>
                    <a:latin typeface="Arial"/>
                  </a:rPr>
                  <a:t> and the minimum at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$L-S=1-\left(\frac12+a\right)=\frac12-a\ge\frac14&gt;\frac1{12}$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(2)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the maximum is at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and the minimum at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&gt;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(3)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in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the minimum is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max</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(the larger end value).</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(2) </a:t>
                </a:r>
                <a:r>
                  <a:rPr lang="en-IN" sz="2400">
                    <a:solidFill>
                      <a:srgbClr val="111827"/>
                    </a:solidFill>
                    <a:latin typeface="Cambria Math" panose="02040503050406030204" pitchFamily="18" charset="0"/>
                  </a:rPr>
                  <a:t>$a\ge1$</a:t>
                </a:r>
                <a:r>
                  <a:rPr sz="2400" b="0">
                    <a:solidFill>
                      <a:srgbClr val="111827"/>
                    </a:solidFill>
                    <a:latin typeface="Arial"/>
                  </a:rPr>
                  <a:t>: </a:t>
                </a:r>
                <a:r>
                  <a:rPr lang="en-IN" sz="2400">
                    <a:solidFill>
                      <a:srgbClr val="111827"/>
                    </a:solidFill>
                    <a:latin typeface="Cambria Math" panose="02040503050406030204" pitchFamily="18" charset="0"/>
                  </a:rPr>
                  <a:t>$f'\ge0$</a:t>
                </a:r>
                <a:r>
                  <a:rPr sz="2400" b="0">
                    <a:solidFill>
                      <a:srgbClr val="111827"/>
                    </a:solidFill>
                    <a:latin typeface="Arial"/>
                  </a:rPr>
                  <a:t> on </a:t>
                </a:r>
                <a:r>
                  <a:rPr lang="en-IN" sz="2400">
                    <a:solidFill>
                      <a:srgbClr val="111827"/>
                    </a:solidFill>
                    <a:latin typeface="Cambria Math" panose="02040503050406030204" pitchFamily="18" charset="0"/>
                  </a:rPr>
                  <a:t>$[0,1]$</a:t>
                </a:r>
                <a:r>
                  <a:rPr sz="2400" b="0">
                    <a:solidFill>
                      <a:srgbClr val="111827"/>
                    </a:solidFill>
                    <a:latin typeface="Arial"/>
                  </a:rPr>
                  <a:t>, so the maximum is at </a:t>
                </a:r>
                <a:r>
                  <a:rPr lang="en-IN" sz="2400">
                    <a:solidFill>
                      <a:srgbClr val="111827"/>
                    </a:solidFill>
                    <a:latin typeface="Cambria Math" panose="02040503050406030204" pitchFamily="18" charset="0"/>
                  </a:rPr>
                  <a:t>$1$</a:t>
                </a:r>
                <a:r>
                  <a:rPr sz="2400" b="0">
                    <a:solidFill>
                      <a:srgbClr val="111827"/>
                    </a:solidFill>
                    <a:latin typeface="Arial"/>
                  </a:rPr>
                  <a:t> and the minimum at </a:t>
                </a:r>
                <a:r>
                  <a:rPr lang="en-IN" sz="2400">
                    <a:solidFill>
                      <a:srgbClr val="111827"/>
                    </a:solidFill>
                    <a:latin typeface="Cambria Math" panose="02040503050406030204" pitchFamily="18" charset="0"/>
                  </a:rPr>
                  <a:t>$0$</a:t>
                </a:r>
                <a:r>
                  <a:rPr sz="2400" b="0">
                    <a:solidFill>
                      <a:srgbClr val="111827"/>
                    </a:solidFill>
                    <a:latin typeface="Arial"/>
                  </a:rPr>
                  <a:t>. </a:t>
                </a:r>
                <a:r>
                  <a:rPr lang="en-IN" sz="2400">
                    <a:solidFill>
                      <a:srgbClr val="111827"/>
                    </a:solidFill>
                    <a:latin typeface="Cambria Math" panose="02040503050406030204" pitchFamily="18" charset="0"/>
                  </a:rPr>
                  <a:t>$L-S=a+\frac12-1=a-\frac12\ge\frac12&gt;\frac1{12}$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(3) </a:t>
                </a:r>
                <a:r>
                  <a:rPr lang="en-IN" sz="2400">
                    <a:solidFill>
                      <a:srgbClr val="111827"/>
                    </a:solidFill>
                    <a:latin typeface="Cambria Math" panose="02040503050406030204" pitchFamily="18" charset="0"/>
                  </a:rPr>
                  <a:t>$\frac14&lt;a&lt;1$</a:t>
                </a:r>
                <a:r>
                  <a:rPr sz="2400" b="0">
                    <a:solidFill>
                      <a:srgbClr val="111827"/>
                    </a:solidFill>
                    <a:latin typeface="Arial"/>
                  </a:rPr>
                  <a:t>: </a:t>
                </a:r>
                <a:r>
                  <a:rPr lang="en-IN" sz="2400">
                    <a:solidFill>
                      <a:srgbClr val="111827"/>
                    </a:solidFill>
                    <a:latin typeface="Cambria Math" panose="02040503050406030204" pitchFamily="18" charset="0"/>
                  </a:rPr>
                  <a:t>$f'(x)=0$</a:t>
                </a:r>
                <a:r>
                  <a:rPr sz="2400" b="0">
                    <a:solidFill>
                      <a:srgbClr val="111827"/>
                    </a:solidFill>
                    <a:latin typeface="Arial"/>
                  </a:rPr>
                  <a:t> at </a:t>
                </a:r>
                <a:r>
                  <a:rPr lang="en-IN" sz="2400">
                    <a:solidFill>
                      <a:srgbClr val="111827"/>
                    </a:solidFill>
                    <a:latin typeface="Cambria Math" panose="02040503050406030204" pitchFamily="18" charset="0"/>
                  </a:rPr>
                  <a:t>$\tilde x=\frac1{\sqrt a}-1\in(0,1)$</a:t>
                </a:r>
                <a:r>
                  <a:rPr sz="2400" b="0">
                    <a:solidFill>
                      <a:srgbClr val="111827"/>
                    </a:solidFill>
                    <a:latin typeface="Arial"/>
                  </a:rPr>
                  <a:t>. In </a:t>
                </a:r>
                <a:r>
                  <a:rPr lang="en-IN" sz="2400">
                    <a:solidFill>
                      <a:srgbClr val="111827"/>
                    </a:solidFill>
                    <a:latin typeface="Cambria Math" panose="02040503050406030204" pitchFamily="18" charset="0"/>
                  </a:rPr>
                  <a:t>$[0,\tilde x]$</a:t>
                </a:r>
                <a:r>
                  <a:rPr sz="2400" b="0">
                    <a:solidFill>
                      <a:srgbClr val="111827"/>
                    </a:solidFill>
                    <a:latin typeface="Arial"/>
                  </a:rPr>
                  <a:t>, </a:t>
                </a:r>
                <a:r>
                  <a:rPr lang="en-IN" sz="2400">
                    <a:solidFill>
                      <a:srgbClr val="111827"/>
                    </a:solidFill>
                    <a:latin typeface="Cambria Math" panose="02040503050406030204" pitchFamily="18" charset="0"/>
                  </a:rPr>
                  <a:t>$f'\le0$</a:t>
                </a:r>
                <a:r>
                  <a:rPr sz="2400" b="0">
                    <a:solidFill>
                      <a:srgbClr val="111827"/>
                    </a:solidFill>
                    <a:latin typeface="Arial"/>
                  </a:rPr>
                  <a:t> and in </a:t>
                </a:r>
                <a:r>
                  <a:rPr lang="en-IN" sz="2400">
                    <a:solidFill>
                      <a:srgbClr val="111827"/>
                    </a:solidFill>
                    <a:latin typeface="Cambria Math" panose="02040503050406030204" pitchFamily="18" charset="0"/>
                  </a:rPr>
                  <a:t>$[\tilde x,1]$</a:t>
                </a:r>
                <a:r>
                  <a:rPr sz="2400" b="0">
                    <a:solidFill>
                      <a:srgbClr val="111827"/>
                    </a:solidFill>
                    <a:latin typeface="Arial"/>
                  </a:rPr>
                  <a:t>, </a:t>
                </a:r>
                <a:r>
                  <a:rPr lang="en-IN" sz="2400">
                    <a:solidFill>
                      <a:srgbClr val="111827"/>
                    </a:solidFill>
                    <a:latin typeface="Cambria Math" panose="02040503050406030204" pitchFamily="18" charset="0"/>
                  </a:rPr>
                  <a:t>$f'\ge0$</a:t>
                </a:r>
                <a:r>
                  <a:rPr sz="2400" b="0">
                    <a:solidFill>
                      <a:srgbClr val="111827"/>
                    </a:solidFill>
                    <a:latin typeface="Arial"/>
                  </a:rPr>
                  <a:t>, so the minimum is at </a:t>
                </a:r>
                <a:r>
                  <a:rPr lang="en-IN" sz="2400">
                    <a:solidFill>
                      <a:srgbClr val="111827"/>
                    </a:solidFill>
                    <a:latin typeface="Cambria Math" panose="02040503050406030204" pitchFamily="18" charset="0"/>
                  </a:rPr>
                  <a:t>$\tilde 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$S=f(\tilde x)=a\left(\frac1{\sqrt a}-1\right)+\sqrt a=2\sqrt a-a$</a:t>
                </a:r>
                <a:r>
                  <a:rPr sz="2400" b="0">
                    <a:solidFill>
                      <a:srgbClr val="111827"/>
                    </a:solidFill>
                    <a:latin typeface="Arial"/>
                  </a:rPr>
                  <a:t>, and </a:t>
                </a:r>
                <a:r>
                  <a:rPr lang="en-IN" sz="2400">
                    <a:solidFill>
                      <a:srgbClr val="111827"/>
                    </a:solidFill>
                    <a:latin typeface="Cambria Math" panose="02040503050406030204" pitchFamily="18" charset="0"/>
                  </a:rPr>
                  <a:t>$L=\max\left\{1,\,a+\frac12\right\}$</a:t>
                </a:r>
                <a:r>
                  <a:rPr sz="2400" b="0">
                    <a:solidFill>
                      <a:srgbClr val="111827"/>
                    </a:solidFill>
                    <a:latin typeface="Arial"/>
                  </a:rPr>
                  <a:t> (the larger end value).</a:t>
                </a:r>
                <a:endParaRPr sz="2400">
                  <a:solidFill>
                    <a:srgbClr val="111827"/>
                  </a:solidFill>
                </a:endParaRPr>
              </a:p>
            </p:txBody>
          </p:sp>
        </mc:Fallback>
      </mc:AlternateContent>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(3i)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e>
                    </m:rad>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decreases as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increases, so for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(3ii)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d>
                          <m:dPr>
                            <m:begChr m:val="("/>
                            <m:sepChr m:val=""/>
                            <m:endChr m:val=")"/>
                            <m:grow/>
                            <m:ctrlPr>
                              <a:rPr lang="en-IN" sz="2400" i="1">
                                <a:solidFill>
                                  <a:srgbClr val="111827"/>
                                </a:solidFill>
                                <a:latin typeface="Cambria Math" panose="02040503050406030204" pitchFamily="18" charset="0"/>
                              </a:rPr>
                            </m:ctrlPr>
                          </m:dPr>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(3i) </a:t>
                </a:r>
                <a:r>
                  <a:rPr lang="en-IN" sz="2400">
                    <a:solidFill>
                      <a:srgbClr val="111827"/>
                    </a:solidFill>
                    <a:latin typeface="Cambria Math" panose="02040503050406030204" pitchFamily="18" charset="0"/>
                  </a:rPr>
                  <a:t>$\frac14&lt;a\le\frac12$</a:t>
                </a:r>
                <a:r>
                  <a:rPr sz="2400" b="0">
                    <a:solidFill>
                      <a:srgbClr val="111827"/>
                    </a:solidFill>
                    <a:latin typeface="Arial"/>
                  </a:rPr>
                  <a:t>: then </a:t>
                </a:r>
                <a:r>
                  <a:rPr lang="en-IN" sz="2400">
                    <a:solidFill>
                      <a:srgbClr val="111827"/>
                    </a:solidFill>
                    <a:latin typeface="Cambria Math" panose="02040503050406030204" pitchFamily="18" charset="0"/>
                  </a:rPr>
                  <a:t>$f(0)\ge f(1)$</a:t>
                </a:r>
                <a:r>
                  <a:rPr sz="2400" b="0">
                    <a:solidFill>
                      <a:srgbClr val="111827"/>
                    </a:solidFill>
                    <a:latin typeface="Arial"/>
                  </a:rPr>
                  <a:t>, so </a:t>
                </a:r>
                <a:r>
                  <a:rPr lang="en-IN" sz="2400">
                    <a:solidFill>
                      <a:srgbClr val="111827"/>
                    </a:solidFill>
                    <a:latin typeface="Cambria Math" panose="02040503050406030204" pitchFamily="18" charset="0"/>
                  </a:rPr>
                  <a:t>$L=1$</a:t>
                </a:r>
                <a:r>
                  <a:rPr sz="2400" b="0">
                    <a:solidFill>
                      <a:srgbClr val="111827"/>
                    </a:solidFill>
                    <a:latin typeface="Arial"/>
                  </a:rPr>
                  <a:t> and </a:t>
                </a:r>
                <a:r>
                  <a:rPr lang="en-IN" sz="2400">
                    <a:solidFill>
                      <a:srgbClr val="111827"/>
                    </a:solidFill>
                    <a:latin typeface="Cambria Math" panose="02040503050406030204" pitchFamily="18" charset="0"/>
                  </a:rPr>
                  <a:t>$L-S=1+a-2\sqrt a=(1-\sqrt 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decreases as </a:t>
                </a:r>
                <a:r>
                  <a:rPr lang="en-IN" sz="2400">
                    <a:solidFill>
                      <a:srgbClr val="111827"/>
                    </a:solidFill>
                    <a:latin typeface="Cambria Math" panose="02040503050406030204" pitchFamily="18" charset="0"/>
                  </a:rPr>
                  <a:t>$a$</a:t>
                </a:r>
                <a:r>
                  <a:rPr sz="2400" b="0">
                    <a:solidFill>
                      <a:srgbClr val="111827"/>
                    </a:solidFill>
                    <a:latin typeface="Arial"/>
                  </a:rPr>
                  <a:t> increases, so for </a:t>
                </a:r>
                <a:r>
                  <a:rPr lang="en-IN" sz="2400">
                    <a:solidFill>
                      <a:srgbClr val="111827"/>
                    </a:solidFill>
                    <a:latin typeface="Cambria Math" panose="02040503050406030204" pitchFamily="18" charset="0"/>
                  </a:rPr>
                  <a:t>$a\le\frac12$</a:t>
                </a:r>
                <a:r>
                  <a:rPr sz="2400" b="0">
                    <a:solidFill>
                      <a:srgbClr val="111827"/>
                    </a:solidFill>
                    <a:latin typeface="Arial"/>
                  </a:rPr>
                  <a:t>: </a:t>
                </a:r>
                <a:r>
                  <a:rPr lang="en-IN" sz="2400">
                    <a:solidFill>
                      <a:srgbClr val="111827"/>
                    </a:solidFill>
                    <a:latin typeface="Cambria Math" panose="02040503050406030204" pitchFamily="18" charset="0"/>
                  </a:rPr>
                  <a:t>$L-S\ge\left(1-\frac1{\sqrt2}\right)^2=\frac32-\sqrt2$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(3ii) </a:t>
                </a:r>
                <a:r>
                  <a:rPr lang="en-IN" sz="2400">
                    <a:solidFill>
                      <a:srgbClr val="111827"/>
                    </a:solidFill>
                    <a:latin typeface="Cambria Math" panose="02040503050406030204" pitchFamily="18" charset="0"/>
                  </a:rPr>
                  <a:t>$\frac12&lt;a&lt;1$</a:t>
                </a:r>
                <a:r>
                  <a:rPr sz="2400" b="0">
                    <a:solidFill>
                      <a:srgbClr val="111827"/>
                    </a:solidFill>
                    <a:latin typeface="Arial"/>
                  </a:rPr>
                  <a:t>: then </a:t>
                </a:r>
                <a:r>
                  <a:rPr lang="en-IN" sz="2400">
                    <a:solidFill>
                      <a:srgbClr val="111827"/>
                    </a:solidFill>
                    <a:latin typeface="Cambria Math" panose="02040503050406030204" pitchFamily="18" charset="0"/>
                  </a:rPr>
                  <a:t>$f(1)&gt;f(0)$</a:t>
                </a:r>
                <a:r>
                  <a:rPr sz="2400" b="0">
                    <a:solidFill>
                      <a:srgbClr val="111827"/>
                    </a:solidFill>
                    <a:latin typeface="Arial"/>
                  </a:rPr>
                  <a:t>, so </a:t>
                </a:r>
                <a:r>
                  <a:rPr lang="en-IN" sz="2400">
                    <a:solidFill>
                      <a:srgbClr val="111827"/>
                    </a:solidFill>
                    <a:latin typeface="Cambria Math" panose="02040503050406030204" pitchFamily="18" charset="0"/>
                  </a:rPr>
                  <a:t>$L=a+\frac12$</a:t>
                </a:r>
                <a:r>
                  <a:rPr sz="2400" b="0">
                    <a:solidFill>
                      <a:srgbClr val="111827"/>
                    </a:solidFill>
                    <a:latin typeface="Arial"/>
                  </a:rPr>
                  <a:t> and </a:t>
                </a:r>
                <a:r>
                  <a:rPr lang="en-IN" sz="2400">
                    <a:solidFill>
                      <a:srgbClr val="111827"/>
                    </a:solidFill>
                    <a:latin typeface="Cambria Math" panose="02040503050406030204" pitchFamily="18" charset="0"/>
                  </a:rPr>
                  <a:t>$L-S=2a+\frac12-2\sqrt a=2\left(\sqrt a-\frac12\right)^2$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This increases with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here, so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2</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Finally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&gt;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&gt;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289</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288</m:t>
                    </m:r>
                  </m:oMath>
                </a14:m>
                <a:r>
                  <a:rPr sz="2400" b="0">
                    <a:solidFill>
                      <a:srgbClr val="111827"/>
                    </a:solidFill>
                    <a:latin typeface="Arial"/>
                  </a:rPr>
                  <a:t>, which is true. So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&gt;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 for every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This increases with </a:t>
                </a:r>
                <a:r>
                  <a:rPr lang="en-IN" sz="2400">
                    <a:solidFill>
                      <a:srgbClr val="111827"/>
                    </a:solidFill>
                    <a:latin typeface="Cambria Math" panose="02040503050406030204" pitchFamily="18" charset="0"/>
                  </a:rPr>
                  <a:t>$a$</a:t>
                </a:r>
                <a:r>
                  <a:rPr sz="2400" b="0">
                    <a:solidFill>
                      <a:srgbClr val="111827"/>
                    </a:solidFill>
                    <a:latin typeface="Arial"/>
                  </a:rPr>
                  <a:t> here, so </a:t>
                </a:r>
                <a:r>
                  <a:rPr lang="en-IN" sz="2400">
                    <a:solidFill>
                      <a:srgbClr val="111827"/>
                    </a:solidFill>
                    <a:latin typeface="Cambria Math" panose="02040503050406030204" pitchFamily="18" charset="0"/>
                  </a:rPr>
                  <a:t>$L-S&gt;2\left(\frac1{\sqrt2}-\frac12\right)^2=\frac32-\sqrt2$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Finally </a:t>
                </a:r>
                <a:r>
                  <a:rPr lang="en-IN" sz="2400">
                    <a:solidFill>
                      <a:srgbClr val="111827"/>
                    </a:solidFill>
                    <a:latin typeface="Cambria Math" panose="02040503050406030204" pitchFamily="18" charset="0"/>
                  </a:rPr>
                  <a:t>$\frac32-\sqrt2&gt;\frac1{12}\iff\frac{17}{12}&gt;\sqrt2\iff289&gt;288$</a:t>
                </a:r>
                <a:r>
                  <a:rPr sz="2400" b="0">
                    <a:solidFill>
                      <a:srgbClr val="111827"/>
                    </a:solidFill>
                    <a:latin typeface="Arial"/>
                  </a:rPr>
                  <a:t>, which is true. So </a:t>
                </a:r>
                <a:r>
                  <a:rPr lang="en-IN" sz="2400">
                    <a:solidFill>
                      <a:srgbClr val="111827"/>
                    </a:solidFill>
                    <a:latin typeface="Cambria Math" panose="02040503050406030204" pitchFamily="18" charset="0"/>
                  </a:rPr>
                  <a:t>$L-S&gt;\frac1{12}$</a:t>
                </a:r>
                <a:r>
                  <a:rPr sz="2400" b="0">
                    <a:solidFill>
                      <a:srgbClr val="111827"/>
                    </a:solidFill>
                    <a:latin typeface="Arial"/>
                  </a:rPr>
                  <a:t> for every </a:t>
                </a:r>
                <a:r>
                  <a:rPr lang="en-IN" sz="2400">
                    <a:solidFill>
                      <a:srgbClr val="111827"/>
                    </a:solidFill>
                    <a:latin typeface="Cambria Math" panose="02040503050406030204" pitchFamily="18" charset="0"/>
                  </a:rPr>
                  <a:t>$a&gt;0$</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Proved: </a:t>
                </a:r>
                <a14:m>
                  <m:oMath xmlns:m="http://schemas.openxmlformats.org/officeDocument/2006/math">
                    <m:r>
                      <a:rPr lang="en-IN" sz="2800" i="1">
                        <a:solidFill>
                          <a:srgbClr val="15803D"/>
                        </a:solidFill>
                        <a:latin typeface="Cambria Math" panose="02040503050406030204" pitchFamily="18" charset="0"/>
                      </a:rPr>
                      <m:t>𝐿</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𝑆</m:t>
                    </m:r>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3</m:t>
                        </m:r>
                      </m:num>
                      <m:den>
                        <m:r>
                          <a:rPr lang="en-IN" sz="2800" i="1">
                            <a:solidFill>
                              <a:srgbClr val="15803D"/>
                            </a:solidFill>
                            <a:latin typeface="Cambria Math" panose="02040503050406030204" pitchFamily="18" charset="0"/>
                          </a:rPr>
                          <m:t>2</m:t>
                        </m:r>
                      </m:den>
                    </m:f>
                    <m:r>
                      <m:rPr>
                        <m:sty m:val="p"/>
                      </m:rPr>
                      <a:rPr lang="en-IN" sz="2800">
                        <a:solidFill>
                          <a:srgbClr val="15803D"/>
                        </a:solidFill>
                        <a:latin typeface="Cambria Math" panose="02040503050406030204" pitchFamily="18" charset="0"/>
                      </a:rPr>
                      <m:t>−</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2</m:t>
                        </m:r>
                      </m:e>
                    </m:rad>
                    <m:r>
                      <m:rPr>
                        <m:sty m:val="p"/>
                      </m:rPr>
                      <a:rPr lang="en-IN" sz="2800">
                        <a:solidFill>
                          <a:srgbClr val="15803D"/>
                        </a:solidFill>
                        <a:latin typeface="Cambria Math" panose="02040503050406030204" pitchFamily="18" charset="0"/>
                      </a:rPr>
                      <m:t>&gt;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12</m:t>
                        </m:r>
                      </m:den>
                    </m:f>
                  </m:oMath>
                </a14:m>
                <a:r>
                  <a:rPr sz="2800" b="1">
                    <a:solidFill>
                      <a:srgbClr val="15803D"/>
                    </a:solidFill>
                    <a:latin typeface="Arial"/>
                  </a:rPr>
                  <a:t> for every </a:t>
                </a:r>
                <a14:m>
                  <m:oMath xmlns:m="http://schemas.openxmlformats.org/officeDocument/2006/math">
                    <m:r>
                      <a:rPr lang="en-IN" sz="2800" i="1">
                        <a:solidFill>
                          <a:srgbClr val="15803D"/>
                        </a:solidFill>
                        <a:latin typeface="Cambria Math" panose="02040503050406030204" pitchFamily="18" charset="0"/>
                      </a:rPr>
                      <m:t>𝑎</m:t>
                    </m:r>
                    <m:r>
                      <m:rPr>
                        <m:sty m:val="p"/>
                      </m:rPr>
                      <a:rPr lang="en-IN" sz="2800">
                        <a:solidFill>
                          <a:srgbClr val="15803D"/>
                        </a:solidFill>
                        <a:latin typeface="Cambria Math" panose="02040503050406030204" pitchFamily="18" charset="0"/>
                      </a:rPr>
                      <m:t>&gt;</m:t>
                    </m:r>
                    <m:r>
                      <a:rPr lang="en-IN" sz="2800" i="1">
                        <a:solidFill>
                          <a:srgbClr val="15803D"/>
                        </a:solidFill>
                        <a:latin typeface="Cambria Math" panose="02040503050406030204" pitchFamily="18" charset="0"/>
                      </a:rPr>
                      <m:t>0</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Proved: </a:t>
                </a:r>
                <a:r>
                  <a:rPr lang="en-IN" sz="2800">
                    <a:solidFill>
                      <a:srgbClr val="15803D"/>
                    </a:solidFill>
                    <a:latin typeface="Cambria Math" panose="02040503050406030204" pitchFamily="18" charset="0"/>
                  </a:rPr>
                  <a:t>$L-S\ge\frac32-\sqrt2&gt;\frac1{12}$</a:t>
                </a:r>
                <a:r>
                  <a:rPr sz="2800" b="1">
                    <a:solidFill>
                      <a:srgbClr val="15803D"/>
                    </a:solidFill>
                    <a:latin typeface="Arial"/>
                  </a:rPr>
                  <a:t> for every </a:t>
                </a:r>
                <a:r>
                  <a:rPr lang="en-IN" sz="2800">
                    <a:solidFill>
                      <a:srgbClr val="15803D"/>
                    </a:solidFill>
                    <a:latin typeface="Cambria Math" panose="02040503050406030204" pitchFamily="18" charset="0"/>
                  </a:rPr>
                  <a:t>$a&gt;0$</a:t>
                </a:r>
                <a:endParaRPr sz="2800">
                  <a:solidFill>
                    <a:srgbClr val="15803D"/>
                  </a:solidFill>
                </a:endParaRPr>
              </a:p>
            </p:txBody>
          </p:sp>
        </mc:Fallback>
      </mc:AlternateContent>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a:t>
                </a:r>
                <a14:m>
                  <m:oMath xmlns:m="http://schemas.openxmlformats.org/officeDocument/2006/math">
                    <m:r>
                      <a:rPr lang="en-IN" sz="2400" i="1">
                        <a:solidFill>
                          <a:srgbClr val="78350F"/>
                        </a:solidFill>
                        <a:latin typeface="Cambria Math" panose="02040503050406030204" pitchFamily="18" charset="0"/>
                      </a:rPr>
                      <m:t>𝐿</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𝑆</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𝑝</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𝑞</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for any two points; the points </a:t>
                </a:r>
                <a14:m>
                  <m:oMath xmlns:m="http://schemas.openxmlformats.org/officeDocument/2006/math">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already give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12</m:t>
                        </m:r>
                      </m:den>
                    </m:f>
                  </m:oMath>
                </a14:m>
                <a:r>
                  <a:rPr sz="2400" b="0">
                    <a:solidFill>
                      <a:srgbClr val="78350F"/>
                    </a:solidFill>
                    <a:latin typeface="Arial"/>
                  </a:rPr>
                  <a:t>, and strictness is checked at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a:t>
                </a:r>
                <a:r>
                  <a:rPr lang="en-IN" sz="2400">
                    <a:solidFill>
                      <a:srgbClr val="78350F"/>
                    </a:solidFill>
                    <a:latin typeface="Cambria Math" panose="02040503050406030204" pitchFamily="18" charset="0"/>
                  </a:rPr>
                  <a:t>$L-S\ge f(p)-f(q)$</a:t>
                </a:r>
                <a:r>
                  <a:rPr sz="2400" b="0">
                    <a:solidFill>
                      <a:srgbClr val="78350F"/>
                    </a:solidFill>
                    <a:latin typeface="Arial"/>
                  </a:rPr>
                  <a:t> for any two points; the points </a:t>
                </a:r>
                <a:r>
                  <a:rPr lang="en-IN" sz="2400">
                    <a:solidFill>
                      <a:srgbClr val="78350F"/>
                    </a:solidFill>
                    <a:latin typeface="Cambria Math" panose="02040503050406030204" pitchFamily="18" charset="0"/>
                  </a:rPr>
                  <a:t>$0,\frac12,1$</a:t>
                </a:r>
                <a:r>
                  <a:rPr sz="2400" b="0">
                    <a:solidFill>
                      <a:srgbClr val="78350F"/>
                    </a:solidFill>
                    <a:latin typeface="Arial"/>
                  </a:rPr>
                  <a:t> already give </a:t>
                </a:r>
                <a:r>
                  <a:rPr lang="en-IN" sz="2400">
                    <a:solidFill>
                      <a:srgbClr val="78350F"/>
                    </a:solidFill>
                    <a:latin typeface="Cambria Math" panose="02040503050406030204" pitchFamily="18" charset="0"/>
                  </a:rPr>
                  <a:t>$\frac1{12}$</a:t>
                </a:r>
                <a:r>
                  <a:rPr sz="2400" b="0">
                    <a:solidFill>
                      <a:srgbClr val="78350F"/>
                    </a:solidFill>
                    <a:latin typeface="Arial"/>
                  </a:rPr>
                  <a:t>, and strictness is checked at </a:t>
                </a:r>
                <a:r>
                  <a:rPr lang="en-IN" sz="2400">
                    <a:solidFill>
                      <a:srgbClr val="78350F"/>
                    </a:solidFill>
                    <a:latin typeface="Cambria Math" panose="02040503050406030204" pitchFamily="18" charset="0"/>
                  </a:rPr>
                  <a:t>$a=\frac12$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any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Compute </a:t>
                </a:r>
                <a14:m>
                  <m:oMath xmlns:m="http://schemas.openxmlformats.org/officeDocument/2006/math">
                    <m:r>
                      <a:rPr lang="en-IN" sz="2400" i="1">
                        <a:solidFill>
                          <a:srgbClr val="111827"/>
                        </a:solidFill>
                        <a:latin typeface="Cambria Math" panose="02040503050406030204" pitchFamily="18" charset="0"/>
                      </a:rPr>
                      <m:t>𝑓</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 with equality only if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any </a:t>
                </a:r>
                <a:r>
                  <a:rPr lang="en-IN" sz="2400">
                    <a:solidFill>
                      <a:srgbClr val="111827"/>
                    </a:solidFill>
                    <a:latin typeface="Cambria Math" panose="02040503050406030204" pitchFamily="18" charset="0"/>
                  </a:rPr>
                  <a:t>$p,q\in[0,1]$</a:t>
                </a:r>
                <a:r>
                  <a:rPr sz="2400" b="0">
                    <a:solidFill>
                      <a:srgbClr val="111827"/>
                    </a:solidFill>
                    <a:latin typeface="Arial"/>
                  </a:rPr>
                  <a:t>, </a:t>
                </a:r>
                <a:r>
                  <a:rPr lang="en-IN" sz="2400">
                    <a:solidFill>
                      <a:srgbClr val="111827"/>
                    </a:solidFill>
                    <a:latin typeface="Cambria Math" panose="02040503050406030204" pitchFamily="18" charset="0"/>
                  </a:rPr>
                  <a:t>$L\ge f(p)$</a:t>
                </a:r>
                <a:r>
                  <a:rPr sz="2400" b="0">
                    <a:solidFill>
                      <a:srgbClr val="111827"/>
                    </a:solidFill>
                    <a:latin typeface="Arial"/>
                  </a:rPr>
                  <a:t> and </a:t>
                </a:r>
                <a:r>
                  <a:rPr lang="en-IN" sz="2400">
                    <a:solidFill>
                      <a:srgbClr val="111827"/>
                    </a:solidFill>
                    <a:latin typeface="Cambria Math" panose="02040503050406030204" pitchFamily="18" charset="0"/>
                  </a:rPr>
                  <a:t>$S\le f(q)$</a:t>
                </a:r>
                <a:r>
                  <a:rPr sz="2400" b="0">
                    <a:solidFill>
                      <a:srgbClr val="111827"/>
                    </a:solidFill>
                    <a:latin typeface="Arial"/>
                  </a:rPr>
                  <a:t>, so </a:t>
                </a:r>
                <a:r>
                  <a:rPr lang="en-IN" sz="2400">
                    <a:solidFill>
                      <a:srgbClr val="111827"/>
                    </a:solidFill>
                    <a:latin typeface="Cambria Math" panose="02040503050406030204" pitchFamily="18" charset="0"/>
                  </a:rPr>
                  <a:t>$L-S\ge f(p)-f(q)$</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Compute </a:t>
                </a:r>
                <a:r>
                  <a:rPr lang="en-IN" sz="2400">
                    <a:solidFill>
                      <a:srgbClr val="111827"/>
                    </a:solidFill>
                    <a:latin typeface="Cambria Math" panose="02040503050406030204" pitchFamily="18" charset="0"/>
                  </a:rPr>
                  <a:t>$f\left(\frac12\right)=\frac a2+\frac23$</a:t>
                </a:r>
                <a:r>
                  <a:rPr sz="2400" b="0">
                    <a:solidFill>
                      <a:srgbClr val="111827"/>
                    </a:solidFill>
                    <a:latin typeface="Arial"/>
                  </a:rPr>
                  <a:t>; then </a:t>
                </a:r>
                <a:r>
                  <a:rPr lang="en-IN" sz="2400">
                    <a:solidFill>
                      <a:srgbClr val="111827"/>
                    </a:solidFill>
                    <a:latin typeface="Cambria Math" panose="02040503050406030204" pitchFamily="18" charset="0"/>
                  </a:rPr>
                  <a:t>$f(0)-f\left(\frac12\right)=\frac13-\frac a2$</a:t>
                </a:r>
                <a:r>
                  <a:rPr sz="2400" b="0">
                    <a:solidFill>
                      <a:srgbClr val="111827"/>
                    </a:solidFill>
                    <a:latin typeface="Arial"/>
                  </a:rPr>
                  <a:t> and </a:t>
                </a:r>
                <a:r>
                  <a:rPr lang="en-IN" sz="2400">
                    <a:solidFill>
                      <a:srgbClr val="111827"/>
                    </a:solidFill>
                    <a:latin typeface="Cambria Math" panose="02040503050406030204" pitchFamily="18" charset="0"/>
                  </a:rPr>
                  <a:t>$f(1)-f\left(\frac12\right)=\frac a2-\frac16$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$a\le\frac12$</a:t>
                </a:r>
                <a:r>
                  <a:rPr sz="2400" b="0">
                    <a:solidFill>
                      <a:srgbClr val="111827"/>
                    </a:solidFill>
                    <a:latin typeface="Arial"/>
                  </a:rPr>
                  <a:t>: </a:t>
                </a:r>
                <a:r>
                  <a:rPr lang="en-IN" sz="2400">
                    <a:solidFill>
                      <a:srgbClr val="111827"/>
                    </a:solidFill>
                    <a:latin typeface="Cambria Math" panose="02040503050406030204" pitchFamily="18" charset="0"/>
                  </a:rPr>
                  <a:t>$L-S\ge\frac13-\frac a2\ge\frac13-\frac14=\frac1{12}$</a:t>
                </a:r>
                <a:r>
                  <a:rPr sz="2400" b="0">
                    <a:solidFill>
                      <a:srgbClr val="111827"/>
                    </a:solidFill>
                    <a:latin typeface="Arial"/>
                  </a:rPr>
                  <a:t>, with equality only if </a:t>
                </a:r>
                <a:r>
                  <a:rPr lang="en-IN" sz="2400">
                    <a:solidFill>
                      <a:srgbClr val="111827"/>
                    </a:solidFill>
                    <a:latin typeface="Cambria Math" panose="02040503050406030204" pitchFamily="18" charset="0"/>
                  </a:rPr>
                  <a:t>$a=\frac12$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 with equality only if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18</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is an interior point with non-zero derivative and cannot be the minimum point: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𝑓</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Also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 Hence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&gt;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 for every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$a\ge\frac12$</a:t>
                </a:r>
                <a:r>
                  <a:rPr sz="2400" b="0">
                    <a:solidFill>
                      <a:srgbClr val="111827"/>
                    </a:solidFill>
                    <a:latin typeface="Arial"/>
                  </a:rPr>
                  <a:t>: </a:t>
                </a:r>
                <a:r>
                  <a:rPr lang="en-IN" sz="2400">
                    <a:solidFill>
                      <a:srgbClr val="111827"/>
                    </a:solidFill>
                    <a:latin typeface="Cambria Math" panose="02040503050406030204" pitchFamily="18" charset="0"/>
                  </a:rPr>
                  <a:t>$L-S\ge\frac a2-\frac16\ge\frac14-\frac16=\frac1{12}$</a:t>
                </a:r>
                <a:r>
                  <a:rPr sz="2400" b="0">
                    <a:solidFill>
                      <a:srgbClr val="111827"/>
                    </a:solidFill>
                    <a:latin typeface="Arial"/>
                  </a:rPr>
                  <a:t>, with equality only if </a:t>
                </a:r>
                <a:r>
                  <a:rPr lang="en-IN" sz="2400">
                    <a:solidFill>
                      <a:srgbClr val="111827"/>
                    </a:solidFill>
                    <a:latin typeface="Cambria Math" panose="02040503050406030204" pitchFamily="18" charset="0"/>
                  </a:rPr>
                  <a:t>$a=\frac12$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$a=\frac12$</a:t>
                </a:r>
                <a:r>
                  <a:rPr sz="2400" b="0">
                    <a:solidFill>
                      <a:srgbClr val="111827"/>
                    </a:solidFill>
                    <a:latin typeface="Arial"/>
                  </a:rPr>
                  <a:t>: </a:t>
                </a:r>
                <a:r>
                  <a:rPr lang="en-IN" sz="2400">
                    <a:solidFill>
                      <a:srgbClr val="111827"/>
                    </a:solidFill>
                    <a:latin typeface="Cambria Math" panose="02040503050406030204" pitchFamily="18" charset="0"/>
                  </a:rPr>
                  <a:t>$f'\left(\frac12\right)=\frac12-\frac49=\frac1{18}\ne0$</a:t>
                </a:r>
                <a:r>
                  <a:rPr sz="2400" b="0">
                    <a:solidFill>
                      <a:srgbClr val="111827"/>
                    </a:solidFill>
                    <a:latin typeface="Arial"/>
                  </a:rPr>
                  <a:t>, so </a:t>
                </a:r>
                <a:r>
                  <a:rPr lang="en-IN" sz="2400">
                    <a:solidFill>
                      <a:srgbClr val="111827"/>
                    </a:solidFill>
                    <a:latin typeface="Cambria Math" panose="02040503050406030204" pitchFamily="18" charset="0"/>
                  </a:rPr>
                  <a:t>$x=\frac12$</a:t>
                </a:r>
                <a:r>
                  <a:rPr sz="2400" b="0">
                    <a:solidFill>
                      <a:srgbClr val="111827"/>
                    </a:solidFill>
                    <a:latin typeface="Arial"/>
                  </a:rPr>
                  <a:t> is an interior point with non-zero derivative and cannot be the minimum point: </a:t>
                </a:r>
                <a:r>
                  <a:rPr lang="en-IN" sz="2400">
                    <a:solidFill>
                      <a:srgbClr val="111827"/>
                    </a:solidFill>
                    <a:latin typeface="Cambria Math" panose="02040503050406030204" pitchFamily="18" charset="0"/>
                  </a:rPr>
                  <a:t>$S&lt;f\left(\frac12\right)=\frac{11}{12}$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Also </a:t>
                </a:r>
                <a:r>
                  <a:rPr lang="en-IN" sz="2400">
                    <a:solidFill>
                      <a:srgbClr val="111827"/>
                    </a:solidFill>
                    <a:latin typeface="Cambria Math" panose="02040503050406030204" pitchFamily="18" charset="0"/>
                  </a:rPr>
                  <a:t>$L\ge f(0)=1$</a:t>
                </a:r>
                <a:r>
                  <a:rPr sz="2400" b="0">
                    <a:solidFill>
                      <a:srgbClr val="111827"/>
                    </a:solidFill>
                    <a:latin typeface="Arial"/>
                  </a:rPr>
                  <a:t>, so at </a:t>
                </a:r>
                <a:r>
                  <a:rPr lang="en-IN" sz="2400">
                    <a:solidFill>
                      <a:srgbClr val="111827"/>
                    </a:solidFill>
                    <a:latin typeface="Cambria Math" panose="02040503050406030204" pitchFamily="18" charset="0"/>
                  </a:rPr>
                  <a:t>$a=\frac12$</a:t>
                </a:r>
                <a:r>
                  <a:rPr sz="2400" b="0">
                    <a:solidFill>
                      <a:srgbClr val="111827"/>
                    </a:solidFill>
                    <a:latin typeface="Arial"/>
                  </a:rPr>
                  <a:t>, </a:t>
                </a:r>
                <a:r>
                  <a:rPr lang="en-IN" sz="2400">
                    <a:solidFill>
                      <a:srgbClr val="111827"/>
                    </a:solidFill>
                    <a:latin typeface="Cambria Math" panose="02040503050406030204" pitchFamily="18" charset="0"/>
                  </a:rPr>
                  <a:t>$L-S&gt;1-\frac{11}{12}=\frac1{12}$</a:t>
                </a:r>
                <a:r>
                  <a:rPr sz="2400" b="0">
                    <a:solidFill>
                      <a:srgbClr val="111827"/>
                    </a:solidFill>
                    <a:latin typeface="Arial"/>
                  </a:rPr>
                  <a:t>. Hence </a:t>
                </a:r>
                <a:r>
                  <a:rPr lang="en-IN" sz="2400">
                    <a:solidFill>
                      <a:srgbClr val="111827"/>
                    </a:solidFill>
                    <a:latin typeface="Cambria Math" panose="02040503050406030204" pitchFamily="18" charset="0"/>
                  </a:rPr>
                  <a:t>$L-S&gt;\frac1{12}$</a:t>
                </a:r>
                <a:r>
                  <a:rPr sz="2400" b="0">
                    <a:solidFill>
                      <a:srgbClr val="111827"/>
                    </a:solidFill>
                    <a:latin typeface="Arial"/>
                  </a:rPr>
                  <a:t> for every </a:t>
                </a:r>
                <a:r>
                  <a:rPr lang="en-IN" sz="2400">
                    <a:solidFill>
                      <a:srgbClr val="111827"/>
                    </a:solidFill>
                    <a:latin typeface="Cambria Math" panose="02040503050406030204" pitchFamily="18" charset="0"/>
                  </a:rPr>
                  <a:t>$a&gt;0$</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Proved: </a:t>
                </a:r>
                <a14:m>
                  <m:oMath xmlns:m="http://schemas.openxmlformats.org/officeDocument/2006/math">
                    <m:r>
                      <a:rPr lang="en-IN" sz="2800" i="1">
                        <a:solidFill>
                          <a:srgbClr val="15803D"/>
                        </a:solidFill>
                        <a:latin typeface="Cambria Math" panose="02040503050406030204" pitchFamily="18" charset="0"/>
                      </a:rPr>
                      <m:t>𝐿</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𝑆</m:t>
                    </m:r>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3</m:t>
                        </m:r>
                      </m:num>
                      <m:den>
                        <m:r>
                          <a:rPr lang="en-IN" sz="2800" i="1">
                            <a:solidFill>
                              <a:srgbClr val="15803D"/>
                            </a:solidFill>
                            <a:latin typeface="Cambria Math" panose="02040503050406030204" pitchFamily="18" charset="0"/>
                          </a:rPr>
                          <m:t>2</m:t>
                        </m:r>
                      </m:den>
                    </m:f>
                    <m:r>
                      <m:rPr>
                        <m:sty m:val="p"/>
                      </m:rPr>
                      <a:rPr lang="en-IN" sz="2800">
                        <a:solidFill>
                          <a:srgbClr val="15803D"/>
                        </a:solidFill>
                        <a:latin typeface="Cambria Math" panose="02040503050406030204" pitchFamily="18" charset="0"/>
                      </a:rPr>
                      <m:t>−</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2</m:t>
                        </m:r>
                      </m:e>
                    </m:rad>
                    <m:r>
                      <m:rPr>
                        <m:sty m:val="p"/>
                      </m:rPr>
                      <a:rPr lang="en-IN" sz="2800">
                        <a:solidFill>
                          <a:srgbClr val="15803D"/>
                        </a:solidFill>
                        <a:latin typeface="Cambria Math" panose="02040503050406030204" pitchFamily="18" charset="0"/>
                      </a:rPr>
                      <m:t>&gt;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12</m:t>
                        </m:r>
                      </m:den>
                    </m:f>
                  </m:oMath>
                </a14:m>
                <a:r>
                  <a:rPr sz="2800" b="1">
                    <a:solidFill>
                      <a:srgbClr val="15803D"/>
                    </a:solidFill>
                    <a:latin typeface="Arial"/>
                  </a:rPr>
                  <a:t> for every </a:t>
                </a:r>
                <a14:m>
                  <m:oMath xmlns:m="http://schemas.openxmlformats.org/officeDocument/2006/math">
                    <m:r>
                      <a:rPr lang="en-IN" sz="2800" i="1">
                        <a:solidFill>
                          <a:srgbClr val="15803D"/>
                        </a:solidFill>
                        <a:latin typeface="Cambria Math" panose="02040503050406030204" pitchFamily="18" charset="0"/>
                      </a:rPr>
                      <m:t>𝑎</m:t>
                    </m:r>
                    <m:r>
                      <m:rPr>
                        <m:sty m:val="p"/>
                      </m:rPr>
                      <a:rPr lang="en-IN" sz="2800">
                        <a:solidFill>
                          <a:srgbClr val="15803D"/>
                        </a:solidFill>
                        <a:latin typeface="Cambria Math" panose="02040503050406030204" pitchFamily="18" charset="0"/>
                      </a:rPr>
                      <m:t>&gt;</m:t>
                    </m:r>
                    <m:r>
                      <a:rPr lang="en-IN" sz="2800" i="1">
                        <a:solidFill>
                          <a:srgbClr val="15803D"/>
                        </a:solidFill>
                        <a:latin typeface="Cambria Math" panose="02040503050406030204" pitchFamily="18" charset="0"/>
                      </a:rPr>
                      <m:t>0</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Proved: </a:t>
                </a:r>
                <a:r>
                  <a:rPr lang="en-IN" sz="2800">
                    <a:solidFill>
                      <a:srgbClr val="15803D"/>
                    </a:solidFill>
                    <a:latin typeface="Cambria Math" panose="02040503050406030204" pitchFamily="18" charset="0"/>
                  </a:rPr>
                  <a:t>$L-S\ge\frac32-\sqrt2&gt;\frac1{12}$</a:t>
                </a:r>
                <a:r>
                  <a:rPr sz="2800" b="1">
                    <a:solidFill>
                      <a:srgbClr val="15803D"/>
                    </a:solidFill>
                    <a:latin typeface="Arial"/>
                  </a:rPr>
                  <a:t> for every </a:t>
                </a:r>
                <a:r>
                  <a:rPr lang="en-IN" sz="2800">
                    <a:solidFill>
                      <a:srgbClr val="15803D"/>
                    </a:solidFill>
                    <a:latin typeface="Cambria Math" panose="02040503050406030204" pitchFamily="18" charset="0"/>
                  </a:rPr>
                  <a:t>$a&gt;0$</a:t>
                </a:r>
                <a:endParaRPr sz="2800">
                  <a:solidFill>
                    <a:srgbClr val="15803D"/>
                  </a:solidFill>
                </a:endParaRPr>
              </a:p>
            </p:txBody>
          </p:sp>
        </mc:Fallback>
      </mc:AlternateContent>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On a closed interval, a convex function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attains its maximum at an end point; its minimum is at the critical point if that lies inside, else at an end point.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by AM-GM, with equality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e>
                        </m:rad>
                      </m:den>
                    </m:f>
                  </m:oMath>
                </a14:m>
                <a:r>
                  <a:rPr sz="2400" b="0">
                    <a:solidFill>
                      <a:srgbClr val="111827"/>
                    </a:solidFill>
                    <a:latin typeface="Arial"/>
                  </a:rPr>
                  <a:t>; this is the interior minimum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in the middle case.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On a closed interval, a convex function (</a:t>
                </a:r>
                <a:r>
                  <a:rPr lang="en-IN" sz="2400">
                    <a:solidFill>
                      <a:srgbClr val="111827"/>
                    </a:solidFill>
                    <a:latin typeface="Cambria Math" panose="02040503050406030204" pitchFamily="18" charset="0"/>
                  </a:rPr>
                  <a:t>$f''&gt;0$</a:t>
                </a:r>
                <a:r>
                  <a:rPr sz="2400" b="0">
                    <a:solidFill>
                      <a:srgbClr val="111827"/>
                    </a:solidFill>
                    <a:latin typeface="Arial"/>
                  </a:rPr>
                  <a:t>) attains its maximum at an end point; its minimum is at the critical point if that lies inside, else at an end point.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$f(x)=a(x+1)+\frac1{x+1}-a\ge2\sqrt a-a$</a:t>
                </a:r>
                <a:r>
                  <a:rPr sz="2400" b="0">
                    <a:solidFill>
                      <a:srgbClr val="111827"/>
                    </a:solidFill>
                    <a:latin typeface="Arial"/>
                  </a:rPr>
                  <a:t> by AM-GM, with equality at </a:t>
                </a:r>
                <a:r>
                  <a:rPr lang="en-IN" sz="2400">
                    <a:solidFill>
                      <a:srgbClr val="111827"/>
                    </a:solidFill>
                    <a:latin typeface="Cambria Math" panose="02040503050406030204" pitchFamily="18" charset="0"/>
                  </a:rPr>
                  <a:t>$x+1=\frac1{\sqrt a}$</a:t>
                </a:r>
                <a:r>
                  <a:rPr sz="2400" b="0">
                    <a:solidFill>
                      <a:srgbClr val="111827"/>
                    </a:solidFill>
                    <a:latin typeface="Arial"/>
                  </a:rPr>
                  <a:t>; this is the interior minimum </a:t>
                </a:r>
                <a:r>
                  <a:rPr lang="en-IN" sz="2400">
                    <a:solidFill>
                      <a:srgbClr val="111827"/>
                    </a:solidFill>
                    <a:latin typeface="Cambria Math" panose="02040503050406030204" pitchFamily="18" charset="0"/>
                  </a:rPr>
                  <a:t>$S=2\sqrt a-a$</a:t>
                </a:r>
                <a:r>
                  <a:rPr sz="2400" b="0">
                    <a:solidFill>
                      <a:srgbClr val="111827"/>
                    </a:solidFill>
                    <a:latin typeface="Arial"/>
                  </a:rPr>
                  <a:t> in the middle case.</a:t>
                </a:r>
                <a:endParaRPr sz="2400">
                  <a:solidFill>
                    <a:srgbClr val="111827"/>
                  </a:solidFill>
                </a:endParaRPr>
              </a:p>
            </p:txBody>
          </p:sp>
        </mc:Fallback>
      </mc:AlternateContent>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oMath>
                </a14:m>
                <a:r>
                  <a:rPr sz="2400" b="0">
                    <a:solidFill>
                      <a:srgbClr val="111827"/>
                    </a:solidFill>
                    <a:latin typeface="Arial"/>
                  </a:rPr>
                  <a:t> (the oscillation) of a family in a parameter, split the parameter range by where the critical point enters the interval and by which end value is larger; the answer is smallest where the two end values coincide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here).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compare surds with a rational, square: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&gt;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&lt;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&lt;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289</m:t>
                        </m:r>
                      </m:num>
                      <m:den>
                        <m:r>
                          <a:rPr lang="en-IN" sz="2400" i="1">
                            <a:solidFill>
                              <a:srgbClr val="111827"/>
                            </a:solidFill>
                            <a:latin typeface="Cambria Math" panose="02040503050406030204" pitchFamily="18" charset="0"/>
                          </a:rPr>
                          <m:t>144</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$L-S$</a:t>
                </a:r>
                <a:r>
                  <a:rPr sz="2400" b="0">
                    <a:solidFill>
                      <a:srgbClr val="111827"/>
                    </a:solidFill>
                    <a:latin typeface="Arial"/>
                  </a:rPr>
                  <a:t> (the oscillation) of a family in a parameter, split the parameter range by where the critical point enters the interval and by which end value is larger; the answer is smallest where the two end values coincide (</a:t>
                </a:r>
                <a:r>
                  <a:rPr lang="en-IN" sz="2400">
                    <a:solidFill>
                      <a:srgbClr val="111827"/>
                    </a:solidFill>
                    <a:latin typeface="Cambria Math" panose="02040503050406030204" pitchFamily="18" charset="0"/>
                  </a:rPr>
                  <a:t>$a=\frac12$</a:t>
                </a:r>
                <a:r>
                  <a:rPr sz="2400" b="0">
                    <a:solidFill>
                      <a:srgbClr val="111827"/>
                    </a:solidFill>
                    <a:latin typeface="Arial"/>
                  </a:rPr>
                  <a:t> here).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compare surds with a rational, square: </a:t>
                </a:r>
                <a:r>
                  <a:rPr lang="en-IN" sz="2400">
                    <a:solidFill>
                      <a:srgbClr val="111827"/>
                    </a:solidFill>
                    <a:latin typeface="Cambria Math" panose="02040503050406030204" pitchFamily="18" charset="0"/>
                  </a:rPr>
                  <a:t>$\frac32-\sqrt2&gt;\frac1{12}\iff\sqrt2&lt;\frac{17}{12}\iff2&lt;\frac{289}{144}$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86156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pond has been dug at the IIT Bombay as an inverted truncated pyramid with a square base. The depth of the pond is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m. The square at the bottom has side length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m and the top square has side length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m. Water is filled in at a rate of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19</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cubic meters per hour. At what rate is the water level rising exactly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hour after the water started to fill the pond?</a:t>
                </a:r>
                <a:endParaRPr sz="2400">
                  <a:solidFill>
                    <a:srgbClr val="111827"/>
                  </a:solidFill>
                </a:endParaRPr>
              </a:p>
            </p:txBody>
          </p:sp>
        </mc:Choice>
        <mc:Fallback>
          <p:sp>
            <p:nvSpPr>
              <p:cNvPr id="4" name="Rounded Rectangle 3"/>
              <p:cNvSpPr/>
              <p:nvPr/>
            </p:nvSpPr>
            <p:spPr>
              <a:xfrm>
                <a:off x="731520" y="1280160"/>
                <a:ext cx="10725912" cy="286156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pond has been dug at the IIT Bombay as an inverted truncated pyramid with a square base. The depth of the pond is </a:t>
                </a:r>
                <a:r>
                  <a:rPr lang="en-IN" sz="2400">
                    <a:solidFill>
                      <a:srgbClr val="111827"/>
                    </a:solidFill>
                    <a:latin typeface="Cambria Math" panose="02040503050406030204" pitchFamily="18" charset="0"/>
                  </a:rPr>
                  <a:t>$6$</a:t>
                </a:r>
                <a:r>
                  <a:rPr sz="2400" b="0">
                    <a:solidFill>
                      <a:srgbClr val="111827"/>
                    </a:solidFill>
                    <a:latin typeface="Arial"/>
                  </a:rPr>
                  <a:t> m. The square at the bottom has side length </a:t>
                </a:r>
                <a:r>
                  <a:rPr lang="en-IN" sz="2400">
                    <a:solidFill>
                      <a:srgbClr val="111827"/>
                    </a:solidFill>
                    <a:latin typeface="Cambria Math" panose="02040503050406030204" pitchFamily="18" charset="0"/>
                  </a:rPr>
                  <a:t>$2$</a:t>
                </a:r>
                <a:r>
                  <a:rPr sz="2400" b="0">
                    <a:solidFill>
                      <a:srgbClr val="111827"/>
                    </a:solidFill>
                    <a:latin typeface="Arial"/>
                  </a:rPr>
                  <a:t> m and the top square has side length </a:t>
                </a:r>
                <a:r>
                  <a:rPr lang="en-IN" sz="2400">
                    <a:solidFill>
                      <a:srgbClr val="111827"/>
                    </a:solidFill>
                    <a:latin typeface="Cambria Math" panose="02040503050406030204" pitchFamily="18" charset="0"/>
                  </a:rPr>
                  <a:t>$8$</a:t>
                </a:r>
                <a:r>
                  <a:rPr sz="2400" b="0">
                    <a:solidFill>
                      <a:srgbClr val="111827"/>
                    </a:solidFill>
                    <a:latin typeface="Arial"/>
                  </a:rPr>
                  <a:t> m. Water is filled in at a rate of </a:t>
                </a:r>
                <a:r>
                  <a:rPr lang="en-IN" sz="2400">
                    <a:solidFill>
                      <a:srgbClr val="111827"/>
                    </a:solidFill>
                    <a:latin typeface="Cambria Math" panose="02040503050406030204" pitchFamily="18" charset="0"/>
                  </a:rPr>
                  <a:t>$\frac{19}{3}$</a:t>
                </a:r>
                <a:r>
                  <a:rPr sz="2400" b="0">
                    <a:solidFill>
                      <a:srgbClr val="111827"/>
                    </a:solidFill>
                    <a:latin typeface="Arial"/>
                  </a:rPr>
                  <a:t> cubic meters per hour. At what rate is the water level rising exactly </a:t>
                </a:r>
                <a:r>
                  <a:rPr lang="en-IN" sz="2400">
                    <a:solidFill>
                      <a:srgbClr val="111827"/>
                    </a:solidFill>
                    <a:latin typeface="Cambria Math" panose="02040503050406030204" pitchFamily="18" charset="0"/>
                  </a:rPr>
                  <a:t>$1$</a:t>
                </a:r>
                <a:r>
                  <a:rPr sz="2400" b="0">
                    <a:solidFill>
                      <a:srgbClr val="111827"/>
                    </a:solidFill>
                    <a:latin typeface="Arial"/>
                  </a:rPr>
                  <a:t> hour after the water started to fill the pond?</a:t>
                </a:r>
                <a:endParaRPr sz="2400">
                  <a:solidFill>
                    <a:srgbClr val="111827"/>
                  </a:solidFill>
                </a:endParaRPr>
              </a:p>
            </p:txBody>
          </p:sp>
        </mc:Fallback>
      </mc:AlternateContent>
      <p:sp>
        <p:nvSpPr>
          <p:cNvPr id="5" name="Rectangle 4"/>
          <p:cNvSpPr/>
          <p:nvPr/>
        </p:nvSpPr>
        <p:spPr>
          <a:xfrm>
            <a:off x="731520" y="4370323"/>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Rate of change of volume (related rates), Similar triangles and volume of a frustum</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water surface has side </a:t>
                </a:r>
                <a14:m>
                  <m:oMath xmlns:m="http://schemas.openxmlformats.org/officeDocument/2006/math">
                    <m:r>
                      <a:rPr lang="en-IN" sz="2400" i="1">
                        <a:solidFill>
                          <a:srgbClr val="78350F"/>
                        </a:solidFill>
                        <a:latin typeface="Cambria Math" panose="02040503050406030204" pitchFamily="18" charset="0"/>
                      </a:rPr>
                      <m:t>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at depth </a:t>
                </a:r>
                <a14:m>
                  <m:oMath xmlns:m="http://schemas.openxmlformats.org/officeDocument/2006/math">
                    <m:r>
                      <a:rPr lang="en-IN" sz="2400" i="1">
                        <a:solidFill>
                          <a:srgbClr val="78350F"/>
                        </a:solidFill>
                        <a:latin typeface="Cambria Math" panose="02040503050406030204" pitchFamily="18" charset="0"/>
                      </a:rPr>
                      <m:t>ℎ</m:t>
                    </m:r>
                  </m:oMath>
                </a14:m>
                <a:r>
                  <a:rPr sz="2400" b="0">
                    <a:solidFill>
                      <a:srgbClr val="78350F"/>
                    </a:solidFill>
                    <a:latin typeface="Arial"/>
                  </a:rPr>
                  <a:t>, so the volume is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3</m:t>
                        </m:r>
                      </m:den>
                    </m:f>
                    <m:d>
                      <m:dPr>
                        <m:begChr m:val="("/>
                        <m:sepChr m:val=""/>
                        <m:endChr m:val=")"/>
                        <m:grow/>
                        <m:ctrlPr>
                          <a:rPr lang="en-IN" sz="2400" i="1">
                            <a:solidFill>
                              <a:srgbClr val="78350F"/>
                            </a:solidFill>
                            <a:latin typeface="Cambria Math" panose="02040503050406030204" pitchFamily="18" charset="0"/>
                          </a:rPr>
                        </m:ctrlPr>
                      </m:dPr>
                      <m:e>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3</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8</m:t>
                        </m:r>
                      </m:e>
                    </m:d>
                  </m:oMath>
                </a14:m>
                <a:r>
                  <a:rPr sz="2400" b="0">
                    <a:solidFill>
                      <a:srgbClr val="78350F"/>
                    </a:solidFill>
                    <a:latin typeface="Arial"/>
                  </a:rPr>
                  <a:t> and </a:t>
                </a:r>
                <a14:m>
                  <m:oMath xmlns:m="http://schemas.openxmlformats.org/officeDocument/2006/math">
                    <m:sSup>
                      <m:e>
                        <m:r>
                          <a:rPr lang="en-IN" sz="2400" i="1">
                            <a:solidFill>
                              <a:srgbClr val="78350F"/>
                            </a:solidFill>
                            <a:latin typeface="Cambria Math" panose="02040503050406030204" pitchFamily="18" charset="0"/>
                          </a:rPr>
                          <m:t>𝑉</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sSup>
                      <m:e>
                        <m:r>
                          <a:rPr lang="en-IN" sz="2400" i="1">
                            <a:solidFill>
                              <a:srgbClr val="78350F"/>
                            </a:solidFill>
                            <a:latin typeface="Cambria Math" panose="02040503050406030204" pitchFamily="18" charset="0"/>
                          </a:rPr>
                          <m:t>ℎ</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water surface has side </a:t>
                </a:r>
                <a:r>
                  <a:rPr lang="en-IN" sz="2400">
                    <a:solidFill>
                      <a:srgbClr val="78350F"/>
                    </a:solidFill>
                    <a:latin typeface="Cambria Math" panose="02040503050406030204" pitchFamily="18" charset="0"/>
                  </a:rPr>
                  <a:t>$h+2$</a:t>
                </a:r>
                <a:r>
                  <a:rPr sz="2400" b="0">
                    <a:solidFill>
                      <a:srgbClr val="78350F"/>
                    </a:solidFill>
                    <a:latin typeface="Arial"/>
                  </a:rPr>
                  <a:t> at depth </a:t>
                </a:r>
                <a:r>
                  <a:rPr lang="en-IN" sz="2400">
                    <a:solidFill>
                      <a:srgbClr val="78350F"/>
                    </a:solidFill>
                    <a:latin typeface="Cambria Math" panose="02040503050406030204" pitchFamily="18" charset="0"/>
                  </a:rPr>
                  <a:t>$h$</a:t>
                </a:r>
                <a:r>
                  <a:rPr sz="2400" b="0">
                    <a:solidFill>
                      <a:srgbClr val="78350F"/>
                    </a:solidFill>
                    <a:latin typeface="Arial"/>
                  </a:rPr>
                  <a:t>, so the volume is </a:t>
                </a:r>
                <a:r>
                  <a:rPr lang="en-IN" sz="2400">
                    <a:solidFill>
                      <a:srgbClr val="78350F"/>
                    </a:solidFill>
                    <a:latin typeface="Cambria Math" panose="02040503050406030204" pitchFamily="18" charset="0"/>
                  </a:rPr>
                  <a:t>$\frac13\left((h+2)^3-8\right)$</a:t>
                </a:r>
                <a:r>
                  <a:rPr sz="2400" b="0">
                    <a:solidFill>
                      <a:srgbClr val="78350F"/>
                    </a:solidFill>
                    <a:latin typeface="Arial"/>
                  </a:rPr>
                  <a:t> and </a:t>
                </a:r>
                <a:r>
                  <a:rPr lang="en-IN" sz="2400">
                    <a:solidFill>
                      <a:srgbClr val="78350F"/>
                    </a:solidFill>
                    <a:latin typeface="Cambria Math" panose="02040503050406030204" pitchFamily="18" charset="0"/>
                  </a:rPr>
                  <a:t>$V'=(h+2)^2h'$</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the volume of water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 hours after filling started: </a:t>
                </a: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19</m:t>
                        </m:r>
                      </m:num>
                      <m:den>
                        <m:r>
                          <a:rPr lang="en-IN" sz="2400" i="1">
                            <a:solidFill>
                              <a:srgbClr val="111827"/>
                            </a:solidFill>
                            <a:latin typeface="Cambria Math" panose="02040503050406030204" pitchFamily="18" charset="0"/>
                          </a:rPr>
                          <m:t>3</m:t>
                        </m:r>
                      </m:den>
                    </m:f>
                    <m:r>
                      <a:rPr lang="en-IN" sz="2400" i="1">
                        <a:solidFill>
                          <a:srgbClr val="111827"/>
                        </a:solidFill>
                        <a:latin typeface="Cambria Math" panose="02040503050406030204" pitchFamily="18" charset="0"/>
                      </a:rPr>
                      <m:t>𝑡</m:t>
                    </m:r>
                  </m:oMath>
                </a14:m>
                <a:r>
                  <a:rPr sz="2400" b="0">
                    <a:solidFill>
                      <a:srgbClr val="111827"/>
                    </a:solidFill>
                    <a:latin typeface="Arial"/>
                  </a:rPr>
                  <a:t>. Let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the water level and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side of the water surface.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Extend the truncated pyramid to the full pyramid and let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be the height of the added part. Similar triangles give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Multiplying them: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$V(t)$</a:t>
                </a:r>
                <a:r>
                  <a:rPr sz="2400" b="0">
                    <a:solidFill>
                      <a:srgbClr val="111827"/>
                    </a:solidFill>
                    <a:latin typeface="Arial"/>
                  </a:rPr>
                  <a:t> be the volume of water </a:t>
                </a:r>
                <a:r>
                  <a:rPr lang="en-IN" sz="2400">
                    <a:solidFill>
                      <a:srgbClr val="111827"/>
                    </a:solidFill>
                    <a:latin typeface="Cambria Math" panose="02040503050406030204" pitchFamily="18" charset="0"/>
                  </a:rPr>
                  <a:t>$t$</a:t>
                </a:r>
                <a:r>
                  <a:rPr sz="2400" b="0">
                    <a:solidFill>
                      <a:srgbClr val="111827"/>
                    </a:solidFill>
                    <a:latin typeface="Arial"/>
                  </a:rPr>
                  <a:t> hours after filling started: </a:t>
                </a:r>
                <a:r>
                  <a:rPr lang="en-IN" sz="2400">
                    <a:solidFill>
                      <a:srgbClr val="111827"/>
                    </a:solidFill>
                    <a:latin typeface="Cambria Math" panose="02040503050406030204" pitchFamily="18" charset="0"/>
                  </a:rPr>
                  <a:t>$V(t)=\frac{19}3t$</a:t>
                </a:r>
                <a:r>
                  <a:rPr sz="2400" b="0">
                    <a:solidFill>
                      <a:srgbClr val="111827"/>
                    </a:solidFill>
                    <a:latin typeface="Arial"/>
                  </a:rPr>
                  <a:t>. Let </a:t>
                </a:r>
                <a:r>
                  <a:rPr lang="en-IN" sz="2400">
                    <a:solidFill>
                      <a:srgbClr val="111827"/>
                    </a:solidFill>
                    <a:latin typeface="Cambria Math" panose="02040503050406030204" pitchFamily="18" charset="0"/>
                  </a:rPr>
                  <a:t>$h(t)$</a:t>
                </a:r>
                <a:r>
                  <a:rPr sz="2400" b="0">
                    <a:solidFill>
                      <a:srgbClr val="111827"/>
                    </a:solidFill>
                    <a:latin typeface="Arial"/>
                  </a:rPr>
                  <a:t> be the water level and </a:t>
                </a:r>
                <a:r>
                  <a:rPr lang="en-IN" sz="2400">
                    <a:solidFill>
                      <a:srgbClr val="111827"/>
                    </a:solidFill>
                    <a:latin typeface="Cambria Math" panose="02040503050406030204" pitchFamily="18" charset="0"/>
                  </a:rPr>
                  <a:t>$a(t)$</a:t>
                </a:r>
                <a:r>
                  <a:rPr sz="2400" b="0">
                    <a:solidFill>
                      <a:srgbClr val="111827"/>
                    </a:solidFill>
                    <a:latin typeface="Arial"/>
                  </a:rPr>
                  <a:t> the side of the water surface.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Extend the truncated pyramid to the full pyramid and let </a:t>
                </a:r>
                <a:r>
                  <a:rPr lang="en-IN" sz="2400">
                    <a:solidFill>
                      <a:srgbClr val="111827"/>
                    </a:solidFill>
                    <a:latin typeface="Cambria Math" panose="02040503050406030204" pitchFamily="18" charset="0"/>
                  </a:rPr>
                  <a:t>$x$</a:t>
                </a:r>
                <a:r>
                  <a:rPr sz="2400" b="0">
                    <a:solidFill>
                      <a:srgbClr val="111827"/>
                    </a:solidFill>
                    <a:latin typeface="Arial"/>
                  </a:rPr>
                  <a:t> be the height of the added part. Similar triangles give </a:t>
                </a:r>
                <a:r>
                  <a:rPr lang="en-IN" sz="2400">
                    <a:solidFill>
                      <a:srgbClr val="111827"/>
                    </a:solidFill>
                    <a:latin typeface="Cambria Math" panose="02040503050406030204" pitchFamily="18" charset="0"/>
                  </a:rPr>
                  <a:t>$\frac{x}{x+h(t)}=\frac2{a(t)}$</a:t>
                </a:r>
                <a:r>
                  <a:rPr sz="2400" b="0">
                    <a:solidFill>
                      <a:srgbClr val="111827"/>
                    </a:solidFill>
                    <a:latin typeface="Arial"/>
                  </a:rPr>
                  <a:t> and </a:t>
                </a:r>
                <a:r>
                  <a:rPr lang="en-IN" sz="2400">
                    <a:solidFill>
                      <a:srgbClr val="111827"/>
                    </a:solidFill>
                    <a:latin typeface="Cambria Math" panose="02040503050406030204" pitchFamily="18" charset="0"/>
                  </a:rPr>
                  <a:t>$\frac{x+h(t)}{x+6}=\frac{a(t)}8$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Multiplying them: </a:t>
                </a:r>
                <a:r>
                  <a:rPr lang="en-IN" sz="2400">
                    <a:solidFill>
                      <a:srgbClr val="111827"/>
                    </a:solidFill>
                    <a:latin typeface="Cambria Math" panose="02040503050406030204" pitchFamily="18" charset="0"/>
                  </a:rPr>
                  <a:t>$\frac x{x+6}=\frac14$</a:t>
                </a:r>
                <a:r>
                  <a:rPr sz="2400" b="0">
                    <a:solidFill>
                      <a:srgbClr val="111827"/>
                    </a:solidFill>
                    <a:latin typeface="Arial"/>
                  </a:rPr>
                  <a:t>, so </a:t>
                </a:r>
                <a:r>
                  <a:rPr lang="en-IN" sz="2400">
                    <a:solidFill>
                      <a:srgbClr val="111827"/>
                    </a:solidFill>
                    <a:latin typeface="Cambria Math" panose="02040503050406030204" pitchFamily="18" charset="0"/>
                  </a:rPr>
                  <a:t>$x=2$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Differentiate: </a:t>
                </a:r>
                <a14:m>
                  <m:oMath xmlns:m="http://schemas.openxmlformats.org/officeDocument/2006/math">
                    <m:sSup>
                      <m:e>
                        <m:r>
                          <a:rPr lang="en-IN" sz="2400" i="1">
                            <a:solidFill>
                              <a:srgbClr val="111827"/>
                            </a:solidFill>
                            <a:latin typeface="Cambria Math" panose="02040503050406030204" pitchFamily="18" charset="0"/>
                          </a:rPr>
                          <m:t>𝑉</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ℎ</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sSup>
                      <m:e>
                        <m:r>
                          <a:rPr lang="en-IN" sz="2400" i="1">
                            <a:solidFill>
                              <a:srgbClr val="111827"/>
                            </a:solidFill>
                            <a:latin typeface="Cambria Math" panose="02040503050406030204" pitchFamily="18" charset="0"/>
                          </a:rPr>
                          <m:t>ℎ</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𝑉</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27</m:t>
                        </m:r>
                      </m:e>
                      <m:sup>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19</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ℎ</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19</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19</m:t>
                        </m:r>
                      </m:num>
                      <m:den>
                        <m:r>
                          <a:rPr lang="en-IN" sz="2400" i="1">
                            <a:solidFill>
                              <a:srgbClr val="111827"/>
                            </a:solidFill>
                            <a:latin typeface="Cambria Math" panose="02040503050406030204" pitchFamily="18" charset="0"/>
                          </a:rPr>
                          <m:t>27</m:t>
                        </m:r>
                      </m:den>
                    </m:f>
                  </m:oMath>
                </a14:m>
                <a:r>
                  <a:rPr sz="2400" b="0">
                    <a:solidFill>
                      <a:srgbClr val="111827"/>
                    </a:solidFill>
                    <a:latin typeface="Arial"/>
                  </a:rPr>
                  <a:t> m per hour (so the level is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m and rises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19</m:t>
                        </m:r>
                      </m:num>
                      <m:den>
                        <m:r>
                          <a:rPr lang="en-IN" sz="2400" i="1">
                            <a:solidFill>
                              <a:srgbClr val="111827"/>
                            </a:solidFill>
                            <a:latin typeface="Cambria Math" panose="02040503050406030204" pitchFamily="18" charset="0"/>
                          </a:rPr>
                          <m:t>27</m:t>
                        </m:r>
                      </m:den>
                    </m:f>
                  </m:oMath>
                </a14:m>
                <a:r>
                  <a:rPr sz="2400" b="0">
                    <a:solidFill>
                      <a:srgbClr val="111827"/>
                    </a:solidFill>
                    <a:latin typeface="Arial"/>
                  </a:rPr>
                  <a:t> m/h).</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$a(t)=h(t)+2$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$V(t)=\frac{h(t)}3\left(4+a(t)^2+2a(t)\right)=\frac{h(t)}3\left(4+h(t)^2+4h(t)+4+2h(t)+4\right)=\frac{h(t)}3\left(h(t)^2+6h(t)+12\right)=\frac13\left((h(t)+2)^3-8\right)$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Differentiate: </a:t>
                </a:r>
                <a:r>
                  <a:rPr lang="en-IN" sz="2400">
                    <a:solidFill>
                      <a:srgbClr val="111827"/>
                    </a:solidFill>
                    <a:latin typeface="Cambria Math" panose="02040503050406030204" pitchFamily="18" charset="0"/>
                  </a:rPr>
                  <a:t>$V'(t)=(h(t)+2)^2h'(t)$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$h'(1)=\frac{V'(1)}{(h(1)+2)^2}$</a:t>
                </a:r>
                <a:r>
                  <a:rPr sz="2400" b="0">
                    <a:solidFill>
                      <a:srgbClr val="111827"/>
                    </a:solidFill>
                    <a:latin typeface="Arial"/>
                  </a:rPr>
                  <a:t>, and </a:t>
                </a:r>
                <a:r>
                  <a:rPr lang="en-IN" sz="2400">
                    <a:solidFill>
                      <a:srgbClr val="111827"/>
                    </a:solidFill>
                    <a:latin typeface="Cambria Math" panose="02040503050406030204" pitchFamily="18" charset="0"/>
                  </a:rPr>
                  <a:t>$(h(1)+2)^2=(3V(1)+8)^{2/3}=27^{2/3}=9$</a:t>
                </a:r>
                <a:r>
                  <a:rPr sz="2400" b="0">
                    <a:solidFill>
                      <a:srgbClr val="111827"/>
                    </a:solidFill>
                    <a:latin typeface="Arial"/>
                  </a:rPr>
                  <a:t> since </a:t>
                </a:r>
                <a:r>
                  <a:rPr lang="en-IN" sz="2400">
                    <a:solidFill>
                      <a:srgbClr val="111827"/>
                    </a:solidFill>
                    <a:latin typeface="Cambria Math" panose="02040503050406030204" pitchFamily="18" charset="0"/>
                  </a:rPr>
                  <a:t>$V(1)=\frac{19}3$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$h'(1)=\frac{19}3\cdot\frac19=\frac{19}{27}$</a:t>
                </a:r>
                <a:r>
                  <a:rPr sz="2400" b="0">
                    <a:solidFill>
                      <a:srgbClr val="111827"/>
                    </a:solidFill>
                    <a:latin typeface="Arial"/>
                  </a:rPr>
                  <a:t> m per hour (so the level is </a:t>
                </a:r>
                <a:r>
                  <a:rPr lang="en-IN" sz="2400">
                    <a:solidFill>
                      <a:srgbClr val="111827"/>
                    </a:solidFill>
                    <a:latin typeface="Cambria Math" panose="02040503050406030204" pitchFamily="18" charset="0"/>
                  </a:rPr>
                  <a:t>$h(1)=1$</a:t>
                </a:r>
                <a:r>
                  <a:rPr sz="2400" b="0">
                    <a:solidFill>
                      <a:srgbClr val="111827"/>
                    </a:solidFill>
                    <a:latin typeface="Arial"/>
                  </a:rPr>
                  <a:t> m and rises at </a:t>
                </a:r>
                <a:r>
                  <a:rPr lang="en-IN" sz="2400">
                    <a:solidFill>
                      <a:srgbClr val="111827"/>
                    </a:solidFill>
                    <a:latin typeface="Cambria Math" panose="02040503050406030204" pitchFamily="18" charset="0"/>
                  </a:rPr>
                  <a:t>$\frac{19}{27}$</a:t>
                </a:r>
                <a:r>
                  <a:rPr sz="2400" b="0">
                    <a:solidFill>
                      <a:srgbClr val="111827"/>
                    </a:solidFill>
                    <a:latin typeface="Arial"/>
                  </a:rPr>
                  <a:t> m/h).</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19</m:t>
                        </m:r>
                      </m:num>
                      <m:den>
                        <m:r>
                          <a:rPr lang="en-IN" sz="2800" i="1">
                            <a:solidFill>
                              <a:srgbClr val="15803D"/>
                            </a:solidFill>
                            <a:latin typeface="Cambria Math" panose="02040503050406030204" pitchFamily="18" charset="0"/>
                          </a:rPr>
                          <m:t>27</m:t>
                        </m:r>
                      </m:den>
                    </m:f>
                  </m:oMath>
                </a14:m>
                <a:r>
                  <a:rPr sz="2800" b="1">
                    <a:solidFill>
                      <a:srgbClr val="15803D"/>
                    </a:solidFill>
                    <a:latin typeface="Arial"/>
                  </a:rPr>
                  <a:t> m per hour</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$\frac{19}{27}$</a:t>
                </a:r>
                <a:r>
                  <a:rPr sz="2800" b="1">
                    <a:solidFill>
                      <a:srgbClr val="15803D"/>
                    </a:solidFill>
                    <a:latin typeface="Arial"/>
                  </a:rPr>
                  <a:t> m per hour</a:t>
                </a:r>
                <a:endParaRPr sz="2800">
                  <a:solidFill>
                    <a:srgbClr val="15803D"/>
                  </a:solidFill>
                </a:endParaRPr>
              </a:p>
            </p:txBody>
          </p:sp>
        </mc:Fallback>
      </mc:AlternateContent>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Integrate the cross-section area </a:t>
                </a:r>
                <a14:m>
                  <m:oMath xmlns:m="http://schemas.openxmlformats.org/officeDocument/2006/math">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𝑠</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𝑠</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to get </a:t>
                </a:r>
                <a14:m>
                  <m:oMath xmlns:m="http://schemas.openxmlformats.org/officeDocument/2006/math">
                    <m:r>
                      <a:rPr lang="en-IN" sz="2400" i="1">
                        <a:solidFill>
                          <a:srgbClr val="78350F"/>
                        </a:solidFill>
                        <a:latin typeface="Cambria Math" panose="02040503050406030204" pitchFamily="18" charset="0"/>
                      </a:rPr>
                      <m:t>𝑉</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ℎ</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use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𝑉</m:t>
                        </m:r>
                      </m:num>
                      <m:den>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𝑡</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ℎ</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ℎ</m:t>
                        </m:r>
                      </m:num>
                      <m:den>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𝑡</m:t>
                        </m:r>
                      </m:den>
                    </m:f>
                  </m:oMath>
                </a14:m>
                <a:r>
                  <a:rPr sz="2400" b="0">
                    <a:solidFill>
                      <a:srgbClr val="78350F"/>
                    </a:solidFill>
                    <a:latin typeface="Arial"/>
                  </a:rPr>
                  <a:t> directly.</a:t>
                </a:r>
                <a:endParaRPr sz="2400">
                  <a:solidFill>
                    <a:srgbClr val="78350F"/>
                  </a:solidFill>
                </a:endParaRPr>
              </a:p>
            </p:txBody>
          </p:sp>
        </mc:Choice>
        <mc:Fallback>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Integrate the cross-section area </a:t>
                </a:r>
                <a:r>
                  <a:rPr lang="en-IN" sz="2400">
                    <a:solidFill>
                      <a:srgbClr val="78350F"/>
                    </a:solidFill>
                    <a:latin typeface="Cambria Math" panose="02040503050406030204" pitchFamily="18" charset="0"/>
                  </a:rPr>
                  <a:t>$A(s)=(2+s)^2$</a:t>
                </a:r>
                <a:r>
                  <a:rPr sz="2400" b="0">
                    <a:solidFill>
                      <a:srgbClr val="78350F"/>
                    </a:solidFill>
                    <a:latin typeface="Arial"/>
                  </a:rPr>
                  <a:t> to get </a:t>
                </a:r>
                <a:r>
                  <a:rPr lang="en-IN" sz="2400">
                    <a:solidFill>
                      <a:srgbClr val="78350F"/>
                    </a:solidFill>
                    <a:latin typeface="Cambria Math" panose="02040503050406030204" pitchFamily="18" charset="0"/>
                  </a:rPr>
                  <a:t>$V(h)$</a:t>
                </a:r>
                <a:r>
                  <a:rPr sz="2400" b="0">
                    <a:solidFill>
                      <a:srgbClr val="78350F"/>
                    </a:solidFill>
                    <a:latin typeface="Arial"/>
                  </a:rPr>
                  <a:t> and use </a:t>
                </a:r>
                <a:r>
                  <a:rPr lang="en-IN" sz="2400">
                    <a:solidFill>
                      <a:srgbClr val="78350F"/>
                    </a:solidFill>
                    <a:latin typeface="Cambria Math" panose="02040503050406030204" pitchFamily="18" charset="0"/>
                  </a:rPr>
                  <a:t>$\frac{dV}{dt}=A(h)\frac{dh}{dt}$</a:t>
                </a:r>
                <a:r>
                  <a:rPr sz="2400" b="0">
                    <a:solidFill>
                      <a:srgbClr val="78350F"/>
                    </a:solidFill>
                    <a:latin typeface="Arial"/>
                  </a:rPr>
                  <a:t> directly.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side of the square cross-section grows linearly from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over the depth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so at height </a:t>
                </a:r>
                <a14:m>
                  <m:oMath xmlns:m="http://schemas.openxmlformats.org/officeDocument/2006/math">
                    <m:r>
                      <a:rPr lang="en-IN" sz="2400" i="1">
                        <a:solidFill>
                          <a:srgbClr val="111827"/>
                        </a:solidFill>
                        <a:latin typeface="Cambria Math" panose="02040503050406030204" pitchFamily="18" charset="0"/>
                      </a:rPr>
                      <m:t>𝑠</m:t>
                    </m:r>
                  </m:oMath>
                </a14:m>
                <a:r>
                  <a:rPr sz="2400" b="0">
                    <a:solidFill>
                      <a:srgbClr val="111827"/>
                    </a:solidFill>
                    <a:latin typeface="Arial"/>
                  </a:rPr>
                  <a:t> above the base it is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oMath>
                </a14:m>
                <a:r>
                  <a:rPr sz="2400" b="0">
                    <a:solidFill>
                      <a:srgbClr val="111827"/>
                    </a:solidFill>
                    <a:latin typeface="Arial"/>
                  </a:rPr>
                  <a:t> and the area is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Volume of water at level </a:t>
                </a:r>
                <a14:m>
                  <m:oMath xmlns:m="http://schemas.openxmlformats.org/officeDocument/2006/math">
                    <m:r>
                      <a:rPr lang="en-IN" sz="2400" i="1">
                        <a:solidFill>
                          <a:srgbClr val="111827"/>
                        </a:solidFill>
                        <a:latin typeface="Cambria Math" panose="02040503050406030204" pitchFamily="18" charset="0"/>
                      </a:rPr>
                      <m:t>ℎ</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ℎ</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h, </a:t>
                </a: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19</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m.</a:t>
                </a:r>
                <a:endParaRPr sz="2400">
                  <a:solidFill>
                    <a:srgbClr val="111827"/>
                  </a:solidFill>
                </a:endParaRPr>
              </a:p>
            </p:txBody>
          </p:sp>
        </mc:Choice>
        <mc:Fallback>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side of the square cross-section grows linearly from </a:t>
                </a:r>
                <a:r>
                  <a:rPr lang="en-IN" sz="2400">
                    <a:solidFill>
                      <a:srgbClr val="111827"/>
                    </a:solidFill>
                    <a:latin typeface="Cambria Math" panose="02040503050406030204" pitchFamily="18" charset="0"/>
                  </a:rPr>
                  <a:t>$2$</a:t>
                </a:r>
                <a:r>
                  <a:rPr sz="2400" b="0">
                    <a:solidFill>
                      <a:srgbClr val="111827"/>
                    </a:solidFill>
                    <a:latin typeface="Arial"/>
                  </a:rPr>
                  <a:t> to </a:t>
                </a:r>
                <a:r>
                  <a:rPr lang="en-IN" sz="2400">
                    <a:solidFill>
                      <a:srgbClr val="111827"/>
                    </a:solidFill>
                    <a:latin typeface="Cambria Math" panose="02040503050406030204" pitchFamily="18" charset="0"/>
                  </a:rPr>
                  <a:t>$8$</a:t>
                </a:r>
                <a:r>
                  <a:rPr sz="2400" b="0">
                    <a:solidFill>
                      <a:srgbClr val="111827"/>
                    </a:solidFill>
                    <a:latin typeface="Arial"/>
                  </a:rPr>
                  <a:t> over the depth </a:t>
                </a:r>
                <a:r>
                  <a:rPr lang="en-IN" sz="2400">
                    <a:solidFill>
                      <a:srgbClr val="111827"/>
                    </a:solidFill>
                    <a:latin typeface="Cambria Math" panose="02040503050406030204" pitchFamily="18" charset="0"/>
                  </a:rPr>
                  <a:t>$6$</a:t>
                </a:r>
                <a:r>
                  <a:rPr sz="2400" b="0">
                    <a:solidFill>
                      <a:srgbClr val="111827"/>
                    </a:solidFill>
                    <a:latin typeface="Arial"/>
                  </a:rPr>
                  <a:t>, so at height </a:t>
                </a:r>
                <a:r>
                  <a:rPr lang="en-IN" sz="2400">
                    <a:solidFill>
                      <a:srgbClr val="111827"/>
                    </a:solidFill>
                    <a:latin typeface="Cambria Math" panose="02040503050406030204" pitchFamily="18" charset="0"/>
                  </a:rPr>
                  <a:t>$s$</a:t>
                </a:r>
                <a:r>
                  <a:rPr sz="2400" b="0">
                    <a:solidFill>
                      <a:srgbClr val="111827"/>
                    </a:solidFill>
                    <a:latin typeface="Arial"/>
                  </a:rPr>
                  <a:t> above the base it is </a:t>
                </a:r>
                <a:r>
                  <a:rPr lang="en-IN" sz="2400">
                    <a:solidFill>
                      <a:srgbClr val="111827"/>
                    </a:solidFill>
                    <a:latin typeface="Cambria Math" panose="02040503050406030204" pitchFamily="18" charset="0"/>
                  </a:rPr>
                  <a:t>$2+s$</a:t>
                </a:r>
                <a:r>
                  <a:rPr sz="2400" b="0">
                    <a:solidFill>
                      <a:srgbClr val="111827"/>
                    </a:solidFill>
                    <a:latin typeface="Arial"/>
                  </a:rPr>
                  <a:t> and the area is </a:t>
                </a:r>
                <a:r>
                  <a:rPr lang="en-IN" sz="2400">
                    <a:solidFill>
                      <a:srgbClr val="111827"/>
                    </a:solidFill>
                    <a:latin typeface="Cambria Math" panose="02040503050406030204" pitchFamily="18" charset="0"/>
                  </a:rPr>
                  <a:t>$A(s)=(2+s)^2$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Volume of water at level </a:t>
                </a:r>
                <a:r>
                  <a:rPr lang="en-IN" sz="2400">
                    <a:solidFill>
                      <a:srgbClr val="111827"/>
                    </a:solidFill>
                    <a:latin typeface="Cambria Math" panose="02040503050406030204" pitchFamily="18" charset="0"/>
                  </a:rPr>
                  <a:t>$h$</a:t>
                </a:r>
                <a:r>
                  <a:rPr sz="2400" b="0">
                    <a:solidFill>
                      <a:srgbClr val="111827"/>
                    </a:solidFill>
                    <a:latin typeface="Arial"/>
                  </a:rPr>
                  <a:t>: </a:t>
                </a:r>
                <a:r>
                  <a:rPr lang="en-IN" sz="2400">
                    <a:solidFill>
                      <a:srgbClr val="111827"/>
                    </a:solidFill>
                    <a:latin typeface="Cambria Math" panose="02040503050406030204" pitchFamily="18" charset="0"/>
                  </a:rPr>
                  <a:t>$V=\int_0^h(2+s)^2\,ds=\frac{(h+2)^3-8}3$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$t=1$</a:t>
                </a:r>
                <a:r>
                  <a:rPr sz="2400" b="0">
                    <a:solidFill>
                      <a:srgbClr val="111827"/>
                    </a:solidFill>
                    <a:latin typeface="Arial"/>
                  </a:rPr>
                  <a:t> h, </a:t>
                </a:r>
                <a:r>
                  <a:rPr lang="en-IN" sz="2400">
                    <a:solidFill>
                      <a:srgbClr val="111827"/>
                    </a:solidFill>
                    <a:latin typeface="Cambria Math" panose="02040503050406030204" pitchFamily="18" charset="0"/>
                  </a:rPr>
                  <a:t>$V=\frac{19}3$</a:t>
                </a:r>
                <a:r>
                  <a:rPr sz="2400" b="0">
                    <a:solidFill>
                      <a:srgbClr val="111827"/>
                    </a:solidFill>
                    <a:latin typeface="Arial"/>
                  </a:rPr>
                  <a:t>, so </a:t>
                </a:r>
                <a:r>
                  <a:rPr lang="en-IN" sz="2400">
                    <a:solidFill>
                      <a:srgbClr val="111827"/>
                    </a:solidFill>
                    <a:latin typeface="Cambria Math" panose="02040503050406030204" pitchFamily="18" charset="0"/>
                  </a:rPr>
                  <a:t>$(h+2)^3=27$</a:t>
                </a:r>
                <a:r>
                  <a:rPr sz="2400" b="0">
                    <a:solidFill>
                      <a:srgbClr val="111827"/>
                    </a:solidFill>
                    <a:latin typeface="Arial"/>
                  </a:rPr>
                  <a:t> and </a:t>
                </a:r>
                <a:r>
                  <a:rPr lang="en-IN" sz="2400">
                    <a:solidFill>
                      <a:srgbClr val="111827"/>
                    </a:solidFill>
                    <a:latin typeface="Cambria Math" panose="02040503050406030204" pitchFamily="18" charset="0"/>
                  </a:rPr>
                  <a:t>$h=1$</a:t>
                </a:r>
                <a:r>
                  <a:rPr sz="2400" b="0">
                    <a:solidFill>
                      <a:srgbClr val="111827"/>
                    </a:solidFill>
                    <a:latin typeface="Arial"/>
                  </a:rPr>
                  <a:t> m.</a:t>
                </a:r>
                <a:endParaRPr sz="2400">
                  <a:solidFill>
                    <a:srgbClr val="111827"/>
                  </a:solidFill>
                </a:endParaRPr>
              </a:p>
            </p:txBody>
          </p:sp>
        </mc:Fallback>
      </mc:AlternateContent>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Differentiating </a:t>
                </a:r>
                <a14:m>
                  <m:oMath xmlns:m="http://schemas.openxmlformats.org/officeDocument/2006/math">
                    <m:r>
                      <a:rPr lang="en-IN" sz="2400" i="1">
                        <a:solidFill>
                          <a:srgbClr val="111827"/>
                        </a:solidFill>
                        <a:latin typeface="Cambria Math" panose="02040503050406030204" pitchFamily="18" charset="0"/>
                      </a:rPr>
                      <m:t>𝑉</m:t>
                    </m:r>
                  </m:oMath>
                </a14:m>
                <a:r>
                  <a:rPr sz="2400" b="0">
                    <a:solidFill>
                      <a:srgbClr val="111827"/>
                    </a:solidFill>
                    <a:latin typeface="Arial"/>
                  </a:rPr>
                  <a:t> with respect to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 (or by the fundamental theorem of calculus):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𝑉</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ℎ</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ℎ</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19</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ℎ</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ℎ</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19</m:t>
                        </m:r>
                      </m:num>
                      <m:den>
                        <m:r>
                          <a:rPr lang="en-IN" sz="2400" i="1">
                            <a:solidFill>
                              <a:srgbClr val="111827"/>
                            </a:solidFill>
                            <a:latin typeface="Cambria Math" panose="02040503050406030204" pitchFamily="18" charset="0"/>
                          </a:rPr>
                          <m:t>27</m:t>
                        </m:r>
                      </m:den>
                    </m:f>
                  </m:oMath>
                </a14:m>
                <a:r>
                  <a:rPr sz="2400" b="0">
                    <a:solidFill>
                      <a:srgbClr val="111827"/>
                    </a:solidFill>
                    <a:latin typeface="Arial"/>
                  </a:rPr>
                  <a:t> m per hour.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Differentiating </a:t>
                </a:r>
                <a:r>
                  <a:rPr lang="en-IN" sz="2400">
                    <a:solidFill>
                      <a:srgbClr val="111827"/>
                    </a:solidFill>
                    <a:latin typeface="Cambria Math" panose="02040503050406030204" pitchFamily="18" charset="0"/>
                  </a:rPr>
                  <a:t>$V$</a:t>
                </a:r>
                <a:r>
                  <a:rPr sz="2400" b="0">
                    <a:solidFill>
                      <a:srgbClr val="111827"/>
                    </a:solidFill>
                    <a:latin typeface="Arial"/>
                  </a:rPr>
                  <a:t> with respect to </a:t>
                </a:r>
                <a:r>
                  <a:rPr lang="en-IN" sz="2400">
                    <a:solidFill>
                      <a:srgbClr val="111827"/>
                    </a:solidFill>
                    <a:latin typeface="Cambria Math" panose="02040503050406030204" pitchFamily="18" charset="0"/>
                  </a:rPr>
                  <a:t>$t$</a:t>
                </a:r>
                <a:r>
                  <a:rPr sz="2400" b="0">
                    <a:solidFill>
                      <a:srgbClr val="111827"/>
                    </a:solidFill>
                    <a:latin typeface="Arial"/>
                  </a:rPr>
                  <a:t> (or by the fundamental theorem of calculus): </a:t>
                </a:r>
                <a:r>
                  <a:rPr lang="en-IN" sz="2400">
                    <a:solidFill>
                      <a:srgbClr val="111827"/>
                    </a:solidFill>
                    <a:latin typeface="Cambria Math" panose="02040503050406030204" pitchFamily="18" charset="0"/>
                  </a:rPr>
                  <a:t>$\frac{dV}{dt}=A(h)\frac{dh}{dt}=(h+2)^2\frac{dh}{dt}$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$\frac{19}3=9\frac{dh}{dt}$</a:t>
                </a:r>
                <a:r>
                  <a:rPr sz="2400" b="0">
                    <a:solidFill>
                      <a:srgbClr val="111827"/>
                    </a:solidFill>
                    <a:latin typeface="Arial"/>
                  </a:rPr>
                  <a:t>, so </a:t>
                </a:r>
                <a:r>
                  <a:rPr lang="en-IN" sz="2400">
                    <a:solidFill>
                      <a:srgbClr val="111827"/>
                    </a:solidFill>
                    <a:latin typeface="Cambria Math" panose="02040503050406030204" pitchFamily="18" charset="0"/>
                  </a:rPr>
                  <a:t>$\frac{dh}{dt}=\frac{19}{27}$</a:t>
                </a:r>
                <a:r>
                  <a:rPr sz="2400" b="0">
                    <a:solidFill>
                      <a:srgbClr val="111827"/>
                    </a:solidFill>
                    <a:latin typeface="Arial"/>
                  </a:rPr>
                  <a:t> m per hour.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19</m:t>
                        </m:r>
                      </m:num>
                      <m:den>
                        <m:r>
                          <a:rPr lang="en-IN" sz="2800" i="1">
                            <a:solidFill>
                              <a:srgbClr val="15803D"/>
                            </a:solidFill>
                            <a:latin typeface="Cambria Math" panose="02040503050406030204" pitchFamily="18" charset="0"/>
                          </a:rPr>
                          <m:t>27</m:t>
                        </m:r>
                      </m:den>
                    </m:f>
                  </m:oMath>
                </a14:m>
                <a:r>
                  <a:rPr sz="2800" b="1">
                    <a:solidFill>
                      <a:srgbClr val="15803D"/>
                    </a:solidFill>
                    <a:latin typeface="Arial"/>
                  </a:rPr>
                  <a:t> m per hour</a:t>
                </a:r>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$\frac{19}{27}$</a:t>
                </a:r>
                <a:r>
                  <a:rPr sz="2800" b="1">
                    <a:solidFill>
                      <a:srgbClr val="15803D"/>
                    </a:solidFill>
                    <a:latin typeface="Arial"/>
                  </a:rPr>
                  <a:t> m per hour</a:t>
                </a:r>
                <a:endParaRPr sz="2800">
                  <a:solidFill>
                    <a:srgbClr val="15803D"/>
                  </a:solidFill>
                </a:endParaRPr>
              </a:p>
            </p:txBody>
          </p:sp>
        </mc:Fallback>
      </mc:AlternateContent>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Related rates: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𝑉</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ℎ</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the area of the water surface at level </a:t>
                </a:r>
                <a14:m>
                  <m:oMath xmlns:m="http://schemas.openxmlformats.org/officeDocument/2006/math">
                    <m:r>
                      <a:rPr lang="en-IN" sz="2400" i="1">
                        <a:solidFill>
                          <a:srgbClr val="111827"/>
                        </a:solidFill>
                        <a:latin typeface="Cambria Math" panose="02040503050406030204" pitchFamily="18" charset="0"/>
                      </a:rPr>
                      <m:t>ℎ</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Frustum volume: </a:t>
                </a: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ℎ</m:t>
                        </m:r>
                      </m:num>
                      <m:den>
                        <m:r>
                          <a:rPr lang="en-IN" sz="2400" i="1">
                            <a:solidFill>
                              <a:srgbClr val="111827"/>
                            </a:solidFill>
                            <a:latin typeface="Cambria Math" panose="02040503050406030204" pitchFamily="18" charset="0"/>
                          </a:rPr>
                          <m:t>3</m:t>
                        </m:r>
                      </m:den>
                    </m:f>
                    <m:d>
                      <m:dPr>
                        <m:begChr m:val="("/>
                        <m:sepChr m:val=""/>
                        <m:endChr m:val=")"/>
                        <m:grow/>
                        <m:ctrlPr>
                          <a:rPr lang="en-IN" sz="2400" i="1">
                            <a:solidFill>
                              <a:srgbClr val="111827"/>
                            </a:solidFill>
                            <a:latin typeface="Cambria Math" panose="02040503050406030204" pitchFamily="18" charset="0"/>
                          </a:rPr>
                        </m:ctrlPr>
                      </m:dPr>
                      <m:e>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2</m:t>
                                </m:r>
                              </m:sub>
                            </m:sSub>
                          </m:e>
                        </m:rad>
                      </m:e>
                    </m:d>
                  </m:oMath>
                </a14:m>
                <a:r>
                  <a:rPr sz="2400" b="0">
                    <a:solidFill>
                      <a:srgbClr val="111827"/>
                    </a:solidFill>
                    <a:latin typeface="Arial"/>
                  </a:rPr>
                  <a:t>; for a pyramid-like pond whose side grows linearly with depth, the surface side at height </a:t>
                </a:r>
                <a14:m>
                  <m:oMath xmlns:m="http://schemas.openxmlformats.org/officeDocument/2006/math">
                    <m:r>
                      <a:rPr lang="en-IN" sz="2400" i="1">
                        <a:solidFill>
                          <a:srgbClr val="111827"/>
                        </a:solidFill>
                        <a:latin typeface="Cambria Math" panose="02040503050406030204" pitchFamily="18" charset="0"/>
                      </a:rPr>
                      <m:t>𝑠</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oMath>
                </a14:m>
                <a:r>
                  <a:rPr sz="2400" b="0">
                    <a:solidFill>
                      <a:srgbClr val="111827"/>
                    </a:solidFill>
                    <a:latin typeface="Arial"/>
                  </a:rPr>
                  <a:t> here, so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Extending a frustum to the full pyramid (apex at distance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above the small face,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𝐻</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1</m:t>
                            </m:r>
                          </m:sub>
                        </m:sSub>
                      </m:num>
                      <m:den>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2</m:t>
                            </m:r>
                          </m:sub>
                        </m:sSub>
                      </m:den>
                    </m:f>
                  </m:oMath>
                </a14:m>
                <a:r>
                  <a:rPr sz="2400" b="0">
                    <a:solidFill>
                      <a:srgbClr val="111827"/>
                    </a:solidFill>
                    <a:latin typeface="Arial"/>
                  </a:rPr>
                  <a:t>) turns the problem into similar triangles; here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units: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19</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m</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/h divided by area in m</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gives m/h; 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h: </a:t>
                </a: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19</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m,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m</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Related rates: </a:t>
                </a:r>
                <a:r>
                  <a:rPr lang="en-IN" sz="2400">
                    <a:solidFill>
                      <a:srgbClr val="111827"/>
                    </a:solidFill>
                    <a:latin typeface="Cambria Math" panose="02040503050406030204" pitchFamily="18" charset="0"/>
                  </a:rPr>
                  <a:t>$\frac{dV}{dt}=A(h)\frac{dh}{dt}$</a:t>
                </a:r>
                <a:r>
                  <a:rPr sz="2400" b="0">
                    <a:solidFill>
                      <a:srgbClr val="111827"/>
                    </a:solidFill>
                    <a:latin typeface="Arial"/>
                  </a:rPr>
                  <a:t>, where </a:t>
                </a:r>
                <a:r>
                  <a:rPr lang="en-IN" sz="2400">
                    <a:solidFill>
                      <a:srgbClr val="111827"/>
                    </a:solidFill>
                    <a:latin typeface="Cambria Math" panose="02040503050406030204" pitchFamily="18" charset="0"/>
                  </a:rPr>
                  <a:t>$A(h)$</a:t>
                </a:r>
                <a:r>
                  <a:rPr sz="2400" b="0">
                    <a:solidFill>
                      <a:srgbClr val="111827"/>
                    </a:solidFill>
                    <a:latin typeface="Arial"/>
                  </a:rPr>
                  <a:t> is the area of the water surface at level </a:t>
                </a:r>
                <a:r>
                  <a:rPr lang="en-IN" sz="2400">
                    <a:solidFill>
                      <a:srgbClr val="111827"/>
                    </a:solidFill>
                    <a:latin typeface="Cambria Math" panose="02040503050406030204" pitchFamily="18" charset="0"/>
                  </a:rPr>
                  <a:t>$h$</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Frustum volume: </a:t>
                </a:r>
                <a:r>
                  <a:rPr lang="en-IN" sz="2400">
                    <a:solidFill>
                      <a:srgbClr val="111827"/>
                    </a:solidFill>
                    <a:latin typeface="Cambria Math" panose="02040503050406030204" pitchFamily="18" charset="0"/>
                  </a:rPr>
                  <a:t>$V=\frac h3\left(A_1+A_2+\sqrt{A_1A_2}\right)$</a:t>
                </a:r>
                <a:r>
                  <a:rPr sz="2400" b="0">
                    <a:solidFill>
                      <a:srgbClr val="111827"/>
                    </a:solidFill>
                    <a:latin typeface="Arial"/>
                  </a:rPr>
                  <a:t>; for a pyramid-like pond whose side grows linearly with depth, the surface side at height </a:t>
                </a:r>
                <a:r>
                  <a:rPr lang="en-IN" sz="2400">
                    <a:solidFill>
                      <a:srgbClr val="111827"/>
                    </a:solidFill>
                    <a:latin typeface="Cambria Math" panose="02040503050406030204" pitchFamily="18" charset="0"/>
                  </a:rPr>
                  <a:t>$s$</a:t>
                </a:r>
                <a:r>
                  <a:rPr sz="2400" b="0">
                    <a:solidFill>
                      <a:srgbClr val="111827"/>
                    </a:solidFill>
                    <a:latin typeface="Arial"/>
                  </a:rPr>
                  <a:t> is </a:t>
                </a:r>
                <a:r>
                  <a:rPr lang="en-IN" sz="2400">
                    <a:solidFill>
                      <a:srgbClr val="111827"/>
                    </a:solidFill>
                    <a:latin typeface="Cambria Math" panose="02040503050406030204" pitchFamily="18" charset="0"/>
                  </a:rPr>
                  <a:t>$2+s$</a:t>
                </a:r>
                <a:r>
                  <a:rPr sz="2400" b="0">
                    <a:solidFill>
                      <a:srgbClr val="111827"/>
                    </a:solidFill>
                    <a:latin typeface="Arial"/>
                  </a:rPr>
                  <a:t> here, so </a:t>
                </a:r>
                <a:r>
                  <a:rPr lang="en-IN" sz="2400">
                    <a:solidFill>
                      <a:srgbClr val="111827"/>
                    </a:solidFill>
                    <a:latin typeface="Cambria Math" panose="02040503050406030204" pitchFamily="18" charset="0"/>
                  </a:rPr>
                  <a:t>$A(s)=(2+s)^2$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Extending a frustum to the full pyramid (apex at distance </a:t>
                </a:r>
                <a:r>
                  <a:rPr lang="en-IN" sz="2400">
                    <a:solidFill>
                      <a:srgbClr val="111827"/>
                    </a:solidFill>
                    <a:latin typeface="Cambria Math" panose="02040503050406030204" pitchFamily="18" charset="0"/>
                  </a:rPr>
                  <a:t>$x$</a:t>
                </a:r>
                <a:r>
                  <a:rPr sz="2400" b="0">
                    <a:solidFill>
                      <a:srgbClr val="111827"/>
                    </a:solidFill>
                    <a:latin typeface="Arial"/>
                  </a:rPr>
                  <a:t> above the small face, </a:t>
                </a:r>
                <a:r>
                  <a:rPr lang="en-IN" sz="2400">
                    <a:solidFill>
                      <a:srgbClr val="111827"/>
                    </a:solidFill>
                    <a:latin typeface="Cambria Math" panose="02040503050406030204" pitchFamily="18" charset="0"/>
                  </a:rPr>
                  <a:t>$\frac{x}{x+H}=\frac{s_1}{s_2}$</a:t>
                </a:r>
                <a:r>
                  <a:rPr sz="2400" b="0">
                    <a:solidFill>
                      <a:srgbClr val="111827"/>
                    </a:solidFill>
                    <a:latin typeface="Arial"/>
                  </a:rPr>
                  <a:t>) turns the problem into similar triangles; here </a:t>
                </a:r>
                <a:r>
                  <a:rPr lang="en-IN" sz="2400">
                    <a:solidFill>
                      <a:srgbClr val="111827"/>
                    </a:solidFill>
                    <a:latin typeface="Cambria Math" panose="02040503050406030204" pitchFamily="18" charset="0"/>
                  </a:rPr>
                  <a:t>$\frac{x}{x+6}=\frac14$</a:t>
                </a:r>
                <a:r>
                  <a:rPr sz="2400" b="0">
                    <a:solidFill>
                      <a:srgbClr val="111827"/>
                    </a:solidFill>
                    <a:latin typeface="Arial"/>
                  </a:rPr>
                  <a:t> gives </a:t>
                </a:r>
                <a:r>
                  <a:rPr lang="en-IN" sz="2400">
                    <a:solidFill>
                      <a:srgbClr val="111827"/>
                    </a:solidFill>
                    <a:latin typeface="Cambria Math" panose="02040503050406030204" pitchFamily="18" charset="0"/>
                  </a:rPr>
                  <a:t>$x=2$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units: </a:t>
                </a:r>
                <a:r>
                  <a:rPr lang="en-IN" sz="2400">
                    <a:solidFill>
                      <a:srgbClr val="111827"/>
                    </a:solidFill>
                    <a:latin typeface="Cambria Math" panose="02040503050406030204" pitchFamily="18" charset="0"/>
                  </a:rPr>
                  <a:t>$\frac{19}3$</a:t>
                </a:r>
                <a:r>
                  <a:rPr sz="2400" b="0">
                    <a:solidFill>
                      <a:srgbClr val="111827"/>
                    </a:solidFill>
                    <a:latin typeface="Arial"/>
                  </a:rPr>
                  <a:t> m</a:t>
                </a:r>
                <a:r>
                  <a:rPr lang="en-IN" sz="2400">
                    <a:solidFill>
                      <a:srgbClr val="111827"/>
                    </a:solidFill>
                    <a:latin typeface="Cambria Math" panose="02040503050406030204" pitchFamily="18" charset="0"/>
                  </a:rPr>
                  <a:t>$^3$</a:t>
                </a:r>
                <a:r>
                  <a:rPr sz="2400" b="0">
                    <a:solidFill>
                      <a:srgbClr val="111827"/>
                    </a:solidFill>
                    <a:latin typeface="Arial"/>
                  </a:rPr>
                  <a:t>/h divided by area in m</a:t>
                </a:r>
                <a:r>
                  <a:rPr lang="en-IN" sz="2400">
                    <a:solidFill>
                      <a:srgbClr val="111827"/>
                    </a:solidFill>
                    <a:latin typeface="Cambria Math" panose="02040503050406030204" pitchFamily="18" charset="0"/>
                  </a:rPr>
                  <a:t>$^2$</a:t>
                </a:r>
                <a:r>
                  <a:rPr sz="2400" b="0">
                    <a:solidFill>
                      <a:srgbClr val="111827"/>
                    </a:solidFill>
                    <a:latin typeface="Arial"/>
                  </a:rPr>
                  <a:t> gives m/h; at </a:t>
                </a:r>
                <a:r>
                  <a:rPr lang="en-IN" sz="2400">
                    <a:solidFill>
                      <a:srgbClr val="111827"/>
                    </a:solidFill>
                    <a:latin typeface="Cambria Math" panose="02040503050406030204" pitchFamily="18" charset="0"/>
                  </a:rPr>
                  <a:t>$t=1$</a:t>
                </a:r>
                <a:r>
                  <a:rPr sz="2400" b="0">
                    <a:solidFill>
                      <a:srgbClr val="111827"/>
                    </a:solidFill>
                    <a:latin typeface="Arial"/>
                  </a:rPr>
                  <a:t> h: </a:t>
                </a:r>
                <a:r>
                  <a:rPr lang="en-IN" sz="2400">
                    <a:solidFill>
                      <a:srgbClr val="111827"/>
                    </a:solidFill>
                    <a:latin typeface="Cambria Math" panose="02040503050406030204" pitchFamily="18" charset="0"/>
                  </a:rPr>
                  <a:t>$V=\frac{19}3$</a:t>
                </a:r>
                <a:r>
                  <a:rPr sz="2400" b="0">
                    <a:solidFill>
                      <a:srgbClr val="111827"/>
                    </a:solidFill>
                    <a:latin typeface="Arial"/>
                  </a:rPr>
                  <a:t>, </a:t>
                </a:r>
                <a:r>
                  <a:rPr lang="en-IN" sz="2400">
                    <a:solidFill>
                      <a:srgbClr val="111827"/>
                    </a:solidFill>
                    <a:latin typeface="Cambria Math" panose="02040503050406030204" pitchFamily="18" charset="0"/>
                  </a:rPr>
                  <a:t>$h=1$</a:t>
                </a:r>
                <a:r>
                  <a:rPr sz="2400" b="0">
                    <a:solidFill>
                      <a:srgbClr val="111827"/>
                    </a:solidFill>
                    <a:latin typeface="Arial"/>
                  </a:rPr>
                  <a:t> m, </a:t>
                </a:r>
                <a:r>
                  <a:rPr lang="en-IN" sz="2400">
                    <a:solidFill>
                      <a:srgbClr val="111827"/>
                    </a:solidFill>
                    <a:latin typeface="Cambria Math" panose="02040503050406030204" pitchFamily="18" charset="0"/>
                  </a:rPr>
                  <a:t>$A=9$</a:t>
                </a:r>
                <a:r>
                  <a:rPr sz="2400" b="0">
                    <a:solidFill>
                      <a:srgbClr val="111827"/>
                    </a:solidFill>
                    <a:latin typeface="Arial"/>
                  </a:rPr>
                  <a:t> m</a:t>
                </a:r>
                <a:r>
                  <a:rPr lang="en-IN" sz="2400">
                    <a:solidFill>
                      <a:srgbClr val="111827"/>
                    </a:solidFill>
                    <a:latin typeface="Cambria Math" panose="02040503050406030204" pitchFamily="18" charset="0"/>
                  </a:rPr>
                  <a:t>$^2$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7</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Matching List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Q50 – Q51</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No marking scheme printed; JEE Advanced default of 3 marks assumed</a:t>
            </a:r>
            <a:endParaRPr sz="2800">
              <a:solidFill>
                <a:srgbClr val="FFFFFF"/>
              </a:solidFill>
            </a:endParaRP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53949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000">
                    <a:solidFill>
                      <a:srgbClr val="111827"/>
                    </a:solidFill>
                  </a:defRPr>
                </a:lvl1pPr>
              </a:lstStyle>
              <a:p>
                <a:pPr algn="l">
                  <a:spcAft>
                    <a:spcPts val="500"/>
                  </a:spcAft>
                  <a:defRPr sz="2000">
                    <a:solidFill>
                      <a:srgbClr val="111827"/>
                    </a:solidFill>
                  </a:defRPr>
                </a:pPr>
                <a:r>
                  <a:rPr sz="2000" b="0">
                    <a:solidFill>
                      <a:srgbClr val="111827"/>
                    </a:solidFill>
                    <a:latin typeface="Arial"/>
                  </a:rPr>
                  <a:t>Consider a circle with unit radius whose chord </a:t>
                </a:r>
                <a14:m>
                  <m:oMath xmlns:m="http://schemas.openxmlformats.org/officeDocument/2006/math">
                    <m:r>
                      <a:rPr lang="en-IN" sz="2000" i="1">
                        <a:solidFill>
                          <a:srgbClr val="111827"/>
                        </a:solidFill>
                        <a:latin typeface="Cambria Math" panose="02040503050406030204" pitchFamily="18" charset="0"/>
                      </a:rPr>
                      <m:t>𝐴</m:t>
                    </m:r>
                    <m:r>
                      <a:rPr lang="en-IN" sz="2000" i="1">
                        <a:solidFill>
                          <a:srgbClr val="111827"/>
                        </a:solidFill>
                        <a:latin typeface="Cambria Math" panose="02040503050406030204" pitchFamily="18" charset="0"/>
                      </a:rPr>
                      <m:t>𝐵</m:t>
                    </m:r>
                  </m:oMath>
                </a14:m>
                <a:r>
                  <a:rPr sz="2000" b="0">
                    <a:solidFill>
                      <a:srgbClr val="111827"/>
                    </a:solidFill>
                    <a:latin typeface="Arial"/>
                  </a:rPr>
                  <a:t> is at a perpendicular distance </a:t>
                </a:r>
                <a14:m>
                  <m:oMath xmlns:m="http://schemas.openxmlformats.org/officeDocument/2006/math">
                    <m:r>
                      <a:rPr lang="en-IN" sz="2000" i="1">
                        <a:solidFill>
                          <a:srgbClr val="111827"/>
                        </a:solidFill>
                        <a:latin typeface="Cambria Math" panose="02040503050406030204" pitchFamily="18" charset="0"/>
                      </a:rPr>
                      <m:t>𝑥</m:t>
                    </m:r>
                  </m:oMath>
                </a14:m>
                <a:r>
                  <a:rPr sz="2000" b="0">
                    <a:solidFill>
                      <a:srgbClr val="111827"/>
                    </a:solidFill>
                    <a:latin typeface="Arial"/>
                  </a:rPr>
                  <a:t> from the centre </a:t>
                </a:r>
                <a14:m>
                  <m:oMath xmlns:m="http://schemas.openxmlformats.org/officeDocument/2006/math">
                    <m:r>
                      <a:rPr lang="en-IN" sz="2000" i="1">
                        <a:solidFill>
                          <a:srgbClr val="111827"/>
                        </a:solidFill>
                        <a:latin typeface="Cambria Math" panose="02040503050406030204" pitchFamily="18" charset="0"/>
                      </a:rPr>
                      <m:t>𝐶</m:t>
                    </m:r>
                  </m:oMath>
                </a14:m>
                <a:r>
                  <a:rPr sz="2000" b="0">
                    <a:solidFill>
                      <a:srgbClr val="111827"/>
                    </a:solidFill>
                    <a:latin typeface="Arial"/>
                  </a:rPr>
                  <a:t>. Let the area of triangle </a:t>
                </a:r>
                <a14:m>
                  <m:oMath xmlns:m="http://schemas.openxmlformats.org/officeDocument/2006/math">
                    <m:r>
                      <a:rPr lang="en-IN" sz="2000" i="1">
                        <a:solidFill>
                          <a:srgbClr val="111827"/>
                        </a:solidFill>
                        <a:latin typeface="Cambria Math" panose="02040503050406030204" pitchFamily="18" charset="0"/>
                      </a:rPr>
                      <m:t>𝐴</m:t>
                    </m:r>
                    <m:r>
                      <a:rPr lang="en-IN" sz="2000" i="1">
                        <a:solidFill>
                          <a:srgbClr val="111827"/>
                        </a:solidFill>
                        <a:latin typeface="Cambria Math" panose="02040503050406030204" pitchFamily="18" charset="0"/>
                      </a:rPr>
                      <m:t>𝐶</m:t>
                    </m:r>
                    <m:r>
                      <a:rPr lang="en-IN" sz="2000" i="1">
                        <a:solidFill>
                          <a:srgbClr val="111827"/>
                        </a:solidFill>
                        <a:latin typeface="Cambria Math" panose="02040503050406030204" pitchFamily="18" charset="0"/>
                      </a:rPr>
                      <m:t>𝐵</m:t>
                    </m:r>
                  </m:oMath>
                </a14:m>
                <a:r>
                  <a:rPr sz="2000" b="0">
                    <a:solidFill>
                      <a:srgbClr val="111827"/>
                    </a:solidFill>
                    <a:latin typeface="Arial"/>
                  </a:rPr>
                  <a:t> be given by the function </a:t>
                </a:r>
                <a14:m>
                  <m:oMath xmlns:m="http://schemas.openxmlformats.org/officeDocument/2006/math">
                    <m:r>
                      <a:rPr lang="en-IN" sz="2000" i="1">
                        <a:solidFill>
                          <a:srgbClr val="111827"/>
                        </a:solidFill>
                        <a:latin typeface="Cambria Math" panose="02040503050406030204" pitchFamily="18" charset="0"/>
                      </a:rPr>
                      <m:t>𝑦</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𝑓</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𝑥</m:t>
                    </m:r>
                    <m:r>
                      <m:rPr>
                        <m:sty m:val="p"/>
                      </m:rPr>
                      <a:rPr lang="en-IN" sz="2000">
                        <a:solidFill>
                          <a:srgbClr val="111827"/>
                        </a:solidFill>
                        <a:latin typeface="Cambria Math" panose="02040503050406030204" pitchFamily="18" charset="0"/>
                      </a:rPr>
                      <m:t>)</m:t>
                    </m:r>
                  </m:oMath>
                </a14:m>
                <a:r>
                  <a:rPr sz="2000" b="0">
                    <a:solidFill>
                      <a:srgbClr val="111827"/>
                    </a:solidFill>
                    <a:latin typeface="Arial"/>
                  </a:rPr>
                  <a:t>. On the curve </a:t>
                </a:r>
                <a14:m>
                  <m:oMath xmlns:m="http://schemas.openxmlformats.org/officeDocument/2006/math">
                    <m:r>
                      <a:rPr lang="en-IN" sz="2000" i="1">
                        <a:solidFill>
                          <a:srgbClr val="111827"/>
                        </a:solidFill>
                        <a:latin typeface="Cambria Math" panose="02040503050406030204" pitchFamily="18" charset="0"/>
                      </a:rPr>
                      <m:t>𝑦</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𝑓</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𝑥</m:t>
                    </m:r>
                    <m:r>
                      <m:rPr>
                        <m:sty m:val="p"/>
                      </m:rPr>
                      <a:rPr lang="en-IN" sz="2000">
                        <a:solidFill>
                          <a:srgbClr val="111827"/>
                        </a:solidFill>
                        <a:latin typeface="Cambria Math" panose="02040503050406030204" pitchFamily="18" charset="0"/>
                      </a:rPr>
                      <m:t>)</m:t>
                    </m:r>
                  </m:oMath>
                </a14:m>
                <a:r>
                  <a:rPr sz="2000" b="0">
                    <a:solidFill>
                      <a:srgbClr val="111827"/>
                    </a:solidFill>
                    <a:latin typeface="Arial"/>
                  </a:rPr>
                  <a:t> a variable point </a:t>
                </a:r>
                <a14:m>
                  <m:oMath xmlns:m="http://schemas.openxmlformats.org/officeDocument/2006/math">
                    <m:r>
                      <a:rPr lang="en-IN" sz="2000" i="1">
                        <a:solidFill>
                          <a:srgbClr val="111827"/>
                        </a:solidFill>
                        <a:latin typeface="Cambria Math" panose="02040503050406030204" pitchFamily="18" charset="0"/>
                      </a:rPr>
                      <m:t>𝑃</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𝑥</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𝑓</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𝑥</m:t>
                    </m:r>
                    <m:r>
                      <m:rPr>
                        <m:sty m:val="p"/>
                      </m:rPr>
                      <a:rPr lang="en-IN" sz="2000">
                        <a:solidFill>
                          <a:srgbClr val="111827"/>
                        </a:solidFill>
                        <a:latin typeface="Cambria Math" panose="02040503050406030204" pitchFamily="18" charset="0"/>
                      </a:rPr>
                      <m:t>)</m:t>
                    </m:r>
                    <m:r>
                      <m:rPr>
                        <m:sty m:val="p"/>
                      </m:rPr>
                      <a:rPr lang="en-IN" sz="2000">
                        <a:solidFill>
                          <a:srgbClr val="111827"/>
                        </a:solidFill>
                        <a:latin typeface="Cambria Math" panose="02040503050406030204" pitchFamily="18" charset="0"/>
                      </a:rPr>
                      <m:t>)</m:t>
                    </m:r>
                  </m:oMath>
                </a14:m>
                <a:r>
                  <a:rPr sz="2000" b="0">
                    <a:solidFill>
                      <a:srgbClr val="111827"/>
                    </a:solidFill>
                    <a:latin typeface="Arial"/>
                  </a:rPr>
                  <a:t> is taken and perpendiculars </a:t>
                </a:r>
                <a14:m>
                  <m:oMath xmlns:m="http://schemas.openxmlformats.org/officeDocument/2006/math">
                    <m:r>
                      <a:rPr lang="en-IN" sz="2000" i="1">
                        <a:solidFill>
                          <a:srgbClr val="111827"/>
                        </a:solidFill>
                        <a:latin typeface="Cambria Math" panose="02040503050406030204" pitchFamily="18" charset="0"/>
                      </a:rPr>
                      <m:t>𝑃</m:t>
                    </m:r>
                    <m:r>
                      <a:rPr lang="en-IN" sz="2000" i="1">
                        <a:solidFill>
                          <a:srgbClr val="111827"/>
                        </a:solidFill>
                        <a:latin typeface="Cambria Math" panose="02040503050406030204" pitchFamily="18" charset="0"/>
                      </a:rPr>
                      <m:t>𝑄</m:t>
                    </m:r>
                  </m:oMath>
                </a14:m>
                <a:r>
                  <a:rPr sz="2000" b="0">
                    <a:solidFill>
                      <a:srgbClr val="111827"/>
                    </a:solidFill>
                    <a:latin typeface="Arial"/>
                  </a:rPr>
                  <a:t> and </a:t>
                </a:r>
                <a14:m>
                  <m:oMath xmlns:m="http://schemas.openxmlformats.org/officeDocument/2006/math">
                    <m:r>
                      <a:rPr lang="en-IN" sz="2000" i="1">
                        <a:solidFill>
                          <a:srgbClr val="111827"/>
                        </a:solidFill>
                        <a:latin typeface="Cambria Math" panose="02040503050406030204" pitchFamily="18" charset="0"/>
                      </a:rPr>
                      <m:t>𝑃</m:t>
                    </m:r>
                    <m:r>
                      <a:rPr lang="en-IN" sz="2000" i="1">
                        <a:solidFill>
                          <a:srgbClr val="111827"/>
                        </a:solidFill>
                        <a:latin typeface="Cambria Math" panose="02040503050406030204" pitchFamily="18" charset="0"/>
                      </a:rPr>
                      <m:t>𝑅</m:t>
                    </m:r>
                  </m:oMath>
                </a14:m>
                <a:r>
                  <a:rPr sz="2000" b="0">
                    <a:solidFill>
                      <a:srgbClr val="111827"/>
                    </a:solidFill>
                    <a:latin typeface="Arial"/>
                  </a:rPr>
                  <a:t> are drawn on the </a:t>
                </a:r>
                <a14:m>
                  <m:oMath xmlns:m="http://schemas.openxmlformats.org/officeDocument/2006/math">
                    <m:r>
                      <a:rPr lang="en-IN" sz="2000" i="1">
                        <a:solidFill>
                          <a:srgbClr val="111827"/>
                        </a:solidFill>
                        <a:latin typeface="Cambria Math" panose="02040503050406030204" pitchFamily="18" charset="0"/>
                      </a:rPr>
                      <m:t>𝑥</m:t>
                    </m:r>
                  </m:oMath>
                </a14:m>
                <a:r>
                  <a:rPr sz="2000" b="0">
                    <a:solidFill>
                      <a:srgbClr val="111827"/>
                    </a:solidFill>
                    <a:latin typeface="Arial"/>
                  </a:rPr>
                  <a:t> and </a:t>
                </a:r>
                <a14:m>
                  <m:oMath xmlns:m="http://schemas.openxmlformats.org/officeDocument/2006/math">
                    <m:r>
                      <a:rPr lang="en-IN" sz="2000" i="1">
                        <a:solidFill>
                          <a:srgbClr val="111827"/>
                        </a:solidFill>
                        <a:latin typeface="Cambria Math" panose="02040503050406030204" pitchFamily="18" charset="0"/>
                      </a:rPr>
                      <m:t>𝑦</m:t>
                    </m:r>
                  </m:oMath>
                </a14:m>
                <a:r>
                  <a:rPr sz="2000" b="0">
                    <a:solidFill>
                      <a:srgbClr val="111827"/>
                    </a:solidFill>
                    <a:latin typeface="Arial"/>
                  </a:rPr>
                  <a:t> axes respectively. The area of rectangle </a:t>
                </a:r>
                <a14:m>
                  <m:oMath xmlns:m="http://schemas.openxmlformats.org/officeDocument/2006/math">
                    <m:r>
                      <a:rPr lang="en-IN" sz="2000" i="1">
                        <a:solidFill>
                          <a:srgbClr val="111827"/>
                        </a:solidFill>
                        <a:latin typeface="Cambria Math" panose="02040503050406030204" pitchFamily="18" charset="0"/>
                      </a:rPr>
                      <m:t>𝑄</m:t>
                    </m:r>
                    <m:r>
                      <a:rPr lang="en-IN" sz="2000" i="1">
                        <a:solidFill>
                          <a:srgbClr val="111827"/>
                        </a:solidFill>
                        <a:latin typeface="Cambria Math" panose="02040503050406030204" pitchFamily="18" charset="0"/>
                      </a:rPr>
                      <m:t>𝑃</m:t>
                    </m:r>
                    <m:r>
                      <a:rPr lang="en-IN" sz="2000" i="1">
                        <a:solidFill>
                          <a:srgbClr val="111827"/>
                        </a:solidFill>
                        <a:latin typeface="Cambria Math" panose="02040503050406030204" pitchFamily="18" charset="0"/>
                      </a:rPr>
                      <m:t>𝑅</m:t>
                    </m:r>
                    <m:r>
                      <a:rPr lang="en-IN" sz="2000" i="1">
                        <a:solidFill>
                          <a:srgbClr val="111827"/>
                        </a:solidFill>
                        <a:latin typeface="Cambria Math" panose="02040503050406030204" pitchFamily="18" charset="0"/>
                      </a:rPr>
                      <m:t>𝑂</m:t>
                    </m:r>
                  </m:oMath>
                </a14:m>
                <a:r>
                  <a:rPr sz="2000" b="0">
                    <a:solidFill>
                      <a:srgbClr val="111827"/>
                    </a:solidFill>
                    <a:latin typeface="Arial"/>
                  </a:rPr>
                  <a:t> is given by </a:t>
                </a:r>
                <a14:m>
                  <m:oMath xmlns:m="http://schemas.openxmlformats.org/officeDocument/2006/math">
                    <m:r>
                      <a:rPr lang="en-IN" sz="2000" i="1">
                        <a:solidFill>
                          <a:srgbClr val="111827"/>
                        </a:solidFill>
                        <a:latin typeface="Cambria Math" panose="02040503050406030204" pitchFamily="18" charset="0"/>
                      </a:rPr>
                      <m:t>𝑦</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𝑔</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𝑥</m:t>
                    </m:r>
                    <m:r>
                      <m:rPr>
                        <m:sty m:val="p"/>
                      </m:rPr>
                      <a:rPr lang="en-IN" sz="2000">
                        <a:solidFill>
                          <a:srgbClr val="111827"/>
                        </a:solidFill>
                        <a:latin typeface="Cambria Math" panose="02040503050406030204" pitchFamily="18" charset="0"/>
                      </a:rPr>
                      <m:t>)</m:t>
                    </m:r>
                  </m:oMath>
                </a14:m>
                <a:r>
                  <a:rPr sz="2000" b="0">
                    <a:solidFill>
                      <a:srgbClr val="111827"/>
                    </a:solidFill>
                    <a:latin typeface="Arial"/>
                  </a:rPr>
                  <a:t> (where </a:t>
                </a:r>
                <a14:m>
                  <m:oMath xmlns:m="http://schemas.openxmlformats.org/officeDocument/2006/math">
                    <m:r>
                      <a:rPr lang="en-IN" sz="2000" i="1">
                        <a:solidFill>
                          <a:srgbClr val="111827"/>
                        </a:solidFill>
                        <a:latin typeface="Cambria Math" panose="02040503050406030204" pitchFamily="18" charset="0"/>
                      </a:rPr>
                      <m:t>𝑂</m:t>
                    </m:r>
                  </m:oMath>
                </a14:m>
                <a:r>
                  <a:rPr sz="2000" b="0">
                    <a:solidFill>
                      <a:srgbClr val="111827"/>
                    </a:solidFill>
                    <a:latin typeface="Arial"/>
                  </a:rPr>
                  <a:t> is the origin).</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Column-I:</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(a) The greatest area of </a:t>
                </a:r>
                <a14:m>
                  <m:oMath xmlns:m="http://schemas.openxmlformats.org/officeDocument/2006/math">
                    <m:r>
                      <a:rPr lang="en-IN" sz="2000" i="1">
                        <a:solidFill>
                          <a:srgbClr val="111827"/>
                        </a:solidFill>
                        <a:latin typeface="Cambria Math" panose="02040503050406030204" pitchFamily="18" charset="0"/>
                      </a:rPr>
                      <m:t>𝐴</m:t>
                    </m:r>
                    <m:r>
                      <a:rPr lang="en-IN" sz="2000" i="1">
                        <a:solidFill>
                          <a:srgbClr val="111827"/>
                        </a:solidFill>
                        <a:latin typeface="Cambria Math" panose="02040503050406030204" pitchFamily="18" charset="0"/>
                      </a:rPr>
                      <m:t>𝐶</m:t>
                    </m:r>
                    <m:r>
                      <a:rPr lang="en-IN" sz="2000" i="1">
                        <a:solidFill>
                          <a:srgbClr val="111827"/>
                        </a:solidFill>
                        <a:latin typeface="Cambria Math" panose="02040503050406030204" pitchFamily="18" charset="0"/>
                      </a:rPr>
                      <m:t>𝐵</m:t>
                    </m:r>
                  </m:oMath>
                </a14:m>
                <a:r>
                  <a:rPr sz="2000" b="0">
                    <a:solidFill>
                      <a:srgbClr val="111827"/>
                    </a:solidFill>
                    <a:latin typeface="Arial"/>
                  </a:rPr>
                  <a:t> is</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(b) The greatest area of rectangle </a:t>
                </a:r>
                <a14:m>
                  <m:oMath xmlns:m="http://schemas.openxmlformats.org/officeDocument/2006/math">
                    <m:r>
                      <a:rPr lang="en-IN" sz="2000" i="1">
                        <a:solidFill>
                          <a:srgbClr val="111827"/>
                        </a:solidFill>
                        <a:latin typeface="Cambria Math" panose="02040503050406030204" pitchFamily="18" charset="0"/>
                      </a:rPr>
                      <m:t>𝑄</m:t>
                    </m:r>
                    <m:r>
                      <a:rPr lang="en-IN" sz="2000" i="1">
                        <a:solidFill>
                          <a:srgbClr val="111827"/>
                        </a:solidFill>
                        <a:latin typeface="Cambria Math" panose="02040503050406030204" pitchFamily="18" charset="0"/>
                      </a:rPr>
                      <m:t>𝑃</m:t>
                    </m:r>
                    <m:r>
                      <a:rPr lang="en-IN" sz="2000" i="1">
                        <a:solidFill>
                          <a:srgbClr val="111827"/>
                        </a:solidFill>
                        <a:latin typeface="Cambria Math" panose="02040503050406030204" pitchFamily="18" charset="0"/>
                      </a:rPr>
                      <m:t>𝑅</m:t>
                    </m:r>
                    <m:r>
                      <a:rPr lang="en-IN" sz="2000" i="1">
                        <a:solidFill>
                          <a:srgbClr val="111827"/>
                        </a:solidFill>
                        <a:latin typeface="Cambria Math" panose="02040503050406030204" pitchFamily="18" charset="0"/>
                      </a:rPr>
                      <m:t>𝑂</m:t>
                    </m:r>
                  </m:oMath>
                </a14:m>
                <a:r>
                  <a:rPr sz="2000" b="0">
                    <a:solidFill>
                      <a:srgbClr val="111827"/>
                    </a:solidFill>
                    <a:latin typeface="Arial"/>
                  </a:rPr>
                  <a:t> is</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(c) The greatest vertical distance between </a:t>
                </a:r>
                <a14:m>
                  <m:oMath xmlns:m="http://schemas.openxmlformats.org/officeDocument/2006/math">
                    <m:r>
                      <a:rPr lang="en-IN" sz="2000" i="1">
                        <a:solidFill>
                          <a:srgbClr val="111827"/>
                        </a:solidFill>
                        <a:latin typeface="Cambria Math" panose="02040503050406030204" pitchFamily="18" charset="0"/>
                      </a:rPr>
                      <m:t>𝑦</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𝑓</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𝑥</m:t>
                    </m:r>
                    <m:r>
                      <m:rPr>
                        <m:sty m:val="p"/>
                      </m:rPr>
                      <a:rPr lang="en-IN" sz="2000">
                        <a:solidFill>
                          <a:srgbClr val="111827"/>
                        </a:solidFill>
                        <a:latin typeface="Cambria Math" panose="02040503050406030204" pitchFamily="18" charset="0"/>
                      </a:rPr>
                      <m:t>)</m:t>
                    </m:r>
                  </m:oMath>
                </a14:m>
                <a:r>
                  <a:rPr sz="2000" b="0">
                    <a:solidFill>
                      <a:srgbClr val="111827"/>
                    </a:solidFill>
                    <a:latin typeface="Arial"/>
                  </a:rPr>
                  <a:t> and </a:t>
                </a:r>
                <a14:m>
                  <m:oMath xmlns:m="http://schemas.openxmlformats.org/officeDocument/2006/math">
                    <m:r>
                      <a:rPr lang="en-IN" sz="2000" i="1">
                        <a:solidFill>
                          <a:srgbClr val="111827"/>
                        </a:solidFill>
                        <a:latin typeface="Cambria Math" panose="02040503050406030204" pitchFamily="18" charset="0"/>
                      </a:rPr>
                      <m:t>𝑦</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𝑔</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𝑥</m:t>
                    </m:r>
                    <m:r>
                      <m:rPr>
                        <m:sty m:val="p"/>
                      </m:rPr>
                      <a:rPr lang="en-IN" sz="2000">
                        <a:solidFill>
                          <a:srgbClr val="111827"/>
                        </a:solidFill>
                        <a:latin typeface="Cambria Math" panose="02040503050406030204" pitchFamily="18" charset="0"/>
                      </a:rPr>
                      <m:t>)</m:t>
                    </m:r>
                  </m:oMath>
                </a14:m>
                <a:r>
                  <a:rPr sz="2000" b="0">
                    <a:solidFill>
                      <a:srgbClr val="111827"/>
                    </a:solidFill>
                    <a:latin typeface="Arial"/>
                  </a:rPr>
                  <a:t> occurs at </a:t>
                </a:r>
                <a14:m>
                  <m:oMath xmlns:m="http://schemas.openxmlformats.org/officeDocument/2006/math">
                    <m:r>
                      <a:rPr lang="en-IN" sz="2000" i="1">
                        <a:solidFill>
                          <a:srgbClr val="111827"/>
                        </a:solidFill>
                        <a:latin typeface="Cambria Math" panose="02040503050406030204" pitchFamily="18" charset="0"/>
                      </a:rPr>
                      <m:t>𝑥</m:t>
                    </m:r>
                  </m:oMath>
                </a14:m>
                <a:r>
                  <a:rPr sz="2000" b="0">
                    <a:solidFill>
                      <a:srgbClr val="111827"/>
                    </a:solidFill>
                    <a:latin typeface="Arial"/>
                  </a:rPr>
                  <a:t> equal to</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(d) The area bounded by </a:t>
                </a:r>
                <a14:m>
                  <m:oMath xmlns:m="http://schemas.openxmlformats.org/officeDocument/2006/math">
                    <m:r>
                      <a:rPr lang="en-IN" sz="2000" i="1">
                        <a:solidFill>
                          <a:srgbClr val="111827"/>
                        </a:solidFill>
                        <a:latin typeface="Cambria Math" panose="02040503050406030204" pitchFamily="18" charset="0"/>
                      </a:rPr>
                      <m:t>𝑦</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𝑓</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𝑥</m:t>
                    </m:r>
                    <m:r>
                      <m:rPr>
                        <m:sty m:val="p"/>
                      </m:rPr>
                      <a:rPr lang="en-IN" sz="2000">
                        <a:solidFill>
                          <a:srgbClr val="111827"/>
                        </a:solidFill>
                        <a:latin typeface="Cambria Math" panose="02040503050406030204" pitchFamily="18" charset="0"/>
                      </a:rPr>
                      <m:t>)</m:t>
                    </m:r>
                  </m:oMath>
                </a14:m>
                <a:r>
                  <a:rPr sz="2000" b="0">
                    <a:solidFill>
                      <a:srgbClr val="111827"/>
                    </a:solidFill>
                    <a:latin typeface="Arial"/>
                  </a:rPr>
                  <a:t>, </a:t>
                </a:r>
                <a14:m>
                  <m:oMath xmlns:m="http://schemas.openxmlformats.org/officeDocument/2006/math">
                    <m:r>
                      <a:rPr lang="en-IN" sz="2000" i="1">
                        <a:solidFill>
                          <a:srgbClr val="111827"/>
                        </a:solidFill>
                        <a:latin typeface="Cambria Math" panose="02040503050406030204" pitchFamily="18" charset="0"/>
                      </a:rPr>
                      <m:t>𝑦</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0</m:t>
                    </m:r>
                  </m:oMath>
                </a14:m>
                <a:r>
                  <a:rPr sz="2000" b="0">
                    <a:solidFill>
                      <a:srgbClr val="111827"/>
                    </a:solidFill>
                    <a:latin typeface="Arial"/>
                  </a:rPr>
                  <a:t> and </a:t>
                </a:r>
                <a14:m>
                  <m:oMath xmlns:m="http://schemas.openxmlformats.org/officeDocument/2006/math">
                    <m:r>
                      <a:rPr lang="en-IN" sz="2000" i="1">
                        <a:solidFill>
                          <a:srgbClr val="111827"/>
                        </a:solidFill>
                        <a:latin typeface="Cambria Math" panose="02040503050406030204" pitchFamily="18" charset="0"/>
                      </a:rPr>
                      <m:t>𝑥</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1</m:t>
                    </m:r>
                  </m:oMath>
                </a14:m>
                <a:r>
                  <a:rPr sz="2000" b="0">
                    <a:solidFill>
                      <a:srgbClr val="111827"/>
                    </a:solidFill>
                    <a:latin typeface="Arial"/>
                  </a:rPr>
                  <a:t> is</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Column-II:</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(p) </a:t>
                </a:r>
                <a14:m>
                  <m:oMath xmlns:m="http://schemas.openxmlformats.org/officeDocument/2006/math">
                    <m:f>
                      <m:fPr>
                        <m:type m:val="bar"/>
                        <m:ctrlPr>
                          <a:rPr lang="en-IN" sz="2000" i="1">
                            <a:solidFill>
                              <a:srgbClr val="111827"/>
                            </a:solidFill>
                            <a:latin typeface="Cambria Math" panose="02040503050406030204" pitchFamily="18" charset="0"/>
                          </a:rPr>
                        </m:ctrlPr>
                      </m:fPr>
                      <m:num>
                        <m:r>
                          <a:rPr lang="en-IN" sz="2000" i="1">
                            <a:solidFill>
                              <a:srgbClr val="111827"/>
                            </a:solidFill>
                            <a:latin typeface="Cambria Math" panose="02040503050406030204" pitchFamily="18" charset="0"/>
                          </a:rPr>
                          <m:t>2</m:t>
                        </m:r>
                      </m:num>
                      <m:den>
                        <m:r>
                          <a:rPr lang="en-IN" sz="2000" i="1">
                            <a:solidFill>
                              <a:srgbClr val="111827"/>
                            </a:solidFill>
                            <a:latin typeface="Cambria Math" panose="02040503050406030204" pitchFamily="18" charset="0"/>
                          </a:rPr>
                          <m:t>3</m:t>
                        </m:r>
                        <m:rad>
                          <m:radPr>
                            <m:degHide m:val="on"/>
                            <m:ctrlPr>
                              <a:rPr lang="en-IN" sz="2000" i="1">
                                <a:solidFill>
                                  <a:srgbClr val="111827"/>
                                </a:solidFill>
                                <a:latin typeface="Cambria Math" panose="02040503050406030204" pitchFamily="18" charset="0"/>
                              </a:rPr>
                            </m:ctrlPr>
                          </m:radPr>
                          <m:deg/>
                          <m:e>
                            <m:r>
                              <a:rPr lang="en-IN" sz="2000" i="1">
                                <a:solidFill>
                                  <a:srgbClr val="111827"/>
                                </a:solidFill>
                                <a:latin typeface="Cambria Math" panose="02040503050406030204" pitchFamily="18" charset="0"/>
                              </a:rPr>
                              <m:t>3</m:t>
                            </m:r>
                          </m:e>
                        </m:rad>
                      </m:den>
                    </m:f>
                  </m:oMath>
                </a14:m>
                <a:endParaRPr sz="2000">
                  <a:solidFill>
                    <a:srgbClr val="111827"/>
                  </a:solidFill>
                </a:endParaRPr>
              </a:p>
              <a:p>
                <a:pPr algn="l">
                  <a:spcAft>
                    <a:spcPts val="500"/>
                  </a:spcAft>
                  <a:defRPr sz="2000">
                    <a:solidFill>
                      <a:srgbClr val="111827"/>
                    </a:solidFill>
                  </a:defRPr>
                </a:pPr>
                <a:r>
                  <a:rPr sz="2000" b="0">
                    <a:solidFill>
                      <a:srgbClr val="111827"/>
                    </a:solidFill>
                    <a:latin typeface="Arial"/>
                  </a:rPr>
                  <a:t>(q) </a:t>
                </a:r>
                <a14:m>
                  <m:oMath xmlns:m="http://schemas.openxmlformats.org/officeDocument/2006/math">
                    <m:f>
                      <m:fPr>
                        <m:type m:val="bar"/>
                        <m:ctrlPr>
                          <a:rPr lang="en-IN" sz="2000" i="1">
                            <a:solidFill>
                              <a:srgbClr val="111827"/>
                            </a:solidFill>
                            <a:latin typeface="Cambria Math" panose="02040503050406030204" pitchFamily="18" charset="0"/>
                          </a:rPr>
                        </m:ctrlPr>
                      </m:fPr>
                      <m:num>
                        <m:rad>
                          <m:radPr>
                            <m:degHide m:val="on"/>
                            <m:ctrlPr>
                              <a:rPr lang="en-IN" sz="2000" i="1">
                                <a:solidFill>
                                  <a:srgbClr val="111827"/>
                                </a:solidFill>
                                <a:latin typeface="Cambria Math" panose="02040503050406030204" pitchFamily="18" charset="0"/>
                              </a:rPr>
                            </m:ctrlPr>
                          </m:radPr>
                          <m:deg/>
                          <m:e>
                            <m:r>
                              <a:rPr lang="en-IN" sz="2000" i="1">
                                <a:solidFill>
                                  <a:srgbClr val="111827"/>
                                </a:solidFill>
                                <a:latin typeface="Cambria Math" panose="02040503050406030204" pitchFamily="18" charset="0"/>
                              </a:rPr>
                              <m:t>13</m:t>
                            </m:r>
                          </m:e>
                        </m:rad>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1</m:t>
                        </m:r>
                      </m:num>
                      <m:den>
                        <m:r>
                          <a:rPr lang="en-IN" sz="2000" i="1">
                            <a:solidFill>
                              <a:srgbClr val="111827"/>
                            </a:solidFill>
                            <a:latin typeface="Cambria Math" panose="02040503050406030204" pitchFamily="18" charset="0"/>
                          </a:rPr>
                          <m:t>6</m:t>
                        </m:r>
                      </m:den>
                    </m:f>
                  </m:oMath>
                </a14:m>
                <a:endParaRPr sz="2000">
                  <a:solidFill>
                    <a:srgbClr val="111827"/>
                  </a:solidFill>
                </a:endParaRPr>
              </a:p>
              <a:p>
                <a:pPr algn="l">
                  <a:spcAft>
                    <a:spcPts val="500"/>
                  </a:spcAft>
                  <a:defRPr sz="2000">
                    <a:solidFill>
                      <a:srgbClr val="111827"/>
                    </a:solidFill>
                  </a:defRPr>
                </a:pPr>
                <a:r>
                  <a:rPr sz="2000" b="0">
                    <a:solidFill>
                      <a:srgbClr val="111827"/>
                    </a:solidFill>
                    <a:latin typeface="Arial"/>
                  </a:rPr>
                  <a:t>(r) </a:t>
                </a:r>
                <a14:m>
                  <m:oMath xmlns:m="http://schemas.openxmlformats.org/officeDocument/2006/math">
                    <m:f>
                      <m:fPr>
                        <m:type m:val="bar"/>
                        <m:ctrlPr>
                          <a:rPr lang="en-IN" sz="2000" i="1">
                            <a:solidFill>
                              <a:srgbClr val="111827"/>
                            </a:solidFill>
                            <a:latin typeface="Cambria Math" panose="02040503050406030204" pitchFamily="18" charset="0"/>
                          </a:rPr>
                        </m:ctrlPr>
                      </m:fPr>
                      <m:num>
                        <m:r>
                          <a:rPr lang="en-IN" sz="2000" i="1">
                            <a:solidFill>
                              <a:srgbClr val="111827"/>
                            </a:solidFill>
                            <a:latin typeface="Cambria Math" panose="02040503050406030204" pitchFamily="18" charset="0"/>
                          </a:rPr>
                          <m:t>1</m:t>
                        </m:r>
                      </m:num>
                      <m:den>
                        <m:r>
                          <a:rPr lang="en-IN" sz="2000" i="1">
                            <a:solidFill>
                              <a:srgbClr val="111827"/>
                            </a:solidFill>
                            <a:latin typeface="Cambria Math" panose="02040503050406030204" pitchFamily="18" charset="0"/>
                          </a:rPr>
                          <m:t>3</m:t>
                        </m:r>
                      </m:den>
                    </m:f>
                  </m:oMath>
                </a14:m>
                <a:endParaRPr sz="2000">
                  <a:solidFill>
                    <a:srgbClr val="111827"/>
                  </a:solidFill>
                </a:endParaRPr>
              </a:p>
              <a:p>
                <a:pPr algn="l">
                  <a:spcAft>
                    <a:spcPts val="500"/>
                  </a:spcAft>
                  <a:defRPr sz="2000">
                    <a:solidFill>
                      <a:srgbClr val="111827"/>
                    </a:solidFill>
                  </a:defRPr>
                </a:pPr>
                <a:r>
                  <a:rPr sz="2000" b="0">
                    <a:solidFill>
                      <a:srgbClr val="111827"/>
                    </a:solidFill>
                    <a:latin typeface="Arial"/>
                  </a:rPr>
                  <a:t>(s) </a:t>
                </a:r>
                <a14:m>
                  <m:oMath xmlns:m="http://schemas.openxmlformats.org/officeDocument/2006/math">
                    <m:f>
                      <m:fPr>
                        <m:type m:val="bar"/>
                        <m:ctrlPr>
                          <a:rPr lang="en-IN" sz="2000" i="1">
                            <a:solidFill>
                              <a:srgbClr val="111827"/>
                            </a:solidFill>
                            <a:latin typeface="Cambria Math" panose="02040503050406030204" pitchFamily="18" charset="0"/>
                          </a:rPr>
                        </m:ctrlPr>
                      </m:fPr>
                      <m:num>
                        <m:r>
                          <a:rPr lang="en-IN" sz="2000" i="1">
                            <a:solidFill>
                              <a:srgbClr val="111827"/>
                            </a:solidFill>
                            <a:latin typeface="Cambria Math" panose="02040503050406030204" pitchFamily="18" charset="0"/>
                          </a:rPr>
                          <m:t>1</m:t>
                        </m:r>
                      </m:num>
                      <m:den>
                        <m:r>
                          <a:rPr lang="en-IN" sz="2000" i="1">
                            <a:solidFill>
                              <a:srgbClr val="111827"/>
                            </a:solidFill>
                            <a:latin typeface="Cambria Math" panose="02040503050406030204" pitchFamily="18" charset="0"/>
                          </a:rPr>
                          <m:t>2</m:t>
                        </m:r>
                      </m:den>
                    </m:f>
                  </m:oMath>
                </a14:m>
                <a:endParaRPr sz="2000">
                  <a:solidFill>
                    <a:srgbClr val="111827"/>
                  </a:solidFill>
                </a:endParaRPr>
              </a:p>
              <a:p>
                <a:pPr algn="l">
                  <a:spcAft>
                    <a:spcPts val="500"/>
                  </a:spcAft>
                  <a:defRPr sz="2000">
                    <a:solidFill>
                      <a:srgbClr val="111827"/>
                    </a:solidFill>
                  </a:defRPr>
                </a:pPr>
                <a:r>
                  <a:rPr sz="2000" b="0">
                    <a:solidFill>
                      <a:srgbClr val="111827"/>
                    </a:solidFill>
                    <a:latin typeface="Arial"/>
                  </a:rPr>
                  <a:t>Choose the correct option.</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(A) </a:t>
                </a:r>
                <a14:m>
                  <m:oMath xmlns:m="http://schemas.openxmlformats.org/officeDocument/2006/math">
                    <m:r>
                      <a:rPr lang="en-IN" sz="2000" i="1">
                        <a:solidFill>
                          <a:srgbClr val="111827"/>
                        </a:solidFill>
                        <a:latin typeface="Cambria Math" panose="02040503050406030204" pitchFamily="18" charset="0"/>
                      </a:rPr>
                      <m:t>𝑎</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𝑝</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 </m:t>
                    </m:r>
                    <m:r>
                      <a:rPr lang="en-IN" sz="2000" i="1">
                        <a:solidFill>
                          <a:srgbClr val="111827"/>
                        </a:solidFill>
                        <a:latin typeface="Cambria Math" panose="02040503050406030204" pitchFamily="18" charset="0"/>
                      </a:rPr>
                      <m:t>𝑏</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𝑠</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 </m:t>
                    </m:r>
                    <m:r>
                      <a:rPr lang="en-IN" sz="2000" i="1">
                        <a:solidFill>
                          <a:srgbClr val="111827"/>
                        </a:solidFill>
                        <a:latin typeface="Cambria Math" panose="02040503050406030204" pitchFamily="18" charset="0"/>
                      </a:rPr>
                      <m:t>𝑐</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𝑞</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 </m:t>
                    </m:r>
                    <m:r>
                      <a:rPr lang="en-IN" sz="2000" i="1">
                        <a:solidFill>
                          <a:srgbClr val="111827"/>
                        </a:solidFill>
                        <a:latin typeface="Cambria Math" panose="02040503050406030204" pitchFamily="18" charset="0"/>
                      </a:rPr>
                      <m:t>𝑑</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𝑟</m:t>
                    </m:r>
                  </m:oMath>
                </a14:m>
                <a:endParaRPr sz="2000">
                  <a:solidFill>
                    <a:srgbClr val="111827"/>
                  </a:solidFill>
                </a:endParaRPr>
              </a:p>
              <a:p>
                <a:pPr algn="l">
                  <a:spcAft>
                    <a:spcPts val="500"/>
                  </a:spcAft>
                  <a:defRPr sz="2000">
                    <a:solidFill>
                      <a:srgbClr val="111827"/>
                    </a:solidFill>
                  </a:defRPr>
                </a:pPr>
                <a:r>
                  <a:rPr sz="2000" b="0">
                    <a:solidFill>
                      <a:srgbClr val="111827"/>
                    </a:solidFill>
                    <a:latin typeface="Arial"/>
                  </a:rPr>
                  <a:t>(B) </a:t>
                </a:r>
                <a14:m>
                  <m:oMath xmlns:m="http://schemas.openxmlformats.org/officeDocument/2006/math">
                    <m:r>
                      <a:rPr lang="en-IN" sz="2000" i="1">
                        <a:solidFill>
                          <a:srgbClr val="111827"/>
                        </a:solidFill>
                        <a:latin typeface="Cambria Math" panose="02040503050406030204" pitchFamily="18" charset="0"/>
                      </a:rPr>
                      <m:t>𝑎</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𝑝</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 </m:t>
                    </m:r>
                    <m:r>
                      <a:rPr lang="en-IN" sz="2000" i="1">
                        <a:solidFill>
                          <a:srgbClr val="111827"/>
                        </a:solidFill>
                        <a:latin typeface="Cambria Math" panose="02040503050406030204" pitchFamily="18" charset="0"/>
                      </a:rPr>
                      <m:t>𝑏</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𝑞</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 </m:t>
                    </m:r>
                    <m:r>
                      <a:rPr lang="en-IN" sz="2000" i="1">
                        <a:solidFill>
                          <a:srgbClr val="111827"/>
                        </a:solidFill>
                        <a:latin typeface="Cambria Math" panose="02040503050406030204" pitchFamily="18" charset="0"/>
                      </a:rPr>
                      <m:t>𝑐</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𝑠</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 </m:t>
                    </m:r>
                    <m:r>
                      <a:rPr lang="en-IN" sz="2000" i="1">
                        <a:solidFill>
                          <a:srgbClr val="111827"/>
                        </a:solidFill>
                        <a:latin typeface="Cambria Math" panose="02040503050406030204" pitchFamily="18" charset="0"/>
                      </a:rPr>
                      <m:t>𝑑</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𝑟</m:t>
                    </m:r>
                  </m:oMath>
                </a14:m>
                <a:endParaRPr sz="2000">
                  <a:solidFill>
                    <a:srgbClr val="111827"/>
                  </a:solidFill>
                </a:endParaRPr>
              </a:p>
              <a:p>
                <a:pPr algn="l">
                  <a:spcAft>
                    <a:spcPts val="500"/>
                  </a:spcAft>
                  <a:defRPr sz="2000">
                    <a:solidFill>
                      <a:srgbClr val="111827"/>
                    </a:solidFill>
                  </a:defRPr>
                </a:pPr>
                <a:r>
                  <a:rPr sz="2000" b="0">
                    <a:solidFill>
                      <a:srgbClr val="111827"/>
                    </a:solidFill>
                    <a:latin typeface="Arial"/>
                  </a:rPr>
                  <a:t>(C) </a:t>
                </a:r>
                <a14:m>
                  <m:oMath xmlns:m="http://schemas.openxmlformats.org/officeDocument/2006/math">
                    <m:r>
                      <a:rPr lang="en-IN" sz="2000" i="1">
                        <a:solidFill>
                          <a:srgbClr val="111827"/>
                        </a:solidFill>
                        <a:latin typeface="Cambria Math" panose="02040503050406030204" pitchFamily="18" charset="0"/>
                      </a:rPr>
                      <m:t>𝑎</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𝑝</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 </m:t>
                    </m:r>
                    <m:r>
                      <a:rPr lang="en-IN" sz="2000" i="1">
                        <a:solidFill>
                          <a:srgbClr val="111827"/>
                        </a:solidFill>
                        <a:latin typeface="Cambria Math" panose="02040503050406030204" pitchFamily="18" charset="0"/>
                      </a:rPr>
                      <m:t>𝑏</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𝑞</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 </m:t>
                    </m:r>
                    <m:r>
                      <a:rPr lang="en-IN" sz="2000" i="1">
                        <a:solidFill>
                          <a:srgbClr val="111827"/>
                        </a:solidFill>
                        <a:latin typeface="Cambria Math" panose="02040503050406030204" pitchFamily="18" charset="0"/>
                      </a:rPr>
                      <m:t>𝑐</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𝑟</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 </m:t>
                    </m:r>
                    <m:r>
                      <a:rPr lang="en-IN" sz="2000" i="1">
                        <a:solidFill>
                          <a:srgbClr val="111827"/>
                        </a:solidFill>
                        <a:latin typeface="Cambria Math" panose="02040503050406030204" pitchFamily="18" charset="0"/>
                      </a:rPr>
                      <m:t>𝑑</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𝑠</m:t>
                    </m:r>
                  </m:oMath>
                </a14:m>
                <a:endParaRPr sz="2000">
                  <a:solidFill>
                    <a:srgbClr val="111827"/>
                  </a:solidFill>
                </a:endParaRPr>
              </a:p>
              <a:p>
                <a:pPr algn="l">
                  <a:spcAft>
                    <a:spcPts val="500"/>
                  </a:spcAft>
                  <a:defRPr sz="2000">
                    <a:solidFill>
                      <a:srgbClr val="111827"/>
                    </a:solidFill>
                  </a:defRPr>
                </a:pPr>
                <a:r>
                  <a:rPr sz="2000" b="0">
                    <a:solidFill>
                      <a:srgbClr val="111827"/>
                    </a:solidFill>
                    <a:latin typeface="Arial"/>
                  </a:rPr>
                  <a:t>(D) </a:t>
                </a:r>
                <a14:m>
                  <m:oMath xmlns:m="http://schemas.openxmlformats.org/officeDocument/2006/math">
                    <m:r>
                      <a:rPr lang="en-IN" sz="2000" i="1">
                        <a:solidFill>
                          <a:srgbClr val="111827"/>
                        </a:solidFill>
                        <a:latin typeface="Cambria Math" panose="02040503050406030204" pitchFamily="18" charset="0"/>
                      </a:rPr>
                      <m:t>𝑎</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𝑠</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 </m:t>
                    </m:r>
                    <m:r>
                      <a:rPr lang="en-IN" sz="2000" i="1">
                        <a:solidFill>
                          <a:srgbClr val="111827"/>
                        </a:solidFill>
                        <a:latin typeface="Cambria Math" panose="02040503050406030204" pitchFamily="18" charset="0"/>
                      </a:rPr>
                      <m:t>𝑏</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𝑝</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 </m:t>
                    </m:r>
                    <m:r>
                      <a:rPr lang="en-IN" sz="2000" i="1">
                        <a:solidFill>
                          <a:srgbClr val="111827"/>
                        </a:solidFill>
                        <a:latin typeface="Cambria Math" panose="02040503050406030204" pitchFamily="18" charset="0"/>
                      </a:rPr>
                      <m:t>𝑐</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𝑞</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 </m:t>
                    </m:r>
                    <m:r>
                      <a:rPr lang="en-IN" sz="2000" i="1">
                        <a:solidFill>
                          <a:srgbClr val="111827"/>
                        </a:solidFill>
                        <a:latin typeface="Cambria Math" panose="02040503050406030204" pitchFamily="18" charset="0"/>
                      </a:rPr>
                      <m:t>𝑑</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𝑟</m:t>
                    </m:r>
                  </m:oMath>
                </a14:m>
                <a:endParaRPr sz="2000">
                  <a:solidFill>
                    <a:srgbClr val="111827"/>
                  </a:solidFill>
                </a:endParaRPr>
              </a:p>
            </p:txBody>
          </p:sp>
        </mc:Choice>
        <mc:Fallback>
          <p:sp>
            <p:nvSpPr>
              <p:cNvPr id="4" name="Rounded Rectangle 3"/>
              <p:cNvSpPr/>
              <p:nvPr/>
            </p:nvSpPr>
            <p:spPr>
              <a:xfrm>
                <a:off x="731520" y="1280160"/>
                <a:ext cx="10725912" cy="53949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000">
                    <a:solidFill>
                      <a:srgbClr val="111827"/>
                    </a:solidFill>
                  </a:defRPr>
                </a:lvl1pPr>
              </a:lstStyle>
              <a:p>
                <a:pPr algn="l">
                  <a:spcAft>
                    <a:spcPts val="500"/>
                  </a:spcAft>
                  <a:defRPr sz="2000">
                    <a:solidFill>
                      <a:srgbClr val="111827"/>
                    </a:solidFill>
                  </a:defRPr>
                </a:pPr>
                <a:r>
                  <a:rPr sz="2000" b="0">
                    <a:solidFill>
                      <a:srgbClr val="111827"/>
                    </a:solidFill>
                    <a:latin typeface="Arial"/>
                  </a:rPr>
                  <a:t>Consider a circle with unit radius whose chord </a:t>
                </a:r>
                <a:r>
                  <a:rPr lang="en-IN" sz="2000">
                    <a:solidFill>
                      <a:srgbClr val="111827"/>
                    </a:solidFill>
                    <a:latin typeface="Cambria Math" panose="02040503050406030204" pitchFamily="18" charset="0"/>
                  </a:rPr>
                  <a:t>$AB$</a:t>
                </a:r>
                <a:r>
                  <a:rPr sz="2000" b="0">
                    <a:solidFill>
                      <a:srgbClr val="111827"/>
                    </a:solidFill>
                    <a:latin typeface="Arial"/>
                  </a:rPr>
                  <a:t> is at a perpendicular distance </a:t>
                </a:r>
                <a:r>
                  <a:rPr lang="en-IN" sz="2000">
                    <a:solidFill>
                      <a:srgbClr val="111827"/>
                    </a:solidFill>
                    <a:latin typeface="Cambria Math" panose="02040503050406030204" pitchFamily="18" charset="0"/>
                  </a:rPr>
                  <a:t>$x$</a:t>
                </a:r>
                <a:r>
                  <a:rPr sz="2000" b="0">
                    <a:solidFill>
                      <a:srgbClr val="111827"/>
                    </a:solidFill>
                    <a:latin typeface="Arial"/>
                  </a:rPr>
                  <a:t> from the centre </a:t>
                </a:r>
                <a:r>
                  <a:rPr lang="en-IN" sz="2000">
                    <a:solidFill>
                      <a:srgbClr val="111827"/>
                    </a:solidFill>
                    <a:latin typeface="Cambria Math" panose="02040503050406030204" pitchFamily="18" charset="0"/>
                  </a:rPr>
                  <a:t>$C$</a:t>
                </a:r>
                <a:r>
                  <a:rPr sz="2000" b="0">
                    <a:solidFill>
                      <a:srgbClr val="111827"/>
                    </a:solidFill>
                    <a:latin typeface="Arial"/>
                  </a:rPr>
                  <a:t>. Let the area of triangle </a:t>
                </a:r>
                <a:r>
                  <a:rPr lang="en-IN" sz="2000">
                    <a:solidFill>
                      <a:srgbClr val="111827"/>
                    </a:solidFill>
                    <a:latin typeface="Cambria Math" panose="02040503050406030204" pitchFamily="18" charset="0"/>
                  </a:rPr>
                  <a:t>$ACB$</a:t>
                </a:r>
                <a:r>
                  <a:rPr sz="2000" b="0">
                    <a:solidFill>
                      <a:srgbClr val="111827"/>
                    </a:solidFill>
                    <a:latin typeface="Arial"/>
                  </a:rPr>
                  <a:t> be given by the function </a:t>
                </a:r>
                <a:r>
                  <a:rPr lang="en-IN" sz="2000">
                    <a:solidFill>
                      <a:srgbClr val="111827"/>
                    </a:solidFill>
                    <a:latin typeface="Cambria Math" panose="02040503050406030204" pitchFamily="18" charset="0"/>
                  </a:rPr>
                  <a:t>$y=f(x)$</a:t>
                </a:r>
                <a:r>
                  <a:rPr sz="2000" b="0">
                    <a:solidFill>
                      <a:srgbClr val="111827"/>
                    </a:solidFill>
                    <a:latin typeface="Arial"/>
                  </a:rPr>
                  <a:t>. On the curve </a:t>
                </a:r>
                <a:r>
                  <a:rPr lang="en-IN" sz="2000">
                    <a:solidFill>
                      <a:srgbClr val="111827"/>
                    </a:solidFill>
                    <a:latin typeface="Cambria Math" panose="02040503050406030204" pitchFamily="18" charset="0"/>
                  </a:rPr>
                  <a:t>$y=f(x)$</a:t>
                </a:r>
                <a:r>
                  <a:rPr sz="2000" b="0">
                    <a:solidFill>
                      <a:srgbClr val="111827"/>
                    </a:solidFill>
                    <a:latin typeface="Arial"/>
                  </a:rPr>
                  <a:t> a variable point </a:t>
                </a:r>
                <a:r>
                  <a:rPr lang="en-IN" sz="2000">
                    <a:solidFill>
                      <a:srgbClr val="111827"/>
                    </a:solidFill>
                    <a:latin typeface="Cambria Math" panose="02040503050406030204" pitchFamily="18" charset="0"/>
                  </a:rPr>
                  <a:t>$P(x,f(x))$</a:t>
                </a:r>
                <a:r>
                  <a:rPr sz="2000" b="0">
                    <a:solidFill>
                      <a:srgbClr val="111827"/>
                    </a:solidFill>
                    <a:latin typeface="Arial"/>
                  </a:rPr>
                  <a:t> is taken and perpendiculars </a:t>
                </a:r>
                <a:r>
                  <a:rPr lang="en-IN" sz="2000">
                    <a:solidFill>
                      <a:srgbClr val="111827"/>
                    </a:solidFill>
                    <a:latin typeface="Cambria Math" panose="02040503050406030204" pitchFamily="18" charset="0"/>
                  </a:rPr>
                  <a:t>$PQ$</a:t>
                </a:r>
                <a:r>
                  <a:rPr sz="2000" b="0">
                    <a:solidFill>
                      <a:srgbClr val="111827"/>
                    </a:solidFill>
                    <a:latin typeface="Arial"/>
                  </a:rPr>
                  <a:t> and </a:t>
                </a:r>
                <a:r>
                  <a:rPr lang="en-IN" sz="2000">
                    <a:solidFill>
                      <a:srgbClr val="111827"/>
                    </a:solidFill>
                    <a:latin typeface="Cambria Math" panose="02040503050406030204" pitchFamily="18" charset="0"/>
                  </a:rPr>
                  <a:t>$PR$</a:t>
                </a:r>
                <a:r>
                  <a:rPr sz="2000" b="0">
                    <a:solidFill>
                      <a:srgbClr val="111827"/>
                    </a:solidFill>
                    <a:latin typeface="Arial"/>
                  </a:rPr>
                  <a:t> are drawn on the </a:t>
                </a:r>
                <a:r>
                  <a:rPr lang="en-IN" sz="2000">
                    <a:solidFill>
                      <a:srgbClr val="111827"/>
                    </a:solidFill>
                    <a:latin typeface="Cambria Math" panose="02040503050406030204" pitchFamily="18" charset="0"/>
                  </a:rPr>
                  <a:t>$x$</a:t>
                </a:r>
                <a:r>
                  <a:rPr sz="2000" b="0">
                    <a:solidFill>
                      <a:srgbClr val="111827"/>
                    </a:solidFill>
                    <a:latin typeface="Arial"/>
                  </a:rPr>
                  <a:t> and </a:t>
                </a:r>
                <a:r>
                  <a:rPr lang="en-IN" sz="2000">
                    <a:solidFill>
                      <a:srgbClr val="111827"/>
                    </a:solidFill>
                    <a:latin typeface="Cambria Math" panose="02040503050406030204" pitchFamily="18" charset="0"/>
                  </a:rPr>
                  <a:t>$y$</a:t>
                </a:r>
                <a:r>
                  <a:rPr sz="2000" b="0">
                    <a:solidFill>
                      <a:srgbClr val="111827"/>
                    </a:solidFill>
                    <a:latin typeface="Arial"/>
                  </a:rPr>
                  <a:t> axes respectively. The area of rectangle </a:t>
                </a:r>
                <a:r>
                  <a:rPr lang="en-IN" sz="2000">
                    <a:solidFill>
                      <a:srgbClr val="111827"/>
                    </a:solidFill>
                    <a:latin typeface="Cambria Math" panose="02040503050406030204" pitchFamily="18" charset="0"/>
                  </a:rPr>
                  <a:t>$QPRO$</a:t>
                </a:r>
                <a:r>
                  <a:rPr sz="2000" b="0">
                    <a:solidFill>
                      <a:srgbClr val="111827"/>
                    </a:solidFill>
                    <a:latin typeface="Arial"/>
                  </a:rPr>
                  <a:t> is given by </a:t>
                </a:r>
                <a:r>
                  <a:rPr lang="en-IN" sz="2000">
                    <a:solidFill>
                      <a:srgbClr val="111827"/>
                    </a:solidFill>
                    <a:latin typeface="Cambria Math" panose="02040503050406030204" pitchFamily="18" charset="0"/>
                  </a:rPr>
                  <a:t>$y=g(x)$</a:t>
                </a:r>
                <a:r>
                  <a:rPr sz="2000" b="0">
                    <a:solidFill>
                      <a:srgbClr val="111827"/>
                    </a:solidFill>
                    <a:latin typeface="Arial"/>
                  </a:rPr>
                  <a:t> (where </a:t>
                </a:r>
                <a:r>
                  <a:rPr lang="en-IN" sz="2000">
                    <a:solidFill>
                      <a:srgbClr val="111827"/>
                    </a:solidFill>
                    <a:latin typeface="Cambria Math" panose="02040503050406030204" pitchFamily="18" charset="0"/>
                  </a:rPr>
                  <a:t>$O$</a:t>
                </a:r>
                <a:r>
                  <a:rPr sz="2000" b="0">
                    <a:solidFill>
                      <a:srgbClr val="111827"/>
                    </a:solidFill>
                    <a:latin typeface="Arial"/>
                  </a:rPr>
                  <a:t> is the origin).</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Column-I:</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(a) The greatest area of </a:t>
                </a:r>
                <a:r>
                  <a:rPr lang="en-IN" sz="2000">
                    <a:solidFill>
                      <a:srgbClr val="111827"/>
                    </a:solidFill>
                    <a:latin typeface="Cambria Math" panose="02040503050406030204" pitchFamily="18" charset="0"/>
                  </a:rPr>
                  <a:t>$ACB$</a:t>
                </a:r>
                <a:r>
                  <a:rPr sz="2000" b="0">
                    <a:solidFill>
                      <a:srgbClr val="111827"/>
                    </a:solidFill>
                    <a:latin typeface="Arial"/>
                  </a:rPr>
                  <a:t> is</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(b) The greatest area of rectangle </a:t>
                </a:r>
                <a:r>
                  <a:rPr lang="en-IN" sz="2000">
                    <a:solidFill>
                      <a:srgbClr val="111827"/>
                    </a:solidFill>
                    <a:latin typeface="Cambria Math" panose="02040503050406030204" pitchFamily="18" charset="0"/>
                  </a:rPr>
                  <a:t>$QPRO$</a:t>
                </a:r>
                <a:r>
                  <a:rPr sz="2000" b="0">
                    <a:solidFill>
                      <a:srgbClr val="111827"/>
                    </a:solidFill>
                    <a:latin typeface="Arial"/>
                  </a:rPr>
                  <a:t> is</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(c) The greatest vertical distance between </a:t>
                </a:r>
                <a:r>
                  <a:rPr lang="en-IN" sz="2000">
                    <a:solidFill>
                      <a:srgbClr val="111827"/>
                    </a:solidFill>
                    <a:latin typeface="Cambria Math" panose="02040503050406030204" pitchFamily="18" charset="0"/>
                  </a:rPr>
                  <a:t>$y=f(x)$</a:t>
                </a:r>
                <a:r>
                  <a:rPr sz="2000" b="0">
                    <a:solidFill>
                      <a:srgbClr val="111827"/>
                    </a:solidFill>
                    <a:latin typeface="Arial"/>
                  </a:rPr>
                  <a:t> and </a:t>
                </a:r>
                <a:r>
                  <a:rPr lang="en-IN" sz="2000">
                    <a:solidFill>
                      <a:srgbClr val="111827"/>
                    </a:solidFill>
                    <a:latin typeface="Cambria Math" panose="02040503050406030204" pitchFamily="18" charset="0"/>
                  </a:rPr>
                  <a:t>$y=g(x)$</a:t>
                </a:r>
                <a:r>
                  <a:rPr sz="2000" b="0">
                    <a:solidFill>
                      <a:srgbClr val="111827"/>
                    </a:solidFill>
                    <a:latin typeface="Arial"/>
                  </a:rPr>
                  <a:t> occurs at </a:t>
                </a:r>
                <a:r>
                  <a:rPr lang="en-IN" sz="2000">
                    <a:solidFill>
                      <a:srgbClr val="111827"/>
                    </a:solidFill>
                    <a:latin typeface="Cambria Math" panose="02040503050406030204" pitchFamily="18" charset="0"/>
                  </a:rPr>
                  <a:t>$x$</a:t>
                </a:r>
                <a:r>
                  <a:rPr sz="2000" b="0">
                    <a:solidFill>
                      <a:srgbClr val="111827"/>
                    </a:solidFill>
                    <a:latin typeface="Arial"/>
                  </a:rPr>
                  <a:t> equal to</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(d) The area bounded by </a:t>
                </a:r>
                <a:r>
                  <a:rPr lang="en-IN" sz="2000">
                    <a:solidFill>
                      <a:srgbClr val="111827"/>
                    </a:solidFill>
                    <a:latin typeface="Cambria Math" panose="02040503050406030204" pitchFamily="18" charset="0"/>
                  </a:rPr>
                  <a:t>$y=f(x)$</a:t>
                </a:r>
                <a:r>
                  <a:rPr sz="2000" b="0">
                    <a:solidFill>
                      <a:srgbClr val="111827"/>
                    </a:solidFill>
                    <a:latin typeface="Arial"/>
                  </a:rPr>
                  <a:t>, </a:t>
                </a:r>
                <a:r>
                  <a:rPr lang="en-IN" sz="2000">
                    <a:solidFill>
                      <a:srgbClr val="111827"/>
                    </a:solidFill>
                    <a:latin typeface="Cambria Math" panose="02040503050406030204" pitchFamily="18" charset="0"/>
                  </a:rPr>
                  <a:t>$y=0$</a:t>
                </a:r>
                <a:r>
                  <a:rPr sz="2000" b="0">
                    <a:solidFill>
                      <a:srgbClr val="111827"/>
                    </a:solidFill>
                    <a:latin typeface="Arial"/>
                  </a:rPr>
                  <a:t> and </a:t>
                </a:r>
                <a:r>
                  <a:rPr lang="en-IN" sz="2000">
                    <a:solidFill>
                      <a:srgbClr val="111827"/>
                    </a:solidFill>
                    <a:latin typeface="Cambria Math" panose="02040503050406030204" pitchFamily="18" charset="0"/>
                  </a:rPr>
                  <a:t>$x=1$</a:t>
                </a:r>
                <a:r>
                  <a:rPr sz="2000" b="0">
                    <a:solidFill>
                      <a:srgbClr val="111827"/>
                    </a:solidFill>
                    <a:latin typeface="Arial"/>
                  </a:rPr>
                  <a:t> is</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Column-II:</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(p) </a:t>
                </a:r>
                <a:r>
                  <a:rPr lang="en-IN" sz="2000">
                    <a:solidFill>
                      <a:srgbClr val="111827"/>
                    </a:solidFill>
                    <a:latin typeface="Cambria Math" panose="02040503050406030204" pitchFamily="18" charset="0"/>
                  </a:rPr>
                  <a:t>$\frac{2}{3\sqrt3}$</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(q) </a:t>
                </a:r>
                <a:r>
                  <a:rPr lang="en-IN" sz="2000">
                    <a:solidFill>
                      <a:srgbClr val="111827"/>
                    </a:solidFill>
                    <a:latin typeface="Cambria Math" panose="02040503050406030204" pitchFamily="18" charset="0"/>
                  </a:rPr>
                  <a:t>$\frac{\sqrt{13}-1}{6}$</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(r) </a:t>
                </a:r>
                <a:r>
                  <a:rPr lang="en-IN" sz="2000">
                    <a:solidFill>
                      <a:srgbClr val="111827"/>
                    </a:solidFill>
                    <a:latin typeface="Cambria Math" panose="02040503050406030204" pitchFamily="18" charset="0"/>
                  </a:rPr>
                  <a:t>$\frac13$</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(s) </a:t>
                </a:r>
                <a:r>
                  <a:rPr lang="en-IN" sz="2000">
                    <a:solidFill>
                      <a:srgbClr val="111827"/>
                    </a:solidFill>
                    <a:latin typeface="Cambria Math" panose="02040503050406030204" pitchFamily="18" charset="0"/>
                  </a:rPr>
                  <a:t>$\frac12$</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Choose the correct option.</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(A) </a:t>
                </a:r>
                <a:r>
                  <a:rPr lang="en-IN" sz="2000">
                    <a:solidFill>
                      <a:srgbClr val="111827"/>
                    </a:solidFill>
                    <a:latin typeface="Cambria Math" panose="02040503050406030204" pitchFamily="18" charset="0"/>
                  </a:rPr>
                  <a:t>$a\to p;\ b\to s;\ c\to q;\ d\to r$</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(B) </a:t>
                </a:r>
                <a:r>
                  <a:rPr lang="en-IN" sz="2000">
                    <a:solidFill>
                      <a:srgbClr val="111827"/>
                    </a:solidFill>
                    <a:latin typeface="Cambria Math" panose="02040503050406030204" pitchFamily="18" charset="0"/>
                  </a:rPr>
                  <a:t>$a\to p;\ b\to q;\ c\to s;\ d\to r$</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(C) </a:t>
                </a:r>
                <a:r>
                  <a:rPr lang="en-IN" sz="2000">
                    <a:solidFill>
                      <a:srgbClr val="111827"/>
                    </a:solidFill>
                    <a:latin typeface="Cambria Math" panose="02040503050406030204" pitchFamily="18" charset="0"/>
                  </a:rPr>
                  <a:t>$a\to p;\ b\to q;\ c\to r;\ d\to s$</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(D) </a:t>
                </a:r>
                <a:r>
                  <a:rPr lang="en-IN" sz="2000">
                    <a:solidFill>
                      <a:srgbClr val="111827"/>
                    </a:solidFill>
                    <a:latin typeface="Cambria Math" panose="02040503050406030204" pitchFamily="18" charset="0"/>
                  </a:rPr>
                  <a:t>$a\to s;\ b\to p;\ c\to q;\ d\to r$</a:t>
                </a:r>
                <a:endParaRPr sz="2000">
                  <a:solidFill>
                    <a:srgbClr val="111827"/>
                  </a:solidFill>
                </a:endParaRPr>
              </a:p>
            </p:txBody>
          </p:sp>
        </mc:Fallback>
      </mc:AlternateContent>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Matching List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Maxima and minima of area functions, Definite integral for area</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65760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area is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e>
                    </m:rad>
                  </m:oMath>
                </a14:m>
                <a:r>
                  <a:rPr sz="2400" b="0">
                    <a:solidFill>
                      <a:srgbClr val="78350F"/>
                    </a:solidFill>
                    <a:latin typeface="Arial"/>
                  </a:rPr>
                  <a:t> and the rectangle is </a:t>
                </a:r>
                <a14:m>
                  <m:oMath xmlns:m="http://schemas.openxmlformats.org/officeDocument/2006/math">
                    <m:r>
                      <a:rPr lang="en-IN" sz="2400" i="1">
                        <a:solidFill>
                          <a:srgbClr val="78350F"/>
                        </a:solidFill>
                        <a:latin typeface="Cambria Math" panose="02040503050406030204" pitchFamily="18" charset="0"/>
                      </a:rPr>
                      <m:t>𝑔</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each item is then an optimisation or an integral of these.</a:t>
                </a:r>
                <a:endParaRPr sz="2400">
                  <a:solidFill>
                    <a:srgbClr val="78350F"/>
                  </a:solidFill>
                </a:endParaRPr>
              </a:p>
            </p:txBody>
          </p:sp>
        </mc:Choice>
        <mc:Fallback>
          <p:sp>
            <p:nvSpPr>
              <p:cNvPr id="5" name="Rounded Rectangle 4"/>
              <p:cNvSpPr/>
              <p:nvPr/>
            </p:nvSpPr>
            <p:spPr>
              <a:xfrm>
                <a:off x="731520" y="365760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area is </a:t>
                </a:r>
                <a:r>
                  <a:rPr lang="en-IN" sz="2400">
                    <a:solidFill>
                      <a:srgbClr val="78350F"/>
                    </a:solidFill>
                    <a:latin typeface="Cambria Math" panose="02040503050406030204" pitchFamily="18" charset="0"/>
                  </a:rPr>
                  <a:t>$f(x)=x\sqrt{1-x^2}$</a:t>
                </a:r>
                <a:r>
                  <a:rPr sz="2400" b="0">
                    <a:solidFill>
                      <a:srgbClr val="78350F"/>
                    </a:solidFill>
                    <a:latin typeface="Arial"/>
                  </a:rPr>
                  <a:t> and the rectangle is </a:t>
                </a:r>
                <a:r>
                  <a:rPr lang="en-IN" sz="2400">
                    <a:solidFill>
                      <a:srgbClr val="78350F"/>
                    </a:solidFill>
                    <a:latin typeface="Cambria Math" panose="02040503050406030204" pitchFamily="18" charset="0"/>
                  </a:rPr>
                  <a:t>$g(x)=xf(x)$</a:t>
                </a:r>
                <a:r>
                  <a:rPr sz="2400" b="0">
                    <a:solidFill>
                      <a:srgbClr val="78350F"/>
                    </a:solidFill>
                    <a:latin typeface="Arial"/>
                  </a:rPr>
                  <a:t>; each item is then an optimisation or an integral of these.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Half the chord is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 so the area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Half the chord is </a:t>
                </a:r>
                <a:r>
                  <a:rPr lang="en-IN" sz="2400">
                    <a:solidFill>
                      <a:srgbClr val="111827"/>
                    </a:solidFill>
                    <a:latin typeface="Cambria Math" panose="02040503050406030204" pitchFamily="18" charset="0"/>
                  </a:rPr>
                  <a:t>$\sqrt{1-x^2}$</a:t>
                </a:r>
                <a:r>
                  <a:rPr sz="2400" b="0">
                    <a:solidFill>
                      <a:srgbClr val="111827"/>
                    </a:solidFill>
                    <a:latin typeface="Arial"/>
                  </a:rPr>
                  <a:t>, so the area of </a:t>
                </a:r>
                <a:r>
                  <a:rPr lang="en-IN" sz="2400">
                    <a:solidFill>
                      <a:srgbClr val="111827"/>
                    </a:solidFill>
                    <a:latin typeface="Cambria Math" panose="02040503050406030204" pitchFamily="18" charset="0"/>
                  </a:rPr>
                  <a:t>$\triangle ACB=\frac12\cdot2\sqrt{1-x^2}\cdot x$</a:t>
                </a:r>
                <a:r>
                  <a:rPr sz="2400" b="0">
                    <a:solidFill>
                      <a:srgbClr val="111827"/>
                    </a:solidFill>
                    <a:latin typeface="Arial"/>
                  </a:rPr>
                  <a:t>, i.e. </a:t>
                </a:r>
                <a:r>
                  <a:rPr lang="en-IN" sz="2400">
                    <a:solidFill>
                      <a:srgbClr val="111827"/>
                    </a:solidFill>
                    <a:latin typeface="Cambria Math" panose="02040503050406030204" pitchFamily="18" charset="0"/>
                  </a:rPr>
                  <a:t>$f(x)=x\sqrt{1-x^2}$</a:t>
                </a:r>
                <a:r>
                  <a:rPr sz="2400" b="0">
                    <a:solidFill>
                      <a:srgbClr val="111827"/>
                    </a:solidFill>
                    <a:latin typeface="Arial"/>
                  </a:rPr>
                  <a:t>, </a:t>
                </a:r>
                <a:r>
                  <a:rPr lang="en-IN" sz="2400">
                    <a:solidFill>
                      <a:srgbClr val="111827"/>
                    </a:solidFill>
                    <a:latin typeface="Cambria Math" panose="02040503050406030204" pitchFamily="18" charset="0"/>
                  </a:rPr>
                  <a:t>$0\le x\le1$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den>
                    </m:f>
                  </m:oMath>
                </a14:m>
                <a:r>
                  <a:rPr sz="2400" b="0">
                    <a:solidFill>
                      <a:srgbClr val="111827"/>
                    </a:solidFill>
                    <a:latin typeface="Arial"/>
                  </a:rPr>
                  <a:t>, which vanishes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greatest area is </a:t>
                </a:r>
                <a14:m>
                  <m:oMath xmlns:m="http://schemas.openxmlformats.org/officeDocument/2006/math">
                    <m:r>
                      <a:rPr lang="en-IN" sz="2400" i="1">
                        <a:solidFill>
                          <a:srgbClr val="111827"/>
                        </a:solidFill>
                        <a:latin typeface="Cambria Math" panose="02040503050406030204" pitchFamily="18" charset="0"/>
                      </a:rPr>
                      <m:t>𝑓</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(range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So (a)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The rectangle </a:t>
                </a:r>
                <a14:m>
                  <m:oMath xmlns:m="http://schemas.openxmlformats.org/officeDocument/2006/math">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𝑂</m:t>
                    </m:r>
                  </m:oMath>
                </a14:m>
                <a:r>
                  <a:rPr sz="2400" b="0">
                    <a:solidFill>
                      <a:srgbClr val="111827"/>
                    </a:solidFill>
                    <a:latin typeface="Arial"/>
                  </a:rPr>
                  <a:t> has sides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den>
                    </m:f>
                  </m:oMath>
                </a14:m>
                <a:r>
                  <a:rPr sz="2400" b="0">
                    <a:solidFill>
                      <a:srgbClr val="111827"/>
                    </a:solidFill>
                    <a:latin typeface="Arial"/>
                  </a:rPr>
                  <a:t>, which vanishes at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𝑔</m:t>
                        </m:r>
                      </m:e>
                      <m:sub>
                        <m:r>
                          <m:rPr>
                            <m:sty m:val="p"/>
                          </m:rPr>
                          <a:rPr lang="en-IN" sz="2400">
                            <a:solidFill>
                              <a:srgbClr val="111827"/>
                            </a:solidFill>
                            <a:latin typeface="Cambria Math" panose="02040503050406030204" pitchFamily="18" charset="0"/>
                          </a:rPr>
                          <m:t>max</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(range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e>
                    </m:d>
                  </m:oMath>
                </a14:m>
                <a:r>
                  <a:rPr sz="2400" b="0">
                    <a:solidFill>
                      <a:srgbClr val="111827"/>
                    </a:solidFill>
                    <a:latin typeface="Arial"/>
                  </a:rPr>
                  <a:t>). So (b)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Since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vertical distance is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$f'(x)=\frac{(1-\sqrt2x)(1+\sqrt2x)}{\sqrt{1-x^2}}$</a:t>
                </a:r>
                <a:r>
                  <a:rPr sz="2400" b="0">
                    <a:solidFill>
                      <a:srgbClr val="111827"/>
                    </a:solidFill>
                    <a:latin typeface="Arial"/>
                  </a:rPr>
                  <a:t>, which vanishes at </a:t>
                </a:r>
                <a:r>
                  <a:rPr lang="en-IN" sz="2400">
                    <a:solidFill>
                      <a:srgbClr val="111827"/>
                    </a:solidFill>
                    <a:latin typeface="Cambria Math" panose="02040503050406030204" pitchFamily="18" charset="0"/>
                  </a:rPr>
                  <a:t>$x=\frac1{\sqrt2}$</a:t>
                </a:r>
                <a:r>
                  <a:rPr sz="2400" b="0">
                    <a:solidFill>
                      <a:srgbClr val="111827"/>
                    </a:solidFill>
                    <a:latin typeface="Arial"/>
                  </a:rPr>
                  <a:t> in </a:t>
                </a:r>
                <a:r>
                  <a:rPr lang="en-IN" sz="2400">
                    <a:solidFill>
                      <a:srgbClr val="111827"/>
                    </a:solidFill>
                    <a:latin typeface="Cambria Math" panose="02040503050406030204" pitchFamily="18" charset="0"/>
                  </a:rPr>
                  <a:t>$(0,1)$</a:t>
                </a:r>
                <a:r>
                  <a:rPr sz="2400" b="0">
                    <a:solidFill>
                      <a:srgbClr val="111827"/>
                    </a:solidFill>
                    <a:latin typeface="Arial"/>
                  </a:rPr>
                  <a:t>; the greatest area is </a:t>
                </a:r>
                <a:r>
                  <a:rPr lang="en-IN" sz="2400">
                    <a:solidFill>
                      <a:srgbClr val="111827"/>
                    </a:solidFill>
                    <a:latin typeface="Cambria Math" panose="02040503050406030204" pitchFamily="18" charset="0"/>
                  </a:rPr>
                  <a:t>$f\left(\frac1{\sqrt2}\right)=\frac12$</a:t>
                </a:r>
                <a:r>
                  <a:rPr sz="2400" b="0">
                    <a:solidFill>
                      <a:srgbClr val="111827"/>
                    </a:solidFill>
                    <a:latin typeface="Arial"/>
                  </a:rPr>
                  <a:t> (range </a:t>
                </a:r>
                <a:r>
                  <a:rPr lang="en-IN" sz="2400">
                    <a:solidFill>
                      <a:srgbClr val="111827"/>
                    </a:solidFill>
                    <a:latin typeface="Cambria Math" panose="02040503050406030204" pitchFamily="18" charset="0"/>
                  </a:rPr>
                  <a:t>$\left[0,\frac12\right]$</a:t>
                </a:r>
                <a:r>
                  <a:rPr sz="2400" b="0">
                    <a:solidFill>
                      <a:srgbClr val="111827"/>
                    </a:solidFill>
                    <a:latin typeface="Arial"/>
                  </a:rPr>
                  <a:t>). So (a) </a:t>
                </a:r>
                <a:r>
                  <a:rPr lang="en-IN" sz="2400">
                    <a:solidFill>
                      <a:srgbClr val="111827"/>
                    </a:solidFill>
                    <a:latin typeface="Cambria Math" panose="02040503050406030204" pitchFamily="18" charset="0"/>
                  </a:rPr>
                  <a:t>$\to$</a:t>
                </a:r>
                <a:r>
                  <a:rPr sz="2400" b="0">
                    <a:solidFill>
                      <a:srgbClr val="111827"/>
                    </a:solidFill>
                    <a:latin typeface="Arial"/>
                  </a:rPr>
                  <a:t> (s).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The rectangle </a:t>
                </a:r>
                <a:r>
                  <a:rPr lang="en-IN" sz="2400">
                    <a:solidFill>
                      <a:srgbClr val="111827"/>
                    </a:solidFill>
                    <a:latin typeface="Cambria Math" panose="02040503050406030204" pitchFamily="18" charset="0"/>
                  </a:rPr>
                  <a:t>$QPRO$</a:t>
                </a:r>
                <a:r>
                  <a:rPr sz="2400" b="0">
                    <a:solidFill>
                      <a:srgbClr val="111827"/>
                    </a:solidFill>
                    <a:latin typeface="Arial"/>
                  </a:rPr>
                  <a:t> has sides </a:t>
                </a:r>
                <a:r>
                  <a:rPr lang="en-IN" sz="2400">
                    <a:solidFill>
                      <a:srgbClr val="111827"/>
                    </a:solidFill>
                    <a:latin typeface="Cambria Math" panose="02040503050406030204" pitchFamily="18" charset="0"/>
                  </a:rPr>
                  <a:t>$x$</a:t>
                </a:r>
                <a:r>
                  <a:rPr sz="2400" b="0">
                    <a:solidFill>
                      <a:srgbClr val="111827"/>
                    </a:solidFill>
                    <a:latin typeface="Arial"/>
                  </a:rPr>
                  <a:t> and </a:t>
                </a:r>
                <a:r>
                  <a:rPr lang="en-IN" sz="2400">
                    <a:solidFill>
                      <a:srgbClr val="111827"/>
                    </a:solidFill>
                    <a:latin typeface="Cambria Math" panose="02040503050406030204" pitchFamily="18" charset="0"/>
                  </a:rPr>
                  <a:t>$f(x)$</a:t>
                </a:r>
                <a:r>
                  <a:rPr sz="2400" b="0">
                    <a:solidFill>
                      <a:srgbClr val="111827"/>
                    </a:solidFill>
                    <a:latin typeface="Arial"/>
                  </a:rPr>
                  <a:t>, so </a:t>
                </a:r>
                <a:r>
                  <a:rPr lang="en-IN" sz="2400">
                    <a:solidFill>
                      <a:srgbClr val="111827"/>
                    </a:solidFill>
                    <a:latin typeface="Cambria Math" panose="02040503050406030204" pitchFamily="18" charset="0"/>
                  </a:rPr>
                  <a:t>$g(x)=xf(x)=x^2\sqrt{1-x^2}$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$g'(x)=\frac{x(2-3x^2)}{\sqrt{1-x^2}}$</a:t>
                </a:r>
                <a:r>
                  <a:rPr sz="2400" b="0">
                    <a:solidFill>
                      <a:srgbClr val="111827"/>
                    </a:solidFill>
                    <a:latin typeface="Arial"/>
                  </a:rPr>
                  <a:t>, which vanishes at </a:t>
                </a:r>
                <a:r>
                  <a:rPr lang="en-IN" sz="2400">
                    <a:solidFill>
                      <a:srgbClr val="111827"/>
                    </a:solidFill>
                    <a:latin typeface="Cambria Math" panose="02040503050406030204" pitchFamily="18" charset="0"/>
                  </a:rPr>
                  <a:t>$x^2=\frac23$</a:t>
                </a:r>
                <a:r>
                  <a:rPr sz="2400" b="0">
                    <a:solidFill>
                      <a:srgbClr val="111827"/>
                    </a:solidFill>
                    <a:latin typeface="Arial"/>
                  </a:rPr>
                  <a:t>; </a:t>
                </a:r>
                <a:r>
                  <a:rPr lang="en-IN" sz="2400">
                    <a:solidFill>
                      <a:srgbClr val="111827"/>
                    </a:solidFill>
                    <a:latin typeface="Cambria Math" panose="02040503050406030204" pitchFamily="18" charset="0"/>
                  </a:rPr>
                  <a:t>$g_{\max}=\frac23\cdot\frac1{\sqrt3}=\frac2{3\sqrt3}$</a:t>
                </a:r>
                <a:r>
                  <a:rPr sz="2400" b="0">
                    <a:solidFill>
                      <a:srgbClr val="111827"/>
                    </a:solidFill>
                    <a:latin typeface="Arial"/>
                  </a:rPr>
                  <a:t> (range </a:t>
                </a:r>
                <a:r>
                  <a:rPr lang="en-IN" sz="2400">
                    <a:solidFill>
                      <a:srgbClr val="111827"/>
                    </a:solidFill>
                    <a:latin typeface="Cambria Math" panose="02040503050406030204" pitchFamily="18" charset="0"/>
                  </a:rPr>
                  <a:t>$\left[0,\frac2{3\sqrt3}\right]$</a:t>
                </a:r>
                <a:r>
                  <a:rPr sz="2400" b="0">
                    <a:solidFill>
                      <a:srgbClr val="111827"/>
                    </a:solidFill>
                    <a:latin typeface="Arial"/>
                  </a:rPr>
                  <a:t>). So (b) </a:t>
                </a:r>
                <a:r>
                  <a:rPr lang="en-IN" sz="2400">
                    <a:solidFill>
                      <a:srgbClr val="111827"/>
                    </a:solidFill>
                    <a:latin typeface="Cambria Math" panose="02040503050406030204" pitchFamily="18" charset="0"/>
                  </a:rPr>
                  <a:t>$\to$</a:t>
                </a:r>
                <a:r>
                  <a:rPr sz="2400" b="0">
                    <a:solidFill>
                      <a:srgbClr val="111827"/>
                    </a:solidFill>
                    <a:latin typeface="Arial"/>
                  </a:rPr>
                  <a:t> (p).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Since </a:t>
                </a:r>
                <a:r>
                  <a:rPr lang="en-IN" sz="2400">
                    <a:solidFill>
                      <a:srgbClr val="111827"/>
                    </a:solidFill>
                    <a:latin typeface="Cambria Math" panose="02040503050406030204" pitchFamily="18" charset="0"/>
                  </a:rPr>
                  <a:t>$f(x)&gt;g(x)$</a:t>
                </a:r>
                <a:r>
                  <a:rPr sz="2400" b="0">
                    <a:solidFill>
                      <a:srgbClr val="111827"/>
                    </a:solidFill>
                    <a:latin typeface="Arial"/>
                  </a:rPr>
                  <a:t> on </a:t>
                </a:r>
                <a:r>
                  <a:rPr lang="en-IN" sz="2400">
                    <a:solidFill>
                      <a:srgbClr val="111827"/>
                    </a:solidFill>
                    <a:latin typeface="Cambria Math" panose="02040503050406030204" pitchFamily="18" charset="0"/>
                  </a:rPr>
                  <a:t>$(0,1)$</a:t>
                </a:r>
                <a:r>
                  <a:rPr sz="2400" b="0">
                    <a:solidFill>
                      <a:srgbClr val="111827"/>
                    </a:solidFill>
                    <a:latin typeface="Arial"/>
                  </a:rPr>
                  <a:t>, the vertical distance is </a:t>
                </a:r>
                <a:r>
                  <a:rPr lang="en-IN" sz="2400">
                    <a:solidFill>
                      <a:srgbClr val="111827"/>
                    </a:solidFill>
                    <a:latin typeface="Cambria Math" panose="02040503050406030204" pitchFamily="18" charset="0"/>
                  </a:rPr>
                  <a:t>$h(x)=f(x)-g(x)=\sqrt{1-x^2}\,(x-x^2)$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ℎ</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den>
                    </m:f>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ℎ</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when </a:t>
                </a:r>
                <a14:m>
                  <m:oMath xmlns:m="http://schemas.openxmlformats.org/officeDocument/2006/math">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where </a:t>
                </a:r>
                <a14:m>
                  <m:oMath xmlns:m="http://schemas.openxmlformats.org/officeDocument/2006/math">
                    <m:sSup>
                      <m:e>
                        <m:r>
                          <a:rPr lang="en-IN" sz="2400" i="1">
                            <a:solidFill>
                              <a:srgbClr val="111827"/>
                            </a:solidFill>
                            <a:latin typeface="Cambria Math" panose="02040503050406030204" pitchFamily="18" charset="0"/>
                          </a:rPr>
                          <m:t>ℎ</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changes from positive to negative (maximum). So (c)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(q).</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Required area </a:t>
                </a:r>
                <a14:m>
                  <m:oMath xmlns:m="http://schemas.openxmlformats.org/officeDocument/2006/math">
                    <m:r>
                      <m:rPr>
                        <m:sty m:val="p"/>
                      </m:rPr>
                      <a:rPr lang="en-IN" sz="2400">
                        <a:solidFill>
                          <a:srgbClr val="111827"/>
                        </a:solidFill>
                        <a:latin typeface="Cambria Math" panose="02040503050406030204" pitchFamily="18" charset="0"/>
                      </a:rPr>
                      <m:t>=</m:t>
                    </m:r>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1</m:t>
                        </m:r>
                      </m:sup>
                      <m:e>
                        <m:r>
                          <a:rPr lang="en-IN" sz="2400" i="1">
                            <a:solidFill>
                              <a:srgbClr val="111827"/>
                            </a:solidFill>
                            <a:latin typeface="Cambria Math" panose="02040503050406030204" pitchFamily="18" charset="0"/>
                          </a:rPr>
                          <m:t>𝑥</m:t>
                        </m:r>
                      </m:e>
                    </m:nary>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So (d)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s; b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p; c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q; d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r, which is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$h'(x)=\frac{(1-x)(1-x-3x^2)}{\sqrt{1-x^2}}$</a:t>
                </a:r>
                <a:r>
                  <a:rPr sz="2400" b="0">
                    <a:solidFill>
                      <a:srgbClr val="111827"/>
                    </a:solidFill>
                    <a:latin typeface="Arial"/>
                  </a:rPr>
                  <a:t>; </a:t>
                </a:r>
                <a:r>
                  <a:rPr lang="en-IN" sz="2400">
                    <a:solidFill>
                      <a:srgbClr val="111827"/>
                    </a:solidFill>
                    <a:latin typeface="Cambria Math" panose="02040503050406030204" pitchFamily="18" charset="0"/>
                  </a:rPr>
                  <a:t>$h'=0$</a:t>
                </a:r>
                <a:r>
                  <a:rPr sz="2400" b="0">
                    <a:solidFill>
                      <a:srgbClr val="111827"/>
                    </a:solidFill>
                    <a:latin typeface="Arial"/>
                  </a:rPr>
                  <a:t> in </a:t>
                </a:r>
                <a:r>
                  <a:rPr lang="en-IN" sz="2400">
                    <a:solidFill>
                      <a:srgbClr val="111827"/>
                    </a:solidFill>
                    <a:latin typeface="Cambria Math" panose="02040503050406030204" pitchFamily="18" charset="0"/>
                  </a:rPr>
                  <a:t>$(0,1)$</a:t>
                </a:r>
                <a:r>
                  <a:rPr sz="2400" b="0">
                    <a:solidFill>
                      <a:srgbClr val="111827"/>
                    </a:solidFill>
                    <a:latin typeface="Arial"/>
                  </a:rPr>
                  <a:t> when </a:t>
                </a:r>
                <a:r>
                  <a:rPr lang="en-IN" sz="2400">
                    <a:solidFill>
                      <a:srgbClr val="111827"/>
                    </a:solidFill>
                    <a:latin typeface="Cambria Math" panose="02040503050406030204" pitchFamily="18" charset="0"/>
                  </a:rPr>
                  <a:t>$3x^2+x-1=0$</a:t>
                </a:r>
                <a:r>
                  <a:rPr sz="2400" b="0">
                    <a:solidFill>
                      <a:srgbClr val="111827"/>
                    </a:solidFill>
                    <a:latin typeface="Arial"/>
                  </a:rPr>
                  <a:t>, i.e. </a:t>
                </a:r>
                <a:r>
                  <a:rPr lang="en-IN" sz="2400">
                    <a:solidFill>
                      <a:srgbClr val="111827"/>
                    </a:solidFill>
                    <a:latin typeface="Cambria Math" panose="02040503050406030204" pitchFamily="18" charset="0"/>
                  </a:rPr>
                  <a:t>$x=\frac{\sqrt{13}-1}{6}$</a:t>
                </a:r>
                <a:r>
                  <a:rPr sz="2400" b="0">
                    <a:solidFill>
                      <a:srgbClr val="111827"/>
                    </a:solidFill>
                    <a:latin typeface="Arial"/>
                  </a:rPr>
                  <a:t>, where </a:t>
                </a:r>
                <a:r>
                  <a:rPr lang="en-IN" sz="2400">
                    <a:solidFill>
                      <a:srgbClr val="111827"/>
                    </a:solidFill>
                    <a:latin typeface="Cambria Math" panose="02040503050406030204" pitchFamily="18" charset="0"/>
                  </a:rPr>
                  <a:t>$h'$</a:t>
                </a:r>
                <a:r>
                  <a:rPr sz="2400" b="0">
                    <a:solidFill>
                      <a:srgbClr val="111827"/>
                    </a:solidFill>
                    <a:latin typeface="Arial"/>
                  </a:rPr>
                  <a:t> changes from positive to negative (maximum). So (c) </a:t>
                </a:r>
                <a:r>
                  <a:rPr lang="en-IN" sz="2400">
                    <a:solidFill>
                      <a:srgbClr val="111827"/>
                    </a:solidFill>
                    <a:latin typeface="Cambria Math" panose="02040503050406030204" pitchFamily="18" charset="0"/>
                  </a:rPr>
                  <a:t>$\to$</a:t>
                </a:r>
                <a:r>
                  <a:rPr sz="2400" b="0">
                    <a:solidFill>
                      <a:srgbClr val="111827"/>
                    </a:solidFill>
                    <a:latin typeface="Arial"/>
                  </a:rPr>
                  <a:t> (q).</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Required area </a:t>
                </a:r>
                <a:r>
                  <a:rPr lang="en-IN" sz="2400">
                    <a:solidFill>
                      <a:srgbClr val="111827"/>
                    </a:solidFill>
                    <a:latin typeface="Cambria Math" panose="02040503050406030204" pitchFamily="18" charset="0"/>
                  </a:rPr>
                  <a:t>$=\int_0^1x\sqrt{1-x^2}\,dx=\frac13$</a:t>
                </a:r>
                <a:r>
                  <a:rPr sz="2400" b="0">
                    <a:solidFill>
                      <a:srgbClr val="111827"/>
                    </a:solidFill>
                    <a:latin typeface="Arial"/>
                  </a:rPr>
                  <a:t>. So (d) </a:t>
                </a:r>
                <a:r>
                  <a:rPr lang="en-IN" sz="2400">
                    <a:solidFill>
                      <a:srgbClr val="111827"/>
                    </a:solidFill>
                    <a:latin typeface="Cambria Math" panose="02040503050406030204" pitchFamily="18" charset="0"/>
                  </a:rPr>
                  <a:t>$\to$</a:t>
                </a:r>
                <a:r>
                  <a:rPr sz="2400" b="0">
                    <a:solidFill>
                      <a:srgbClr val="111827"/>
                    </a:solidFill>
                    <a:latin typeface="Arial"/>
                  </a:rPr>
                  <a:t> (r).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 </a:t>
                </a:r>
                <a:r>
                  <a:rPr lang="en-IN" sz="2400">
                    <a:solidFill>
                      <a:srgbClr val="111827"/>
                    </a:solidFill>
                    <a:latin typeface="Cambria Math" panose="02040503050406030204" pitchFamily="18" charset="0"/>
                  </a:rPr>
                  <a:t>$\to$</a:t>
                </a:r>
                <a:r>
                  <a:rPr sz="2400" b="0">
                    <a:solidFill>
                      <a:srgbClr val="111827"/>
                    </a:solidFill>
                    <a:latin typeface="Arial"/>
                  </a:rPr>
                  <a:t> s; b </a:t>
                </a:r>
                <a:r>
                  <a:rPr lang="en-IN" sz="2400">
                    <a:solidFill>
                      <a:srgbClr val="111827"/>
                    </a:solidFill>
                    <a:latin typeface="Cambria Math" panose="02040503050406030204" pitchFamily="18" charset="0"/>
                  </a:rPr>
                  <a:t>$\to$</a:t>
                </a:r>
                <a:r>
                  <a:rPr sz="2400" b="0">
                    <a:solidFill>
                      <a:srgbClr val="111827"/>
                    </a:solidFill>
                    <a:latin typeface="Arial"/>
                  </a:rPr>
                  <a:t> p; c </a:t>
                </a:r>
                <a:r>
                  <a:rPr lang="en-IN" sz="2400">
                    <a:solidFill>
                      <a:srgbClr val="111827"/>
                    </a:solidFill>
                    <a:latin typeface="Cambria Math" panose="02040503050406030204" pitchFamily="18" charset="0"/>
                  </a:rPr>
                  <a:t>$\to$</a:t>
                </a:r>
                <a:r>
                  <a:rPr sz="2400" b="0">
                    <a:solidFill>
                      <a:srgbClr val="111827"/>
                    </a:solidFill>
                    <a:latin typeface="Arial"/>
                  </a:rPr>
                  <a:t> q; d </a:t>
                </a:r>
                <a:r>
                  <a:rPr lang="en-IN" sz="2400">
                    <a:solidFill>
                      <a:srgbClr val="111827"/>
                    </a:solidFill>
                    <a:latin typeface="Cambria Math" panose="02040503050406030204" pitchFamily="18" charset="0"/>
                  </a:rPr>
                  <a:t>$\to$</a:t>
                </a:r>
                <a:r>
                  <a:rPr sz="2400" b="0">
                    <a:solidFill>
                      <a:srgbClr val="111827"/>
                    </a:solidFill>
                    <a:latin typeface="Arial"/>
                  </a:rPr>
                  <a:t> r, which is option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s; b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p; c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q; d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r</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 </a:t>
                </a:r>
                <a:r>
                  <a:rPr lang="en-IN" sz="2800">
                    <a:solidFill>
                      <a:srgbClr val="15803D"/>
                    </a:solidFill>
                    <a:latin typeface="Cambria Math" panose="02040503050406030204" pitchFamily="18" charset="0"/>
                  </a:rPr>
                  <a:t>$\to$</a:t>
                </a:r>
                <a:r>
                  <a:rPr sz="2800" b="1">
                    <a:solidFill>
                      <a:srgbClr val="15803D"/>
                    </a:solidFill>
                    <a:latin typeface="Arial"/>
                  </a:rPr>
                  <a:t> s; b </a:t>
                </a:r>
                <a:r>
                  <a:rPr lang="en-IN" sz="2800">
                    <a:solidFill>
                      <a:srgbClr val="15803D"/>
                    </a:solidFill>
                    <a:latin typeface="Cambria Math" panose="02040503050406030204" pitchFamily="18" charset="0"/>
                  </a:rPr>
                  <a:t>$\to$</a:t>
                </a:r>
                <a:r>
                  <a:rPr sz="2800" b="1">
                    <a:solidFill>
                      <a:srgbClr val="15803D"/>
                    </a:solidFill>
                    <a:latin typeface="Arial"/>
                  </a:rPr>
                  <a:t> p; c </a:t>
                </a:r>
                <a:r>
                  <a:rPr lang="en-IN" sz="2800">
                    <a:solidFill>
                      <a:srgbClr val="15803D"/>
                    </a:solidFill>
                    <a:latin typeface="Cambria Math" panose="02040503050406030204" pitchFamily="18" charset="0"/>
                  </a:rPr>
                  <a:t>$\to$</a:t>
                </a:r>
                <a:r>
                  <a:rPr sz="2800" b="1">
                    <a:solidFill>
                      <a:srgbClr val="15803D"/>
                    </a:solidFill>
                    <a:latin typeface="Arial"/>
                  </a:rPr>
                  <a:t> q; d </a:t>
                </a:r>
                <a:r>
                  <a:rPr lang="en-IN" sz="2800">
                    <a:solidFill>
                      <a:srgbClr val="15803D"/>
                    </a:solidFill>
                    <a:latin typeface="Cambria Math" panose="02040503050406030204" pitchFamily="18" charset="0"/>
                  </a:rPr>
                  <a:t>$\to$</a:t>
                </a:r>
                <a:r>
                  <a:rPr sz="2800" b="1">
                    <a:solidFill>
                      <a:srgbClr val="15803D"/>
                    </a:solidFill>
                    <a:latin typeface="Arial"/>
                  </a:rPr>
                  <a:t> r</a:t>
                </a:r>
                <a:endParaRPr sz="2800">
                  <a:solidFill>
                    <a:srgbClr val="15803D"/>
                  </a:solidFill>
                </a:endParaRPr>
              </a:p>
            </p:txBody>
          </p:sp>
        </mc:Fallback>
      </mc:AlternateContent>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θ</m:t>
                    </m:r>
                  </m:oMath>
                </a14:m>
                <a:r>
                  <a:rPr sz="2400" b="0">
                    <a:solidFill>
                      <a:srgbClr val="78350F"/>
                    </a:solidFill>
                    <a:latin typeface="Arial"/>
                  </a:rPr>
                  <a:t> and AM-GM instead of differentiating for the two area maxima, and a </a:t>
                </a:r>
                <a14:m>
                  <m:oMath xmlns:m="http://schemas.openxmlformats.org/officeDocument/2006/math">
                    <m:r>
                      <a:rPr lang="en-IN" sz="2400" i="1">
                        <a:solidFill>
                          <a:srgbClr val="78350F"/>
                        </a:solidFill>
                        <a:latin typeface="Cambria Math" panose="02040503050406030204" pitchFamily="18" charset="0"/>
                      </a:rPr>
                      <m:t>𝑢</m:t>
                    </m:r>
                  </m:oMath>
                </a14:m>
                <a:r>
                  <a:rPr sz="2400" b="0">
                    <a:solidFill>
                      <a:srgbClr val="78350F"/>
                    </a:solidFill>
                    <a:latin typeface="Arial"/>
                  </a:rPr>
                  <a:t>-substitution for the integral.</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a:t>
                </a:r>
                <a:r>
                  <a:rPr lang="en-IN" sz="2400">
                    <a:solidFill>
                      <a:srgbClr val="78350F"/>
                    </a:solidFill>
                    <a:latin typeface="Cambria Math" panose="02040503050406030204" pitchFamily="18" charset="0"/>
                  </a:rPr>
                  <a:t>$x=\sin\theta$</a:t>
                </a:r>
                <a:r>
                  <a:rPr sz="2400" b="0">
                    <a:solidFill>
                      <a:srgbClr val="78350F"/>
                    </a:solidFill>
                    <a:latin typeface="Arial"/>
                  </a:rPr>
                  <a:t> and AM-GM instead of differentiating for the two area maxima, and a </a:t>
                </a:r>
                <a:r>
                  <a:rPr lang="en-IN" sz="2400">
                    <a:solidFill>
                      <a:srgbClr val="78350F"/>
                    </a:solidFill>
                    <a:latin typeface="Cambria Math" panose="02040503050406030204" pitchFamily="18" charset="0"/>
                  </a:rPr>
                  <a:t>$u$</a:t>
                </a:r>
                <a:r>
                  <a:rPr sz="2400" b="0">
                    <a:solidFill>
                      <a:srgbClr val="78350F"/>
                    </a:solidFill>
                    <a:latin typeface="Arial"/>
                  </a:rPr>
                  <a:t>-substitution for the integral.</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with equality at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So (a)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i.e. (s).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(b), </a:t>
                </a:r>
                <a14:m>
                  <m:oMath xmlns:m="http://schemas.openxmlformats.org/officeDocument/2006/math">
                    <m:sSup>
                      <m:e>
                        <m:r>
                          <a:rPr lang="en-IN" sz="2400" i="1">
                            <a:solidFill>
                              <a:srgbClr val="111827"/>
                            </a:solidFill>
                            <a:latin typeface="Cambria Math" panose="02040503050406030204" pitchFamily="18" charset="0"/>
                          </a:rPr>
                          <m:t>𝑔</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a product of three positive terms whose sum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is constant.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AM-GM,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e>
                        </m:d>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27</m:t>
                        </m:r>
                      </m:den>
                    </m:f>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𝑔</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27</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with equality when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So (b)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(p).</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$x=\sin\theta$</a:t>
                </a:r>
                <a:r>
                  <a:rPr sz="2400" b="0">
                    <a:solidFill>
                      <a:srgbClr val="111827"/>
                    </a:solidFill>
                    <a:latin typeface="Arial"/>
                  </a:rPr>
                  <a:t>, </a:t>
                </a:r>
                <a:r>
                  <a:rPr lang="en-IN" sz="2400">
                    <a:solidFill>
                      <a:srgbClr val="111827"/>
                    </a:solidFill>
                    <a:latin typeface="Cambria Math" panose="02040503050406030204" pitchFamily="18" charset="0"/>
                  </a:rPr>
                  <a:t>$\theta\in\left[0,\frac\pi2\right]$</a:t>
                </a:r>
                <a:r>
                  <a:rPr sz="2400" b="0">
                    <a:solidFill>
                      <a:srgbClr val="111827"/>
                    </a:solidFill>
                    <a:latin typeface="Arial"/>
                  </a:rPr>
                  <a:t>: </a:t>
                </a:r>
                <a:r>
                  <a:rPr lang="en-IN" sz="2400">
                    <a:solidFill>
                      <a:srgbClr val="111827"/>
                    </a:solidFill>
                    <a:latin typeface="Cambria Math" panose="02040503050406030204" pitchFamily="18" charset="0"/>
                  </a:rPr>
                  <a:t>$f=\sin\theta\cos\theta=\frac12\sin2\theta\le\frac12$</a:t>
                </a:r>
                <a:r>
                  <a:rPr sz="2400" b="0">
                    <a:solidFill>
                      <a:srgbClr val="111827"/>
                    </a:solidFill>
                    <a:latin typeface="Arial"/>
                  </a:rPr>
                  <a:t>, with equality at </a:t>
                </a:r>
                <a:r>
                  <a:rPr lang="en-IN" sz="2400">
                    <a:solidFill>
                      <a:srgbClr val="111827"/>
                    </a:solidFill>
                    <a:latin typeface="Cambria Math" panose="02040503050406030204" pitchFamily="18" charset="0"/>
                  </a:rPr>
                  <a:t>$\theta=\frac\pi4$</a:t>
                </a:r>
                <a:r>
                  <a:rPr sz="2400" b="0">
                    <a:solidFill>
                      <a:srgbClr val="111827"/>
                    </a:solidFill>
                    <a:latin typeface="Arial"/>
                  </a:rPr>
                  <a:t>. So (a) </a:t>
                </a:r>
                <a:r>
                  <a:rPr lang="en-IN" sz="2400">
                    <a:solidFill>
                      <a:srgbClr val="111827"/>
                    </a:solidFill>
                    <a:latin typeface="Cambria Math" panose="02040503050406030204" pitchFamily="18" charset="0"/>
                  </a:rPr>
                  <a:t>$=\frac12$</a:t>
                </a:r>
                <a:r>
                  <a:rPr sz="2400" b="0">
                    <a:solidFill>
                      <a:srgbClr val="111827"/>
                    </a:solidFill>
                    <a:latin typeface="Arial"/>
                  </a:rPr>
                  <a:t>, i.e. (s).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(b), </a:t>
                </a:r>
                <a:r>
                  <a:rPr lang="en-IN" sz="2400">
                    <a:solidFill>
                      <a:srgbClr val="111827"/>
                    </a:solidFill>
                    <a:latin typeface="Cambria Math" panose="02040503050406030204" pitchFamily="18" charset="0"/>
                  </a:rPr>
                  <a:t>$g^2=x^4(1-x^2)=\frac12\cdot x^2\cdot x^2\cdot(2-2x^2)$</a:t>
                </a:r>
                <a:r>
                  <a:rPr sz="2400" b="0">
                    <a:solidFill>
                      <a:srgbClr val="111827"/>
                    </a:solidFill>
                    <a:latin typeface="Arial"/>
                  </a:rPr>
                  <a:t>, a product of three positive terms whose sum </a:t>
                </a:r>
                <a:r>
                  <a:rPr lang="en-IN" sz="2400">
                    <a:solidFill>
                      <a:srgbClr val="111827"/>
                    </a:solidFill>
                    <a:latin typeface="Cambria Math" panose="02040503050406030204" pitchFamily="18" charset="0"/>
                  </a:rPr>
                  <a:t>$x^2+x^2+2-2x^2=2$</a:t>
                </a:r>
                <a:r>
                  <a:rPr sz="2400" b="0">
                    <a:solidFill>
                      <a:srgbClr val="111827"/>
                    </a:solidFill>
                    <a:latin typeface="Arial"/>
                  </a:rPr>
                  <a:t> is constant.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AM-GM, </a:t>
                </a:r>
                <a:r>
                  <a:rPr lang="en-IN" sz="2400">
                    <a:solidFill>
                      <a:srgbClr val="111827"/>
                    </a:solidFill>
                    <a:latin typeface="Cambria Math" panose="02040503050406030204" pitchFamily="18" charset="0"/>
                  </a:rPr>
                  <a:t>$x^2\cdot x^2\cdot(2-2x^2)\le\left(\frac23\right)^3=\frac8{27}$</a:t>
                </a:r>
                <a:r>
                  <a:rPr sz="2400" b="0">
                    <a:solidFill>
                      <a:srgbClr val="111827"/>
                    </a:solidFill>
                    <a:latin typeface="Arial"/>
                  </a:rPr>
                  <a:t>, so </a:t>
                </a:r>
                <a:r>
                  <a:rPr lang="en-IN" sz="2400">
                    <a:solidFill>
                      <a:srgbClr val="111827"/>
                    </a:solidFill>
                    <a:latin typeface="Cambria Math" panose="02040503050406030204" pitchFamily="18" charset="0"/>
                  </a:rPr>
                  <a:t>$g^2\le\frac4{27}$</a:t>
                </a:r>
                <a:r>
                  <a:rPr sz="2400" b="0">
                    <a:solidFill>
                      <a:srgbClr val="111827"/>
                    </a:solidFill>
                    <a:latin typeface="Arial"/>
                  </a:rPr>
                  <a:t> and </a:t>
                </a:r>
                <a:r>
                  <a:rPr lang="en-IN" sz="2400">
                    <a:solidFill>
                      <a:srgbClr val="111827"/>
                    </a:solidFill>
                    <a:latin typeface="Cambria Math" panose="02040503050406030204" pitchFamily="18" charset="0"/>
                  </a:rPr>
                  <a:t>$g\le\frac2{3\sqrt3}$</a:t>
                </a:r>
                <a:r>
                  <a:rPr sz="2400" b="0">
                    <a:solidFill>
                      <a:srgbClr val="111827"/>
                    </a:solidFill>
                    <a:latin typeface="Arial"/>
                  </a:rPr>
                  <a:t>, with equality when </a:t>
                </a:r>
                <a:r>
                  <a:rPr lang="en-IN" sz="2400">
                    <a:solidFill>
                      <a:srgbClr val="111827"/>
                    </a:solidFill>
                    <a:latin typeface="Cambria Math" panose="02040503050406030204" pitchFamily="18" charset="0"/>
                  </a:rPr>
                  <a:t>$x^2=2-2x^2$</a:t>
                </a:r>
                <a:r>
                  <a:rPr sz="2400" b="0">
                    <a:solidFill>
                      <a:srgbClr val="111827"/>
                    </a:solidFill>
                    <a:latin typeface="Arial"/>
                  </a:rPr>
                  <a:t>, i.e. </a:t>
                </a:r>
                <a:r>
                  <a:rPr lang="en-IN" sz="2400">
                    <a:solidFill>
                      <a:srgbClr val="111827"/>
                    </a:solidFill>
                    <a:latin typeface="Cambria Math" panose="02040503050406030204" pitchFamily="18" charset="0"/>
                  </a:rPr>
                  <a:t>$x^2=\frac23$</a:t>
                </a:r>
                <a:r>
                  <a:rPr sz="2400" b="0">
                    <a:solidFill>
                      <a:srgbClr val="111827"/>
                    </a:solidFill>
                    <a:latin typeface="Arial"/>
                  </a:rPr>
                  <a:t>. So (b) </a:t>
                </a:r>
                <a:r>
                  <a:rPr lang="en-IN" sz="2400">
                    <a:solidFill>
                      <a:srgbClr val="111827"/>
                    </a:solidFill>
                    <a:latin typeface="Cambria Math" panose="02040503050406030204" pitchFamily="18" charset="0"/>
                  </a:rPr>
                  <a:t>$\to$</a:t>
                </a:r>
                <a:r>
                  <a:rPr sz="2400" b="0">
                    <a:solidFill>
                      <a:srgbClr val="111827"/>
                    </a:solidFill>
                    <a:latin typeface="Arial"/>
                  </a:rPr>
                  <a:t> (p).</a:t>
                </a:r>
                <a:endParaRPr sz="2400">
                  <a:solidFill>
                    <a:srgbClr val="111827"/>
                  </a:solidFill>
                </a:endParaRPr>
              </a:p>
            </p:txBody>
          </p:sp>
        </mc:Fallback>
      </mc:AlternateContent>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(c) there is no shortcut: maximise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ℎ</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i.e. (q).</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(d),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gives </a:t>
                </a:r>
                <a14:m>
                  <m:oMath xmlns:m="http://schemas.openxmlformats.org/officeDocument/2006/math">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1</m:t>
                        </m:r>
                      </m:sup>
                      <m:e>
                        <m:r>
                          <a:rPr lang="en-IN" sz="2400" i="1">
                            <a:solidFill>
                              <a:srgbClr val="111827"/>
                            </a:solidFill>
                            <a:latin typeface="Cambria Math" panose="02040503050406030204" pitchFamily="18" charset="0"/>
                          </a:rPr>
                          <m:t>𝑥</m:t>
                        </m:r>
                      </m:e>
                    </m:nary>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1</m:t>
                        </m:r>
                      </m:sup>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𝑢</m:t>
                            </m:r>
                          </m:e>
                        </m:rad>
                      </m:e>
                    </m:nary>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i.e. (r).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s; b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p; c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q; d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r, option (D).</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(c) there is no shortcut: maximise </a:t>
                </a:r>
                <a:r>
                  <a:rPr lang="en-IN" sz="2400">
                    <a:solidFill>
                      <a:srgbClr val="111827"/>
                    </a:solidFill>
                    <a:latin typeface="Cambria Math" panose="02040503050406030204" pitchFamily="18" charset="0"/>
                  </a:rPr>
                  <a:t>$h=\sqrt{1-x^2}\,x(1-x)$</a:t>
                </a:r>
                <a:r>
                  <a:rPr sz="2400" b="0">
                    <a:solidFill>
                      <a:srgbClr val="111827"/>
                    </a:solidFill>
                    <a:latin typeface="Arial"/>
                  </a:rPr>
                  <a:t>; </a:t>
                </a:r>
                <a:r>
                  <a:rPr lang="en-IN" sz="2400">
                    <a:solidFill>
                      <a:srgbClr val="111827"/>
                    </a:solidFill>
                    <a:latin typeface="Cambria Math" panose="02040503050406030204" pitchFamily="18" charset="0"/>
                  </a:rPr>
                  <a:t>$h'\propto(1-x)(3x^2+x-1)$</a:t>
                </a:r>
                <a:r>
                  <a:rPr sz="2400" b="0">
                    <a:solidFill>
                      <a:srgbClr val="111827"/>
                    </a:solidFill>
                    <a:latin typeface="Arial"/>
                  </a:rPr>
                  <a:t> gives </a:t>
                </a:r>
                <a:r>
                  <a:rPr lang="en-IN" sz="2400">
                    <a:solidFill>
                      <a:srgbClr val="111827"/>
                    </a:solidFill>
                    <a:latin typeface="Cambria Math" panose="02040503050406030204" pitchFamily="18" charset="0"/>
                  </a:rPr>
                  <a:t>$x=\frac{\sqrt{13}-1}6$</a:t>
                </a:r>
                <a:r>
                  <a:rPr sz="2400" b="0">
                    <a:solidFill>
                      <a:srgbClr val="111827"/>
                    </a:solidFill>
                    <a:latin typeface="Arial"/>
                  </a:rPr>
                  <a:t>, i.e. (q).</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(d), </a:t>
                </a:r>
                <a:r>
                  <a:rPr lang="en-IN" sz="2400">
                    <a:solidFill>
                      <a:srgbClr val="111827"/>
                    </a:solidFill>
                    <a:latin typeface="Cambria Math" panose="02040503050406030204" pitchFamily="18" charset="0"/>
                  </a:rPr>
                  <a:t>$u=1-x^2$</a:t>
                </a:r>
                <a:r>
                  <a:rPr sz="2400" b="0">
                    <a:solidFill>
                      <a:srgbClr val="111827"/>
                    </a:solidFill>
                    <a:latin typeface="Arial"/>
                  </a:rPr>
                  <a:t> gives </a:t>
                </a:r>
                <a:r>
                  <a:rPr lang="en-IN" sz="2400">
                    <a:solidFill>
                      <a:srgbClr val="111827"/>
                    </a:solidFill>
                    <a:latin typeface="Cambria Math" panose="02040503050406030204" pitchFamily="18" charset="0"/>
                  </a:rPr>
                  <a:t>$\int_0^1x\sqrt{1-x^2}\,dx=\frac12\int_0^1\sqrt u\,du=\frac12\cdot\frac23=\frac13$</a:t>
                </a:r>
                <a:r>
                  <a:rPr sz="2400" b="0">
                    <a:solidFill>
                      <a:srgbClr val="111827"/>
                    </a:solidFill>
                    <a:latin typeface="Arial"/>
                  </a:rPr>
                  <a:t>, i.e. (r).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 </a:t>
                </a:r>
                <a:r>
                  <a:rPr lang="en-IN" sz="2400">
                    <a:solidFill>
                      <a:srgbClr val="111827"/>
                    </a:solidFill>
                    <a:latin typeface="Cambria Math" panose="02040503050406030204" pitchFamily="18" charset="0"/>
                  </a:rPr>
                  <a:t>$\to$</a:t>
                </a:r>
                <a:r>
                  <a:rPr sz="2400" b="0">
                    <a:solidFill>
                      <a:srgbClr val="111827"/>
                    </a:solidFill>
                    <a:latin typeface="Arial"/>
                  </a:rPr>
                  <a:t> s; b </a:t>
                </a:r>
                <a:r>
                  <a:rPr lang="en-IN" sz="2400">
                    <a:solidFill>
                      <a:srgbClr val="111827"/>
                    </a:solidFill>
                    <a:latin typeface="Cambria Math" panose="02040503050406030204" pitchFamily="18" charset="0"/>
                  </a:rPr>
                  <a:t>$\to$</a:t>
                </a:r>
                <a:r>
                  <a:rPr sz="2400" b="0">
                    <a:solidFill>
                      <a:srgbClr val="111827"/>
                    </a:solidFill>
                    <a:latin typeface="Arial"/>
                  </a:rPr>
                  <a:t> p; c </a:t>
                </a:r>
                <a:r>
                  <a:rPr lang="en-IN" sz="2400">
                    <a:solidFill>
                      <a:srgbClr val="111827"/>
                    </a:solidFill>
                    <a:latin typeface="Cambria Math" panose="02040503050406030204" pitchFamily="18" charset="0"/>
                  </a:rPr>
                  <a:t>$\to$</a:t>
                </a:r>
                <a:r>
                  <a:rPr sz="2400" b="0">
                    <a:solidFill>
                      <a:srgbClr val="111827"/>
                    </a:solidFill>
                    <a:latin typeface="Arial"/>
                  </a:rPr>
                  <a:t> q; d </a:t>
                </a:r>
                <a:r>
                  <a:rPr lang="en-IN" sz="2400">
                    <a:solidFill>
                      <a:srgbClr val="111827"/>
                    </a:solidFill>
                    <a:latin typeface="Cambria Math" panose="02040503050406030204" pitchFamily="18" charset="0"/>
                  </a:rPr>
                  <a:t>$\to$</a:t>
                </a:r>
                <a:r>
                  <a:rPr sz="2400" b="0">
                    <a:solidFill>
                      <a:srgbClr val="111827"/>
                    </a:solidFill>
                    <a:latin typeface="Arial"/>
                  </a:rPr>
                  <a:t> r, option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s; b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p; c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q; d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r</a:t>
                </a:r>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 </a:t>
                </a:r>
                <a:r>
                  <a:rPr lang="en-IN" sz="2800">
                    <a:solidFill>
                      <a:srgbClr val="15803D"/>
                    </a:solidFill>
                    <a:latin typeface="Cambria Math" panose="02040503050406030204" pitchFamily="18" charset="0"/>
                  </a:rPr>
                  <a:t>$\to$</a:t>
                </a:r>
                <a:r>
                  <a:rPr sz="2800" b="1">
                    <a:solidFill>
                      <a:srgbClr val="15803D"/>
                    </a:solidFill>
                    <a:latin typeface="Arial"/>
                  </a:rPr>
                  <a:t> s; b </a:t>
                </a:r>
                <a:r>
                  <a:rPr lang="en-IN" sz="2800">
                    <a:solidFill>
                      <a:srgbClr val="15803D"/>
                    </a:solidFill>
                    <a:latin typeface="Cambria Math" panose="02040503050406030204" pitchFamily="18" charset="0"/>
                  </a:rPr>
                  <a:t>$\to$</a:t>
                </a:r>
                <a:r>
                  <a:rPr sz="2800" b="1">
                    <a:solidFill>
                      <a:srgbClr val="15803D"/>
                    </a:solidFill>
                    <a:latin typeface="Arial"/>
                  </a:rPr>
                  <a:t> p; c </a:t>
                </a:r>
                <a:r>
                  <a:rPr lang="en-IN" sz="2800">
                    <a:solidFill>
                      <a:srgbClr val="15803D"/>
                    </a:solidFill>
                    <a:latin typeface="Cambria Math" panose="02040503050406030204" pitchFamily="18" charset="0"/>
                  </a:rPr>
                  <a:t>$\to$</a:t>
                </a:r>
                <a:r>
                  <a:rPr sz="2800" b="1">
                    <a:solidFill>
                      <a:srgbClr val="15803D"/>
                    </a:solidFill>
                    <a:latin typeface="Arial"/>
                  </a:rPr>
                  <a:t> q; d </a:t>
                </a:r>
                <a:r>
                  <a:rPr lang="en-IN" sz="2800">
                    <a:solidFill>
                      <a:srgbClr val="15803D"/>
                    </a:solidFill>
                    <a:latin typeface="Cambria Math" panose="02040503050406030204" pitchFamily="18" charset="0"/>
                  </a:rPr>
                  <a:t>$\to$</a:t>
                </a:r>
                <a:r>
                  <a:rPr sz="2800" b="1">
                    <a:solidFill>
                      <a:srgbClr val="15803D"/>
                    </a:solidFill>
                    <a:latin typeface="Arial"/>
                  </a:rPr>
                  <a:t> r</a:t>
                </a:r>
                <a:endParaRPr sz="2800">
                  <a:solidFill>
                    <a:srgbClr val="15803D"/>
                  </a:solidFill>
                </a:endParaRPr>
              </a:p>
            </p:txBody>
          </p:sp>
        </mc:Fallback>
      </mc:AlternateContent>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chord at distance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from the centre of a circle of radius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has length </a:t>
                </a:r>
                <a14:m>
                  <m:oMath xmlns:m="http://schemas.openxmlformats.org/officeDocument/2006/math">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 so the triangle on it with the centre has area </a:t>
                </a:r>
                <a14:m>
                  <m:oMath xmlns:m="http://schemas.openxmlformats.org/officeDocument/2006/math">
                    <m:r>
                      <a:rPr lang="en-IN" sz="2400" i="1">
                        <a:solidFill>
                          <a:srgbClr val="111827"/>
                        </a:solidFill>
                        <a:latin typeface="Cambria Math" panose="02040503050406030204" pitchFamily="18" charset="0"/>
                      </a:rPr>
                      <m:t>𝑑</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 maximal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oMath>
                </a14:m>
                <a:r>
                  <a:rPr sz="2400" b="0">
                    <a:solidFill>
                      <a:srgbClr val="111827"/>
                    </a:solidFill>
                    <a:latin typeface="Arial"/>
                  </a:rPr>
                  <a:t>) when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maximise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𝑚</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it is often quicker to maximise its square or use AM-GM with weights; here </a:t>
                </a:r>
                <a14:m>
                  <m:oMath xmlns:m="http://schemas.openxmlformats.org/officeDocument/2006/math">
                    <m:sSup>
                      <m:e>
                        <m:r>
                          <a:rPr lang="en-IN" sz="2400" i="1">
                            <a:solidFill>
                              <a:srgbClr val="111827"/>
                            </a:solidFill>
                            <a:latin typeface="Cambria Math" panose="02040503050406030204" pitchFamily="18" charset="0"/>
                          </a:rPr>
                          <m:t>𝑔</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peaks at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greatest vertical distance between two curves on an interval is found by maximising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oMath>
                </a14:m>
                <a:r>
                  <a:rPr sz="2400" b="0">
                    <a:solidFill>
                      <a:srgbClr val="111827"/>
                    </a:solidFill>
                    <a:latin typeface="Arial"/>
                  </a:rPr>
                  <a:t>, i.e. where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(check the end points as well).</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1</m:t>
                        </m:r>
                      </m:sup>
                      <m:e>
                        <m:r>
                          <a:rPr lang="en-IN" sz="2400" i="1">
                            <a:solidFill>
                              <a:srgbClr val="111827"/>
                            </a:solidFill>
                            <a:latin typeface="Cambria Math" panose="02040503050406030204" pitchFamily="18" charset="0"/>
                          </a:rPr>
                          <m:t>𝑥</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1</m:t>
                        </m:r>
                      </m:sup>
                      <m:e>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e>
                    </m:nary>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(check numerically: </a:t>
                </a:r>
                <a14:m>
                  <m:oMath xmlns:m="http://schemas.openxmlformats.org/officeDocument/2006/math">
                    <m:r>
                      <a:rPr lang="en-IN" sz="2400" i="1">
                        <a:solidFill>
                          <a:srgbClr val="111827"/>
                        </a:solidFill>
                        <a:latin typeface="Cambria Math" panose="02040503050406030204" pitchFamily="18" charset="0"/>
                      </a:rPr>
                      <m:t>0.3333</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chord at distance </a:t>
                </a:r>
                <a:r>
                  <a:rPr lang="en-IN" sz="2400">
                    <a:solidFill>
                      <a:srgbClr val="111827"/>
                    </a:solidFill>
                    <a:latin typeface="Cambria Math" panose="02040503050406030204" pitchFamily="18" charset="0"/>
                  </a:rPr>
                  <a:t>$d$</a:t>
                </a:r>
                <a:r>
                  <a:rPr sz="2400" b="0">
                    <a:solidFill>
                      <a:srgbClr val="111827"/>
                    </a:solidFill>
                    <a:latin typeface="Arial"/>
                  </a:rPr>
                  <a:t> from the centre of a circle of radius </a:t>
                </a:r>
                <a:r>
                  <a:rPr lang="en-IN" sz="2400">
                    <a:solidFill>
                      <a:srgbClr val="111827"/>
                    </a:solidFill>
                    <a:latin typeface="Cambria Math" panose="02040503050406030204" pitchFamily="18" charset="0"/>
                  </a:rPr>
                  <a:t>$r$</a:t>
                </a:r>
                <a:r>
                  <a:rPr sz="2400" b="0">
                    <a:solidFill>
                      <a:srgbClr val="111827"/>
                    </a:solidFill>
                    <a:latin typeface="Arial"/>
                  </a:rPr>
                  <a:t> has length </a:t>
                </a:r>
                <a:r>
                  <a:rPr lang="en-IN" sz="2400">
                    <a:solidFill>
                      <a:srgbClr val="111827"/>
                    </a:solidFill>
                    <a:latin typeface="Cambria Math" panose="02040503050406030204" pitchFamily="18" charset="0"/>
                  </a:rPr>
                  <a:t>$2\sqrt{r^2-d^2}$</a:t>
                </a:r>
                <a:r>
                  <a:rPr sz="2400" b="0">
                    <a:solidFill>
                      <a:srgbClr val="111827"/>
                    </a:solidFill>
                    <a:latin typeface="Arial"/>
                  </a:rPr>
                  <a:t>, so the triangle on it with the centre has area </a:t>
                </a:r>
                <a:r>
                  <a:rPr lang="en-IN" sz="2400">
                    <a:solidFill>
                      <a:srgbClr val="111827"/>
                    </a:solidFill>
                    <a:latin typeface="Cambria Math" panose="02040503050406030204" pitchFamily="18" charset="0"/>
                  </a:rPr>
                  <a:t>$d\sqrt{r^2-d^2}$</a:t>
                </a:r>
                <a:r>
                  <a:rPr sz="2400" b="0">
                    <a:solidFill>
                      <a:srgbClr val="111827"/>
                    </a:solidFill>
                    <a:latin typeface="Arial"/>
                  </a:rPr>
                  <a:t>, maximal (</a:t>
                </a:r>
                <a:r>
                  <a:rPr lang="en-IN" sz="2400">
                    <a:solidFill>
                      <a:srgbClr val="111827"/>
                    </a:solidFill>
                    <a:latin typeface="Cambria Math" panose="02040503050406030204" pitchFamily="18" charset="0"/>
                  </a:rPr>
                  <a:t>$=\frac{r^2}2$</a:t>
                </a:r>
                <a:r>
                  <a:rPr sz="2400" b="0">
                    <a:solidFill>
                      <a:srgbClr val="111827"/>
                    </a:solidFill>
                    <a:latin typeface="Arial"/>
                  </a:rPr>
                  <a:t>) when </a:t>
                </a:r>
                <a:r>
                  <a:rPr lang="en-IN" sz="2400">
                    <a:solidFill>
                      <a:srgbClr val="111827"/>
                    </a:solidFill>
                    <a:latin typeface="Cambria Math" panose="02040503050406030204" pitchFamily="18" charset="0"/>
                  </a:rPr>
                  <a:t>$d=\frac r{\sqrt2}$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maximise </a:t>
                </a:r>
                <a:r>
                  <a:rPr lang="en-IN" sz="2400">
                    <a:solidFill>
                      <a:srgbClr val="111827"/>
                    </a:solidFill>
                    <a:latin typeface="Cambria Math" panose="02040503050406030204" pitchFamily="18" charset="0"/>
                  </a:rPr>
                  <a:t>$x^m(1-x^2)^{n}$</a:t>
                </a:r>
                <a:r>
                  <a:rPr sz="2400" b="0">
                    <a:solidFill>
                      <a:srgbClr val="111827"/>
                    </a:solidFill>
                    <a:latin typeface="Arial"/>
                  </a:rPr>
                  <a:t> it is often quicker to maximise its square or use AM-GM with weights; here </a:t>
                </a:r>
                <a:r>
                  <a:rPr lang="en-IN" sz="2400">
                    <a:solidFill>
                      <a:srgbClr val="111827"/>
                    </a:solidFill>
                    <a:latin typeface="Cambria Math" panose="02040503050406030204" pitchFamily="18" charset="0"/>
                  </a:rPr>
                  <a:t>$g^2=x^4(1-x^2)$</a:t>
                </a:r>
                <a:r>
                  <a:rPr sz="2400" b="0">
                    <a:solidFill>
                      <a:srgbClr val="111827"/>
                    </a:solidFill>
                    <a:latin typeface="Arial"/>
                  </a:rPr>
                  <a:t> peaks at </a:t>
                </a:r>
                <a:r>
                  <a:rPr lang="en-IN" sz="2400">
                    <a:solidFill>
                      <a:srgbClr val="111827"/>
                    </a:solidFill>
                    <a:latin typeface="Cambria Math" panose="02040503050406030204" pitchFamily="18" charset="0"/>
                  </a:rPr>
                  <a:t>$x^2=\frac23$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greatest vertical distance between two curves on an interval is found by maximising </a:t>
                </a:r>
                <a:r>
                  <a:rPr lang="en-IN" sz="2400">
                    <a:solidFill>
                      <a:srgbClr val="111827"/>
                    </a:solidFill>
                    <a:latin typeface="Cambria Math" panose="02040503050406030204" pitchFamily="18" charset="0"/>
                  </a:rPr>
                  <a:t>$f-g$</a:t>
                </a:r>
                <a:r>
                  <a:rPr sz="2400" b="0">
                    <a:solidFill>
                      <a:srgbClr val="111827"/>
                    </a:solidFill>
                    <a:latin typeface="Arial"/>
                  </a:rPr>
                  <a:t>, i.e. where </a:t>
                </a:r>
                <a:r>
                  <a:rPr lang="en-IN" sz="2400">
                    <a:solidFill>
                      <a:srgbClr val="111827"/>
                    </a:solidFill>
                    <a:latin typeface="Cambria Math" panose="02040503050406030204" pitchFamily="18" charset="0"/>
                  </a:rPr>
                  <a:t>$f'=g'$</a:t>
                </a:r>
                <a:r>
                  <a:rPr sz="2400" b="0">
                    <a:solidFill>
                      <a:srgbClr val="111827"/>
                    </a:solidFill>
                    <a:latin typeface="Arial"/>
                  </a:rPr>
                  <a:t> (check the end points as well).</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$\int_0^1x(1-x^2)^{1/2}dx=\frac12\int_0^1u^{1/2}du=\frac13$</a:t>
                </a:r>
                <a:r>
                  <a:rPr sz="2400" b="0">
                    <a:solidFill>
                      <a:srgbClr val="111827"/>
                    </a:solidFill>
                    <a:latin typeface="Arial"/>
                  </a:rPr>
                  <a:t> with </a:t>
                </a:r>
                <a:r>
                  <a:rPr lang="en-IN" sz="2400">
                    <a:solidFill>
                      <a:srgbClr val="111827"/>
                    </a:solidFill>
                    <a:latin typeface="Cambria Math" panose="02040503050406030204" pitchFamily="18" charset="0"/>
                  </a:rPr>
                  <a:t>$u=1-x^2$</a:t>
                </a:r>
                <a:r>
                  <a:rPr sz="2400" b="0">
                    <a:solidFill>
                      <a:srgbClr val="111827"/>
                    </a:solidFill>
                    <a:latin typeface="Arial"/>
                  </a:rPr>
                  <a:t> (check numerically: </a:t>
                </a:r>
                <a:r>
                  <a:rPr lang="en-IN" sz="2400">
                    <a:solidFill>
                      <a:srgbClr val="111827"/>
                    </a:solidFill>
                    <a:latin typeface="Cambria Math" panose="02040503050406030204" pitchFamily="18" charset="0"/>
                  </a:rPr>
                  <a:t>$0.3333$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53949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000">
                    <a:solidFill>
                      <a:srgbClr val="111827"/>
                    </a:solidFill>
                  </a:defRPr>
                </a:lvl1pPr>
              </a:lstStyle>
              <a:p>
                <a:pPr algn="l">
                  <a:spcAft>
                    <a:spcPts val="500"/>
                  </a:spcAft>
                  <a:defRPr sz="2000">
                    <a:solidFill>
                      <a:srgbClr val="111827"/>
                    </a:solidFill>
                  </a:defRPr>
                </a:pPr>
                <a:r>
                  <a:rPr sz="2000" b="0">
                    <a:solidFill>
                      <a:srgbClr val="111827"/>
                    </a:solidFill>
                    <a:latin typeface="Arial"/>
                  </a:rPr>
                  <a:t>Let </a:t>
                </a:r>
                <a14:m>
                  <m:oMath xmlns:m="http://schemas.openxmlformats.org/officeDocument/2006/math">
                    <m:r>
                      <a:rPr lang="en-IN" sz="2000" i="1">
                        <a:solidFill>
                          <a:srgbClr val="111827"/>
                        </a:solidFill>
                        <a:latin typeface="Cambria Math" panose="02040503050406030204" pitchFamily="18" charset="0"/>
                      </a:rPr>
                      <m:t>𝑓</m:t>
                    </m:r>
                  </m:oMath>
                </a14:m>
                <a:r>
                  <a:rPr sz="2000" b="0">
                    <a:solidFill>
                      <a:srgbClr val="111827"/>
                    </a:solidFill>
                    <a:latin typeface="Arial"/>
                  </a:rPr>
                  <a:t> be a polynomial of degree </a:t>
                </a:r>
                <a14:m>
                  <m:oMath xmlns:m="http://schemas.openxmlformats.org/officeDocument/2006/math">
                    <m:r>
                      <a:rPr lang="en-IN" sz="2000" i="1">
                        <a:solidFill>
                          <a:srgbClr val="111827"/>
                        </a:solidFill>
                        <a:latin typeface="Cambria Math" panose="02040503050406030204" pitchFamily="18" charset="0"/>
                      </a:rPr>
                      <m:t>4</m:t>
                    </m:r>
                  </m:oMath>
                </a14:m>
                <a:r>
                  <a:rPr sz="2000" b="0">
                    <a:solidFill>
                      <a:srgbClr val="111827"/>
                    </a:solidFill>
                    <a:latin typeface="Arial"/>
                  </a:rPr>
                  <a:t> having real coefficients satisfying </a:t>
                </a:r>
                <a14:m>
                  <m:oMath xmlns:m="http://schemas.openxmlformats.org/officeDocument/2006/math">
                    <m:sSup>
                      <m:e>
                        <m:r>
                          <a:rPr lang="en-IN" sz="2000" i="1">
                            <a:solidFill>
                              <a:srgbClr val="111827"/>
                            </a:solidFill>
                            <a:latin typeface="Cambria Math" panose="02040503050406030204" pitchFamily="18" charset="0"/>
                          </a:rPr>
                          <m:t>𝑓</m:t>
                        </m:r>
                      </m:e>
                      <m:sup>
                        <m:r>
                          <m:rPr>
                            <m:sty m:val="p"/>
                          </m:rPr>
                          <a:rPr lang="en-IN" sz="2000">
                            <a:solidFill>
                              <a:srgbClr val="111827"/>
                            </a:solidFill>
                            <a:latin typeface="Cambria Math" panose="02040503050406030204" pitchFamily="18" charset="0"/>
                          </a:rPr>
                          <m:t>′</m:t>
                        </m:r>
                      </m:sup>
                    </m:sSup>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0</m:t>
                    </m:r>
                    <m:r>
                      <m:rPr>
                        <m:sty m:val="p"/>
                      </m:rPr>
                      <a:rPr lang="en-IN" sz="2000">
                        <a:solidFill>
                          <a:srgbClr val="111827"/>
                        </a:solidFill>
                        <a:latin typeface="Cambria Math" panose="02040503050406030204" pitchFamily="18" charset="0"/>
                      </a:rPr>
                      <m:t>)</m:t>
                    </m:r>
                    <m:r>
                      <m:rPr>
                        <m:sty m:val="p"/>
                      </m:rPr>
                      <a:rPr lang="en-IN" sz="2000">
                        <a:solidFill>
                          <a:srgbClr val="111827"/>
                        </a:solidFill>
                        <a:latin typeface="Cambria Math" panose="02040503050406030204" pitchFamily="18" charset="0"/>
                      </a:rPr>
                      <m:t>=</m:t>
                    </m:r>
                    <m:sSup>
                      <m:e>
                        <m:r>
                          <a:rPr lang="en-IN" sz="2000" i="1">
                            <a:solidFill>
                              <a:srgbClr val="111827"/>
                            </a:solidFill>
                            <a:latin typeface="Cambria Math" panose="02040503050406030204" pitchFamily="18" charset="0"/>
                          </a:rPr>
                          <m:t>𝑓</m:t>
                        </m:r>
                      </m:e>
                      <m:sup>
                        <m:r>
                          <m:rPr>
                            <m:sty m:val="p"/>
                          </m:rPr>
                          <a:rPr lang="en-IN" sz="2000">
                            <a:solidFill>
                              <a:srgbClr val="111827"/>
                            </a:solidFill>
                            <a:latin typeface="Cambria Math" panose="02040503050406030204" pitchFamily="18" charset="0"/>
                          </a:rPr>
                          <m:t>′</m:t>
                        </m:r>
                      </m:sup>
                    </m:sSup>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1</m:t>
                    </m:r>
                    <m:r>
                      <m:rPr>
                        <m:sty m:val="p"/>
                      </m:rPr>
                      <a:rPr lang="en-IN" sz="2000">
                        <a:solidFill>
                          <a:srgbClr val="111827"/>
                        </a:solidFill>
                        <a:latin typeface="Cambria Math" panose="02040503050406030204" pitchFamily="18" charset="0"/>
                      </a:rPr>
                      <m:t>)</m:t>
                    </m:r>
                    <m:r>
                      <m:rPr>
                        <m:sty m:val="p"/>
                      </m:rPr>
                      <a:rPr lang="en-IN" sz="2000">
                        <a:solidFill>
                          <a:srgbClr val="111827"/>
                        </a:solidFill>
                        <a:latin typeface="Cambria Math" panose="02040503050406030204" pitchFamily="18" charset="0"/>
                      </a:rPr>
                      <m:t>=</m:t>
                    </m:r>
                    <m:sSup>
                      <m:e>
                        <m:r>
                          <a:rPr lang="en-IN" sz="2000" i="1">
                            <a:solidFill>
                              <a:srgbClr val="111827"/>
                            </a:solidFill>
                            <a:latin typeface="Cambria Math" panose="02040503050406030204" pitchFamily="18" charset="0"/>
                          </a:rPr>
                          <m:t>𝑓</m:t>
                        </m:r>
                      </m:e>
                      <m:sup>
                        <m:r>
                          <m:rPr>
                            <m:sty m:val="p"/>
                          </m:rPr>
                          <a:rPr lang="en-IN" sz="2000">
                            <a:solidFill>
                              <a:srgbClr val="111827"/>
                            </a:solidFill>
                            <a:latin typeface="Cambria Math" panose="02040503050406030204" pitchFamily="18" charset="0"/>
                          </a:rPr>
                          <m:t>′</m:t>
                        </m:r>
                      </m:sup>
                    </m:sSup>
                    <m:r>
                      <m:rPr>
                        <m:sty m:val="p"/>
                      </m:rPr>
                      <a:rPr lang="en-IN" sz="2000">
                        <a:solidFill>
                          <a:srgbClr val="111827"/>
                        </a:solidFill>
                        <a:latin typeface="Cambria Math" panose="02040503050406030204" pitchFamily="18" charset="0"/>
                      </a:rPr>
                      <m:t>(</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1</m:t>
                    </m:r>
                    <m:r>
                      <m:rPr>
                        <m:sty m:val="p"/>
                      </m:rPr>
                      <a:rPr lang="en-IN" sz="2000">
                        <a:solidFill>
                          <a:srgbClr val="111827"/>
                        </a:solidFill>
                        <a:latin typeface="Cambria Math" panose="02040503050406030204" pitchFamily="18" charset="0"/>
                      </a:rPr>
                      <m:t>)</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0</m:t>
                    </m:r>
                  </m:oMath>
                </a14:m>
                <a:r>
                  <a:rPr sz="2000" b="0">
                    <a:solidFill>
                      <a:srgbClr val="111827"/>
                    </a:solidFill>
                    <a:latin typeface="Arial"/>
                  </a:rPr>
                  <a:t> and </a:t>
                </a:r>
                <a14:m>
                  <m:oMath xmlns:m="http://schemas.openxmlformats.org/officeDocument/2006/math">
                    <m:r>
                      <a:rPr lang="en-IN" sz="2000" i="1">
                        <a:solidFill>
                          <a:srgbClr val="111827"/>
                        </a:solidFill>
                        <a:latin typeface="Cambria Math" panose="02040503050406030204" pitchFamily="18" charset="0"/>
                      </a:rPr>
                      <m:t>𝑓</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0</m:t>
                    </m:r>
                    <m:r>
                      <m:rPr>
                        <m:sty m:val="p"/>
                      </m:rPr>
                      <a:rPr lang="en-IN" sz="2000">
                        <a:solidFill>
                          <a:srgbClr val="111827"/>
                        </a:solidFill>
                        <a:latin typeface="Cambria Math" panose="02040503050406030204" pitchFamily="18" charset="0"/>
                      </a:rPr>
                      <m:t>)</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4</m:t>
                    </m:r>
                  </m:oMath>
                </a14:m>
                <a:r>
                  <a:rPr sz="2000" b="0">
                    <a:solidFill>
                      <a:srgbClr val="111827"/>
                    </a:solidFill>
                    <a:latin typeface="Arial"/>
                  </a:rPr>
                  <a:t>, </a:t>
                </a:r>
                <a14:m>
                  <m:oMath xmlns:m="http://schemas.openxmlformats.org/officeDocument/2006/math">
                    <m:sSup>
                      <m:e>
                        <m:r>
                          <a:rPr lang="en-IN" sz="2000" i="1">
                            <a:solidFill>
                              <a:srgbClr val="111827"/>
                            </a:solidFill>
                            <a:latin typeface="Cambria Math" panose="02040503050406030204" pitchFamily="18" charset="0"/>
                          </a:rPr>
                          <m:t>𝑓</m:t>
                        </m:r>
                      </m:e>
                      <m:sup>
                        <m:r>
                          <m:rPr>
                            <m:sty m:val="p"/>
                          </m:rPr>
                          <a:rPr lang="en-IN" sz="2000">
                            <a:solidFill>
                              <a:srgbClr val="111827"/>
                            </a:solidFill>
                            <a:latin typeface="Cambria Math" panose="02040503050406030204" pitchFamily="18" charset="0"/>
                          </a:rPr>
                          <m:t>″</m:t>
                        </m:r>
                      </m:sup>
                    </m:sSup>
                    <m:d>
                      <m:dPr>
                        <m:begChr m:val="("/>
                        <m:sepChr m:val=""/>
                        <m:endChr m:val=")"/>
                        <m:grow/>
                        <m:ctrlPr>
                          <a:rPr lang="en-IN" sz="2000" i="1">
                            <a:solidFill>
                              <a:srgbClr val="111827"/>
                            </a:solidFill>
                            <a:latin typeface="Cambria Math" panose="02040503050406030204" pitchFamily="18" charset="0"/>
                          </a:rPr>
                        </m:ctrlPr>
                      </m:dPr>
                      <m:e>
                        <m:f>
                          <m:fPr>
                            <m:type m:val="bar"/>
                            <m:ctrlPr>
                              <a:rPr lang="en-IN" sz="2000" i="1">
                                <a:solidFill>
                                  <a:srgbClr val="111827"/>
                                </a:solidFill>
                                <a:latin typeface="Cambria Math" panose="02040503050406030204" pitchFamily="18" charset="0"/>
                              </a:rPr>
                            </m:ctrlPr>
                          </m:fPr>
                          <m:num>
                            <m:r>
                              <a:rPr lang="en-IN" sz="2000" i="1">
                                <a:solidFill>
                                  <a:srgbClr val="111827"/>
                                </a:solidFill>
                                <a:latin typeface="Cambria Math" panose="02040503050406030204" pitchFamily="18" charset="0"/>
                              </a:rPr>
                              <m:t>1</m:t>
                            </m:r>
                          </m:num>
                          <m:den>
                            <m:r>
                              <a:rPr lang="en-IN" sz="2000" i="1">
                                <a:solidFill>
                                  <a:srgbClr val="111827"/>
                                </a:solidFill>
                                <a:latin typeface="Cambria Math" panose="02040503050406030204" pitchFamily="18" charset="0"/>
                              </a:rPr>
                              <m:t>2</m:t>
                            </m:r>
                          </m:den>
                        </m:f>
                      </m:e>
                    </m:d>
                    <m:r>
                      <m:rPr>
                        <m:sty m:val="p"/>
                      </m:rPr>
                      <a:rPr lang="en-IN" sz="2000">
                        <a:solidFill>
                          <a:srgbClr val="111827"/>
                        </a:solidFill>
                        <a:latin typeface="Cambria Math" panose="02040503050406030204" pitchFamily="18" charset="0"/>
                      </a:rPr>
                      <m:t>=</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1</m:t>
                    </m:r>
                  </m:oMath>
                </a14:m>
                <a:r>
                  <a:rPr sz="2000" b="0">
                    <a:solidFill>
                      <a:srgbClr val="111827"/>
                    </a:solidFill>
                    <a:latin typeface="Arial"/>
                  </a:rPr>
                  <a:t>.</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Match the following column:</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Column-I:</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(a) </a:t>
                </a:r>
                <a14:m>
                  <m:oMath xmlns:m="http://schemas.openxmlformats.org/officeDocument/2006/math">
                    <m:r>
                      <a:rPr lang="en-IN" sz="2000" i="1">
                        <a:solidFill>
                          <a:srgbClr val="111827"/>
                        </a:solidFill>
                        <a:latin typeface="Cambria Math" panose="02040503050406030204" pitchFamily="18" charset="0"/>
                      </a:rPr>
                      <m:t>𝑓</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𝑥</m:t>
                    </m:r>
                    <m:r>
                      <m:rPr>
                        <m:sty m:val="p"/>
                      </m:rPr>
                      <a:rPr lang="en-IN" sz="2000">
                        <a:solidFill>
                          <a:srgbClr val="111827"/>
                        </a:solidFill>
                        <a:latin typeface="Cambria Math" panose="02040503050406030204" pitchFamily="18" charset="0"/>
                      </a:rPr>
                      <m:t>)</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0</m:t>
                    </m:r>
                  </m:oMath>
                </a14:m>
                <a:r>
                  <a:rPr sz="2000" b="0">
                    <a:solidFill>
                      <a:srgbClr val="111827"/>
                    </a:solidFill>
                    <a:latin typeface="Arial"/>
                  </a:rPr>
                  <a:t> has</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(b) </a:t>
                </a:r>
                <a14:m>
                  <m:oMath xmlns:m="http://schemas.openxmlformats.org/officeDocument/2006/math">
                    <m:r>
                      <a:rPr lang="en-IN" sz="2000" i="1">
                        <a:solidFill>
                          <a:srgbClr val="111827"/>
                        </a:solidFill>
                        <a:latin typeface="Cambria Math" panose="02040503050406030204" pitchFamily="18" charset="0"/>
                      </a:rPr>
                      <m:t>4</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𝑓</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𝑥</m:t>
                    </m:r>
                    <m:r>
                      <m:rPr>
                        <m:sty m:val="p"/>
                      </m:rPr>
                      <a:rPr lang="en-IN" sz="2000">
                        <a:solidFill>
                          <a:srgbClr val="111827"/>
                        </a:solidFill>
                        <a:latin typeface="Cambria Math" panose="02040503050406030204" pitchFamily="18" charset="0"/>
                      </a:rPr>
                      <m:t>)</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0</m:t>
                    </m:r>
                  </m:oMath>
                </a14:m>
                <a:r>
                  <a:rPr sz="2000" b="0">
                    <a:solidFill>
                      <a:srgbClr val="111827"/>
                    </a:solidFill>
                    <a:latin typeface="Arial"/>
                  </a:rPr>
                  <a:t> has</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(c) </a:t>
                </a:r>
                <a14:m>
                  <m:oMath xmlns:m="http://schemas.openxmlformats.org/officeDocument/2006/math">
                    <m:sSup>
                      <m:e>
                        <m:r>
                          <a:rPr lang="en-IN" sz="2000" i="1">
                            <a:solidFill>
                              <a:srgbClr val="111827"/>
                            </a:solidFill>
                            <a:latin typeface="Cambria Math" panose="02040503050406030204" pitchFamily="18" charset="0"/>
                          </a:rPr>
                          <m:t>𝑓</m:t>
                        </m:r>
                      </m:e>
                      <m:sup>
                        <m:r>
                          <m:rPr>
                            <m:sty m:val="p"/>
                          </m:rPr>
                          <a:rPr lang="en-IN" sz="2000">
                            <a:solidFill>
                              <a:srgbClr val="111827"/>
                            </a:solidFill>
                            <a:latin typeface="Cambria Math" panose="02040503050406030204" pitchFamily="18" charset="0"/>
                          </a:rPr>
                          <m:t>′</m:t>
                        </m:r>
                      </m:sup>
                    </m:sSup>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𝑥</m:t>
                    </m:r>
                    <m:r>
                      <m:rPr>
                        <m:sty m:val="p"/>
                      </m:rPr>
                      <a:rPr lang="en-IN" sz="2000">
                        <a:solidFill>
                          <a:srgbClr val="111827"/>
                        </a:solidFill>
                        <a:latin typeface="Cambria Math" panose="02040503050406030204" pitchFamily="18" charset="0"/>
                      </a:rPr>
                      <m:t>)</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𝑥</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1</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0</m:t>
                    </m:r>
                  </m:oMath>
                </a14:m>
                <a:r>
                  <a:rPr sz="2000" b="0">
                    <a:solidFill>
                      <a:srgbClr val="111827"/>
                    </a:solidFill>
                    <a:latin typeface="Arial"/>
                  </a:rPr>
                  <a:t> has</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(d) </a:t>
                </a:r>
                <a14:m>
                  <m:oMath xmlns:m="http://schemas.openxmlformats.org/officeDocument/2006/math">
                    <m:r>
                      <a:rPr lang="en-IN" sz="2000" i="1">
                        <a:solidFill>
                          <a:srgbClr val="111827"/>
                        </a:solidFill>
                        <a:latin typeface="Cambria Math" panose="02040503050406030204" pitchFamily="18" charset="0"/>
                      </a:rPr>
                      <m:t>𝑥</m:t>
                    </m:r>
                    <m:sSup>
                      <m:e>
                        <m:r>
                          <a:rPr lang="en-IN" sz="2000" i="1">
                            <a:solidFill>
                              <a:srgbClr val="111827"/>
                            </a:solidFill>
                            <a:latin typeface="Cambria Math" panose="02040503050406030204" pitchFamily="18" charset="0"/>
                          </a:rPr>
                          <m:t>𝑓</m:t>
                        </m:r>
                      </m:e>
                      <m:sup>
                        <m:r>
                          <m:rPr>
                            <m:sty m:val="p"/>
                          </m:rPr>
                          <a:rPr lang="en-IN" sz="2000">
                            <a:solidFill>
                              <a:srgbClr val="111827"/>
                            </a:solidFill>
                            <a:latin typeface="Cambria Math" panose="02040503050406030204" pitchFamily="18" charset="0"/>
                          </a:rPr>
                          <m:t>′</m:t>
                        </m:r>
                      </m:sup>
                    </m:sSup>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𝑥</m:t>
                    </m:r>
                    <m:r>
                      <m:rPr>
                        <m:sty m:val="p"/>
                      </m:rPr>
                      <a:rPr lang="en-IN" sz="2000">
                        <a:solidFill>
                          <a:srgbClr val="111827"/>
                        </a:solidFill>
                        <a:latin typeface="Cambria Math" panose="02040503050406030204" pitchFamily="18" charset="0"/>
                      </a:rPr>
                      <m:t>)</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4</m:t>
                    </m:r>
                    <m:r>
                      <a:rPr lang="en-IN" sz="2000" i="1">
                        <a:solidFill>
                          <a:srgbClr val="111827"/>
                        </a:solidFill>
                        <a:latin typeface="Cambria Math" panose="02040503050406030204" pitchFamily="18" charset="0"/>
                      </a:rPr>
                      <m:t>𝑓</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𝑥</m:t>
                    </m:r>
                    <m:r>
                      <m:rPr>
                        <m:sty m:val="p"/>
                      </m:rPr>
                      <a:rPr lang="en-IN" sz="2000">
                        <a:solidFill>
                          <a:srgbClr val="111827"/>
                        </a:solidFill>
                        <a:latin typeface="Cambria Math" panose="02040503050406030204" pitchFamily="18" charset="0"/>
                      </a:rPr>
                      <m:t>)</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0</m:t>
                    </m:r>
                  </m:oMath>
                </a14:m>
                <a:r>
                  <a:rPr sz="2000" b="0">
                    <a:solidFill>
                      <a:srgbClr val="111827"/>
                    </a:solidFill>
                    <a:latin typeface="Arial"/>
                  </a:rPr>
                  <a:t> has</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Column-II:</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(p) root at </a:t>
                </a:r>
                <a14:m>
                  <m:oMath xmlns:m="http://schemas.openxmlformats.org/officeDocument/2006/math">
                    <m:r>
                      <a:rPr lang="en-IN" sz="2000" i="1">
                        <a:solidFill>
                          <a:srgbClr val="111827"/>
                        </a:solidFill>
                        <a:latin typeface="Cambria Math" panose="02040503050406030204" pitchFamily="18" charset="0"/>
                      </a:rPr>
                      <m:t>𝑥</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2</m:t>
                    </m:r>
                  </m:oMath>
                </a14:m>
                <a:endParaRPr sz="2000">
                  <a:solidFill>
                    <a:srgbClr val="111827"/>
                  </a:solidFill>
                </a:endParaRPr>
              </a:p>
              <a:p>
                <a:pPr algn="l">
                  <a:spcAft>
                    <a:spcPts val="500"/>
                  </a:spcAft>
                  <a:defRPr sz="2000">
                    <a:solidFill>
                      <a:srgbClr val="111827"/>
                    </a:solidFill>
                  </a:defRPr>
                </a:pPr>
                <a:r>
                  <a:rPr sz="2000" b="0">
                    <a:solidFill>
                      <a:srgbClr val="111827"/>
                    </a:solidFill>
                    <a:latin typeface="Arial"/>
                  </a:rPr>
                  <a:t>(q) root at </a:t>
                </a:r>
                <a14:m>
                  <m:oMath xmlns:m="http://schemas.openxmlformats.org/officeDocument/2006/math">
                    <m:r>
                      <a:rPr lang="en-IN" sz="2000" i="1">
                        <a:solidFill>
                          <a:srgbClr val="111827"/>
                        </a:solidFill>
                        <a:latin typeface="Cambria Math" panose="02040503050406030204" pitchFamily="18" charset="0"/>
                      </a:rPr>
                      <m:t>𝑥</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1</m:t>
                    </m:r>
                  </m:oMath>
                </a14:m>
                <a:endParaRPr sz="2000">
                  <a:solidFill>
                    <a:srgbClr val="111827"/>
                  </a:solidFill>
                </a:endParaRPr>
              </a:p>
              <a:p>
                <a:pPr algn="l">
                  <a:spcAft>
                    <a:spcPts val="500"/>
                  </a:spcAft>
                  <a:defRPr sz="2000">
                    <a:solidFill>
                      <a:srgbClr val="111827"/>
                    </a:solidFill>
                  </a:defRPr>
                </a:pPr>
                <a:r>
                  <a:rPr sz="2000" b="0">
                    <a:solidFill>
                      <a:srgbClr val="111827"/>
                    </a:solidFill>
                    <a:latin typeface="Arial"/>
                  </a:rPr>
                  <a:t>(r) </a:t>
                </a:r>
                <a14:m>
                  <m:oMath xmlns:m="http://schemas.openxmlformats.org/officeDocument/2006/math">
                    <m:r>
                      <a:rPr lang="en-IN" sz="2000" i="1">
                        <a:solidFill>
                          <a:srgbClr val="111827"/>
                        </a:solidFill>
                        <a:latin typeface="Cambria Math" panose="02040503050406030204" pitchFamily="18" charset="0"/>
                      </a:rPr>
                      <m:t>2</m:t>
                    </m:r>
                  </m:oMath>
                </a14:m>
                <a:r>
                  <a:rPr sz="2000" b="0">
                    <a:solidFill>
                      <a:srgbClr val="111827"/>
                    </a:solidFill>
                    <a:latin typeface="Arial"/>
                  </a:rPr>
                  <a:t> equal real roots</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(s) no real roots</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Choose the CORRECT option:</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(A) a-s; b-r; c-q,r; d-p</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(B) a-p; b-q; c-p; d-s</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(C) a-p,r,s; b-q,s; c-p; d-r</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(D) a-q; b-p; c-s; d-r</a:t>
                </a:r>
                <a:endParaRPr sz="2000">
                  <a:solidFill>
                    <a:srgbClr val="111827"/>
                  </a:solidFill>
                </a:endParaRPr>
              </a:p>
            </p:txBody>
          </p:sp>
        </mc:Choice>
        <mc:Fallback>
          <p:sp>
            <p:nvSpPr>
              <p:cNvPr id="4" name="Rounded Rectangle 3"/>
              <p:cNvSpPr/>
              <p:nvPr/>
            </p:nvSpPr>
            <p:spPr>
              <a:xfrm>
                <a:off x="731520" y="1280160"/>
                <a:ext cx="10725912" cy="53949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000">
                    <a:solidFill>
                      <a:srgbClr val="111827"/>
                    </a:solidFill>
                  </a:defRPr>
                </a:lvl1pPr>
              </a:lstStyle>
              <a:p>
                <a:pPr algn="l">
                  <a:spcAft>
                    <a:spcPts val="500"/>
                  </a:spcAft>
                  <a:defRPr sz="2000">
                    <a:solidFill>
                      <a:srgbClr val="111827"/>
                    </a:solidFill>
                  </a:defRPr>
                </a:pPr>
                <a:r>
                  <a:rPr sz="2000" b="0">
                    <a:solidFill>
                      <a:srgbClr val="111827"/>
                    </a:solidFill>
                    <a:latin typeface="Arial"/>
                  </a:rPr>
                  <a:t>Let </a:t>
                </a:r>
                <a:r>
                  <a:rPr lang="en-IN" sz="2000">
                    <a:solidFill>
                      <a:srgbClr val="111827"/>
                    </a:solidFill>
                    <a:latin typeface="Cambria Math" panose="02040503050406030204" pitchFamily="18" charset="0"/>
                  </a:rPr>
                  <a:t>$f$</a:t>
                </a:r>
                <a:r>
                  <a:rPr sz="2000" b="0">
                    <a:solidFill>
                      <a:srgbClr val="111827"/>
                    </a:solidFill>
                    <a:latin typeface="Arial"/>
                  </a:rPr>
                  <a:t> be a polynomial of degree </a:t>
                </a:r>
                <a:r>
                  <a:rPr lang="en-IN" sz="2000">
                    <a:solidFill>
                      <a:srgbClr val="111827"/>
                    </a:solidFill>
                    <a:latin typeface="Cambria Math" panose="02040503050406030204" pitchFamily="18" charset="0"/>
                  </a:rPr>
                  <a:t>$4$</a:t>
                </a:r>
                <a:r>
                  <a:rPr sz="2000" b="0">
                    <a:solidFill>
                      <a:srgbClr val="111827"/>
                    </a:solidFill>
                    <a:latin typeface="Arial"/>
                  </a:rPr>
                  <a:t> having real coefficients satisfying </a:t>
                </a:r>
                <a:r>
                  <a:rPr lang="en-IN" sz="2000">
                    <a:solidFill>
                      <a:srgbClr val="111827"/>
                    </a:solidFill>
                    <a:latin typeface="Cambria Math" panose="02040503050406030204" pitchFamily="18" charset="0"/>
                  </a:rPr>
                  <a:t>$f'(0)=f'(1)=f'(-1)=0$</a:t>
                </a:r>
                <a:r>
                  <a:rPr sz="2000" b="0">
                    <a:solidFill>
                      <a:srgbClr val="111827"/>
                    </a:solidFill>
                    <a:latin typeface="Arial"/>
                  </a:rPr>
                  <a:t> and </a:t>
                </a:r>
                <a:r>
                  <a:rPr lang="en-IN" sz="2000">
                    <a:solidFill>
                      <a:srgbClr val="111827"/>
                    </a:solidFill>
                    <a:latin typeface="Cambria Math" panose="02040503050406030204" pitchFamily="18" charset="0"/>
                  </a:rPr>
                  <a:t>$f(0)=4$</a:t>
                </a:r>
                <a:r>
                  <a:rPr sz="2000" b="0">
                    <a:solidFill>
                      <a:srgbClr val="111827"/>
                    </a:solidFill>
                    <a:latin typeface="Arial"/>
                  </a:rPr>
                  <a:t>, </a:t>
                </a:r>
                <a:r>
                  <a:rPr lang="en-IN" sz="2000">
                    <a:solidFill>
                      <a:srgbClr val="111827"/>
                    </a:solidFill>
                    <a:latin typeface="Cambria Math" panose="02040503050406030204" pitchFamily="18" charset="0"/>
                  </a:rPr>
                  <a:t>$f''\left(\frac12\right)=-1$</a:t>
                </a:r>
                <a:r>
                  <a:rPr sz="2000" b="0">
                    <a:solidFill>
                      <a:srgbClr val="111827"/>
                    </a:solidFill>
                    <a:latin typeface="Arial"/>
                  </a:rPr>
                  <a:t>.</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Match the following column:</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Column-I:</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(a) </a:t>
                </a:r>
                <a:r>
                  <a:rPr lang="en-IN" sz="2000">
                    <a:solidFill>
                      <a:srgbClr val="111827"/>
                    </a:solidFill>
                    <a:latin typeface="Cambria Math" panose="02040503050406030204" pitchFamily="18" charset="0"/>
                  </a:rPr>
                  <a:t>$f(x)=0$</a:t>
                </a:r>
                <a:r>
                  <a:rPr sz="2000" b="0">
                    <a:solidFill>
                      <a:srgbClr val="111827"/>
                    </a:solidFill>
                    <a:latin typeface="Arial"/>
                  </a:rPr>
                  <a:t> has</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(b) </a:t>
                </a:r>
                <a:r>
                  <a:rPr lang="en-IN" sz="2000">
                    <a:solidFill>
                      <a:srgbClr val="111827"/>
                    </a:solidFill>
                    <a:latin typeface="Cambria Math" panose="02040503050406030204" pitchFamily="18" charset="0"/>
                  </a:rPr>
                  <a:t>$4-f(x)=0$</a:t>
                </a:r>
                <a:r>
                  <a:rPr sz="2000" b="0">
                    <a:solidFill>
                      <a:srgbClr val="111827"/>
                    </a:solidFill>
                    <a:latin typeface="Arial"/>
                  </a:rPr>
                  <a:t> has</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(c) </a:t>
                </a:r>
                <a:r>
                  <a:rPr lang="en-IN" sz="2000">
                    <a:solidFill>
                      <a:srgbClr val="111827"/>
                    </a:solidFill>
                    <a:latin typeface="Cambria Math" panose="02040503050406030204" pitchFamily="18" charset="0"/>
                  </a:rPr>
                  <a:t>$f'(x)+x-1=0$</a:t>
                </a:r>
                <a:r>
                  <a:rPr sz="2000" b="0">
                    <a:solidFill>
                      <a:srgbClr val="111827"/>
                    </a:solidFill>
                    <a:latin typeface="Arial"/>
                  </a:rPr>
                  <a:t> has</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(d) </a:t>
                </a:r>
                <a:r>
                  <a:rPr lang="en-IN" sz="2000">
                    <a:solidFill>
                      <a:srgbClr val="111827"/>
                    </a:solidFill>
                    <a:latin typeface="Cambria Math" panose="02040503050406030204" pitchFamily="18" charset="0"/>
                  </a:rPr>
                  <a:t>$xf'(x)-4f(x)=0$</a:t>
                </a:r>
                <a:r>
                  <a:rPr sz="2000" b="0">
                    <a:solidFill>
                      <a:srgbClr val="111827"/>
                    </a:solidFill>
                    <a:latin typeface="Arial"/>
                  </a:rPr>
                  <a:t> has</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Column-II:</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(p) root at </a:t>
                </a:r>
                <a:r>
                  <a:rPr lang="en-IN" sz="2000">
                    <a:solidFill>
                      <a:srgbClr val="111827"/>
                    </a:solidFill>
                    <a:latin typeface="Cambria Math" panose="02040503050406030204" pitchFamily="18" charset="0"/>
                  </a:rPr>
                  <a:t>$x=2$</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(q) root at </a:t>
                </a:r>
                <a:r>
                  <a:rPr lang="en-IN" sz="2000">
                    <a:solidFill>
                      <a:srgbClr val="111827"/>
                    </a:solidFill>
                    <a:latin typeface="Cambria Math" panose="02040503050406030204" pitchFamily="18" charset="0"/>
                  </a:rPr>
                  <a:t>$x=1$</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(r) </a:t>
                </a:r>
                <a:r>
                  <a:rPr lang="en-IN" sz="2000">
                    <a:solidFill>
                      <a:srgbClr val="111827"/>
                    </a:solidFill>
                    <a:latin typeface="Cambria Math" panose="02040503050406030204" pitchFamily="18" charset="0"/>
                  </a:rPr>
                  <a:t>$2$</a:t>
                </a:r>
                <a:r>
                  <a:rPr sz="2000" b="0">
                    <a:solidFill>
                      <a:srgbClr val="111827"/>
                    </a:solidFill>
                    <a:latin typeface="Arial"/>
                  </a:rPr>
                  <a:t> equal real roots</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(s) no real roots</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Choose the CORRECT option:</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(A) a-s; b-r; c-q,r; d-p</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(B) a-p; b-q; c-p; d-s</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(C) a-p,r,s; b-q,s; c-p; d-r</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(D) a-q; b-p; c-s; d-r</a:t>
                </a:r>
                <a:endParaRPr sz="2000">
                  <a:solidFill>
                    <a:srgbClr val="111827"/>
                  </a:solidFill>
                </a:endParaRPr>
              </a:p>
            </p:txBody>
          </p:sp>
        </mc:Fallback>
      </mc:AlternateContent>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Matching List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Polynomial with given critical points and roots, Roots of polynomial equations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65760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is a cubic with roots </a:t>
                </a:r>
                <a14:m>
                  <m:oMath xmlns:m="http://schemas.openxmlformats.org/officeDocument/2006/math">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which determines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4</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oMath>
                </a14:m>
                <a:r>
                  <a:rPr sz="2400" b="0">
                    <a:solidFill>
                      <a:srgbClr val="78350F"/>
                    </a:solidFill>
                    <a:latin typeface="Arial"/>
                  </a:rPr>
                  <a:t> completely; then each equation is a short factorisation.</a:t>
                </a:r>
                <a:endParaRPr sz="2400">
                  <a:solidFill>
                    <a:srgbClr val="78350F"/>
                  </a:solidFill>
                </a:endParaRPr>
              </a:p>
            </p:txBody>
          </p:sp>
        </mc:Choice>
        <mc:Fallback>
          <p:sp>
            <p:nvSpPr>
              <p:cNvPr id="5" name="Rounded Rectangle 4"/>
              <p:cNvSpPr/>
              <p:nvPr/>
            </p:nvSpPr>
            <p:spPr>
              <a:xfrm>
                <a:off x="731520" y="365760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$f'$</a:t>
                </a:r>
                <a:r>
                  <a:rPr sz="2400" b="0">
                    <a:solidFill>
                      <a:srgbClr val="78350F"/>
                    </a:solidFill>
                    <a:latin typeface="Arial"/>
                  </a:rPr>
                  <a:t> is a cubic with roots </a:t>
                </a:r>
                <a:r>
                  <a:rPr lang="en-IN" sz="2400">
                    <a:solidFill>
                      <a:srgbClr val="78350F"/>
                    </a:solidFill>
                    <a:latin typeface="Cambria Math" panose="02040503050406030204" pitchFamily="18" charset="0"/>
                  </a:rPr>
                  <a:t>$0,\pm1$</a:t>
                </a:r>
                <a:r>
                  <a:rPr sz="2400" b="0">
                    <a:solidFill>
                      <a:srgbClr val="78350F"/>
                    </a:solidFill>
                    <a:latin typeface="Arial"/>
                  </a:rPr>
                  <a:t>, which determines </a:t>
                </a:r>
                <a:r>
                  <a:rPr lang="en-IN" sz="2400">
                    <a:solidFill>
                      <a:srgbClr val="78350F"/>
                    </a:solidFill>
                    <a:latin typeface="Cambria Math" panose="02040503050406030204" pitchFamily="18" charset="0"/>
                  </a:rPr>
                  <a:t>$f=x^4-2x^2+4$</a:t>
                </a:r>
                <a:r>
                  <a:rPr sz="2400" b="0">
                    <a:solidFill>
                      <a:srgbClr val="78350F"/>
                    </a:solidFill>
                    <a:latin typeface="Arial"/>
                  </a:rPr>
                  <a:t> completely; then each equation is a short factorisation.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a cubic with roots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a:t>
                </a:r>
                <a:r>
                  <a:rPr sz="2400" b="0">
                    <a:solidFill>
                      <a:srgbClr val="111827"/>
                    </a:solidFill>
                    <a:latin typeface="Arial"/>
                  </a:rPr>
                  <a:t> is a cubic with roots </a:t>
                </a:r>
                <a:r>
                  <a:rPr lang="en-IN" sz="2400">
                    <a:solidFill>
                      <a:srgbClr val="111827"/>
                    </a:solidFill>
                    <a:latin typeface="Cambria Math" panose="02040503050406030204" pitchFamily="18" charset="0"/>
                  </a:rPr>
                  <a:t>$0,1,-1$</a:t>
                </a:r>
                <a:r>
                  <a:rPr sz="2400" b="0">
                    <a:solidFill>
                      <a:srgbClr val="111827"/>
                    </a:solidFill>
                    <a:latin typeface="Arial"/>
                  </a:rPr>
                  <a:t>: </a:t>
                </a:r>
                <a:r>
                  <a:rPr lang="en-IN" sz="2400">
                    <a:solidFill>
                      <a:srgbClr val="111827"/>
                    </a:solidFill>
                    <a:latin typeface="Cambria Math" panose="02040503050406030204" pitchFamily="18" charset="0"/>
                  </a:rPr>
                  <a:t>$f'(x)=\lambda x(x-1)(x+1)=\lambda(x^3-x)$</a:t>
                </a:r>
                <a:r>
                  <a:rPr sz="2400" b="0">
                    <a:solidFill>
                      <a:srgbClr val="111827"/>
                    </a:solidFill>
                    <a:latin typeface="Arial"/>
                  </a:rPr>
                  <a:t>, so </a:t>
                </a:r>
                <a:r>
                  <a:rPr lang="en-IN" sz="2400">
                    <a:solidFill>
                      <a:srgbClr val="111827"/>
                    </a:solidFill>
                    <a:latin typeface="Cambria Math" panose="02040503050406030204" pitchFamily="18" charset="0"/>
                  </a:rPr>
                  <a:t>$f(x)=\lambda\left(\frac{x^4}4-\frac{x^2}2\right)+C$</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λ</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Using the conditions, we get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has no real roots: (a)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roots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so it has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equal real roots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twice): (b)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root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the double root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(c)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(q), (r).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14:m>
                  <m:oMath xmlns:m="http://schemas.openxmlformats.org/officeDocument/2006/math">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root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(d)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(p).</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$f(0)=4$</a:t>
                </a:r>
                <a:r>
                  <a:rPr sz="2400" b="0">
                    <a:solidFill>
                      <a:srgbClr val="111827"/>
                    </a:solidFill>
                    <a:latin typeface="Arial"/>
                  </a:rPr>
                  <a:t> gives </a:t>
                </a:r>
                <a:r>
                  <a:rPr lang="en-IN" sz="2400">
                    <a:solidFill>
                      <a:srgbClr val="111827"/>
                    </a:solidFill>
                    <a:latin typeface="Cambria Math" panose="02040503050406030204" pitchFamily="18" charset="0"/>
                  </a:rPr>
                  <a:t>$C=4$</a:t>
                </a:r>
                <a:r>
                  <a:rPr sz="2400" b="0">
                    <a:solidFill>
                      <a:srgbClr val="111827"/>
                    </a:solidFill>
                    <a:latin typeface="Arial"/>
                  </a:rPr>
                  <a:t>; </a:t>
                </a:r>
                <a:r>
                  <a:rPr lang="en-IN" sz="2400">
                    <a:solidFill>
                      <a:srgbClr val="111827"/>
                    </a:solidFill>
                    <a:latin typeface="Cambria Math" panose="02040503050406030204" pitchFamily="18" charset="0"/>
                  </a:rPr>
                  <a:t>$f''(x)=\lambda(3x^2-1)$</a:t>
                </a:r>
                <a:r>
                  <a:rPr sz="2400" b="0">
                    <a:solidFill>
                      <a:srgbClr val="111827"/>
                    </a:solidFill>
                    <a:latin typeface="Arial"/>
                  </a:rPr>
                  <a:t> and </a:t>
                </a:r>
                <a:r>
                  <a:rPr lang="en-IN" sz="2400">
                    <a:solidFill>
                      <a:srgbClr val="111827"/>
                    </a:solidFill>
                    <a:latin typeface="Cambria Math" panose="02040503050406030204" pitchFamily="18" charset="0"/>
                  </a:rPr>
                  <a:t>$f''\left(\frac12\right)=-\frac\lambda4=-1$</a:t>
                </a:r>
                <a:r>
                  <a:rPr sz="2400" b="0">
                    <a:solidFill>
                      <a:srgbClr val="111827"/>
                    </a:solidFill>
                    <a:latin typeface="Arial"/>
                  </a:rPr>
                  <a:t> gives </a:t>
                </a:r>
                <a:r>
                  <a:rPr lang="en-IN" sz="2400">
                    <a:solidFill>
                      <a:srgbClr val="111827"/>
                    </a:solidFill>
                    <a:latin typeface="Cambria Math" panose="02040503050406030204" pitchFamily="18" charset="0"/>
                  </a:rPr>
                  <a:t>$\lambda=4$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Using the conditions, we get </a:t>
                </a:r>
                <a:r>
                  <a:rPr lang="en-IN" sz="2400">
                    <a:solidFill>
                      <a:srgbClr val="111827"/>
                    </a:solidFill>
                    <a:latin typeface="Cambria Math" panose="02040503050406030204" pitchFamily="18" charset="0"/>
                  </a:rPr>
                  <a:t>$f(x)=x^4-2x^2+4$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$f(x)=(x^2-1)^2+3&gt;0$</a:t>
                </a:r>
                <a:r>
                  <a:rPr sz="2400" b="0">
                    <a:solidFill>
                      <a:srgbClr val="111827"/>
                    </a:solidFill>
                    <a:latin typeface="Arial"/>
                  </a:rPr>
                  <a:t>, so </a:t>
                </a:r>
                <a:r>
                  <a:rPr lang="en-IN" sz="2400">
                    <a:solidFill>
                      <a:srgbClr val="111827"/>
                    </a:solidFill>
                    <a:latin typeface="Cambria Math" panose="02040503050406030204" pitchFamily="18" charset="0"/>
                  </a:rPr>
                  <a:t>$f(x)=0$</a:t>
                </a:r>
                <a:r>
                  <a:rPr sz="2400" b="0">
                    <a:solidFill>
                      <a:srgbClr val="111827"/>
                    </a:solidFill>
                    <a:latin typeface="Arial"/>
                  </a:rPr>
                  <a:t> has no real roots: (a) </a:t>
                </a:r>
                <a:r>
                  <a:rPr lang="en-IN" sz="2400">
                    <a:solidFill>
                      <a:srgbClr val="111827"/>
                    </a:solidFill>
                    <a:latin typeface="Cambria Math" panose="02040503050406030204" pitchFamily="18" charset="0"/>
                  </a:rPr>
                  <a:t>$\to$</a:t>
                </a:r>
                <a:r>
                  <a:rPr sz="2400" b="0">
                    <a:solidFill>
                      <a:srgbClr val="111827"/>
                    </a:solidFill>
                    <a:latin typeface="Arial"/>
                  </a:rPr>
                  <a:t> (s).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$4-f(x)=2x^2-x^4=x^2(2-x^2)$</a:t>
                </a:r>
                <a:r>
                  <a:rPr sz="2400" b="0">
                    <a:solidFill>
                      <a:srgbClr val="111827"/>
                    </a:solidFill>
                    <a:latin typeface="Arial"/>
                  </a:rPr>
                  <a:t>: roots </a:t>
                </a:r>
                <a:r>
                  <a:rPr lang="en-IN" sz="2400">
                    <a:solidFill>
                      <a:srgbClr val="111827"/>
                    </a:solidFill>
                    <a:latin typeface="Cambria Math" panose="02040503050406030204" pitchFamily="18" charset="0"/>
                  </a:rPr>
                  <a:t>$0,0,\pm\sqrt2$</a:t>
                </a:r>
                <a:r>
                  <a:rPr sz="2400" b="0">
                    <a:solidFill>
                      <a:srgbClr val="111827"/>
                    </a:solidFill>
                    <a:latin typeface="Arial"/>
                  </a:rPr>
                  <a:t>, so it has </a:t>
                </a:r>
                <a:r>
                  <a:rPr lang="en-IN" sz="2400">
                    <a:solidFill>
                      <a:srgbClr val="111827"/>
                    </a:solidFill>
                    <a:latin typeface="Cambria Math" panose="02040503050406030204" pitchFamily="18" charset="0"/>
                  </a:rPr>
                  <a:t>$2$</a:t>
                </a:r>
                <a:r>
                  <a:rPr sz="2400" b="0">
                    <a:solidFill>
                      <a:srgbClr val="111827"/>
                    </a:solidFill>
                    <a:latin typeface="Arial"/>
                  </a:rPr>
                  <a:t> equal real roots (</a:t>
                </a:r>
                <a:r>
                  <a:rPr lang="en-IN" sz="2400">
                    <a:solidFill>
                      <a:srgbClr val="111827"/>
                    </a:solidFill>
                    <a:latin typeface="Cambria Math" panose="02040503050406030204" pitchFamily="18" charset="0"/>
                  </a:rPr>
                  <a:t>$x=0$</a:t>
                </a:r>
                <a:r>
                  <a:rPr sz="2400" b="0">
                    <a:solidFill>
                      <a:srgbClr val="111827"/>
                    </a:solidFill>
                    <a:latin typeface="Arial"/>
                  </a:rPr>
                  <a:t> twice): (b) </a:t>
                </a:r>
                <a:r>
                  <a:rPr lang="en-IN" sz="2400">
                    <a:solidFill>
                      <a:srgbClr val="111827"/>
                    </a:solidFill>
                    <a:latin typeface="Cambria Math" panose="02040503050406030204" pitchFamily="18" charset="0"/>
                  </a:rPr>
                  <a:t>$\to$</a:t>
                </a:r>
                <a:r>
                  <a:rPr sz="2400" b="0">
                    <a:solidFill>
                      <a:srgbClr val="111827"/>
                    </a:solidFill>
                    <a:latin typeface="Arial"/>
                  </a:rPr>
                  <a:t> (r).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$f'(x)+x-1=4x^3-4x+x-1=4x^3-3x-1=(x-1)(2x+1)^2$</a:t>
                </a:r>
                <a:r>
                  <a:rPr sz="2400" b="0">
                    <a:solidFill>
                      <a:srgbClr val="111827"/>
                    </a:solidFill>
                    <a:latin typeface="Arial"/>
                  </a:rPr>
                  <a:t>: root </a:t>
                </a:r>
                <a:r>
                  <a:rPr lang="en-IN" sz="2400">
                    <a:solidFill>
                      <a:srgbClr val="111827"/>
                    </a:solidFill>
                    <a:latin typeface="Cambria Math" panose="02040503050406030204" pitchFamily="18" charset="0"/>
                  </a:rPr>
                  <a:t>$x=1$</a:t>
                </a:r>
                <a:r>
                  <a:rPr sz="2400" b="0">
                    <a:solidFill>
                      <a:srgbClr val="111827"/>
                    </a:solidFill>
                    <a:latin typeface="Arial"/>
                  </a:rPr>
                  <a:t> and the double root </a:t>
                </a:r>
                <a:r>
                  <a:rPr lang="en-IN" sz="2400">
                    <a:solidFill>
                      <a:srgbClr val="111827"/>
                    </a:solidFill>
                    <a:latin typeface="Cambria Math" panose="02040503050406030204" pitchFamily="18" charset="0"/>
                  </a:rPr>
                  <a:t>$x=-\frac12$</a:t>
                </a:r>
                <a:r>
                  <a:rPr sz="2400" b="0">
                    <a:solidFill>
                      <a:srgbClr val="111827"/>
                    </a:solidFill>
                    <a:latin typeface="Arial"/>
                  </a:rPr>
                  <a:t>: (c) </a:t>
                </a:r>
                <a:r>
                  <a:rPr lang="en-IN" sz="2400">
                    <a:solidFill>
                      <a:srgbClr val="111827"/>
                    </a:solidFill>
                    <a:latin typeface="Cambria Math" panose="02040503050406030204" pitchFamily="18" charset="0"/>
                  </a:rPr>
                  <a:t>$\to$</a:t>
                </a:r>
                <a:r>
                  <a:rPr sz="2400" b="0">
                    <a:solidFill>
                      <a:srgbClr val="111827"/>
                    </a:solidFill>
                    <a:latin typeface="Arial"/>
                  </a:rPr>
                  <a:t> (q), (r).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$xf'(x)-4f(x)=4x^4-4x^2-4x^4+8x^2-16=4x^2-16=4(x-2)(x+2)$</a:t>
                </a:r>
                <a:r>
                  <a:rPr sz="2400" b="0">
                    <a:solidFill>
                      <a:srgbClr val="111827"/>
                    </a:solidFill>
                    <a:latin typeface="Arial"/>
                  </a:rPr>
                  <a:t>: root at </a:t>
                </a:r>
                <a:r>
                  <a:rPr lang="en-IN" sz="2400">
                    <a:solidFill>
                      <a:srgbClr val="111827"/>
                    </a:solidFill>
                    <a:latin typeface="Cambria Math" panose="02040503050406030204" pitchFamily="18" charset="0"/>
                  </a:rPr>
                  <a:t>$x=2$</a:t>
                </a:r>
                <a:r>
                  <a:rPr sz="2400" b="0">
                    <a:solidFill>
                      <a:srgbClr val="111827"/>
                    </a:solidFill>
                    <a:latin typeface="Arial"/>
                  </a:rPr>
                  <a:t>: (d) </a:t>
                </a:r>
                <a:r>
                  <a:rPr lang="en-IN" sz="2400">
                    <a:solidFill>
                      <a:srgbClr val="111827"/>
                    </a:solidFill>
                    <a:latin typeface="Cambria Math" panose="02040503050406030204" pitchFamily="18" charset="0"/>
                  </a:rPr>
                  <a:t>$\to$</a:t>
                </a:r>
                <a:r>
                  <a:rPr sz="2400" b="0">
                    <a:solidFill>
                      <a:srgbClr val="111827"/>
                    </a:solidFill>
                    <a:latin typeface="Arial"/>
                  </a:rPr>
                  <a:t> (p).</a:t>
                </a:r>
                <a:endParaRPr sz="2400">
                  <a:solidFill>
                    <a:srgbClr val="111827"/>
                  </a:solidFill>
                </a:endParaRPr>
              </a:p>
            </p:txBody>
          </p:sp>
        </mc:Fallback>
      </mc:AlternateContent>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a-s; b-r; c-q,r; d-p, which is option (A).</a:t>
            </a:r>
            <a:endParaRPr sz="2400">
              <a:solidFill>
                <a:srgbClr val="111827"/>
              </a:solidFill>
            </a:endParaRPr>
          </a:p>
        </p:txBody>
      </p:sp>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a-s; b-r; c-q,r; d-p</a:t>
            </a:r>
            <a:endParaRPr sz="2800">
              <a:solidFill>
                <a:srgbClr val="15803D"/>
              </a:solidFill>
            </a:endParaRP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polynomial of degree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whose derivative has the three given roots has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integrate and fix the constant and </a:t>
                </a:r>
                <a14:m>
                  <m:oMath xmlns:m="http://schemas.openxmlformats.org/officeDocument/2006/math">
                    <m:r>
                      <a:rPr lang="en-IN" sz="2400" i="1">
                        <a:solidFill>
                          <a:srgbClr val="111827"/>
                        </a:solidFill>
                        <a:latin typeface="Cambria Math" panose="02040503050406030204" pitchFamily="18" charset="0"/>
                      </a:rPr>
                      <m:t>λ</m:t>
                    </m:r>
                  </m:oMath>
                </a14:m>
                <a:r>
                  <a:rPr sz="2400" b="0">
                    <a:solidFill>
                      <a:srgbClr val="111827"/>
                    </a:solidFill>
                    <a:latin typeface="Arial"/>
                  </a:rPr>
                  <a:t> from the remaining conditions.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its roots satisfy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(discriminant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so there are no real roots.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𝑘</m:t>
                        </m:r>
                      </m:sub>
                    </m:sSub>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𝑘</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𝑘</m:t>
                        </m:r>
                      </m:sub>
                    </m:sSub>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𝑘</m:t>
                        </m:r>
                      </m:sup>
                    </m:sSup>
                  </m:oMath>
                </a14:m>
                <a:r>
                  <a:rPr sz="2400" b="0">
                    <a:solidFill>
                      <a:srgbClr val="111827"/>
                    </a:solidFill>
                    <a:latin typeface="Arial"/>
                  </a:rPr>
                  <a:t>: the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term cancels, so here </a:t>
                </a:r>
                <a14:m>
                  <m:oMath xmlns:m="http://schemas.openxmlformats.org/officeDocument/2006/math">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oMath>
                </a14:m>
                <a:r>
                  <a:rPr sz="2400" b="0">
                    <a:solidFill>
                      <a:srgbClr val="111827"/>
                    </a:solidFill>
                    <a:latin typeface="Arial"/>
                  </a:rPr>
                  <a:t> cancels and only </a:t>
                </a:r>
                <a14:m>
                  <m:oMath xmlns:m="http://schemas.openxmlformats.org/officeDocument/2006/math">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remains.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Factor cubics with rational-root tests: </a:t>
                </a:r>
                <a14:m>
                  <m:oMath xmlns:m="http://schemas.openxmlformats.org/officeDocument/2006/math">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has root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then the quotient </a:t>
                </a:r>
                <a14:m>
                  <m:oMath xmlns:m="http://schemas.openxmlformats.org/officeDocument/2006/math">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gives a repeated root.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polynomial of degree </a:t>
                </a:r>
                <a:r>
                  <a:rPr lang="en-IN" sz="2400">
                    <a:solidFill>
                      <a:srgbClr val="111827"/>
                    </a:solidFill>
                    <a:latin typeface="Cambria Math" panose="02040503050406030204" pitchFamily="18" charset="0"/>
                  </a:rPr>
                  <a:t>$4$</a:t>
                </a:r>
                <a:r>
                  <a:rPr sz="2400" b="0">
                    <a:solidFill>
                      <a:srgbClr val="111827"/>
                    </a:solidFill>
                    <a:latin typeface="Arial"/>
                  </a:rPr>
                  <a:t> whose derivative has the three given roots has </a:t>
                </a:r>
                <a:r>
                  <a:rPr lang="en-IN" sz="2400">
                    <a:solidFill>
                      <a:srgbClr val="111827"/>
                    </a:solidFill>
                    <a:latin typeface="Cambria Math" panose="02040503050406030204" pitchFamily="18" charset="0"/>
                  </a:rPr>
                  <a:t>$f'=\lambda\prod(x-x_i)$</a:t>
                </a:r>
                <a:r>
                  <a:rPr sz="2400" b="0">
                    <a:solidFill>
                      <a:srgbClr val="111827"/>
                    </a:solidFill>
                    <a:latin typeface="Arial"/>
                  </a:rPr>
                  <a:t>; integrate and fix the constant and </a:t>
                </a:r>
                <a:r>
                  <a:rPr lang="en-IN" sz="2400">
                    <a:solidFill>
                      <a:srgbClr val="111827"/>
                    </a:solidFill>
                    <a:latin typeface="Cambria Math" panose="02040503050406030204" pitchFamily="18" charset="0"/>
                  </a:rPr>
                  <a:t>$\lambda$</a:t>
                </a:r>
                <a:r>
                  <a:rPr sz="2400" b="0">
                    <a:solidFill>
                      <a:srgbClr val="111827"/>
                    </a:solidFill>
                    <a:latin typeface="Arial"/>
                  </a:rPr>
                  <a:t> from the remaining conditions.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$x^4-2x^2+4=(x^2-1)^2+3\ge3$</a:t>
                </a:r>
                <a:r>
                  <a:rPr sz="2400" b="0">
                    <a:solidFill>
                      <a:srgbClr val="111827"/>
                    </a:solidFill>
                    <a:latin typeface="Arial"/>
                  </a:rPr>
                  <a:t> and its roots satisfy </a:t>
                </a:r>
                <a:r>
                  <a:rPr lang="en-IN" sz="2400">
                    <a:solidFill>
                      <a:srgbClr val="111827"/>
                    </a:solidFill>
                    <a:latin typeface="Cambria Math" panose="02040503050406030204" pitchFamily="18" charset="0"/>
                  </a:rPr>
                  <a:t>$t^2-2t+4=0$</a:t>
                </a:r>
                <a:r>
                  <a:rPr sz="2400" b="0">
                    <a:solidFill>
                      <a:srgbClr val="111827"/>
                    </a:solidFill>
                    <a:latin typeface="Arial"/>
                  </a:rPr>
                  <a:t> for </a:t>
                </a:r>
                <a:r>
                  <a:rPr lang="en-IN" sz="2400">
                    <a:solidFill>
                      <a:srgbClr val="111827"/>
                    </a:solidFill>
                    <a:latin typeface="Cambria Math" panose="02040503050406030204" pitchFamily="18" charset="0"/>
                  </a:rPr>
                  <a:t>$t=x^2$</a:t>
                </a:r>
                <a:r>
                  <a:rPr sz="2400" b="0">
                    <a:solidFill>
                      <a:srgbClr val="111827"/>
                    </a:solidFill>
                    <a:latin typeface="Arial"/>
                  </a:rPr>
                  <a:t> (discriminant </a:t>
                </a:r>
                <a:r>
                  <a:rPr lang="en-IN" sz="2400">
                    <a:solidFill>
                      <a:srgbClr val="111827"/>
                    </a:solidFill>
                    <a:latin typeface="Cambria Math" panose="02040503050406030204" pitchFamily="18" charset="0"/>
                  </a:rPr>
                  <a:t>$-12&lt;0$</a:t>
                </a:r>
                <a:r>
                  <a:rPr sz="2400" b="0">
                    <a:solidFill>
                      <a:srgbClr val="111827"/>
                    </a:solidFill>
                    <a:latin typeface="Arial"/>
                  </a:rPr>
                  <a:t>), so there are no real roots.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$f=\sum a_kx^k$</a:t>
                </a:r>
                <a:r>
                  <a:rPr sz="2400" b="0">
                    <a:solidFill>
                      <a:srgbClr val="111827"/>
                    </a:solidFill>
                    <a:latin typeface="Arial"/>
                  </a:rPr>
                  <a:t>, </a:t>
                </a:r>
                <a:r>
                  <a:rPr lang="en-IN" sz="2400">
                    <a:solidFill>
                      <a:srgbClr val="111827"/>
                    </a:solidFill>
                    <a:latin typeface="Cambria Math" panose="02040503050406030204" pitchFamily="18" charset="0"/>
                  </a:rPr>
                  <a:t>$xf'-nf=\sum(k-n)a_kx^k$</a:t>
                </a:r>
                <a:r>
                  <a:rPr sz="2400" b="0">
                    <a:solidFill>
                      <a:srgbClr val="111827"/>
                    </a:solidFill>
                    <a:latin typeface="Arial"/>
                  </a:rPr>
                  <a:t>: the </a:t>
                </a:r>
                <a:r>
                  <a:rPr lang="en-IN" sz="2400">
                    <a:solidFill>
                      <a:srgbClr val="111827"/>
                    </a:solidFill>
                    <a:latin typeface="Cambria Math" panose="02040503050406030204" pitchFamily="18" charset="0"/>
                  </a:rPr>
                  <a:t>$x^n$</a:t>
                </a:r>
                <a:r>
                  <a:rPr sz="2400" b="0">
                    <a:solidFill>
                      <a:srgbClr val="111827"/>
                    </a:solidFill>
                    <a:latin typeface="Arial"/>
                  </a:rPr>
                  <a:t> term cancels, so here </a:t>
                </a:r>
                <a:r>
                  <a:rPr lang="en-IN" sz="2400">
                    <a:solidFill>
                      <a:srgbClr val="111827"/>
                    </a:solidFill>
                    <a:latin typeface="Cambria Math" panose="02040503050406030204" pitchFamily="18" charset="0"/>
                  </a:rPr>
                  <a:t>$4x^4$</a:t>
                </a:r>
                <a:r>
                  <a:rPr sz="2400" b="0">
                    <a:solidFill>
                      <a:srgbClr val="111827"/>
                    </a:solidFill>
                    <a:latin typeface="Arial"/>
                  </a:rPr>
                  <a:t> cancels and only </a:t>
                </a:r>
                <a:r>
                  <a:rPr lang="en-IN" sz="2400">
                    <a:solidFill>
                      <a:srgbClr val="111827"/>
                    </a:solidFill>
                    <a:latin typeface="Cambria Math" panose="02040503050406030204" pitchFamily="18" charset="0"/>
                  </a:rPr>
                  <a:t>$4x^2-16$</a:t>
                </a:r>
                <a:r>
                  <a:rPr sz="2400" b="0">
                    <a:solidFill>
                      <a:srgbClr val="111827"/>
                    </a:solidFill>
                    <a:latin typeface="Arial"/>
                  </a:rPr>
                  <a:t> remains.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Factor cubics with rational-root tests: </a:t>
                </a:r>
                <a:r>
                  <a:rPr lang="en-IN" sz="2400">
                    <a:solidFill>
                      <a:srgbClr val="111827"/>
                    </a:solidFill>
                    <a:latin typeface="Cambria Math" panose="02040503050406030204" pitchFamily="18" charset="0"/>
                  </a:rPr>
                  <a:t>$4x^3-3x-1$</a:t>
                </a:r>
                <a:r>
                  <a:rPr sz="2400" b="0">
                    <a:solidFill>
                      <a:srgbClr val="111827"/>
                    </a:solidFill>
                    <a:latin typeface="Arial"/>
                  </a:rPr>
                  <a:t> has root </a:t>
                </a:r>
                <a:r>
                  <a:rPr lang="en-IN" sz="2400">
                    <a:solidFill>
                      <a:srgbClr val="111827"/>
                    </a:solidFill>
                    <a:latin typeface="Cambria Math" panose="02040503050406030204" pitchFamily="18" charset="0"/>
                  </a:rPr>
                  <a:t>$1$</a:t>
                </a:r>
                <a:r>
                  <a:rPr sz="2400" b="0">
                    <a:solidFill>
                      <a:srgbClr val="111827"/>
                    </a:solidFill>
                    <a:latin typeface="Arial"/>
                  </a:rPr>
                  <a:t>, then the quotient </a:t>
                </a:r>
                <a:r>
                  <a:rPr lang="en-IN" sz="2400">
                    <a:solidFill>
                      <a:srgbClr val="111827"/>
                    </a:solidFill>
                    <a:latin typeface="Cambria Math" panose="02040503050406030204" pitchFamily="18" charset="0"/>
                  </a:rPr>
                  <a:t>$4x^2+4x+1=(2x+1)^2$</a:t>
                </a:r>
                <a:r>
                  <a:rPr sz="2400" b="0">
                    <a:solidFill>
                      <a:srgbClr val="111827"/>
                    </a:solidFill>
                    <a:latin typeface="Arial"/>
                  </a:rPr>
                  <a:t> gives a repeated root.</a:t>
                </a:r>
                <a:endParaRPr sz="2400">
                  <a:solidFill>
                    <a:srgbClr val="111827"/>
                  </a:solidFill>
                </a:endParaRPr>
              </a:p>
            </p:txBody>
          </p:sp>
        </mc:Fallback>
      </mc:AlternateContent>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(1/11)</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01</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0</a:t>
                      </a:r>
                    </a:p>
                  </a:txBody>
                  <a:tcPr anchor="ctr" marL="91440" marR="91440">
                    <a:solidFill>
                      <a:srgbClr val="93C47D"/>
                    </a:solidFill>
                  </a:tcPr>
                </a:tc>
                <a:tc>
                  <a:txBody>
                    <a:bodyPr/>
                    <a:lstStyle/>
                    <a:p>
                      <a:pPr algn="l"/>
                      <a:r>
                        <a:rPr sz="2400" b="0">
                          <a:solidFill>
                            <a:srgbClr val="111827"/>
                          </a:solidFill>
                          <a:latin typeface="Arial"/>
                        </a:rPr>
                        <a:t>Easier than JEE Main Level</a:t>
                      </a:r>
                    </a:p>
                  </a:txBody>
                  <a:tcPr anchor="ctr" marL="91440" marR="91440">
                    <a:solidFill>
                      <a:srgbClr val="93C47D"/>
                    </a:solidFill>
                  </a:tcPr>
                </a:tc>
              </a:tr>
              <a:tr h="868680">
                <a:tc>
                  <a:txBody>
                    <a:bodyPr/>
                    <a:lstStyle/>
                    <a:p>
                      <a:pPr algn="ctr"/>
                      <a:r>
                        <a:rPr sz="2400" b="1">
                          <a:solidFill>
                            <a:srgbClr val="111827"/>
                          </a:solidFill>
                          <a:latin typeface="Arial"/>
                        </a:rPr>
                        <a:t>02</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03</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04</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05</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bl>
          </a:graphicData>
        </a:graphic>
      </p:graphicFrame>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(2/11)</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06</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07</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08</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09</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10</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bl>
          </a:graphicData>
        </a:graphic>
      </p:graphicFrame>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(3/11)</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11</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12</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13</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14</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15</a:t>
                      </a:r>
                    </a:p>
                  </a:txBody>
                  <a:tcPr anchor="ctr" marL="91440" marR="91440">
                    <a:solidFill>
                      <a:srgbClr val="FFFFFF"/>
                    </a:solidFill>
                  </a:tcPr>
                </a:tc>
                <a:tc>
                  <a:txBody>
                    <a:bodyPr/>
                    <a:lstStyle/>
                    <a:p>
                      <a:pPr algn="l"/>
                      <a:r>
                        <a:rPr sz="2400" b="0">
                          <a:solidFill>
                            <a:srgbClr val="111827"/>
                          </a:solidFill>
                          <a:latin typeface="Arial"/>
                        </a:rPr>
                        <a:t>One or More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(4/11)</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16</a:t>
                      </a:r>
                    </a:p>
                  </a:txBody>
                  <a:tcPr anchor="ctr" marL="91440" marR="91440">
                    <a:solidFill>
                      <a:srgbClr val="FFFFFF"/>
                    </a:solidFill>
                  </a:tcPr>
                </a:tc>
                <a:tc>
                  <a:txBody>
                    <a:bodyPr/>
                    <a:lstStyle/>
                    <a:p>
                      <a:pPr algn="l"/>
                      <a:r>
                        <a:rPr sz="2400" b="0">
                          <a:solidFill>
                            <a:srgbClr val="111827"/>
                          </a:solidFill>
                          <a:latin typeface="Arial"/>
                        </a:rPr>
                        <a:t>One or More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17</a:t>
                      </a:r>
                    </a:p>
                  </a:txBody>
                  <a:tcPr anchor="ctr" marL="91440" marR="91440">
                    <a:solidFill>
                      <a:srgbClr val="FFFFFF"/>
                    </a:solidFill>
                  </a:tcPr>
                </a:tc>
                <a:tc>
                  <a:txBody>
                    <a:bodyPr/>
                    <a:lstStyle/>
                    <a:p>
                      <a:pPr algn="l"/>
                      <a:r>
                        <a:rPr sz="2400" b="0">
                          <a:solidFill>
                            <a:srgbClr val="111827"/>
                          </a:solidFill>
                          <a:latin typeface="Arial"/>
                        </a:rPr>
                        <a:t>One or More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18</a:t>
                      </a:r>
                    </a:p>
                  </a:txBody>
                  <a:tcPr anchor="ctr" marL="91440" marR="91440">
                    <a:solidFill>
                      <a:srgbClr val="FFFFFF"/>
                    </a:solidFill>
                  </a:tcPr>
                </a:tc>
                <a:tc>
                  <a:txBody>
                    <a:bodyPr/>
                    <a:lstStyle/>
                    <a:p>
                      <a:pPr algn="l"/>
                      <a:r>
                        <a:rPr sz="2400" b="0">
                          <a:solidFill>
                            <a:srgbClr val="111827"/>
                          </a:solidFill>
                          <a:latin typeface="Arial"/>
                        </a:rPr>
                        <a:t>One or More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19</a:t>
                      </a:r>
                    </a:p>
                  </a:txBody>
                  <a:tcPr anchor="ctr" marL="91440" marR="91440">
                    <a:solidFill>
                      <a:srgbClr val="FFFFFF"/>
                    </a:solidFill>
                  </a:tcPr>
                </a:tc>
                <a:tc>
                  <a:txBody>
                    <a:bodyPr/>
                    <a:lstStyle/>
                    <a:p>
                      <a:pPr algn="l"/>
                      <a:r>
                        <a:rPr sz="2400" b="0">
                          <a:solidFill>
                            <a:srgbClr val="111827"/>
                          </a:solidFill>
                          <a:latin typeface="Arial"/>
                        </a:rPr>
                        <a:t>One or More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20</a:t>
                      </a:r>
                    </a:p>
                  </a:txBody>
                  <a:tcPr anchor="ctr" marL="91440" marR="91440">
                    <a:solidFill>
                      <a:srgbClr val="FFFFFF"/>
                    </a:solidFill>
                  </a:tcPr>
                </a:tc>
                <a:tc>
                  <a:txBody>
                    <a:bodyPr/>
                    <a:lstStyle/>
                    <a:p>
                      <a:pPr algn="l"/>
                      <a:r>
                        <a:rPr sz="2400" b="0">
                          <a:solidFill>
                            <a:srgbClr val="111827"/>
                          </a:solidFill>
                          <a:latin typeface="Arial"/>
                        </a:rPr>
                        <a:t>One or More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(5/11)</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21</a:t>
                      </a:r>
                    </a:p>
                  </a:txBody>
                  <a:tcPr anchor="ctr" marL="91440" marR="91440">
                    <a:solidFill>
                      <a:srgbClr val="FFFFFF"/>
                    </a:solidFill>
                  </a:tcPr>
                </a:tc>
                <a:tc>
                  <a:txBody>
                    <a:bodyPr/>
                    <a:lstStyle/>
                    <a:p>
                      <a:pPr algn="l"/>
                      <a:r>
                        <a:rPr sz="2400" b="0">
                          <a:solidFill>
                            <a:srgbClr val="111827"/>
                          </a:solidFill>
                          <a:latin typeface="Arial"/>
                        </a:rPr>
                        <a:t>One or More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2.5</a:t>
                      </a:r>
                    </a:p>
                  </a:txBody>
                  <a:tcPr anchor="ctr" marL="91440" marR="91440">
                    <a:solidFill>
                      <a:srgbClr val="FFD966"/>
                    </a:solidFill>
                  </a:tcPr>
                </a:tc>
                <a:tc>
                  <a:txBody>
                    <a:bodyPr/>
                    <a:lstStyle/>
                    <a:p>
                      <a:pPr algn="l"/>
                      <a:r>
                        <a:rPr sz="2400" b="0">
                          <a:solidFill>
                            <a:srgbClr val="111827"/>
                          </a:solidFill>
                          <a:latin typeface="Arial"/>
                        </a:rPr>
                        <a:t>A little easier than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22</a:t>
                      </a:r>
                    </a:p>
                  </a:txBody>
                  <a:tcPr anchor="ctr" marL="91440" marR="91440">
                    <a:solidFill>
                      <a:srgbClr val="FFFFFF"/>
                    </a:solidFill>
                  </a:tcPr>
                </a:tc>
                <a:tc>
                  <a:txBody>
                    <a:bodyPr/>
                    <a:lstStyle/>
                    <a:p>
                      <a:pPr algn="l"/>
                      <a:r>
                        <a:rPr sz="2400" b="0">
                          <a:solidFill>
                            <a:srgbClr val="111827"/>
                          </a:solidFill>
                          <a:latin typeface="Arial"/>
                        </a:rPr>
                        <a:t>One or More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23</a:t>
                      </a:r>
                    </a:p>
                  </a:txBody>
                  <a:tcPr anchor="ctr" marL="91440" marR="91440">
                    <a:solidFill>
                      <a:srgbClr val="FFFFFF"/>
                    </a:solidFill>
                  </a:tcPr>
                </a:tc>
                <a:tc>
                  <a:txBody>
                    <a:bodyPr/>
                    <a:lstStyle/>
                    <a:p>
                      <a:pPr algn="l"/>
                      <a:r>
                        <a:rPr sz="2400" b="0">
                          <a:solidFill>
                            <a:srgbClr val="111827"/>
                          </a:solidFill>
                          <a:latin typeface="Arial"/>
                        </a:rPr>
                        <a:t>One or More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24</a:t>
                      </a:r>
                    </a:p>
                  </a:txBody>
                  <a:tcPr anchor="ctr" marL="91440" marR="91440">
                    <a:solidFill>
                      <a:srgbClr val="FFFFFF"/>
                    </a:solidFill>
                  </a:tcPr>
                </a:tc>
                <a:tc>
                  <a:txBody>
                    <a:bodyPr/>
                    <a:lstStyle/>
                    <a:p>
                      <a:pPr algn="l"/>
                      <a:r>
                        <a:rPr sz="2400" b="0">
                          <a:solidFill>
                            <a:srgbClr val="111827"/>
                          </a:solidFill>
                          <a:latin typeface="Arial"/>
                        </a:rPr>
                        <a:t>One or More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25</a:t>
                      </a:r>
                    </a:p>
                  </a:txBody>
                  <a:tcPr anchor="ctr" marL="91440" marR="91440">
                    <a:solidFill>
                      <a:srgbClr val="FFFFFF"/>
                    </a:solidFill>
                  </a:tcPr>
                </a:tc>
                <a:tc>
                  <a:txBody>
                    <a:bodyPr/>
                    <a:lstStyle/>
                    <a:p>
                      <a:pPr algn="l"/>
                      <a:r>
                        <a:rPr sz="2400" b="0">
                          <a:solidFill>
                            <a:srgbClr val="111827"/>
                          </a:solidFill>
                          <a:latin typeface="Arial"/>
                        </a:rPr>
                        <a:t>One or More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bl>
          </a:graphicData>
        </a:graphic>
      </p:graphicFrame>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(6/11)</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26</a:t>
                      </a:r>
                    </a:p>
                  </a:txBody>
                  <a:tcPr anchor="ctr" marL="91440" marR="91440">
                    <a:solidFill>
                      <a:srgbClr val="FFFFFF"/>
                    </a:solidFill>
                  </a:tcPr>
                </a:tc>
                <a:tc>
                  <a:txBody>
                    <a:bodyPr/>
                    <a:lstStyle/>
                    <a:p>
                      <a:pPr algn="l"/>
                      <a:r>
                        <a:rPr sz="2400" b="0">
                          <a:solidFill>
                            <a:srgbClr val="111827"/>
                          </a:solidFill>
                          <a:latin typeface="Arial"/>
                        </a:rPr>
                        <a:t>Paragraph Single Correct</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27</a:t>
                      </a:r>
                    </a:p>
                  </a:txBody>
                  <a:tcPr anchor="ctr" marL="91440" marR="91440">
                    <a:solidFill>
                      <a:srgbClr val="FFFFFF"/>
                    </a:solidFill>
                  </a:tcPr>
                </a:tc>
                <a:tc>
                  <a:txBody>
                    <a:bodyPr/>
                    <a:lstStyle/>
                    <a:p>
                      <a:pPr algn="l"/>
                      <a:r>
                        <a:rPr sz="2400" b="0">
                          <a:solidFill>
                            <a:srgbClr val="111827"/>
                          </a:solidFill>
                          <a:latin typeface="Arial"/>
                        </a:rPr>
                        <a:t>Paragraph Single Correct</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28</a:t>
                      </a:r>
                    </a:p>
                  </a:txBody>
                  <a:tcPr anchor="ctr" marL="91440" marR="91440">
                    <a:solidFill>
                      <a:srgbClr val="FFFFFF"/>
                    </a:solidFill>
                  </a:tcPr>
                </a:tc>
                <a:tc>
                  <a:txBody>
                    <a:bodyPr/>
                    <a:lstStyle/>
                    <a:p>
                      <a:pPr algn="l"/>
                      <a:r>
                        <a:rPr sz="2400" b="0">
                          <a:solidFill>
                            <a:srgbClr val="111827"/>
                          </a:solidFill>
                          <a:latin typeface="Arial"/>
                        </a:rPr>
                        <a:t>Paragraph Single Correct</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4</a:t>
                      </a:r>
                    </a:p>
                  </a:txBody>
                  <a:tcPr anchor="ctr" marL="91440" marR="91440">
                    <a:solidFill>
                      <a:srgbClr val="E88080"/>
                    </a:solidFill>
                  </a:tcPr>
                </a:tc>
                <a:tc>
                  <a:txBody>
                    <a:bodyPr/>
                    <a:lstStyle/>
                    <a:p>
                      <a:pPr algn="l"/>
                      <a:r>
                        <a:rPr sz="2400" b="0">
                          <a:solidFill>
                            <a:srgbClr val="111827"/>
                          </a:solidFill>
                          <a:latin typeface="Arial"/>
                        </a:rPr>
                        <a:t>A level above Average JEE Advanced Level</a:t>
                      </a:r>
                    </a:p>
                  </a:txBody>
                  <a:tcPr anchor="ctr" marL="91440" marR="91440">
                    <a:solidFill>
                      <a:srgbClr val="E88080"/>
                    </a:solidFill>
                  </a:tcPr>
                </a:tc>
              </a:tr>
              <a:tr h="868680">
                <a:tc>
                  <a:txBody>
                    <a:bodyPr/>
                    <a:lstStyle/>
                    <a:p>
                      <a:pPr algn="ctr"/>
                      <a:r>
                        <a:rPr sz="2400" b="1">
                          <a:solidFill>
                            <a:srgbClr val="111827"/>
                          </a:solidFill>
                          <a:latin typeface="Arial"/>
                        </a:rPr>
                        <a:t>29</a:t>
                      </a:r>
                    </a:p>
                  </a:txBody>
                  <a:tcPr anchor="ctr" marL="91440" marR="91440">
                    <a:solidFill>
                      <a:srgbClr val="FFFFFF"/>
                    </a:solidFill>
                  </a:tcPr>
                </a:tc>
                <a:tc>
                  <a:txBody>
                    <a:bodyPr/>
                    <a:lstStyle/>
                    <a:p>
                      <a:pPr algn="l"/>
                      <a:r>
                        <a:rPr sz="2400" b="0">
                          <a:solidFill>
                            <a:srgbClr val="111827"/>
                          </a:solidFill>
                          <a:latin typeface="Arial"/>
                        </a:rPr>
                        <a:t>Paragraph Single Correct</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30</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4</a:t>
                      </a:r>
                    </a:p>
                  </a:txBody>
                  <a:tcPr anchor="ctr" marL="91440" marR="91440">
                    <a:solidFill>
                      <a:srgbClr val="E88080"/>
                    </a:solidFill>
                  </a:tcPr>
                </a:tc>
                <a:tc>
                  <a:txBody>
                    <a:bodyPr/>
                    <a:lstStyle/>
                    <a:p>
                      <a:pPr algn="l"/>
                      <a:r>
                        <a:rPr sz="2400" b="0">
                          <a:solidFill>
                            <a:srgbClr val="111827"/>
                          </a:solidFill>
                          <a:latin typeface="Arial"/>
                        </a:rPr>
                        <a:t>A level above Average JEE Advanced Level</a:t>
                      </a:r>
                    </a:p>
                  </a:txBody>
                  <a:tcPr anchor="ctr" marL="91440" marR="91440">
                    <a:solidFill>
                      <a:srgbClr val="E88080"/>
                    </a:solidFill>
                  </a:tcPr>
                </a:tc>
              </a:tr>
            </a:tbl>
          </a:graphicData>
        </a:graphic>
      </p:graphicFrame>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(7/11)</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31</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32</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33</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34</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4</a:t>
                      </a:r>
                    </a:p>
                  </a:txBody>
                  <a:tcPr anchor="ctr" marL="91440" marR="91440">
                    <a:solidFill>
                      <a:srgbClr val="E88080"/>
                    </a:solidFill>
                  </a:tcPr>
                </a:tc>
                <a:tc>
                  <a:txBody>
                    <a:bodyPr/>
                    <a:lstStyle/>
                    <a:p>
                      <a:pPr algn="l"/>
                      <a:r>
                        <a:rPr sz="2400" b="0">
                          <a:solidFill>
                            <a:srgbClr val="111827"/>
                          </a:solidFill>
                          <a:latin typeface="Arial"/>
                        </a:rPr>
                        <a:t>A level above Average JEE Advanced Level</a:t>
                      </a:r>
                    </a:p>
                  </a:txBody>
                  <a:tcPr anchor="ctr" marL="91440" marR="91440">
                    <a:solidFill>
                      <a:srgbClr val="E88080"/>
                    </a:solidFill>
                  </a:tcPr>
                </a:tc>
              </a:tr>
              <a:tr h="868680">
                <a:tc>
                  <a:txBody>
                    <a:bodyPr/>
                    <a:lstStyle/>
                    <a:p>
                      <a:pPr algn="ctr"/>
                      <a:r>
                        <a:rPr sz="2400" b="1">
                          <a:solidFill>
                            <a:srgbClr val="111827"/>
                          </a:solidFill>
                          <a:latin typeface="Arial"/>
                        </a:rPr>
                        <a:t>35</a:t>
                      </a:r>
                    </a:p>
                  </a:txBody>
                  <a:tcPr anchor="ctr" marL="91440" marR="91440">
                    <a:solidFill>
                      <a:srgbClr val="FFFFFF"/>
                    </a:solidFill>
                  </a:tcPr>
                </a:tc>
                <a:tc>
                  <a:txBody>
                    <a:bodyPr/>
                    <a:lstStyle/>
                    <a:p>
                      <a:pPr algn="l"/>
                      <a:r>
                        <a:rPr sz="2400" b="0">
                          <a:solidFill>
                            <a:srgbClr val="111827"/>
                          </a:solidFill>
                          <a:latin typeface="Arial"/>
                        </a:rPr>
                        <a:t>Integer (0-9)</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(8/11)</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416052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36</a:t>
                      </a:r>
                    </a:p>
                  </a:txBody>
                  <a:tcPr anchor="ctr" marL="91440" marR="91440">
                    <a:solidFill>
                      <a:srgbClr val="FFFFFF"/>
                    </a:solidFill>
                  </a:tcPr>
                </a:tc>
                <a:tc>
                  <a:txBody>
                    <a:bodyPr/>
                    <a:lstStyle/>
                    <a:p>
                      <a:pPr algn="l"/>
                      <a:r>
                        <a:rPr sz="2400" b="0">
                          <a:solidFill>
                            <a:srgbClr val="111827"/>
                          </a:solidFill>
                          <a:latin typeface="Arial"/>
                        </a:rPr>
                        <a:t>Integer (0-9)</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37</a:t>
                      </a:r>
                    </a:p>
                  </a:txBody>
                  <a:tcPr anchor="ctr" marL="91440" marR="91440">
                    <a:solidFill>
                      <a:srgbClr val="FFFFFF"/>
                    </a:solidFill>
                  </a:tcPr>
                </a:tc>
                <a:tc>
                  <a:txBody>
                    <a:bodyPr/>
                    <a:lstStyle/>
                    <a:p>
                      <a:pPr algn="l"/>
                      <a:r>
                        <a:rPr sz="2400" b="0">
                          <a:solidFill>
                            <a:srgbClr val="111827"/>
                          </a:solidFill>
                          <a:latin typeface="Arial"/>
                        </a:rPr>
                        <a:t>Integer (0-9)</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38</a:t>
                      </a:r>
                    </a:p>
                  </a:txBody>
                  <a:tcPr anchor="ctr" marL="91440" marR="91440">
                    <a:solidFill>
                      <a:srgbClr val="FFFFFF"/>
                    </a:solidFill>
                  </a:tcPr>
                </a:tc>
                <a:tc>
                  <a:txBody>
                    <a:bodyPr/>
                    <a:lstStyle/>
                    <a:p>
                      <a:pPr algn="l"/>
                      <a:r>
                        <a:rPr sz="2400" b="0">
                          <a:solidFill>
                            <a:srgbClr val="111827"/>
                          </a:solidFill>
                          <a:latin typeface="Arial"/>
                        </a:rPr>
                        <a:t>Integer (0-9)</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39</a:t>
                      </a:r>
                    </a:p>
                  </a:txBody>
                  <a:tcPr anchor="ctr" marL="91440" marR="91440">
                    <a:solidFill>
                      <a:srgbClr val="FFFFFF"/>
                    </a:solidFill>
                  </a:tcPr>
                </a:tc>
                <a:tc>
                  <a:txBody>
                    <a:bodyPr/>
                    <a:lstStyle/>
                    <a:p>
                      <a:pPr algn="l"/>
                      <a:r>
                        <a:rPr sz="2400" b="0">
                          <a:solidFill>
                            <a:srgbClr val="111827"/>
                          </a:solidFill>
                          <a:latin typeface="Arial"/>
                        </a:rPr>
                        <a:t>Integer (0-9)</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bl>
          </a:graphicData>
        </a:graphic>
      </p:graphicFrame>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(9/11)</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416052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40</a:t>
                      </a:r>
                    </a:p>
                  </a:txBody>
                  <a:tcPr anchor="ctr" marL="91440" marR="91440">
                    <a:solidFill>
                      <a:srgbClr val="FFFFFF"/>
                    </a:solidFill>
                  </a:tcPr>
                </a:tc>
                <a:tc>
                  <a:txBody>
                    <a:bodyPr/>
                    <a:lstStyle/>
                    <a:p>
                      <a:pPr algn="l"/>
                      <a:r>
                        <a:rPr sz="2400" b="0">
                          <a:solidFill>
                            <a:srgbClr val="111827"/>
                          </a:solidFill>
                          <a:latin typeface="Arial"/>
                        </a:rPr>
                        <a:t>Integer (0-9)</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41</a:t>
                      </a:r>
                    </a:p>
                  </a:txBody>
                  <a:tcPr anchor="ctr" marL="91440" marR="91440">
                    <a:solidFill>
                      <a:srgbClr val="FFFFFF"/>
                    </a:solidFill>
                  </a:tcPr>
                </a:tc>
                <a:tc>
                  <a:txBody>
                    <a:bodyPr/>
                    <a:lstStyle/>
                    <a:p>
                      <a:pPr algn="l"/>
                      <a:r>
                        <a:rPr sz="2400" b="0">
                          <a:solidFill>
                            <a:srgbClr val="111827"/>
                          </a:solidFill>
                          <a:latin typeface="Arial"/>
                        </a:rPr>
                        <a:t>Integer (0-9)</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4</a:t>
                      </a:r>
                    </a:p>
                  </a:txBody>
                  <a:tcPr anchor="ctr" marL="91440" marR="91440">
                    <a:solidFill>
                      <a:srgbClr val="E88080"/>
                    </a:solidFill>
                  </a:tcPr>
                </a:tc>
                <a:tc>
                  <a:txBody>
                    <a:bodyPr/>
                    <a:lstStyle/>
                    <a:p>
                      <a:pPr algn="l"/>
                      <a:r>
                        <a:rPr sz="2400" b="0">
                          <a:solidFill>
                            <a:srgbClr val="111827"/>
                          </a:solidFill>
                          <a:latin typeface="Arial"/>
                        </a:rPr>
                        <a:t>A level above Average JEE Advanced Level</a:t>
                      </a:r>
                    </a:p>
                  </a:txBody>
                  <a:tcPr anchor="ctr" marL="91440" marR="91440">
                    <a:solidFill>
                      <a:srgbClr val="E88080"/>
                    </a:solidFill>
                  </a:tcPr>
                </a:tc>
              </a:tr>
              <a:tr h="868680">
                <a:tc>
                  <a:txBody>
                    <a:bodyPr/>
                    <a:lstStyle/>
                    <a:p>
                      <a:pPr algn="ctr"/>
                      <a:r>
                        <a:rPr sz="2400" b="1">
                          <a:solidFill>
                            <a:srgbClr val="111827"/>
                          </a:solidFill>
                          <a:latin typeface="Arial"/>
                        </a:rPr>
                        <a:t>42</a:t>
                      </a:r>
                    </a:p>
                  </a:txBody>
                  <a:tcPr anchor="ctr" marL="91440" marR="91440">
                    <a:solidFill>
                      <a:srgbClr val="FFFFFF"/>
                    </a:solidFill>
                  </a:tcPr>
                </a:tc>
                <a:tc>
                  <a:txBody>
                    <a:bodyPr/>
                    <a:lstStyle/>
                    <a:p>
                      <a:pPr algn="l"/>
                      <a:r>
                        <a:rPr sz="2400" b="0">
                          <a:solidFill>
                            <a:srgbClr val="111827"/>
                          </a:solidFill>
                          <a:latin typeface="Arial"/>
                        </a:rPr>
                        <a:t>Integer (0-9)</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43</a:t>
                      </a:r>
                    </a:p>
                  </a:txBody>
                  <a:tcPr anchor="ctr" marL="91440" marR="91440">
                    <a:solidFill>
                      <a:srgbClr val="FFFFFF"/>
                    </a:solidFill>
                  </a:tcPr>
                </a:tc>
                <a:tc>
                  <a:txBody>
                    <a:bodyPr/>
                    <a:lstStyle/>
                    <a:p>
                      <a:pPr algn="l"/>
                      <a:r>
                        <a:rPr sz="2400" b="0">
                          <a:solidFill>
                            <a:srgbClr val="111827"/>
                          </a:solidFill>
                          <a:latin typeface="Arial"/>
                        </a:rPr>
                        <a:t>Integer (0-9)</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bl>
          </a:graphicData>
        </a:graphic>
      </p:graphicFrame>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(10/11)</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416052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44</a:t>
                      </a:r>
                    </a:p>
                  </a:txBody>
                  <a:tcPr anchor="ctr" marL="91440" marR="91440">
                    <a:solidFill>
                      <a:srgbClr val="FFFFFF"/>
                    </a:solidFill>
                  </a:tcPr>
                </a:tc>
                <a:tc>
                  <a:txBody>
                    <a:bodyPr/>
                    <a:lstStyle/>
                    <a:p>
                      <a:pPr algn="l"/>
                      <a:r>
                        <a:rPr sz="2400" b="0">
                          <a:solidFill>
                            <a:srgbClr val="111827"/>
                          </a:solidFill>
                          <a:latin typeface="Arial"/>
                        </a:rPr>
                        <a:t>Integer (0-9)</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45</a:t>
                      </a:r>
                    </a:p>
                  </a:txBody>
                  <a:tcPr anchor="ctr" marL="91440" marR="91440">
                    <a:solidFill>
                      <a:srgbClr val="FFFFFF"/>
                    </a:solidFill>
                  </a:tcPr>
                </a:tc>
                <a:tc>
                  <a:txBody>
                    <a:bodyPr/>
                    <a:lstStyle/>
                    <a:p>
                      <a:pPr algn="l"/>
                      <a:r>
                        <a:rPr sz="2400" b="0">
                          <a:solidFill>
                            <a:srgbClr val="111827"/>
                          </a:solidFill>
                          <a:latin typeface="Arial"/>
                        </a:rPr>
                        <a:t>Integer (0-9)</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46</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47</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bl>
          </a:graphicData>
        </a:graphic>
      </p:graphicFrame>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(11/11)</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416052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48</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4</a:t>
                      </a:r>
                    </a:p>
                  </a:txBody>
                  <a:tcPr anchor="ctr" marL="91440" marR="91440">
                    <a:solidFill>
                      <a:srgbClr val="E88080"/>
                    </a:solidFill>
                  </a:tcPr>
                </a:tc>
                <a:tc>
                  <a:txBody>
                    <a:bodyPr/>
                    <a:lstStyle/>
                    <a:p>
                      <a:pPr algn="l"/>
                      <a:r>
                        <a:rPr sz="2400" b="0">
                          <a:solidFill>
                            <a:srgbClr val="111827"/>
                          </a:solidFill>
                          <a:latin typeface="Arial"/>
                        </a:rPr>
                        <a:t>A level above Average JEE Advanced Level</a:t>
                      </a:r>
                    </a:p>
                  </a:txBody>
                  <a:tcPr anchor="ctr" marL="91440" marR="91440">
                    <a:solidFill>
                      <a:srgbClr val="E88080"/>
                    </a:solidFill>
                  </a:tcPr>
                </a:tc>
              </a:tr>
              <a:tr h="868680">
                <a:tc>
                  <a:txBody>
                    <a:bodyPr/>
                    <a:lstStyle/>
                    <a:p>
                      <a:pPr algn="ctr"/>
                      <a:r>
                        <a:rPr sz="2400" b="1">
                          <a:solidFill>
                            <a:srgbClr val="111827"/>
                          </a:solidFill>
                          <a:latin typeface="Arial"/>
                        </a:rPr>
                        <a:t>49</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50</a:t>
                      </a:r>
                    </a:p>
                  </a:txBody>
                  <a:tcPr anchor="ctr" marL="91440" marR="91440">
                    <a:solidFill>
                      <a:srgbClr val="FFFFFF"/>
                    </a:solidFill>
                  </a:tcPr>
                </a:tc>
                <a:tc>
                  <a:txBody>
                    <a:bodyPr/>
                    <a:lstStyle/>
                    <a:p>
                      <a:pPr algn="l"/>
                      <a:r>
                        <a:rPr sz="2400" b="0">
                          <a:solidFill>
                            <a:srgbClr val="111827"/>
                          </a:solidFill>
                          <a:latin typeface="Arial"/>
                        </a:rPr>
                        <a:t>Matching</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51</a:t>
                      </a:r>
                    </a:p>
                  </a:txBody>
                  <a:tcPr anchor="ctr" marL="91440" marR="91440">
                    <a:solidFill>
                      <a:srgbClr val="FFFFFF"/>
                    </a:solidFill>
                  </a:tcPr>
                </a:tc>
                <a:tc>
                  <a:txBody>
                    <a:bodyPr/>
                    <a:lstStyle/>
                    <a:p>
                      <a:pPr algn="l"/>
                      <a:r>
                        <a:rPr sz="2400" b="0">
                          <a:solidFill>
                            <a:srgbClr val="111827"/>
                          </a:solidFill>
                          <a:latin typeface="Arial"/>
                        </a:rPr>
                        <a:t>Matching</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a:t>
            </a:r>
            <a:endParaRPr sz="3200">
              <a:solidFill>
                <a:srgbClr val="FFFFFF"/>
              </a:solidFill>
            </a:endParaRPr>
          </a:p>
        </p:txBody>
      </p:sp>
      <p:sp>
        <p:nvSpPr>
          <p:cNvPr id="3" name="Rounded Rectangle 2"/>
          <p:cNvSpPr/>
          <p:nvPr/>
        </p:nvSpPr>
        <p:spPr>
          <a:xfrm>
            <a:off x="731520" y="1417320"/>
            <a:ext cx="4754880" cy="329184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37160" bIns="73152"/>
          <a:lstStyle>
            <a:lvl1pPr>
              <a:defRPr sz="3000">
                <a:solidFill>
                  <a:srgbClr val="0B1F3A"/>
                </a:solidFill>
              </a:defRPr>
            </a:lvl1pPr>
          </a:lstStyle>
          <a:p>
            <a:pPr algn="ctr">
              <a:defRPr sz="3000">
                <a:solidFill>
                  <a:srgbClr val="0B1F3A"/>
                </a:solidFill>
              </a:defRPr>
            </a:pPr>
            <a:r>
              <a:rPr sz="3000" b="1">
                <a:solidFill>
                  <a:srgbClr val="0B1F3A"/>
                </a:solidFill>
                <a:latin typeface="Arial"/>
              </a:rPr>
              <a:t>Difficulty Index</a:t>
            </a:r>
            <a:endParaRPr sz="3000">
              <a:solidFill>
                <a:srgbClr val="0B1F3A"/>
              </a:solidFill>
            </a:endParaRPr>
          </a:p>
          <a:p>
            <a:pPr algn="ctr">
              <a:defRPr sz="3000">
                <a:solidFill>
                  <a:srgbClr val="0B1F3A"/>
                </a:solidFill>
              </a:defRPr>
            </a:pPr>
            <a:r>
              <a:rPr sz="8800" b="1">
                <a:solidFill>
                  <a:srgbClr val="0B1F3A"/>
                </a:solidFill>
                <a:latin typeface="Arial"/>
              </a:rPr>
              <a:t>2.34</a:t>
            </a:r>
            <a:endParaRPr sz="3000">
              <a:solidFill>
                <a:srgbClr val="0B1F3A"/>
              </a:solidFill>
            </a:endParaRPr>
          </a:p>
          <a:p>
            <a:pPr algn="ctr">
              <a:defRPr sz="3000">
                <a:solidFill>
                  <a:srgbClr val="0B1F3A"/>
                </a:solidFill>
              </a:defRPr>
            </a:pPr>
            <a:r>
              <a:rPr sz="2400" b="0">
                <a:solidFill>
                  <a:srgbClr val="0B1F3A"/>
                </a:solidFill>
                <a:latin typeface="Arial"/>
              </a:rPr>
              <a:t>out of 5</a:t>
            </a:r>
            <a:endParaRPr sz="3000">
              <a:solidFill>
                <a:srgbClr val="0B1F3A"/>
              </a:solidFill>
            </a:endParaRPr>
          </a:p>
        </p:txBody>
      </p:sp>
      <p:sp>
        <p:nvSpPr>
          <p:cNvPr id="4" name="Rectangle 3"/>
          <p:cNvSpPr/>
          <p:nvPr/>
        </p:nvSpPr>
        <p:spPr>
          <a:xfrm>
            <a:off x="5852160" y="1417320"/>
            <a:ext cx="5605272" cy="603504"/>
          </a:xfrm>
          <a:prstGeom prst="rect">
            <a:avLst/>
          </a:prstGeom>
          <a:solidFill>
            <a:srgbClr val="93C47D"/>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JEE Main or easier:  9 questions</a:t>
            </a:r>
            <a:endParaRPr sz="2400">
              <a:solidFill>
                <a:srgbClr val="111827"/>
              </a:solidFill>
            </a:endParaRPr>
          </a:p>
        </p:txBody>
      </p:sp>
      <p:sp>
        <p:nvSpPr>
          <p:cNvPr id="5" name="Rectangle 4"/>
          <p:cNvSpPr/>
          <p:nvPr/>
        </p:nvSpPr>
        <p:spPr>
          <a:xfrm>
            <a:off x="5852160" y="2093976"/>
            <a:ext cx="5605272" cy="603504"/>
          </a:xfrm>
          <a:prstGeom prst="rect">
            <a:avLst/>
          </a:prstGeom>
          <a:solidFill>
            <a:srgbClr val="FFD966"/>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Below average:  20 questions</a:t>
            </a:r>
            <a:endParaRPr sz="2400">
              <a:solidFill>
                <a:srgbClr val="111827"/>
              </a:solidFill>
            </a:endParaRPr>
          </a:p>
        </p:txBody>
      </p:sp>
      <p:sp>
        <p:nvSpPr>
          <p:cNvPr id="6" name="Rectangle 5"/>
          <p:cNvSpPr/>
          <p:nvPr/>
        </p:nvSpPr>
        <p:spPr>
          <a:xfrm>
            <a:off x="5852160" y="2770632"/>
            <a:ext cx="5605272" cy="603504"/>
          </a:xfrm>
          <a:prstGeom prst="rect">
            <a:avLst/>
          </a:prstGeom>
          <a:solidFill>
            <a:srgbClr val="F6B26B"/>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Average Advanced:  17 questions</a:t>
            </a:r>
            <a:endParaRPr sz="2400">
              <a:solidFill>
                <a:srgbClr val="111827"/>
              </a:solidFill>
            </a:endParaRPr>
          </a:p>
        </p:txBody>
      </p:sp>
      <p:sp>
        <p:nvSpPr>
          <p:cNvPr id="7" name="Rectangle 6"/>
          <p:cNvSpPr/>
          <p:nvPr/>
        </p:nvSpPr>
        <p:spPr>
          <a:xfrm>
            <a:off x="5852160" y="3447288"/>
            <a:ext cx="5605272" cy="603504"/>
          </a:xfrm>
          <a:prstGeom prst="rect">
            <a:avLst/>
          </a:prstGeom>
          <a:solidFill>
            <a:srgbClr val="E88080"/>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Above average:  5 questions</a:t>
            </a:r>
            <a:endParaRPr sz="2400">
              <a:solidFill>
                <a:srgbClr val="111827"/>
              </a:solidFill>
            </a:endParaRPr>
          </a:p>
        </p:txBody>
      </p:sp>
      <p:sp>
        <p:nvSpPr>
          <p:cNvPr id="8" name="Rectangle 7"/>
          <p:cNvSpPr/>
          <p:nvPr/>
        </p:nvSpPr>
        <p:spPr>
          <a:xfrm>
            <a:off x="5852160" y="4123944"/>
            <a:ext cx="5605272" cy="603504"/>
          </a:xfrm>
          <a:prstGeom prst="rect">
            <a:avLst/>
          </a:prstGeom>
          <a:solidFill>
            <a:srgbClr val="CC4125"/>
          </a:solidFill>
          <a:ln w="19050">
            <a:solidFill>
              <a:srgbClr val="6B7280"/>
            </a:solidFill>
          </a:ln>
          <a:effectLst/>
        </p:spPr>
        <p:style>
          <a:lnRef idx="1">
            <a:schemeClr val="accent1"/>
          </a:lnRef>
          <a:fillRef idx="3">
            <a:schemeClr val="accent1"/>
          </a:fillRef>
          <a:effectRef idx="2">
            <a:schemeClr val="accent1"/>
          </a:effectRef>
          <a:fontRef idx="minor">
            <a:srgbClr val="FFFFFF"/>
          </a:fontRef>
        </p:style>
        <p:txBody>
          <a:bodyPr rtlCol="0" anchor="ctr" wrap="square" lIns="228600" rIns="228600" tIns="18288" bIns="73152"/>
          <a:lstStyle>
            <a:lvl1pPr>
              <a:defRPr sz="2400">
                <a:solidFill>
                  <a:srgbClr val="FFFFFF"/>
                </a:solidFill>
              </a:defRPr>
            </a:lvl1pPr>
          </a:lstStyle>
          <a:p>
            <a:pPr algn="l">
              <a:defRPr sz="2400">
                <a:solidFill>
                  <a:srgbClr val="FFFFFF"/>
                </a:solidFill>
              </a:defRPr>
            </a:pPr>
            <a:r>
              <a:rPr sz="2400" b="1">
                <a:solidFill>
                  <a:srgbClr val="FFFFFF"/>
                </a:solidFill>
                <a:latin typeface="Arial"/>
              </a:rPr>
              <a:t>Very difficult:  0 questions</a:t>
            </a:r>
            <a:endParaRPr sz="2400">
              <a:solidFill>
                <a:srgbClr val="FFFFFF"/>
              </a:solidFill>
            </a:endParaRPr>
          </a:p>
        </p:txBody>
      </p:sp>
      <p:sp>
        <p:nvSpPr>
          <p:cNvPr id="9" name="Rectangle 8"/>
          <p:cNvSpPr/>
          <p:nvPr/>
        </p:nvSpPr>
        <p:spPr>
          <a:xfrm>
            <a:off x="731520" y="5029200"/>
            <a:ext cx="10725912" cy="1097280"/>
          </a:xfrm>
          <a:prstGeom prst="rect">
            <a:avLst/>
          </a:prstGeom>
          <a:solidFill>
            <a:srgbClr val="FFFFFF"/>
          </a:solidFill>
          <a:ln w="19050">
            <a:no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ctr">
              <a:defRPr sz="2400">
                <a:solidFill>
                  <a:srgbClr val="111827"/>
                </a:solidFill>
              </a:defRPr>
            </a:pPr>
            <a:r>
              <a:rPr sz="2400" b="0">
                <a:solidFill>
                  <a:srgbClr val="111827"/>
                </a:solidFill>
                <a:latin typeface="Arial"/>
              </a:rPr>
              <a:t>Total: 51 questions, 198 marks.  Index = Σ(marks × level) ÷ Σ marks, on the 0-5 scale.</a:t>
            </a:r>
            <a:endParaRPr sz="2400">
              <a:solidFill>
                <a:srgbClr val="111827"/>
              </a:solidFill>
            </a:endParaRP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Difficulty Profile of the Paper</a:t>
            </a:r>
            <a:endParaRPr sz="3200">
              <a:solidFill>
                <a:srgbClr val="FFFFFF"/>
              </a:solidFill>
            </a:endParaRPr>
          </a:p>
        </p:txBody>
      </p:sp>
      <p:graphicFrame>
        <p:nvGraphicFramePr>
          <p:cNvPr id="3" name="Chart 2"/>
          <p:cNvGraphicFramePr>
            <a:graphicFrameLocks noGrp="1"/>
          </p:cNvGraphicFramePr>
          <p:nvPr/>
        </p:nvGraphicFramePr>
        <p:xfrm>
          <a:off x="457200" y="1280160"/>
          <a:ext cx="11274552" cy="5349240"/>
        </p:xfrm>
        <a:graphic>
          <a:graphicData uri="http://schemas.openxmlformats.org/drawingml/2006/chart">
            <c:chart xmlns:c="http://schemas.openxmlformats.org/drawingml/2006/chart" r:id="rId2"/>
          </a:graphicData>
        </a:graphic>
      </p:graphicFrame>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Comparison with JEE Advanced Papers</a:t>
            </a:r>
            <a:endParaRPr sz="3200">
              <a:solidFill>
                <a:srgbClr val="FFFFFF"/>
              </a:solidFill>
            </a:endParaRPr>
          </a:p>
        </p:txBody>
      </p:sp>
      <p:graphicFrame>
        <p:nvGraphicFramePr>
          <p:cNvPr id="3" name="Table 2"/>
          <p:cNvGraphicFramePr>
            <a:graphicFrameLocks noGrp="1"/>
          </p:cNvGraphicFramePr>
          <p:nvPr/>
        </p:nvGraphicFramePr>
        <p:xfrm>
          <a:off x="1661007" y="1371600"/>
          <a:ext cx="8869680" cy="4526280"/>
        </p:xfrm>
        <a:graphic>
          <a:graphicData uri="http://schemas.openxmlformats.org/drawingml/2006/table">
            <a:tbl>
              <a:tblPr firstRow="1" bandRow="1">
                <a:tableStyleId>{5C22544A-7EE6-4342-B048-85BDC9FD1C3A}</a:tableStyleId>
              </a:tblPr>
              <a:tblGrid>
                <a:gridCol w="5760720"/>
                <a:gridCol w="3108960"/>
              </a:tblGrid>
              <a:tr h="685800">
                <a:tc>
                  <a:txBody>
                    <a:bodyPr/>
                    <a:lstStyle/>
                    <a:p>
                      <a:pPr algn="ctr"/>
                      <a:r>
                        <a:rPr sz="2600" b="1">
                          <a:solidFill>
                            <a:srgbClr val="FFFFFF"/>
                          </a:solidFill>
                          <a:latin typeface="Arial"/>
                        </a:rPr>
                        <a:t>Paper</a:t>
                      </a:r>
                    </a:p>
                  </a:txBody>
                  <a:tcPr anchor="ctr" marL="137160" marR="137160">
                    <a:solidFill>
                      <a:srgbClr val="0B1F3A"/>
                    </a:solidFill>
                  </a:tcPr>
                </a:tc>
                <a:tc>
                  <a:txBody>
                    <a:bodyPr/>
                    <a:lstStyle/>
                    <a:p>
                      <a:pPr algn="ctr"/>
                      <a:r>
                        <a:rPr sz="2600" b="1">
                          <a:solidFill>
                            <a:srgbClr val="FFFFFF"/>
                          </a:solidFill>
                          <a:latin typeface="Arial"/>
                        </a:rPr>
                        <a:t>Difficulty Index</a:t>
                      </a:r>
                    </a:p>
                  </a:txBody>
                  <a:tcPr anchor="ctr" marL="137160" marR="137160">
                    <a:solidFill>
                      <a:srgbClr val="0B1F3A"/>
                    </a:solidFill>
                  </a:tcPr>
                </a:tc>
              </a:tr>
              <a:tr h="640080">
                <a:tc>
                  <a:txBody>
                    <a:bodyPr/>
                    <a:lstStyle/>
                    <a:p>
                      <a:pPr algn="l"/>
                      <a:r>
                        <a:rPr sz="2600" b="0">
                          <a:solidFill>
                            <a:srgbClr val="111827"/>
                          </a:solidFill>
                          <a:latin typeface="Arial"/>
                        </a:rPr>
                        <a:t>JEE Advanced 2021</a:t>
                      </a:r>
                    </a:p>
                  </a:txBody>
                  <a:tcPr anchor="ctr" marL="137160" marR="137160">
                    <a:solidFill>
                      <a:srgbClr val="FFFFFF"/>
                    </a:solidFill>
                  </a:tcPr>
                </a:tc>
                <a:tc>
                  <a:txBody>
                    <a:bodyPr/>
                    <a:lstStyle/>
                    <a:p>
                      <a:pPr algn="ctr"/>
                      <a:r>
                        <a:rPr sz="2600" b="1">
                          <a:solidFill>
                            <a:srgbClr val="111827"/>
                          </a:solidFill>
                          <a:latin typeface="Arial"/>
                        </a:rPr>
                        <a:t>2.76</a:t>
                      </a:r>
                    </a:p>
                  </a:txBody>
                  <a:tcPr anchor="ctr" marL="137160" marR="137160">
                    <a:solidFill>
                      <a:srgbClr val="FFFFFF"/>
                    </a:solidFill>
                  </a:tcPr>
                </a:tc>
              </a:tr>
              <a:tr h="640080">
                <a:tc>
                  <a:txBody>
                    <a:bodyPr/>
                    <a:lstStyle/>
                    <a:p>
                      <a:pPr algn="l"/>
                      <a:r>
                        <a:rPr sz="2600" b="0">
                          <a:solidFill>
                            <a:srgbClr val="111827"/>
                          </a:solidFill>
                          <a:latin typeface="Arial"/>
                        </a:rPr>
                        <a:t>JEE Advanced 2023</a:t>
                      </a:r>
                    </a:p>
                  </a:txBody>
                  <a:tcPr anchor="ctr" marL="137160" marR="137160">
                    <a:solidFill>
                      <a:srgbClr val="FFFFFF"/>
                    </a:solidFill>
                  </a:tcPr>
                </a:tc>
                <a:tc>
                  <a:txBody>
                    <a:bodyPr/>
                    <a:lstStyle/>
                    <a:p>
                      <a:pPr algn="ctr"/>
                      <a:r>
                        <a:rPr sz="2600" b="1">
                          <a:solidFill>
                            <a:srgbClr val="111827"/>
                          </a:solidFill>
                          <a:latin typeface="Arial"/>
                        </a:rPr>
                        <a:t>3.19</a:t>
                      </a:r>
                    </a:p>
                  </a:txBody>
                  <a:tcPr anchor="ctr" marL="137160" marR="137160">
                    <a:solidFill>
                      <a:srgbClr val="FFFFFF"/>
                    </a:solidFill>
                  </a:tcPr>
                </a:tc>
              </a:tr>
              <a:tr h="640080">
                <a:tc>
                  <a:txBody>
                    <a:bodyPr/>
                    <a:lstStyle/>
                    <a:p>
                      <a:pPr algn="l"/>
                      <a:r>
                        <a:rPr sz="2600" b="0">
                          <a:solidFill>
                            <a:srgbClr val="111827"/>
                          </a:solidFill>
                          <a:latin typeface="Arial"/>
                        </a:rPr>
                        <a:t>JEE Advanced 2024</a:t>
                      </a:r>
                    </a:p>
                  </a:txBody>
                  <a:tcPr anchor="ctr" marL="137160" marR="137160">
                    <a:solidFill>
                      <a:srgbClr val="FFFFFF"/>
                    </a:solidFill>
                  </a:tcPr>
                </a:tc>
                <a:tc>
                  <a:txBody>
                    <a:bodyPr/>
                    <a:lstStyle/>
                    <a:p>
                      <a:pPr algn="ctr"/>
                      <a:r>
                        <a:rPr sz="2600" b="1">
                          <a:solidFill>
                            <a:srgbClr val="111827"/>
                          </a:solidFill>
                          <a:latin typeface="Arial"/>
                        </a:rPr>
                        <a:t>2.59</a:t>
                      </a:r>
                    </a:p>
                  </a:txBody>
                  <a:tcPr anchor="ctr" marL="137160" marR="137160">
                    <a:solidFill>
                      <a:srgbClr val="FFFFFF"/>
                    </a:solidFill>
                  </a:tcPr>
                </a:tc>
              </a:tr>
              <a:tr h="640080">
                <a:tc>
                  <a:txBody>
                    <a:bodyPr/>
                    <a:lstStyle/>
                    <a:p>
                      <a:pPr algn="l"/>
                      <a:r>
                        <a:rPr sz="2600" b="0">
                          <a:solidFill>
                            <a:srgbClr val="111827"/>
                          </a:solidFill>
                          <a:latin typeface="Arial"/>
                        </a:rPr>
                        <a:t>JEE Advanced 2025</a:t>
                      </a:r>
                    </a:p>
                  </a:txBody>
                  <a:tcPr anchor="ctr" marL="137160" marR="137160">
                    <a:solidFill>
                      <a:srgbClr val="FFFFFF"/>
                    </a:solidFill>
                  </a:tcPr>
                </a:tc>
                <a:tc>
                  <a:txBody>
                    <a:bodyPr/>
                    <a:lstStyle/>
                    <a:p>
                      <a:pPr algn="ctr"/>
                      <a:r>
                        <a:rPr sz="2600" b="1">
                          <a:solidFill>
                            <a:srgbClr val="111827"/>
                          </a:solidFill>
                          <a:latin typeface="Arial"/>
                        </a:rPr>
                        <a:t>3.21</a:t>
                      </a:r>
                    </a:p>
                  </a:txBody>
                  <a:tcPr anchor="ctr" marL="137160" marR="137160">
                    <a:solidFill>
                      <a:srgbClr val="FFFFFF"/>
                    </a:solidFill>
                  </a:tcPr>
                </a:tc>
              </a:tr>
              <a:tr h="640080">
                <a:tc>
                  <a:txBody>
                    <a:bodyPr/>
                    <a:lstStyle/>
                    <a:p>
                      <a:pPr algn="l"/>
                      <a:r>
                        <a:rPr sz="2600" b="0">
                          <a:solidFill>
                            <a:srgbClr val="111827"/>
                          </a:solidFill>
                          <a:latin typeface="Arial"/>
                        </a:rPr>
                        <a:t>JEE Advanced 2026</a:t>
                      </a:r>
                    </a:p>
                  </a:txBody>
                  <a:tcPr anchor="ctr" marL="137160" marR="137160">
                    <a:solidFill>
                      <a:srgbClr val="FFFFFF"/>
                    </a:solidFill>
                  </a:tcPr>
                </a:tc>
                <a:tc>
                  <a:txBody>
                    <a:bodyPr/>
                    <a:lstStyle/>
                    <a:p>
                      <a:pPr algn="ctr"/>
                      <a:r>
                        <a:rPr sz="2600" b="1">
                          <a:solidFill>
                            <a:srgbClr val="111827"/>
                          </a:solidFill>
                          <a:latin typeface="Arial"/>
                        </a:rPr>
                        <a:t>3.02</a:t>
                      </a:r>
                    </a:p>
                  </a:txBody>
                  <a:tcPr anchor="ctr" marL="137160" marR="137160">
                    <a:solidFill>
                      <a:srgbClr val="FFFFFF"/>
                    </a:solidFill>
                  </a:tcPr>
                </a:tc>
              </a:tr>
              <a:tr h="640080">
                <a:tc>
                  <a:txBody>
                    <a:bodyPr/>
                    <a:lstStyle/>
                    <a:p>
                      <a:pPr algn="l"/>
                      <a:r>
                        <a:rPr sz="2600" b="1">
                          <a:solidFill>
                            <a:srgbClr val="0B1F3A"/>
                          </a:solidFill>
                          <a:latin typeface="Arial"/>
                        </a:rPr>
                        <a:t>B1 Assignment Differential Calculus 02 Detailed solutions</a:t>
                      </a:r>
                    </a:p>
                  </a:txBody>
                  <a:tcPr anchor="ctr" marL="137160" marR="137160">
                    <a:solidFill>
                      <a:srgbClr val="E0ECFF"/>
                    </a:solidFill>
                  </a:tcPr>
                </a:tc>
                <a:tc>
                  <a:txBody>
                    <a:bodyPr/>
                    <a:lstStyle/>
                    <a:p>
                      <a:pPr algn="ctr"/>
                      <a:r>
                        <a:rPr sz="2600" b="1">
                          <a:solidFill>
                            <a:srgbClr val="0B1F3A"/>
                          </a:solidFill>
                          <a:latin typeface="Arial"/>
                        </a:rPr>
                        <a:t>2.34</a:t>
                      </a:r>
                    </a:p>
                  </a:txBody>
                  <a:tcPr anchor="ctr" marL="137160" marR="137160">
                    <a:solidFill>
                      <a:srgbClr val="E0ECFF"/>
                    </a:solidFill>
                  </a:tcPr>
                </a:tc>
              </a:tr>
            </a:tbl>
          </a:graphicData>
        </a:graphic>
      </p:graphicFrame>
      <p:sp>
        <p:nvSpPr>
          <p:cNvPr id="4" name="TextBox 3"/>
          <p:cNvSpPr txBox="1"/>
          <p:nvPr/>
        </p:nvSpPr>
        <p:spPr>
          <a:xfrm>
            <a:off x="731520" y="6080759"/>
            <a:ext cx="10725912" cy="457200"/>
          </a:xfrm>
          <a:prstGeom prst="rect">
            <a:avLst/>
          </a:prstGeom>
          <a:noFill/>
        </p:spPr>
        <p:txBody>
          <a:bodyPr wrap="none">
            <a:spAutoFit/>
          </a:bodyPr>
          <a:lstStyle>
            <a:lvl1pPr>
              <a:defRPr sz="2000">
                <a:solidFill>
                  <a:srgbClr val="111827"/>
                </a:solidFill>
              </a:defRPr>
            </a:lvl1pPr>
          </a:lstStyle>
          <a:p>
            <a:pPr algn="ctr">
              <a:defRPr sz="2000">
                <a:solidFill>
                  <a:srgbClr val="111827"/>
                </a:solidFill>
              </a:defRPr>
            </a:pPr>
            <a:r>
              <a:rPr sz="2000" b="0">
                <a:solidFill>
                  <a:srgbClr val="111827"/>
                </a:solidFill>
                <a:latin typeface="Arial"/>
              </a:rPr>
              <a:t>Marks-weighted difficulty index on the 0-5 scale</a:t>
            </a:r>
            <a:endParaRPr sz="2000">
              <a:solidFill>
                <a:srgbClr val="111827"/>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