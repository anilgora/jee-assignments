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 Id="rId209" Type="http://schemas.openxmlformats.org/officeDocument/2006/relationships/slide" Target="slides/slide202.xml"/><Relationship Id="rId210" Type="http://schemas.openxmlformats.org/officeDocument/2006/relationships/slide" Target="slides/slide203.xml"/><Relationship Id="rId211" Type="http://schemas.openxmlformats.org/officeDocument/2006/relationships/slide" Target="slides/slide204.xml"/><Relationship Id="rId212" Type="http://schemas.openxmlformats.org/officeDocument/2006/relationships/slide" Target="slides/slide205.xml"/><Relationship Id="rId213" Type="http://schemas.openxmlformats.org/officeDocument/2006/relationships/slide" Target="slides/slide206.xml"/><Relationship Id="rId214" Type="http://schemas.openxmlformats.org/officeDocument/2006/relationships/slide" Target="slides/slide207.xml"/><Relationship Id="rId215" Type="http://schemas.openxmlformats.org/officeDocument/2006/relationships/slide" Target="slides/slide208.xml"/><Relationship Id="rId216" Type="http://schemas.openxmlformats.org/officeDocument/2006/relationships/slide" Target="slides/slide20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Level</c:v>
                </c:pt>
              </c:strCache>
            </c:strRef>
          </c:tx>
          <c:dPt>
            <c:idx val="0"/>
            <c:spPr>
              <a:solidFill>
                <a:srgbClr val="B6D7A8"/>
              </a:solidFill>
              <a:ln w="9525">
                <a:solidFill>
                  <a:srgbClr val="111827"/>
                </a:solidFill>
              </a:ln>
            </c:spPr>
          </c:dPt>
          <c:dPt>
            <c:idx val="1"/>
            <c:spPr>
              <a:solidFill>
                <a:srgbClr val="B6D7A8"/>
              </a:solidFill>
              <a:ln w="9525">
                <a:solidFill>
                  <a:srgbClr val="111827"/>
                </a:solidFill>
              </a:ln>
            </c:spPr>
          </c:dPt>
          <c:dPt>
            <c:idx val="2"/>
            <c:spPr>
              <a:solidFill>
                <a:srgbClr val="B6D7A8"/>
              </a:solidFill>
              <a:ln w="9525">
                <a:solidFill>
                  <a:srgbClr val="111827"/>
                </a:solidFill>
              </a:ln>
            </c:spPr>
          </c:dPt>
          <c:dPt>
            <c:idx val="3"/>
            <c:spPr>
              <a:solidFill>
                <a:srgbClr val="B6D7A8"/>
              </a:solidFill>
              <a:ln w="9525">
                <a:solidFill>
                  <a:srgbClr val="111827"/>
                </a:solidFill>
              </a:ln>
            </c:spPr>
          </c:dPt>
          <c:dPt>
            <c:idx val="4"/>
            <c:spPr>
              <a:solidFill>
                <a:srgbClr val="B6D7A8"/>
              </a:solidFill>
              <a:ln w="9525">
                <a:solidFill>
                  <a:srgbClr val="111827"/>
                </a:solidFill>
              </a:ln>
            </c:spPr>
          </c:dPt>
          <c:dPt>
            <c:idx val="5"/>
            <c:spPr>
              <a:solidFill>
                <a:srgbClr val="FFD966"/>
              </a:solidFill>
              <a:ln w="9525">
                <a:solidFill>
                  <a:srgbClr val="111827"/>
                </a:solidFill>
              </a:ln>
            </c:spPr>
          </c:dPt>
          <c:dPt>
            <c:idx val="6"/>
            <c:spPr>
              <a:solidFill>
                <a:srgbClr val="FFD966"/>
              </a:solidFill>
              <a:ln w="9525">
                <a:solidFill>
                  <a:srgbClr val="111827"/>
                </a:solidFill>
              </a:ln>
            </c:spPr>
          </c:dPt>
          <c:dPt>
            <c:idx val="7"/>
            <c:spPr>
              <a:solidFill>
                <a:srgbClr val="FFD966"/>
              </a:solidFill>
              <a:ln w="9525">
                <a:solidFill>
                  <a:srgbClr val="111827"/>
                </a:solidFill>
              </a:ln>
            </c:spPr>
          </c:dPt>
          <c:dPt>
            <c:idx val="8"/>
            <c:spPr>
              <a:solidFill>
                <a:srgbClr val="B6D7A8"/>
              </a:solidFill>
              <a:ln w="9525">
                <a:solidFill>
                  <a:srgbClr val="111827"/>
                </a:solidFill>
              </a:ln>
            </c:spPr>
          </c:dPt>
          <c:dPt>
            <c:idx val="9"/>
            <c:spPr>
              <a:solidFill>
                <a:srgbClr val="B6D7A8"/>
              </a:solidFill>
              <a:ln w="9525">
                <a:solidFill>
                  <a:srgbClr val="111827"/>
                </a:solidFill>
              </a:ln>
            </c:spPr>
          </c:dPt>
          <c:dPt>
            <c:idx val="10"/>
            <c:spPr>
              <a:solidFill>
                <a:srgbClr val="FFD966"/>
              </a:solidFill>
              <a:ln w="9525">
                <a:solidFill>
                  <a:srgbClr val="111827"/>
                </a:solidFill>
              </a:ln>
            </c:spPr>
          </c:dPt>
          <c:dPt>
            <c:idx val="11"/>
            <c:spPr>
              <a:solidFill>
                <a:srgbClr val="F6B26B"/>
              </a:solidFill>
              <a:ln w="9525">
                <a:solidFill>
                  <a:srgbClr val="111827"/>
                </a:solidFill>
              </a:ln>
            </c:spPr>
          </c:dPt>
          <c:dPt>
            <c:idx val="12"/>
            <c:spPr>
              <a:solidFill>
                <a:srgbClr val="B6D7A8"/>
              </a:solidFill>
              <a:ln w="9525">
                <a:solidFill>
                  <a:srgbClr val="111827"/>
                </a:solidFill>
              </a:ln>
            </c:spPr>
          </c:dPt>
          <c:dPt>
            <c:idx val="13"/>
            <c:spPr>
              <a:solidFill>
                <a:srgbClr val="B6D7A8"/>
              </a:solidFill>
              <a:ln w="9525">
                <a:solidFill>
                  <a:srgbClr val="111827"/>
                </a:solidFill>
              </a:ln>
            </c:spPr>
          </c:dPt>
          <c:dPt>
            <c:idx val="14"/>
            <c:spPr>
              <a:solidFill>
                <a:srgbClr val="FFD966"/>
              </a:solidFill>
              <a:ln w="9525">
                <a:solidFill>
                  <a:srgbClr val="111827"/>
                </a:solidFill>
              </a:ln>
            </c:spPr>
          </c:dPt>
          <c:dPt>
            <c:idx val="15"/>
            <c:spPr>
              <a:solidFill>
                <a:srgbClr val="B6D7A8"/>
              </a:solidFill>
              <a:ln w="9525">
                <a:solidFill>
                  <a:srgbClr val="111827"/>
                </a:solidFill>
              </a:ln>
            </c:spPr>
          </c:dPt>
          <c:dPt>
            <c:idx val="16"/>
            <c:spPr>
              <a:solidFill>
                <a:srgbClr val="FFD966"/>
              </a:solidFill>
              <a:ln w="9525">
                <a:solidFill>
                  <a:srgbClr val="111827"/>
                </a:solidFill>
              </a:ln>
            </c:spPr>
          </c:dPt>
          <c:dPt>
            <c:idx val="17"/>
            <c:spPr>
              <a:solidFill>
                <a:srgbClr val="FFD966"/>
              </a:solidFill>
              <a:ln w="9525">
                <a:solidFill>
                  <a:srgbClr val="111827"/>
                </a:solidFill>
              </a:ln>
            </c:spPr>
          </c:dPt>
          <c:dPt>
            <c:idx val="18"/>
            <c:spPr>
              <a:solidFill>
                <a:srgbClr val="FFD966"/>
              </a:solidFill>
              <a:ln w="9525">
                <a:solidFill>
                  <a:srgbClr val="111827"/>
                </a:solidFill>
              </a:ln>
            </c:spPr>
          </c:dPt>
          <c:dPt>
            <c:idx val="19"/>
            <c:spPr>
              <a:solidFill>
                <a:srgbClr val="FFD966"/>
              </a:solidFill>
              <a:ln w="9525">
                <a:solidFill>
                  <a:srgbClr val="111827"/>
                </a:solidFill>
              </a:ln>
            </c:spPr>
          </c:dPt>
          <c:dPt>
            <c:idx val="20"/>
            <c:spPr>
              <a:solidFill>
                <a:srgbClr val="F6B26B"/>
              </a:solidFill>
              <a:ln w="9525">
                <a:solidFill>
                  <a:srgbClr val="111827"/>
                </a:solidFill>
              </a:ln>
            </c:spPr>
          </c:dPt>
          <c:dPt>
            <c:idx val="21"/>
            <c:spPr>
              <a:solidFill>
                <a:srgbClr val="FFD966"/>
              </a:solidFill>
              <a:ln w="9525">
                <a:solidFill>
                  <a:srgbClr val="111827"/>
                </a:solidFill>
              </a:ln>
            </c:spPr>
          </c:dPt>
          <c:dPt>
            <c:idx val="22"/>
            <c:spPr>
              <a:solidFill>
                <a:srgbClr val="FFD966"/>
              </a:solidFill>
              <a:ln w="9525">
                <a:solidFill>
                  <a:srgbClr val="111827"/>
                </a:solidFill>
              </a:ln>
            </c:spPr>
          </c:dPt>
          <c:dPt>
            <c:idx val="23"/>
            <c:spPr>
              <a:solidFill>
                <a:srgbClr val="FFD966"/>
              </a:solidFill>
              <a:ln w="9525">
                <a:solidFill>
                  <a:srgbClr val="111827"/>
                </a:solidFill>
              </a:ln>
            </c:spPr>
          </c:dPt>
          <c:dPt>
            <c:idx val="24"/>
            <c:spPr>
              <a:solidFill>
                <a:srgbClr val="FFD966"/>
              </a:solidFill>
              <a:ln w="9525">
                <a:solidFill>
                  <a:srgbClr val="111827"/>
                </a:solidFill>
              </a:ln>
            </c:spPr>
          </c:dPt>
          <c:dPt>
            <c:idx val="25"/>
            <c:spPr>
              <a:solidFill>
                <a:srgbClr val="F6B26B"/>
              </a:solidFill>
              <a:ln w="9525">
                <a:solidFill>
                  <a:srgbClr val="111827"/>
                </a:solidFill>
              </a:ln>
            </c:spPr>
          </c:dPt>
          <c:dPt>
            <c:idx val="26"/>
            <c:spPr>
              <a:solidFill>
                <a:srgbClr val="F6B26B"/>
              </a:solidFill>
              <a:ln w="9525">
                <a:solidFill>
                  <a:srgbClr val="111827"/>
                </a:solidFill>
              </a:ln>
            </c:spPr>
          </c:dPt>
          <c:dPt>
            <c:idx val="27"/>
            <c:spPr>
              <a:solidFill>
                <a:srgbClr val="FFD966"/>
              </a:solidFill>
              <a:ln w="9525">
                <a:solidFill>
                  <a:srgbClr val="111827"/>
                </a:solidFill>
              </a:ln>
            </c:spPr>
          </c:dPt>
          <c:dPt>
            <c:idx val="28"/>
            <c:spPr>
              <a:solidFill>
                <a:srgbClr val="F6B26B"/>
              </a:solidFill>
              <a:ln w="9525">
                <a:solidFill>
                  <a:srgbClr val="111827"/>
                </a:solidFill>
              </a:ln>
            </c:spPr>
          </c:dPt>
          <c:dPt>
            <c:idx val="29"/>
            <c:spPr>
              <a:solidFill>
                <a:srgbClr val="FFD966"/>
              </a:solidFill>
              <a:ln w="9525">
                <a:solidFill>
                  <a:srgbClr val="111827"/>
                </a:solidFill>
              </a:ln>
            </c:spPr>
          </c:dPt>
          <c:dPt>
            <c:idx val="30"/>
            <c:spPr>
              <a:solidFill>
                <a:srgbClr val="E88080"/>
              </a:solidFill>
              <a:ln w="9525">
                <a:solidFill>
                  <a:srgbClr val="111827"/>
                </a:solidFill>
              </a:ln>
            </c:spPr>
          </c:dPt>
          <c:dPt>
            <c:idx val="31"/>
            <c:spPr>
              <a:solidFill>
                <a:srgbClr val="B6D7A8"/>
              </a:solidFill>
              <a:ln w="9525">
                <a:solidFill>
                  <a:srgbClr val="111827"/>
                </a:solidFill>
              </a:ln>
            </c:spPr>
          </c:dPt>
          <c:dPt>
            <c:idx val="32"/>
            <c:spPr>
              <a:solidFill>
                <a:srgbClr val="F6B26B"/>
              </a:solidFill>
              <a:ln w="9525">
                <a:solidFill>
                  <a:srgbClr val="111827"/>
                </a:solidFill>
              </a:ln>
            </c:spPr>
          </c:dPt>
          <c:dPt>
            <c:idx val="33"/>
            <c:spPr>
              <a:solidFill>
                <a:srgbClr val="E88080"/>
              </a:solidFill>
              <a:ln w="9525">
                <a:solidFill>
                  <a:srgbClr val="111827"/>
                </a:solidFill>
              </a:ln>
            </c:spPr>
          </c:dPt>
          <c:cat>
            <c:strRef>
              <c:f>Sheet1!$A$2:$A$35</c:f>
              <c:strCache>
                <c:ptCount val="34"/>
                <c:pt idx="0">
                  <c:v>Q1</c:v>
                </c:pt>
                <c:pt idx="1">
                  <c:v>Q2</c:v>
                </c:pt>
                <c:pt idx="2">
                  <c:v>Q3</c:v>
                </c:pt>
                <c:pt idx="3">
                  <c:v>Q4</c:v>
                </c:pt>
                <c:pt idx="4">
                  <c:v>Q5</c:v>
                </c:pt>
                <c:pt idx="5">
                  <c:v>Q6</c:v>
                </c:pt>
                <c:pt idx="6">
                  <c:v>Q7</c:v>
                </c:pt>
                <c:pt idx="7">
                  <c:v>Q8</c:v>
                </c:pt>
                <c:pt idx="8">
                  <c:v>Q9</c:v>
                </c:pt>
                <c:pt idx="9">
                  <c:v>Q10</c:v>
                </c:pt>
                <c:pt idx="10">
                  <c:v>Q11</c:v>
                </c:pt>
                <c:pt idx="11">
                  <c:v>Q12</c:v>
                </c:pt>
                <c:pt idx="12">
                  <c:v>Q13</c:v>
                </c:pt>
                <c:pt idx="13">
                  <c:v>Q14</c:v>
                </c:pt>
                <c:pt idx="14">
                  <c:v>Q15</c:v>
                </c:pt>
                <c:pt idx="15">
                  <c:v>Q16</c:v>
                </c:pt>
                <c:pt idx="16">
                  <c:v>Q17</c:v>
                </c:pt>
                <c:pt idx="17">
                  <c:v>Q18</c:v>
                </c:pt>
                <c:pt idx="18">
                  <c:v>Q19</c:v>
                </c:pt>
                <c:pt idx="19">
                  <c:v>Q20</c:v>
                </c:pt>
                <c:pt idx="20">
                  <c:v>Q21</c:v>
                </c:pt>
                <c:pt idx="21">
                  <c:v>Q22</c:v>
                </c:pt>
                <c:pt idx="22">
                  <c:v>Q23</c:v>
                </c:pt>
                <c:pt idx="23">
                  <c:v>Q24</c:v>
                </c:pt>
                <c:pt idx="24">
                  <c:v>Q25</c:v>
                </c:pt>
                <c:pt idx="25">
                  <c:v>Q26</c:v>
                </c:pt>
                <c:pt idx="26">
                  <c:v>Q27</c:v>
                </c:pt>
                <c:pt idx="27">
                  <c:v>Q28</c:v>
                </c:pt>
                <c:pt idx="28">
                  <c:v>Q29</c:v>
                </c:pt>
                <c:pt idx="29">
                  <c:v>Q30</c:v>
                </c:pt>
                <c:pt idx="30">
                  <c:v>Q31</c:v>
                </c:pt>
                <c:pt idx="31">
                  <c:v>Q32</c:v>
                </c:pt>
                <c:pt idx="32">
                  <c:v>Q33</c:v>
                </c:pt>
                <c:pt idx="33">
                  <c:v>Q34</c:v>
                </c:pt>
              </c:strCache>
            </c:strRef>
          </c:cat>
          <c:val>
            <c:numRef>
              <c:f>Sheet1!$B$2:$B$35</c:f>
              <c:numCache>
                <c:formatCode>General</c:formatCode>
                <c:ptCount val="34"/>
                <c:pt idx="0">
                  <c:v>1.0</c:v>
                </c:pt>
                <c:pt idx="1">
                  <c:v>1.0</c:v>
                </c:pt>
                <c:pt idx="2">
                  <c:v>1.0</c:v>
                </c:pt>
                <c:pt idx="3">
                  <c:v>1.5</c:v>
                </c:pt>
                <c:pt idx="4">
                  <c:v>1.0</c:v>
                </c:pt>
                <c:pt idx="5">
                  <c:v>2.5</c:v>
                </c:pt>
                <c:pt idx="6">
                  <c:v>2.5</c:v>
                </c:pt>
                <c:pt idx="7">
                  <c:v>2.5</c:v>
                </c:pt>
                <c:pt idx="8">
                  <c:v>1.0</c:v>
                </c:pt>
                <c:pt idx="9">
                  <c:v>1.0</c:v>
                </c:pt>
                <c:pt idx="10">
                  <c:v>2.0</c:v>
                </c:pt>
                <c:pt idx="11">
                  <c:v>3.0</c:v>
                </c:pt>
                <c:pt idx="12">
                  <c:v>1.5</c:v>
                </c:pt>
                <c:pt idx="13">
                  <c:v>1.5</c:v>
                </c:pt>
                <c:pt idx="14">
                  <c:v>2.0</c:v>
                </c:pt>
                <c:pt idx="15">
                  <c:v>1.5</c:v>
                </c:pt>
                <c:pt idx="16">
                  <c:v>2.0</c:v>
                </c:pt>
                <c:pt idx="17">
                  <c:v>2.5</c:v>
                </c:pt>
                <c:pt idx="18">
                  <c:v>2.0</c:v>
                </c:pt>
                <c:pt idx="19">
                  <c:v>2.0</c:v>
                </c:pt>
                <c:pt idx="20">
                  <c:v>3.0</c:v>
                </c:pt>
                <c:pt idx="21">
                  <c:v>2.0</c:v>
                </c:pt>
                <c:pt idx="22">
                  <c:v>2.0</c:v>
                </c:pt>
                <c:pt idx="23">
                  <c:v>2.5</c:v>
                </c:pt>
                <c:pt idx="24">
                  <c:v>2.5</c:v>
                </c:pt>
                <c:pt idx="25">
                  <c:v>3.0</c:v>
                </c:pt>
                <c:pt idx="26">
                  <c:v>3.0</c:v>
                </c:pt>
                <c:pt idx="27">
                  <c:v>2.5</c:v>
                </c:pt>
                <c:pt idx="28">
                  <c:v>3.5</c:v>
                </c:pt>
                <c:pt idx="29">
                  <c:v>2.0</c:v>
                </c:pt>
                <c:pt idx="30">
                  <c:v>4.0</c:v>
                </c:pt>
                <c:pt idx="31">
                  <c:v>1.0</c:v>
                </c:pt>
                <c:pt idx="32">
                  <c:v>3.0</c:v>
                </c:pt>
                <c:pt idx="33">
                  <c:v>4.0</c:v>
                </c:pt>
              </c:numCache>
            </c:numRef>
          </c:val>
        </c:ser>
        <c:dLbls>
          <c:numFmt formatCode="0.0#" sourceLinked="0"/>
          <c:txPr>
            <a:bodyPr/>
            <a:lstStyle/>
            <a:p>
              <a:pPr>
                <a:defRPr sz="2000" b="1">
                  <a:solidFill>
                    <a:srgbClr val="111827"/>
                  </a:solidFill>
                  <a:latin typeface="Arial"/>
                </a:defRPr>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b"/>
        <c:majorTickMark val="out"/>
        <c:minorTickMark val="none"/>
        <c:tickLblPos val="nextTo"/>
        <c:txPr>
          <a:bodyPr/>
          <a:lstStyle/>
          <a:p>
            <a:pPr>
              <a:defRPr sz="2000" b="1">
                <a:latin typeface="Arial"/>
              </a:defRPr>
            </a:pPr>
          </a:p>
        </c:txPr>
        <c:crossAx val="-2113994440"/>
        <c:crosses val="autoZero"/>
        <c:auto val="1"/>
        <c:lblAlgn val="ctr"/>
        <c:lblOffset val="100"/>
        <c:noMultiLvlLbl val="0"/>
      </c:catAx>
      <c:valAx>
        <c:axId val="-2113994440"/>
        <c:scaling>
          <c:max val="5.5"/>
          <c:min val="0.0"/>
        </c:scaling>
        <c:delete val="0"/>
        <c:axPos val="l"/>
        <c:majorGridlines>
          <c:spPr>
            <a:ln>
              <a:solidFill>
                <a:srgbClr val="D1D5DB"/>
              </a:solidFill>
            </a:ln>
          </c:spPr>
        </c:majorGridlines>
        <c:title>
          <c:tx>
            <c:rich>
              <a:bodyPr/>
              <a:lstStyle/>
              <a:p>
                <a:r>
                  <a:rPr sz="2000"/>
                  <a:t>Level</a:t>
                </a:r>
              </a:p>
            </c:rich>
          </c:tx>
          <c:layout/>
          <c:overlay val="0"/>
        </c:title>
        <c:majorTickMark val="out"/>
        <c:minorTickMark val="none"/>
        <c:tickLblPos val="nextTo"/>
        <c:txPr>
          <a:bodyPr/>
          <a:lstStyle/>
          <a:p>
            <a:pPr>
              <a:defRPr sz="2000">
                <a:latin typeface="Arial"/>
              </a:defRPr>
            </a:pPr>
          </a:p>
        </c:txPr>
        <c:crossAx val="-2068027336"/>
        <c:crosses val="autoZero"/>
        <c:majorUnit val="1.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PDF wrote 'Transitive: No, because every element of Relation R does not follow (a,b),(b,c) =&gt; (a,c)' without a counter-example, and its reflexive line has lost its symbols. Added the explicit counter-examples; the answer (B) is unchanged.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PDF's reflexive line says 'Yes, because (6,12) in R but (12,6) not in R' - that sentence is the reason for NOT symmetric, and the symmetric check is missing. Re-assigned the reasons; the answer (A) is unchanged.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PDF has no usable solution for this question; the solution was written by Claude.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PDF argued 'If x = wy then y = wx not always' (garbled, no counter-example) and its transitivity line for S ('ms = rn') skips the cancellation of p, which fails when p = 0. Replaced by the explicit counter-example (0,1) and the full transitivity argument; answer (C) is unchanged.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PDF's symmetric check for B reads 'if x = alpha x not always is not an equivalence relation' (garbled, no counter-example). Replaced by the explicit pair (0,1); answer (A) is unchanged.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PDF has no usable solution for this question; the solution was written by Claude.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PDF has two typos: 'n(B) = 8' should be n(A x B) = 8, and 'Total number of subsets = 2^8 = 250' should be 2^8 = 256. Its final 256 - (28+8+1) = 219 is right; answer (C) unchanged.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PDF's working is only a sketch: it never states the ranges of k, the sum of C, or why B and C are disjoint (its 'if B u C = B' check is the case l = 2), and the sum symbol limits are garbled. Filled in these steps; answer 5 is unchanged and was verified by brute force over all 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PDF's symmetric step says 'PBP^-1 = P^-1BP can be true for some P = P^-1, i.e. P^2 = I', which only treats matrices with P^2 = I; the correct argument uses Q = P^-1. Its transitive step uses the same P for both relations (PPAP^-1P^-1 = C); the second relation has its own matrix Q, and the product is QP. Answer (B) is unchanged.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PDF has no usable solution for this question; the solution was written by Claude.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PDF's Case II line reads 'x^2+7x+12-6' with the sign of the left side dropped (the equation is -(x+3)(x+4)=6), and its Case I roots are printed garbled ('173'/'73'); the correct discriminant is 1+72=73. Answer (A) unchanged.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PDF's first line reads 'A = {n in N | n^2 &lt;= n + 1000}' (typo: 1000 for 10000); the next line uses n(n-1) &lt;= 10000 correctly. Answer 832 unchanged and verified by brute force.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PDF stops at 'a+b+c &lt;= 100 =&gt; c &gt;= 87'. It never gives the upper bound K &lt;= 89 or states the conclusion. Both were added; the answer (B) is unchanged.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PDF has no usable solution for this question; the solution was written by Claude.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PDF prints 'A - B = (1, 1)' (typo; the correct set is (-1, 1)). All other lines and the answer (B) are correct.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PDF concludes for R2 '(10,15),(15,23) in R2 but (10,23) in R2' - the last membership should be NOT in R2 (|10-23| = 13). Corrected; answer (B) unchanged.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PDF counts only 14 primes and '10' two-pair primes (it omits 19), getting n(R1) = 6+4+3+3+2x10 = 36 and n(R2) = 2x14 = 28. The correct counts are 38 and 30 (15 primes). The difference 8 is the same, so the answer 8 is unchanged.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PDF has no usable solution for this question; the solution was written by Claude.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a:lstStyle>
            <a:lvl1pPr>
              <a:defRPr sz="4000">
                <a:solidFill>
                  <a:srgbClr val="FFFFFF"/>
                </a:solidFill>
              </a:defRPr>
            </a:lvl1pPr>
          </a:lstStyle>
          <a:p>
            <a:pPr algn="ctr">
              <a:defRPr sz="4000">
                <a:solidFill>
                  <a:srgbClr val="FFFFFF"/>
                </a:solidFill>
              </a:defRPr>
            </a:pPr>
            <a:r>
              <a:rPr sz="4000" b="1">
                <a:solidFill>
                  <a:srgbClr val="FFFFFF"/>
                </a:solidFill>
                <a:latin typeface="Arial"/>
              </a:rPr>
              <a:t>Sets &amp; Relations — Paper Analysis</a:t>
            </a:r>
            <a:endParaRPr sz="4000">
              <a:solidFill>
                <a:srgbClr val="FFFFFF"/>
              </a:solidFill>
            </a:endParaRPr>
          </a:p>
          <a:p>
            <a:pPr algn="ctr"/>
            <a:r>
              <a:rPr sz="2200">
                <a:solidFill>
                  <a:srgbClr val="FFFFFF"/>
                </a:solidFill>
                <a:latin typeface="Arial"/>
              </a:rPr>
              <a:t>XII Sheet · Set &amp; Relation (FCopy JM) · detailed solutions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1</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Single Correct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Q01 – Q11</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Marks not printed in the paper: +4 assumed (JEE Advanced default)</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Questions are from AIEEE / JEE Main papers</a:t>
            </a:r>
            <a:endParaRPr sz="2800">
              <a:solidFill>
                <a:srgbClr val="FFFFFF"/>
              </a:solidFill>
            </a:endParaR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be a relation on the set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relation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transitive   (B) not symmetric   (C) reflexive   (D) a function</a:t>
                </a:r>
                <a:endParaRPr sz="2400">
                  <a:solidFill>
                    <a:srgbClr val="111827"/>
                  </a:solidFill>
                </a:endParaRPr>
              </a:p>
            </p:txBody>
          </p:sp>
        </mc:Choice>
        <mc:Fallback>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$R=\{(1,3),(4,2),(2,4),(2,3),(3,1)\}$</a:t>
                </a:r>
                <a:r>
                  <a:rPr sz="2400" b="0">
                    <a:solidFill>
                      <a:srgbClr val="111827"/>
                    </a:solidFill>
                    <a:latin typeface="Arial"/>
                  </a:rPr>
                  <a:t> be a relation on the set </a:t>
                </a:r>
                <a:r>
                  <a:rPr lang="en-IN" sz="2400">
                    <a:solidFill>
                      <a:srgbClr val="111827"/>
                    </a:solidFill>
                    <a:latin typeface="Cambria Math" panose="02040503050406030204" pitchFamily="18" charset="0"/>
                  </a:rPr>
                  <a:t>$A=\{1,2,3,4\}$</a:t>
                </a:r>
                <a:r>
                  <a:rPr sz="2400" b="0">
                    <a:solidFill>
                      <a:srgbClr val="111827"/>
                    </a:solidFill>
                    <a:latin typeface="Arial"/>
                  </a:rPr>
                  <a:t>. The relation </a:t>
                </a:r>
                <a:r>
                  <a:rPr lang="en-IN" sz="2400">
                    <a:solidFill>
                      <a:srgbClr val="111827"/>
                    </a:solidFill>
                    <a:latin typeface="Cambria Math" panose="02040503050406030204" pitchFamily="18" charset="0"/>
                  </a:rPr>
                  <a:t>$R$</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transitive   (B) not symmetric   (C) reflexive   (D) a function</a:t>
                </a:r>
                <a:endParaRPr sz="2400">
                  <a:solidFill>
                    <a:srgbClr val="111827"/>
                  </a:solidFill>
                </a:endParaRPr>
              </a:p>
            </p:txBody>
          </p:sp>
        </mc:Fallback>
      </mc:AlternateContent>
      <p:sp>
        <p:nvSpPr>
          <p:cNvPr id="5" name="Rectangle 4"/>
          <p:cNvSpPr/>
          <p:nvPr/>
        </p:nvSpPr>
        <p:spPr>
          <a:xfrm>
            <a:off x="731520" y="3580383"/>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Types of relations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 single pair with no reverse,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𝑅</m:t>
                    </m:r>
                  </m:oMath>
                </a14:m>
                <a:r>
                  <a:rPr sz="2400" b="0">
                    <a:solidFill>
                      <a:srgbClr val="78350F"/>
                    </a:solidFill>
                    <a:latin typeface="Arial"/>
                  </a:rPr>
                  <a:t> but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𝑅</m:t>
                    </m:r>
                  </m:oMath>
                </a14:m>
                <a:r>
                  <a:rPr sz="2400" b="0">
                    <a:solidFill>
                      <a:srgbClr val="78350F"/>
                    </a:solidFill>
                    <a:latin typeface="Arial"/>
                  </a:rPr>
                  <a:t>, already decides symmetry.</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 single pair with no reverse, </a:t>
                </a:r>
                <a:r>
                  <a:rPr lang="en-IN" sz="2400">
                    <a:solidFill>
                      <a:srgbClr val="78350F"/>
                    </a:solidFill>
                    <a:latin typeface="Cambria Math" panose="02040503050406030204" pitchFamily="18" charset="0"/>
                  </a:rPr>
                  <a:t>$(2,3)\in R$</a:t>
                </a:r>
                <a:r>
                  <a:rPr sz="2400" b="0">
                    <a:solidFill>
                      <a:srgbClr val="78350F"/>
                    </a:solidFill>
                    <a:latin typeface="Arial"/>
                  </a:rPr>
                  <a:t> but </a:t>
                </a:r>
                <a:r>
                  <a:rPr lang="en-IN" sz="2400">
                    <a:solidFill>
                      <a:srgbClr val="78350F"/>
                    </a:solidFill>
                    <a:latin typeface="Cambria Math" panose="02040503050406030204" pitchFamily="18" charset="0"/>
                  </a:rPr>
                  <a:t>$(3,2)\notin R$</a:t>
                </a:r>
                <a:r>
                  <a:rPr sz="2400" b="0">
                    <a:solidFill>
                      <a:srgbClr val="78350F"/>
                    </a:solidFill>
                    <a:latin typeface="Arial"/>
                  </a:rPr>
                  <a:t>, already decides symmetry.</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Reflexive needs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none of them is present, so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not reflexive.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Symmetric: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but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not symmetric.</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Transitive: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would force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but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not transitive.</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Reflexive needs </a:t>
                </a:r>
                <a:r>
                  <a:rPr lang="en-IN" sz="2400">
                    <a:solidFill>
                      <a:srgbClr val="111827"/>
                    </a:solidFill>
                    <a:latin typeface="Cambria Math" panose="02040503050406030204" pitchFamily="18" charset="0"/>
                  </a:rPr>
                  <a:t>$(1,1),(2,2),(3,3),(4,4)\in R$</a:t>
                </a:r>
                <a:r>
                  <a:rPr sz="2400" b="0">
                    <a:solidFill>
                      <a:srgbClr val="111827"/>
                    </a:solidFill>
                    <a:latin typeface="Arial"/>
                  </a:rPr>
                  <a:t>; none of them is present, so </a:t>
                </a:r>
                <a:r>
                  <a:rPr lang="en-IN" sz="2400">
                    <a:solidFill>
                      <a:srgbClr val="111827"/>
                    </a:solidFill>
                    <a:latin typeface="Cambria Math" panose="02040503050406030204" pitchFamily="18" charset="0"/>
                  </a:rPr>
                  <a:t>$R$</a:t>
                </a:r>
                <a:r>
                  <a:rPr sz="2400" b="0">
                    <a:solidFill>
                      <a:srgbClr val="111827"/>
                    </a:solidFill>
                    <a:latin typeface="Arial"/>
                  </a:rPr>
                  <a:t> is not reflexive.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Symmetric: </a:t>
                </a:r>
                <a:r>
                  <a:rPr lang="en-IN" sz="2400">
                    <a:solidFill>
                      <a:srgbClr val="111827"/>
                    </a:solidFill>
                    <a:latin typeface="Cambria Math" panose="02040503050406030204" pitchFamily="18" charset="0"/>
                  </a:rPr>
                  <a:t>$(2,3)\in R$</a:t>
                </a:r>
                <a:r>
                  <a:rPr sz="2400" b="0">
                    <a:solidFill>
                      <a:srgbClr val="111827"/>
                    </a:solidFill>
                    <a:latin typeface="Arial"/>
                  </a:rPr>
                  <a:t> but </a:t>
                </a:r>
                <a:r>
                  <a:rPr lang="en-IN" sz="2400">
                    <a:solidFill>
                      <a:srgbClr val="111827"/>
                    </a:solidFill>
                    <a:latin typeface="Cambria Math" panose="02040503050406030204" pitchFamily="18" charset="0"/>
                  </a:rPr>
                  <a:t>$(3,2)\notin R$</a:t>
                </a:r>
                <a:r>
                  <a:rPr sz="2400" b="0">
                    <a:solidFill>
                      <a:srgbClr val="111827"/>
                    </a:solidFill>
                    <a:latin typeface="Arial"/>
                  </a:rPr>
                  <a:t>, so </a:t>
                </a:r>
                <a:r>
                  <a:rPr lang="en-IN" sz="2400">
                    <a:solidFill>
                      <a:srgbClr val="111827"/>
                    </a:solidFill>
                    <a:latin typeface="Cambria Math" panose="02040503050406030204" pitchFamily="18" charset="0"/>
                  </a:rPr>
                  <a:t>$R$</a:t>
                </a:r>
                <a:r>
                  <a:rPr sz="2400" b="0">
                    <a:solidFill>
                      <a:srgbClr val="111827"/>
                    </a:solidFill>
                    <a:latin typeface="Arial"/>
                  </a:rPr>
                  <a:t> is not symmetric.</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Transitive: </a:t>
                </a:r>
                <a:r>
                  <a:rPr lang="en-IN" sz="2400">
                    <a:solidFill>
                      <a:srgbClr val="111827"/>
                    </a:solidFill>
                    <a:latin typeface="Cambria Math" panose="02040503050406030204" pitchFamily="18" charset="0"/>
                  </a:rPr>
                  <a:t>$(1,3)\in R$</a:t>
                </a:r>
                <a:r>
                  <a:rPr sz="2400" b="0">
                    <a:solidFill>
                      <a:srgbClr val="111827"/>
                    </a:solidFill>
                    <a:latin typeface="Arial"/>
                  </a:rPr>
                  <a:t> and </a:t>
                </a:r>
                <a:r>
                  <a:rPr lang="en-IN" sz="2400">
                    <a:solidFill>
                      <a:srgbClr val="111827"/>
                    </a:solidFill>
                    <a:latin typeface="Cambria Math" panose="02040503050406030204" pitchFamily="18" charset="0"/>
                  </a:rPr>
                  <a:t>$(3,1)\in R$</a:t>
                </a:r>
                <a:r>
                  <a:rPr sz="2400" b="0">
                    <a:solidFill>
                      <a:srgbClr val="111827"/>
                    </a:solidFill>
                    <a:latin typeface="Arial"/>
                  </a:rPr>
                  <a:t> would force </a:t>
                </a:r>
                <a:r>
                  <a:rPr lang="en-IN" sz="2400">
                    <a:solidFill>
                      <a:srgbClr val="111827"/>
                    </a:solidFill>
                    <a:latin typeface="Cambria Math" panose="02040503050406030204" pitchFamily="18" charset="0"/>
                  </a:rPr>
                  <a:t>$(1,1)\in R$</a:t>
                </a:r>
                <a:r>
                  <a:rPr sz="2400" b="0">
                    <a:solidFill>
                      <a:srgbClr val="111827"/>
                    </a:solidFill>
                    <a:latin typeface="Arial"/>
                  </a:rPr>
                  <a:t>, but </a:t>
                </a:r>
                <a:r>
                  <a:rPr lang="en-IN" sz="2400">
                    <a:solidFill>
                      <a:srgbClr val="111827"/>
                    </a:solidFill>
                    <a:latin typeface="Cambria Math" panose="02040503050406030204" pitchFamily="18" charset="0"/>
                  </a:rPr>
                  <a:t>$(1,1)\notin R$</a:t>
                </a:r>
                <a:r>
                  <a:rPr sz="2400" b="0">
                    <a:solidFill>
                      <a:srgbClr val="111827"/>
                    </a:solidFill>
                    <a:latin typeface="Arial"/>
                  </a:rPr>
                  <a:t>, so </a:t>
                </a:r>
                <a:r>
                  <a:rPr lang="en-IN" sz="2400">
                    <a:solidFill>
                      <a:srgbClr val="111827"/>
                    </a:solidFill>
                    <a:latin typeface="Cambria Math" panose="02040503050406030204" pitchFamily="18" charset="0"/>
                  </a:rPr>
                  <a:t>$R$</a:t>
                </a:r>
                <a:r>
                  <a:rPr sz="2400" b="0">
                    <a:solidFill>
                      <a:srgbClr val="111827"/>
                    </a:solidFill>
                    <a:latin typeface="Arial"/>
                  </a:rPr>
                  <a:t> is not transitive.</a:t>
                </a:r>
                <a:endParaRPr sz="2400">
                  <a:solidFill>
                    <a:srgbClr val="111827"/>
                  </a:solidFill>
                </a:endParaRPr>
              </a:p>
            </p:txBody>
          </p:sp>
        </mc:Fallback>
      </mc:AlternateContent>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Function: the element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occurs as first coordinate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it has two images;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not a function.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Only option (B) is true.</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Function: the element </a:t>
                </a:r>
                <a:r>
                  <a:rPr lang="en-IN" sz="2400">
                    <a:solidFill>
                      <a:srgbClr val="111827"/>
                    </a:solidFill>
                    <a:latin typeface="Cambria Math" panose="02040503050406030204" pitchFamily="18" charset="0"/>
                  </a:rPr>
                  <a:t>$2$</a:t>
                </a:r>
                <a:r>
                  <a:rPr sz="2400" b="0">
                    <a:solidFill>
                      <a:srgbClr val="111827"/>
                    </a:solidFill>
                    <a:latin typeface="Arial"/>
                  </a:rPr>
                  <a:t> occurs as first coordinate in </a:t>
                </a:r>
                <a:r>
                  <a:rPr lang="en-IN" sz="2400">
                    <a:solidFill>
                      <a:srgbClr val="111827"/>
                    </a:solidFill>
                    <a:latin typeface="Cambria Math" panose="02040503050406030204" pitchFamily="18" charset="0"/>
                  </a:rPr>
                  <a:t>$(2,4)$</a:t>
                </a:r>
                <a:r>
                  <a:rPr sz="2400" b="0">
                    <a:solidFill>
                      <a:srgbClr val="111827"/>
                    </a:solidFill>
                    <a:latin typeface="Arial"/>
                  </a:rPr>
                  <a:t> and </a:t>
                </a:r>
                <a:r>
                  <a:rPr lang="en-IN" sz="2400">
                    <a:solidFill>
                      <a:srgbClr val="111827"/>
                    </a:solidFill>
                    <a:latin typeface="Cambria Math" panose="02040503050406030204" pitchFamily="18" charset="0"/>
                  </a:rPr>
                  <a:t>$(2,3)$</a:t>
                </a:r>
                <a:r>
                  <a:rPr sz="2400" b="0">
                    <a:solidFill>
                      <a:srgbClr val="111827"/>
                    </a:solidFill>
                    <a:latin typeface="Arial"/>
                  </a:rPr>
                  <a:t>, so it has two images; </a:t>
                </a:r>
                <a:r>
                  <a:rPr lang="en-IN" sz="2400">
                    <a:solidFill>
                      <a:srgbClr val="111827"/>
                    </a:solidFill>
                    <a:latin typeface="Cambria Math" panose="02040503050406030204" pitchFamily="18" charset="0"/>
                  </a:rPr>
                  <a:t>$R$</a:t>
                </a:r>
                <a:r>
                  <a:rPr sz="2400" b="0">
                    <a:solidFill>
                      <a:srgbClr val="111827"/>
                    </a:solidFill>
                    <a:latin typeface="Arial"/>
                  </a:rPr>
                  <a:t> is not a function.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Only option (B) is true.</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not symmetric</a:t>
            </a:r>
            <a:endParaRPr sz="2800">
              <a:solidFill>
                <a:srgbClr val="15803D"/>
              </a:solidFill>
            </a:endParaR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Write </a:t>
                </a:r>
                <a14:m>
                  <m:oMath xmlns:m="http://schemas.openxmlformats.org/officeDocument/2006/math">
                    <m:r>
                      <a:rPr lang="en-IN" sz="2400" i="1">
                        <a:solidFill>
                          <a:srgbClr val="78350F"/>
                        </a:solidFill>
                        <a:latin typeface="Cambria Math" panose="02040503050406030204" pitchFamily="18" charset="0"/>
                      </a:rPr>
                      <m:t>𝑅</m:t>
                    </m:r>
                  </m:oMath>
                </a14:m>
                <a:r>
                  <a:rPr sz="2400" b="0">
                    <a:solidFill>
                      <a:srgbClr val="78350F"/>
                    </a:solidFill>
                    <a:latin typeface="Arial"/>
                  </a:rPr>
                  <a:t> as a </a:t>
                </a:r>
                <a14:m>
                  <m:oMath xmlns:m="http://schemas.openxmlformats.org/officeDocument/2006/math">
                    <m:r>
                      <a:rPr lang="en-IN" sz="2400" i="1">
                        <a:solidFill>
                          <a:srgbClr val="78350F"/>
                        </a:solidFill>
                        <a:latin typeface="Cambria Math" panose="02040503050406030204" pitchFamily="18" charset="0"/>
                      </a:rPr>
                      <m:t>0</m:t>
                    </m:r>
                  </m:oMath>
                </a14:m>
                <a:r>
                  <a:rPr sz="2400" b="0">
                    <a:solidFill>
                      <a:srgbClr val="78350F"/>
                    </a:solidFill>
                    <a:latin typeface="Arial"/>
                  </a:rPr>
                  <a:t>-</a:t>
                </a:r>
                <a14:m>
                  <m:oMath xmlns:m="http://schemas.openxmlformats.org/officeDocument/2006/math">
                    <m:r>
                      <a:rPr lang="en-IN" sz="2400" i="1">
                        <a:solidFill>
                          <a:srgbClr val="78350F"/>
                        </a:solidFill>
                        <a:latin typeface="Cambria Math" panose="02040503050406030204" pitchFamily="18" charset="0"/>
                      </a:rPr>
                      <m:t>1</m:t>
                    </m:r>
                  </m:oMath>
                </a14:m>
                <a:r>
                  <a:rPr sz="2400" b="0">
                    <a:solidFill>
                      <a:srgbClr val="78350F"/>
                    </a:solidFill>
                    <a:latin typeface="Arial"/>
                  </a:rPr>
                  <a:t> matrix </a:t>
                </a:r>
                <a14:m>
                  <m:oMath xmlns:m="http://schemas.openxmlformats.org/officeDocument/2006/math">
                    <m:r>
                      <a:rPr lang="en-IN" sz="2400" i="1">
                        <a:solidFill>
                          <a:srgbClr val="78350F"/>
                        </a:solidFill>
                        <a:latin typeface="Cambria Math" panose="02040503050406030204" pitchFamily="18" charset="0"/>
                      </a:rPr>
                      <m:t>𝑀</m:t>
                    </m:r>
                  </m:oMath>
                </a14:m>
                <a:r>
                  <a:rPr sz="2400" b="0">
                    <a:solidFill>
                      <a:srgbClr val="78350F"/>
                    </a:solidFill>
                    <a:latin typeface="Arial"/>
                  </a:rPr>
                  <a:t>: symmetric means </a:t>
                </a:r>
                <a14:m>
                  <m:oMath xmlns:m="http://schemas.openxmlformats.org/officeDocument/2006/math">
                    <m:r>
                      <a:rPr lang="en-IN" sz="2400" i="1">
                        <a:solidFill>
                          <a:srgbClr val="78350F"/>
                        </a:solidFill>
                        <a:latin typeface="Cambria Math" panose="02040503050406030204" pitchFamily="18" charset="0"/>
                      </a:rPr>
                      <m:t>𝑀</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𝑀</m:t>
                        </m:r>
                      </m:e>
                      <m:sup>
                        <m:r>
                          <a:rPr lang="en-IN" sz="2400" i="1">
                            <a:solidFill>
                              <a:srgbClr val="78350F"/>
                            </a:solidFill>
                            <a:latin typeface="Cambria Math" panose="02040503050406030204" pitchFamily="18" charset="0"/>
                          </a:rPr>
                          <m:t>𝑇</m:t>
                        </m:r>
                      </m:sup>
                    </m:sSup>
                  </m:oMath>
                </a14:m>
                <a:r>
                  <a:rPr sz="2400" b="0">
                    <a:solidFill>
                      <a:srgbClr val="78350F"/>
                    </a:solidFill>
                    <a:latin typeface="Arial"/>
                  </a:rPr>
                  <a:t> and transitive means the Boolean square </a:t>
                </a:r>
                <a14:m>
                  <m:oMath xmlns:m="http://schemas.openxmlformats.org/officeDocument/2006/math">
                    <m:sSup>
                      <m:e>
                        <m:r>
                          <a:rPr lang="en-IN" sz="2400" i="1">
                            <a:solidFill>
                              <a:srgbClr val="78350F"/>
                            </a:solidFill>
                            <a:latin typeface="Cambria Math" panose="02040503050406030204" pitchFamily="18" charset="0"/>
                          </a:rPr>
                          <m:t>𝑀</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𝑀</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Write </a:t>
                </a:r>
                <a:r>
                  <a:rPr lang="en-IN" sz="2400">
                    <a:solidFill>
                      <a:srgbClr val="78350F"/>
                    </a:solidFill>
                    <a:latin typeface="Cambria Math" panose="02040503050406030204" pitchFamily="18" charset="0"/>
                  </a:rPr>
                  <a:t>$R$</a:t>
                </a:r>
                <a:r>
                  <a:rPr sz="2400" b="0">
                    <a:solidFill>
                      <a:srgbClr val="78350F"/>
                    </a:solidFill>
                    <a:latin typeface="Arial"/>
                  </a:rPr>
                  <a:t> as a </a:t>
                </a:r>
                <a:r>
                  <a:rPr lang="en-IN" sz="2400">
                    <a:solidFill>
                      <a:srgbClr val="78350F"/>
                    </a:solidFill>
                    <a:latin typeface="Cambria Math" panose="02040503050406030204" pitchFamily="18" charset="0"/>
                  </a:rPr>
                  <a:t>$0$</a:t>
                </a:r>
                <a:r>
                  <a:rPr sz="2400" b="0">
                    <a:solidFill>
                      <a:srgbClr val="78350F"/>
                    </a:solidFill>
                    <a:latin typeface="Arial"/>
                  </a:rPr>
                  <a:t>-</a:t>
                </a:r>
                <a:r>
                  <a:rPr lang="en-IN" sz="2400">
                    <a:solidFill>
                      <a:srgbClr val="78350F"/>
                    </a:solidFill>
                    <a:latin typeface="Cambria Math" panose="02040503050406030204" pitchFamily="18" charset="0"/>
                  </a:rPr>
                  <a:t>$1$</a:t>
                </a:r>
                <a:r>
                  <a:rPr sz="2400" b="0">
                    <a:solidFill>
                      <a:srgbClr val="78350F"/>
                    </a:solidFill>
                    <a:latin typeface="Arial"/>
                  </a:rPr>
                  <a:t> matrix </a:t>
                </a:r>
                <a:r>
                  <a:rPr lang="en-IN" sz="2400">
                    <a:solidFill>
                      <a:srgbClr val="78350F"/>
                    </a:solidFill>
                    <a:latin typeface="Cambria Math" panose="02040503050406030204" pitchFamily="18" charset="0"/>
                  </a:rPr>
                  <a:t>$M$</a:t>
                </a:r>
                <a:r>
                  <a:rPr sz="2400" b="0">
                    <a:solidFill>
                      <a:srgbClr val="78350F"/>
                    </a:solidFill>
                    <a:latin typeface="Arial"/>
                  </a:rPr>
                  <a:t>: symmetric means </a:t>
                </a:r>
                <a:r>
                  <a:rPr lang="en-IN" sz="2400">
                    <a:solidFill>
                      <a:srgbClr val="78350F"/>
                    </a:solidFill>
                    <a:latin typeface="Cambria Math" panose="02040503050406030204" pitchFamily="18" charset="0"/>
                  </a:rPr>
                  <a:t>$M=M^T$</a:t>
                </a:r>
                <a:r>
                  <a:rPr sz="2400" b="0">
                    <a:solidFill>
                      <a:srgbClr val="78350F"/>
                    </a:solidFill>
                    <a:latin typeface="Arial"/>
                  </a:rPr>
                  <a:t> and transitive means the Boolean square </a:t>
                </a:r>
                <a:r>
                  <a:rPr lang="en-IN" sz="2400">
                    <a:solidFill>
                      <a:srgbClr val="78350F"/>
                    </a:solidFill>
                    <a:latin typeface="Cambria Math" panose="02040503050406030204" pitchFamily="18" charset="0"/>
                  </a:rPr>
                  <a:t>$M^2\le M$</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Rows/columns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𝑀</m:t>
                        </m:r>
                      </m:e>
                      <m:sub>
                        <m:r>
                          <a:rPr lang="en-IN" sz="2400" i="1">
                            <a:solidFill>
                              <a:srgbClr val="111827"/>
                            </a:solidFill>
                            <a:latin typeface="Cambria Math" panose="02040503050406030204" pitchFamily="18" charset="0"/>
                          </a:rPr>
                          <m:t>13</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𝑀</m:t>
                        </m:r>
                      </m:e>
                      <m:sub>
                        <m:r>
                          <a:rPr lang="en-IN" sz="2400" i="1">
                            <a:solidFill>
                              <a:srgbClr val="111827"/>
                            </a:solidFill>
                            <a:latin typeface="Cambria Math" panose="02040503050406030204" pitchFamily="18" charset="0"/>
                          </a:rPr>
                          <m:t>31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𝑀</m:t>
                        </m:r>
                      </m:e>
                      <m:sub>
                        <m:r>
                          <a:rPr lang="en-IN" sz="2400" i="1">
                            <a:solidFill>
                              <a:srgbClr val="111827"/>
                            </a:solidFill>
                            <a:latin typeface="Cambria Math" panose="02040503050406030204" pitchFamily="18" charset="0"/>
                          </a:rPr>
                          <m:t>24</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𝑀</m:t>
                        </m:r>
                      </m:e>
                      <m:sub>
                        <m:r>
                          <a:rPr lang="en-IN" sz="2400" i="1">
                            <a:solidFill>
                              <a:srgbClr val="111827"/>
                            </a:solidFill>
                            <a:latin typeface="Cambria Math" panose="02040503050406030204" pitchFamily="18" charset="0"/>
                          </a:rPr>
                          <m:t>42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𝑀</m:t>
                        </m:r>
                      </m:e>
                      <m:sub>
                        <m:r>
                          <a:rPr lang="en-IN" sz="2400" i="1">
                            <a:solidFill>
                              <a:srgbClr val="111827"/>
                            </a:solidFill>
                            <a:latin typeface="Cambria Math" panose="02040503050406030204" pitchFamily="18" charset="0"/>
                          </a:rPr>
                          <m:t>23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every other entry is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Compare </a:t>
                </a:r>
                <a14:m>
                  <m:oMath xmlns:m="http://schemas.openxmlformats.org/officeDocument/2006/math">
                    <m:r>
                      <a:rPr lang="en-IN" sz="2400" i="1">
                        <a:solidFill>
                          <a:srgbClr val="111827"/>
                        </a:solidFill>
                        <a:latin typeface="Cambria Math" panose="02040503050406030204" pitchFamily="18" charset="0"/>
                      </a:rPr>
                      <m:t>𝑀</m:t>
                    </m:r>
                  </m:oMath>
                </a14:m>
                <a:r>
                  <a:rPr sz="2400" b="0">
                    <a:solidFill>
                      <a:srgbClr val="111827"/>
                    </a:solidFill>
                    <a:latin typeface="Arial"/>
                  </a:rPr>
                  <a:t> with </a:t>
                </a:r>
                <a14:m>
                  <m:oMath xmlns:m="http://schemas.openxmlformats.org/officeDocument/2006/math">
                    <m:sSup>
                      <m:e>
                        <m:r>
                          <a:rPr lang="en-IN" sz="2400" i="1">
                            <a:solidFill>
                              <a:srgbClr val="111827"/>
                            </a:solidFill>
                            <a:latin typeface="Cambria Math" panose="02040503050406030204" pitchFamily="18" charset="0"/>
                          </a:rPr>
                          <m:t>𝑀</m:t>
                        </m:r>
                      </m:e>
                      <m:sup>
                        <m:r>
                          <a:rPr lang="en-IN" sz="2400" i="1">
                            <a:solidFill>
                              <a:srgbClr val="111827"/>
                            </a:solidFill>
                            <a:latin typeface="Cambria Math" panose="02040503050406030204" pitchFamily="18" charset="0"/>
                          </a:rPr>
                          <m:t>𝑇</m:t>
                        </m:r>
                      </m:sup>
                    </m:sSup>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𝑀</m:t>
                        </m:r>
                      </m:e>
                      <m:sub>
                        <m:r>
                          <a:rPr lang="en-IN" sz="2400" i="1">
                            <a:solidFill>
                              <a:srgbClr val="111827"/>
                            </a:solidFill>
                            <a:latin typeface="Cambria Math" panose="02040503050406030204" pitchFamily="18" charset="0"/>
                          </a:rPr>
                          <m:t>23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but </a:t>
                </a:r>
                <a14:m>
                  <m:oMath xmlns:m="http://schemas.openxmlformats.org/officeDocument/2006/math">
                    <m:sSub>
                      <m:e>
                        <m:r>
                          <a:rPr lang="en-IN" sz="2400" i="1">
                            <a:solidFill>
                              <a:srgbClr val="111827"/>
                            </a:solidFill>
                            <a:latin typeface="Cambria Math" panose="02040503050406030204" pitchFamily="18" charset="0"/>
                          </a:rPr>
                          <m:t>𝑀</m:t>
                        </m:r>
                      </m:e>
                      <m:sub>
                        <m:r>
                          <a:rPr lang="en-IN" sz="2400" i="1">
                            <a:solidFill>
                              <a:srgbClr val="111827"/>
                            </a:solidFill>
                            <a:latin typeface="Cambria Math" panose="02040503050406030204" pitchFamily="18" charset="0"/>
                          </a:rPr>
                          <m:t>32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𝑀</m:t>
                        </m:r>
                      </m:e>
                      <m:sup>
                        <m:r>
                          <a:rPr lang="en-IN" sz="2400" i="1">
                            <a:solidFill>
                              <a:srgbClr val="111827"/>
                            </a:solidFill>
                            <a:latin typeface="Cambria Math" panose="02040503050406030204" pitchFamily="18" charset="0"/>
                          </a:rPr>
                          <m:t>𝑇</m:t>
                        </m:r>
                      </m:sup>
                    </m:sSup>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not symmetric.</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diagonal of </a:t>
                </a:r>
                <a14:m>
                  <m:oMath xmlns:m="http://schemas.openxmlformats.org/officeDocument/2006/math">
                    <m:r>
                      <a:rPr lang="en-IN" sz="2400" i="1">
                        <a:solidFill>
                          <a:srgbClr val="111827"/>
                        </a:solidFill>
                        <a:latin typeface="Cambria Math" panose="02040503050406030204" pitchFamily="18" charset="0"/>
                      </a:rPr>
                      <m:t>𝑀</m:t>
                    </m:r>
                  </m:oMath>
                </a14:m>
                <a:r>
                  <a:rPr sz="2400" b="0">
                    <a:solidFill>
                      <a:srgbClr val="111827"/>
                    </a:solidFill>
                    <a:latin typeface="Arial"/>
                  </a:rPr>
                  <a:t> is all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not reflexive.</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Rows/columns </a:t>
                </a:r>
                <a:r>
                  <a:rPr lang="en-IN" sz="2400">
                    <a:solidFill>
                      <a:srgbClr val="111827"/>
                    </a:solidFill>
                    <a:latin typeface="Cambria Math" panose="02040503050406030204" pitchFamily="18" charset="0"/>
                  </a:rPr>
                  <a:t>$1,2,3,4$</a:t>
                </a:r>
                <a:r>
                  <a:rPr sz="2400" b="0">
                    <a:solidFill>
                      <a:srgbClr val="111827"/>
                    </a:solidFill>
                    <a:latin typeface="Arial"/>
                  </a:rPr>
                  <a:t>: </a:t>
                </a:r>
                <a:r>
                  <a:rPr lang="en-IN" sz="2400">
                    <a:solidFill>
                      <a:srgbClr val="111827"/>
                    </a:solidFill>
                    <a:latin typeface="Cambria Math" panose="02040503050406030204" pitchFamily="18" charset="0"/>
                  </a:rPr>
                  <a:t>$M_{13}=M_{31}=M_{24}=M_{42}=M_{23}=1$</a:t>
                </a:r>
                <a:r>
                  <a:rPr sz="2400" b="0">
                    <a:solidFill>
                      <a:srgbClr val="111827"/>
                    </a:solidFill>
                    <a:latin typeface="Arial"/>
                  </a:rPr>
                  <a:t> and every other entry is </a:t>
                </a:r>
                <a:r>
                  <a:rPr lang="en-IN" sz="2400">
                    <a:solidFill>
                      <a:srgbClr val="111827"/>
                    </a:solidFill>
                    <a:latin typeface="Cambria Math" panose="02040503050406030204" pitchFamily="18" charset="0"/>
                  </a:rPr>
                  <a: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Compare </a:t>
                </a:r>
                <a:r>
                  <a:rPr lang="en-IN" sz="2400">
                    <a:solidFill>
                      <a:srgbClr val="111827"/>
                    </a:solidFill>
                    <a:latin typeface="Cambria Math" panose="02040503050406030204" pitchFamily="18" charset="0"/>
                  </a:rPr>
                  <a:t>$M$</a:t>
                </a:r>
                <a:r>
                  <a:rPr sz="2400" b="0">
                    <a:solidFill>
                      <a:srgbClr val="111827"/>
                    </a:solidFill>
                    <a:latin typeface="Arial"/>
                  </a:rPr>
                  <a:t> with </a:t>
                </a:r>
                <a:r>
                  <a:rPr lang="en-IN" sz="2400">
                    <a:solidFill>
                      <a:srgbClr val="111827"/>
                    </a:solidFill>
                    <a:latin typeface="Cambria Math" panose="02040503050406030204" pitchFamily="18" charset="0"/>
                  </a:rPr>
                  <a:t>$M^T$</a:t>
                </a:r>
                <a:r>
                  <a:rPr sz="2400" b="0">
                    <a:solidFill>
                      <a:srgbClr val="111827"/>
                    </a:solidFill>
                    <a:latin typeface="Arial"/>
                  </a:rPr>
                  <a:t>: </a:t>
                </a:r>
                <a:r>
                  <a:rPr lang="en-IN" sz="2400">
                    <a:solidFill>
                      <a:srgbClr val="111827"/>
                    </a:solidFill>
                    <a:latin typeface="Cambria Math" panose="02040503050406030204" pitchFamily="18" charset="0"/>
                  </a:rPr>
                  <a:t>$M_{23}=1$</a:t>
                </a:r>
                <a:r>
                  <a:rPr sz="2400" b="0">
                    <a:solidFill>
                      <a:srgbClr val="111827"/>
                    </a:solidFill>
                    <a:latin typeface="Arial"/>
                  </a:rPr>
                  <a:t> but </a:t>
                </a:r>
                <a:r>
                  <a:rPr lang="en-IN" sz="2400">
                    <a:solidFill>
                      <a:srgbClr val="111827"/>
                    </a:solidFill>
                    <a:latin typeface="Cambria Math" panose="02040503050406030204" pitchFamily="18" charset="0"/>
                  </a:rPr>
                  <a:t>$M_{32}=0$</a:t>
                </a:r>
                <a:r>
                  <a:rPr sz="2400" b="0">
                    <a:solidFill>
                      <a:srgbClr val="111827"/>
                    </a:solidFill>
                    <a:latin typeface="Arial"/>
                  </a:rPr>
                  <a:t>, so </a:t>
                </a:r>
                <a:r>
                  <a:rPr lang="en-IN" sz="2400">
                    <a:solidFill>
                      <a:srgbClr val="111827"/>
                    </a:solidFill>
                    <a:latin typeface="Cambria Math" panose="02040503050406030204" pitchFamily="18" charset="0"/>
                  </a:rPr>
                  <a:t>$M\neq M^T$</a:t>
                </a:r>
                <a:r>
                  <a:rPr sz="2400" b="0">
                    <a:solidFill>
                      <a:srgbClr val="111827"/>
                    </a:solidFill>
                    <a:latin typeface="Arial"/>
                  </a:rPr>
                  <a:t> and </a:t>
                </a:r>
                <a:r>
                  <a:rPr lang="en-IN" sz="2400">
                    <a:solidFill>
                      <a:srgbClr val="111827"/>
                    </a:solidFill>
                    <a:latin typeface="Cambria Math" panose="02040503050406030204" pitchFamily="18" charset="0"/>
                  </a:rPr>
                  <a:t>$R$</a:t>
                </a:r>
                <a:r>
                  <a:rPr sz="2400" b="0">
                    <a:solidFill>
                      <a:srgbClr val="111827"/>
                    </a:solidFill>
                    <a:latin typeface="Arial"/>
                  </a:rPr>
                  <a:t> is not symmetric.</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diagonal of </a:t>
                </a:r>
                <a:r>
                  <a:rPr lang="en-IN" sz="2400">
                    <a:solidFill>
                      <a:srgbClr val="111827"/>
                    </a:solidFill>
                    <a:latin typeface="Cambria Math" panose="02040503050406030204" pitchFamily="18" charset="0"/>
                  </a:rPr>
                  <a:t>$M$</a:t>
                </a:r>
                <a:r>
                  <a:rPr sz="2400" b="0">
                    <a:solidFill>
                      <a:srgbClr val="111827"/>
                    </a:solidFill>
                    <a:latin typeface="Arial"/>
                  </a:rPr>
                  <a:t> is all </a:t>
                </a:r>
                <a:r>
                  <a:rPr lang="en-IN" sz="2400">
                    <a:solidFill>
                      <a:srgbClr val="111827"/>
                    </a:solidFill>
                    <a:latin typeface="Cambria Math" panose="02040503050406030204" pitchFamily="18" charset="0"/>
                  </a:rPr>
                  <a:t>$0$</a:t>
                </a:r>
                <a:r>
                  <a:rPr sz="2400" b="0">
                    <a:solidFill>
                      <a:srgbClr val="111827"/>
                    </a:solidFill>
                    <a:latin typeface="Arial"/>
                  </a:rPr>
                  <a:t>, so </a:t>
                </a:r>
                <a:r>
                  <a:rPr lang="en-IN" sz="2400">
                    <a:solidFill>
                      <a:srgbClr val="111827"/>
                    </a:solidFill>
                    <a:latin typeface="Cambria Math" panose="02040503050406030204" pitchFamily="18" charset="0"/>
                  </a:rPr>
                  <a:t>$R$</a:t>
                </a:r>
                <a:r>
                  <a:rPr sz="2400" b="0">
                    <a:solidFill>
                      <a:srgbClr val="111827"/>
                    </a:solidFill>
                    <a:latin typeface="Arial"/>
                  </a:rPr>
                  <a:t> is not reflexive.</a:t>
                </a:r>
                <a:endParaRPr sz="2400">
                  <a:solidFill>
                    <a:srgbClr val="111827"/>
                  </a:solidFill>
                </a:endParaRPr>
              </a:p>
            </p:txBody>
          </p:sp>
        </mc:Fallback>
      </mc:AlternateContent>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the Boolean square,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𝑀</m:t>
                        </m:r>
                      </m:e>
                      <m:sup>
                        <m:r>
                          <a:rPr lang="en-IN" sz="2400" i="1">
                            <a:solidFill>
                              <a:srgbClr val="111827"/>
                            </a:solidFill>
                            <a:latin typeface="Cambria Math" panose="02040503050406030204" pitchFamily="18" charset="0"/>
                          </a:rPr>
                          <m:t>2</m:t>
                        </m:r>
                      </m:sup>
                    </m:sSup>
                    <m:sSub>
                      <m:e>
                        <m:r>
                          <m:rPr>
                            <m:sty m:val="p"/>
                          </m:rPr>
                          <a:rPr lang="en-IN" sz="2400">
                            <a:solidFill>
                              <a:srgbClr val="111827"/>
                            </a:solidFill>
                            <a:latin typeface="Cambria Math" panose="02040503050406030204" pitchFamily="18" charset="0"/>
                          </a:rPr>
                          <m:t>)</m:t>
                        </m:r>
                      </m:e>
                      <m:sub>
                        <m:r>
                          <a:rPr lang="en-IN" sz="2400" i="1">
                            <a:solidFill>
                              <a:srgbClr val="111827"/>
                            </a:solidFill>
                            <a:latin typeface="Cambria Math" panose="02040503050406030204" pitchFamily="18" charset="0"/>
                          </a:rPr>
                          <m:t>11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𝑀</m:t>
                        </m:r>
                      </m:e>
                      <m:sub>
                        <m:r>
                          <a:rPr lang="en-IN" sz="2400" i="1">
                            <a:solidFill>
                              <a:srgbClr val="111827"/>
                            </a:solidFill>
                            <a:latin typeface="Cambria Math" panose="02040503050406030204" pitchFamily="18" charset="0"/>
                          </a:rPr>
                          <m:t>13</m:t>
                        </m:r>
                      </m:sub>
                    </m:sSub>
                    <m:sSub>
                      <m:e>
                        <m:r>
                          <a:rPr lang="en-IN" sz="2400" i="1">
                            <a:solidFill>
                              <a:srgbClr val="111827"/>
                            </a:solidFill>
                            <a:latin typeface="Cambria Math" panose="02040503050406030204" pitchFamily="18" charset="0"/>
                          </a:rPr>
                          <m:t>𝑀</m:t>
                        </m:r>
                      </m:e>
                      <m:sub>
                        <m:r>
                          <a:rPr lang="en-IN" sz="2400" i="1">
                            <a:solidFill>
                              <a:srgbClr val="111827"/>
                            </a:solidFill>
                            <a:latin typeface="Cambria Math" panose="02040503050406030204" pitchFamily="18" charset="0"/>
                          </a:rPr>
                          <m:t>31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while </a:t>
                </a:r>
                <a14:m>
                  <m:oMath xmlns:m="http://schemas.openxmlformats.org/officeDocument/2006/math">
                    <m:sSub>
                      <m:e>
                        <m:r>
                          <a:rPr lang="en-IN" sz="2400" i="1">
                            <a:solidFill>
                              <a:srgbClr val="111827"/>
                            </a:solidFill>
                            <a:latin typeface="Cambria Math" panose="02040503050406030204" pitchFamily="18" charset="0"/>
                          </a:rPr>
                          <m:t>𝑀</m:t>
                        </m:r>
                      </m:e>
                      <m:sub>
                        <m:r>
                          <a:rPr lang="en-IN" sz="2400" i="1">
                            <a:solidFill>
                              <a:srgbClr val="111827"/>
                            </a:solidFill>
                            <a:latin typeface="Cambria Math" panose="02040503050406030204" pitchFamily="18" charset="0"/>
                          </a:rPr>
                          <m:t>11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𝑀</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not transitive.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Row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has two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's, so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not a function. Hence (B).</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the Boolean square, </a:t>
                </a:r>
                <a:r>
                  <a:rPr lang="en-IN" sz="2400">
                    <a:solidFill>
                      <a:srgbClr val="111827"/>
                    </a:solidFill>
                    <a:latin typeface="Cambria Math" panose="02040503050406030204" pitchFamily="18" charset="0"/>
                  </a:rPr>
                  <a:t>$(M^2)_{11}=M_{13}M_{31}=1$</a:t>
                </a:r>
                <a:r>
                  <a:rPr sz="2400" b="0">
                    <a:solidFill>
                      <a:srgbClr val="111827"/>
                    </a:solidFill>
                    <a:latin typeface="Arial"/>
                  </a:rPr>
                  <a:t> while </a:t>
                </a:r>
                <a:r>
                  <a:rPr lang="en-IN" sz="2400">
                    <a:solidFill>
                      <a:srgbClr val="111827"/>
                    </a:solidFill>
                    <a:latin typeface="Cambria Math" panose="02040503050406030204" pitchFamily="18" charset="0"/>
                  </a:rPr>
                  <a:t>$M_{11}=0$</a:t>
                </a:r>
                <a:r>
                  <a:rPr sz="2400" b="0">
                    <a:solidFill>
                      <a:srgbClr val="111827"/>
                    </a:solidFill>
                    <a:latin typeface="Arial"/>
                  </a:rPr>
                  <a:t>, so </a:t>
                </a:r>
                <a:r>
                  <a:rPr lang="en-IN" sz="2400">
                    <a:solidFill>
                      <a:srgbClr val="111827"/>
                    </a:solidFill>
                    <a:latin typeface="Cambria Math" panose="02040503050406030204" pitchFamily="18" charset="0"/>
                  </a:rPr>
                  <a:t>$M^2\not\le M$</a:t>
                </a:r>
                <a:r>
                  <a:rPr sz="2400" b="0">
                    <a:solidFill>
                      <a:srgbClr val="111827"/>
                    </a:solidFill>
                    <a:latin typeface="Arial"/>
                  </a:rPr>
                  <a:t> and </a:t>
                </a:r>
                <a:r>
                  <a:rPr lang="en-IN" sz="2400">
                    <a:solidFill>
                      <a:srgbClr val="111827"/>
                    </a:solidFill>
                    <a:latin typeface="Cambria Math" panose="02040503050406030204" pitchFamily="18" charset="0"/>
                  </a:rPr>
                  <a:t>$R$</a:t>
                </a:r>
                <a:r>
                  <a:rPr sz="2400" b="0">
                    <a:solidFill>
                      <a:srgbClr val="111827"/>
                    </a:solidFill>
                    <a:latin typeface="Arial"/>
                  </a:rPr>
                  <a:t> is not transitive.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Row </a:t>
                </a:r>
                <a:r>
                  <a:rPr lang="en-IN" sz="2400">
                    <a:solidFill>
                      <a:srgbClr val="111827"/>
                    </a:solidFill>
                    <a:latin typeface="Cambria Math" panose="02040503050406030204" pitchFamily="18" charset="0"/>
                  </a:rPr>
                  <a:t>$2$</a:t>
                </a:r>
                <a:r>
                  <a:rPr sz="2400" b="0">
                    <a:solidFill>
                      <a:srgbClr val="111827"/>
                    </a:solidFill>
                    <a:latin typeface="Arial"/>
                  </a:rPr>
                  <a:t> has two </a:t>
                </a:r>
                <a:r>
                  <a:rPr lang="en-IN" sz="2400">
                    <a:solidFill>
                      <a:srgbClr val="111827"/>
                    </a:solidFill>
                    <a:latin typeface="Cambria Math" panose="02040503050406030204" pitchFamily="18" charset="0"/>
                  </a:rPr>
                  <a:t>$1$</a:t>
                </a:r>
                <a:r>
                  <a:rPr sz="2400" b="0">
                    <a:solidFill>
                      <a:srgbClr val="111827"/>
                    </a:solidFill>
                    <a:latin typeface="Arial"/>
                  </a:rPr>
                  <a:t>'s, so </a:t>
                </a:r>
                <a:r>
                  <a:rPr lang="en-IN" sz="2400">
                    <a:solidFill>
                      <a:srgbClr val="111827"/>
                    </a:solidFill>
                    <a:latin typeface="Cambria Math" panose="02040503050406030204" pitchFamily="18" charset="0"/>
                  </a:rPr>
                  <a:t>$R$</a:t>
                </a:r>
                <a:r>
                  <a:rPr sz="2400" b="0">
                    <a:solidFill>
                      <a:srgbClr val="111827"/>
                    </a:solidFill>
                    <a:latin typeface="Arial"/>
                  </a:rPr>
                  <a:t> is not a function. Hence (B).</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not symmetric</a:t>
            </a:r>
            <a:endParaRPr sz="2800">
              <a:solidFill>
                <a:srgbClr val="15803D"/>
              </a:solidFill>
            </a:endParaRP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On an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-element set there are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oMath>
                </a14:m>
                <a:r>
                  <a:rPr sz="2400" b="0">
                    <a:solidFill>
                      <a:srgbClr val="111827"/>
                    </a:solidFill>
                    <a:latin typeface="Arial"/>
                  </a:rPr>
                  <a:t> symmetric and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reflexive relations;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and both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transitivity forces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(here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missing).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relation is a function on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exactly when every element of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appears once as a first coordinate.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On an </a:t>
                </a:r>
                <a:r>
                  <a:rPr lang="en-IN" sz="2400">
                    <a:solidFill>
                      <a:srgbClr val="111827"/>
                    </a:solidFill>
                    <a:latin typeface="Cambria Math" panose="02040503050406030204" pitchFamily="18" charset="0"/>
                  </a:rPr>
                  <a:t>$n$</a:t>
                </a:r>
                <a:r>
                  <a:rPr sz="2400" b="0">
                    <a:solidFill>
                      <a:srgbClr val="111827"/>
                    </a:solidFill>
                    <a:latin typeface="Arial"/>
                  </a:rPr>
                  <a:t>-element set there are </a:t>
                </a:r>
                <a:r>
                  <a:rPr lang="en-IN" sz="2400">
                    <a:solidFill>
                      <a:srgbClr val="111827"/>
                    </a:solidFill>
                    <a:latin typeface="Cambria Math" panose="02040503050406030204" pitchFamily="18" charset="0"/>
                  </a:rPr>
                  <a:t>$2^{n(n+1)/2}$</a:t>
                </a:r>
                <a:r>
                  <a:rPr sz="2400" b="0">
                    <a:solidFill>
                      <a:srgbClr val="111827"/>
                    </a:solidFill>
                    <a:latin typeface="Arial"/>
                  </a:rPr>
                  <a:t> symmetric and </a:t>
                </a:r>
                <a:r>
                  <a:rPr lang="en-IN" sz="2400">
                    <a:solidFill>
                      <a:srgbClr val="111827"/>
                    </a:solidFill>
                    <a:latin typeface="Cambria Math" panose="02040503050406030204" pitchFamily="18" charset="0"/>
                  </a:rPr>
                  <a:t>$2^{n(n-1)}$</a:t>
                </a:r>
                <a:r>
                  <a:rPr sz="2400" b="0">
                    <a:solidFill>
                      <a:srgbClr val="111827"/>
                    </a:solidFill>
                    <a:latin typeface="Arial"/>
                  </a:rPr>
                  <a:t> reflexive relations; </a:t>
                </a:r>
                <a:r>
                  <a:rPr lang="en-IN" sz="2400">
                    <a:solidFill>
                      <a:srgbClr val="111827"/>
                    </a:solidFill>
                    <a:latin typeface="Cambria Math" panose="02040503050406030204" pitchFamily="18" charset="0"/>
                  </a:rPr>
                  <a:t>$n=2$</a:t>
                </a:r>
                <a:r>
                  <a:rPr sz="2400" b="0">
                    <a:solidFill>
                      <a:srgbClr val="111827"/>
                    </a:solidFill>
                    <a:latin typeface="Arial"/>
                  </a:rPr>
                  <a:t> gives </a:t>
                </a:r>
                <a:r>
                  <a:rPr lang="en-IN" sz="2400">
                    <a:solidFill>
                      <a:srgbClr val="111827"/>
                    </a:solidFill>
                    <a:latin typeface="Cambria Math" panose="02040503050406030204" pitchFamily="18" charset="0"/>
                  </a:rPr>
                  <a:t>$8$</a:t>
                </a:r>
                <a:r>
                  <a:rPr sz="2400" b="0">
                    <a:solidFill>
                      <a:srgbClr val="111827"/>
                    </a:solidFill>
                    <a:latin typeface="Arial"/>
                  </a:rPr>
                  <a:t> and </a:t>
                </a:r>
                <a:r>
                  <a:rPr lang="en-IN" sz="2400">
                    <a:solidFill>
                      <a:srgbClr val="111827"/>
                    </a:solidFill>
                    <a:latin typeface="Cambria Math" panose="02040503050406030204" pitchFamily="18" charset="0"/>
                  </a:rPr>
                  <a:t>$4$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$a\neq b$</a:t>
                </a:r>
                <a:r>
                  <a:rPr sz="2400" b="0">
                    <a:solidFill>
                      <a:srgbClr val="111827"/>
                    </a:solidFill>
                    <a:latin typeface="Arial"/>
                  </a:rPr>
                  <a:t> and both </a:t>
                </a:r>
                <a:r>
                  <a:rPr lang="en-IN" sz="2400">
                    <a:solidFill>
                      <a:srgbClr val="111827"/>
                    </a:solidFill>
                    <a:latin typeface="Cambria Math" panose="02040503050406030204" pitchFamily="18" charset="0"/>
                  </a:rPr>
                  <a:t>$(a,b),(b,a)\in R$</a:t>
                </a:r>
                <a:r>
                  <a:rPr sz="2400" b="0">
                    <a:solidFill>
                      <a:srgbClr val="111827"/>
                    </a:solidFill>
                    <a:latin typeface="Arial"/>
                  </a:rPr>
                  <a:t>, transitivity forces </a:t>
                </a:r>
                <a:r>
                  <a:rPr lang="en-IN" sz="2400">
                    <a:solidFill>
                      <a:srgbClr val="111827"/>
                    </a:solidFill>
                    <a:latin typeface="Cambria Math" panose="02040503050406030204" pitchFamily="18" charset="0"/>
                  </a:rPr>
                  <a:t>$(a,a),(b,b)\in R$</a:t>
                </a:r>
                <a:r>
                  <a:rPr sz="2400" b="0">
                    <a:solidFill>
                      <a:srgbClr val="111827"/>
                    </a:solidFill>
                    <a:latin typeface="Arial"/>
                  </a:rPr>
                  <a:t> (here </a:t>
                </a:r>
                <a:r>
                  <a:rPr lang="en-IN" sz="2400">
                    <a:solidFill>
                      <a:srgbClr val="111827"/>
                    </a:solidFill>
                    <a:latin typeface="Cambria Math" panose="02040503050406030204" pitchFamily="18" charset="0"/>
                  </a:rPr>
                  <a:t>$(1,3),(3,1)\Rightarrow(1,1)$</a:t>
                </a:r>
                <a:r>
                  <a:rPr sz="2400" b="0">
                    <a:solidFill>
                      <a:srgbClr val="111827"/>
                    </a:solidFill>
                    <a:latin typeface="Arial"/>
                  </a:rPr>
                  <a:t> is missing).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relation is a function on </a:t>
                </a:r>
                <a:r>
                  <a:rPr lang="en-IN" sz="2400">
                    <a:solidFill>
                      <a:srgbClr val="111827"/>
                    </a:solidFill>
                    <a:latin typeface="Cambria Math" panose="02040503050406030204" pitchFamily="18" charset="0"/>
                  </a:rPr>
                  <a:t>$A$</a:t>
                </a:r>
                <a:r>
                  <a:rPr sz="2400" b="0">
                    <a:solidFill>
                      <a:srgbClr val="111827"/>
                    </a:solidFill>
                    <a:latin typeface="Arial"/>
                  </a:rPr>
                  <a:t> exactly when every element of </a:t>
                </a:r>
                <a:r>
                  <a:rPr lang="en-IN" sz="2400">
                    <a:solidFill>
                      <a:srgbClr val="111827"/>
                    </a:solidFill>
                    <a:latin typeface="Cambria Math" panose="02040503050406030204" pitchFamily="18" charset="0"/>
                  </a:rPr>
                  <a:t>$A$</a:t>
                </a:r>
                <a:r>
                  <a:rPr sz="2400" b="0">
                    <a:solidFill>
                      <a:srgbClr val="111827"/>
                    </a:solidFill>
                    <a:latin typeface="Arial"/>
                  </a:rPr>
                  <a:t> appears once as a first coordinate.</a:t>
                </a:r>
                <a:endParaRPr sz="2400">
                  <a:solidFill>
                    <a:srgbClr val="111827"/>
                  </a:solidFill>
                </a:endParaRPr>
              </a:p>
            </p:txBody>
          </p:sp>
        </mc:Fallback>
      </mc:AlternateContent>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005836"/>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be a relation on the set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relation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reflexive and transitive only</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reflexive only</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an equivalence relation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reflexive and symmetric only</a:t>
                </a:r>
                <a:endParaRPr sz="2400">
                  <a:solidFill>
                    <a:srgbClr val="111827"/>
                  </a:solidFill>
                </a:endParaRPr>
              </a:p>
            </p:txBody>
          </p:sp>
        </mc:Choice>
        <mc:Fallback>
          <p:sp>
            <p:nvSpPr>
              <p:cNvPr id="4" name="Rounded Rectangle 3"/>
              <p:cNvSpPr/>
              <p:nvPr/>
            </p:nvSpPr>
            <p:spPr>
              <a:xfrm>
                <a:off x="731520" y="1280160"/>
                <a:ext cx="10725912" cy="3005836"/>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$R=\{(3,3),(6,6),(9,9),(12,12),(6,12),(3,9),(3,12),(3,6)\}$</a:t>
                </a:r>
                <a:r>
                  <a:rPr sz="2400" b="0">
                    <a:solidFill>
                      <a:srgbClr val="111827"/>
                    </a:solidFill>
                    <a:latin typeface="Arial"/>
                  </a:rPr>
                  <a:t> be a relation on the set </a:t>
                </a:r>
                <a:r>
                  <a:rPr lang="en-IN" sz="2400">
                    <a:solidFill>
                      <a:srgbClr val="111827"/>
                    </a:solidFill>
                    <a:latin typeface="Cambria Math" panose="02040503050406030204" pitchFamily="18" charset="0"/>
                  </a:rPr>
                  <a:t>$A=\{3,6,9,12\}$</a:t>
                </a:r>
                <a:r>
                  <a:rPr sz="2400" b="0">
                    <a:solidFill>
                      <a:srgbClr val="111827"/>
                    </a:solidFill>
                    <a:latin typeface="Arial"/>
                  </a:rPr>
                  <a:t>. The relation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reflexive and transitive only</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reflexive only</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an equivalence relation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reflexive and symmetric only</a:t>
                </a:r>
                <a:endParaRPr sz="2400">
                  <a:solidFill>
                    <a:srgbClr val="111827"/>
                  </a:solidFill>
                </a:endParaRPr>
              </a:p>
            </p:txBody>
          </p:sp>
        </mc:Fallback>
      </mc:AlternateContent>
      <p:sp>
        <p:nvSpPr>
          <p:cNvPr id="5" name="Rectangle 4"/>
          <p:cNvSpPr/>
          <p:nvPr/>
        </p:nvSpPr>
        <p:spPr>
          <a:xfrm>
            <a:off x="731520" y="4514596"/>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Types of relations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a:rPr lang="en-IN" sz="2400" i="1">
                        <a:solidFill>
                          <a:srgbClr val="78350F"/>
                        </a:solidFill>
                        <a:latin typeface="Cambria Math" panose="02040503050406030204" pitchFamily="18" charset="0"/>
                      </a:rPr>
                      <m:t>𝑅</m:t>
                    </m:r>
                  </m:oMath>
                </a14:m>
                <a:r>
                  <a:rPr sz="2400" b="0">
                    <a:solidFill>
                      <a:srgbClr val="78350F"/>
                    </a:solidFill>
                    <a:latin typeface="Arial"/>
                  </a:rPr>
                  <a:t> is exactly 'divides' on </a:t>
                </a:r>
                <a14:m>
                  <m:oMath xmlns:m="http://schemas.openxmlformats.org/officeDocument/2006/math">
                    <m:r>
                      <a:rPr lang="en-IN" sz="2400" i="1">
                        <a:solidFill>
                          <a:srgbClr val="78350F"/>
                        </a:solidFill>
                        <a:latin typeface="Cambria Math" panose="02040503050406030204" pitchFamily="18" charset="0"/>
                      </a:rPr>
                      <m:t>𝐴</m:t>
                    </m:r>
                  </m:oMath>
                </a14:m>
                <a:r>
                  <a:rPr sz="2400" b="0">
                    <a:solidFill>
                      <a:srgbClr val="78350F"/>
                    </a:solidFill>
                    <a:latin typeface="Arial"/>
                  </a:rPr>
                  <a:t>, so it is reflexive and transitive but never symmetric.</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$R$</a:t>
                </a:r>
                <a:r>
                  <a:rPr sz="2400" b="0">
                    <a:solidFill>
                      <a:srgbClr val="78350F"/>
                    </a:solidFill>
                    <a:latin typeface="Arial"/>
                  </a:rPr>
                  <a:t> is exactly 'divides' on </a:t>
                </a:r>
                <a:r>
                  <a:rPr lang="en-IN" sz="2400">
                    <a:solidFill>
                      <a:srgbClr val="78350F"/>
                    </a:solidFill>
                    <a:latin typeface="Cambria Math" panose="02040503050406030204" pitchFamily="18" charset="0"/>
                  </a:rPr>
                  <a:t>$A$</a:t>
                </a:r>
                <a:r>
                  <a:rPr sz="2400" b="0">
                    <a:solidFill>
                      <a:srgbClr val="78350F"/>
                    </a:solidFill>
                    <a:latin typeface="Arial"/>
                  </a:rPr>
                  <a:t>, so it is reflexive and transitive but never symmetric.</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Reflexive: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reflexive.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Symmetric: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but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not symmetric. Also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but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Transitive: the only chains are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similar with repeated elements.</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Reflexive: </a:t>
                </a:r>
                <a:r>
                  <a:rPr lang="en-IN" sz="2400">
                    <a:solidFill>
                      <a:srgbClr val="111827"/>
                    </a:solidFill>
                    <a:latin typeface="Cambria Math" panose="02040503050406030204" pitchFamily="18" charset="0"/>
                  </a:rPr>
                  <a:t>$(3,3),(6,6),(9,9),(12,12)\in R$</a:t>
                </a:r>
                <a:r>
                  <a:rPr sz="2400" b="0">
                    <a:solidFill>
                      <a:srgbClr val="111827"/>
                    </a:solidFill>
                    <a:latin typeface="Arial"/>
                  </a:rPr>
                  <a:t>, so </a:t>
                </a:r>
                <a:r>
                  <a:rPr lang="en-IN" sz="2400">
                    <a:solidFill>
                      <a:srgbClr val="111827"/>
                    </a:solidFill>
                    <a:latin typeface="Cambria Math" panose="02040503050406030204" pitchFamily="18" charset="0"/>
                  </a:rPr>
                  <a:t>$R$</a:t>
                </a:r>
                <a:r>
                  <a:rPr sz="2400" b="0">
                    <a:solidFill>
                      <a:srgbClr val="111827"/>
                    </a:solidFill>
                    <a:latin typeface="Arial"/>
                  </a:rPr>
                  <a:t> is reflexive.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Symmetric: </a:t>
                </a:r>
                <a:r>
                  <a:rPr lang="en-IN" sz="2400">
                    <a:solidFill>
                      <a:srgbClr val="111827"/>
                    </a:solidFill>
                    <a:latin typeface="Cambria Math" panose="02040503050406030204" pitchFamily="18" charset="0"/>
                  </a:rPr>
                  <a:t>$(6,12)\in R$</a:t>
                </a:r>
                <a:r>
                  <a:rPr sz="2400" b="0">
                    <a:solidFill>
                      <a:srgbClr val="111827"/>
                    </a:solidFill>
                    <a:latin typeface="Arial"/>
                  </a:rPr>
                  <a:t> but </a:t>
                </a:r>
                <a:r>
                  <a:rPr lang="en-IN" sz="2400">
                    <a:solidFill>
                      <a:srgbClr val="111827"/>
                    </a:solidFill>
                    <a:latin typeface="Cambria Math" panose="02040503050406030204" pitchFamily="18" charset="0"/>
                  </a:rPr>
                  <a:t>$(12,6)\notin R$</a:t>
                </a:r>
                <a:r>
                  <a:rPr sz="2400" b="0">
                    <a:solidFill>
                      <a:srgbClr val="111827"/>
                    </a:solidFill>
                    <a:latin typeface="Arial"/>
                  </a:rPr>
                  <a:t>, so </a:t>
                </a:r>
                <a:r>
                  <a:rPr lang="en-IN" sz="2400">
                    <a:solidFill>
                      <a:srgbClr val="111827"/>
                    </a:solidFill>
                    <a:latin typeface="Cambria Math" panose="02040503050406030204" pitchFamily="18" charset="0"/>
                  </a:rPr>
                  <a:t>$R$</a:t>
                </a:r>
                <a:r>
                  <a:rPr sz="2400" b="0">
                    <a:solidFill>
                      <a:srgbClr val="111827"/>
                    </a:solidFill>
                    <a:latin typeface="Arial"/>
                  </a:rPr>
                  <a:t> is not symmetric. Also </a:t>
                </a:r>
                <a:r>
                  <a:rPr lang="en-IN" sz="2400">
                    <a:solidFill>
                      <a:srgbClr val="111827"/>
                    </a:solidFill>
                    <a:latin typeface="Cambria Math" panose="02040503050406030204" pitchFamily="18" charset="0"/>
                  </a:rPr>
                  <a:t>$(3,9)\in R$</a:t>
                </a:r>
                <a:r>
                  <a:rPr sz="2400" b="0">
                    <a:solidFill>
                      <a:srgbClr val="111827"/>
                    </a:solidFill>
                    <a:latin typeface="Arial"/>
                  </a:rPr>
                  <a:t> but </a:t>
                </a:r>
                <a:r>
                  <a:rPr lang="en-IN" sz="2400">
                    <a:solidFill>
                      <a:srgbClr val="111827"/>
                    </a:solidFill>
                    <a:latin typeface="Cambria Math" panose="02040503050406030204" pitchFamily="18" charset="0"/>
                  </a:rPr>
                  <a:t>$(9,3)\notin 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Transitive: the only chains are </a:t>
                </a:r>
                <a:r>
                  <a:rPr lang="en-IN" sz="2400">
                    <a:solidFill>
                      <a:srgbClr val="111827"/>
                    </a:solidFill>
                    <a:latin typeface="Cambria Math" panose="02040503050406030204" pitchFamily="18" charset="0"/>
                  </a:rPr>
                  <a:t>$(3,6),(6,12)\Rightarrow(3,12)\in R$</a:t>
                </a:r>
                <a:r>
                  <a:rPr sz="2400" b="0">
                    <a:solidFill>
                      <a:srgbClr val="111827"/>
                    </a:solidFill>
                    <a:latin typeface="Arial"/>
                  </a:rPr>
                  <a:t>; </a:t>
                </a:r>
                <a:r>
                  <a:rPr lang="en-IN" sz="2400">
                    <a:solidFill>
                      <a:srgbClr val="111827"/>
                    </a:solidFill>
                    <a:latin typeface="Cambria Math" panose="02040503050406030204" pitchFamily="18" charset="0"/>
                  </a:rPr>
                  <a:t>$(3,12),(12,12)\Rightarrow(3,12)$</a:t>
                </a:r>
                <a:r>
                  <a:rPr sz="2400" b="0">
                    <a:solidFill>
                      <a:srgbClr val="111827"/>
                    </a:solidFill>
                    <a:latin typeface="Arial"/>
                  </a:rPr>
                  <a:t>; </a:t>
                </a:r>
                <a:r>
                  <a:rPr lang="en-IN" sz="2400">
                    <a:solidFill>
                      <a:srgbClr val="111827"/>
                    </a:solidFill>
                    <a:latin typeface="Cambria Math" panose="02040503050406030204" pitchFamily="18" charset="0"/>
                  </a:rPr>
                  <a:t>$(3,9),(9,9)\Rightarrow(3,9)$</a:t>
                </a:r>
                <a:r>
                  <a:rPr sz="2400" b="0">
                    <a:solidFill>
                      <a:srgbClr val="111827"/>
                    </a:solidFill>
                    <a:latin typeface="Arial"/>
                  </a:rPr>
                  <a:t> and similar with repeated elements.</a:t>
                </a:r>
                <a:endParaRPr sz="2400">
                  <a:solidFill>
                    <a:srgbClr val="111827"/>
                  </a:solidFill>
                </a:endParaRPr>
              </a:p>
            </p:txBody>
          </p:sp>
        </mc:Fallback>
      </mc:AlternateContent>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Every chain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transitive.</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reflexive and transitive but not symmetric, so it is not an equivalence relation. Answer (A).</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Every chain </a:t>
                </a:r>
                <a:r>
                  <a:rPr lang="en-IN" sz="2400">
                    <a:solidFill>
                      <a:srgbClr val="111827"/>
                    </a:solidFill>
                    <a:latin typeface="Cambria Math" panose="02040503050406030204" pitchFamily="18" charset="0"/>
                  </a:rPr>
                  <a:t>$(a,b),(b,c)$</a:t>
                </a:r>
                <a:r>
                  <a:rPr sz="2400" b="0">
                    <a:solidFill>
                      <a:srgbClr val="111827"/>
                    </a:solidFill>
                    <a:latin typeface="Arial"/>
                  </a:rPr>
                  <a:t> gives </a:t>
                </a:r>
                <a:r>
                  <a:rPr lang="en-IN" sz="2400">
                    <a:solidFill>
                      <a:srgbClr val="111827"/>
                    </a:solidFill>
                    <a:latin typeface="Cambria Math" panose="02040503050406030204" pitchFamily="18" charset="0"/>
                  </a:rPr>
                  <a:t>$(a,c)\in R$</a:t>
                </a:r>
                <a:r>
                  <a:rPr sz="2400" b="0">
                    <a:solidFill>
                      <a:srgbClr val="111827"/>
                    </a:solidFill>
                    <a:latin typeface="Arial"/>
                  </a:rPr>
                  <a:t>, so </a:t>
                </a:r>
                <a:r>
                  <a:rPr lang="en-IN" sz="2400">
                    <a:solidFill>
                      <a:srgbClr val="111827"/>
                    </a:solidFill>
                    <a:latin typeface="Cambria Math" panose="02040503050406030204" pitchFamily="18" charset="0"/>
                  </a:rPr>
                  <a:t>$R$</a:t>
                </a:r>
                <a:r>
                  <a:rPr sz="2400" b="0">
                    <a:solidFill>
                      <a:srgbClr val="111827"/>
                    </a:solidFill>
                    <a:latin typeface="Arial"/>
                  </a:rPr>
                  <a:t> is transitive.</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a:t>
                </a:r>
                <a:r>
                  <a:rPr sz="2400" b="0">
                    <a:solidFill>
                      <a:srgbClr val="111827"/>
                    </a:solidFill>
                    <a:latin typeface="Arial"/>
                  </a:rPr>
                  <a:t> is reflexive and transitive but not symmetric, so it is not an equivalence relation. Answer (A).</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reflexive and transitive only</a:t>
            </a:r>
            <a:endParaRPr sz="2800">
              <a:solidFill>
                <a:srgbClr val="15803D"/>
              </a:solidFill>
            </a:endParaRP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Recognise </a:t>
                </a:r>
                <a14:m>
                  <m:oMath xmlns:m="http://schemas.openxmlformats.org/officeDocument/2006/math">
                    <m:r>
                      <a:rPr lang="en-IN" sz="2400" i="1">
                        <a:solidFill>
                          <a:srgbClr val="78350F"/>
                        </a:solidFill>
                        <a:latin typeface="Cambria Math" panose="02040503050406030204" pitchFamily="18" charset="0"/>
                      </a:rPr>
                      <m:t>𝑅</m:t>
                    </m:r>
                  </m:oMath>
                </a14:m>
                <a:r>
                  <a:rPr sz="2400" b="0">
                    <a:solidFill>
                      <a:srgbClr val="78350F"/>
                    </a:solidFill>
                    <a:latin typeface="Arial"/>
                  </a:rPr>
                  <a:t> as the relation '</a:t>
                </a:r>
                <a14:m>
                  <m:oMath xmlns:m="http://schemas.openxmlformats.org/officeDocument/2006/math">
                    <m:r>
                      <a:rPr lang="en-IN" sz="2400" i="1">
                        <a:solidFill>
                          <a:srgbClr val="78350F"/>
                        </a:solidFill>
                        <a:latin typeface="Cambria Math" panose="02040503050406030204" pitchFamily="18" charset="0"/>
                      </a:rPr>
                      <m:t>𝑎</m:t>
                    </m:r>
                  </m:oMath>
                </a14:m>
                <a:r>
                  <a:rPr sz="2400" b="0">
                    <a:solidFill>
                      <a:srgbClr val="78350F"/>
                    </a:solidFill>
                    <a:latin typeface="Arial"/>
                  </a:rPr>
                  <a:t> divides </a:t>
                </a:r>
                <a14:m>
                  <m:oMath xmlns:m="http://schemas.openxmlformats.org/officeDocument/2006/math">
                    <m:r>
                      <a:rPr lang="en-IN" sz="2400" i="1">
                        <a:solidFill>
                          <a:srgbClr val="78350F"/>
                        </a:solidFill>
                        <a:latin typeface="Cambria Math" panose="02040503050406030204" pitchFamily="18" charset="0"/>
                      </a:rPr>
                      <m:t>𝑏</m:t>
                    </m:r>
                  </m:oMath>
                </a14:m>
                <a:r>
                  <a:rPr sz="2400" b="0">
                    <a:solidFill>
                      <a:srgbClr val="78350F"/>
                    </a:solidFill>
                    <a:latin typeface="Arial"/>
                  </a:rPr>
                  <a:t>' on </a:t>
                </a:r>
                <a14:m>
                  <m:oMath xmlns:m="http://schemas.openxmlformats.org/officeDocument/2006/math">
                    <m:r>
                      <a:rPr lang="en-IN" sz="2400" i="1">
                        <a:solidFill>
                          <a:srgbClr val="78350F"/>
                        </a:solidFill>
                        <a:latin typeface="Cambria Math" panose="02040503050406030204" pitchFamily="18" charset="0"/>
                      </a:rPr>
                      <m:t>𝐴</m:t>
                    </m:r>
                  </m:oMath>
                </a14:m>
                <a:r>
                  <a:rPr sz="2400" b="0">
                    <a:solidFill>
                      <a:srgbClr val="78350F"/>
                    </a:solidFill>
                    <a:latin typeface="Arial"/>
                  </a:rPr>
                  <a:t> - a partial order - so symmetry fails for any related pair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Recognise </a:t>
                </a:r>
                <a:r>
                  <a:rPr lang="en-IN" sz="2400">
                    <a:solidFill>
                      <a:srgbClr val="78350F"/>
                    </a:solidFill>
                    <a:latin typeface="Cambria Math" panose="02040503050406030204" pitchFamily="18" charset="0"/>
                  </a:rPr>
                  <a:t>$R$</a:t>
                </a:r>
                <a:r>
                  <a:rPr sz="2400" b="0">
                    <a:solidFill>
                      <a:srgbClr val="78350F"/>
                    </a:solidFill>
                    <a:latin typeface="Arial"/>
                  </a:rPr>
                  <a:t> as the relation '</a:t>
                </a:r>
                <a:r>
                  <a:rPr lang="en-IN" sz="2400">
                    <a:solidFill>
                      <a:srgbClr val="78350F"/>
                    </a:solidFill>
                    <a:latin typeface="Cambria Math" panose="02040503050406030204" pitchFamily="18" charset="0"/>
                  </a:rPr>
                  <a:t>$a$</a:t>
                </a:r>
                <a:r>
                  <a:rPr sz="2400" b="0">
                    <a:solidFill>
                      <a:srgbClr val="78350F"/>
                    </a:solidFill>
                    <a:latin typeface="Arial"/>
                  </a:rPr>
                  <a:t> divides </a:t>
                </a:r>
                <a:r>
                  <a:rPr lang="en-IN" sz="2400">
                    <a:solidFill>
                      <a:srgbClr val="78350F"/>
                    </a:solidFill>
                    <a:latin typeface="Cambria Math" panose="02040503050406030204" pitchFamily="18" charset="0"/>
                  </a:rPr>
                  <a:t>$b$</a:t>
                </a:r>
                <a:r>
                  <a:rPr sz="2400" b="0">
                    <a:solidFill>
                      <a:srgbClr val="78350F"/>
                    </a:solidFill>
                    <a:latin typeface="Arial"/>
                  </a:rPr>
                  <a:t>' on </a:t>
                </a:r>
                <a:r>
                  <a:rPr lang="en-IN" sz="2400">
                    <a:solidFill>
                      <a:srgbClr val="78350F"/>
                    </a:solidFill>
                    <a:latin typeface="Cambria Math" panose="02040503050406030204" pitchFamily="18" charset="0"/>
                  </a:rPr>
                  <a:t>$A$</a:t>
                </a:r>
                <a:r>
                  <a:rPr sz="2400" b="0">
                    <a:solidFill>
                      <a:srgbClr val="78350F"/>
                    </a:solidFill>
                    <a:latin typeface="Arial"/>
                  </a:rPr>
                  <a:t> - a partial order - so symmetry fails for any related pair </a:t>
                </a:r>
                <a:r>
                  <a:rPr lang="en-IN" sz="2400">
                    <a:solidFill>
                      <a:srgbClr val="78350F"/>
                    </a:solidFill>
                    <a:latin typeface="Cambria Math" panose="02040503050406030204" pitchFamily="18" charset="0"/>
                  </a:rPr>
                  <a:t>$a\neq b$</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Check: the pairs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in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These are exactly the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given pairs, so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Divisibility is reflexive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and transitive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Check: the pairs </a:t>
                </a:r>
                <a:r>
                  <a:rPr lang="en-IN" sz="2400">
                    <a:solidFill>
                      <a:srgbClr val="111827"/>
                    </a:solidFill>
                    <a:latin typeface="Cambria Math" panose="02040503050406030204" pitchFamily="18" charset="0"/>
                  </a:rPr>
                  <a:t>$(a,b)$</a:t>
                </a:r>
                <a:r>
                  <a:rPr sz="2400" b="0">
                    <a:solidFill>
                      <a:srgbClr val="111827"/>
                    </a:solidFill>
                    <a:latin typeface="Arial"/>
                  </a:rPr>
                  <a:t> with </a:t>
                </a:r>
                <a:r>
                  <a:rPr lang="en-IN" sz="2400">
                    <a:solidFill>
                      <a:srgbClr val="111827"/>
                    </a:solidFill>
                    <a:latin typeface="Cambria Math" panose="02040503050406030204" pitchFamily="18" charset="0"/>
                  </a:rPr>
                  <a:t>$a\mid b$</a:t>
                </a:r>
                <a:r>
                  <a:rPr sz="2400" b="0">
                    <a:solidFill>
                      <a:srgbClr val="111827"/>
                    </a:solidFill>
                    <a:latin typeface="Arial"/>
                  </a:rPr>
                  <a:t> in </a:t>
                </a:r>
                <a:r>
                  <a:rPr lang="en-IN" sz="2400">
                    <a:solidFill>
                      <a:srgbClr val="111827"/>
                    </a:solidFill>
                    <a:latin typeface="Cambria Math" panose="02040503050406030204" pitchFamily="18" charset="0"/>
                  </a:rPr>
                  <a:t>$A=\{3,6,9,12\}$</a:t>
                </a:r>
                <a:r>
                  <a:rPr sz="2400" b="0">
                    <a:solidFill>
                      <a:srgbClr val="111827"/>
                    </a:solidFill>
                    <a:latin typeface="Arial"/>
                  </a:rPr>
                  <a:t> are </a:t>
                </a:r>
                <a:r>
                  <a:rPr lang="en-IN" sz="2400">
                    <a:solidFill>
                      <a:srgbClr val="111827"/>
                    </a:solidFill>
                    <a:latin typeface="Cambria Math" panose="02040503050406030204" pitchFamily="18" charset="0"/>
                  </a:rPr>
                  <a:t>$(3,3),(3,6),(3,9),(3,12),(6,6),(6,12),(9,9),(12,12)$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These are exactly the </a:t>
                </a:r>
                <a:r>
                  <a:rPr lang="en-IN" sz="2400">
                    <a:solidFill>
                      <a:srgbClr val="111827"/>
                    </a:solidFill>
                    <a:latin typeface="Cambria Math" panose="02040503050406030204" pitchFamily="18" charset="0"/>
                  </a:rPr>
                  <a:t>$8$</a:t>
                </a:r>
                <a:r>
                  <a:rPr sz="2400" b="0">
                    <a:solidFill>
                      <a:srgbClr val="111827"/>
                    </a:solidFill>
                    <a:latin typeface="Arial"/>
                  </a:rPr>
                  <a:t> given pairs, so </a:t>
                </a:r>
                <a:r>
                  <a:rPr lang="en-IN" sz="2400">
                    <a:solidFill>
                      <a:srgbClr val="111827"/>
                    </a:solidFill>
                    <a:latin typeface="Cambria Math" panose="02040503050406030204" pitchFamily="18" charset="0"/>
                  </a:rPr>
                  <a:t>$R=\{(a,b):a\mid 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Divisibility is reflexive (</a:t>
                </a:r>
                <a:r>
                  <a:rPr lang="en-IN" sz="2400">
                    <a:solidFill>
                      <a:srgbClr val="111827"/>
                    </a:solidFill>
                    <a:latin typeface="Cambria Math" panose="02040503050406030204" pitchFamily="18" charset="0"/>
                  </a:rPr>
                  <a:t>$a\mid a$</a:t>
                </a:r>
                <a:r>
                  <a:rPr sz="2400" b="0">
                    <a:solidFill>
                      <a:srgbClr val="111827"/>
                    </a:solidFill>
                    <a:latin typeface="Arial"/>
                  </a:rPr>
                  <a:t>) and transitive (</a:t>
                </a:r>
                <a:r>
                  <a:rPr lang="en-IN" sz="2400">
                    <a:solidFill>
                      <a:srgbClr val="111827"/>
                    </a:solidFill>
                    <a:latin typeface="Cambria Math" panose="02040503050406030204" pitchFamily="18" charset="0"/>
                  </a:rPr>
                  <a:t>$a\mid b,\ b\mid c\Rightarrow a\mid c$</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(antisymmetric),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forces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only if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not symmetric.</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reflexive and transitive only: (A).</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$a\mid b$</a:t>
                </a:r>
                <a:r>
                  <a:rPr sz="2400" b="0">
                    <a:solidFill>
                      <a:srgbClr val="111827"/>
                    </a:solidFill>
                    <a:latin typeface="Arial"/>
                  </a:rPr>
                  <a:t> and </a:t>
                </a:r>
                <a:r>
                  <a:rPr lang="en-IN" sz="2400">
                    <a:solidFill>
                      <a:srgbClr val="111827"/>
                    </a:solidFill>
                    <a:latin typeface="Cambria Math" panose="02040503050406030204" pitchFamily="18" charset="0"/>
                  </a:rPr>
                  <a:t>$b\mid a$</a:t>
                </a:r>
                <a:r>
                  <a:rPr sz="2400" b="0">
                    <a:solidFill>
                      <a:srgbClr val="111827"/>
                    </a:solidFill>
                    <a:latin typeface="Arial"/>
                  </a:rPr>
                  <a:t> then </a:t>
                </a:r>
                <a:r>
                  <a:rPr lang="en-IN" sz="2400">
                    <a:solidFill>
                      <a:srgbClr val="111827"/>
                    </a:solidFill>
                    <a:latin typeface="Cambria Math" panose="02040503050406030204" pitchFamily="18" charset="0"/>
                  </a:rPr>
                  <a:t>$a=b$</a:t>
                </a:r>
                <a:r>
                  <a:rPr sz="2400" b="0">
                    <a:solidFill>
                      <a:srgbClr val="111827"/>
                    </a:solidFill>
                    <a:latin typeface="Arial"/>
                  </a:rPr>
                  <a:t> (antisymmetric), so </a:t>
                </a:r>
                <a:r>
                  <a:rPr lang="en-IN" sz="2400">
                    <a:solidFill>
                      <a:srgbClr val="111827"/>
                    </a:solidFill>
                    <a:latin typeface="Cambria Math" panose="02040503050406030204" pitchFamily="18" charset="0"/>
                  </a:rPr>
                  <a:t>$(3,6)\in R$</a:t>
                </a:r>
                <a:r>
                  <a:rPr sz="2400" b="0">
                    <a:solidFill>
                      <a:srgbClr val="111827"/>
                    </a:solidFill>
                    <a:latin typeface="Arial"/>
                  </a:rPr>
                  <a:t> forces </a:t>
                </a:r>
                <a:r>
                  <a:rPr lang="en-IN" sz="2400">
                    <a:solidFill>
                      <a:srgbClr val="111827"/>
                    </a:solidFill>
                    <a:latin typeface="Cambria Math" panose="02040503050406030204" pitchFamily="18" charset="0"/>
                  </a:rPr>
                  <a:t>$(6,3)\in R$</a:t>
                </a:r>
                <a:r>
                  <a:rPr sz="2400" b="0">
                    <a:solidFill>
                      <a:srgbClr val="111827"/>
                    </a:solidFill>
                    <a:latin typeface="Arial"/>
                  </a:rPr>
                  <a:t> only if </a:t>
                </a:r>
                <a:r>
                  <a:rPr lang="en-IN" sz="2400">
                    <a:solidFill>
                      <a:srgbClr val="111827"/>
                    </a:solidFill>
                    <a:latin typeface="Cambria Math" panose="02040503050406030204" pitchFamily="18" charset="0"/>
                  </a:rPr>
                  <a:t>$3=6$</a:t>
                </a:r>
                <a:r>
                  <a:rPr sz="2400" b="0">
                    <a:solidFill>
                      <a:srgbClr val="111827"/>
                    </a:solidFill>
                    <a:latin typeface="Arial"/>
                  </a:rPr>
                  <a:t>: not symmetric.</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reflexive and transitive only: (A).</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reflexive and transitive only</a:t>
            </a:r>
            <a:endParaRPr sz="2800">
              <a:solidFill>
                <a:srgbClr val="15803D"/>
              </a:solidFill>
            </a:endParaRP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divides </a:t>
                </a:r>
                <a14:m>
                  <m:oMath xmlns:m="http://schemas.openxmlformats.org/officeDocument/2006/math">
                    <m:r>
                      <a:rPr lang="en-IN" sz="2400" i="1">
                        <a:solidFill>
                          <a:srgbClr val="111827"/>
                        </a:solidFill>
                        <a:latin typeface="Cambria Math" panose="02040503050406030204" pitchFamily="18" charset="0"/>
                      </a:rPr>
                      <m:t>𝑏</m:t>
                    </m:r>
                  </m:oMath>
                </a14:m>
                <a:r>
                  <a:rPr sz="2400" b="0">
                    <a:solidFill>
                      <a:srgbClr val="111827"/>
                    </a:solidFill>
                    <a:latin typeface="Arial"/>
                  </a:rPr>
                  <a:t>' on positive integers is reflexive, transitive and antisymmetric (a partial order); it is symmetric only on a set where distinct elements never divide each other.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divisibility has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𝑛</m:t>
                        </m:r>
                      </m:sup>
                      <m:e>
                        <m:r>
                          <m:rPr>
                            <m:sty m:val="p"/>
                          </m:rPr>
                          <a:rPr lang="en-IN" sz="2400">
                            <a:solidFill>
                              <a:srgbClr val="111827"/>
                            </a:solidFill>
                            <a:latin typeface="Cambria Math" panose="02040503050406030204" pitchFamily="18" charset="0"/>
                          </a:rPr>
                          <m:t>⌊</m:t>
                        </m:r>
                      </m:e>
                    </m:nary>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pairs;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Recognising a familiar relation (divisibility,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subset) replaces three separate checks.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t>
                </a:r>
                <a:r>
                  <a:rPr lang="en-IN" sz="2400">
                    <a:solidFill>
                      <a:srgbClr val="111827"/>
                    </a:solidFill>
                    <a:latin typeface="Cambria Math" panose="02040503050406030204" pitchFamily="18" charset="0"/>
                  </a:rPr>
                  <a:t>$a$</a:t>
                </a:r>
                <a:r>
                  <a:rPr sz="2400" b="0">
                    <a:solidFill>
                      <a:srgbClr val="111827"/>
                    </a:solidFill>
                    <a:latin typeface="Arial"/>
                  </a:rPr>
                  <a:t> divides </a:t>
                </a:r>
                <a:r>
                  <a:rPr lang="en-IN" sz="2400">
                    <a:solidFill>
                      <a:srgbClr val="111827"/>
                    </a:solidFill>
                    <a:latin typeface="Cambria Math" panose="02040503050406030204" pitchFamily="18" charset="0"/>
                  </a:rPr>
                  <a:t>$b$</a:t>
                </a:r>
                <a:r>
                  <a:rPr sz="2400" b="0">
                    <a:solidFill>
                      <a:srgbClr val="111827"/>
                    </a:solidFill>
                    <a:latin typeface="Arial"/>
                  </a:rPr>
                  <a:t>' on positive integers is reflexive, transitive and antisymmetric (a partial order); it is symmetric only on a set where distinct elements never divide each other.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 </a:t>
                </a:r>
                <a:r>
                  <a:rPr lang="en-IN" sz="2400">
                    <a:solidFill>
                      <a:srgbClr val="111827"/>
                    </a:solidFill>
                    <a:latin typeface="Cambria Math" panose="02040503050406030204" pitchFamily="18" charset="0"/>
                  </a:rPr>
                  <a:t>$\{1,\dots,n\}$</a:t>
                </a:r>
                <a:r>
                  <a:rPr sz="2400" b="0">
                    <a:solidFill>
                      <a:srgbClr val="111827"/>
                    </a:solidFill>
                    <a:latin typeface="Arial"/>
                  </a:rPr>
                  <a:t> divisibility has </a:t>
                </a:r>
                <a:r>
                  <a:rPr lang="en-IN" sz="2400">
                    <a:solidFill>
                      <a:srgbClr val="111827"/>
                    </a:solidFill>
                    <a:latin typeface="Cambria Math" panose="02040503050406030204" pitchFamily="18" charset="0"/>
                  </a:rPr>
                  <a:t>$\sum_{k=1}^{n}\lfloor n/k\rfloor$</a:t>
                </a:r>
                <a:r>
                  <a:rPr sz="2400" b="0">
                    <a:solidFill>
                      <a:srgbClr val="111827"/>
                    </a:solidFill>
                    <a:latin typeface="Arial"/>
                  </a:rPr>
                  <a:t> pairs; </a:t>
                </a:r>
                <a:r>
                  <a:rPr lang="en-IN" sz="2400">
                    <a:solidFill>
                      <a:srgbClr val="111827"/>
                    </a:solidFill>
                    <a:latin typeface="Cambria Math" panose="02040503050406030204" pitchFamily="18" charset="0"/>
                  </a:rPr>
                  <a:t>$n=4$</a:t>
                </a:r>
                <a:r>
                  <a:rPr sz="2400" b="0">
                    <a:solidFill>
                      <a:srgbClr val="111827"/>
                    </a:solidFill>
                    <a:latin typeface="Arial"/>
                  </a:rPr>
                  <a:t>: </a:t>
                </a:r>
                <a:r>
                  <a:rPr lang="en-IN" sz="2400">
                    <a:solidFill>
                      <a:srgbClr val="111827"/>
                    </a:solidFill>
                    <a:latin typeface="Cambria Math" panose="02040503050406030204" pitchFamily="18" charset="0"/>
                  </a:rPr>
                  <a:t>$4+2+1+1=8$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Recognising a familiar relation (divisibility, </a:t>
                </a:r>
                <a:r>
                  <a:rPr lang="en-IN" sz="2400">
                    <a:solidFill>
                      <a:srgbClr val="111827"/>
                    </a:solidFill>
                    <a:latin typeface="Cambria Math" panose="02040503050406030204" pitchFamily="18" charset="0"/>
                  </a:rPr>
                  <a:t>$\le$</a:t>
                </a:r>
                <a:r>
                  <a:rPr sz="2400" b="0">
                    <a:solidFill>
                      <a:srgbClr val="111827"/>
                    </a:solidFill>
                    <a:latin typeface="Arial"/>
                  </a:rPr>
                  <a:t>, subset) replaces three separate checks.</a:t>
                </a:r>
                <a:endParaRPr sz="2400">
                  <a:solidFill>
                    <a:srgbClr val="111827"/>
                  </a:solidFill>
                </a:endParaRPr>
              </a:p>
            </p:txBody>
          </p:sp>
        </mc:Fallback>
      </mc:AlternateContent>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3776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𝑊</m:t>
                    </m:r>
                  </m:oMath>
                </a14:m>
                <a:r>
                  <a:rPr sz="2400" b="0">
                    <a:solidFill>
                      <a:srgbClr val="111827"/>
                    </a:solidFill>
                    <a:latin typeface="Arial"/>
                  </a:rPr>
                  <a:t> denote the words in the English dictionary. Define the relation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by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𝑊</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𝑊</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nor/>
                      </m:rPr>
                      <a:rPr lang="en-IN" sz="2400" i="1">
                        <a:solidFill>
                          <a:srgbClr val="111827"/>
                        </a:solidFill>
                        <a:latin typeface="Cambria Math" panose="02040503050406030204" pitchFamily="18" charset="0"/>
                      </a:rPr>
                      <m:t>𝑡ℎ𝑒 𝑤𝑜𝑟𝑑𝑠 </m:t>
                    </m:r>
                    <m:r>
                      <a:rPr lang="en-IN" sz="2400" i="1">
                        <a:solidFill>
                          <a:srgbClr val="111827"/>
                        </a:solidFill>
                        <a:latin typeface="Cambria Math" panose="02040503050406030204" pitchFamily="18" charset="0"/>
                      </a:rPr>
                      <m:t>𝑥</m:t>
                    </m:r>
                    <m:r>
                      <m:rPr>
                        <m:nor/>
                      </m:rPr>
                      <a:rPr lang="en-IN" sz="2400" i="1">
                        <a:solidFill>
                          <a:srgbClr val="111827"/>
                        </a:solidFill>
                        <a:latin typeface="Cambria Math" panose="02040503050406030204" pitchFamily="18" charset="0"/>
                      </a:rPr>
                      <m:t> 𝑎𝑛𝑑 </m:t>
                    </m:r>
                    <m:r>
                      <a:rPr lang="en-IN" sz="2400" i="1">
                        <a:solidFill>
                          <a:srgbClr val="111827"/>
                        </a:solidFill>
                        <a:latin typeface="Cambria Math" panose="02040503050406030204" pitchFamily="18" charset="0"/>
                      </a:rPr>
                      <m:t>𝑦</m:t>
                    </m:r>
                    <m:r>
                      <m:rPr>
                        <m:nor/>
                      </m:rPr>
                      <a:rPr lang="en-IN" sz="2400" i="1">
                        <a:solidFill>
                          <a:srgbClr val="111827"/>
                        </a:solidFill>
                        <a:latin typeface="Cambria Math" panose="02040503050406030204" pitchFamily="18" charset="0"/>
                      </a:rPr>
                      <m:t> ℎ𝑎𝑣𝑒 𝑎𝑡 𝑙𝑒𝑎𝑠𝑡 𝑜𝑛𝑒 𝑙𝑒𝑡𝑡𝑒𝑟 𝑖𝑛 𝑐𝑜𝑚𝑚𝑜𝑛</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reflexive, symmetric and not transitive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reflexive, symmetric and transitive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reflexive, not symmetric and transitive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not reflexive, symmetric and transitive</a:t>
                </a:r>
                <a:endParaRPr sz="2400">
                  <a:solidFill>
                    <a:srgbClr val="111827"/>
                  </a:solidFill>
                </a:endParaRPr>
              </a:p>
            </p:txBody>
          </p:sp>
        </mc:Choice>
        <mc:Fallback>
          <p:sp>
            <p:nvSpPr>
              <p:cNvPr id="4" name="Rounded Rectangle 3"/>
              <p:cNvSpPr/>
              <p:nvPr/>
            </p:nvSpPr>
            <p:spPr>
              <a:xfrm>
                <a:off x="731520" y="1280160"/>
                <a:ext cx="10725912" cy="33776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$W$</a:t>
                </a:r>
                <a:r>
                  <a:rPr sz="2400" b="0">
                    <a:solidFill>
                      <a:srgbClr val="111827"/>
                    </a:solidFill>
                    <a:latin typeface="Arial"/>
                  </a:rPr>
                  <a:t> denote the words in the English dictionary. Define the relation </a:t>
                </a:r>
                <a:r>
                  <a:rPr lang="en-IN" sz="2400">
                    <a:solidFill>
                      <a:srgbClr val="111827"/>
                    </a:solidFill>
                    <a:latin typeface="Cambria Math" panose="02040503050406030204" pitchFamily="18" charset="0"/>
                  </a:rPr>
                  <a:t>$R$</a:t>
                </a:r>
                <a:r>
                  <a:rPr sz="2400" b="0">
                    <a:solidFill>
                      <a:srgbClr val="111827"/>
                    </a:solidFill>
                    <a:latin typeface="Arial"/>
                  </a:rPr>
                  <a:t> by </a:t>
                </a:r>
                <a:r>
                  <a:rPr lang="en-IN" sz="2400">
                    <a:solidFill>
                      <a:srgbClr val="111827"/>
                    </a:solidFill>
                    <a:latin typeface="Cambria Math" panose="02040503050406030204" pitchFamily="18" charset="0"/>
                  </a:rPr>
                  <a:t>$R=\{(x,y)\in W\times W:\ \text{the words } x \text{ and } y \text{ have at least one letter in common}\}$</a:t>
                </a:r>
                <a:r>
                  <a:rPr sz="2400" b="0">
                    <a:solidFill>
                      <a:srgbClr val="111827"/>
                    </a:solidFill>
                    <a:latin typeface="Arial"/>
                  </a:rPr>
                  <a:t>. Then </a:t>
                </a:r>
                <a:r>
                  <a:rPr lang="en-IN" sz="2400">
                    <a:solidFill>
                      <a:srgbClr val="111827"/>
                    </a:solidFill>
                    <a:latin typeface="Cambria Math" panose="02040503050406030204" pitchFamily="18" charset="0"/>
                  </a:rPr>
                  <a:t>$R$</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reflexive, symmetric and not transitive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reflexive, symmetric and transitive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reflexive, not symmetric and transitive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not reflexive, symmetric and transitive</a:t>
                </a:r>
                <a:endParaRPr sz="2400">
                  <a:solidFill>
                    <a:srgbClr val="111827"/>
                  </a:solidFill>
                </a:endParaRPr>
              </a:p>
            </p:txBody>
          </p:sp>
        </mc:Fallback>
      </mc:AlternateContent>
      <p:sp>
        <p:nvSpPr>
          <p:cNvPr id="5" name="Rectangle 4"/>
          <p:cNvSpPr/>
          <p:nvPr/>
        </p:nvSpPr>
        <p:spPr>
          <a:xfrm>
            <a:off x="731520" y="4886452"/>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Types of relations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 word that links two words sharing nothing with each other breaks transitivity.</a:t>
            </a:r>
            <a:endParaRPr sz="24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Reflexive: every word has a letter in common with itself,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Symmetric: if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share a letter then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share it,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Transitive: BAD and CAT have the letter A in common, so </a:t>
                </a:r>
                <a14:m>
                  <m:oMath xmlns:m="http://schemas.openxmlformats.org/officeDocument/2006/math">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𝐵𝐴𝐷</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𝐶𝐴𝑇</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Reflexive: every word has a letter in common with itself, so </a:t>
                </a:r>
                <a:r>
                  <a:rPr lang="en-IN" sz="2400">
                    <a:solidFill>
                      <a:srgbClr val="111827"/>
                    </a:solidFill>
                    <a:latin typeface="Cambria Math" panose="02040503050406030204" pitchFamily="18" charset="0"/>
                  </a:rPr>
                  <a:t>$(x,x)\in 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Symmetric: if </a:t>
                </a:r>
                <a:r>
                  <a:rPr lang="en-IN" sz="2400">
                    <a:solidFill>
                      <a:srgbClr val="111827"/>
                    </a:solidFill>
                    <a:latin typeface="Cambria Math" panose="02040503050406030204" pitchFamily="18" charset="0"/>
                  </a:rPr>
                  <a:t>$x$</a:t>
                </a:r>
                <a:r>
                  <a:rPr sz="2400" b="0">
                    <a:solidFill>
                      <a:srgbClr val="111827"/>
                    </a:solidFill>
                    <a:latin typeface="Arial"/>
                  </a:rPr>
                  <a:t> and </a:t>
                </a:r>
                <a:r>
                  <a:rPr lang="en-IN" sz="2400">
                    <a:solidFill>
                      <a:srgbClr val="111827"/>
                    </a:solidFill>
                    <a:latin typeface="Cambria Math" panose="02040503050406030204" pitchFamily="18" charset="0"/>
                  </a:rPr>
                  <a:t>$y$</a:t>
                </a:r>
                <a:r>
                  <a:rPr sz="2400" b="0">
                    <a:solidFill>
                      <a:srgbClr val="111827"/>
                    </a:solidFill>
                    <a:latin typeface="Arial"/>
                  </a:rPr>
                  <a:t> share a letter then </a:t>
                </a:r>
                <a:r>
                  <a:rPr lang="en-IN" sz="2400">
                    <a:solidFill>
                      <a:srgbClr val="111827"/>
                    </a:solidFill>
                    <a:latin typeface="Cambria Math" panose="02040503050406030204" pitchFamily="18" charset="0"/>
                  </a:rPr>
                  <a:t>$y$</a:t>
                </a:r>
                <a:r>
                  <a:rPr sz="2400" b="0">
                    <a:solidFill>
                      <a:srgbClr val="111827"/>
                    </a:solidFill>
                    <a:latin typeface="Arial"/>
                  </a:rPr>
                  <a:t> and </a:t>
                </a:r>
                <a:r>
                  <a:rPr lang="en-IN" sz="2400">
                    <a:solidFill>
                      <a:srgbClr val="111827"/>
                    </a:solidFill>
                    <a:latin typeface="Cambria Math" panose="02040503050406030204" pitchFamily="18" charset="0"/>
                  </a:rPr>
                  <a:t>$x$</a:t>
                </a:r>
                <a:r>
                  <a:rPr sz="2400" b="0">
                    <a:solidFill>
                      <a:srgbClr val="111827"/>
                    </a:solidFill>
                    <a:latin typeface="Arial"/>
                  </a:rPr>
                  <a:t> share it, so </a:t>
                </a:r>
                <a:r>
                  <a:rPr lang="en-IN" sz="2400">
                    <a:solidFill>
                      <a:srgbClr val="111827"/>
                    </a:solidFill>
                    <a:latin typeface="Cambria Math" panose="02040503050406030204" pitchFamily="18" charset="0"/>
                  </a:rPr>
                  <a:t>$(x,y)\in R\Rightarrow(y,x)\in 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Transitive: BAD and CAT have the letter A in common, so </a:t>
                </a:r>
                <a:r>
                  <a:rPr lang="en-IN" sz="2400">
                    <a:solidFill>
                      <a:srgbClr val="111827"/>
                    </a:solidFill>
                    <a:latin typeface="Cambria Math" panose="02040503050406030204" pitchFamily="18" charset="0"/>
                  </a:rPr>
                  <a:t>$(\text{BAD},\text{CAT})\in R$</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CAT and KITE have the letter T in common, so </a:t>
                </a:r>
                <a14:m>
                  <m:oMath xmlns:m="http://schemas.openxmlformats.org/officeDocument/2006/math">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𝐶𝐴𝑇</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𝐾𝐼𝑇𝐸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But BAD and KITE have no letter in common, so </a:t>
                </a:r>
                <a14:m>
                  <m:oMath xmlns:m="http://schemas.openxmlformats.org/officeDocument/2006/math">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𝐵𝐴𝐷</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𝐾𝐼𝑇𝐸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not transitive. Answer (A).</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CAT and KITE have the letter T in common, so </a:t>
                </a:r>
                <a:r>
                  <a:rPr lang="en-IN" sz="2400">
                    <a:solidFill>
                      <a:srgbClr val="111827"/>
                    </a:solidFill>
                    <a:latin typeface="Cambria Math" panose="02040503050406030204" pitchFamily="18" charset="0"/>
                  </a:rPr>
                  <a:t>$(\text{CAT},\text{KITE})\in 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But BAD and KITE have no letter in common, so </a:t>
                </a:r>
                <a:r>
                  <a:rPr lang="en-IN" sz="2400">
                    <a:solidFill>
                      <a:srgbClr val="111827"/>
                    </a:solidFill>
                    <a:latin typeface="Cambria Math" panose="02040503050406030204" pitchFamily="18" charset="0"/>
                  </a:rPr>
                  <a:t>$(\text{BAD},\text{KITE})\notin R$</a:t>
                </a:r>
                <a:r>
                  <a:rPr sz="2400" b="0">
                    <a:solidFill>
                      <a:srgbClr val="111827"/>
                    </a:solidFill>
                    <a:latin typeface="Arial"/>
                  </a:rPr>
                  <a:t> and </a:t>
                </a:r>
                <a:r>
                  <a:rPr lang="en-IN" sz="2400">
                    <a:solidFill>
                      <a:srgbClr val="111827"/>
                    </a:solidFill>
                    <a:latin typeface="Cambria Math" panose="02040503050406030204" pitchFamily="18" charset="0"/>
                  </a:rPr>
                  <a:t>$R$</a:t>
                </a:r>
                <a:r>
                  <a:rPr sz="2400" b="0">
                    <a:solidFill>
                      <a:srgbClr val="111827"/>
                    </a:solidFill>
                    <a:latin typeface="Arial"/>
                  </a:rPr>
                  <a:t> is not transitive. Answer (A).</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reflexive, symmetric and not transitive</a:t>
            </a:r>
            <a:endParaRPr sz="2800">
              <a:solidFill>
                <a:srgbClr val="15803D"/>
              </a:solidFill>
            </a:endParaRP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'Overlap' relations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on sets, common letter, common factor </a:t>
                </a:r>
                <a14:m>
                  <m:oMath xmlns:m="http://schemas.openxmlformats.org/officeDocument/2006/math">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oMath>
                </a14:m>
                <a:r>
                  <a:rPr sz="2400" b="0">
                    <a:solidFill>
                      <a:srgbClr val="111827"/>
                    </a:solidFill>
                    <a:latin typeface="Arial"/>
                  </a:rPr>
                  <a:t>) are reflexive and symmetric but in general not transitive.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Quick test for transitivity failure: find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that meets two mutually disjoint objects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𝑧</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Same pattern: </a:t>
                </a:r>
                <a14:m>
                  <m:oMath xmlns:m="http://schemas.openxmlformats.org/officeDocument/2006/math">
                    <m:r>
                      <m:rPr>
                        <m:sty m:val="p"/>
                      </m:rPr>
                      <a:rPr lang="en-IN" sz="2400">
                        <a:solidFill>
                          <a:srgbClr val="111827"/>
                        </a:solidFill>
                        <a:latin typeface="Cambria Math" panose="02040503050406030204" pitchFamily="18" charset="0"/>
                      </a:rPr>
                      <m:t>gcd</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oMath>
                </a14:m>
                <a:r>
                  <a:rPr sz="2400" b="0">
                    <a:solidFill>
                      <a:srgbClr val="111827"/>
                    </a:solidFill>
                    <a:latin typeface="Arial"/>
                  </a:rPr>
                  <a:t> on integers;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are related but </a:t>
                </a:r>
                <a14:m>
                  <m:oMath xmlns:m="http://schemas.openxmlformats.org/officeDocument/2006/math">
                    <m:r>
                      <m:rPr>
                        <m:sty m:val="p"/>
                      </m:rPr>
                      <a:rPr lang="en-IN" sz="2400">
                        <a:solidFill>
                          <a:srgbClr val="111827"/>
                        </a:solidFill>
                        <a:latin typeface="Cambria Math" panose="02040503050406030204" pitchFamily="18" charset="0"/>
                      </a:rPr>
                      <m:t>gcd</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'Overlap' relations (</a:t>
                </a:r>
                <a:r>
                  <a:rPr lang="en-IN" sz="2400">
                    <a:solidFill>
                      <a:srgbClr val="111827"/>
                    </a:solidFill>
                    <a:latin typeface="Cambria Math" panose="02040503050406030204" pitchFamily="18" charset="0"/>
                  </a:rPr>
                  <a:t>$A\cap B\neq\emptyset$</a:t>
                </a:r>
                <a:r>
                  <a:rPr sz="2400" b="0">
                    <a:solidFill>
                      <a:srgbClr val="111827"/>
                    </a:solidFill>
                    <a:latin typeface="Arial"/>
                  </a:rPr>
                  <a:t> on sets, common letter, common factor </a:t>
                </a:r>
                <a:r>
                  <a:rPr lang="en-IN" sz="2400">
                    <a:solidFill>
                      <a:srgbClr val="111827"/>
                    </a:solidFill>
                    <a:latin typeface="Cambria Math" panose="02040503050406030204" pitchFamily="18" charset="0"/>
                  </a:rPr>
                  <a:t>$&gt;1$</a:t>
                </a:r>
                <a:r>
                  <a:rPr sz="2400" b="0">
                    <a:solidFill>
                      <a:srgbClr val="111827"/>
                    </a:solidFill>
                    <a:latin typeface="Arial"/>
                  </a:rPr>
                  <a:t>) are reflexive and symmetric but in general not transitive.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Quick test for transitivity failure: find </a:t>
                </a:r>
                <a:r>
                  <a:rPr lang="en-IN" sz="2400">
                    <a:solidFill>
                      <a:srgbClr val="111827"/>
                    </a:solidFill>
                    <a:latin typeface="Cambria Math" panose="02040503050406030204" pitchFamily="18" charset="0"/>
                  </a:rPr>
                  <a:t>$y$</a:t>
                </a:r>
                <a:r>
                  <a:rPr sz="2400" b="0">
                    <a:solidFill>
                      <a:srgbClr val="111827"/>
                    </a:solidFill>
                    <a:latin typeface="Arial"/>
                  </a:rPr>
                  <a:t> that meets two mutually disjoint objects </a:t>
                </a:r>
                <a:r>
                  <a:rPr lang="en-IN" sz="2400">
                    <a:solidFill>
                      <a:srgbClr val="111827"/>
                    </a:solidFill>
                    <a:latin typeface="Cambria Math" panose="02040503050406030204" pitchFamily="18" charset="0"/>
                  </a:rPr>
                  <a:t>$x$</a:t>
                </a:r>
                <a:r>
                  <a:rPr sz="2400" b="0">
                    <a:solidFill>
                      <a:srgbClr val="111827"/>
                    </a:solidFill>
                    <a:latin typeface="Arial"/>
                  </a:rPr>
                  <a:t> and </a:t>
                </a:r>
                <a:r>
                  <a:rPr lang="en-IN" sz="2400">
                    <a:solidFill>
                      <a:srgbClr val="111827"/>
                    </a:solidFill>
                    <a:latin typeface="Cambria Math" panose="02040503050406030204" pitchFamily="18" charset="0"/>
                  </a:rPr>
                  <a:t>$z$</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Same pattern: </a:t>
                </a:r>
                <a:r>
                  <a:rPr lang="en-IN" sz="2400">
                    <a:solidFill>
                      <a:srgbClr val="111827"/>
                    </a:solidFill>
                    <a:latin typeface="Cambria Math" panose="02040503050406030204" pitchFamily="18" charset="0"/>
                  </a:rPr>
                  <a:t>$\gcd(a,b)&gt;1$</a:t>
                </a:r>
                <a:r>
                  <a:rPr sz="2400" b="0">
                    <a:solidFill>
                      <a:srgbClr val="111827"/>
                    </a:solidFill>
                    <a:latin typeface="Arial"/>
                  </a:rPr>
                  <a:t> on integers; </a:t>
                </a:r>
                <a:r>
                  <a:rPr lang="en-IN" sz="2400">
                    <a:solidFill>
                      <a:srgbClr val="111827"/>
                    </a:solidFill>
                    <a:latin typeface="Cambria Math" panose="02040503050406030204" pitchFamily="18" charset="0"/>
                  </a:rPr>
                  <a:t>$(6,10)$</a:t>
                </a:r>
                <a:r>
                  <a:rPr sz="2400" b="0">
                    <a:solidFill>
                      <a:srgbClr val="111827"/>
                    </a:solidFill>
                    <a:latin typeface="Arial"/>
                  </a:rPr>
                  <a:t> and </a:t>
                </a:r>
                <a:r>
                  <a:rPr lang="en-IN" sz="2400">
                    <a:solidFill>
                      <a:srgbClr val="111827"/>
                    </a:solidFill>
                    <a:latin typeface="Cambria Math" panose="02040503050406030204" pitchFamily="18" charset="0"/>
                  </a:rPr>
                  <a:t>$(10,35)$</a:t>
                </a:r>
                <a:r>
                  <a:rPr sz="2400" b="0">
                    <a:solidFill>
                      <a:srgbClr val="111827"/>
                    </a:solidFill>
                    <a:latin typeface="Arial"/>
                  </a:rPr>
                  <a:t> are related but </a:t>
                </a:r>
                <a:r>
                  <a:rPr lang="en-IN" sz="2400">
                    <a:solidFill>
                      <a:srgbClr val="111827"/>
                    </a:solidFill>
                    <a:latin typeface="Cambria Math" panose="02040503050406030204" pitchFamily="18" charset="0"/>
                  </a:rPr>
                  <a:t>$\gcd(6,35)=1$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1.5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3776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be the real line. Consider the following subsets of the plane </a:t>
                </a:r>
                <a14:m>
                  <m:oMath xmlns:m="http://schemas.openxmlformats.org/officeDocument/2006/math">
                    <m:r>
                      <m:rPr>
                        <m:scr m:val="double-struck"/>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nor/>
                      </m:rPr>
                      <a:rPr lang="en-IN" sz="2400" i="1">
                        <a:solidFill>
                          <a:srgbClr val="111827"/>
                        </a:solidFill>
                        <a:latin typeface="Cambria Math" panose="02040503050406030204" pitchFamily="18" charset="0"/>
                      </a:rPr>
                      <m:t> 𝑎𝑛𝑑 </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nor/>
                      </m:rPr>
                      <a:rPr lang="en-IN" sz="2400" i="1">
                        <a:solidFill>
                          <a:srgbClr val="111827"/>
                        </a:solidFill>
                        <a:latin typeface="Cambria Math" panose="02040503050406030204" pitchFamily="18" charset="0"/>
                      </a:rPr>
                      <m:t> 𝑖𝑠 𝑎𝑛 𝑖𝑛𝑡𝑒𝑔𝑒𝑟</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Which one of the following is true?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Both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𝑇</m:t>
                    </m:r>
                  </m:oMath>
                </a14:m>
                <a:r>
                  <a:rPr sz="2400" b="0">
                    <a:solidFill>
                      <a:srgbClr val="111827"/>
                    </a:solidFill>
                    <a:latin typeface="Arial"/>
                  </a:rPr>
                  <a:t> are equivalence relations on </a:t>
                </a:r>
                <a14:m>
                  <m:oMath xmlns:m="http://schemas.openxmlformats.org/officeDocument/2006/math">
                    <m:r>
                      <m:rPr>
                        <m:scr m:val="double-struck"/>
                        <m:sty m:val="p"/>
                      </m:rPr>
                      <a:rPr lang="en-IN" sz="2400">
                        <a:solidFill>
                          <a:srgbClr val="111827"/>
                        </a:solidFill>
                        <a:latin typeface="Cambria Math" panose="02040503050406030204" pitchFamily="18" charset="0"/>
                      </a:rPr>
                      <m:t>R</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is an equivalence relation on </a:t>
                </a:r>
                <a14:m>
                  <m:oMath xmlns:m="http://schemas.openxmlformats.org/officeDocument/2006/math">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but </a:t>
                </a:r>
                <a14:m>
                  <m:oMath xmlns:m="http://schemas.openxmlformats.org/officeDocument/2006/math">
                    <m:r>
                      <a:rPr lang="en-IN" sz="2400" i="1">
                        <a:solidFill>
                          <a:srgbClr val="111827"/>
                        </a:solidFill>
                        <a:latin typeface="Cambria Math" panose="02040503050406030204" pitchFamily="18" charset="0"/>
                      </a:rPr>
                      <m:t>𝑇</m:t>
                    </m:r>
                  </m:oMath>
                </a14:m>
                <a:r>
                  <a:rPr sz="2400" b="0">
                    <a:solidFill>
                      <a:srgbClr val="111827"/>
                    </a:solidFill>
                    <a:latin typeface="Arial"/>
                  </a:rPr>
                  <a:t> is not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14:m>
                  <m:oMath xmlns:m="http://schemas.openxmlformats.org/officeDocument/2006/math">
                    <m:r>
                      <a:rPr lang="en-IN" sz="2400" i="1">
                        <a:solidFill>
                          <a:srgbClr val="111827"/>
                        </a:solidFill>
                        <a:latin typeface="Cambria Math" panose="02040503050406030204" pitchFamily="18" charset="0"/>
                      </a:rPr>
                      <m:t>𝑇</m:t>
                    </m:r>
                  </m:oMath>
                </a14:m>
                <a:r>
                  <a:rPr sz="2400" b="0">
                    <a:solidFill>
                      <a:srgbClr val="111827"/>
                    </a:solidFill>
                    <a:latin typeface="Arial"/>
                  </a:rPr>
                  <a:t> is an equivalence relation on </a:t>
                </a:r>
                <a14:m>
                  <m:oMath xmlns:m="http://schemas.openxmlformats.org/officeDocument/2006/math">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but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is not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Neither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nor </a:t>
                </a:r>
                <a14:m>
                  <m:oMath xmlns:m="http://schemas.openxmlformats.org/officeDocument/2006/math">
                    <m:r>
                      <a:rPr lang="en-IN" sz="2400" i="1">
                        <a:solidFill>
                          <a:srgbClr val="111827"/>
                        </a:solidFill>
                        <a:latin typeface="Cambria Math" panose="02040503050406030204" pitchFamily="18" charset="0"/>
                      </a:rPr>
                      <m:t>𝑇</m:t>
                    </m:r>
                  </m:oMath>
                </a14:m>
                <a:r>
                  <a:rPr sz="2400" b="0">
                    <a:solidFill>
                      <a:srgbClr val="111827"/>
                    </a:solidFill>
                    <a:latin typeface="Arial"/>
                  </a:rPr>
                  <a:t> is an equivalence relation on </a:t>
                </a:r>
                <a14:m>
                  <m:oMath xmlns:m="http://schemas.openxmlformats.org/officeDocument/2006/math">
                    <m:r>
                      <m:rPr>
                        <m:scr m:val="double-struck"/>
                        <m:sty m:val="p"/>
                      </m:rPr>
                      <a:rPr lang="en-IN" sz="2400">
                        <a:solidFill>
                          <a:srgbClr val="111827"/>
                        </a:solidFill>
                        <a:latin typeface="Cambria Math" panose="02040503050406030204" pitchFamily="18" charset="0"/>
                      </a:rPr>
                      <m:t>R</m:t>
                    </m:r>
                  </m:oMath>
                </a14:m>
                <a:endParaRPr sz="2400">
                  <a:solidFill>
                    <a:srgbClr val="111827"/>
                  </a:solidFill>
                </a:endParaRPr>
              </a:p>
            </p:txBody>
          </p:sp>
        </mc:Choice>
        <mc:Fallback>
          <p:sp>
            <p:nvSpPr>
              <p:cNvPr id="4" name="Rounded Rectangle 3"/>
              <p:cNvSpPr/>
              <p:nvPr/>
            </p:nvSpPr>
            <p:spPr>
              <a:xfrm>
                <a:off x="731520" y="1280160"/>
                <a:ext cx="10725912" cy="33776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$\mathbb{R}$</a:t>
                </a:r>
                <a:r>
                  <a:rPr sz="2400" b="0">
                    <a:solidFill>
                      <a:srgbClr val="111827"/>
                    </a:solidFill>
                    <a:latin typeface="Arial"/>
                  </a:rPr>
                  <a:t> be the real line. Consider the following subsets of the plane </a:t>
                </a:r>
                <a:r>
                  <a:rPr lang="en-IN" sz="2400">
                    <a:solidFill>
                      <a:srgbClr val="111827"/>
                    </a:solidFill>
                    <a:latin typeface="Cambria Math" panose="02040503050406030204" pitchFamily="18" charset="0"/>
                  </a:rPr>
                  <a:t>$\mathbb{R}\times\mathbb{R}$</a:t>
                </a:r>
                <a:r>
                  <a:rPr sz="2400" b="0">
                    <a:solidFill>
                      <a:srgbClr val="111827"/>
                    </a:solidFill>
                    <a:latin typeface="Arial"/>
                  </a:rPr>
                  <a:t>: </a:t>
                </a:r>
                <a:r>
                  <a:rPr lang="en-IN" sz="2400">
                    <a:solidFill>
                      <a:srgbClr val="111827"/>
                    </a:solidFill>
                    <a:latin typeface="Cambria Math" panose="02040503050406030204" pitchFamily="18" charset="0"/>
                  </a:rPr>
                  <a:t>$S=\{(x,y):y=x+1 \text{ and } 0&lt;x&lt;2\}$</a:t>
                </a:r>
                <a:r>
                  <a:rPr sz="2400" b="0">
                    <a:solidFill>
                      <a:srgbClr val="111827"/>
                    </a:solidFill>
                    <a:latin typeface="Arial"/>
                  </a:rPr>
                  <a:t> and </a:t>
                </a:r>
                <a:r>
                  <a:rPr lang="en-IN" sz="2400">
                    <a:solidFill>
                      <a:srgbClr val="111827"/>
                    </a:solidFill>
                    <a:latin typeface="Cambria Math" panose="02040503050406030204" pitchFamily="18" charset="0"/>
                  </a:rPr>
                  <a:t>$T=\{(x,y):x-y \text{ is an integer}\}$</a:t>
                </a:r>
                <a:r>
                  <a:rPr sz="2400" b="0">
                    <a:solidFill>
                      <a:srgbClr val="111827"/>
                    </a:solidFill>
                    <a:latin typeface="Arial"/>
                  </a:rPr>
                  <a:t>. Which one of the following is true?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Both </a:t>
                </a:r>
                <a:r>
                  <a:rPr lang="en-IN" sz="2400">
                    <a:solidFill>
                      <a:srgbClr val="111827"/>
                    </a:solidFill>
                    <a:latin typeface="Cambria Math" panose="02040503050406030204" pitchFamily="18" charset="0"/>
                  </a:rPr>
                  <a:t>$S$</a:t>
                </a:r>
                <a:r>
                  <a:rPr sz="2400" b="0">
                    <a:solidFill>
                      <a:srgbClr val="111827"/>
                    </a:solidFill>
                    <a:latin typeface="Arial"/>
                  </a:rPr>
                  <a:t> and </a:t>
                </a:r>
                <a:r>
                  <a:rPr lang="en-IN" sz="2400">
                    <a:solidFill>
                      <a:srgbClr val="111827"/>
                    </a:solidFill>
                    <a:latin typeface="Cambria Math" panose="02040503050406030204" pitchFamily="18" charset="0"/>
                  </a:rPr>
                  <a:t>$T$</a:t>
                </a:r>
                <a:r>
                  <a:rPr sz="2400" b="0">
                    <a:solidFill>
                      <a:srgbClr val="111827"/>
                    </a:solidFill>
                    <a:latin typeface="Arial"/>
                  </a:rPr>
                  <a:t> are equivalence relations on </a:t>
                </a:r>
                <a:r>
                  <a:rPr lang="en-IN" sz="2400">
                    <a:solidFill>
                      <a:srgbClr val="111827"/>
                    </a:solidFill>
                    <a:latin typeface="Cambria Math" panose="02040503050406030204" pitchFamily="18" charset="0"/>
                  </a:rPr>
                  <a:t>$\mathbb{R}$</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$S$</a:t>
                </a:r>
                <a:r>
                  <a:rPr sz="2400" b="0">
                    <a:solidFill>
                      <a:srgbClr val="111827"/>
                    </a:solidFill>
                    <a:latin typeface="Arial"/>
                  </a:rPr>
                  <a:t> is an equivalence relation on </a:t>
                </a:r>
                <a:r>
                  <a:rPr lang="en-IN" sz="2400">
                    <a:solidFill>
                      <a:srgbClr val="111827"/>
                    </a:solidFill>
                    <a:latin typeface="Cambria Math" panose="02040503050406030204" pitchFamily="18" charset="0"/>
                  </a:rPr>
                  <a:t>$\mathbb{R}$</a:t>
                </a:r>
                <a:r>
                  <a:rPr sz="2400" b="0">
                    <a:solidFill>
                      <a:srgbClr val="111827"/>
                    </a:solidFill>
                    <a:latin typeface="Arial"/>
                  </a:rPr>
                  <a:t> but </a:t>
                </a:r>
                <a:r>
                  <a:rPr lang="en-IN" sz="2400">
                    <a:solidFill>
                      <a:srgbClr val="111827"/>
                    </a:solidFill>
                    <a:latin typeface="Cambria Math" panose="02040503050406030204" pitchFamily="18" charset="0"/>
                  </a:rPr>
                  <a:t>$T$</a:t>
                </a:r>
                <a:r>
                  <a:rPr sz="2400" b="0">
                    <a:solidFill>
                      <a:srgbClr val="111827"/>
                    </a:solidFill>
                    <a:latin typeface="Arial"/>
                  </a:rPr>
                  <a:t> is not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$T$</a:t>
                </a:r>
                <a:r>
                  <a:rPr sz="2400" b="0">
                    <a:solidFill>
                      <a:srgbClr val="111827"/>
                    </a:solidFill>
                    <a:latin typeface="Arial"/>
                  </a:rPr>
                  <a:t> is an equivalence relation on </a:t>
                </a:r>
                <a:r>
                  <a:rPr lang="en-IN" sz="2400">
                    <a:solidFill>
                      <a:srgbClr val="111827"/>
                    </a:solidFill>
                    <a:latin typeface="Cambria Math" panose="02040503050406030204" pitchFamily="18" charset="0"/>
                  </a:rPr>
                  <a:t>$\mathbb{R}$</a:t>
                </a:r>
                <a:r>
                  <a:rPr sz="2400" b="0">
                    <a:solidFill>
                      <a:srgbClr val="111827"/>
                    </a:solidFill>
                    <a:latin typeface="Arial"/>
                  </a:rPr>
                  <a:t> but </a:t>
                </a:r>
                <a:r>
                  <a:rPr lang="en-IN" sz="2400">
                    <a:solidFill>
                      <a:srgbClr val="111827"/>
                    </a:solidFill>
                    <a:latin typeface="Cambria Math" panose="02040503050406030204" pitchFamily="18" charset="0"/>
                  </a:rPr>
                  <a:t>$S$</a:t>
                </a:r>
                <a:r>
                  <a:rPr sz="2400" b="0">
                    <a:solidFill>
                      <a:srgbClr val="111827"/>
                    </a:solidFill>
                    <a:latin typeface="Arial"/>
                  </a:rPr>
                  <a:t> is not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Neither </a:t>
                </a:r>
                <a:r>
                  <a:rPr lang="en-IN" sz="2400">
                    <a:solidFill>
                      <a:srgbClr val="111827"/>
                    </a:solidFill>
                    <a:latin typeface="Cambria Math" panose="02040503050406030204" pitchFamily="18" charset="0"/>
                  </a:rPr>
                  <a:t>$S$</a:t>
                </a:r>
                <a:r>
                  <a:rPr sz="2400" b="0">
                    <a:solidFill>
                      <a:srgbClr val="111827"/>
                    </a:solidFill>
                    <a:latin typeface="Arial"/>
                  </a:rPr>
                  <a:t> nor </a:t>
                </a:r>
                <a:r>
                  <a:rPr lang="en-IN" sz="2400">
                    <a:solidFill>
                      <a:srgbClr val="111827"/>
                    </a:solidFill>
                    <a:latin typeface="Cambria Math" panose="02040503050406030204" pitchFamily="18" charset="0"/>
                  </a:rPr>
                  <a:t>$T$</a:t>
                </a:r>
                <a:r>
                  <a:rPr sz="2400" b="0">
                    <a:solidFill>
                      <a:srgbClr val="111827"/>
                    </a:solidFill>
                    <a:latin typeface="Arial"/>
                  </a:rPr>
                  <a:t> is an equivalence relation on </a:t>
                </a:r>
                <a:r>
                  <a:rPr lang="en-IN" sz="2400">
                    <a:solidFill>
                      <a:srgbClr val="111827"/>
                    </a:solidFill>
                    <a:latin typeface="Cambria Math" panose="02040503050406030204" pitchFamily="18" charset="0"/>
                  </a:rPr>
                  <a:t>$\mathbb{R}$</a:t>
                </a:r>
                <a:endParaRPr sz="2400">
                  <a:solidFill>
                    <a:srgbClr val="111827"/>
                  </a:solidFill>
                </a:endParaRPr>
              </a:p>
            </p:txBody>
          </p:sp>
        </mc:Fallback>
      </mc:AlternateContent>
      <p:sp>
        <p:nvSpPr>
          <p:cNvPr id="5" name="Rectangle 4"/>
          <p:cNvSpPr/>
          <p:nvPr/>
        </p:nvSpPr>
        <p:spPr>
          <a:xfrm>
            <a:off x="731520" y="4886452"/>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Equivalence relation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1.5(A little above JEE Main Level)</a:t>
            </a:r>
            <a:endParaRPr sz="2400">
              <a:solidFill>
                <a:srgbClr val="111827"/>
              </a:solidFill>
            </a:endParaRP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1.5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𝑆</m:t>
                    </m:r>
                  </m:oMath>
                </a14:m>
                <a:r>
                  <a:rPr sz="2400" b="0">
                    <a:solidFill>
                      <a:srgbClr val="78350F"/>
                    </a:solidFill>
                    <a:latin typeface="Arial"/>
                  </a:rPr>
                  <a:t> would need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so </a:t>
                </a:r>
                <a14:m>
                  <m:oMath xmlns:m="http://schemas.openxmlformats.org/officeDocument/2006/math">
                    <m:r>
                      <a:rPr lang="en-IN" sz="2400" i="1">
                        <a:solidFill>
                          <a:srgbClr val="78350F"/>
                        </a:solidFill>
                        <a:latin typeface="Cambria Math" panose="02040503050406030204" pitchFamily="18" charset="0"/>
                      </a:rPr>
                      <m:t>𝑆</m:t>
                    </m:r>
                  </m:oMath>
                </a14:m>
                <a:r>
                  <a:rPr sz="2400" b="0">
                    <a:solidFill>
                      <a:srgbClr val="78350F"/>
                    </a:solidFill>
                    <a:latin typeface="Arial"/>
                  </a:rPr>
                  <a:t> is not even reflexive.</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$(x,x)\in S$</a:t>
                </a:r>
                <a:r>
                  <a:rPr sz="2400" b="0">
                    <a:solidFill>
                      <a:srgbClr val="78350F"/>
                    </a:solidFill>
                    <a:latin typeface="Arial"/>
                  </a:rPr>
                  <a:t> would need </a:t>
                </a:r>
                <a:r>
                  <a:rPr lang="en-IN" sz="2400">
                    <a:solidFill>
                      <a:srgbClr val="78350F"/>
                    </a:solidFill>
                    <a:latin typeface="Cambria Math" panose="02040503050406030204" pitchFamily="18" charset="0"/>
                  </a:rPr>
                  <a:t>$x=x+1$</a:t>
                </a:r>
                <a:r>
                  <a:rPr sz="2400" b="0">
                    <a:solidFill>
                      <a:srgbClr val="78350F"/>
                    </a:solidFill>
                    <a:latin typeface="Arial"/>
                  </a:rPr>
                  <a:t>, so </a:t>
                </a:r>
                <a:r>
                  <a:rPr lang="en-IN" sz="2400">
                    <a:solidFill>
                      <a:srgbClr val="78350F"/>
                    </a:solidFill>
                    <a:latin typeface="Cambria Math" panose="02040503050406030204" pitchFamily="18" charset="0"/>
                  </a:rPr>
                  <a:t>$S$</a:t>
                </a:r>
                <a:r>
                  <a:rPr sz="2400" b="0">
                    <a:solidFill>
                      <a:srgbClr val="78350F"/>
                    </a:solidFill>
                    <a:latin typeface="Arial"/>
                  </a:rPr>
                  <a:t> is not even reflexive.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reflexivity needs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which is impossible. So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is not reflexive and not an equivalence relation.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 is no need to test symmetry or transitivity of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𝑇</m:t>
                    </m:r>
                  </m:oMath>
                </a14:m>
                <a:r>
                  <a:rPr sz="2400" b="0">
                    <a:solidFill>
                      <a:srgbClr val="111827"/>
                    </a:solidFill>
                    <a:latin typeface="Arial"/>
                  </a:rPr>
                  <a:t> reflexive: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is always an integer.</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$S$</a:t>
                </a:r>
                <a:r>
                  <a:rPr sz="2400" b="0">
                    <a:solidFill>
                      <a:srgbClr val="111827"/>
                    </a:solidFill>
                    <a:latin typeface="Arial"/>
                  </a:rPr>
                  <a:t> reflexivity needs </a:t>
                </a:r>
                <a:r>
                  <a:rPr lang="en-IN" sz="2400">
                    <a:solidFill>
                      <a:srgbClr val="111827"/>
                    </a:solidFill>
                    <a:latin typeface="Cambria Math" panose="02040503050406030204" pitchFamily="18" charset="0"/>
                  </a:rPr>
                  <a:t>$(x,x)\in S$</a:t>
                </a:r>
                <a:r>
                  <a:rPr sz="2400" b="0">
                    <a:solidFill>
                      <a:srgbClr val="111827"/>
                    </a:solidFill>
                    <a:latin typeface="Arial"/>
                  </a:rPr>
                  <a:t>, i.e. </a:t>
                </a:r>
                <a:r>
                  <a:rPr lang="en-IN" sz="2400">
                    <a:solidFill>
                      <a:srgbClr val="111827"/>
                    </a:solidFill>
                    <a:latin typeface="Cambria Math" panose="02040503050406030204" pitchFamily="18" charset="0"/>
                  </a:rPr>
                  <a:t>$x=x+1$</a:t>
                </a:r>
                <a:r>
                  <a:rPr sz="2400" b="0">
                    <a:solidFill>
                      <a:srgbClr val="111827"/>
                    </a:solidFill>
                    <a:latin typeface="Arial"/>
                  </a:rPr>
                  <a:t>, which is impossible. So </a:t>
                </a:r>
                <a:r>
                  <a:rPr lang="en-IN" sz="2400">
                    <a:solidFill>
                      <a:srgbClr val="111827"/>
                    </a:solidFill>
                    <a:latin typeface="Cambria Math" panose="02040503050406030204" pitchFamily="18" charset="0"/>
                  </a:rPr>
                  <a:t>$S$</a:t>
                </a:r>
                <a:r>
                  <a:rPr sz="2400" b="0">
                    <a:solidFill>
                      <a:srgbClr val="111827"/>
                    </a:solidFill>
                    <a:latin typeface="Arial"/>
                  </a:rPr>
                  <a:t> is not reflexive and not an equivalence relation.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 is no need to test symmetry or transitivity of </a:t>
                </a:r>
                <a:r>
                  <a:rPr lang="en-IN" sz="2400">
                    <a:solidFill>
                      <a:srgbClr val="111827"/>
                    </a:solidFill>
                    <a:latin typeface="Cambria Math" panose="02040503050406030204" pitchFamily="18" charset="0"/>
                  </a:rPr>
                  <a:t>$S$</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a:t>
                </a:r>
                <a:r>
                  <a:rPr sz="2400" b="0">
                    <a:solidFill>
                      <a:srgbClr val="111827"/>
                    </a:solidFill>
                    <a:latin typeface="Arial"/>
                  </a:rPr>
                  <a:t> reflexive: </a:t>
                </a:r>
                <a:r>
                  <a:rPr lang="en-IN" sz="2400">
                    <a:solidFill>
                      <a:srgbClr val="111827"/>
                    </a:solidFill>
                    <a:latin typeface="Cambria Math" panose="02040503050406030204" pitchFamily="18" charset="0"/>
                  </a:rPr>
                  <a:t>$x-x=0$</a:t>
                </a:r>
                <a:r>
                  <a:rPr sz="2400" b="0">
                    <a:solidFill>
                      <a:srgbClr val="111827"/>
                    </a:solidFill>
                    <a:latin typeface="Arial"/>
                  </a:rPr>
                  <a:t> is always an integer.</a:t>
                </a:r>
                <a:endParaRPr sz="2400">
                  <a:solidFill>
                    <a:srgbClr val="111827"/>
                  </a:solidFill>
                </a:endParaRPr>
              </a:p>
            </p:txBody>
          </p:sp>
        </mc:Fallback>
      </mc:AlternateContent>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1.5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𝑇</m:t>
                    </m:r>
                  </m:oMath>
                </a14:m>
                <a:r>
                  <a:rPr sz="2400" b="0">
                    <a:solidFill>
                      <a:srgbClr val="111827"/>
                    </a:solidFill>
                    <a:latin typeface="Arial"/>
                  </a:rPr>
                  <a:t> symmetric: if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is an integer then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also an integer.</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𝑇</m:t>
                    </m:r>
                  </m:oMath>
                </a14:m>
                <a:r>
                  <a:rPr sz="2400" b="0">
                    <a:solidFill>
                      <a:srgbClr val="111827"/>
                    </a:solidFill>
                    <a:latin typeface="Arial"/>
                  </a:rPr>
                  <a:t> transitive: if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oMath>
                </a14:m>
                <a:r>
                  <a:rPr sz="2400" b="0">
                    <a:solidFill>
                      <a:srgbClr val="111827"/>
                    </a:solidFill>
                    <a:latin typeface="Arial"/>
                  </a:rPr>
                  <a:t> are integers, adding gives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oMath>
                </a14:m>
                <a:r>
                  <a:rPr sz="2400" b="0">
                    <a:solidFill>
                      <a:srgbClr val="111827"/>
                    </a:solidFill>
                    <a:latin typeface="Arial"/>
                  </a:rPr>
                  <a:t>, an integer.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𝑇</m:t>
                    </m:r>
                  </m:oMath>
                </a14:m>
                <a:r>
                  <a:rPr sz="2400" b="0">
                    <a:solidFill>
                      <a:srgbClr val="111827"/>
                    </a:solidFill>
                    <a:latin typeface="Arial"/>
                  </a:rPr>
                  <a:t> is an equivalence relation and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is not. Answer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a:t>
                </a:r>
                <a:r>
                  <a:rPr sz="2400" b="0">
                    <a:solidFill>
                      <a:srgbClr val="111827"/>
                    </a:solidFill>
                    <a:latin typeface="Arial"/>
                  </a:rPr>
                  <a:t> symmetric: if </a:t>
                </a:r>
                <a:r>
                  <a:rPr lang="en-IN" sz="2400">
                    <a:solidFill>
                      <a:srgbClr val="111827"/>
                    </a:solidFill>
                    <a:latin typeface="Cambria Math" panose="02040503050406030204" pitchFamily="18" charset="0"/>
                  </a:rPr>
                  <a:t>$x-y$</a:t>
                </a:r>
                <a:r>
                  <a:rPr sz="2400" b="0">
                    <a:solidFill>
                      <a:srgbClr val="111827"/>
                    </a:solidFill>
                    <a:latin typeface="Arial"/>
                  </a:rPr>
                  <a:t> is an integer then </a:t>
                </a:r>
                <a:r>
                  <a:rPr lang="en-IN" sz="2400">
                    <a:solidFill>
                      <a:srgbClr val="111827"/>
                    </a:solidFill>
                    <a:latin typeface="Cambria Math" panose="02040503050406030204" pitchFamily="18" charset="0"/>
                  </a:rPr>
                  <a:t>$y-x=-(x-y)$</a:t>
                </a:r>
                <a:r>
                  <a:rPr sz="2400" b="0">
                    <a:solidFill>
                      <a:srgbClr val="111827"/>
                    </a:solidFill>
                    <a:latin typeface="Arial"/>
                  </a:rPr>
                  <a:t> is also an integer.</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a:t>
                </a:r>
                <a:r>
                  <a:rPr sz="2400" b="0">
                    <a:solidFill>
                      <a:srgbClr val="111827"/>
                    </a:solidFill>
                    <a:latin typeface="Arial"/>
                  </a:rPr>
                  <a:t> transitive: if </a:t>
                </a:r>
                <a:r>
                  <a:rPr lang="en-IN" sz="2400">
                    <a:solidFill>
                      <a:srgbClr val="111827"/>
                    </a:solidFill>
                    <a:latin typeface="Cambria Math" panose="02040503050406030204" pitchFamily="18" charset="0"/>
                  </a:rPr>
                  <a:t>$x-y$</a:t>
                </a:r>
                <a:r>
                  <a:rPr sz="2400" b="0">
                    <a:solidFill>
                      <a:srgbClr val="111827"/>
                    </a:solidFill>
                    <a:latin typeface="Arial"/>
                  </a:rPr>
                  <a:t> and </a:t>
                </a:r>
                <a:r>
                  <a:rPr lang="en-IN" sz="2400">
                    <a:solidFill>
                      <a:srgbClr val="111827"/>
                    </a:solidFill>
                    <a:latin typeface="Cambria Math" panose="02040503050406030204" pitchFamily="18" charset="0"/>
                  </a:rPr>
                  <a:t>$y-z$</a:t>
                </a:r>
                <a:r>
                  <a:rPr sz="2400" b="0">
                    <a:solidFill>
                      <a:srgbClr val="111827"/>
                    </a:solidFill>
                    <a:latin typeface="Arial"/>
                  </a:rPr>
                  <a:t> are integers, adding gives </a:t>
                </a:r>
                <a:r>
                  <a:rPr lang="en-IN" sz="2400">
                    <a:solidFill>
                      <a:srgbClr val="111827"/>
                    </a:solidFill>
                    <a:latin typeface="Cambria Math" panose="02040503050406030204" pitchFamily="18" charset="0"/>
                  </a:rPr>
                  <a:t>$x-z$</a:t>
                </a:r>
                <a:r>
                  <a:rPr sz="2400" b="0">
                    <a:solidFill>
                      <a:srgbClr val="111827"/>
                    </a:solidFill>
                    <a:latin typeface="Arial"/>
                  </a:rPr>
                  <a:t>, an integer.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$T$</a:t>
                </a:r>
                <a:r>
                  <a:rPr sz="2400" b="0">
                    <a:solidFill>
                      <a:srgbClr val="111827"/>
                    </a:solidFill>
                    <a:latin typeface="Arial"/>
                  </a:rPr>
                  <a:t> is an equivalence relation and </a:t>
                </a:r>
                <a:r>
                  <a:rPr lang="en-IN" sz="2400">
                    <a:solidFill>
                      <a:srgbClr val="111827"/>
                    </a:solidFill>
                    <a:latin typeface="Cambria Math" panose="02040503050406030204" pitchFamily="18" charset="0"/>
                  </a:rPr>
                  <a:t>$S$</a:t>
                </a:r>
                <a:r>
                  <a:rPr sz="2400" b="0">
                    <a:solidFill>
                      <a:srgbClr val="111827"/>
                    </a:solidFill>
                    <a:latin typeface="Arial"/>
                  </a:rPr>
                  <a:t> is not. Answer (C).</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14:m>
                  <m:oMath xmlns:m="http://schemas.openxmlformats.org/officeDocument/2006/math">
                    <m:r>
                      <a:rPr lang="en-IN" sz="2800" i="1">
                        <a:solidFill>
                          <a:srgbClr val="15803D"/>
                        </a:solidFill>
                        <a:latin typeface="Cambria Math" panose="02040503050406030204" pitchFamily="18" charset="0"/>
                      </a:rPr>
                      <m:t>𝑇</m:t>
                    </m:r>
                  </m:oMath>
                </a14:m>
                <a:r>
                  <a:rPr sz="2800" b="1">
                    <a:solidFill>
                      <a:srgbClr val="15803D"/>
                    </a:solidFill>
                    <a:latin typeface="Arial"/>
                  </a:rPr>
                  <a:t> is an equivalence relation on </a:t>
                </a:r>
                <a14:m>
                  <m:oMath xmlns:m="http://schemas.openxmlformats.org/officeDocument/2006/math">
                    <m:r>
                      <m:rPr>
                        <m:scr m:val="double-struck"/>
                        <m:sty m:val="p"/>
                      </m:rPr>
                      <a:rPr lang="en-IN" sz="2800">
                        <a:solidFill>
                          <a:srgbClr val="15803D"/>
                        </a:solidFill>
                        <a:latin typeface="Cambria Math" panose="02040503050406030204" pitchFamily="18" charset="0"/>
                      </a:rPr>
                      <m:t>R</m:t>
                    </m:r>
                  </m:oMath>
                </a14:m>
                <a:r>
                  <a:rPr sz="2800" b="1">
                    <a:solidFill>
                      <a:srgbClr val="15803D"/>
                    </a:solidFill>
                    <a:latin typeface="Arial"/>
                  </a:rPr>
                  <a:t> but </a:t>
                </a:r>
                <a14:m>
                  <m:oMath xmlns:m="http://schemas.openxmlformats.org/officeDocument/2006/math">
                    <m:r>
                      <a:rPr lang="en-IN" sz="2800" i="1">
                        <a:solidFill>
                          <a:srgbClr val="15803D"/>
                        </a:solidFill>
                        <a:latin typeface="Cambria Math" panose="02040503050406030204" pitchFamily="18" charset="0"/>
                      </a:rPr>
                      <m:t>𝑆</m:t>
                    </m:r>
                  </m:oMath>
                </a14:m>
                <a:r>
                  <a:rPr sz="2800" b="1">
                    <a:solidFill>
                      <a:srgbClr val="15803D"/>
                    </a:solidFill>
                    <a:latin typeface="Arial"/>
                  </a:rPr>
                  <a:t> is not</a:t>
                </a:r>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r>
                  <a:rPr lang="en-IN" sz="2800">
                    <a:solidFill>
                      <a:srgbClr val="15803D"/>
                    </a:solidFill>
                    <a:latin typeface="Cambria Math" panose="02040503050406030204" pitchFamily="18" charset="0"/>
                  </a:rPr>
                  <a:t>$T$</a:t>
                </a:r>
                <a:r>
                  <a:rPr sz="2800" b="1">
                    <a:solidFill>
                      <a:srgbClr val="15803D"/>
                    </a:solidFill>
                    <a:latin typeface="Arial"/>
                  </a:rPr>
                  <a:t> is an equivalence relation on </a:t>
                </a:r>
                <a:r>
                  <a:rPr lang="en-IN" sz="2800">
                    <a:solidFill>
                      <a:srgbClr val="15803D"/>
                    </a:solidFill>
                    <a:latin typeface="Cambria Math" panose="02040503050406030204" pitchFamily="18" charset="0"/>
                  </a:rPr>
                  <a:t>$\mathbb{R}$</a:t>
                </a:r>
                <a:r>
                  <a:rPr sz="2800" b="1">
                    <a:solidFill>
                      <a:srgbClr val="15803D"/>
                    </a:solidFill>
                    <a:latin typeface="Arial"/>
                  </a:rPr>
                  <a:t> but </a:t>
                </a:r>
                <a:r>
                  <a:rPr lang="en-IN" sz="2800">
                    <a:solidFill>
                      <a:srgbClr val="15803D"/>
                    </a:solidFill>
                    <a:latin typeface="Cambria Math" panose="02040503050406030204" pitchFamily="18" charset="0"/>
                  </a:rPr>
                  <a:t>$S$</a:t>
                </a:r>
                <a:r>
                  <a:rPr sz="2800" b="1">
                    <a:solidFill>
                      <a:srgbClr val="15803D"/>
                    </a:solidFill>
                    <a:latin typeface="Arial"/>
                  </a:rPr>
                  <a:t> is not</a:t>
                </a:r>
                <a:endParaRPr sz="2800">
                  <a:solidFill>
                    <a:srgbClr val="15803D"/>
                  </a:solidFill>
                </a:endParaRPr>
              </a:p>
            </p:txBody>
          </p:sp>
        </mc:Fallback>
      </mc:AlternateContent>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1.5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m:rPr>
                        <m:scr m:val="double-struck"/>
                        <m:sty m:val="p"/>
                      </m:rPr>
                      <a:rPr lang="en-IN" sz="2400">
                        <a:solidFill>
                          <a:srgbClr val="78350F"/>
                        </a:solidFill>
                        <a:latin typeface="Cambria Math" panose="02040503050406030204" pitchFamily="18" charset="0"/>
                      </a:rPr>
                      <m:t>Z</m:t>
                    </m:r>
                  </m:oMath>
                </a14:m>
                <a:r>
                  <a:rPr sz="2400" b="0">
                    <a:solidFill>
                      <a:srgbClr val="78350F"/>
                    </a:solidFill>
                    <a:latin typeface="Arial"/>
                  </a:rPr>
                  <a:t> means </a:t>
                </a:r>
                <a14:m>
                  <m:oMath xmlns:m="http://schemas.openxmlformats.org/officeDocument/2006/math">
                    <m:r>
                      <a:rPr lang="en-IN" sz="2400" i="1">
                        <a:solidFill>
                          <a:srgbClr val="78350F"/>
                        </a:solidFill>
                        <a:latin typeface="Cambria Math" panose="02040503050406030204" pitchFamily="18" charset="0"/>
                      </a:rPr>
                      <m:t>𝑥</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𝑦</m:t>
                    </m:r>
                  </m:oMath>
                </a14:m>
                <a:r>
                  <a:rPr sz="2400" b="0">
                    <a:solidFill>
                      <a:srgbClr val="78350F"/>
                    </a:solidFill>
                    <a:latin typeface="Arial"/>
                  </a:rPr>
                  <a:t> have the same fractional part, so </a:t>
                </a:r>
                <a14:m>
                  <m:oMath xmlns:m="http://schemas.openxmlformats.org/officeDocument/2006/math">
                    <m:r>
                      <a:rPr lang="en-IN" sz="2400" i="1">
                        <a:solidFill>
                          <a:srgbClr val="78350F"/>
                        </a:solidFill>
                        <a:latin typeface="Cambria Math" panose="02040503050406030204" pitchFamily="18" charset="0"/>
                      </a:rPr>
                      <m:t>𝑇</m:t>
                    </m:r>
                  </m:oMath>
                </a14:m>
                <a:r>
                  <a:rPr sz="2400" b="0">
                    <a:solidFill>
                      <a:srgbClr val="78350F"/>
                    </a:solidFill>
                    <a:latin typeface="Arial"/>
                  </a:rPr>
                  <a:t> is the 'same value of </a:t>
                </a:r>
                <a14:m>
                  <m:oMath xmlns:m="http://schemas.openxmlformats.org/officeDocument/2006/math">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relation.</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lang="en-IN" sz="2400">
                    <a:solidFill>
                      <a:srgbClr val="78350F"/>
                    </a:solidFill>
                    <a:latin typeface="Cambria Math" panose="02040503050406030204" pitchFamily="18" charset="0"/>
                  </a:rPr>
                  <a:t>$x-y\in\mathbb{Z}$</a:t>
                </a:r>
                <a:r>
                  <a:rPr sz="2400" b="0">
                    <a:solidFill>
                      <a:srgbClr val="78350F"/>
                    </a:solidFill>
                    <a:latin typeface="Arial"/>
                  </a:rPr>
                  <a:t> means </a:t>
                </a:r>
                <a:r>
                  <a:rPr lang="en-IN" sz="2400">
                    <a:solidFill>
                      <a:srgbClr val="78350F"/>
                    </a:solidFill>
                    <a:latin typeface="Cambria Math" panose="02040503050406030204" pitchFamily="18" charset="0"/>
                  </a:rPr>
                  <a:t>$x$</a:t>
                </a:r>
                <a:r>
                  <a:rPr sz="2400" b="0">
                    <a:solidFill>
                      <a:srgbClr val="78350F"/>
                    </a:solidFill>
                    <a:latin typeface="Arial"/>
                  </a:rPr>
                  <a:t> and </a:t>
                </a:r>
                <a:r>
                  <a:rPr lang="en-IN" sz="2400">
                    <a:solidFill>
                      <a:srgbClr val="78350F"/>
                    </a:solidFill>
                    <a:latin typeface="Cambria Math" panose="02040503050406030204" pitchFamily="18" charset="0"/>
                  </a:rPr>
                  <a:t>$y$</a:t>
                </a:r>
                <a:r>
                  <a:rPr sz="2400" b="0">
                    <a:solidFill>
                      <a:srgbClr val="78350F"/>
                    </a:solidFill>
                    <a:latin typeface="Arial"/>
                  </a:rPr>
                  <a:t> have the same fractional part, so </a:t>
                </a:r>
                <a:r>
                  <a:rPr lang="en-IN" sz="2400">
                    <a:solidFill>
                      <a:srgbClr val="78350F"/>
                    </a:solidFill>
                    <a:latin typeface="Cambria Math" panose="02040503050406030204" pitchFamily="18" charset="0"/>
                  </a:rPr>
                  <a:t>$T$</a:t>
                </a:r>
                <a:r>
                  <a:rPr sz="2400" b="0">
                    <a:solidFill>
                      <a:srgbClr val="78350F"/>
                    </a:solidFill>
                    <a:latin typeface="Arial"/>
                  </a:rPr>
                  <a:t> is the 'same value of </a:t>
                </a:r>
                <a:r>
                  <a:rPr lang="en-IN" sz="2400">
                    <a:solidFill>
                      <a:srgbClr val="78350F"/>
                    </a:solidFill>
                    <a:latin typeface="Cambria Math" panose="02040503050406030204" pitchFamily="18" charset="0"/>
                  </a:rPr>
                  <a:t>$f(x)=\{x\}$</a:t>
                </a:r>
                <a:r>
                  <a:rPr sz="2400" b="0">
                    <a:solidFill>
                      <a:srgbClr val="78350F"/>
                    </a:solidFill>
                    <a:latin typeface="Arial"/>
                  </a:rPr>
                  <a:t>' relation.</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Z</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(two reals differ by an integer exactly when their fractional parts agree).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relation of the form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automatically reflexive, symmetric and transitive, because equality is.</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$x-y\in\mathbb{Z}\iff\{x\}=\{y\}$</a:t>
                </a:r>
                <a:r>
                  <a:rPr sz="2400" b="0">
                    <a:solidFill>
                      <a:srgbClr val="111827"/>
                    </a:solidFill>
                    <a:latin typeface="Arial"/>
                  </a:rPr>
                  <a:t> (two reals differ by an integer exactly when their fractional parts agree).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$(x,y)\in T\iff f(x)=f(y)$</a:t>
                </a:r>
                <a:r>
                  <a:rPr sz="2400" b="0">
                    <a:solidFill>
                      <a:srgbClr val="111827"/>
                    </a:solidFill>
                    <a:latin typeface="Arial"/>
                  </a:rPr>
                  <a:t> with </a:t>
                </a:r>
                <a:r>
                  <a:rPr lang="en-IN" sz="2400">
                    <a:solidFill>
                      <a:srgbClr val="111827"/>
                    </a:solidFill>
                    <a:latin typeface="Cambria Math" panose="02040503050406030204" pitchFamily="18" charset="0"/>
                  </a:rPr>
                  <a:t>$f(x)=\{x\}$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relation of the form </a:t>
                </a:r>
                <a:r>
                  <a:rPr lang="en-IN" sz="2400">
                    <a:solidFill>
                      <a:srgbClr val="111827"/>
                    </a:solidFill>
                    <a:latin typeface="Cambria Math" panose="02040503050406030204" pitchFamily="18" charset="0"/>
                  </a:rPr>
                  <a:t>$f(x)=f(y)$</a:t>
                </a:r>
                <a:r>
                  <a:rPr sz="2400" b="0">
                    <a:solidFill>
                      <a:srgbClr val="111827"/>
                    </a:solidFill>
                    <a:latin typeface="Arial"/>
                  </a:rPr>
                  <a:t> is automatically reflexive, symmetric and transitive, because equality is.</a:t>
                </a:r>
                <a:endParaRPr sz="2400">
                  <a:solidFill>
                    <a:srgbClr val="111827"/>
                  </a:solidFill>
                </a:endParaRPr>
              </a:p>
            </p:txBody>
          </p:sp>
        </mc:Fallback>
      </mc:AlternateContent>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1.5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𝑇</m:t>
                    </m:r>
                  </m:oMath>
                </a14:m>
                <a:r>
                  <a:rPr sz="2400" b="0">
                    <a:solidFill>
                      <a:srgbClr val="111827"/>
                    </a:solidFill>
                    <a:latin typeface="Arial"/>
                  </a:rPr>
                  <a:t> is an equivalence relation; its classes are the sets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Z</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one for each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contains no pair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it is not reflexive. Answer (C).</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$T$</a:t>
                </a:r>
                <a:r>
                  <a:rPr sz="2400" b="0">
                    <a:solidFill>
                      <a:srgbClr val="111827"/>
                    </a:solidFill>
                    <a:latin typeface="Arial"/>
                  </a:rPr>
                  <a:t> is an equivalence relation; its classes are the sets </a:t>
                </a:r>
                <a:r>
                  <a:rPr lang="en-IN" sz="2400">
                    <a:solidFill>
                      <a:srgbClr val="111827"/>
                    </a:solidFill>
                    <a:latin typeface="Cambria Math" panose="02040503050406030204" pitchFamily="18" charset="0"/>
                  </a:rPr>
                  <a:t>$\{a+n:n\in\mathbb{Z}\}$</a:t>
                </a:r>
                <a:r>
                  <a:rPr sz="2400" b="0">
                    <a:solidFill>
                      <a:srgbClr val="111827"/>
                    </a:solidFill>
                    <a:latin typeface="Arial"/>
                  </a:rPr>
                  <a:t>, one for each </a:t>
                </a:r>
                <a:r>
                  <a:rPr lang="en-IN" sz="2400">
                    <a:solidFill>
                      <a:srgbClr val="111827"/>
                    </a:solidFill>
                    <a:latin typeface="Cambria Math" panose="02040503050406030204" pitchFamily="18" charset="0"/>
                  </a:rPr>
                  <a:t>$a\in[0,1)$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a:t>
                </a:r>
                <a:r>
                  <a:rPr sz="2400" b="0">
                    <a:solidFill>
                      <a:srgbClr val="111827"/>
                    </a:solidFill>
                    <a:latin typeface="Arial"/>
                  </a:rPr>
                  <a:t> contains no pair </a:t>
                </a:r>
                <a:r>
                  <a:rPr lang="en-IN" sz="2400">
                    <a:solidFill>
                      <a:srgbClr val="111827"/>
                    </a:solidFill>
                    <a:latin typeface="Cambria Math" panose="02040503050406030204" pitchFamily="18" charset="0"/>
                  </a:rPr>
                  <a:t>$(x,x)$</a:t>
                </a:r>
                <a:r>
                  <a:rPr sz="2400" b="0">
                    <a:solidFill>
                      <a:srgbClr val="111827"/>
                    </a:solidFill>
                    <a:latin typeface="Arial"/>
                  </a:rPr>
                  <a:t>, so it is not reflexive. Answer (C).</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14:m>
                  <m:oMath xmlns:m="http://schemas.openxmlformats.org/officeDocument/2006/math">
                    <m:r>
                      <a:rPr lang="en-IN" sz="2800" i="1">
                        <a:solidFill>
                          <a:srgbClr val="15803D"/>
                        </a:solidFill>
                        <a:latin typeface="Cambria Math" panose="02040503050406030204" pitchFamily="18" charset="0"/>
                      </a:rPr>
                      <m:t>𝑇</m:t>
                    </m:r>
                  </m:oMath>
                </a14:m>
                <a:r>
                  <a:rPr sz="2800" b="1">
                    <a:solidFill>
                      <a:srgbClr val="15803D"/>
                    </a:solidFill>
                    <a:latin typeface="Arial"/>
                  </a:rPr>
                  <a:t> is an equivalence relation on </a:t>
                </a:r>
                <a14:m>
                  <m:oMath xmlns:m="http://schemas.openxmlformats.org/officeDocument/2006/math">
                    <m:r>
                      <m:rPr>
                        <m:scr m:val="double-struck"/>
                        <m:sty m:val="p"/>
                      </m:rPr>
                      <a:rPr lang="en-IN" sz="2800">
                        <a:solidFill>
                          <a:srgbClr val="15803D"/>
                        </a:solidFill>
                        <a:latin typeface="Cambria Math" panose="02040503050406030204" pitchFamily="18" charset="0"/>
                      </a:rPr>
                      <m:t>R</m:t>
                    </m:r>
                  </m:oMath>
                </a14:m>
                <a:r>
                  <a:rPr sz="2800" b="1">
                    <a:solidFill>
                      <a:srgbClr val="15803D"/>
                    </a:solidFill>
                    <a:latin typeface="Arial"/>
                  </a:rPr>
                  <a:t> but </a:t>
                </a:r>
                <a14:m>
                  <m:oMath xmlns:m="http://schemas.openxmlformats.org/officeDocument/2006/math">
                    <m:r>
                      <a:rPr lang="en-IN" sz="2800" i="1">
                        <a:solidFill>
                          <a:srgbClr val="15803D"/>
                        </a:solidFill>
                        <a:latin typeface="Cambria Math" panose="02040503050406030204" pitchFamily="18" charset="0"/>
                      </a:rPr>
                      <m:t>𝑆</m:t>
                    </m:r>
                  </m:oMath>
                </a14:m>
                <a:r>
                  <a:rPr sz="2800" b="1">
                    <a:solidFill>
                      <a:srgbClr val="15803D"/>
                    </a:solidFill>
                    <a:latin typeface="Arial"/>
                  </a:rPr>
                  <a:t> is not</a:t>
                </a:r>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r>
                  <a:rPr lang="en-IN" sz="2800">
                    <a:solidFill>
                      <a:srgbClr val="15803D"/>
                    </a:solidFill>
                    <a:latin typeface="Cambria Math" panose="02040503050406030204" pitchFamily="18" charset="0"/>
                  </a:rPr>
                  <a:t>$T$</a:t>
                </a:r>
                <a:r>
                  <a:rPr sz="2800" b="1">
                    <a:solidFill>
                      <a:srgbClr val="15803D"/>
                    </a:solidFill>
                    <a:latin typeface="Arial"/>
                  </a:rPr>
                  <a:t> is an equivalence relation on </a:t>
                </a:r>
                <a:r>
                  <a:rPr lang="en-IN" sz="2800">
                    <a:solidFill>
                      <a:srgbClr val="15803D"/>
                    </a:solidFill>
                    <a:latin typeface="Cambria Math" panose="02040503050406030204" pitchFamily="18" charset="0"/>
                  </a:rPr>
                  <a:t>$\mathbb{R}$</a:t>
                </a:r>
                <a:r>
                  <a:rPr sz="2800" b="1">
                    <a:solidFill>
                      <a:srgbClr val="15803D"/>
                    </a:solidFill>
                    <a:latin typeface="Arial"/>
                  </a:rPr>
                  <a:t> but </a:t>
                </a:r>
                <a:r>
                  <a:rPr lang="en-IN" sz="2800">
                    <a:solidFill>
                      <a:srgbClr val="15803D"/>
                    </a:solidFill>
                    <a:latin typeface="Cambria Math" panose="02040503050406030204" pitchFamily="18" charset="0"/>
                  </a:rPr>
                  <a:t>$S$</a:t>
                </a:r>
                <a:r>
                  <a:rPr sz="2800" b="1">
                    <a:solidFill>
                      <a:srgbClr val="15803D"/>
                    </a:solidFill>
                    <a:latin typeface="Arial"/>
                  </a:rPr>
                  <a:t> is not</a:t>
                </a:r>
                <a:endParaRPr sz="2800">
                  <a:solidFill>
                    <a:srgbClr val="15803D"/>
                  </a:solidFill>
                </a:endParaRPr>
              </a:p>
            </p:txBody>
          </p:sp>
        </mc:Fallback>
      </mc:AlternateContent>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1.5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Any relation of the form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an equivalence relation; its classes are the level sets of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cr m:val="double-struck"/>
                        <m:sty m:val="p"/>
                      </m:rPr>
                      <a:rPr lang="en-IN" sz="2400">
                        <a:solidFill>
                          <a:srgbClr val="111827"/>
                        </a:solidFill>
                        <a:latin typeface="Cambria Math" panose="02040503050406030204" pitchFamily="18" charset="0"/>
                      </a:rPr>
                      <m:t>Z</m:t>
                    </m:r>
                  </m:oMath>
                </a14:m>
                <a:r>
                  <a:rPr sz="2400" b="0">
                    <a:solidFill>
                      <a:srgbClr val="111827"/>
                    </a:solidFill>
                    <a:latin typeface="Arial"/>
                  </a:rPr>
                  <a:t> is congruence modulo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on </a:t>
                </a:r>
                <a14:m>
                  <m:oMath xmlns:m="http://schemas.openxmlformats.org/officeDocument/2006/math">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(classes: translates of </a:t>
                </a:r>
                <a14:m>
                  <m:oMath xmlns:m="http://schemas.openxmlformats.org/officeDocument/2006/math">
                    <m:r>
                      <a:rPr lang="en-IN" sz="2400" i="1">
                        <a:solidFill>
                          <a:srgbClr val="111827"/>
                        </a:solidFill>
                        <a:latin typeface="Cambria Math" panose="02040503050406030204" pitchFamily="18" charset="0"/>
                      </a:rPr>
                      <m:t>𝑚</m:t>
                    </m:r>
                    <m:r>
                      <m:rPr>
                        <m:scr m:val="double-struck"/>
                        <m:sty m:val="p"/>
                      </m:rPr>
                      <a:rPr lang="en-IN" sz="2400">
                        <a:solidFill>
                          <a:srgbClr val="111827"/>
                        </a:solidFill>
                        <a:latin typeface="Cambria Math" panose="02040503050406030204" pitchFamily="18" charset="0"/>
                      </a:rPr>
                      <m:t>Z</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it is equality of fractional parts. Check: </a:t>
                </a:r>
                <a14:m>
                  <m:oMath xmlns:m="http://schemas.openxmlformats.org/officeDocument/2006/math">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relation with no pair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(like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fails reflexivity at once.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Any relation of the form </a:t>
                </a:r>
                <a:r>
                  <a:rPr lang="en-IN" sz="2400">
                    <a:solidFill>
                      <a:srgbClr val="111827"/>
                    </a:solidFill>
                    <a:latin typeface="Cambria Math" panose="02040503050406030204" pitchFamily="18" charset="0"/>
                  </a:rPr>
                  <a:t>$f(x)=f(y)$</a:t>
                </a:r>
                <a:r>
                  <a:rPr sz="2400" b="0">
                    <a:solidFill>
                      <a:srgbClr val="111827"/>
                    </a:solidFill>
                    <a:latin typeface="Arial"/>
                  </a:rPr>
                  <a:t> is an equivalence relation; its classes are the level sets of </a:t>
                </a:r>
                <a:r>
                  <a:rPr lang="en-IN" sz="2400">
                    <a:solidFill>
                      <a:srgbClr val="111827"/>
                    </a:solidFill>
                    <a:latin typeface="Cambria Math" panose="02040503050406030204" pitchFamily="18" charset="0"/>
                  </a:rPr>
                  <a:t>$f$</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$x-y\in m\mathbb{Z}$</a:t>
                </a:r>
                <a:r>
                  <a:rPr sz="2400" b="0">
                    <a:solidFill>
                      <a:srgbClr val="111827"/>
                    </a:solidFill>
                    <a:latin typeface="Arial"/>
                  </a:rPr>
                  <a:t> is congruence modulo </a:t>
                </a:r>
                <a:r>
                  <a:rPr lang="en-IN" sz="2400">
                    <a:solidFill>
                      <a:srgbClr val="111827"/>
                    </a:solidFill>
                    <a:latin typeface="Cambria Math" panose="02040503050406030204" pitchFamily="18" charset="0"/>
                  </a:rPr>
                  <a:t>$m$</a:t>
                </a:r>
                <a:r>
                  <a:rPr sz="2400" b="0">
                    <a:solidFill>
                      <a:srgbClr val="111827"/>
                    </a:solidFill>
                    <a:latin typeface="Arial"/>
                  </a:rPr>
                  <a:t> on </a:t>
                </a:r>
                <a:r>
                  <a:rPr lang="en-IN" sz="2400">
                    <a:solidFill>
                      <a:srgbClr val="111827"/>
                    </a:solidFill>
                    <a:latin typeface="Cambria Math" panose="02040503050406030204" pitchFamily="18" charset="0"/>
                  </a:rPr>
                  <a:t>$\mathbb{R}$</a:t>
                </a:r>
                <a:r>
                  <a:rPr sz="2400" b="0">
                    <a:solidFill>
                      <a:srgbClr val="111827"/>
                    </a:solidFill>
                    <a:latin typeface="Arial"/>
                  </a:rPr>
                  <a:t> (classes: translates of </a:t>
                </a:r>
                <a:r>
                  <a:rPr lang="en-IN" sz="2400">
                    <a:solidFill>
                      <a:srgbClr val="111827"/>
                    </a:solidFill>
                    <a:latin typeface="Cambria Math" panose="02040503050406030204" pitchFamily="18" charset="0"/>
                  </a:rPr>
                  <a:t>$m\mathbb{Z}$</a:t>
                </a:r>
                <a:r>
                  <a:rPr sz="2400" b="0">
                    <a:solidFill>
                      <a:srgbClr val="111827"/>
                    </a:solidFill>
                    <a:latin typeface="Arial"/>
                  </a:rPr>
                  <a:t>); for </a:t>
                </a:r>
                <a:r>
                  <a:rPr lang="en-IN" sz="2400">
                    <a:solidFill>
                      <a:srgbClr val="111827"/>
                    </a:solidFill>
                    <a:latin typeface="Cambria Math" panose="02040503050406030204" pitchFamily="18" charset="0"/>
                  </a:rPr>
                  <a:t>$m=1$</a:t>
                </a:r>
                <a:r>
                  <a:rPr sz="2400" b="0">
                    <a:solidFill>
                      <a:srgbClr val="111827"/>
                    </a:solidFill>
                    <a:latin typeface="Arial"/>
                  </a:rPr>
                  <a:t> it is equality of fractional parts. Check: </a:t>
                </a:r>
                <a:r>
                  <a:rPr lang="en-IN" sz="2400">
                    <a:solidFill>
                      <a:srgbClr val="111827"/>
                    </a:solidFill>
                    <a:latin typeface="Cambria Math" panose="02040503050406030204" pitchFamily="18" charset="0"/>
                  </a:rPr>
                  <a:t>$2.5-0.5=2$</a:t>
                </a:r>
                <a:r>
                  <a:rPr sz="2400" b="0">
                    <a:solidFill>
                      <a:srgbClr val="111827"/>
                    </a:solidFill>
                    <a:latin typeface="Arial"/>
                  </a:rPr>
                  <a:t> and </a:t>
                </a:r>
                <a:r>
                  <a:rPr lang="en-IN" sz="2400">
                    <a:solidFill>
                      <a:srgbClr val="111827"/>
                    </a:solidFill>
                    <a:latin typeface="Cambria Math" panose="02040503050406030204" pitchFamily="18" charset="0"/>
                  </a:rPr>
                  <a:t>$\{2.5\}=\{0.5\}=0.5$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relation with no pair </a:t>
                </a:r>
                <a:r>
                  <a:rPr lang="en-IN" sz="2400">
                    <a:solidFill>
                      <a:srgbClr val="111827"/>
                    </a:solidFill>
                    <a:latin typeface="Cambria Math" panose="02040503050406030204" pitchFamily="18" charset="0"/>
                  </a:rPr>
                  <a:t>$(x,x)$</a:t>
                </a:r>
                <a:r>
                  <a:rPr sz="2400" b="0">
                    <a:solidFill>
                      <a:srgbClr val="111827"/>
                    </a:solidFill>
                    <a:latin typeface="Arial"/>
                  </a:rPr>
                  <a:t> (like </a:t>
                </a:r>
                <a:r>
                  <a:rPr lang="en-IN" sz="2400">
                    <a:solidFill>
                      <a:srgbClr val="111827"/>
                    </a:solidFill>
                    <a:latin typeface="Cambria Math" panose="02040503050406030204" pitchFamily="18" charset="0"/>
                  </a:rPr>
                  <a:t>$y=x+1$</a:t>
                </a:r>
                <a:r>
                  <a:rPr sz="2400" b="0">
                    <a:solidFill>
                      <a:srgbClr val="111827"/>
                    </a:solidFill>
                    <a:latin typeface="Arial"/>
                  </a:rPr>
                  <a:t>) fails reflexivity at once.</a:t>
                </a:r>
                <a:endParaRPr sz="2400">
                  <a:solidFill>
                    <a:srgbClr val="111827"/>
                  </a:solidFill>
                </a:endParaRPr>
              </a:p>
            </p:txBody>
          </p:sp>
        </mc:Fallback>
      </mc:AlternateContent>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are three sets such that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then: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ϕ</m:t>
                    </m:r>
                  </m:oMath>
                </a14:m>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$A$</a:t>
                </a:r>
                <a:r>
                  <a:rPr sz="2400" b="0">
                    <a:solidFill>
                      <a:srgbClr val="111827"/>
                    </a:solidFill>
                    <a:latin typeface="Arial"/>
                  </a:rPr>
                  <a:t>, </a:t>
                </a:r>
                <a:r>
                  <a:rPr lang="en-IN" sz="2400">
                    <a:solidFill>
                      <a:srgbClr val="111827"/>
                    </a:solidFill>
                    <a:latin typeface="Cambria Math" panose="02040503050406030204" pitchFamily="18" charset="0"/>
                  </a:rPr>
                  <a:t>$B$</a:t>
                </a:r>
                <a:r>
                  <a:rPr sz="2400" b="0">
                    <a:solidFill>
                      <a:srgbClr val="111827"/>
                    </a:solidFill>
                    <a:latin typeface="Arial"/>
                  </a:rPr>
                  <a:t> and </a:t>
                </a:r>
                <a:r>
                  <a:rPr lang="en-IN" sz="2400">
                    <a:solidFill>
                      <a:srgbClr val="111827"/>
                    </a:solidFill>
                    <a:latin typeface="Cambria Math" panose="02040503050406030204" pitchFamily="18" charset="0"/>
                  </a:rPr>
                  <a:t>$C$</a:t>
                </a:r>
                <a:r>
                  <a:rPr sz="2400" b="0">
                    <a:solidFill>
                      <a:srgbClr val="111827"/>
                    </a:solidFill>
                    <a:latin typeface="Arial"/>
                  </a:rPr>
                  <a:t> are three sets such that </a:t>
                </a:r>
                <a:r>
                  <a:rPr lang="en-IN" sz="2400">
                    <a:solidFill>
                      <a:srgbClr val="111827"/>
                    </a:solidFill>
                    <a:latin typeface="Cambria Math" panose="02040503050406030204" pitchFamily="18" charset="0"/>
                  </a:rPr>
                  <a:t>$A\cap B=A\cap C$</a:t>
                </a:r>
                <a:r>
                  <a:rPr sz="2400" b="0">
                    <a:solidFill>
                      <a:srgbClr val="111827"/>
                    </a:solidFill>
                    <a:latin typeface="Arial"/>
                  </a:rPr>
                  <a:t> and </a:t>
                </a:r>
                <a:r>
                  <a:rPr lang="en-IN" sz="2400">
                    <a:solidFill>
                      <a:srgbClr val="111827"/>
                    </a:solidFill>
                    <a:latin typeface="Cambria Math" panose="02040503050406030204" pitchFamily="18" charset="0"/>
                  </a:rPr>
                  <a:t>$A\cup B=A\cup C$</a:t>
                </a:r>
                <a:r>
                  <a:rPr sz="2400" b="0">
                    <a:solidFill>
                      <a:srgbClr val="111827"/>
                    </a:solidFill>
                    <a:latin typeface="Arial"/>
                  </a:rPr>
                  <a:t>, then: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$A=B$</a:t>
                </a:r>
                <a:r>
                  <a:rPr sz="2400" b="0">
                    <a:solidFill>
                      <a:srgbClr val="111827"/>
                    </a:solidFill>
                    <a:latin typeface="Arial"/>
                  </a:rPr>
                  <a:t>   (B) </a:t>
                </a:r>
                <a:r>
                  <a:rPr lang="en-IN" sz="2400">
                    <a:solidFill>
                      <a:srgbClr val="111827"/>
                    </a:solidFill>
                    <a:latin typeface="Cambria Math" panose="02040503050406030204" pitchFamily="18" charset="0"/>
                  </a:rPr>
                  <a:t>$A=C$</a:t>
                </a:r>
                <a:r>
                  <a:rPr sz="2400" b="0">
                    <a:solidFill>
                      <a:srgbClr val="111827"/>
                    </a:solidFill>
                    <a:latin typeface="Arial"/>
                  </a:rPr>
                  <a:t>   (C) </a:t>
                </a:r>
                <a:r>
                  <a:rPr lang="en-IN" sz="2400">
                    <a:solidFill>
                      <a:srgbClr val="111827"/>
                    </a:solidFill>
                    <a:latin typeface="Cambria Math" panose="02040503050406030204" pitchFamily="18" charset="0"/>
                  </a:rPr>
                  <a:t>$B=C$</a:t>
                </a:r>
                <a:r>
                  <a:rPr sz="2400" b="0">
                    <a:solidFill>
                      <a:srgbClr val="111827"/>
                    </a:solidFill>
                    <a:latin typeface="Arial"/>
                  </a:rPr>
                  <a:t>   (D) </a:t>
                </a:r>
                <a:r>
                  <a:rPr lang="en-IN" sz="2400">
                    <a:solidFill>
                      <a:srgbClr val="111827"/>
                    </a:solidFill>
                    <a:latin typeface="Cambria Math" panose="02040503050406030204" pitchFamily="18" charset="0"/>
                  </a:rPr>
                  <a:t>$A\cap B=\phi$</a:t>
                </a:r>
                <a:endParaRPr sz="2400">
                  <a:solidFill>
                    <a:srgbClr val="111827"/>
                  </a:solidFill>
                </a:endParaRPr>
              </a:p>
            </p:txBody>
          </p:sp>
        </mc:Fallback>
      </mc:AlternateContent>
      <p:sp>
        <p:nvSpPr>
          <p:cNvPr id="5" name="Rectangle 4"/>
          <p:cNvSpPr/>
          <p:nvPr/>
        </p:nvSpPr>
        <p:spPr>
          <a:xfrm>
            <a:off x="731520" y="3246120"/>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Algebra of sets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Take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oMath>
                </a14:m>
                <a:r>
                  <a:rPr sz="2400" b="0">
                    <a:solidFill>
                      <a:srgbClr val="78350F"/>
                    </a:solidFill>
                    <a:latin typeface="Arial"/>
                  </a:rPr>
                  <a:t> and split on whether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oMath>
                </a14:m>
                <a:r>
                  <a:rPr sz="2400" b="0">
                    <a:solidFill>
                      <a:srgbClr val="78350F"/>
                    </a:solidFill>
                    <a:latin typeface="Arial"/>
                  </a:rPr>
                  <a:t>: the intersection equality handles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oMath>
                </a14:m>
                <a:r>
                  <a:rPr sz="2400" b="0">
                    <a:solidFill>
                      <a:srgbClr val="78350F"/>
                    </a:solidFill>
                    <a:latin typeface="Arial"/>
                  </a:rPr>
                  <a:t>, the union equality handles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Take </a:t>
                </a:r>
                <a:r>
                  <a:rPr lang="en-IN" sz="2400">
                    <a:solidFill>
                      <a:srgbClr val="78350F"/>
                    </a:solidFill>
                    <a:latin typeface="Cambria Math" panose="02040503050406030204" pitchFamily="18" charset="0"/>
                  </a:rPr>
                  <a:t>$x\in B$</a:t>
                </a:r>
                <a:r>
                  <a:rPr sz="2400" b="0">
                    <a:solidFill>
                      <a:srgbClr val="78350F"/>
                    </a:solidFill>
                    <a:latin typeface="Arial"/>
                  </a:rPr>
                  <a:t> and split on whether </a:t>
                </a:r>
                <a:r>
                  <a:rPr lang="en-IN" sz="2400">
                    <a:solidFill>
                      <a:srgbClr val="78350F"/>
                    </a:solidFill>
                    <a:latin typeface="Cambria Math" panose="02040503050406030204" pitchFamily="18" charset="0"/>
                  </a:rPr>
                  <a:t>$x\in A$</a:t>
                </a:r>
                <a:r>
                  <a:rPr sz="2400" b="0">
                    <a:solidFill>
                      <a:srgbClr val="78350F"/>
                    </a:solidFill>
                    <a:latin typeface="Arial"/>
                  </a:rPr>
                  <a:t>: the intersection equality handles </a:t>
                </a:r>
                <a:r>
                  <a:rPr lang="en-IN" sz="2400">
                    <a:solidFill>
                      <a:srgbClr val="78350F"/>
                    </a:solidFill>
                    <a:latin typeface="Cambria Math" panose="02040503050406030204" pitchFamily="18" charset="0"/>
                  </a:rPr>
                  <a:t>$x\in A$</a:t>
                </a:r>
                <a:r>
                  <a:rPr sz="2400" b="0">
                    <a:solidFill>
                      <a:srgbClr val="78350F"/>
                    </a:solidFill>
                    <a:latin typeface="Arial"/>
                  </a:rPr>
                  <a:t>, the union equality handles </a:t>
                </a:r>
                <a:r>
                  <a:rPr lang="en-IN" sz="2400">
                    <a:solidFill>
                      <a:srgbClr val="78350F"/>
                    </a:solidFill>
                    <a:latin typeface="Cambria Math" panose="02040503050406030204" pitchFamily="18" charset="0"/>
                  </a:rPr>
                  <a:t>$x\notin A$</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Given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We show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by an element chase.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Case 1: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2: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since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oMath>
                </a14:m>
                <a:r>
                  <a:rPr sz="2400" b="0">
                    <a:solidFill>
                      <a:srgbClr val="111827"/>
                    </a:solidFill>
                    <a:latin typeface="Arial"/>
                  </a:rPr>
                  <a:t>, we get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Given </a:t>
                </a:r>
                <a:r>
                  <a:rPr lang="en-IN" sz="2400">
                    <a:solidFill>
                      <a:srgbClr val="111827"/>
                    </a:solidFill>
                    <a:latin typeface="Cambria Math" panose="02040503050406030204" pitchFamily="18" charset="0"/>
                  </a:rPr>
                  <a:t>$A\cap B=A\cap C$</a:t>
                </a:r>
                <a:r>
                  <a:rPr sz="2400" b="0">
                    <a:solidFill>
                      <a:srgbClr val="111827"/>
                    </a:solidFill>
                    <a:latin typeface="Arial"/>
                  </a:rPr>
                  <a:t> and </a:t>
                </a:r>
                <a:r>
                  <a:rPr lang="en-IN" sz="2400">
                    <a:solidFill>
                      <a:srgbClr val="111827"/>
                    </a:solidFill>
                    <a:latin typeface="Cambria Math" panose="02040503050406030204" pitchFamily="18" charset="0"/>
                  </a:rPr>
                  <a:t>$A\cup B=A\cup C$</a:t>
                </a:r>
                <a:r>
                  <a:rPr sz="2400" b="0">
                    <a:solidFill>
                      <a:srgbClr val="111827"/>
                    </a:solidFill>
                    <a:latin typeface="Arial"/>
                  </a:rPr>
                  <a:t>. We show </a:t>
                </a:r>
                <a:r>
                  <a:rPr lang="en-IN" sz="2400">
                    <a:solidFill>
                      <a:srgbClr val="111827"/>
                    </a:solidFill>
                    <a:latin typeface="Cambria Math" panose="02040503050406030204" pitchFamily="18" charset="0"/>
                  </a:rPr>
                  <a:t>$B\subseteq C$</a:t>
                </a:r>
                <a:r>
                  <a:rPr sz="2400" b="0">
                    <a:solidFill>
                      <a:srgbClr val="111827"/>
                    </a:solidFill>
                    <a:latin typeface="Arial"/>
                  </a:rPr>
                  <a:t> by an element chase.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$x\in B$</a:t>
                </a:r>
                <a:r>
                  <a:rPr sz="2400" b="0">
                    <a:solidFill>
                      <a:srgbClr val="111827"/>
                    </a:solidFill>
                    <a:latin typeface="Arial"/>
                  </a:rPr>
                  <a:t>. Case 1: </a:t>
                </a:r>
                <a:r>
                  <a:rPr lang="en-IN" sz="2400">
                    <a:solidFill>
                      <a:srgbClr val="111827"/>
                    </a:solidFill>
                    <a:latin typeface="Cambria Math" panose="02040503050406030204" pitchFamily="18" charset="0"/>
                  </a:rPr>
                  <a:t>$x\in A$</a:t>
                </a:r>
                <a:r>
                  <a:rPr sz="2400" b="0">
                    <a:solidFill>
                      <a:srgbClr val="111827"/>
                    </a:solidFill>
                    <a:latin typeface="Arial"/>
                  </a:rPr>
                  <a:t>. Then </a:t>
                </a:r>
                <a:r>
                  <a:rPr lang="en-IN" sz="2400">
                    <a:solidFill>
                      <a:srgbClr val="111827"/>
                    </a:solidFill>
                    <a:latin typeface="Cambria Math" panose="02040503050406030204" pitchFamily="18" charset="0"/>
                  </a:rPr>
                  <a:t>$x\in A\cap B=A\cap C$</a:t>
                </a:r>
                <a:r>
                  <a:rPr sz="2400" b="0">
                    <a:solidFill>
                      <a:srgbClr val="111827"/>
                    </a:solidFill>
                    <a:latin typeface="Arial"/>
                  </a:rPr>
                  <a:t>, so </a:t>
                </a:r>
                <a:r>
                  <a:rPr lang="en-IN" sz="2400">
                    <a:solidFill>
                      <a:srgbClr val="111827"/>
                    </a:solidFill>
                    <a:latin typeface="Cambria Math" panose="02040503050406030204" pitchFamily="18" charset="0"/>
                  </a:rPr>
                  <a:t>$x\in 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2: </a:t>
                </a:r>
                <a:r>
                  <a:rPr lang="en-IN" sz="2400">
                    <a:solidFill>
                      <a:srgbClr val="111827"/>
                    </a:solidFill>
                    <a:latin typeface="Cambria Math" panose="02040503050406030204" pitchFamily="18" charset="0"/>
                  </a:rPr>
                  <a:t>$x\notin A$</a:t>
                </a:r>
                <a:r>
                  <a:rPr sz="2400" b="0">
                    <a:solidFill>
                      <a:srgbClr val="111827"/>
                    </a:solidFill>
                    <a:latin typeface="Arial"/>
                  </a:rPr>
                  <a:t>. Then </a:t>
                </a:r>
                <a:r>
                  <a:rPr lang="en-IN" sz="2400">
                    <a:solidFill>
                      <a:srgbClr val="111827"/>
                    </a:solidFill>
                    <a:latin typeface="Cambria Math" panose="02040503050406030204" pitchFamily="18" charset="0"/>
                  </a:rPr>
                  <a:t>$x\in A\cup B=A\cup C$</a:t>
                </a:r>
                <a:r>
                  <a:rPr sz="2400" b="0">
                    <a:solidFill>
                      <a:srgbClr val="111827"/>
                    </a:solidFill>
                    <a:latin typeface="Arial"/>
                  </a:rPr>
                  <a:t>; since </a:t>
                </a:r>
                <a:r>
                  <a:rPr lang="en-IN" sz="2400">
                    <a:solidFill>
                      <a:srgbClr val="111827"/>
                    </a:solidFill>
                    <a:latin typeface="Cambria Math" panose="02040503050406030204" pitchFamily="18" charset="0"/>
                  </a:rPr>
                  <a:t>$x\notin A$</a:t>
                </a:r>
                <a:r>
                  <a:rPr sz="2400" b="0">
                    <a:solidFill>
                      <a:srgbClr val="111827"/>
                    </a:solidFill>
                    <a:latin typeface="Arial"/>
                  </a:rPr>
                  <a:t>, we get </a:t>
                </a:r>
                <a:r>
                  <a:rPr lang="en-IN" sz="2400">
                    <a:solidFill>
                      <a:srgbClr val="111827"/>
                    </a:solidFill>
                    <a:latin typeface="Cambria Math" panose="02040503050406030204" pitchFamily="18" charset="0"/>
                  </a:rPr>
                  <a:t>$x\in C$</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By the same argument with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interchanged,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Option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$B\subseteq C$</a:t>
                </a:r>
                <a:r>
                  <a:rPr sz="2400" b="0">
                    <a:solidFill>
                      <a:srgbClr val="111827"/>
                    </a:solidFill>
                    <a:latin typeface="Arial"/>
                  </a:rPr>
                  <a:t>. By the same argument with </a:t>
                </a:r>
                <a:r>
                  <a:rPr lang="en-IN" sz="2400">
                    <a:solidFill>
                      <a:srgbClr val="111827"/>
                    </a:solidFill>
                    <a:latin typeface="Cambria Math" panose="02040503050406030204" pitchFamily="18" charset="0"/>
                  </a:rPr>
                  <a:t>$B$</a:t>
                </a:r>
                <a:r>
                  <a:rPr sz="2400" b="0">
                    <a:solidFill>
                      <a:srgbClr val="111827"/>
                    </a:solidFill>
                    <a:latin typeface="Arial"/>
                  </a:rPr>
                  <a:t> and </a:t>
                </a:r>
                <a:r>
                  <a:rPr lang="en-IN" sz="2400">
                    <a:solidFill>
                      <a:srgbClr val="111827"/>
                    </a:solidFill>
                    <a:latin typeface="Cambria Math" panose="02040503050406030204" pitchFamily="18" charset="0"/>
                  </a:rPr>
                  <a:t>$C$</a:t>
                </a:r>
                <a:r>
                  <a:rPr sz="2400" b="0">
                    <a:solidFill>
                      <a:srgbClr val="111827"/>
                    </a:solidFill>
                    <a:latin typeface="Arial"/>
                  </a:rPr>
                  <a:t> interchanged, </a:t>
                </a:r>
                <a:r>
                  <a:rPr lang="en-IN" sz="2400">
                    <a:solidFill>
                      <a:srgbClr val="111827"/>
                    </a:solidFill>
                    <a:latin typeface="Cambria Math" panose="02040503050406030204" pitchFamily="18" charset="0"/>
                  </a:rPr>
                  <a:t>$C\subseteq 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a:t>
                </a:r>
                <a:r>
                  <a:rPr lang="en-IN" sz="2400">
                    <a:solidFill>
                      <a:srgbClr val="111827"/>
                    </a:solidFill>
                    <a:latin typeface="Cambria Math" panose="02040503050406030204" pitchFamily="18" charset="0"/>
                  </a:rPr>
                  <a:t>$B=C$</a:t>
                </a:r>
                <a:r>
                  <a:rPr sz="2400" b="0">
                    <a:solidFill>
                      <a:srgbClr val="111827"/>
                    </a:solidFill>
                    <a:latin typeface="Arial"/>
                  </a:rPr>
                  <a:t>. Option (C).</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14:m>
                  <m:oMath xmlns:m="http://schemas.openxmlformats.org/officeDocument/2006/math">
                    <m:r>
                      <a:rPr lang="en-IN" sz="2800" i="1">
                        <a:solidFill>
                          <a:srgbClr val="15803D"/>
                        </a:solidFill>
                        <a:latin typeface="Cambria Math" panose="02040503050406030204" pitchFamily="18" charset="0"/>
                      </a:rPr>
                      <m:t>𝐵</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𝐶</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r>
                  <a:rPr lang="en-IN" sz="2800">
                    <a:solidFill>
                      <a:srgbClr val="15803D"/>
                    </a:solidFill>
                    <a:latin typeface="Cambria Math" panose="02040503050406030204" pitchFamily="18" charset="0"/>
                  </a:rPr>
                  <a:t>$B=C$</a:t>
                </a:r>
                <a:endParaRPr sz="2800">
                  <a:solidFill>
                    <a:srgbClr val="15803D"/>
                  </a:solidFill>
                </a:endParaRPr>
              </a:p>
            </p:txBody>
          </p:sp>
        </mc:Fallback>
      </mc:AlternateContent>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indicator functions: </a:t>
                </a:r>
                <a14:m>
                  <m:oMath xmlns:m="http://schemas.openxmlformats.org/officeDocument/2006/math">
                    <m:sSub>
                      <m:e>
                        <m:r>
                          <m:rPr>
                            <m:sty m:val="b"/>
                          </m:rPr>
                          <a:rPr lang="en-IN" sz="2400">
                            <a:solidFill>
                              <a:srgbClr val="78350F"/>
                            </a:solidFill>
                            <a:latin typeface="Cambria Math" panose="02040503050406030204" pitchFamily="18" charset="0"/>
                          </a:rPr>
                          <m:t>1</m:t>
                        </m:r>
                      </m:e>
                      <m:sub>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sub>
                    </m:sSub>
                    <m:r>
                      <m:rPr>
                        <m:sty m:val="p"/>
                      </m:rPr>
                      <a:rPr lang="en-IN" sz="2400">
                        <a:solidFill>
                          <a:srgbClr val="78350F"/>
                        </a:solidFill>
                        <a:latin typeface="Cambria Math" panose="02040503050406030204" pitchFamily="18" charset="0"/>
                      </a:rPr>
                      <m:t>+</m:t>
                    </m:r>
                    <m:sSub>
                      <m:e>
                        <m:r>
                          <m:rPr>
                            <m:sty m:val="b"/>
                          </m:rPr>
                          <a:rPr lang="en-IN" sz="2400">
                            <a:solidFill>
                              <a:srgbClr val="78350F"/>
                            </a:solidFill>
                            <a:latin typeface="Cambria Math" panose="02040503050406030204" pitchFamily="18" charset="0"/>
                          </a:rPr>
                          <m:t>1</m:t>
                        </m:r>
                      </m:e>
                      <m:sub>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sub>
                    </m:sSub>
                    <m:r>
                      <m:rPr>
                        <m:sty m:val="p"/>
                      </m:rPr>
                      <a:rPr lang="en-IN" sz="2400">
                        <a:solidFill>
                          <a:srgbClr val="78350F"/>
                        </a:solidFill>
                        <a:latin typeface="Cambria Math" panose="02040503050406030204" pitchFamily="18" charset="0"/>
                      </a:rPr>
                      <m:t>=</m:t>
                    </m:r>
                    <m:sSub>
                      <m:e>
                        <m:r>
                          <m:rPr>
                            <m:sty m:val="b"/>
                          </m:rPr>
                          <a:rPr lang="en-IN" sz="2400">
                            <a:solidFill>
                              <a:srgbClr val="78350F"/>
                            </a:solidFill>
                            <a:latin typeface="Cambria Math" panose="02040503050406030204" pitchFamily="18" charset="0"/>
                          </a:rPr>
                          <m:t>1</m:t>
                        </m:r>
                      </m:e>
                      <m:sub>
                        <m:r>
                          <a:rPr lang="en-IN" sz="2400" i="1">
                            <a:solidFill>
                              <a:srgbClr val="78350F"/>
                            </a:solidFill>
                            <a:latin typeface="Cambria Math" panose="02040503050406030204" pitchFamily="18" charset="0"/>
                          </a:rPr>
                          <m:t>𝐴</m:t>
                        </m:r>
                      </m:sub>
                    </m:sSub>
                    <m:r>
                      <m:rPr>
                        <m:sty m:val="p"/>
                      </m:rPr>
                      <a:rPr lang="en-IN" sz="2400">
                        <a:solidFill>
                          <a:srgbClr val="78350F"/>
                        </a:solidFill>
                        <a:latin typeface="Cambria Math" panose="02040503050406030204" pitchFamily="18" charset="0"/>
                      </a:rPr>
                      <m:t>+</m:t>
                    </m:r>
                    <m:sSub>
                      <m:e>
                        <m:r>
                          <m:rPr>
                            <m:sty m:val="b"/>
                          </m:rPr>
                          <a:rPr lang="en-IN" sz="2400">
                            <a:solidFill>
                              <a:srgbClr val="78350F"/>
                            </a:solidFill>
                            <a:latin typeface="Cambria Math" panose="02040503050406030204" pitchFamily="18" charset="0"/>
                          </a:rPr>
                          <m:t>1</m:t>
                        </m:r>
                      </m:e>
                      <m:sub>
                        <m:r>
                          <a:rPr lang="en-IN" sz="2400" i="1">
                            <a:solidFill>
                              <a:srgbClr val="78350F"/>
                            </a:solidFill>
                            <a:latin typeface="Cambria Math" panose="02040503050406030204" pitchFamily="18" charset="0"/>
                          </a:rPr>
                          <m:t>𝐵</m:t>
                        </m:r>
                      </m:sub>
                    </m:sSub>
                  </m:oMath>
                </a14:m>
                <a:r>
                  <a:rPr sz="2400" b="0">
                    <a:solidFill>
                      <a:srgbClr val="78350F"/>
                    </a:solidFill>
                    <a:latin typeface="Arial"/>
                  </a:rPr>
                  <a:t> at every point.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indicator functions: </a:t>
                </a:r>
                <a:r>
                  <a:rPr lang="en-IN" sz="2400">
                    <a:solidFill>
                      <a:srgbClr val="78350F"/>
                    </a:solidFill>
                    <a:latin typeface="Cambria Math" panose="02040503050406030204" pitchFamily="18" charset="0"/>
                  </a:rPr>
                  <a:t>$\mathbf 1_{A\cap B}+\mathbf 1_{A\cup B}=\mathbf 1_A+\mathbf 1_B$</a:t>
                </a:r>
                <a:r>
                  <a:rPr sz="2400" b="0">
                    <a:solidFill>
                      <a:srgbClr val="78350F"/>
                    </a:solidFill>
                    <a:latin typeface="Arial"/>
                  </a:rPr>
                  <a:t> at every point.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any point, the number of sets among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containing it equals [in both] + [in at least one]: </a:t>
                </a:r>
                <a14:m>
                  <m:oMath xmlns:m="http://schemas.openxmlformats.org/officeDocument/2006/math">
                    <m:sSub>
                      <m:e>
                        <m:r>
                          <m:rPr>
                            <m:sty m:val="b"/>
                          </m:rPr>
                          <a:rPr lang="en-IN" sz="2400">
                            <a:solidFill>
                              <a:srgbClr val="111827"/>
                            </a:solidFill>
                            <a:latin typeface="Cambria Math" panose="02040503050406030204" pitchFamily="18" charset="0"/>
                          </a:rPr>
                          <m:t>1</m:t>
                        </m:r>
                      </m:e>
                      <m:sub>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sub>
                    </m:sSub>
                    <m:r>
                      <m:rPr>
                        <m:sty m:val="p"/>
                      </m:rPr>
                      <a:rPr lang="en-IN" sz="2400">
                        <a:solidFill>
                          <a:srgbClr val="111827"/>
                        </a:solidFill>
                        <a:latin typeface="Cambria Math" panose="02040503050406030204" pitchFamily="18" charset="0"/>
                      </a:rPr>
                      <m:t>+</m:t>
                    </m:r>
                    <m:sSub>
                      <m:e>
                        <m:r>
                          <m:rPr>
                            <m:sty m:val="b"/>
                          </m:rPr>
                          <a:rPr lang="en-IN" sz="2400">
                            <a:solidFill>
                              <a:srgbClr val="111827"/>
                            </a:solidFill>
                            <a:latin typeface="Cambria Math" panose="02040503050406030204" pitchFamily="18" charset="0"/>
                          </a:rPr>
                          <m:t>1</m:t>
                        </m:r>
                      </m:e>
                      <m:sub>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sub>
                    </m:sSub>
                    <m:r>
                      <m:rPr>
                        <m:sty m:val="p"/>
                      </m:rPr>
                      <a:rPr lang="en-IN" sz="2400">
                        <a:solidFill>
                          <a:srgbClr val="111827"/>
                        </a:solidFill>
                        <a:latin typeface="Cambria Math" panose="02040503050406030204" pitchFamily="18" charset="0"/>
                      </a:rPr>
                      <m:t>=</m:t>
                    </m:r>
                    <m:sSub>
                      <m:e>
                        <m:r>
                          <m:rPr>
                            <m:sty m:val="b"/>
                          </m:rPr>
                          <a:rPr lang="en-IN" sz="2400">
                            <a:solidFill>
                              <a:srgbClr val="111827"/>
                            </a:solidFill>
                            <a:latin typeface="Cambria Math" panose="02040503050406030204" pitchFamily="18" charset="0"/>
                          </a:rPr>
                          <m:t>1</m:t>
                        </m:r>
                      </m:e>
                      <m:sub>
                        <m:r>
                          <a:rPr lang="en-IN" sz="2400" i="1">
                            <a:solidFill>
                              <a:srgbClr val="111827"/>
                            </a:solidFill>
                            <a:latin typeface="Cambria Math" panose="02040503050406030204" pitchFamily="18" charset="0"/>
                          </a:rPr>
                          <m:t>𝐴</m:t>
                        </m:r>
                      </m:sub>
                    </m:sSub>
                    <m:r>
                      <m:rPr>
                        <m:sty m:val="p"/>
                      </m:rPr>
                      <a:rPr lang="en-IN" sz="2400">
                        <a:solidFill>
                          <a:srgbClr val="111827"/>
                        </a:solidFill>
                        <a:latin typeface="Cambria Math" panose="02040503050406030204" pitchFamily="18" charset="0"/>
                      </a:rPr>
                      <m:t>+</m:t>
                    </m:r>
                    <m:sSub>
                      <m:e>
                        <m:r>
                          <m:rPr>
                            <m:sty m:val="b"/>
                          </m:rPr>
                          <a:rPr lang="en-IN" sz="2400">
                            <a:solidFill>
                              <a:srgbClr val="111827"/>
                            </a:solidFill>
                            <a:latin typeface="Cambria Math" panose="02040503050406030204" pitchFamily="18" charset="0"/>
                          </a:rPr>
                          <m:t>1</m:t>
                        </m:r>
                      </m:e>
                      <m:sub>
                        <m:r>
                          <a:rPr lang="en-IN" sz="2400" i="1">
                            <a:solidFill>
                              <a:srgbClr val="111827"/>
                            </a:solidFill>
                            <a:latin typeface="Cambria Math" panose="02040503050406030204" pitchFamily="18" charset="0"/>
                          </a:rPr>
                          <m:t>𝐵</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Likewise </a:t>
                </a:r>
                <a14:m>
                  <m:oMath xmlns:m="http://schemas.openxmlformats.org/officeDocument/2006/math">
                    <m:sSub>
                      <m:e>
                        <m:r>
                          <m:rPr>
                            <m:sty m:val="b"/>
                          </m:rPr>
                          <a:rPr lang="en-IN" sz="2400">
                            <a:solidFill>
                              <a:srgbClr val="111827"/>
                            </a:solidFill>
                            <a:latin typeface="Cambria Math" panose="02040503050406030204" pitchFamily="18" charset="0"/>
                          </a:rPr>
                          <m:t>1</m:t>
                        </m:r>
                      </m:e>
                      <m:sub>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sub>
                    </m:sSub>
                    <m:r>
                      <m:rPr>
                        <m:sty m:val="p"/>
                      </m:rPr>
                      <a:rPr lang="en-IN" sz="2400">
                        <a:solidFill>
                          <a:srgbClr val="111827"/>
                        </a:solidFill>
                        <a:latin typeface="Cambria Math" panose="02040503050406030204" pitchFamily="18" charset="0"/>
                      </a:rPr>
                      <m:t>+</m:t>
                    </m:r>
                    <m:sSub>
                      <m:e>
                        <m:r>
                          <m:rPr>
                            <m:sty m:val="b"/>
                          </m:rPr>
                          <a:rPr lang="en-IN" sz="2400">
                            <a:solidFill>
                              <a:srgbClr val="111827"/>
                            </a:solidFill>
                            <a:latin typeface="Cambria Math" panose="02040503050406030204" pitchFamily="18" charset="0"/>
                          </a:rPr>
                          <m:t>1</m:t>
                        </m:r>
                      </m:e>
                      <m:sub>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sub>
                    </m:sSub>
                    <m:r>
                      <m:rPr>
                        <m:sty m:val="p"/>
                      </m:rPr>
                      <a:rPr lang="en-IN" sz="2400">
                        <a:solidFill>
                          <a:srgbClr val="111827"/>
                        </a:solidFill>
                        <a:latin typeface="Cambria Math" panose="02040503050406030204" pitchFamily="18" charset="0"/>
                      </a:rPr>
                      <m:t>=</m:t>
                    </m:r>
                    <m:sSub>
                      <m:e>
                        <m:r>
                          <m:rPr>
                            <m:sty m:val="b"/>
                          </m:rPr>
                          <a:rPr lang="en-IN" sz="2400">
                            <a:solidFill>
                              <a:srgbClr val="111827"/>
                            </a:solidFill>
                            <a:latin typeface="Cambria Math" panose="02040503050406030204" pitchFamily="18" charset="0"/>
                          </a:rPr>
                          <m:t>1</m:t>
                        </m:r>
                      </m:e>
                      <m:sub>
                        <m:r>
                          <a:rPr lang="en-IN" sz="2400" i="1">
                            <a:solidFill>
                              <a:srgbClr val="111827"/>
                            </a:solidFill>
                            <a:latin typeface="Cambria Math" panose="02040503050406030204" pitchFamily="18" charset="0"/>
                          </a:rPr>
                          <m:t>𝐴</m:t>
                        </m:r>
                      </m:sub>
                    </m:sSub>
                    <m:r>
                      <m:rPr>
                        <m:sty m:val="p"/>
                      </m:rPr>
                      <a:rPr lang="en-IN" sz="2400">
                        <a:solidFill>
                          <a:srgbClr val="111827"/>
                        </a:solidFill>
                        <a:latin typeface="Cambria Math" panose="02040503050406030204" pitchFamily="18" charset="0"/>
                      </a:rPr>
                      <m:t>+</m:t>
                    </m:r>
                    <m:sSub>
                      <m:e>
                        <m:r>
                          <m:rPr>
                            <m:sty m:val="b"/>
                          </m:rPr>
                          <a:rPr lang="en-IN" sz="2400">
                            <a:solidFill>
                              <a:srgbClr val="111827"/>
                            </a:solidFill>
                            <a:latin typeface="Cambria Math" panose="02040503050406030204" pitchFamily="18" charset="0"/>
                          </a:rPr>
                          <m:t>1</m:t>
                        </m:r>
                      </m:e>
                      <m:sub>
                        <m:r>
                          <a:rPr lang="en-IN" sz="2400" i="1">
                            <a:solidFill>
                              <a:srgbClr val="111827"/>
                            </a:solidFill>
                            <a:latin typeface="Cambria Math" panose="02040503050406030204" pitchFamily="18" charset="0"/>
                          </a:rPr>
                          <m:t>𝐶</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given equalities make the left sides equal, so </a:t>
                </a:r>
                <a14:m>
                  <m:oMath xmlns:m="http://schemas.openxmlformats.org/officeDocument/2006/math">
                    <m:sSub>
                      <m:e>
                        <m:r>
                          <m:rPr>
                            <m:sty m:val="b"/>
                          </m:rPr>
                          <a:rPr lang="en-IN" sz="2400">
                            <a:solidFill>
                              <a:srgbClr val="111827"/>
                            </a:solidFill>
                            <a:latin typeface="Cambria Math" panose="02040503050406030204" pitchFamily="18" charset="0"/>
                          </a:rPr>
                          <m:t>1</m:t>
                        </m:r>
                      </m:e>
                      <m:sub>
                        <m:r>
                          <a:rPr lang="en-IN" sz="2400" i="1">
                            <a:solidFill>
                              <a:srgbClr val="111827"/>
                            </a:solidFill>
                            <a:latin typeface="Cambria Math" panose="02040503050406030204" pitchFamily="18" charset="0"/>
                          </a:rPr>
                          <m:t>𝐴</m:t>
                        </m:r>
                      </m:sub>
                    </m:sSub>
                    <m:r>
                      <m:rPr>
                        <m:sty m:val="p"/>
                      </m:rPr>
                      <a:rPr lang="en-IN" sz="2400">
                        <a:solidFill>
                          <a:srgbClr val="111827"/>
                        </a:solidFill>
                        <a:latin typeface="Cambria Math" panose="02040503050406030204" pitchFamily="18" charset="0"/>
                      </a:rPr>
                      <m:t>+</m:t>
                    </m:r>
                    <m:sSub>
                      <m:e>
                        <m:r>
                          <m:rPr>
                            <m:sty m:val="b"/>
                          </m:rPr>
                          <a:rPr lang="en-IN" sz="2400">
                            <a:solidFill>
                              <a:srgbClr val="111827"/>
                            </a:solidFill>
                            <a:latin typeface="Cambria Math" panose="02040503050406030204" pitchFamily="18" charset="0"/>
                          </a:rPr>
                          <m:t>1</m:t>
                        </m:r>
                      </m:e>
                      <m:sub>
                        <m:r>
                          <a:rPr lang="en-IN" sz="2400" i="1">
                            <a:solidFill>
                              <a:srgbClr val="111827"/>
                            </a:solidFill>
                            <a:latin typeface="Cambria Math" panose="02040503050406030204" pitchFamily="18" charset="0"/>
                          </a:rPr>
                          <m:t>𝐵</m:t>
                        </m:r>
                      </m:sub>
                    </m:sSub>
                    <m:r>
                      <m:rPr>
                        <m:sty m:val="p"/>
                      </m:rPr>
                      <a:rPr lang="en-IN" sz="2400">
                        <a:solidFill>
                          <a:srgbClr val="111827"/>
                        </a:solidFill>
                        <a:latin typeface="Cambria Math" panose="02040503050406030204" pitchFamily="18" charset="0"/>
                      </a:rPr>
                      <m:t>=</m:t>
                    </m:r>
                    <m:sSub>
                      <m:e>
                        <m:r>
                          <m:rPr>
                            <m:sty m:val="b"/>
                          </m:rPr>
                          <a:rPr lang="en-IN" sz="2400">
                            <a:solidFill>
                              <a:srgbClr val="111827"/>
                            </a:solidFill>
                            <a:latin typeface="Cambria Math" panose="02040503050406030204" pitchFamily="18" charset="0"/>
                          </a:rPr>
                          <m:t>1</m:t>
                        </m:r>
                      </m:e>
                      <m:sub>
                        <m:r>
                          <a:rPr lang="en-IN" sz="2400" i="1">
                            <a:solidFill>
                              <a:srgbClr val="111827"/>
                            </a:solidFill>
                            <a:latin typeface="Cambria Math" panose="02040503050406030204" pitchFamily="18" charset="0"/>
                          </a:rPr>
                          <m:t>𝐴</m:t>
                        </m:r>
                      </m:sub>
                    </m:sSub>
                    <m:r>
                      <m:rPr>
                        <m:sty m:val="p"/>
                      </m:rPr>
                      <a:rPr lang="en-IN" sz="2400">
                        <a:solidFill>
                          <a:srgbClr val="111827"/>
                        </a:solidFill>
                        <a:latin typeface="Cambria Math" panose="02040503050406030204" pitchFamily="18" charset="0"/>
                      </a:rPr>
                      <m:t>+</m:t>
                    </m:r>
                    <m:sSub>
                      <m:e>
                        <m:r>
                          <m:rPr>
                            <m:sty m:val="b"/>
                          </m:rPr>
                          <a:rPr lang="en-IN" sz="2400">
                            <a:solidFill>
                              <a:srgbClr val="111827"/>
                            </a:solidFill>
                            <a:latin typeface="Cambria Math" panose="02040503050406030204" pitchFamily="18" charset="0"/>
                          </a:rPr>
                          <m:t>1</m:t>
                        </m:r>
                      </m:e>
                      <m:sub>
                        <m:r>
                          <a:rPr lang="en-IN" sz="2400" i="1">
                            <a:solidFill>
                              <a:srgbClr val="111827"/>
                            </a:solidFill>
                            <a:latin typeface="Cambria Math" panose="02040503050406030204" pitchFamily="18" charset="0"/>
                          </a:rPr>
                          <m:t>𝐶</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Cancel </a:t>
                </a:r>
                <a14:m>
                  <m:oMath xmlns:m="http://schemas.openxmlformats.org/officeDocument/2006/math">
                    <m:sSub>
                      <m:e>
                        <m:r>
                          <m:rPr>
                            <m:sty m:val="b"/>
                          </m:rPr>
                          <a:rPr lang="en-IN" sz="2400">
                            <a:solidFill>
                              <a:srgbClr val="111827"/>
                            </a:solidFill>
                            <a:latin typeface="Cambria Math" panose="02040503050406030204" pitchFamily="18" charset="0"/>
                          </a:rPr>
                          <m:t>1</m:t>
                        </m:r>
                      </m:e>
                      <m:sub>
                        <m:r>
                          <a:rPr lang="en-IN" sz="2400" i="1">
                            <a:solidFill>
                              <a:srgbClr val="111827"/>
                            </a:solidFill>
                            <a:latin typeface="Cambria Math" panose="02040503050406030204" pitchFamily="18" charset="0"/>
                          </a:rPr>
                          <m:t>𝐴</m:t>
                        </m:r>
                      </m:sub>
                    </m:sSub>
                  </m:oMath>
                </a14:m>
                <a:r>
                  <a:rPr sz="2400" b="0">
                    <a:solidFill>
                      <a:srgbClr val="111827"/>
                    </a:solidFill>
                    <a:latin typeface="Arial"/>
                  </a:rPr>
                  <a:t>: </a:t>
                </a:r>
                <a14:m>
                  <m:oMath xmlns:m="http://schemas.openxmlformats.org/officeDocument/2006/math">
                    <m:sSub>
                      <m:e>
                        <m:r>
                          <m:rPr>
                            <m:sty m:val="b"/>
                          </m:rPr>
                          <a:rPr lang="en-IN" sz="2400">
                            <a:solidFill>
                              <a:srgbClr val="111827"/>
                            </a:solidFill>
                            <a:latin typeface="Cambria Math" panose="02040503050406030204" pitchFamily="18" charset="0"/>
                          </a:rPr>
                          <m:t>1</m:t>
                        </m:r>
                      </m:e>
                      <m:sub>
                        <m:r>
                          <a:rPr lang="en-IN" sz="2400" i="1">
                            <a:solidFill>
                              <a:srgbClr val="111827"/>
                            </a:solidFill>
                            <a:latin typeface="Cambria Math" panose="02040503050406030204" pitchFamily="18" charset="0"/>
                          </a:rPr>
                          <m:t>𝐵</m:t>
                        </m:r>
                      </m:sub>
                    </m:sSub>
                    <m:r>
                      <m:rPr>
                        <m:sty m:val="p"/>
                      </m:rPr>
                      <a:rPr lang="en-IN" sz="2400">
                        <a:solidFill>
                          <a:srgbClr val="111827"/>
                        </a:solidFill>
                        <a:latin typeface="Cambria Math" panose="02040503050406030204" pitchFamily="18" charset="0"/>
                      </a:rPr>
                      <m:t>=</m:t>
                    </m:r>
                    <m:sSub>
                      <m:e>
                        <m:r>
                          <m:rPr>
                            <m:sty m:val="b"/>
                          </m:rPr>
                          <a:rPr lang="en-IN" sz="2400">
                            <a:solidFill>
                              <a:srgbClr val="111827"/>
                            </a:solidFill>
                            <a:latin typeface="Cambria Math" panose="02040503050406030204" pitchFamily="18" charset="0"/>
                          </a:rPr>
                          <m:t>1</m:t>
                        </m:r>
                      </m:e>
                      <m:sub>
                        <m:r>
                          <a:rPr lang="en-IN" sz="2400" i="1">
                            <a:solidFill>
                              <a:srgbClr val="111827"/>
                            </a:solidFill>
                            <a:latin typeface="Cambria Math" panose="02040503050406030204" pitchFamily="18" charset="0"/>
                          </a:rPr>
                          <m:t>𝐶</m:t>
                        </m:r>
                      </m:sub>
                    </m:sSub>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Option (C).</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any point, the number of sets among </a:t>
                </a:r>
                <a:r>
                  <a:rPr lang="en-IN" sz="2400">
                    <a:solidFill>
                      <a:srgbClr val="111827"/>
                    </a:solidFill>
                    <a:latin typeface="Cambria Math" panose="02040503050406030204" pitchFamily="18" charset="0"/>
                  </a:rPr>
                  <a:t>$A,B$</a:t>
                </a:r>
                <a:r>
                  <a:rPr sz="2400" b="0">
                    <a:solidFill>
                      <a:srgbClr val="111827"/>
                    </a:solidFill>
                    <a:latin typeface="Arial"/>
                  </a:rPr>
                  <a:t> containing it equals [in both] + [in at least one]: </a:t>
                </a:r>
                <a:r>
                  <a:rPr lang="en-IN" sz="2400">
                    <a:solidFill>
                      <a:srgbClr val="111827"/>
                    </a:solidFill>
                    <a:latin typeface="Cambria Math" panose="02040503050406030204" pitchFamily="18" charset="0"/>
                  </a:rPr>
                  <a:t>$\mathbf 1_{A\cap B}+\mathbf 1_{A\cup B}=\mathbf 1_A+\mathbf 1_B$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Likewise </a:t>
                </a:r>
                <a:r>
                  <a:rPr lang="en-IN" sz="2400">
                    <a:solidFill>
                      <a:srgbClr val="111827"/>
                    </a:solidFill>
                    <a:latin typeface="Cambria Math" panose="02040503050406030204" pitchFamily="18" charset="0"/>
                  </a:rPr>
                  <a:t>$\mathbf 1_{A\cap C}+\mathbf 1_{A\cup C}=\mathbf 1_A+\mathbf 1_C$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given equalities make the left sides equal, so </a:t>
                </a:r>
                <a:r>
                  <a:rPr lang="en-IN" sz="2400">
                    <a:solidFill>
                      <a:srgbClr val="111827"/>
                    </a:solidFill>
                    <a:latin typeface="Cambria Math" panose="02040503050406030204" pitchFamily="18" charset="0"/>
                  </a:rPr>
                  <a:t>$\mathbf 1_A+\mathbf 1_B=\mathbf 1_A+\mathbf 1_C$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Cancel </a:t>
                </a:r>
                <a:r>
                  <a:rPr lang="en-IN" sz="2400">
                    <a:solidFill>
                      <a:srgbClr val="111827"/>
                    </a:solidFill>
                    <a:latin typeface="Cambria Math" panose="02040503050406030204" pitchFamily="18" charset="0"/>
                  </a:rPr>
                  <a:t>$\mathbf 1_A$</a:t>
                </a:r>
                <a:r>
                  <a:rPr sz="2400" b="0">
                    <a:solidFill>
                      <a:srgbClr val="111827"/>
                    </a:solidFill>
                    <a:latin typeface="Arial"/>
                  </a:rPr>
                  <a:t>: </a:t>
                </a:r>
                <a:r>
                  <a:rPr lang="en-IN" sz="2400">
                    <a:solidFill>
                      <a:srgbClr val="111827"/>
                    </a:solidFill>
                    <a:latin typeface="Cambria Math" panose="02040503050406030204" pitchFamily="18" charset="0"/>
                  </a:rPr>
                  <a:t>$\mathbf 1_B=\mathbf 1_C$</a:t>
                </a:r>
                <a:r>
                  <a:rPr sz="2400" b="0">
                    <a:solidFill>
                      <a:srgbClr val="111827"/>
                    </a:solidFill>
                    <a:latin typeface="Arial"/>
                  </a:rPr>
                  <a:t>, i.e. </a:t>
                </a:r>
                <a:r>
                  <a:rPr lang="en-IN" sz="2400">
                    <a:solidFill>
                      <a:srgbClr val="111827"/>
                    </a:solidFill>
                    <a:latin typeface="Cambria Math" panose="02040503050406030204" pitchFamily="18" charset="0"/>
                  </a:rPr>
                  <a:t>$B=C$</a:t>
                </a:r>
                <a:r>
                  <a:rPr sz="2400" b="0">
                    <a:solidFill>
                      <a:srgbClr val="111827"/>
                    </a:solidFill>
                    <a:latin typeface="Arial"/>
                  </a:rPr>
                  <a:t>. Option (C).</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14:m>
                  <m:oMath xmlns:m="http://schemas.openxmlformats.org/officeDocument/2006/math">
                    <m:r>
                      <a:rPr lang="en-IN" sz="2800" i="1">
                        <a:solidFill>
                          <a:srgbClr val="15803D"/>
                        </a:solidFill>
                        <a:latin typeface="Cambria Math" panose="02040503050406030204" pitchFamily="18" charset="0"/>
                      </a:rPr>
                      <m:t>𝐵</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𝐶</m:t>
                    </m:r>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r>
                  <a:rPr lang="en-IN" sz="2800">
                    <a:solidFill>
                      <a:srgbClr val="15803D"/>
                    </a:solidFill>
                    <a:latin typeface="Cambria Math" panose="02040503050406030204" pitchFamily="18" charset="0"/>
                  </a:rPr>
                  <a:t>$B=C$</a:t>
                </a:r>
                <a:endParaRPr sz="2800">
                  <a:solidFill>
                    <a:srgbClr val="15803D"/>
                  </a:solidFill>
                </a:endParaRPr>
              </a:p>
            </p:txBody>
          </p:sp>
        </mc:Fallback>
      </mc:AlternateContent>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Cancellation law: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Either equality alone is not enough.</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Counter-examples to each alone: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gives equal intersections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but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gives equal unions but unequal intersections.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Indicator identity: </a:t>
                </a:r>
                <a14:m>
                  <m:oMath xmlns:m="http://schemas.openxmlformats.org/officeDocument/2006/math">
                    <m:sSub>
                      <m:e>
                        <m:r>
                          <m:rPr>
                            <m:sty m:val="b"/>
                          </m:rPr>
                          <a:rPr lang="en-IN" sz="2400">
                            <a:solidFill>
                              <a:srgbClr val="111827"/>
                            </a:solidFill>
                            <a:latin typeface="Cambria Math" panose="02040503050406030204" pitchFamily="18" charset="0"/>
                          </a:rPr>
                          <m:t>1</m:t>
                        </m:r>
                      </m:e>
                      <m:sub>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sub>
                    </m:sSub>
                    <m:r>
                      <m:rPr>
                        <m:sty m:val="p"/>
                      </m:rPr>
                      <a:rPr lang="en-IN" sz="2400">
                        <a:solidFill>
                          <a:srgbClr val="111827"/>
                        </a:solidFill>
                        <a:latin typeface="Cambria Math" panose="02040503050406030204" pitchFamily="18" charset="0"/>
                      </a:rPr>
                      <m:t>+</m:t>
                    </m:r>
                    <m:sSub>
                      <m:e>
                        <m:r>
                          <m:rPr>
                            <m:sty m:val="b"/>
                          </m:rPr>
                          <a:rPr lang="en-IN" sz="2400">
                            <a:solidFill>
                              <a:srgbClr val="111827"/>
                            </a:solidFill>
                            <a:latin typeface="Cambria Math" panose="02040503050406030204" pitchFamily="18" charset="0"/>
                          </a:rPr>
                          <m:t>1</m:t>
                        </m:r>
                      </m:e>
                      <m:sub>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sub>
                    </m:sSub>
                    <m:r>
                      <m:rPr>
                        <m:sty m:val="p"/>
                      </m:rPr>
                      <a:rPr lang="en-IN" sz="2400">
                        <a:solidFill>
                          <a:srgbClr val="111827"/>
                        </a:solidFill>
                        <a:latin typeface="Cambria Math" panose="02040503050406030204" pitchFamily="18" charset="0"/>
                      </a:rPr>
                      <m:t>=</m:t>
                    </m:r>
                    <m:sSub>
                      <m:e>
                        <m:r>
                          <m:rPr>
                            <m:sty m:val="b"/>
                          </m:rPr>
                          <a:rPr lang="en-IN" sz="2400">
                            <a:solidFill>
                              <a:srgbClr val="111827"/>
                            </a:solidFill>
                            <a:latin typeface="Cambria Math" panose="02040503050406030204" pitchFamily="18" charset="0"/>
                          </a:rPr>
                          <m:t>1</m:t>
                        </m:r>
                      </m:e>
                      <m:sub>
                        <m:r>
                          <a:rPr lang="en-IN" sz="2400" i="1">
                            <a:solidFill>
                              <a:srgbClr val="111827"/>
                            </a:solidFill>
                            <a:latin typeface="Cambria Math" panose="02040503050406030204" pitchFamily="18" charset="0"/>
                          </a:rPr>
                          <m:t>𝐴</m:t>
                        </m:r>
                      </m:sub>
                    </m:sSub>
                    <m:r>
                      <m:rPr>
                        <m:sty m:val="p"/>
                      </m:rPr>
                      <a:rPr lang="en-IN" sz="2400">
                        <a:solidFill>
                          <a:srgbClr val="111827"/>
                        </a:solidFill>
                        <a:latin typeface="Cambria Math" panose="02040503050406030204" pitchFamily="18" charset="0"/>
                      </a:rPr>
                      <m:t>+</m:t>
                    </m:r>
                    <m:sSub>
                      <m:e>
                        <m:r>
                          <m:rPr>
                            <m:sty m:val="b"/>
                          </m:rPr>
                          <a:rPr lang="en-IN" sz="2400">
                            <a:solidFill>
                              <a:srgbClr val="111827"/>
                            </a:solidFill>
                            <a:latin typeface="Cambria Math" panose="02040503050406030204" pitchFamily="18" charset="0"/>
                          </a:rPr>
                          <m:t>1</m:t>
                        </m:r>
                      </m:e>
                      <m:sub>
                        <m:r>
                          <a:rPr lang="en-IN" sz="2400" i="1">
                            <a:solidFill>
                              <a:srgbClr val="111827"/>
                            </a:solidFill>
                            <a:latin typeface="Cambria Math" panose="02040503050406030204" pitchFamily="18" charset="0"/>
                          </a:rPr>
                          <m:t>𝐵</m:t>
                        </m:r>
                      </m:sub>
                    </m:sSub>
                  </m:oMath>
                </a14:m>
                <a:r>
                  <a:rPr sz="2400" b="0">
                    <a:solidFill>
                      <a:srgbClr val="111827"/>
                    </a:solidFill>
                    <a:latin typeface="Arial"/>
                  </a:rPr>
                  <a:t>, equivalent to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Cancellation law: </a:t>
                </a:r>
                <a:r>
                  <a:rPr lang="en-IN" sz="2400">
                    <a:solidFill>
                      <a:srgbClr val="111827"/>
                    </a:solidFill>
                    <a:latin typeface="Cambria Math" panose="02040503050406030204" pitchFamily="18" charset="0"/>
                  </a:rPr>
                  <a:t>$A\cap B=A\cap C$</a:t>
                </a:r>
                <a:r>
                  <a:rPr sz="2400" b="0">
                    <a:solidFill>
                      <a:srgbClr val="111827"/>
                    </a:solidFill>
                    <a:latin typeface="Arial"/>
                  </a:rPr>
                  <a:t> and </a:t>
                </a:r>
                <a:r>
                  <a:rPr lang="en-IN" sz="2400">
                    <a:solidFill>
                      <a:srgbClr val="111827"/>
                    </a:solidFill>
                    <a:latin typeface="Cambria Math" panose="02040503050406030204" pitchFamily="18" charset="0"/>
                  </a:rPr>
                  <a:t>$A\cup B=A\cup C\Rightarrow B=C$</a:t>
                </a:r>
                <a:r>
                  <a:rPr sz="2400" b="0">
                    <a:solidFill>
                      <a:srgbClr val="111827"/>
                    </a:solidFill>
                    <a:latin typeface="Arial"/>
                  </a:rPr>
                  <a:t>. Either equality alone is not enough.</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Counter-examples to each alone: </a:t>
                </a:r>
                <a:r>
                  <a:rPr lang="en-IN" sz="2400">
                    <a:solidFill>
                      <a:srgbClr val="111827"/>
                    </a:solidFill>
                    <a:latin typeface="Cambria Math" panose="02040503050406030204" pitchFamily="18" charset="0"/>
                  </a:rPr>
                  <a:t>$A=\{1\},B=\{2\},C=\{3\}$</a:t>
                </a:r>
                <a:r>
                  <a:rPr sz="2400" b="0">
                    <a:solidFill>
                      <a:srgbClr val="111827"/>
                    </a:solidFill>
                    <a:latin typeface="Arial"/>
                  </a:rPr>
                  <a:t> gives equal intersections (</a:t>
                </a:r>
                <a:r>
                  <a:rPr lang="en-IN" sz="2400">
                    <a:solidFill>
                      <a:srgbClr val="111827"/>
                    </a:solidFill>
                    <a:latin typeface="Cambria Math" panose="02040503050406030204" pitchFamily="18" charset="0"/>
                  </a:rPr>
                  <a:t>$\emptyset$</a:t>
                </a:r>
                <a:r>
                  <a:rPr sz="2400" b="0">
                    <a:solidFill>
                      <a:srgbClr val="111827"/>
                    </a:solidFill>
                    <a:latin typeface="Arial"/>
                  </a:rPr>
                  <a:t>) but </a:t>
                </a:r>
                <a:r>
                  <a:rPr lang="en-IN" sz="2400">
                    <a:solidFill>
                      <a:srgbClr val="111827"/>
                    </a:solidFill>
                    <a:latin typeface="Cambria Math" panose="02040503050406030204" pitchFamily="18" charset="0"/>
                  </a:rPr>
                  <a:t>$B\neq C$</a:t>
                </a:r>
                <a:r>
                  <a:rPr sz="2400" b="0">
                    <a:solidFill>
                      <a:srgbClr val="111827"/>
                    </a:solidFill>
                    <a:latin typeface="Arial"/>
                  </a:rPr>
                  <a:t>; </a:t>
                </a:r>
                <a:r>
                  <a:rPr lang="en-IN" sz="2400">
                    <a:solidFill>
                      <a:srgbClr val="111827"/>
                    </a:solidFill>
                    <a:latin typeface="Cambria Math" panose="02040503050406030204" pitchFamily="18" charset="0"/>
                  </a:rPr>
                  <a:t>$A=\{1,2\},B=\{1\},C=\{2\}$</a:t>
                </a:r>
                <a:r>
                  <a:rPr sz="2400" b="0">
                    <a:solidFill>
                      <a:srgbClr val="111827"/>
                    </a:solidFill>
                    <a:latin typeface="Arial"/>
                  </a:rPr>
                  <a:t> gives equal unions but unequal intersections.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Indicator identity: </a:t>
                </a:r>
                <a:r>
                  <a:rPr lang="en-IN" sz="2400">
                    <a:solidFill>
                      <a:srgbClr val="111827"/>
                    </a:solidFill>
                    <a:latin typeface="Cambria Math" panose="02040503050406030204" pitchFamily="18" charset="0"/>
                  </a:rPr>
                  <a:t>$\mathbf 1_{A\cup B}+\mathbf 1_{A\cap B}=\mathbf 1_A+\mathbf 1_B$</a:t>
                </a:r>
                <a:r>
                  <a:rPr sz="2400" b="0">
                    <a:solidFill>
                      <a:srgbClr val="111827"/>
                    </a:solidFill>
                    <a:latin typeface="Arial"/>
                  </a:rPr>
                  <a:t>, equivalent to </a:t>
                </a:r>
                <a:r>
                  <a:rPr lang="en-IN" sz="2400">
                    <a:solidFill>
                      <a:srgbClr val="111827"/>
                    </a:solidFill>
                    <a:latin typeface="Cambria Math" panose="02040503050406030204" pitchFamily="18" charset="0"/>
                  </a:rPr>
                  <a:t>$|A\cup B|+|A\cap B|=|A|+|B|$</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4712716"/>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Consider the following relations: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nor/>
                      </m:rPr>
                      <a:rPr lang="en-IN" sz="2400" i="1">
                        <a:solidFill>
                          <a:srgbClr val="111827"/>
                        </a:solidFill>
                        <a:latin typeface="Cambria Math" panose="02040503050406030204" pitchFamily="18" charset="0"/>
                      </a:rPr>
                      <m:t> 𝑎𝑟𝑒 𝑟𝑒𝑎𝑙 𝑛𝑢𝑚𝑏𝑒𝑟𝑠 𝑎𝑛𝑑 </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𝑤</m:t>
                    </m:r>
                    <m:r>
                      <a:rPr lang="en-IN" sz="2400" i="1">
                        <a:solidFill>
                          <a:srgbClr val="111827"/>
                        </a:solidFill>
                        <a:latin typeface="Cambria Math" panose="02040503050406030204" pitchFamily="18" charset="0"/>
                      </a:rPr>
                      <m:t>𝑦</m:t>
                    </m:r>
                    <m:r>
                      <m:rPr>
                        <m:nor/>
                      </m:rPr>
                      <a:rPr lang="en-IN" sz="2400" i="1">
                        <a:solidFill>
                          <a:srgbClr val="111827"/>
                        </a:solidFill>
                        <a:latin typeface="Cambria Math" panose="02040503050406030204" pitchFamily="18" charset="0"/>
                      </a:rPr>
                      <m:t> 𝑓𝑜𝑟 𝑠𝑜𝑚𝑒 𝑟𝑎𝑡𝑖𝑜𝑛𝑎𝑙 𝑛𝑢𝑚𝑏𝑒𝑟 </m:t>
                    </m:r>
                    <m:r>
                      <a:rPr lang="en-IN" sz="2400" i="1">
                        <a:solidFill>
                          <a:srgbClr val="111827"/>
                        </a:solidFill>
                        <a:latin typeface="Cambria Math" panose="02040503050406030204" pitchFamily="18" charset="0"/>
                      </a:rPr>
                      <m:t>𝑤</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𝑝</m:t>
                                </m:r>
                              </m:num>
                              <m:den>
                                <m:r>
                                  <a:rPr lang="en-IN" sz="2400" i="1">
                                    <a:solidFill>
                                      <a:srgbClr val="111827"/>
                                    </a:solidFill>
                                    <a:latin typeface="Cambria Math" panose="02040503050406030204" pitchFamily="18" charset="0"/>
                                  </a:rPr>
                                  <m:t>𝑞</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nor/>
                          </m:rPr>
                          <a:rPr lang="en-IN" sz="2400" i="1">
                            <a:solidFill>
                              <a:srgbClr val="111827"/>
                            </a:solidFill>
                            <a:latin typeface="Cambria Math" panose="02040503050406030204" pitchFamily="18" charset="0"/>
                          </a:rPr>
                          <m:t> 𝑎𝑟𝑒 𝑖𝑛𝑡𝑒𝑔𝑒𝑟𝑠 𝑠𝑢𝑐ℎ 𝑡ℎ𝑎𝑡 </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nor/>
                          </m:rPr>
                          <a:rPr lang="en-IN" sz="2400" i="1">
                            <a:solidFill>
                              <a:srgbClr val="111827"/>
                            </a:solidFill>
                            <a:latin typeface="Cambria Math" panose="02040503050406030204" pitchFamily="18" charset="0"/>
                          </a:rPr>
                          <m:t> 𝑎𝑛𝑑 </m:t>
                        </m:r>
                        <m:r>
                          <a:rPr lang="en-IN" sz="2400" i="1">
                            <a:solidFill>
                              <a:srgbClr val="111827"/>
                            </a:solidFill>
                            <a:latin typeface="Cambria Math" panose="02040503050406030204" pitchFamily="18" charset="0"/>
                          </a:rPr>
                          <m:t>𝑞</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𝑛</m:t>
                        </m:r>
                      </m:e>
                    </m:d>
                  </m:oMath>
                </a14:m>
                <a:r>
                  <a:rPr sz="2400" b="0">
                    <a:solidFill>
                      <a:srgbClr val="111827"/>
                    </a:solidFill>
                    <a:latin typeface="Arial"/>
                  </a:rPr>
                  <a:t>. Then: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an equivalence relation but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is not an equivalence relation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Neither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nor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is an equivalence relation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is an equivalence relation but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not an equivalence relation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both are equivalence relations</a:t>
                </a:r>
                <a:endParaRPr sz="2400">
                  <a:solidFill>
                    <a:srgbClr val="111827"/>
                  </a:solidFill>
                </a:endParaRPr>
              </a:p>
            </p:txBody>
          </p:sp>
        </mc:Choice>
        <mc:Fallback>
          <p:sp>
            <p:nvSpPr>
              <p:cNvPr id="4" name="Rounded Rectangle 3"/>
              <p:cNvSpPr/>
              <p:nvPr/>
            </p:nvSpPr>
            <p:spPr>
              <a:xfrm>
                <a:off x="731520" y="1280160"/>
                <a:ext cx="10725912" cy="4712716"/>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Consider the following relations: </a:t>
                </a:r>
                <a:r>
                  <a:rPr lang="en-IN" sz="2400">
                    <a:solidFill>
                      <a:srgbClr val="111827"/>
                    </a:solidFill>
                    <a:latin typeface="Cambria Math" panose="02040503050406030204" pitchFamily="18" charset="0"/>
                  </a:rPr>
                  <a:t>$R=\{(x,y):x,y \text{ are real numbers and } x=wy \text{ for some rational number } w\}$</a:t>
                </a:r>
                <a:r>
                  <a:rPr sz="2400" b="0">
                    <a:solidFill>
                      <a:srgbClr val="111827"/>
                    </a:solidFill>
                    <a:latin typeface="Arial"/>
                  </a:rPr>
                  <a:t>; </a:t>
                </a:r>
                <a:r>
                  <a:rPr lang="en-IN" sz="2400">
                    <a:solidFill>
                      <a:srgbClr val="111827"/>
                    </a:solidFill>
                    <a:latin typeface="Cambria Math" panose="02040503050406030204" pitchFamily="18" charset="0"/>
                  </a:rPr>
                  <a:t>$S=\left\{\left(\frac{m}{n},\frac{p}{q}\right):m,n,p,q \text{ are integers such that } n,q\neq0 \text{ and } qm=pn\right\}$</a:t>
                </a:r>
                <a:r>
                  <a:rPr sz="2400" b="0">
                    <a:solidFill>
                      <a:srgbClr val="111827"/>
                    </a:solidFill>
                    <a:latin typeface="Arial"/>
                  </a:rPr>
                  <a:t>. Then: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$R$</a:t>
                </a:r>
                <a:r>
                  <a:rPr sz="2400" b="0">
                    <a:solidFill>
                      <a:srgbClr val="111827"/>
                    </a:solidFill>
                    <a:latin typeface="Arial"/>
                  </a:rPr>
                  <a:t> is an equivalence relation but </a:t>
                </a:r>
                <a:r>
                  <a:rPr lang="en-IN" sz="2400">
                    <a:solidFill>
                      <a:srgbClr val="111827"/>
                    </a:solidFill>
                    <a:latin typeface="Cambria Math" panose="02040503050406030204" pitchFamily="18" charset="0"/>
                  </a:rPr>
                  <a:t>$S$</a:t>
                </a:r>
                <a:r>
                  <a:rPr sz="2400" b="0">
                    <a:solidFill>
                      <a:srgbClr val="111827"/>
                    </a:solidFill>
                    <a:latin typeface="Arial"/>
                  </a:rPr>
                  <a:t> is not an equivalence relation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Neither </a:t>
                </a:r>
                <a:r>
                  <a:rPr lang="en-IN" sz="2400">
                    <a:solidFill>
                      <a:srgbClr val="111827"/>
                    </a:solidFill>
                    <a:latin typeface="Cambria Math" panose="02040503050406030204" pitchFamily="18" charset="0"/>
                  </a:rPr>
                  <a:t>$R$</a:t>
                </a:r>
                <a:r>
                  <a:rPr sz="2400" b="0">
                    <a:solidFill>
                      <a:srgbClr val="111827"/>
                    </a:solidFill>
                    <a:latin typeface="Arial"/>
                  </a:rPr>
                  <a:t> nor </a:t>
                </a:r>
                <a:r>
                  <a:rPr lang="en-IN" sz="2400">
                    <a:solidFill>
                      <a:srgbClr val="111827"/>
                    </a:solidFill>
                    <a:latin typeface="Cambria Math" panose="02040503050406030204" pitchFamily="18" charset="0"/>
                  </a:rPr>
                  <a:t>$S$</a:t>
                </a:r>
                <a:r>
                  <a:rPr sz="2400" b="0">
                    <a:solidFill>
                      <a:srgbClr val="111827"/>
                    </a:solidFill>
                    <a:latin typeface="Arial"/>
                  </a:rPr>
                  <a:t> is an equivalence relation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$S$</a:t>
                </a:r>
                <a:r>
                  <a:rPr sz="2400" b="0">
                    <a:solidFill>
                      <a:srgbClr val="111827"/>
                    </a:solidFill>
                    <a:latin typeface="Arial"/>
                  </a:rPr>
                  <a:t> is an equivalence relation but </a:t>
                </a:r>
                <a:r>
                  <a:rPr lang="en-IN" sz="2400">
                    <a:solidFill>
                      <a:srgbClr val="111827"/>
                    </a:solidFill>
                    <a:latin typeface="Cambria Math" panose="02040503050406030204" pitchFamily="18" charset="0"/>
                  </a:rPr>
                  <a:t>$R$</a:t>
                </a:r>
                <a:r>
                  <a:rPr sz="2400" b="0">
                    <a:solidFill>
                      <a:srgbClr val="111827"/>
                    </a:solidFill>
                    <a:latin typeface="Arial"/>
                  </a:rPr>
                  <a:t> is not an equivalence relation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$R$</a:t>
                </a:r>
                <a:r>
                  <a:rPr sz="2400" b="0">
                    <a:solidFill>
                      <a:srgbClr val="111827"/>
                    </a:solidFill>
                    <a:latin typeface="Arial"/>
                  </a:rPr>
                  <a:t> and </a:t>
                </a:r>
                <a:r>
                  <a:rPr lang="en-IN" sz="2400">
                    <a:solidFill>
                      <a:srgbClr val="111827"/>
                    </a:solidFill>
                    <a:latin typeface="Cambria Math" panose="02040503050406030204" pitchFamily="18" charset="0"/>
                  </a:rPr>
                  <a:t>$S$</a:t>
                </a:r>
                <a:r>
                  <a:rPr sz="2400" b="0">
                    <a:solidFill>
                      <a:srgbClr val="111827"/>
                    </a:solidFill>
                    <a:latin typeface="Arial"/>
                  </a:rPr>
                  <a:t> both are equivalence relations</a:t>
                </a:r>
                <a:endParaRPr sz="2400">
                  <a:solidFill>
                    <a:srgbClr val="111827"/>
                  </a:solidFill>
                </a:endParaRPr>
              </a:p>
            </p:txBody>
          </p:sp>
        </mc:Fallback>
      </mc:AlternateContent>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p:sp>
        <p:nvSpPr>
          <p:cNvPr id="4" name="Rectangle 3"/>
          <p:cNvSpPr/>
          <p:nvPr/>
        </p:nvSpPr>
        <p:spPr>
          <a:xfrm>
            <a:off x="731520" y="128016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Equivalence relation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2.5(A little easier than 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438144"/>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a:rPr lang="en-IN" sz="2400" i="1">
                        <a:solidFill>
                          <a:srgbClr val="78350F"/>
                        </a:solidFill>
                        <a:latin typeface="Cambria Math" panose="02040503050406030204" pitchFamily="18" charset="0"/>
                      </a:rPr>
                      <m:t>𝑤</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gives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𝑅</m:t>
                    </m:r>
                  </m:oMath>
                </a14:m>
                <a:r>
                  <a:rPr sz="2400" b="0">
                    <a:solidFill>
                      <a:srgbClr val="78350F"/>
                    </a:solidFill>
                    <a:latin typeface="Arial"/>
                  </a:rPr>
                  <a:t> but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𝑅</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𝑆</m:t>
                    </m:r>
                  </m:oMath>
                </a14:m>
                <a:r>
                  <a:rPr sz="2400" b="0">
                    <a:solidFill>
                      <a:srgbClr val="78350F"/>
                    </a:solidFill>
                    <a:latin typeface="Arial"/>
                  </a:rPr>
                  <a:t> is just equality of fractions.</a:t>
                </a:r>
                <a:endParaRPr sz="2400">
                  <a:solidFill>
                    <a:srgbClr val="78350F"/>
                  </a:solidFill>
                </a:endParaRPr>
              </a:p>
            </p:txBody>
          </p:sp>
        </mc:Choice>
        <mc:Fallback>
          <p:sp>
            <p:nvSpPr>
              <p:cNvPr id="5" name="Rounded Rectangle 4"/>
              <p:cNvSpPr/>
              <p:nvPr/>
            </p:nvSpPr>
            <p:spPr>
              <a:xfrm>
                <a:off x="731520" y="3438144"/>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$w=0$</a:t>
                </a:r>
                <a:r>
                  <a:rPr sz="2400" b="0">
                    <a:solidFill>
                      <a:srgbClr val="78350F"/>
                    </a:solidFill>
                    <a:latin typeface="Arial"/>
                  </a:rPr>
                  <a:t> gives </a:t>
                </a:r>
                <a:r>
                  <a:rPr lang="en-IN" sz="2400">
                    <a:solidFill>
                      <a:srgbClr val="78350F"/>
                    </a:solidFill>
                    <a:latin typeface="Cambria Math" panose="02040503050406030204" pitchFamily="18" charset="0"/>
                  </a:rPr>
                  <a:t>$(0,1)\in R$</a:t>
                </a:r>
                <a:r>
                  <a:rPr sz="2400" b="0">
                    <a:solidFill>
                      <a:srgbClr val="78350F"/>
                    </a:solidFill>
                    <a:latin typeface="Arial"/>
                  </a:rPr>
                  <a:t> but </a:t>
                </a:r>
                <a:r>
                  <a:rPr lang="en-IN" sz="2400">
                    <a:solidFill>
                      <a:srgbClr val="78350F"/>
                    </a:solidFill>
                    <a:latin typeface="Cambria Math" panose="02040503050406030204" pitchFamily="18" charset="0"/>
                  </a:rPr>
                  <a:t>$(1,0)\notin R$</a:t>
                </a:r>
                <a:r>
                  <a:rPr sz="2400" b="0">
                    <a:solidFill>
                      <a:srgbClr val="78350F"/>
                    </a:solidFill>
                    <a:latin typeface="Arial"/>
                  </a:rPr>
                  <a:t>; </a:t>
                </a:r>
                <a:r>
                  <a:rPr lang="en-IN" sz="2400">
                    <a:solidFill>
                      <a:srgbClr val="78350F"/>
                    </a:solidFill>
                    <a:latin typeface="Cambria Math" panose="02040503050406030204" pitchFamily="18" charset="0"/>
                  </a:rPr>
                  <a:t>$S$</a:t>
                </a:r>
                <a:r>
                  <a:rPr sz="2400" b="0">
                    <a:solidFill>
                      <a:srgbClr val="78350F"/>
                    </a:solidFill>
                    <a:latin typeface="Arial"/>
                  </a:rPr>
                  <a:t> is just equality of fractions.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4684776"/>
                <a:ext cx="10725912" cy="19903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reflexive: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𝑤</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rational,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symmetric fails: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because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𝑤</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rational.</a:t>
                </a:r>
                <a:endParaRPr sz="2400">
                  <a:solidFill>
                    <a:srgbClr val="111827"/>
                  </a:solidFill>
                </a:endParaRPr>
              </a:p>
            </p:txBody>
          </p:sp>
        </mc:Choice>
        <mc:Fallback>
          <p:sp>
            <p:nvSpPr>
              <p:cNvPr id="6" name="Rectangle 5"/>
              <p:cNvSpPr/>
              <p:nvPr/>
            </p:nvSpPr>
            <p:spPr>
              <a:xfrm>
                <a:off x="731520" y="4684776"/>
                <a:ext cx="10725912" cy="19903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a:t>
                </a:r>
                <a:r>
                  <a:rPr sz="2400" b="0">
                    <a:solidFill>
                      <a:srgbClr val="111827"/>
                    </a:solidFill>
                    <a:latin typeface="Arial"/>
                  </a:rPr>
                  <a:t> reflexive: </a:t>
                </a:r>
                <a:r>
                  <a:rPr lang="en-IN" sz="2400">
                    <a:solidFill>
                      <a:srgbClr val="111827"/>
                    </a:solidFill>
                    <a:latin typeface="Cambria Math" panose="02040503050406030204" pitchFamily="18" charset="0"/>
                  </a:rPr>
                  <a:t>$x=1\cdot x$</a:t>
                </a:r>
                <a:r>
                  <a:rPr sz="2400" b="0">
                    <a:solidFill>
                      <a:srgbClr val="111827"/>
                    </a:solidFill>
                    <a:latin typeface="Arial"/>
                  </a:rPr>
                  <a:t> with </a:t>
                </a:r>
                <a:r>
                  <a:rPr lang="en-IN" sz="2400">
                    <a:solidFill>
                      <a:srgbClr val="111827"/>
                    </a:solidFill>
                    <a:latin typeface="Cambria Math" panose="02040503050406030204" pitchFamily="18" charset="0"/>
                  </a:rPr>
                  <a:t>$w=1$</a:t>
                </a:r>
                <a:r>
                  <a:rPr sz="2400" b="0">
                    <a:solidFill>
                      <a:srgbClr val="111827"/>
                    </a:solidFill>
                    <a:latin typeface="Arial"/>
                  </a:rPr>
                  <a:t> rational, so </a:t>
                </a:r>
                <a:r>
                  <a:rPr lang="en-IN" sz="2400">
                    <a:solidFill>
                      <a:srgbClr val="111827"/>
                    </a:solidFill>
                    <a:latin typeface="Cambria Math" panose="02040503050406030204" pitchFamily="18" charset="0"/>
                  </a:rPr>
                  <a:t>$(x,x)\in 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a:t>
                </a:r>
                <a:r>
                  <a:rPr sz="2400" b="0">
                    <a:solidFill>
                      <a:srgbClr val="111827"/>
                    </a:solidFill>
                    <a:latin typeface="Arial"/>
                  </a:rPr>
                  <a:t> symmetric fails: </a:t>
                </a:r>
                <a:r>
                  <a:rPr lang="en-IN" sz="2400">
                    <a:solidFill>
                      <a:srgbClr val="111827"/>
                    </a:solidFill>
                    <a:latin typeface="Cambria Math" panose="02040503050406030204" pitchFamily="18" charset="0"/>
                  </a:rPr>
                  <a:t>$(0,1)\in R$</a:t>
                </a:r>
                <a:r>
                  <a:rPr sz="2400" b="0">
                    <a:solidFill>
                      <a:srgbClr val="111827"/>
                    </a:solidFill>
                    <a:latin typeface="Arial"/>
                  </a:rPr>
                  <a:t> because </a:t>
                </a:r>
                <a:r>
                  <a:rPr lang="en-IN" sz="2400">
                    <a:solidFill>
                      <a:srgbClr val="111827"/>
                    </a:solidFill>
                    <a:latin typeface="Cambria Math" panose="02040503050406030204" pitchFamily="18" charset="0"/>
                  </a:rPr>
                  <a:t>$0=0\cdot1$</a:t>
                </a:r>
                <a:r>
                  <a:rPr sz="2400" b="0">
                    <a:solidFill>
                      <a:srgbClr val="111827"/>
                    </a:solidFill>
                    <a:latin typeface="Arial"/>
                  </a:rPr>
                  <a:t> with </a:t>
                </a:r>
                <a:r>
                  <a:rPr lang="en-IN" sz="2400">
                    <a:solidFill>
                      <a:srgbClr val="111827"/>
                    </a:solidFill>
                    <a:latin typeface="Cambria Math" panose="02040503050406030204" pitchFamily="18" charset="0"/>
                  </a:rPr>
                  <a:t>$w=0$</a:t>
                </a:r>
                <a:r>
                  <a:rPr sz="2400" b="0">
                    <a:solidFill>
                      <a:srgbClr val="111827"/>
                    </a:solidFill>
                    <a:latin typeface="Arial"/>
                  </a:rPr>
                  <a:t> rational.</a:t>
                </a:r>
                <a:endParaRPr sz="2400">
                  <a:solidFill>
                    <a:srgbClr val="111827"/>
                  </a:solidFill>
                </a:endParaRPr>
              </a:p>
            </p:txBody>
          </p:sp>
        </mc:Fallback>
      </mc:AlternateContent>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But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since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𝑤</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is impossible. So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not symmetric and not an equivalence relation.</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𝑞</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𝑛</m:t>
                    </m:r>
                  </m:oMath>
                </a14:m>
                <a:r>
                  <a:rPr sz="2400" b="0">
                    <a:solidFill>
                      <a:srgbClr val="111827"/>
                    </a:solidFill>
                    <a:latin typeface="Arial"/>
                  </a:rPr>
                  <a:t> means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𝑝</m:t>
                        </m:r>
                      </m:num>
                      <m:den>
                        <m:r>
                          <a:rPr lang="en-IN" sz="2400" i="1">
                            <a:solidFill>
                              <a:srgbClr val="111827"/>
                            </a:solidFill>
                            <a:latin typeface="Cambria Math" panose="02040503050406030204" pitchFamily="18" charset="0"/>
                          </a:rPr>
                          <m:t>𝑞</m:t>
                        </m:r>
                      </m:den>
                    </m:f>
                  </m:oMath>
                </a14:m>
                <a:r>
                  <a:rPr sz="2400" b="0">
                    <a:solidFill>
                      <a:srgbClr val="111827"/>
                    </a:solidFill>
                    <a:latin typeface="Arial"/>
                  </a:rPr>
                  <a:t>, i.e. the two fractions are equal. Reflexive: </a:t>
                </a:r>
                <a14:m>
                  <m:oMath xmlns:m="http://schemas.openxmlformats.org/officeDocument/2006/math">
                    <m:r>
                      <a:rPr lang="en-IN" sz="2400" i="1">
                        <a:solidFill>
                          <a:srgbClr val="111827"/>
                        </a:solidFill>
                        <a:latin typeface="Cambria Math" panose="02040503050406030204" pitchFamily="18" charset="0"/>
                      </a:rPr>
                      <m:t>𝑛</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a:rPr lang="en-IN" sz="2400" i="1">
                        <a:solidFill>
                          <a:srgbClr val="111827"/>
                        </a:solidFill>
                        <a:latin typeface="Cambria Math" panose="02040503050406030204" pitchFamily="18" charset="0"/>
                      </a:rPr>
                      <m:t>𝑛</m:t>
                    </m:r>
                  </m:oMath>
                </a14:m>
                <a:r>
                  <a:rPr sz="2400" b="0">
                    <a:solidFill>
                      <a:srgbClr val="111827"/>
                    </a:solidFill>
                    <a:latin typeface="Arial"/>
                  </a:rPr>
                  <a:t>, so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𝑛</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symmetric: if </a:t>
                </a:r>
                <a14:m>
                  <m:oMath xmlns:m="http://schemas.openxmlformats.org/officeDocument/2006/math">
                    <m:r>
                      <a:rPr lang="en-IN" sz="2400" i="1">
                        <a:solidFill>
                          <a:srgbClr val="111827"/>
                        </a:solidFill>
                        <a:latin typeface="Cambria Math" panose="02040503050406030204" pitchFamily="18" charset="0"/>
                      </a:rPr>
                      <m:t>𝑞</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𝑛</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𝑛</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a:rPr lang="en-IN" sz="2400" i="1">
                        <a:solidFill>
                          <a:srgbClr val="111827"/>
                        </a:solidFill>
                        <a:latin typeface="Cambria Math" panose="02040503050406030204" pitchFamily="18" charset="0"/>
                      </a:rPr>
                      <m:t>𝑞</m:t>
                    </m:r>
                  </m:oMath>
                </a14:m>
                <a:r>
                  <a:rPr sz="2400" b="0">
                    <a:solidFill>
                      <a:srgbClr val="111827"/>
                    </a:solidFill>
                    <a:latin typeface="Arial"/>
                  </a:rPr>
                  <a:t>, which is the condition for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𝑝</m:t>
                            </m:r>
                          </m:num>
                          <m:den>
                            <m:r>
                              <a:rPr lang="en-IN" sz="2400" i="1">
                                <a:solidFill>
                                  <a:srgbClr val="111827"/>
                                </a:solidFill>
                                <a:latin typeface="Cambria Math" panose="02040503050406030204" pitchFamily="18" charset="0"/>
                              </a:rPr>
                              <m:t>𝑞</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𝑛</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transitive: let </a:t>
                </a:r>
                <a14:m>
                  <m:oMath xmlns:m="http://schemas.openxmlformats.org/officeDocument/2006/math">
                    <m:r>
                      <a:rPr lang="en-IN" sz="2400" i="1">
                        <a:solidFill>
                          <a:srgbClr val="111827"/>
                        </a:solidFill>
                        <a:latin typeface="Cambria Math" panose="02040503050406030204" pitchFamily="18" charset="0"/>
                      </a:rPr>
                      <m:t>𝑞</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𝑛</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𝑠</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a:rPr lang="en-IN" sz="2400" i="1">
                        <a:solidFill>
                          <a:srgbClr val="111827"/>
                        </a:solidFill>
                        <a:latin typeface="Cambria Math" panose="02040503050406030204" pitchFamily="18" charset="0"/>
                      </a:rPr>
                      <m:t>𝑞</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Multiply: </a:t>
                </a:r>
                <a14:m>
                  <m:oMath xmlns:m="http://schemas.openxmlformats.org/officeDocument/2006/math">
                    <m:r>
                      <a:rPr lang="en-IN" sz="2400" i="1">
                        <a:solidFill>
                          <a:srgbClr val="111827"/>
                        </a:solidFill>
                        <a:latin typeface="Cambria Math" panose="02040503050406030204" pitchFamily="18" charset="0"/>
                      </a:rPr>
                      <m:t>𝑞</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a:rPr lang="en-IN" sz="2400" i="1">
                        <a:solidFill>
                          <a:srgbClr val="111827"/>
                        </a:solidFill>
                        <a:latin typeface="Cambria Math" panose="02040503050406030204" pitchFamily="18" charset="0"/>
                      </a:rPr>
                      <m:t>𝑞</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cancel </a:t>
                </a:r>
                <a14:m>
                  <m:oMath xmlns:m="http://schemas.openxmlformats.org/officeDocument/2006/math">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𝑞</m:t>
                    </m:r>
                  </m:oMath>
                </a14:m>
                <a:r>
                  <a:rPr sz="2400" b="0">
                    <a:solidFill>
                      <a:srgbClr val="111827"/>
                    </a:solidFill>
                    <a:latin typeface="Arial"/>
                  </a:rPr>
                  <a:t> to get </a:t>
                </a:r>
                <a14:m>
                  <m:oMath xmlns:m="http://schemas.openxmlformats.org/officeDocument/2006/math">
                    <m:r>
                      <a:rPr lang="en-IN" sz="2400" i="1">
                        <a:solidFill>
                          <a:srgbClr val="111827"/>
                        </a:solidFill>
                        <a:latin typeface="Cambria Math" panose="02040503050406030204" pitchFamily="18" charset="0"/>
                      </a:rPr>
                      <m:t>𝑚</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a:rPr lang="en-IN" sz="2400" i="1">
                        <a:solidFill>
                          <a:srgbClr val="111827"/>
                        </a:solidFill>
                        <a:latin typeface="Cambria Math" panose="02040503050406030204" pitchFamily="18" charset="0"/>
                      </a:rPr>
                      <m:t>𝑟</m:t>
                    </m:r>
                  </m:oMath>
                </a14:m>
                <a:r>
                  <a:rPr sz="2400" b="0">
                    <a:solidFill>
                      <a:srgbClr val="111827"/>
                    </a:solidFill>
                    <a:latin typeface="Arial"/>
                  </a:rPr>
                  <a:t>. If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𝑚</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a:rPr lang="en-IN" sz="2400" i="1">
                        <a:solidFill>
                          <a:srgbClr val="111827"/>
                        </a:solidFill>
                        <a:latin typeface="Cambria Math" panose="02040503050406030204" pitchFamily="18" charset="0"/>
                      </a:rPr>
                      <m:t>𝑟</m:t>
                    </m:r>
                  </m:oMath>
                </a14:m>
                <a:r>
                  <a:rPr sz="2400" b="0">
                    <a:solidFill>
                      <a:srgbClr val="111827"/>
                    </a:solidFill>
                    <a:latin typeface="Arial"/>
                  </a:rPr>
                  <a:t> again. Thus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𝑠</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But </a:t>
                </a:r>
                <a:r>
                  <a:rPr lang="en-IN" sz="2400">
                    <a:solidFill>
                      <a:srgbClr val="111827"/>
                    </a:solidFill>
                    <a:latin typeface="Cambria Math" panose="02040503050406030204" pitchFamily="18" charset="0"/>
                  </a:rPr>
                  <a:t>$(1,0)\notin R$</a:t>
                </a:r>
                <a:r>
                  <a:rPr sz="2400" b="0">
                    <a:solidFill>
                      <a:srgbClr val="111827"/>
                    </a:solidFill>
                    <a:latin typeface="Arial"/>
                  </a:rPr>
                  <a:t>, since </a:t>
                </a:r>
                <a:r>
                  <a:rPr lang="en-IN" sz="2400">
                    <a:solidFill>
                      <a:srgbClr val="111827"/>
                    </a:solidFill>
                    <a:latin typeface="Cambria Math" panose="02040503050406030204" pitchFamily="18" charset="0"/>
                  </a:rPr>
                  <a:t>$1=w\cdot0$</a:t>
                </a:r>
                <a:r>
                  <a:rPr sz="2400" b="0">
                    <a:solidFill>
                      <a:srgbClr val="111827"/>
                    </a:solidFill>
                    <a:latin typeface="Arial"/>
                  </a:rPr>
                  <a:t> is impossible. So </a:t>
                </a:r>
                <a:r>
                  <a:rPr lang="en-IN" sz="2400">
                    <a:solidFill>
                      <a:srgbClr val="111827"/>
                    </a:solidFill>
                    <a:latin typeface="Cambria Math" panose="02040503050406030204" pitchFamily="18" charset="0"/>
                  </a:rPr>
                  <a:t>$R$</a:t>
                </a:r>
                <a:r>
                  <a:rPr sz="2400" b="0">
                    <a:solidFill>
                      <a:srgbClr val="111827"/>
                    </a:solidFill>
                    <a:latin typeface="Arial"/>
                  </a:rPr>
                  <a:t> is not symmetric and not an equivalence relation.</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a:t>
                </a:r>
                <a:r>
                  <a:rPr sz="2400" b="0">
                    <a:solidFill>
                      <a:srgbClr val="111827"/>
                    </a:solidFill>
                    <a:latin typeface="Arial"/>
                  </a:rPr>
                  <a:t>: </a:t>
                </a:r>
                <a:r>
                  <a:rPr lang="en-IN" sz="2400">
                    <a:solidFill>
                      <a:srgbClr val="111827"/>
                    </a:solidFill>
                    <a:latin typeface="Cambria Math" panose="02040503050406030204" pitchFamily="18" charset="0"/>
                  </a:rPr>
                  <a:t>$qm=pn$</a:t>
                </a:r>
                <a:r>
                  <a:rPr sz="2400" b="0">
                    <a:solidFill>
                      <a:srgbClr val="111827"/>
                    </a:solidFill>
                    <a:latin typeface="Arial"/>
                  </a:rPr>
                  <a:t> means </a:t>
                </a:r>
                <a:r>
                  <a:rPr lang="en-IN" sz="2400">
                    <a:solidFill>
                      <a:srgbClr val="111827"/>
                    </a:solidFill>
                    <a:latin typeface="Cambria Math" panose="02040503050406030204" pitchFamily="18" charset="0"/>
                  </a:rPr>
                  <a:t>$\frac{m}{n}=\frac{p}{q}$</a:t>
                </a:r>
                <a:r>
                  <a:rPr sz="2400" b="0">
                    <a:solidFill>
                      <a:srgbClr val="111827"/>
                    </a:solidFill>
                    <a:latin typeface="Arial"/>
                  </a:rPr>
                  <a:t>, i.e. the two fractions are equal. Reflexive: </a:t>
                </a:r>
                <a:r>
                  <a:rPr lang="en-IN" sz="2400">
                    <a:solidFill>
                      <a:srgbClr val="111827"/>
                    </a:solidFill>
                    <a:latin typeface="Cambria Math" panose="02040503050406030204" pitchFamily="18" charset="0"/>
                  </a:rPr>
                  <a:t>$nm=mn$</a:t>
                </a:r>
                <a:r>
                  <a:rPr sz="2400" b="0">
                    <a:solidFill>
                      <a:srgbClr val="111827"/>
                    </a:solidFill>
                    <a:latin typeface="Arial"/>
                  </a:rPr>
                  <a:t>, so </a:t>
                </a:r>
                <a:r>
                  <a:rPr lang="en-IN" sz="2400">
                    <a:solidFill>
                      <a:srgbClr val="111827"/>
                    </a:solidFill>
                    <a:latin typeface="Cambria Math" panose="02040503050406030204" pitchFamily="18" charset="0"/>
                  </a:rPr>
                  <a:t>$\left(\frac{m}{n},\frac{m}{n}\right)\in S$</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a:t>
                </a:r>
                <a:r>
                  <a:rPr sz="2400" b="0">
                    <a:solidFill>
                      <a:srgbClr val="111827"/>
                    </a:solidFill>
                    <a:latin typeface="Arial"/>
                  </a:rPr>
                  <a:t> symmetric: if </a:t>
                </a:r>
                <a:r>
                  <a:rPr lang="en-IN" sz="2400">
                    <a:solidFill>
                      <a:srgbClr val="111827"/>
                    </a:solidFill>
                    <a:latin typeface="Cambria Math" panose="02040503050406030204" pitchFamily="18" charset="0"/>
                  </a:rPr>
                  <a:t>$qm=pn$</a:t>
                </a:r>
                <a:r>
                  <a:rPr sz="2400" b="0">
                    <a:solidFill>
                      <a:srgbClr val="111827"/>
                    </a:solidFill>
                    <a:latin typeface="Arial"/>
                  </a:rPr>
                  <a:t> then </a:t>
                </a:r>
                <a:r>
                  <a:rPr lang="en-IN" sz="2400">
                    <a:solidFill>
                      <a:srgbClr val="111827"/>
                    </a:solidFill>
                    <a:latin typeface="Cambria Math" panose="02040503050406030204" pitchFamily="18" charset="0"/>
                  </a:rPr>
                  <a:t>$np=mq$</a:t>
                </a:r>
                <a:r>
                  <a:rPr sz="2400" b="0">
                    <a:solidFill>
                      <a:srgbClr val="111827"/>
                    </a:solidFill>
                    <a:latin typeface="Arial"/>
                  </a:rPr>
                  <a:t>, which is the condition for </a:t>
                </a:r>
                <a:r>
                  <a:rPr lang="en-IN" sz="2400">
                    <a:solidFill>
                      <a:srgbClr val="111827"/>
                    </a:solidFill>
                    <a:latin typeface="Cambria Math" panose="02040503050406030204" pitchFamily="18" charset="0"/>
                  </a:rPr>
                  <a:t>$\left(\frac{p}{q},\frac{m}{n}\right)\in S$</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a:t>
                </a:r>
                <a:r>
                  <a:rPr sz="2400" b="0">
                    <a:solidFill>
                      <a:srgbClr val="111827"/>
                    </a:solidFill>
                    <a:latin typeface="Arial"/>
                  </a:rPr>
                  <a:t> transitive: let </a:t>
                </a:r>
                <a:r>
                  <a:rPr lang="en-IN" sz="2400">
                    <a:solidFill>
                      <a:srgbClr val="111827"/>
                    </a:solidFill>
                    <a:latin typeface="Cambria Math" panose="02040503050406030204" pitchFamily="18" charset="0"/>
                  </a:rPr>
                  <a:t>$qm=pn$</a:t>
                </a:r>
                <a:r>
                  <a:rPr sz="2400" b="0">
                    <a:solidFill>
                      <a:srgbClr val="111827"/>
                    </a:solidFill>
                    <a:latin typeface="Arial"/>
                  </a:rPr>
                  <a:t> and </a:t>
                </a:r>
                <a:r>
                  <a:rPr lang="en-IN" sz="2400">
                    <a:solidFill>
                      <a:srgbClr val="111827"/>
                    </a:solidFill>
                    <a:latin typeface="Cambria Math" panose="02040503050406030204" pitchFamily="18" charset="0"/>
                  </a:rPr>
                  <a:t>$sp=rq$</a:t>
                </a:r>
                <a:r>
                  <a:rPr sz="2400" b="0">
                    <a:solidFill>
                      <a:srgbClr val="111827"/>
                    </a:solidFill>
                    <a:latin typeface="Arial"/>
                  </a:rPr>
                  <a:t> (with </a:t>
                </a:r>
                <a:r>
                  <a:rPr lang="en-IN" sz="2400">
                    <a:solidFill>
                      <a:srgbClr val="111827"/>
                    </a:solidFill>
                    <a:latin typeface="Cambria Math" panose="02040503050406030204" pitchFamily="18" charset="0"/>
                  </a:rPr>
                  <a:t>$n,q,s\neq0$</a:t>
                </a:r>
                <a:r>
                  <a:rPr sz="2400" b="0">
                    <a:solidFill>
                      <a:srgbClr val="111827"/>
                    </a:solidFill>
                    <a:latin typeface="Arial"/>
                  </a:rPr>
                  <a:t>). Multiply: </a:t>
                </a:r>
                <a:r>
                  <a:rPr lang="en-IN" sz="2400">
                    <a:solidFill>
                      <a:srgbClr val="111827"/>
                    </a:solidFill>
                    <a:latin typeface="Cambria Math" panose="02040503050406030204" pitchFamily="18" charset="0"/>
                  </a:rPr>
                  <a:t>$qm\cdot sp=pn\cdot rq$</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$p\neq0$</a:t>
                </a:r>
                <a:r>
                  <a:rPr sz="2400" b="0">
                    <a:solidFill>
                      <a:srgbClr val="111827"/>
                    </a:solidFill>
                    <a:latin typeface="Arial"/>
                  </a:rPr>
                  <a:t> cancel </a:t>
                </a:r>
                <a:r>
                  <a:rPr lang="en-IN" sz="2400">
                    <a:solidFill>
                      <a:srgbClr val="111827"/>
                    </a:solidFill>
                    <a:latin typeface="Cambria Math" panose="02040503050406030204" pitchFamily="18" charset="0"/>
                  </a:rPr>
                  <a:t>$pq$</a:t>
                </a:r>
                <a:r>
                  <a:rPr sz="2400" b="0">
                    <a:solidFill>
                      <a:srgbClr val="111827"/>
                    </a:solidFill>
                    <a:latin typeface="Arial"/>
                  </a:rPr>
                  <a:t> to get </a:t>
                </a:r>
                <a:r>
                  <a:rPr lang="en-IN" sz="2400">
                    <a:solidFill>
                      <a:srgbClr val="111827"/>
                    </a:solidFill>
                    <a:latin typeface="Cambria Math" panose="02040503050406030204" pitchFamily="18" charset="0"/>
                  </a:rPr>
                  <a:t>$ms=nr$</a:t>
                </a:r>
                <a:r>
                  <a:rPr sz="2400" b="0">
                    <a:solidFill>
                      <a:srgbClr val="111827"/>
                    </a:solidFill>
                    <a:latin typeface="Arial"/>
                  </a:rPr>
                  <a:t>. If </a:t>
                </a:r>
                <a:r>
                  <a:rPr lang="en-IN" sz="2400">
                    <a:solidFill>
                      <a:srgbClr val="111827"/>
                    </a:solidFill>
                    <a:latin typeface="Cambria Math" panose="02040503050406030204" pitchFamily="18" charset="0"/>
                  </a:rPr>
                  <a:t>$p=0$</a:t>
                </a:r>
                <a:r>
                  <a:rPr sz="2400" b="0">
                    <a:solidFill>
                      <a:srgbClr val="111827"/>
                    </a:solidFill>
                    <a:latin typeface="Arial"/>
                  </a:rPr>
                  <a:t> then </a:t>
                </a:r>
                <a:r>
                  <a:rPr lang="en-IN" sz="2400">
                    <a:solidFill>
                      <a:srgbClr val="111827"/>
                    </a:solidFill>
                    <a:latin typeface="Cambria Math" panose="02040503050406030204" pitchFamily="18" charset="0"/>
                  </a:rPr>
                  <a:t>$m=0$</a:t>
                </a:r>
                <a:r>
                  <a:rPr sz="2400" b="0">
                    <a:solidFill>
                      <a:srgbClr val="111827"/>
                    </a:solidFill>
                    <a:latin typeface="Arial"/>
                  </a:rPr>
                  <a:t> and </a:t>
                </a:r>
                <a:r>
                  <a:rPr lang="en-IN" sz="2400">
                    <a:solidFill>
                      <a:srgbClr val="111827"/>
                    </a:solidFill>
                    <a:latin typeface="Cambria Math" panose="02040503050406030204" pitchFamily="18" charset="0"/>
                  </a:rPr>
                  <a:t>$r=0$</a:t>
                </a:r>
                <a:r>
                  <a:rPr sz="2400" b="0">
                    <a:solidFill>
                      <a:srgbClr val="111827"/>
                    </a:solidFill>
                    <a:latin typeface="Arial"/>
                  </a:rPr>
                  <a:t>, so </a:t>
                </a:r>
                <a:r>
                  <a:rPr lang="en-IN" sz="2400">
                    <a:solidFill>
                      <a:srgbClr val="111827"/>
                    </a:solidFill>
                    <a:latin typeface="Cambria Math" panose="02040503050406030204" pitchFamily="18" charset="0"/>
                  </a:rPr>
                  <a:t>$ms=0=nr$</a:t>
                </a:r>
                <a:r>
                  <a:rPr sz="2400" b="0">
                    <a:solidFill>
                      <a:srgbClr val="111827"/>
                    </a:solidFill>
                    <a:latin typeface="Arial"/>
                  </a:rPr>
                  <a:t> again. Thus </a:t>
                </a:r>
                <a:r>
                  <a:rPr lang="en-IN" sz="2400">
                    <a:solidFill>
                      <a:srgbClr val="111827"/>
                    </a:solidFill>
                    <a:latin typeface="Cambria Math" panose="02040503050406030204" pitchFamily="18" charset="0"/>
                  </a:rPr>
                  <a:t>$\left(\frac{m}{n},\frac{r}{s}\right)\in S$</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is an equivalence relation and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not. Answer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a:t>
                </a:r>
                <a:r>
                  <a:rPr sz="2400" b="0">
                    <a:solidFill>
                      <a:srgbClr val="111827"/>
                    </a:solidFill>
                    <a:latin typeface="Arial"/>
                  </a:rPr>
                  <a:t> is an equivalence relation and </a:t>
                </a:r>
                <a:r>
                  <a:rPr lang="en-IN" sz="2400">
                    <a:solidFill>
                      <a:srgbClr val="111827"/>
                    </a:solidFill>
                    <a:latin typeface="Cambria Math" panose="02040503050406030204" pitchFamily="18" charset="0"/>
                  </a:rPr>
                  <a:t>$R$</a:t>
                </a:r>
                <a:r>
                  <a:rPr sz="2400" b="0">
                    <a:solidFill>
                      <a:srgbClr val="111827"/>
                    </a:solidFill>
                    <a:latin typeface="Arial"/>
                  </a:rPr>
                  <a:t> is not. Answer (C).</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14:m>
                  <m:oMath xmlns:m="http://schemas.openxmlformats.org/officeDocument/2006/math">
                    <m:r>
                      <a:rPr lang="en-IN" sz="2800" i="1">
                        <a:solidFill>
                          <a:srgbClr val="15803D"/>
                        </a:solidFill>
                        <a:latin typeface="Cambria Math" panose="02040503050406030204" pitchFamily="18" charset="0"/>
                      </a:rPr>
                      <m:t>𝑆</m:t>
                    </m:r>
                  </m:oMath>
                </a14:m>
                <a:r>
                  <a:rPr sz="2800" b="1">
                    <a:solidFill>
                      <a:srgbClr val="15803D"/>
                    </a:solidFill>
                    <a:latin typeface="Arial"/>
                  </a:rPr>
                  <a:t> is an equivalence relation but </a:t>
                </a:r>
                <a14:m>
                  <m:oMath xmlns:m="http://schemas.openxmlformats.org/officeDocument/2006/math">
                    <m:r>
                      <a:rPr lang="en-IN" sz="2800" i="1">
                        <a:solidFill>
                          <a:srgbClr val="15803D"/>
                        </a:solidFill>
                        <a:latin typeface="Cambria Math" panose="02040503050406030204" pitchFamily="18" charset="0"/>
                      </a:rPr>
                      <m:t>𝑅</m:t>
                    </m:r>
                  </m:oMath>
                </a14:m>
                <a:r>
                  <a:rPr sz="2800" b="1">
                    <a:solidFill>
                      <a:srgbClr val="15803D"/>
                    </a:solidFill>
                    <a:latin typeface="Arial"/>
                  </a:rPr>
                  <a:t> is not an equivalence relation</a:t>
                </a:r>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r>
                  <a:rPr lang="en-IN" sz="2800">
                    <a:solidFill>
                      <a:srgbClr val="15803D"/>
                    </a:solidFill>
                    <a:latin typeface="Cambria Math" panose="02040503050406030204" pitchFamily="18" charset="0"/>
                  </a:rPr>
                  <a:t>$S$</a:t>
                </a:r>
                <a:r>
                  <a:rPr sz="2800" b="1">
                    <a:solidFill>
                      <a:srgbClr val="15803D"/>
                    </a:solidFill>
                    <a:latin typeface="Arial"/>
                  </a:rPr>
                  <a:t> is an equivalence relation but </a:t>
                </a:r>
                <a:r>
                  <a:rPr lang="en-IN" sz="2800">
                    <a:solidFill>
                      <a:srgbClr val="15803D"/>
                    </a:solidFill>
                    <a:latin typeface="Cambria Math" panose="02040503050406030204" pitchFamily="18" charset="0"/>
                  </a:rPr>
                  <a:t>$R$</a:t>
                </a:r>
                <a:r>
                  <a:rPr sz="2800" b="1">
                    <a:solidFill>
                      <a:srgbClr val="15803D"/>
                    </a:solidFill>
                    <a:latin typeface="Arial"/>
                  </a:rPr>
                  <a:t> is not an equivalence relation</a:t>
                </a:r>
                <a:endParaRPr sz="2800">
                  <a:solidFill>
                    <a:srgbClr val="15803D"/>
                  </a:solidFill>
                </a:endParaRPr>
              </a:p>
            </p:txBody>
          </p:sp>
        </mc:Fallback>
      </mc:AlternateContent>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14:m>
                  <m:oMath xmlns:m="http://schemas.openxmlformats.org/officeDocument/2006/math">
                    <m:r>
                      <a:rPr lang="en-IN" sz="2400" i="1">
                        <a:solidFill>
                          <a:srgbClr val="78350F"/>
                        </a:solidFill>
                        <a:latin typeface="Cambria Math" panose="02040503050406030204" pitchFamily="18" charset="0"/>
                      </a:rPr>
                      <m:t>𝑆</m:t>
                    </m:r>
                  </m:oMath>
                </a14:m>
                <a:r>
                  <a:rPr sz="2400" b="0">
                    <a:solidFill>
                      <a:srgbClr val="78350F"/>
                    </a:solidFill>
                    <a:latin typeface="Arial"/>
                  </a:rPr>
                  <a:t> is the kernel of the map 'value of the fraction', so it is an equivalence automatically; </a:t>
                </a:r>
                <a14:m>
                  <m:oMath xmlns:m="http://schemas.openxmlformats.org/officeDocument/2006/math">
                    <m:r>
                      <a:rPr lang="en-IN" sz="2400" i="1">
                        <a:solidFill>
                          <a:srgbClr val="78350F"/>
                        </a:solidFill>
                        <a:latin typeface="Cambria Math" panose="02040503050406030204" pitchFamily="18" charset="0"/>
                      </a:rPr>
                      <m:t>𝑅</m:t>
                    </m:r>
                  </m:oMath>
                </a14:m>
                <a:r>
                  <a:rPr sz="2400" b="0">
                    <a:solidFill>
                      <a:srgbClr val="78350F"/>
                    </a:solidFill>
                    <a:latin typeface="Arial"/>
                  </a:rPr>
                  <a:t> fails only because of the number </a:t>
                </a:r>
                <a14:m>
                  <m:oMath xmlns:m="http://schemas.openxmlformats.org/officeDocument/2006/math">
                    <m:r>
                      <a:rPr lang="en-IN" sz="2400" i="1">
                        <a:solidFill>
                          <a:srgbClr val="78350F"/>
                        </a:solidFill>
                        <a:latin typeface="Cambria Math" panose="02040503050406030204" pitchFamily="18" charset="0"/>
                      </a:rPr>
                      <m:t>0</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lang="en-IN" sz="2400">
                    <a:solidFill>
                      <a:srgbClr val="78350F"/>
                    </a:solidFill>
                    <a:latin typeface="Cambria Math" panose="02040503050406030204" pitchFamily="18" charset="0"/>
                  </a:rPr>
                  <a:t>$S$</a:t>
                </a:r>
                <a:r>
                  <a:rPr sz="2400" b="0">
                    <a:solidFill>
                      <a:srgbClr val="78350F"/>
                    </a:solidFill>
                    <a:latin typeface="Arial"/>
                  </a:rPr>
                  <a:t> is the kernel of the map 'value of the fraction', so it is an equivalence automatically; </a:t>
                </a:r>
                <a:r>
                  <a:rPr lang="en-IN" sz="2400">
                    <a:solidFill>
                      <a:srgbClr val="78350F"/>
                    </a:solidFill>
                    <a:latin typeface="Cambria Math" panose="02040503050406030204" pitchFamily="18" charset="0"/>
                  </a:rPr>
                  <a:t>$R$</a:t>
                </a:r>
                <a:r>
                  <a:rPr sz="2400" b="0">
                    <a:solidFill>
                      <a:srgbClr val="78350F"/>
                    </a:solidFill>
                    <a:latin typeface="Arial"/>
                  </a:rPr>
                  <a:t> fails only because of the number </a:t>
                </a:r>
                <a:r>
                  <a:rPr lang="en-IN" sz="2400">
                    <a:solidFill>
                      <a:srgbClr val="78350F"/>
                    </a:solidFill>
                    <a:latin typeface="Cambria Math" panose="02040503050406030204" pitchFamily="18" charset="0"/>
                  </a:rPr>
                  <a:t>$0$</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𝑝</m:t>
                            </m:r>
                          </m:num>
                          <m:den>
                            <m:r>
                              <a:rPr lang="en-IN" sz="2400" i="1">
                                <a:solidFill>
                                  <a:srgbClr val="111827"/>
                                </a:solidFill>
                                <a:latin typeface="Cambria Math" panose="02040503050406030204" pitchFamily="18" charset="0"/>
                              </a:rPr>
                              <m:t>𝑞</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𝑝</m:t>
                        </m:r>
                      </m:num>
                      <m:den>
                        <m:r>
                          <a:rPr lang="en-IN" sz="2400" i="1">
                            <a:solidFill>
                              <a:srgbClr val="111827"/>
                            </a:solidFill>
                            <a:latin typeface="Cambria Math" panose="02040503050406030204" pitchFamily="18" charset="0"/>
                          </a:rPr>
                          <m:t>𝑞</m:t>
                        </m:r>
                      </m:den>
                    </m:f>
                  </m:oMath>
                </a14:m>
                <a:r>
                  <a:rPr sz="2400" b="0">
                    <a:solidFill>
                      <a:srgbClr val="111827"/>
                    </a:solidFill>
                    <a:latin typeface="Arial"/>
                  </a:rPr>
                  <a:t> as rational numbers; i.e.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𝑣</m:t>
                    </m:r>
                  </m:oMath>
                </a14:m>
                <a:r>
                  <a:rPr sz="2400" b="0">
                    <a:solidFill>
                      <a:srgbClr val="111827"/>
                    </a:solidFill>
                    <a:latin typeface="Arial"/>
                  </a:rPr>
                  <a:t> gives the value of the fraction.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relation of the form </a:t>
                </a:r>
                <a14:m>
                  <m:oMath xmlns:m="http://schemas.openxmlformats.org/officeDocument/2006/math">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reflexive, symmetric and transitive because equality is. So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is an equivalence relation.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every real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satisfies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only when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but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holds for every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is related to every real number.</a:t>
                </a:r>
                <a:endParaRPr sz="2400">
                  <a:solidFill>
                    <a:srgbClr val="111827"/>
                  </a:solidFill>
                </a:endParaRPr>
              </a:p>
            </p:txBody>
          </p:sp>
        </mc:Choice>
        <mc:Fallback>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$\left(\frac{m}{n},\frac{p}{q}\right)\in S\iff\frac{m}{n}=\frac{p}{q}$</a:t>
                </a:r>
                <a:r>
                  <a:rPr sz="2400" b="0">
                    <a:solidFill>
                      <a:srgbClr val="111827"/>
                    </a:solidFill>
                    <a:latin typeface="Arial"/>
                  </a:rPr>
                  <a:t> as rational numbers; i.e. </a:t>
                </a:r>
                <a:r>
                  <a:rPr lang="en-IN" sz="2400">
                    <a:solidFill>
                      <a:srgbClr val="111827"/>
                    </a:solidFill>
                    <a:latin typeface="Cambria Math" panose="02040503050406030204" pitchFamily="18" charset="0"/>
                  </a:rPr>
                  <a:t>$S=\{(a,b):v(a)=v(b)\}$</a:t>
                </a:r>
                <a:r>
                  <a:rPr sz="2400" b="0">
                    <a:solidFill>
                      <a:srgbClr val="111827"/>
                    </a:solidFill>
                    <a:latin typeface="Arial"/>
                  </a:rPr>
                  <a:t> where </a:t>
                </a:r>
                <a:r>
                  <a:rPr lang="en-IN" sz="2400">
                    <a:solidFill>
                      <a:srgbClr val="111827"/>
                    </a:solidFill>
                    <a:latin typeface="Cambria Math" panose="02040503050406030204" pitchFamily="18" charset="0"/>
                  </a:rPr>
                  <a:t>$v$</a:t>
                </a:r>
                <a:r>
                  <a:rPr sz="2400" b="0">
                    <a:solidFill>
                      <a:srgbClr val="111827"/>
                    </a:solidFill>
                    <a:latin typeface="Arial"/>
                  </a:rPr>
                  <a:t> gives the value of the fraction.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relation of the form </a:t>
                </a:r>
                <a:r>
                  <a:rPr lang="en-IN" sz="2400">
                    <a:solidFill>
                      <a:srgbClr val="111827"/>
                    </a:solidFill>
                    <a:latin typeface="Cambria Math" panose="02040503050406030204" pitchFamily="18" charset="0"/>
                  </a:rPr>
                  <a:t>$v(a)=v(b)$</a:t>
                </a:r>
                <a:r>
                  <a:rPr sz="2400" b="0">
                    <a:solidFill>
                      <a:srgbClr val="111827"/>
                    </a:solidFill>
                    <a:latin typeface="Arial"/>
                  </a:rPr>
                  <a:t> is reflexive, symmetric and transitive because equality is. So </a:t>
                </a:r>
                <a:r>
                  <a:rPr lang="en-IN" sz="2400">
                    <a:solidFill>
                      <a:srgbClr val="111827"/>
                    </a:solidFill>
                    <a:latin typeface="Cambria Math" panose="02040503050406030204" pitchFamily="18" charset="0"/>
                  </a:rPr>
                  <a:t>$S$</a:t>
                </a:r>
                <a:r>
                  <a:rPr sz="2400" b="0">
                    <a:solidFill>
                      <a:srgbClr val="111827"/>
                    </a:solidFill>
                    <a:latin typeface="Arial"/>
                  </a:rPr>
                  <a:t> is an equivalence relation.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$R$</a:t>
                </a:r>
                <a:r>
                  <a:rPr sz="2400" b="0">
                    <a:solidFill>
                      <a:srgbClr val="111827"/>
                    </a:solidFill>
                    <a:latin typeface="Arial"/>
                  </a:rPr>
                  <a:t>: every real </a:t>
                </a:r>
                <a:r>
                  <a:rPr lang="en-IN" sz="2400">
                    <a:solidFill>
                      <a:srgbClr val="111827"/>
                    </a:solidFill>
                    <a:latin typeface="Cambria Math" panose="02040503050406030204" pitchFamily="18" charset="0"/>
                  </a:rPr>
                  <a:t>$x$</a:t>
                </a:r>
                <a:r>
                  <a:rPr sz="2400" b="0">
                    <a:solidFill>
                      <a:srgbClr val="111827"/>
                    </a:solidFill>
                    <a:latin typeface="Arial"/>
                  </a:rPr>
                  <a:t> satisfies </a:t>
                </a:r>
                <a:r>
                  <a:rPr lang="en-IN" sz="2400">
                    <a:solidFill>
                      <a:srgbClr val="111827"/>
                    </a:solidFill>
                    <a:latin typeface="Cambria Math" panose="02040503050406030204" pitchFamily="18" charset="0"/>
                  </a:rPr>
                  <a:t>$x=0\cdot y$</a:t>
                </a:r>
                <a:r>
                  <a:rPr sz="2400" b="0">
                    <a:solidFill>
                      <a:srgbClr val="111827"/>
                    </a:solidFill>
                    <a:latin typeface="Arial"/>
                  </a:rPr>
                  <a:t> only when </a:t>
                </a:r>
                <a:r>
                  <a:rPr lang="en-IN" sz="2400">
                    <a:solidFill>
                      <a:srgbClr val="111827"/>
                    </a:solidFill>
                    <a:latin typeface="Cambria Math" panose="02040503050406030204" pitchFamily="18" charset="0"/>
                  </a:rPr>
                  <a:t>$x=0$</a:t>
                </a:r>
                <a:r>
                  <a:rPr sz="2400" b="0">
                    <a:solidFill>
                      <a:srgbClr val="111827"/>
                    </a:solidFill>
                    <a:latin typeface="Arial"/>
                  </a:rPr>
                  <a:t>, but </a:t>
                </a:r>
                <a:r>
                  <a:rPr lang="en-IN" sz="2400">
                    <a:solidFill>
                      <a:srgbClr val="111827"/>
                    </a:solidFill>
                    <a:latin typeface="Cambria Math" panose="02040503050406030204" pitchFamily="18" charset="0"/>
                  </a:rPr>
                  <a:t>$0=0\cdot y$</a:t>
                </a:r>
                <a:r>
                  <a:rPr sz="2400" b="0">
                    <a:solidFill>
                      <a:srgbClr val="111827"/>
                    </a:solidFill>
                    <a:latin typeface="Arial"/>
                  </a:rPr>
                  <a:t> holds for every </a:t>
                </a:r>
                <a:r>
                  <a:rPr lang="en-IN" sz="2400">
                    <a:solidFill>
                      <a:srgbClr val="111827"/>
                    </a:solidFill>
                    <a:latin typeface="Cambria Math" panose="02040503050406030204" pitchFamily="18" charset="0"/>
                  </a:rPr>
                  <a:t>$y$</a:t>
                </a:r>
                <a:r>
                  <a:rPr sz="2400" b="0">
                    <a:solidFill>
                      <a:srgbClr val="111827"/>
                    </a:solidFill>
                    <a:latin typeface="Arial"/>
                  </a:rPr>
                  <a:t>. So </a:t>
                </a:r>
                <a:r>
                  <a:rPr lang="en-IN" sz="2400">
                    <a:solidFill>
                      <a:srgbClr val="111827"/>
                    </a:solidFill>
                    <a:latin typeface="Cambria Math" panose="02040503050406030204" pitchFamily="18" charset="0"/>
                  </a:rPr>
                  <a:t>$0$</a:t>
                </a:r>
                <a:r>
                  <a:rPr sz="2400" b="0">
                    <a:solidFill>
                      <a:srgbClr val="111827"/>
                    </a:solidFill>
                    <a:latin typeface="Arial"/>
                  </a:rPr>
                  <a:t> is related to every real number.</a:t>
                </a:r>
                <a:endParaRPr sz="2400">
                  <a:solidFill>
                    <a:srgbClr val="111827"/>
                  </a:solidFill>
                </a:endParaRPr>
              </a:p>
            </p:txBody>
          </p:sp>
        </mc:Fallback>
      </mc:AlternateContent>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for symmetry we would need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𝑤</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which is impossible.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not an equivalence relation. Answer (C).</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$(0,1)\in R$</a:t>
                </a:r>
                <a:r>
                  <a:rPr sz="2400" b="0">
                    <a:solidFill>
                      <a:srgbClr val="111827"/>
                    </a:solidFill>
                    <a:latin typeface="Arial"/>
                  </a:rPr>
                  <a:t>; for symmetry we would need </a:t>
                </a:r>
                <a:r>
                  <a:rPr lang="en-IN" sz="2400">
                    <a:solidFill>
                      <a:srgbClr val="111827"/>
                    </a:solidFill>
                    <a:latin typeface="Cambria Math" panose="02040503050406030204" pitchFamily="18" charset="0"/>
                  </a:rPr>
                  <a:t>$(1,0)\in R$</a:t>
                </a:r>
                <a:r>
                  <a:rPr sz="2400" b="0">
                    <a:solidFill>
                      <a:srgbClr val="111827"/>
                    </a:solidFill>
                    <a:latin typeface="Arial"/>
                  </a:rPr>
                  <a:t>, i.e. </a:t>
                </a:r>
                <a:r>
                  <a:rPr lang="en-IN" sz="2400">
                    <a:solidFill>
                      <a:srgbClr val="111827"/>
                    </a:solidFill>
                    <a:latin typeface="Cambria Math" panose="02040503050406030204" pitchFamily="18" charset="0"/>
                  </a:rPr>
                  <a:t>$1=w\cdot 0$</a:t>
                </a:r>
                <a:r>
                  <a:rPr sz="2400" b="0">
                    <a:solidFill>
                      <a:srgbClr val="111827"/>
                    </a:solidFill>
                    <a:latin typeface="Arial"/>
                  </a:rPr>
                  <a:t>, which is impossible.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$R$</a:t>
                </a:r>
                <a:r>
                  <a:rPr sz="2400" b="0">
                    <a:solidFill>
                      <a:srgbClr val="111827"/>
                    </a:solidFill>
                    <a:latin typeface="Arial"/>
                  </a:rPr>
                  <a:t> is not an equivalence relation. Answer (C).</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14:m>
                  <m:oMath xmlns:m="http://schemas.openxmlformats.org/officeDocument/2006/math">
                    <m:r>
                      <a:rPr lang="en-IN" sz="2800" i="1">
                        <a:solidFill>
                          <a:srgbClr val="15803D"/>
                        </a:solidFill>
                        <a:latin typeface="Cambria Math" panose="02040503050406030204" pitchFamily="18" charset="0"/>
                      </a:rPr>
                      <m:t>𝑆</m:t>
                    </m:r>
                  </m:oMath>
                </a14:m>
                <a:r>
                  <a:rPr sz="2800" b="1">
                    <a:solidFill>
                      <a:srgbClr val="15803D"/>
                    </a:solidFill>
                    <a:latin typeface="Arial"/>
                  </a:rPr>
                  <a:t> is an equivalence relation but </a:t>
                </a:r>
                <a14:m>
                  <m:oMath xmlns:m="http://schemas.openxmlformats.org/officeDocument/2006/math">
                    <m:r>
                      <a:rPr lang="en-IN" sz="2800" i="1">
                        <a:solidFill>
                          <a:srgbClr val="15803D"/>
                        </a:solidFill>
                        <a:latin typeface="Cambria Math" panose="02040503050406030204" pitchFamily="18" charset="0"/>
                      </a:rPr>
                      <m:t>𝑅</m:t>
                    </m:r>
                  </m:oMath>
                </a14:m>
                <a:r>
                  <a:rPr sz="2800" b="1">
                    <a:solidFill>
                      <a:srgbClr val="15803D"/>
                    </a:solidFill>
                    <a:latin typeface="Arial"/>
                  </a:rPr>
                  <a:t> is not an equivalence relation</a:t>
                </a:r>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r>
                  <a:rPr lang="en-IN" sz="2800">
                    <a:solidFill>
                      <a:srgbClr val="15803D"/>
                    </a:solidFill>
                    <a:latin typeface="Cambria Math" panose="02040503050406030204" pitchFamily="18" charset="0"/>
                  </a:rPr>
                  <a:t>$S$</a:t>
                </a:r>
                <a:r>
                  <a:rPr sz="2800" b="1">
                    <a:solidFill>
                      <a:srgbClr val="15803D"/>
                    </a:solidFill>
                    <a:latin typeface="Arial"/>
                  </a:rPr>
                  <a:t> is an equivalence relation but </a:t>
                </a:r>
                <a:r>
                  <a:rPr lang="en-IN" sz="2800">
                    <a:solidFill>
                      <a:srgbClr val="15803D"/>
                    </a:solidFill>
                    <a:latin typeface="Cambria Math" panose="02040503050406030204" pitchFamily="18" charset="0"/>
                  </a:rPr>
                  <a:t>$R$</a:t>
                </a:r>
                <a:r>
                  <a:rPr sz="2800" b="1">
                    <a:solidFill>
                      <a:srgbClr val="15803D"/>
                    </a:solidFill>
                    <a:latin typeface="Arial"/>
                  </a:rPr>
                  <a:t> is not an equivalence relation</a:t>
                </a:r>
                <a:endParaRPr sz="2800">
                  <a:solidFill>
                    <a:srgbClr val="15803D"/>
                  </a:solidFill>
                </a:endParaRPr>
              </a:p>
            </p:txBody>
          </p:sp>
        </mc:Fallback>
      </mc:AlternateContent>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𝑤</m:t>
                    </m:r>
                    <m:r>
                      <a:rPr lang="en-IN" sz="2400" i="1">
                        <a:solidFill>
                          <a:srgbClr val="111827"/>
                        </a:solidFill>
                        <a:latin typeface="Cambria Math" panose="02040503050406030204" pitchFamily="18" charset="0"/>
                      </a:rPr>
                      <m:t>𝑦</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𝑤</m:t>
                    </m:r>
                  </m:oMath>
                </a14:m>
                <a:r>
                  <a:rPr sz="2400" b="0">
                    <a:solidFill>
                      <a:srgbClr val="111827"/>
                    </a:solidFill>
                    <a:latin typeface="Arial"/>
                  </a:rPr>
                  <a:t> rational' fails symmetry only because of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on </a:t>
                </a:r>
                <a14:m>
                  <m:oMath xmlns:m="http://schemas.openxmlformats.org/officeDocument/2006/math">
                    <m:r>
                      <m:rPr>
                        <m:scr m:val="double-struck"/>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𝑤</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it is an equivalence relation, with classes </a:t>
                </a:r>
                <a14:m>
                  <m:oMath xmlns:m="http://schemas.openxmlformats.org/officeDocument/2006/math">
                    <m:sSup>
                      <m:e>
                        <m:r>
                          <m:rPr>
                            <m:scr m:val="double-struck"/>
                            <m:sty m:val="p"/>
                          </m:rPr>
                          <a:rPr lang="en-IN" sz="2400">
                            <a:solidFill>
                              <a:srgbClr val="111827"/>
                            </a:solidFill>
                            <a:latin typeface="Cambria Math" panose="02040503050406030204" pitchFamily="18" charset="0"/>
                          </a:rPr>
                          <m:t>Q</m:t>
                        </m:r>
                      </m:e>
                      <m:sup>
                        <m:r>
                          <m:rPr>
                            <m:sty m:val="p"/>
                          </m:rPr>
                          <a:rPr lang="en-IN" sz="2400">
                            <a:solidFill>
                              <a:srgbClr val="111827"/>
                            </a:solidFill>
                            <a:latin typeface="Cambria Math" panose="02040503050406030204" pitchFamily="18" charset="0"/>
                          </a:rPr>
                          <m:t>*</m:t>
                        </m:r>
                      </m:sup>
                    </m:sSup>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Cross-multiplication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is equality of fractions and always gives an equivalence relation.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 cancelling a factor in a transitivity proof, treat the zero case separately.</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t>
                </a:r>
                <a:r>
                  <a:rPr lang="en-IN" sz="2400">
                    <a:solidFill>
                      <a:srgbClr val="111827"/>
                    </a:solidFill>
                    <a:latin typeface="Cambria Math" panose="02040503050406030204" pitchFamily="18" charset="0"/>
                  </a:rPr>
                  <a:t>$x=wy$</a:t>
                </a:r>
                <a:r>
                  <a:rPr sz="2400" b="0">
                    <a:solidFill>
                      <a:srgbClr val="111827"/>
                    </a:solidFill>
                    <a:latin typeface="Arial"/>
                  </a:rPr>
                  <a:t>, </a:t>
                </a:r>
                <a:r>
                  <a:rPr lang="en-IN" sz="2400">
                    <a:solidFill>
                      <a:srgbClr val="111827"/>
                    </a:solidFill>
                    <a:latin typeface="Cambria Math" panose="02040503050406030204" pitchFamily="18" charset="0"/>
                  </a:rPr>
                  <a:t>$w$</a:t>
                </a:r>
                <a:r>
                  <a:rPr sz="2400" b="0">
                    <a:solidFill>
                      <a:srgbClr val="111827"/>
                    </a:solidFill>
                    <a:latin typeface="Arial"/>
                  </a:rPr>
                  <a:t> rational' fails symmetry only because of </a:t>
                </a:r>
                <a:r>
                  <a:rPr lang="en-IN" sz="2400">
                    <a:solidFill>
                      <a:srgbClr val="111827"/>
                    </a:solidFill>
                    <a:latin typeface="Cambria Math" panose="02040503050406030204" pitchFamily="18" charset="0"/>
                  </a:rPr>
                  <a:t>$0$</a:t>
                </a:r>
                <a:r>
                  <a:rPr sz="2400" b="0">
                    <a:solidFill>
                      <a:srgbClr val="111827"/>
                    </a:solidFill>
                    <a:latin typeface="Arial"/>
                  </a:rPr>
                  <a:t>: on </a:t>
                </a:r>
                <a:r>
                  <a:rPr lang="en-IN" sz="2400">
                    <a:solidFill>
                      <a:srgbClr val="111827"/>
                    </a:solidFill>
                    <a:latin typeface="Cambria Math" panose="02040503050406030204" pitchFamily="18" charset="0"/>
                  </a:rPr>
                  <a:t>$\mathbb{R}\setminus\{0\}$</a:t>
                </a:r>
                <a:r>
                  <a:rPr sz="2400" b="0">
                    <a:solidFill>
                      <a:srgbClr val="111827"/>
                    </a:solidFill>
                    <a:latin typeface="Arial"/>
                  </a:rPr>
                  <a:t> (with </a:t>
                </a:r>
                <a:r>
                  <a:rPr lang="en-IN" sz="2400">
                    <a:solidFill>
                      <a:srgbClr val="111827"/>
                    </a:solidFill>
                    <a:latin typeface="Cambria Math" panose="02040503050406030204" pitchFamily="18" charset="0"/>
                  </a:rPr>
                  <a:t>$w\neq0$</a:t>
                </a:r>
                <a:r>
                  <a:rPr sz="2400" b="0">
                    <a:solidFill>
                      <a:srgbClr val="111827"/>
                    </a:solidFill>
                    <a:latin typeface="Arial"/>
                  </a:rPr>
                  <a:t>) it is an equivalence relation, with classes </a:t>
                </a:r>
                <a:r>
                  <a:rPr lang="en-IN" sz="2400">
                    <a:solidFill>
                      <a:srgbClr val="111827"/>
                    </a:solidFill>
                    <a:latin typeface="Cambria Math" panose="02040503050406030204" pitchFamily="18" charset="0"/>
                  </a:rPr>
                  <a:t>$\mathbb{Q}^{*}x$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Cross-multiplication </a:t>
                </a:r>
                <a:r>
                  <a:rPr lang="en-IN" sz="2400">
                    <a:solidFill>
                      <a:srgbClr val="111827"/>
                    </a:solidFill>
                    <a:latin typeface="Cambria Math" panose="02040503050406030204" pitchFamily="18" charset="0"/>
                  </a:rPr>
                  <a:t>$ad=bc$</a:t>
                </a:r>
                <a:r>
                  <a:rPr sz="2400" b="0">
                    <a:solidFill>
                      <a:srgbClr val="111827"/>
                    </a:solidFill>
                    <a:latin typeface="Arial"/>
                  </a:rPr>
                  <a:t> (</a:t>
                </a:r>
                <a:r>
                  <a:rPr lang="en-IN" sz="2400">
                    <a:solidFill>
                      <a:srgbClr val="111827"/>
                    </a:solidFill>
                    <a:latin typeface="Cambria Math" panose="02040503050406030204" pitchFamily="18" charset="0"/>
                  </a:rPr>
                  <a:t>$b,d\neq0$</a:t>
                </a:r>
                <a:r>
                  <a:rPr sz="2400" b="0">
                    <a:solidFill>
                      <a:srgbClr val="111827"/>
                    </a:solidFill>
                    <a:latin typeface="Arial"/>
                  </a:rPr>
                  <a:t>) is equality of fractions and always gives an equivalence relation.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 cancelling a factor in a transitivity proof, treat the zero case separately.</a:t>
                </a:r>
                <a:endParaRPr sz="2400">
                  <a:solidFill>
                    <a:srgbClr val="111827"/>
                  </a:solidFill>
                </a:endParaRPr>
              </a:p>
            </p:txBody>
          </p:sp>
        </mc:Fallback>
      </mc:AlternateContent>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44932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be the set of real numbers. Statement-1: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nor/>
                      </m:rPr>
                      <a:rPr lang="en-IN" sz="2400" i="1">
                        <a:solidFill>
                          <a:srgbClr val="111827"/>
                        </a:solidFill>
                        <a:latin typeface="Cambria Math" panose="02040503050406030204" pitchFamily="18" charset="0"/>
                      </a:rPr>
                      <m:t> 𝑖𝑠 𝑎𝑛 𝑖𝑛𝑡𝑒𝑔𝑒𝑟</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an equivalence relation on </a:t>
                </a:r>
                <a14:m>
                  <m:oMath xmlns:m="http://schemas.openxmlformats.org/officeDocument/2006/math">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Statement-2: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𝑦</m:t>
                    </m:r>
                    <m:r>
                      <m:rPr>
                        <m:nor/>
                      </m:rPr>
                      <a:rPr lang="en-IN" sz="2400" i="1">
                        <a:solidFill>
                          <a:srgbClr val="111827"/>
                        </a:solidFill>
                        <a:latin typeface="Cambria Math" panose="02040503050406030204" pitchFamily="18" charset="0"/>
                      </a:rPr>
                      <m:t> 𝑓𝑜𝑟 𝑠𝑜𝑚𝑒 𝑟𝑎𝑡𝑖𝑜𝑛𝑎𝑙 𝑛𝑢𝑚𝑏𝑒𝑟 </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an equivalence relation on </a:t>
                </a:r>
                <a14:m>
                  <m:oMath xmlns:m="http://schemas.openxmlformats.org/officeDocument/2006/math">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Statement-1 is true, Statement-2 is false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Statement-1 is false, Statement-2 is true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Statement-1 is true, Statement-2 is true; Statement-2 is a correct explanation for Statement-1</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Statement-1 is true, Statement-2 is true; Statement-2 is not a correct explanation for Statement-1</a:t>
                </a:r>
                <a:endParaRPr sz="2400">
                  <a:solidFill>
                    <a:srgbClr val="111827"/>
                  </a:solidFill>
                </a:endParaRPr>
              </a:p>
            </p:txBody>
          </p:sp>
        </mc:Choice>
        <mc:Fallback>
          <p:sp>
            <p:nvSpPr>
              <p:cNvPr id="4" name="Rounded Rectangle 3"/>
              <p:cNvSpPr/>
              <p:nvPr/>
            </p:nvSpPr>
            <p:spPr>
              <a:xfrm>
                <a:off x="731520" y="1280160"/>
                <a:ext cx="10725912" cy="44932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$\mathbb{R}$</a:t>
                </a:r>
                <a:r>
                  <a:rPr sz="2400" b="0">
                    <a:solidFill>
                      <a:srgbClr val="111827"/>
                    </a:solidFill>
                    <a:latin typeface="Arial"/>
                  </a:rPr>
                  <a:t> be the set of real numbers. Statement-1: </a:t>
                </a:r>
                <a:r>
                  <a:rPr lang="en-IN" sz="2400">
                    <a:solidFill>
                      <a:srgbClr val="111827"/>
                    </a:solidFill>
                    <a:latin typeface="Cambria Math" panose="02040503050406030204" pitchFamily="18" charset="0"/>
                  </a:rPr>
                  <a:t>$A=\{(x,y)\in\mathbb{R}\times\mathbb{R}:y-x \text{ is an integer}\}$</a:t>
                </a:r>
                <a:r>
                  <a:rPr sz="2400" b="0">
                    <a:solidFill>
                      <a:srgbClr val="111827"/>
                    </a:solidFill>
                    <a:latin typeface="Arial"/>
                  </a:rPr>
                  <a:t> is an equivalence relation on </a:t>
                </a:r>
                <a:r>
                  <a:rPr lang="en-IN" sz="2400">
                    <a:solidFill>
                      <a:srgbClr val="111827"/>
                    </a:solidFill>
                    <a:latin typeface="Cambria Math" panose="02040503050406030204" pitchFamily="18" charset="0"/>
                  </a:rPr>
                  <a:t>$\mathbb{R}$</a:t>
                </a:r>
                <a:r>
                  <a:rPr sz="2400" b="0">
                    <a:solidFill>
                      <a:srgbClr val="111827"/>
                    </a:solidFill>
                    <a:latin typeface="Arial"/>
                  </a:rPr>
                  <a:t>. Statement-2: </a:t>
                </a:r>
                <a:r>
                  <a:rPr lang="en-IN" sz="2400">
                    <a:solidFill>
                      <a:srgbClr val="111827"/>
                    </a:solidFill>
                    <a:latin typeface="Cambria Math" panose="02040503050406030204" pitchFamily="18" charset="0"/>
                  </a:rPr>
                  <a:t>$B=\{(x,y)\in\mathbb{R}\times\mathbb{R}:x=\alpha y \text{ for some rational number } \alpha\}$</a:t>
                </a:r>
                <a:r>
                  <a:rPr sz="2400" b="0">
                    <a:solidFill>
                      <a:srgbClr val="111827"/>
                    </a:solidFill>
                    <a:latin typeface="Arial"/>
                  </a:rPr>
                  <a:t> is an equivalence relation on </a:t>
                </a:r>
                <a:r>
                  <a:rPr lang="en-IN" sz="2400">
                    <a:solidFill>
                      <a:srgbClr val="111827"/>
                    </a:solidFill>
                    <a:latin typeface="Cambria Math" panose="02040503050406030204" pitchFamily="18" charset="0"/>
                  </a:rPr>
                  <a:t>$\mathbb{R}$</a:t>
                </a:r>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Statement-1 is true, Statement-2 is false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Statement-1 is false, Statement-2 is true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Statement-1 is true, Statement-2 is true; Statement-2 is a correct explanation for Statement-1</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Statement-1 is true, Statement-2 is true; Statement-2 is not a correct explanation for Statement-1</a:t>
                </a:r>
                <a:endParaRPr sz="2400">
                  <a:solidFill>
                    <a:srgbClr val="111827"/>
                  </a:solidFill>
                </a:endParaRPr>
              </a:p>
            </p:txBody>
          </p:sp>
        </mc:Fallback>
      </mc:AlternateContent>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p:sp>
        <p:nvSpPr>
          <p:cNvPr id="4" name="Rectangle 3"/>
          <p:cNvSpPr/>
          <p:nvPr/>
        </p:nvSpPr>
        <p:spPr>
          <a:xfrm>
            <a:off x="731520" y="128016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Equivalence relation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2.5(A little easier than 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438144"/>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With </a:t>
                </a:r>
                <a14:m>
                  <m:oMath xmlns:m="http://schemas.openxmlformats.org/officeDocument/2006/math">
                    <m:r>
                      <a:rPr lang="en-IN" sz="2400" i="1">
                        <a:solidFill>
                          <a:srgbClr val="78350F"/>
                        </a:solidFill>
                        <a:latin typeface="Cambria Math" panose="02040503050406030204" pitchFamily="18" charset="0"/>
                      </a:rPr>
                      <m:t>α</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we get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oMath>
                </a14:m>
                <a:r>
                  <a:rPr sz="2400" b="0">
                    <a:solidFill>
                      <a:srgbClr val="78350F"/>
                    </a:solidFill>
                    <a:latin typeface="Arial"/>
                  </a:rPr>
                  <a:t> but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oMath>
                </a14:m>
                <a:r>
                  <a:rPr sz="2400" b="0">
                    <a:solidFill>
                      <a:srgbClr val="78350F"/>
                    </a:solidFill>
                    <a:latin typeface="Arial"/>
                  </a:rPr>
                  <a:t>, so Statement-2 fails.</a:t>
                </a:r>
                <a:endParaRPr sz="2400">
                  <a:solidFill>
                    <a:srgbClr val="78350F"/>
                  </a:solidFill>
                </a:endParaRPr>
              </a:p>
            </p:txBody>
          </p:sp>
        </mc:Choice>
        <mc:Fallback>
          <p:sp>
            <p:nvSpPr>
              <p:cNvPr id="5" name="Rounded Rectangle 4"/>
              <p:cNvSpPr/>
              <p:nvPr/>
            </p:nvSpPr>
            <p:spPr>
              <a:xfrm>
                <a:off x="731520" y="3438144"/>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With </a:t>
                </a:r>
                <a:r>
                  <a:rPr lang="en-IN" sz="2400">
                    <a:solidFill>
                      <a:srgbClr val="78350F"/>
                    </a:solidFill>
                    <a:latin typeface="Cambria Math" panose="02040503050406030204" pitchFamily="18" charset="0"/>
                  </a:rPr>
                  <a:t>$\alpha=0$</a:t>
                </a:r>
                <a:r>
                  <a:rPr sz="2400" b="0">
                    <a:solidFill>
                      <a:srgbClr val="78350F"/>
                    </a:solidFill>
                    <a:latin typeface="Arial"/>
                  </a:rPr>
                  <a:t> we get </a:t>
                </a:r>
                <a:r>
                  <a:rPr lang="en-IN" sz="2400">
                    <a:solidFill>
                      <a:srgbClr val="78350F"/>
                    </a:solidFill>
                    <a:latin typeface="Cambria Math" panose="02040503050406030204" pitchFamily="18" charset="0"/>
                  </a:rPr>
                  <a:t>$(0,1)\in B$</a:t>
                </a:r>
                <a:r>
                  <a:rPr sz="2400" b="0">
                    <a:solidFill>
                      <a:srgbClr val="78350F"/>
                    </a:solidFill>
                    <a:latin typeface="Arial"/>
                  </a:rPr>
                  <a:t> but </a:t>
                </a:r>
                <a:r>
                  <a:rPr lang="en-IN" sz="2400">
                    <a:solidFill>
                      <a:srgbClr val="78350F"/>
                    </a:solidFill>
                    <a:latin typeface="Cambria Math" panose="02040503050406030204" pitchFamily="18" charset="0"/>
                  </a:rPr>
                  <a:t>$(1,0)\notin B$</a:t>
                </a:r>
                <a:r>
                  <a:rPr sz="2400" b="0">
                    <a:solidFill>
                      <a:srgbClr val="78350F"/>
                    </a:solidFill>
                    <a:latin typeface="Arial"/>
                  </a:rPr>
                  <a:t>, so Statement-2 fails.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4684776"/>
                <a:ext cx="10725912" cy="19903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Statement-1, reflexive: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is an integer,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Symmetric: if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is an integer then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is also an integer.</a:t>
                </a:r>
                <a:endParaRPr sz="2400">
                  <a:solidFill>
                    <a:srgbClr val="111827"/>
                  </a:solidFill>
                </a:endParaRPr>
              </a:p>
            </p:txBody>
          </p:sp>
        </mc:Choice>
        <mc:Fallback>
          <p:sp>
            <p:nvSpPr>
              <p:cNvPr id="6" name="Rectangle 5"/>
              <p:cNvSpPr/>
              <p:nvPr/>
            </p:nvSpPr>
            <p:spPr>
              <a:xfrm>
                <a:off x="731520" y="4684776"/>
                <a:ext cx="10725912" cy="19903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Statement-1, reflexive: </a:t>
                </a:r>
                <a:r>
                  <a:rPr lang="en-IN" sz="2400">
                    <a:solidFill>
                      <a:srgbClr val="111827"/>
                    </a:solidFill>
                    <a:latin typeface="Cambria Math" panose="02040503050406030204" pitchFamily="18" charset="0"/>
                  </a:rPr>
                  <a:t>$y-y=0$</a:t>
                </a:r>
                <a:r>
                  <a:rPr sz="2400" b="0">
                    <a:solidFill>
                      <a:srgbClr val="111827"/>
                    </a:solidFill>
                    <a:latin typeface="Arial"/>
                  </a:rPr>
                  <a:t> is an integer, so </a:t>
                </a:r>
                <a:r>
                  <a:rPr lang="en-IN" sz="2400">
                    <a:solidFill>
                      <a:srgbClr val="111827"/>
                    </a:solidFill>
                    <a:latin typeface="Cambria Math" panose="02040503050406030204" pitchFamily="18" charset="0"/>
                  </a:rPr>
                  <a:t>$(y,y)\in 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Symmetric: if </a:t>
                </a:r>
                <a:r>
                  <a:rPr lang="en-IN" sz="2400">
                    <a:solidFill>
                      <a:srgbClr val="111827"/>
                    </a:solidFill>
                    <a:latin typeface="Cambria Math" panose="02040503050406030204" pitchFamily="18" charset="0"/>
                  </a:rPr>
                  <a:t>$y-x$</a:t>
                </a:r>
                <a:r>
                  <a:rPr sz="2400" b="0">
                    <a:solidFill>
                      <a:srgbClr val="111827"/>
                    </a:solidFill>
                    <a:latin typeface="Arial"/>
                  </a:rPr>
                  <a:t> is an integer then </a:t>
                </a:r>
                <a:r>
                  <a:rPr lang="en-IN" sz="2400">
                    <a:solidFill>
                      <a:srgbClr val="111827"/>
                    </a:solidFill>
                    <a:latin typeface="Cambria Math" panose="02040503050406030204" pitchFamily="18" charset="0"/>
                  </a:rPr>
                  <a:t>$x-y$</a:t>
                </a:r>
                <a:r>
                  <a:rPr sz="2400" b="0">
                    <a:solidFill>
                      <a:srgbClr val="111827"/>
                    </a:solidFill>
                    <a:latin typeface="Arial"/>
                  </a:rPr>
                  <a:t> is also an integer.</a:t>
                </a:r>
                <a:endParaRPr sz="2400">
                  <a:solidFill>
                    <a:srgbClr val="111827"/>
                  </a:solidFill>
                </a:endParaRPr>
              </a:p>
            </p:txBody>
          </p:sp>
        </mc:Fallback>
      </mc:AlternateContent>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Transitive: if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are integers, then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an integer. So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is an equivalence relation: Statement-1 is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Statement-2, reflexive: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rational,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Symmetric fails: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since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rational.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But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since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is impossible. So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is not symmetric and not an equivalence relation: Statement-2 is false.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Statement-1 true, Statement-2 false. Answer (A).</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Transitive: if </a:t>
                </a:r>
                <a:r>
                  <a:rPr lang="en-IN" sz="2400">
                    <a:solidFill>
                      <a:srgbClr val="111827"/>
                    </a:solidFill>
                    <a:latin typeface="Cambria Math" panose="02040503050406030204" pitchFamily="18" charset="0"/>
                  </a:rPr>
                  <a:t>$y-x$</a:t>
                </a:r>
                <a:r>
                  <a:rPr sz="2400" b="0">
                    <a:solidFill>
                      <a:srgbClr val="111827"/>
                    </a:solidFill>
                    <a:latin typeface="Arial"/>
                  </a:rPr>
                  <a:t> and </a:t>
                </a:r>
                <a:r>
                  <a:rPr lang="en-IN" sz="2400">
                    <a:solidFill>
                      <a:srgbClr val="111827"/>
                    </a:solidFill>
                    <a:latin typeface="Cambria Math" panose="02040503050406030204" pitchFamily="18" charset="0"/>
                  </a:rPr>
                  <a:t>$z-y$</a:t>
                </a:r>
                <a:r>
                  <a:rPr sz="2400" b="0">
                    <a:solidFill>
                      <a:srgbClr val="111827"/>
                    </a:solidFill>
                    <a:latin typeface="Arial"/>
                  </a:rPr>
                  <a:t> are integers, then </a:t>
                </a:r>
                <a:r>
                  <a:rPr lang="en-IN" sz="2400">
                    <a:solidFill>
                      <a:srgbClr val="111827"/>
                    </a:solidFill>
                    <a:latin typeface="Cambria Math" panose="02040503050406030204" pitchFamily="18" charset="0"/>
                  </a:rPr>
                  <a:t>$z-x=(y-x)+(z-y)$</a:t>
                </a:r>
                <a:r>
                  <a:rPr sz="2400" b="0">
                    <a:solidFill>
                      <a:srgbClr val="111827"/>
                    </a:solidFill>
                    <a:latin typeface="Arial"/>
                  </a:rPr>
                  <a:t> is an integer. So </a:t>
                </a:r>
                <a:r>
                  <a:rPr lang="en-IN" sz="2400">
                    <a:solidFill>
                      <a:srgbClr val="111827"/>
                    </a:solidFill>
                    <a:latin typeface="Cambria Math" panose="02040503050406030204" pitchFamily="18" charset="0"/>
                  </a:rPr>
                  <a:t>$A$</a:t>
                </a:r>
                <a:r>
                  <a:rPr sz="2400" b="0">
                    <a:solidFill>
                      <a:srgbClr val="111827"/>
                    </a:solidFill>
                    <a:latin typeface="Arial"/>
                  </a:rPr>
                  <a:t> is an equivalence relation: Statement-1 is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Statement-2, reflexive: </a:t>
                </a:r>
                <a:r>
                  <a:rPr lang="en-IN" sz="2400">
                    <a:solidFill>
                      <a:srgbClr val="111827"/>
                    </a:solidFill>
                    <a:latin typeface="Cambria Math" panose="02040503050406030204" pitchFamily="18" charset="0"/>
                  </a:rPr>
                  <a:t>$x=1\cdot x$</a:t>
                </a:r>
                <a:r>
                  <a:rPr sz="2400" b="0">
                    <a:solidFill>
                      <a:srgbClr val="111827"/>
                    </a:solidFill>
                    <a:latin typeface="Arial"/>
                  </a:rPr>
                  <a:t> with </a:t>
                </a:r>
                <a:r>
                  <a:rPr lang="en-IN" sz="2400">
                    <a:solidFill>
                      <a:srgbClr val="111827"/>
                    </a:solidFill>
                    <a:latin typeface="Cambria Math" panose="02040503050406030204" pitchFamily="18" charset="0"/>
                  </a:rPr>
                  <a:t>$\alpha=1$</a:t>
                </a:r>
                <a:r>
                  <a:rPr sz="2400" b="0">
                    <a:solidFill>
                      <a:srgbClr val="111827"/>
                    </a:solidFill>
                    <a:latin typeface="Arial"/>
                  </a:rPr>
                  <a:t> rational, so </a:t>
                </a:r>
                <a:r>
                  <a:rPr lang="en-IN" sz="2400">
                    <a:solidFill>
                      <a:srgbClr val="111827"/>
                    </a:solidFill>
                    <a:latin typeface="Cambria Math" panose="02040503050406030204" pitchFamily="18" charset="0"/>
                  </a:rPr>
                  <a:t>$(x,x)\in 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Symmetric fails: </a:t>
                </a:r>
                <a:r>
                  <a:rPr lang="en-IN" sz="2400">
                    <a:solidFill>
                      <a:srgbClr val="111827"/>
                    </a:solidFill>
                    <a:latin typeface="Cambria Math" panose="02040503050406030204" pitchFamily="18" charset="0"/>
                  </a:rPr>
                  <a:t>$(0,1)\in B$</a:t>
                </a:r>
                <a:r>
                  <a:rPr sz="2400" b="0">
                    <a:solidFill>
                      <a:srgbClr val="111827"/>
                    </a:solidFill>
                    <a:latin typeface="Arial"/>
                  </a:rPr>
                  <a:t> since </a:t>
                </a:r>
                <a:r>
                  <a:rPr lang="en-IN" sz="2400">
                    <a:solidFill>
                      <a:srgbClr val="111827"/>
                    </a:solidFill>
                    <a:latin typeface="Cambria Math" panose="02040503050406030204" pitchFamily="18" charset="0"/>
                  </a:rPr>
                  <a:t>$0=0\cdot1$</a:t>
                </a:r>
                <a:r>
                  <a:rPr sz="2400" b="0">
                    <a:solidFill>
                      <a:srgbClr val="111827"/>
                    </a:solidFill>
                    <a:latin typeface="Arial"/>
                  </a:rPr>
                  <a:t> with </a:t>
                </a:r>
                <a:r>
                  <a:rPr lang="en-IN" sz="2400">
                    <a:solidFill>
                      <a:srgbClr val="111827"/>
                    </a:solidFill>
                    <a:latin typeface="Cambria Math" panose="02040503050406030204" pitchFamily="18" charset="0"/>
                  </a:rPr>
                  <a:t>$\alpha=0$</a:t>
                </a:r>
                <a:r>
                  <a:rPr sz="2400" b="0">
                    <a:solidFill>
                      <a:srgbClr val="111827"/>
                    </a:solidFill>
                    <a:latin typeface="Arial"/>
                  </a:rPr>
                  <a:t> rational.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But </a:t>
                </a:r>
                <a:r>
                  <a:rPr lang="en-IN" sz="2400">
                    <a:solidFill>
                      <a:srgbClr val="111827"/>
                    </a:solidFill>
                    <a:latin typeface="Cambria Math" panose="02040503050406030204" pitchFamily="18" charset="0"/>
                  </a:rPr>
                  <a:t>$(1,0)\notin B$</a:t>
                </a:r>
                <a:r>
                  <a:rPr sz="2400" b="0">
                    <a:solidFill>
                      <a:srgbClr val="111827"/>
                    </a:solidFill>
                    <a:latin typeface="Arial"/>
                  </a:rPr>
                  <a:t>, since </a:t>
                </a:r>
                <a:r>
                  <a:rPr lang="en-IN" sz="2400">
                    <a:solidFill>
                      <a:srgbClr val="111827"/>
                    </a:solidFill>
                    <a:latin typeface="Cambria Math" panose="02040503050406030204" pitchFamily="18" charset="0"/>
                  </a:rPr>
                  <a:t>$1=\alpha\cdot0$</a:t>
                </a:r>
                <a:r>
                  <a:rPr sz="2400" b="0">
                    <a:solidFill>
                      <a:srgbClr val="111827"/>
                    </a:solidFill>
                    <a:latin typeface="Arial"/>
                  </a:rPr>
                  <a:t> is impossible. So </a:t>
                </a:r>
                <a:r>
                  <a:rPr lang="en-IN" sz="2400">
                    <a:solidFill>
                      <a:srgbClr val="111827"/>
                    </a:solidFill>
                    <a:latin typeface="Cambria Math" panose="02040503050406030204" pitchFamily="18" charset="0"/>
                  </a:rPr>
                  <a:t>$B$</a:t>
                </a:r>
                <a:r>
                  <a:rPr sz="2400" b="0">
                    <a:solidFill>
                      <a:srgbClr val="111827"/>
                    </a:solidFill>
                    <a:latin typeface="Arial"/>
                  </a:rPr>
                  <a:t> is not symmetric and not an equivalence relation: Statement-2 is false.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Statement-1 true, Statement-2 false. Answer (A).</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Statement-1 is true, Statement-2 is false</a:t>
            </a:r>
            <a:endParaRPr sz="2800">
              <a:solidFill>
                <a:srgbClr val="15803D"/>
              </a:solidFill>
            </a:endParaRP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14:m>
                  <m:oMath xmlns:m="http://schemas.openxmlformats.org/officeDocument/2006/math">
                    <m:r>
                      <a:rPr lang="en-IN" sz="2400" i="1">
                        <a:solidFill>
                          <a:srgbClr val="78350F"/>
                        </a:solidFill>
                        <a:latin typeface="Cambria Math" panose="02040503050406030204" pitchFamily="18" charset="0"/>
                      </a:rPr>
                      <m:t>𝐴</m:t>
                    </m:r>
                  </m:oMath>
                </a14:m>
                <a:r>
                  <a:rPr sz="2400" b="0">
                    <a:solidFill>
                      <a:srgbClr val="78350F"/>
                    </a:solidFill>
                    <a:latin typeface="Arial"/>
                  </a:rPr>
                  <a:t> is the 'same fractional part' relation, hence an equivalence; in </a:t>
                </a:r>
                <a14:m>
                  <m:oMath xmlns:m="http://schemas.openxmlformats.org/officeDocument/2006/math">
                    <m:r>
                      <a:rPr lang="en-IN" sz="2400" i="1">
                        <a:solidFill>
                          <a:srgbClr val="78350F"/>
                        </a:solidFill>
                        <a:latin typeface="Cambria Math" panose="02040503050406030204" pitchFamily="18" charset="0"/>
                      </a:rPr>
                      <m:t>𝐵</m:t>
                    </m:r>
                  </m:oMath>
                </a14:m>
                <a:r>
                  <a:rPr sz="2400" b="0">
                    <a:solidFill>
                      <a:srgbClr val="78350F"/>
                    </a:solidFill>
                    <a:latin typeface="Arial"/>
                  </a:rPr>
                  <a:t> the number </a:t>
                </a:r>
                <a14:m>
                  <m:oMath xmlns:m="http://schemas.openxmlformats.org/officeDocument/2006/math">
                    <m:r>
                      <a:rPr lang="en-IN" sz="2400" i="1">
                        <a:solidFill>
                          <a:srgbClr val="78350F"/>
                        </a:solidFill>
                        <a:latin typeface="Cambria Math" panose="02040503050406030204" pitchFamily="18" charset="0"/>
                      </a:rPr>
                      <m:t>0</m:t>
                    </m:r>
                  </m:oMath>
                </a14:m>
                <a:r>
                  <a:rPr sz="2400" b="0">
                    <a:solidFill>
                      <a:srgbClr val="78350F"/>
                    </a:solidFill>
                    <a:latin typeface="Arial"/>
                  </a:rPr>
                  <a:t> is related to everything but nothing nonzero is related to </a:t>
                </a:r>
                <a14:m>
                  <m:oMath xmlns:m="http://schemas.openxmlformats.org/officeDocument/2006/math">
                    <m:r>
                      <a:rPr lang="en-IN" sz="2400" i="1">
                        <a:solidFill>
                          <a:srgbClr val="78350F"/>
                        </a:solidFill>
                        <a:latin typeface="Cambria Math" panose="02040503050406030204" pitchFamily="18" charset="0"/>
                      </a:rPr>
                      <m:t>0</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lang="en-IN" sz="2400">
                    <a:solidFill>
                      <a:srgbClr val="78350F"/>
                    </a:solidFill>
                    <a:latin typeface="Cambria Math" panose="02040503050406030204" pitchFamily="18" charset="0"/>
                  </a:rPr>
                  <a:t>$A$</a:t>
                </a:r>
                <a:r>
                  <a:rPr sz="2400" b="0">
                    <a:solidFill>
                      <a:srgbClr val="78350F"/>
                    </a:solidFill>
                    <a:latin typeface="Arial"/>
                  </a:rPr>
                  <a:t> is the 'same fractional part' relation, hence an equivalence; in </a:t>
                </a:r>
                <a:r>
                  <a:rPr lang="en-IN" sz="2400">
                    <a:solidFill>
                      <a:srgbClr val="78350F"/>
                    </a:solidFill>
                    <a:latin typeface="Cambria Math" panose="02040503050406030204" pitchFamily="18" charset="0"/>
                  </a:rPr>
                  <a:t>$B$</a:t>
                </a:r>
                <a:r>
                  <a:rPr sz="2400" b="0">
                    <a:solidFill>
                      <a:srgbClr val="78350F"/>
                    </a:solidFill>
                    <a:latin typeface="Arial"/>
                  </a:rPr>
                  <a:t> the number </a:t>
                </a:r>
                <a:r>
                  <a:rPr lang="en-IN" sz="2400">
                    <a:solidFill>
                      <a:srgbClr val="78350F"/>
                    </a:solidFill>
                    <a:latin typeface="Cambria Math" panose="02040503050406030204" pitchFamily="18" charset="0"/>
                  </a:rPr>
                  <a:t>$0$</a:t>
                </a:r>
                <a:r>
                  <a:rPr sz="2400" b="0">
                    <a:solidFill>
                      <a:srgbClr val="78350F"/>
                    </a:solidFill>
                    <a:latin typeface="Arial"/>
                  </a:rPr>
                  <a:t> is related to everything but nothing nonzero is related to </a:t>
                </a:r>
                <a:r>
                  <a:rPr lang="en-IN" sz="2400">
                    <a:solidFill>
                      <a:srgbClr val="78350F"/>
                    </a:solidFill>
                    <a:latin typeface="Cambria Math" panose="02040503050406030204" pitchFamily="18" charset="0"/>
                  </a:rPr>
                  <a:t>$0$</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Z</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 relation of the form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hence an equivalence relation.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the row of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is full: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𝑦</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for every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for all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But the column of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is tiny: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needs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only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$y-x\in\mathbb{Z}\iff\{x\}=\{y\}$</a:t>
                </a:r>
                <a:r>
                  <a:rPr sz="2400" b="0">
                    <a:solidFill>
                      <a:srgbClr val="111827"/>
                    </a:solidFill>
                    <a:latin typeface="Arial"/>
                  </a:rPr>
                  <a:t>, so </a:t>
                </a:r>
                <a:r>
                  <a:rPr lang="en-IN" sz="2400">
                    <a:solidFill>
                      <a:srgbClr val="111827"/>
                    </a:solidFill>
                    <a:latin typeface="Cambria Math" panose="02040503050406030204" pitchFamily="18" charset="0"/>
                  </a:rPr>
                  <a:t>$A=\{(x,y):\{x\}=\{y\}\}$</a:t>
                </a:r>
                <a:r>
                  <a:rPr sz="2400" b="0">
                    <a:solidFill>
                      <a:srgbClr val="111827"/>
                    </a:solidFill>
                    <a:latin typeface="Arial"/>
                  </a:rPr>
                  <a:t> is a relation of the form </a:t>
                </a:r>
                <a:r>
                  <a:rPr lang="en-IN" sz="2400">
                    <a:solidFill>
                      <a:srgbClr val="111827"/>
                    </a:solidFill>
                    <a:latin typeface="Cambria Math" panose="02040503050406030204" pitchFamily="18" charset="0"/>
                  </a:rPr>
                  <a:t>$f(x)=f(y)$</a:t>
                </a:r>
                <a:r>
                  <a:rPr sz="2400" b="0">
                    <a:solidFill>
                      <a:srgbClr val="111827"/>
                    </a:solidFill>
                    <a:latin typeface="Arial"/>
                  </a:rPr>
                  <a:t>, hence an equivalence relation.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t>
                </a:r>
                <a:r>
                  <a:rPr lang="en-IN" sz="2400">
                    <a:solidFill>
                      <a:srgbClr val="111827"/>
                    </a:solidFill>
                    <a:latin typeface="Cambria Math" panose="02040503050406030204" pitchFamily="18" charset="0"/>
                  </a:rPr>
                  <a:t>$B$</a:t>
                </a:r>
                <a:r>
                  <a:rPr sz="2400" b="0">
                    <a:solidFill>
                      <a:srgbClr val="111827"/>
                    </a:solidFill>
                    <a:latin typeface="Arial"/>
                  </a:rPr>
                  <a:t> the row of </a:t>
                </a:r>
                <a:r>
                  <a:rPr lang="en-IN" sz="2400">
                    <a:solidFill>
                      <a:srgbClr val="111827"/>
                    </a:solidFill>
                    <a:latin typeface="Cambria Math" panose="02040503050406030204" pitchFamily="18" charset="0"/>
                  </a:rPr>
                  <a:t>$x=0$</a:t>
                </a:r>
                <a:r>
                  <a:rPr sz="2400" b="0">
                    <a:solidFill>
                      <a:srgbClr val="111827"/>
                    </a:solidFill>
                    <a:latin typeface="Arial"/>
                  </a:rPr>
                  <a:t> is full: </a:t>
                </a:r>
                <a:r>
                  <a:rPr lang="en-IN" sz="2400">
                    <a:solidFill>
                      <a:srgbClr val="111827"/>
                    </a:solidFill>
                    <a:latin typeface="Cambria Math" panose="02040503050406030204" pitchFamily="18" charset="0"/>
                  </a:rPr>
                  <a:t>$0=\alpha y$</a:t>
                </a:r>
                <a:r>
                  <a:rPr sz="2400" b="0">
                    <a:solidFill>
                      <a:srgbClr val="111827"/>
                    </a:solidFill>
                    <a:latin typeface="Arial"/>
                  </a:rPr>
                  <a:t> with </a:t>
                </a:r>
                <a:r>
                  <a:rPr lang="en-IN" sz="2400">
                    <a:solidFill>
                      <a:srgbClr val="111827"/>
                    </a:solidFill>
                    <a:latin typeface="Cambria Math" panose="02040503050406030204" pitchFamily="18" charset="0"/>
                  </a:rPr>
                  <a:t>$\alpha=0$</a:t>
                </a:r>
                <a:r>
                  <a:rPr sz="2400" b="0">
                    <a:solidFill>
                      <a:srgbClr val="111827"/>
                    </a:solidFill>
                    <a:latin typeface="Arial"/>
                  </a:rPr>
                  <a:t> for every </a:t>
                </a:r>
                <a:r>
                  <a:rPr lang="en-IN" sz="2400">
                    <a:solidFill>
                      <a:srgbClr val="111827"/>
                    </a:solidFill>
                    <a:latin typeface="Cambria Math" panose="02040503050406030204" pitchFamily="18" charset="0"/>
                  </a:rPr>
                  <a:t>$y$</a:t>
                </a:r>
                <a:r>
                  <a:rPr sz="2400" b="0">
                    <a:solidFill>
                      <a:srgbClr val="111827"/>
                    </a:solidFill>
                    <a:latin typeface="Arial"/>
                  </a:rPr>
                  <a:t>, so </a:t>
                </a:r>
                <a:r>
                  <a:rPr lang="en-IN" sz="2400">
                    <a:solidFill>
                      <a:srgbClr val="111827"/>
                    </a:solidFill>
                    <a:latin typeface="Cambria Math" panose="02040503050406030204" pitchFamily="18" charset="0"/>
                  </a:rPr>
                  <a:t>$(0,y)\in B$</a:t>
                </a:r>
                <a:r>
                  <a:rPr sz="2400" b="0">
                    <a:solidFill>
                      <a:srgbClr val="111827"/>
                    </a:solidFill>
                    <a:latin typeface="Arial"/>
                  </a:rPr>
                  <a:t> for all </a:t>
                </a:r>
                <a:r>
                  <a:rPr lang="en-IN" sz="2400">
                    <a:solidFill>
                      <a:srgbClr val="111827"/>
                    </a:solidFill>
                    <a:latin typeface="Cambria Math" panose="02040503050406030204" pitchFamily="18" charset="0"/>
                  </a:rPr>
                  <a:t>$y$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But the column of </a:t>
                </a:r>
                <a:r>
                  <a:rPr lang="en-IN" sz="2400">
                    <a:solidFill>
                      <a:srgbClr val="111827"/>
                    </a:solidFill>
                    <a:latin typeface="Cambria Math" panose="02040503050406030204" pitchFamily="18" charset="0"/>
                  </a:rPr>
                  <a:t>$0$</a:t>
                </a:r>
                <a:r>
                  <a:rPr sz="2400" b="0">
                    <a:solidFill>
                      <a:srgbClr val="111827"/>
                    </a:solidFill>
                    <a:latin typeface="Arial"/>
                  </a:rPr>
                  <a:t> is tiny: </a:t>
                </a:r>
                <a:r>
                  <a:rPr lang="en-IN" sz="2400">
                    <a:solidFill>
                      <a:srgbClr val="111827"/>
                    </a:solidFill>
                    <a:latin typeface="Cambria Math" panose="02040503050406030204" pitchFamily="18" charset="0"/>
                  </a:rPr>
                  <a:t>$(y,0)\in B$</a:t>
                </a:r>
                <a:r>
                  <a:rPr sz="2400" b="0">
                    <a:solidFill>
                      <a:srgbClr val="111827"/>
                    </a:solidFill>
                    <a:latin typeface="Arial"/>
                  </a:rPr>
                  <a:t> needs </a:t>
                </a:r>
                <a:r>
                  <a:rPr lang="en-IN" sz="2400">
                    <a:solidFill>
                      <a:srgbClr val="111827"/>
                    </a:solidFill>
                    <a:latin typeface="Cambria Math" panose="02040503050406030204" pitchFamily="18" charset="0"/>
                  </a:rPr>
                  <a:t>$y=\alpha\cdot0=0$</a:t>
                </a:r>
                <a:r>
                  <a:rPr sz="2400" b="0">
                    <a:solidFill>
                      <a:srgbClr val="111827"/>
                    </a:solidFill>
                    <a:latin typeface="Arial"/>
                  </a:rPr>
                  <a:t>, so only </a:t>
                </a:r>
                <a:r>
                  <a:rPr lang="en-IN" sz="2400">
                    <a:solidFill>
                      <a:srgbClr val="111827"/>
                    </a:solidFill>
                    <a:latin typeface="Cambria Math" panose="02040503050406030204" pitchFamily="18" charset="0"/>
                  </a:rPr>
                  <a:t>$y=0$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An equivalence relation is symmetric, so row and column of any element must coincide; they do not for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is not an equivalence relation.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Statement-1 true, Statement-2 false: (A).</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An equivalence relation is symmetric, so row and column of any element must coincide; they do not for </a:t>
                </a:r>
                <a:r>
                  <a:rPr lang="en-IN" sz="2400">
                    <a:solidFill>
                      <a:srgbClr val="111827"/>
                    </a:solidFill>
                    <a:latin typeface="Cambria Math" panose="02040503050406030204" pitchFamily="18" charset="0"/>
                  </a:rPr>
                  <a:t>$0$</a:t>
                </a:r>
                <a:r>
                  <a:rPr sz="2400" b="0">
                    <a:solidFill>
                      <a:srgbClr val="111827"/>
                    </a:solidFill>
                    <a:latin typeface="Arial"/>
                  </a:rPr>
                  <a:t>. </a:t>
                </a:r>
                <a:r>
                  <a:rPr lang="en-IN" sz="2400">
                    <a:solidFill>
                      <a:srgbClr val="111827"/>
                    </a:solidFill>
                    <a:latin typeface="Cambria Math" panose="02040503050406030204" pitchFamily="18" charset="0"/>
                  </a:rPr>
                  <a:t>$B$</a:t>
                </a:r>
                <a:r>
                  <a:rPr sz="2400" b="0">
                    <a:solidFill>
                      <a:srgbClr val="111827"/>
                    </a:solidFill>
                    <a:latin typeface="Arial"/>
                  </a:rPr>
                  <a:t> is not an equivalence relation.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Statement-1 true, Statement-2 false: (A).</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Statement-1 is true, Statement-2 is false</a:t>
            </a:r>
            <a:endParaRPr sz="2800">
              <a:solidFill>
                <a:srgbClr val="15803D"/>
              </a:solidFill>
            </a:endParaRP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the relation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𝑦</m:t>
                    </m:r>
                  </m:oMath>
                </a14:m>
                <a:r>
                  <a:rPr sz="2400" b="0">
                    <a:solidFill>
                      <a:srgbClr val="111827"/>
                    </a:solidFill>
                    <a:latin typeface="Arial"/>
                  </a:rPr>
                  <a:t> the zero element is the only obstruction to symmetry; with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Q</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on </a:t>
                </a:r>
                <a14:m>
                  <m:oMath xmlns:m="http://schemas.openxmlformats.org/officeDocument/2006/math">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it would be an equivalence.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an equivalence relation the set of elements related to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equals the set of elements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is related to; a lopsided element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here) rules it out.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'Differs by an integer' is equality of fractional parts, with one class for each value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the relation </a:t>
                </a:r>
                <a:r>
                  <a:rPr lang="en-IN" sz="2400">
                    <a:solidFill>
                      <a:srgbClr val="111827"/>
                    </a:solidFill>
                    <a:latin typeface="Cambria Math" panose="02040503050406030204" pitchFamily="18" charset="0"/>
                  </a:rPr>
                  <a:t>$x=\alpha y$</a:t>
                </a:r>
                <a:r>
                  <a:rPr sz="2400" b="0">
                    <a:solidFill>
                      <a:srgbClr val="111827"/>
                    </a:solidFill>
                    <a:latin typeface="Arial"/>
                  </a:rPr>
                  <a:t> the zero element is the only obstruction to symmetry; with </a:t>
                </a:r>
                <a:r>
                  <a:rPr lang="en-IN" sz="2400">
                    <a:solidFill>
                      <a:srgbClr val="111827"/>
                    </a:solidFill>
                    <a:latin typeface="Cambria Math" panose="02040503050406030204" pitchFamily="18" charset="0"/>
                  </a:rPr>
                  <a:t>$\alpha\in\mathbb{Q}\setminus\{0\}$</a:t>
                </a:r>
                <a:r>
                  <a:rPr sz="2400" b="0">
                    <a:solidFill>
                      <a:srgbClr val="111827"/>
                    </a:solidFill>
                    <a:latin typeface="Arial"/>
                  </a:rPr>
                  <a:t> on </a:t>
                </a:r>
                <a:r>
                  <a:rPr lang="en-IN" sz="2400">
                    <a:solidFill>
                      <a:srgbClr val="111827"/>
                    </a:solidFill>
                    <a:latin typeface="Cambria Math" panose="02040503050406030204" pitchFamily="18" charset="0"/>
                  </a:rPr>
                  <a:t>$\mathbb{R}$</a:t>
                </a:r>
                <a:r>
                  <a:rPr sz="2400" b="0">
                    <a:solidFill>
                      <a:srgbClr val="111827"/>
                    </a:solidFill>
                    <a:latin typeface="Arial"/>
                  </a:rPr>
                  <a:t> it would be an equivalence.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an equivalence relation the set of elements related to </a:t>
                </a:r>
                <a:r>
                  <a:rPr lang="en-IN" sz="2400">
                    <a:solidFill>
                      <a:srgbClr val="111827"/>
                    </a:solidFill>
                    <a:latin typeface="Cambria Math" panose="02040503050406030204" pitchFamily="18" charset="0"/>
                  </a:rPr>
                  <a:t>$a$</a:t>
                </a:r>
                <a:r>
                  <a:rPr sz="2400" b="0">
                    <a:solidFill>
                      <a:srgbClr val="111827"/>
                    </a:solidFill>
                    <a:latin typeface="Arial"/>
                  </a:rPr>
                  <a:t> equals the set of elements </a:t>
                </a:r>
                <a:r>
                  <a:rPr lang="en-IN" sz="2400">
                    <a:solidFill>
                      <a:srgbClr val="111827"/>
                    </a:solidFill>
                    <a:latin typeface="Cambria Math" panose="02040503050406030204" pitchFamily="18" charset="0"/>
                  </a:rPr>
                  <a:t>$a$</a:t>
                </a:r>
                <a:r>
                  <a:rPr sz="2400" b="0">
                    <a:solidFill>
                      <a:srgbClr val="111827"/>
                    </a:solidFill>
                    <a:latin typeface="Arial"/>
                  </a:rPr>
                  <a:t> is related to; a lopsided element (</a:t>
                </a:r>
                <a:r>
                  <a:rPr lang="en-IN" sz="2400">
                    <a:solidFill>
                      <a:srgbClr val="111827"/>
                    </a:solidFill>
                    <a:latin typeface="Cambria Math" panose="02040503050406030204" pitchFamily="18" charset="0"/>
                  </a:rPr>
                  <a:t>$0$</a:t>
                </a:r>
                <a:r>
                  <a:rPr sz="2400" b="0">
                    <a:solidFill>
                      <a:srgbClr val="111827"/>
                    </a:solidFill>
                    <a:latin typeface="Arial"/>
                  </a:rPr>
                  <a:t> here) rules it out.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'Differs by an integer' is equality of fractional parts, with one class for each value in </a:t>
                </a:r>
                <a:r>
                  <a:rPr lang="en-IN" sz="2400">
                    <a:solidFill>
                      <a:srgbClr val="111827"/>
                    </a:solidFill>
                    <a:latin typeface="Cambria Math" panose="02040503050406030204" pitchFamily="18" charset="0"/>
                  </a:rPr>
                  <a:t>$[0,1)$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44932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Consider the following relation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on the set of real square matrices of order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𝑃</m:t>
                    </m:r>
                    <m:r>
                      <m:rPr>
                        <m:nor/>
                      </m:rPr>
                      <a:rPr lang="en-IN" sz="2400" i="1">
                        <a:solidFill>
                          <a:srgbClr val="111827"/>
                        </a:solidFill>
                        <a:latin typeface="Cambria Math" panose="02040503050406030204" pitchFamily="18" charset="0"/>
                      </a:rPr>
                      <m:t> 𝑓𝑜𝑟 𝑠𝑜𝑚𝑒 𝑖𝑛𝑣𝑒𝑟𝑡𝑖𝑏𝑙𝑒 𝑚𝑎𝑡𝑟𝑖𝑥 </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Statement-1: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an equivalence relation. Statement-2: For any two invertible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matrices </a:t>
                </a:r>
                <a14:m>
                  <m:oMath xmlns:m="http://schemas.openxmlformats.org/officeDocument/2006/math">
                    <m:r>
                      <a:rPr lang="en-IN" sz="2400" i="1">
                        <a:solidFill>
                          <a:srgbClr val="111827"/>
                        </a:solidFill>
                        <a:latin typeface="Cambria Math" panose="02040503050406030204" pitchFamily="18" charset="0"/>
                      </a:rPr>
                      <m:t>𝑀</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𝑁</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r>
                      <a:rPr lang="en-IN" sz="2400" i="1">
                        <a:solidFill>
                          <a:srgbClr val="111827"/>
                        </a:solidFill>
                        <a:latin typeface="Cambria Math" panose="02040503050406030204" pitchFamily="18" charset="0"/>
                      </a:rPr>
                      <m:t>𝑁</m:t>
                    </m:r>
                    <m:sSup>
                      <m:e>
                        <m:r>
                          <m:rPr>
                            <m:sty m:val="p"/>
                          </m:rPr>
                          <a:rPr lang="en-IN" sz="2400">
                            <a:solidFill>
                              <a:srgbClr val="111827"/>
                            </a:solidFill>
                            <a:latin typeface="Cambria Math" panose="02040503050406030204" pitchFamily="18" charset="0"/>
                          </a:rPr>
                          <m:t>)</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𝑁</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sSup>
                      <m:e>
                        <m:r>
                          <a:rPr lang="en-IN" sz="2400" i="1">
                            <a:solidFill>
                              <a:srgbClr val="111827"/>
                            </a:solidFill>
                            <a:latin typeface="Cambria Math" panose="02040503050406030204" pitchFamily="18" charset="0"/>
                          </a:rPr>
                          <m:t>𝑀</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Statement-1 is false, statement-2 is true.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Statement-1 is true, statement-2 is true; Statement-2 is correct explanation for statement-1.</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Statement-1 is true, statement-2 is true; Statement-2 is not a correct explanation for statement-1.</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Statement-1 is true, statement-2 is false.</a:t>
                </a:r>
                <a:endParaRPr sz="2400">
                  <a:solidFill>
                    <a:srgbClr val="111827"/>
                  </a:solidFill>
                </a:endParaRPr>
              </a:p>
            </p:txBody>
          </p:sp>
        </mc:Choice>
        <mc:Fallback>
          <p:sp>
            <p:nvSpPr>
              <p:cNvPr id="4" name="Rounded Rectangle 3"/>
              <p:cNvSpPr/>
              <p:nvPr/>
            </p:nvSpPr>
            <p:spPr>
              <a:xfrm>
                <a:off x="731520" y="1280160"/>
                <a:ext cx="10725912" cy="44932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Consider the following relation </a:t>
                </a:r>
                <a:r>
                  <a:rPr lang="en-IN" sz="2400">
                    <a:solidFill>
                      <a:srgbClr val="111827"/>
                    </a:solidFill>
                    <a:latin typeface="Cambria Math" panose="02040503050406030204" pitchFamily="18" charset="0"/>
                  </a:rPr>
                  <a:t>$R$</a:t>
                </a:r>
                <a:r>
                  <a:rPr sz="2400" b="0">
                    <a:solidFill>
                      <a:srgbClr val="111827"/>
                    </a:solidFill>
                    <a:latin typeface="Arial"/>
                  </a:rPr>
                  <a:t> on the set of real square matrices of order </a:t>
                </a:r>
                <a:r>
                  <a:rPr lang="en-IN" sz="2400">
                    <a:solidFill>
                      <a:srgbClr val="111827"/>
                    </a:solidFill>
                    <a:latin typeface="Cambria Math" panose="02040503050406030204" pitchFamily="18" charset="0"/>
                  </a:rPr>
                  <a:t>$3$</a:t>
                </a:r>
                <a:r>
                  <a:rPr sz="2400" b="0">
                    <a:solidFill>
                      <a:srgbClr val="111827"/>
                    </a:solidFill>
                    <a:latin typeface="Arial"/>
                  </a:rPr>
                  <a:t>: </a:t>
                </a:r>
                <a:r>
                  <a:rPr lang="en-IN" sz="2400">
                    <a:solidFill>
                      <a:srgbClr val="111827"/>
                    </a:solidFill>
                    <a:latin typeface="Cambria Math" panose="02040503050406030204" pitchFamily="18" charset="0"/>
                  </a:rPr>
                  <a:t>$R=\{(A,B):A=P^{-1}BP \text{ for some invertible matrix } P\}$</a:t>
                </a:r>
                <a:r>
                  <a:rPr sz="2400" b="0">
                    <a:solidFill>
                      <a:srgbClr val="111827"/>
                    </a:solidFill>
                    <a:latin typeface="Arial"/>
                  </a:rPr>
                  <a:t>. Statement-1: </a:t>
                </a:r>
                <a:r>
                  <a:rPr lang="en-IN" sz="2400">
                    <a:solidFill>
                      <a:srgbClr val="111827"/>
                    </a:solidFill>
                    <a:latin typeface="Cambria Math" panose="02040503050406030204" pitchFamily="18" charset="0"/>
                  </a:rPr>
                  <a:t>$R$</a:t>
                </a:r>
                <a:r>
                  <a:rPr sz="2400" b="0">
                    <a:solidFill>
                      <a:srgbClr val="111827"/>
                    </a:solidFill>
                    <a:latin typeface="Arial"/>
                  </a:rPr>
                  <a:t> is an equivalence relation. Statement-2: For any two invertible </a:t>
                </a:r>
                <a:r>
                  <a:rPr lang="en-IN" sz="2400">
                    <a:solidFill>
                      <a:srgbClr val="111827"/>
                    </a:solidFill>
                    <a:latin typeface="Cambria Math" panose="02040503050406030204" pitchFamily="18" charset="0"/>
                  </a:rPr>
                  <a:t>$3\times3$</a:t>
                </a:r>
                <a:r>
                  <a:rPr sz="2400" b="0">
                    <a:solidFill>
                      <a:srgbClr val="111827"/>
                    </a:solidFill>
                    <a:latin typeface="Arial"/>
                  </a:rPr>
                  <a:t> matrices </a:t>
                </a:r>
                <a:r>
                  <a:rPr lang="en-IN" sz="2400">
                    <a:solidFill>
                      <a:srgbClr val="111827"/>
                    </a:solidFill>
                    <a:latin typeface="Cambria Math" panose="02040503050406030204" pitchFamily="18" charset="0"/>
                  </a:rPr>
                  <a:t>$M$</a:t>
                </a:r>
                <a:r>
                  <a:rPr sz="2400" b="0">
                    <a:solidFill>
                      <a:srgbClr val="111827"/>
                    </a:solidFill>
                    <a:latin typeface="Arial"/>
                  </a:rPr>
                  <a:t> and </a:t>
                </a:r>
                <a:r>
                  <a:rPr lang="en-IN" sz="2400">
                    <a:solidFill>
                      <a:srgbClr val="111827"/>
                    </a:solidFill>
                    <a:latin typeface="Cambria Math" panose="02040503050406030204" pitchFamily="18" charset="0"/>
                  </a:rPr>
                  <a:t>$N$</a:t>
                </a:r>
                <a:r>
                  <a:rPr sz="2400" b="0">
                    <a:solidFill>
                      <a:srgbClr val="111827"/>
                    </a:solidFill>
                    <a:latin typeface="Arial"/>
                  </a:rPr>
                  <a:t>, </a:t>
                </a:r>
                <a:r>
                  <a:rPr lang="en-IN" sz="2400">
                    <a:solidFill>
                      <a:srgbClr val="111827"/>
                    </a:solidFill>
                    <a:latin typeface="Cambria Math" panose="02040503050406030204" pitchFamily="18" charset="0"/>
                  </a:rPr>
                  <a:t>$(MN)^{-1}=N^{-1}M^{-1}$</a:t>
                </a:r>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Statement-1 is false, statement-2 is true.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Statement-1 is true, statement-2 is true; Statement-2 is correct explanation for statement-1.</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Statement-1 is true, statement-2 is true; Statement-2 is not a correct explanation for statement-1.</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Statement-1 is true, statement-2 is false.</a:t>
                </a:r>
                <a:endParaRPr sz="2400">
                  <a:solidFill>
                    <a:srgbClr val="111827"/>
                  </a:solidFill>
                </a:endParaRPr>
              </a:p>
            </p:txBody>
          </p:sp>
        </mc:Fallback>
      </mc:AlternateContent>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p:sp>
        <p:nvSpPr>
          <p:cNvPr id="4" name="Rectangle 3"/>
          <p:cNvSpPr/>
          <p:nvPr/>
        </p:nvSpPr>
        <p:spPr>
          <a:xfrm>
            <a:off x="731520" y="128016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Equivalence relation, Inverse of a product of matrices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2.5(A little easier than 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65760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Transitivity gives </a:t>
                </a:r>
                <a14:m>
                  <m:oMath xmlns:m="http://schemas.openxmlformats.org/officeDocument/2006/math">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𝑄</m:t>
                    </m:r>
                    <m:r>
                      <a:rPr lang="en-IN" sz="2400" i="1">
                        <a:solidFill>
                          <a:srgbClr val="78350F"/>
                        </a:solidFill>
                        <a:latin typeface="Cambria Math" panose="02040503050406030204" pitchFamily="18" charset="0"/>
                      </a:rPr>
                      <m:t>𝑃</m:t>
                    </m:r>
                    <m:sSup>
                      <m:e>
                        <m:r>
                          <m:rPr>
                            <m:sty m:val="p"/>
                          </m:rPr>
                          <a:rPr lang="en-IN" sz="2400">
                            <a:solidFill>
                              <a:srgbClr val="78350F"/>
                            </a:solidFill>
                            <a:latin typeface="Cambria Math" panose="02040503050406030204" pitchFamily="18" charset="0"/>
                          </a:rPr>
                          <m:t>)</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r>
                      <a:rPr lang="en-IN" sz="2400" i="1">
                        <a:solidFill>
                          <a:srgbClr val="78350F"/>
                        </a:solidFill>
                        <a:latin typeface="Cambria Math" panose="02040503050406030204" pitchFamily="18" charset="0"/>
                      </a:rPr>
                      <m:t>𝐶</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𝑄</m:t>
                    </m:r>
                    <m:r>
                      <a:rPr lang="en-IN" sz="2400" i="1">
                        <a:solidFill>
                          <a:srgbClr val="78350F"/>
                        </a:solidFill>
                        <a:latin typeface="Cambria Math" panose="02040503050406030204" pitchFamily="18" charset="0"/>
                      </a:rPr>
                      <m:t>𝑃</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and the identity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𝑄</m:t>
                    </m:r>
                    <m:r>
                      <a:rPr lang="en-IN" sz="2400" i="1">
                        <a:solidFill>
                          <a:srgbClr val="78350F"/>
                        </a:solidFill>
                        <a:latin typeface="Cambria Math" panose="02040503050406030204" pitchFamily="18" charset="0"/>
                      </a:rPr>
                      <m:t>𝑃</m:t>
                    </m:r>
                    <m:sSup>
                      <m:e>
                        <m:r>
                          <m:rPr>
                            <m:sty m:val="p"/>
                          </m:rPr>
                          <a:rPr lang="en-IN" sz="2400">
                            <a:solidFill>
                              <a:srgbClr val="78350F"/>
                            </a:solidFill>
                            <a:latin typeface="Cambria Math" panose="02040503050406030204" pitchFamily="18" charset="0"/>
                          </a:rPr>
                          <m:t>)</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𝑃</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sSup>
                      <m:e>
                        <m:r>
                          <a:rPr lang="en-IN" sz="2400" i="1">
                            <a:solidFill>
                              <a:srgbClr val="78350F"/>
                            </a:solidFill>
                            <a:latin typeface="Cambria Math" panose="02040503050406030204" pitchFamily="18" charset="0"/>
                          </a:rPr>
                          <m:t>𝑄</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oMath>
                </a14:m>
                <a:r>
                  <a:rPr sz="2400" b="0">
                    <a:solidFill>
                      <a:srgbClr val="78350F"/>
                    </a:solidFill>
                    <a:latin typeface="Arial"/>
                  </a:rPr>
                  <a:t> is exactly Statement-2.</a:t>
                </a:r>
                <a:endParaRPr sz="2400">
                  <a:solidFill>
                    <a:srgbClr val="78350F"/>
                  </a:solidFill>
                </a:endParaRPr>
              </a:p>
            </p:txBody>
          </p:sp>
        </mc:Choice>
        <mc:Fallback>
          <p:sp>
            <p:nvSpPr>
              <p:cNvPr id="5" name="Rounded Rectangle 4"/>
              <p:cNvSpPr/>
              <p:nvPr/>
            </p:nvSpPr>
            <p:spPr>
              <a:xfrm>
                <a:off x="731520" y="365760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Transitivity gives </a:t>
                </a:r>
                <a:r>
                  <a:rPr lang="en-IN" sz="2400">
                    <a:solidFill>
                      <a:srgbClr val="78350F"/>
                    </a:solidFill>
                    <a:latin typeface="Cambria Math" panose="02040503050406030204" pitchFamily="18" charset="0"/>
                  </a:rPr>
                  <a:t>$A=(QP)^{-1}C(QP)$</a:t>
                </a:r>
                <a:r>
                  <a:rPr sz="2400" b="0">
                    <a:solidFill>
                      <a:srgbClr val="78350F"/>
                    </a:solidFill>
                    <a:latin typeface="Arial"/>
                  </a:rPr>
                  <a:t>, and the identity </a:t>
                </a:r>
                <a:r>
                  <a:rPr lang="en-IN" sz="2400">
                    <a:solidFill>
                      <a:srgbClr val="78350F"/>
                    </a:solidFill>
                    <a:latin typeface="Cambria Math" panose="02040503050406030204" pitchFamily="18" charset="0"/>
                  </a:rPr>
                  <a:t>$(QP)^{-1}=P^{-1}Q^{-1}$</a:t>
                </a:r>
                <a:r>
                  <a:rPr sz="2400" b="0">
                    <a:solidFill>
                      <a:srgbClr val="78350F"/>
                    </a:solidFill>
                    <a:latin typeface="Arial"/>
                  </a:rPr>
                  <a:t> is exactly Statement-2.</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4904232"/>
                <a:ext cx="10725912" cy="17708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Reflexive: take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𝐼</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𝐼</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Symmetric: let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𝑃</m:t>
                    </m:r>
                  </m:oMath>
                </a14:m>
                <a:r>
                  <a:rPr sz="2400" b="0">
                    <a:solidFill>
                      <a:srgbClr val="111827"/>
                    </a:solidFill>
                    <a:latin typeface="Arial"/>
                  </a:rPr>
                  <a:t>. Multiply on the left by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and on the right by </a:t>
                </a:r>
                <a14:m>
                  <m:oMath xmlns:m="http://schemas.openxmlformats.org/officeDocument/2006/math">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sSup>
                      <m:e>
                        <m:r>
                          <m:rPr>
                            <m:sty m:val="p"/>
                          </m:rPr>
                          <a:rPr lang="en-IN" sz="2400">
                            <a:solidFill>
                              <a:srgbClr val="111827"/>
                            </a:solidFill>
                            <a:latin typeface="Cambria Math" panose="02040503050406030204" pitchFamily="18" charset="0"/>
                          </a:rPr>
                          <m:t>)</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4904232"/>
                <a:ext cx="10725912" cy="17708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Reflexive: take </a:t>
                </a:r>
                <a:r>
                  <a:rPr lang="en-IN" sz="2400">
                    <a:solidFill>
                      <a:srgbClr val="111827"/>
                    </a:solidFill>
                    <a:latin typeface="Cambria Math" panose="02040503050406030204" pitchFamily="18" charset="0"/>
                  </a:rPr>
                  <a:t>$P=I$</a:t>
                </a:r>
                <a:r>
                  <a:rPr sz="2400" b="0">
                    <a:solidFill>
                      <a:srgbClr val="111827"/>
                    </a:solidFill>
                    <a:latin typeface="Arial"/>
                  </a:rPr>
                  <a:t>; then </a:t>
                </a:r>
                <a:r>
                  <a:rPr lang="en-IN" sz="2400">
                    <a:solidFill>
                      <a:srgbClr val="111827"/>
                    </a:solidFill>
                    <a:latin typeface="Cambria Math" panose="02040503050406030204" pitchFamily="18" charset="0"/>
                  </a:rPr>
                  <a:t>$A=I^{-1}AI$</a:t>
                </a:r>
                <a:r>
                  <a:rPr sz="2400" b="0">
                    <a:solidFill>
                      <a:srgbClr val="111827"/>
                    </a:solidFill>
                    <a:latin typeface="Arial"/>
                  </a:rPr>
                  <a:t>, so </a:t>
                </a:r>
                <a:r>
                  <a:rPr lang="en-IN" sz="2400">
                    <a:solidFill>
                      <a:srgbClr val="111827"/>
                    </a:solidFill>
                    <a:latin typeface="Cambria Math" panose="02040503050406030204" pitchFamily="18" charset="0"/>
                  </a:rPr>
                  <a:t>$(A,A)\in 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Symmetric: let </a:t>
                </a:r>
                <a:r>
                  <a:rPr lang="en-IN" sz="2400">
                    <a:solidFill>
                      <a:srgbClr val="111827"/>
                    </a:solidFill>
                    <a:latin typeface="Cambria Math" panose="02040503050406030204" pitchFamily="18" charset="0"/>
                  </a:rPr>
                  <a:t>$A=P^{-1}BP$</a:t>
                </a:r>
                <a:r>
                  <a:rPr sz="2400" b="0">
                    <a:solidFill>
                      <a:srgbClr val="111827"/>
                    </a:solidFill>
                    <a:latin typeface="Arial"/>
                  </a:rPr>
                  <a:t>. Multiply on the left by </a:t>
                </a:r>
                <a:r>
                  <a:rPr lang="en-IN" sz="2400">
                    <a:solidFill>
                      <a:srgbClr val="111827"/>
                    </a:solidFill>
                    <a:latin typeface="Cambria Math" panose="02040503050406030204" pitchFamily="18" charset="0"/>
                  </a:rPr>
                  <a:t>$P$</a:t>
                </a:r>
                <a:r>
                  <a:rPr sz="2400" b="0">
                    <a:solidFill>
                      <a:srgbClr val="111827"/>
                    </a:solidFill>
                    <a:latin typeface="Arial"/>
                  </a:rPr>
                  <a:t> and on the right by </a:t>
                </a:r>
                <a:r>
                  <a:rPr lang="en-IN" sz="2400">
                    <a:solidFill>
                      <a:srgbClr val="111827"/>
                    </a:solidFill>
                    <a:latin typeface="Cambria Math" panose="02040503050406030204" pitchFamily="18" charset="0"/>
                  </a:rPr>
                  <a:t>$P^{-1}$</a:t>
                </a:r>
                <a:r>
                  <a:rPr sz="2400" b="0">
                    <a:solidFill>
                      <a:srgbClr val="111827"/>
                    </a:solidFill>
                    <a:latin typeface="Arial"/>
                  </a:rPr>
                  <a:t>: </a:t>
                </a:r>
                <a:r>
                  <a:rPr lang="en-IN" sz="2400">
                    <a:solidFill>
                      <a:srgbClr val="111827"/>
                    </a:solidFill>
                    <a:latin typeface="Cambria Math" panose="02040503050406030204" pitchFamily="18" charset="0"/>
                  </a:rPr>
                  <a:t>$B=PAP^{-1}=(P^{-1})^{-1}A\,(P^{-1})$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is invertible,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Transitive: let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𝑃</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𝑄</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𝑄</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sSup>
                      <m:e>
                        <m:r>
                          <a:rPr lang="en-IN" sz="2400" i="1">
                            <a:solidFill>
                              <a:srgbClr val="111827"/>
                            </a:solidFill>
                            <a:latin typeface="Cambria Math" panose="02040503050406030204" pitchFamily="18" charset="0"/>
                          </a:rPr>
                          <m:t>𝑄</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𝑄</m:t>
                    </m:r>
                    <m:r>
                      <a:rPr lang="en-IN" sz="2400" i="1">
                        <a:solidFill>
                          <a:srgbClr val="111827"/>
                        </a:solidFill>
                        <a:latin typeface="Cambria Math" panose="02040503050406030204" pitchFamily="18" charset="0"/>
                      </a:rPr>
                      <m:t>𝑃</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Statement-2, </a:t>
                </a:r>
                <a14:m>
                  <m:oMath xmlns:m="http://schemas.openxmlformats.org/officeDocument/2006/math">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sSup>
                      <m:e>
                        <m:r>
                          <a:rPr lang="en-IN" sz="2400" i="1">
                            <a:solidFill>
                              <a:srgbClr val="111827"/>
                            </a:solidFill>
                            <a:latin typeface="Cambria Math" panose="02040503050406030204" pitchFamily="18" charset="0"/>
                          </a:rPr>
                          <m:t>𝑄</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𝑄</m:t>
                    </m:r>
                    <m:r>
                      <a:rPr lang="en-IN" sz="2400" i="1">
                        <a:solidFill>
                          <a:srgbClr val="111827"/>
                        </a:solidFill>
                        <a:latin typeface="Cambria Math" panose="02040503050406030204" pitchFamily="18" charset="0"/>
                      </a:rPr>
                      <m:t>𝑃</m:t>
                    </m:r>
                    <m:sSup>
                      <m:e>
                        <m:r>
                          <m:rPr>
                            <m:sty m:val="p"/>
                          </m:rPr>
                          <a:rPr lang="en-IN" sz="2400">
                            <a:solidFill>
                              <a:srgbClr val="111827"/>
                            </a:solidFill>
                            <a:latin typeface="Cambria Math" panose="02040503050406030204" pitchFamily="18" charset="0"/>
                          </a:rPr>
                          <m:t>)</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𝑄</m:t>
                    </m:r>
                    <m:r>
                      <a:rPr lang="en-IN" sz="2400" i="1">
                        <a:solidFill>
                          <a:srgbClr val="111827"/>
                        </a:solidFill>
                        <a:latin typeface="Cambria Math" panose="02040503050406030204" pitchFamily="18" charset="0"/>
                      </a:rPr>
                      <m:t>𝑃</m:t>
                    </m:r>
                    <m:sSup>
                      <m:e>
                        <m:r>
                          <m:rPr>
                            <m:sty m:val="p"/>
                          </m:rPr>
                          <a:rPr lang="en-IN" sz="2400">
                            <a:solidFill>
                              <a:srgbClr val="111827"/>
                            </a:solidFill>
                            <a:latin typeface="Cambria Math" panose="02040503050406030204" pitchFamily="18" charset="0"/>
                          </a:rPr>
                          <m:t>)</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𝑄</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𝑄</m:t>
                    </m:r>
                    <m:r>
                      <a:rPr lang="en-IN" sz="2400" i="1">
                        <a:solidFill>
                          <a:srgbClr val="111827"/>
                        </a:solidFill>
                        <a:latin typeface="Cambria Math" panose="02040503050406030204" pitchFamily="18" charset="0"/>
                      </a:rPr>
                      <m:t>𝑃</m:t>
                    </m:r>
                  </m:oMath>
                </a14:m>
                <a:r>
                  <a:rPr sz="2400" b="0">
                    <a:solidFill>
                      <a:srgbClr val="111827"/>
                    </a:solidFill>
                    <a:latin typeface="Arial"/>
                  </a:rPr>
                  <a:t> invertible; hence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an equivalence relation: Statement-1 is true. Statement-2 is the standard identity: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Statement-2 is used in the transitivity step, so it is a correct explanation. Answer (B).</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$P^{-1}$</a:t>
                </a:r>
                <a:r>
                  <a:rPr sz="2400" b="0">
                    <a:solidFill>
                      <a:srgbClr val="111827"/>
                    </a:solidFill>
                    <a:latin typeface="Arial"/>
                  </a:rPr>
                  <a:t> is invertible, </a:t>
                </a:r>
                <a:r>
                  <a:rPr lang="en-IN" sz="2400">
                    <a:solidFill>
                      <a:srgbClr val="111827"/>
                    </a:solidFill>
                    <a:latin typeface="Cambria Math" panose="02040503050406030204" pitchFamily="18" charset="0"/>
                  </a:rPr>
                  <a:t>$(B,A)\in 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Transitive: let </a:t>
                </a:r>
                <a:r>
                  <a:rPr lang="en-IN" sz="2400">
                    <a:solidFill>
                      <a:srgbClr val="111827"/>
                    </a:solidFill>
                    <a:latin typeface="Cambria Math" panose="02040503050406030204" pitchFamily="18" charset="0"/>
                  </a:rPr>
                  <a:t>$A=P^{-1}BP$</a:t>
                </a:r>
                <a:r>
                  <a:rPr sz="2400" b="0">
                    <a:solidFill>
                      <a:srgbClr val="111827"/>
                    </a:solidFill>
                    <a:latin typeface="Arial"/>
                  </a:rPr>
                  <a:t> and </a:t>
                </a:r>
                <a:r>
                  <a:rPr lang="en-IN" sz="2400">
                    <a:solidFill>
                      <a:srgbClr val="111827"/>
                    </a:solidFill>
                    <a:latin typeface="Cambria Math" panose="02040503050406030204" pitchFamily="18" charset="0"/>
                  </a:rPr>
                  <a:t>$B=Q^{-1}CQ$</a:t>
                </a:r>
                <a:r>
                  <a:rPr sz="2400" b="0">
                    <a:solidFill>
                      <a:srgbClr val="111827"/>
                    </a:solidFill>
                    <a:latin typeface="Arial"/>
                  </a:rPr>
                  <a:t>. Then </a:t>
                </a:r>
                <a:r>
                  <a:rPr lang="en-IN" sz="2400">
                    <a:solidFill>
                      <a:srgbClr val="111827"/>
                    </a:solidFill>
                    <a:latin typeface="Cambria Math" panose="02040503050406030204" pitchFamily="18" charset="0"/>
                  </a:rPr>
                  <a:t>$A=P^{-1}Q^{-1}CQP$</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Statement-2, </a:t>
                </a:r>
                <a:r>
                  <a:rPr lang="en-IN" sz="2400">
                    <a:solidFill>
                      <a:srgbClr val="111827"/>
                    </a:solidFill>
                    <a:latin typeface="Cambria Math" panose="02040503050406030204" pitchFamily="18" charset="0"/>
                  </a:rPr>
                  <a:t>$P^{-1}Q^{-1}=(QP)^{-1}$</a:t>
                </a:r>
                <a:r>
                  <a:rPr sz="2400" b="0">
                    <a:solidFill>
                      <a:srgbClr val="111827"/>
                    </a:solidFill>
                    <a:latin typeface="Arial"/>
                  </a:rPr>
                  <a:t>, so </a:t>
                </a:r>
                <a:r>
                  <a:rPr lang="en-IN" sz="2400">
                    <a:solidFill>
                      <a:srgbClr val="111827"/>
                    </a:solidFill>
                    <a:latin typeface="Cambria Math" panose="02040503050406030204" pitchFamily="18" charset="0"/>
                  </a:rPr>
                  <a:t>$A=(QP)^{-1}C(QP)$</a:t>
                </a:r>
                <a:r>
                  <a:rPr sz="2400" b="0">
                    <a:solidFill>
                      <a:srgbClr val="111827"/>
                    </a:solidFill>
                    <a:latin typeface="Arial"/>
                  </a:rPr>
                  <a:t> with </a:t>
                </a:r>
                <a:r>
                  <a:rPr lang="en-IN" sz="2400">
                    <a:solidFill>
                      <a:srgbClr val="111827"/>
                    </a:solidFill>
                    <a:latin typeface="Cambria Math" panose="02040503050406030204" pitchFamily="18" charset="0"/>
                  </a:rPr>
                  <a:t>$QP$</a:t>
                </a:r>
                <a:r>
                  <a:rPr sz="2400" b="0">
                    <a:solidFill>
                      <a:srgbClr val="111827"/>
                    </a:solidFill>
                    <a:latin typeface="Arial"/>
                  </a:rPr>
                  <a:t> invertible; hence </a:t>
                </a:r>
                <a:r>
                  <a:rPr lang="en-IN" sz="2400">
                    <a:solidFill>
                      <a:srgbClr val="111827"/>
                    </a:solidFill>
                    <a:latin typeface="Cambria Math" panose="02040503050406030204" pitchFamily="18" charset="0"/>
                  </a:rPr>
                  <a:t>$(A,C)\in 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$R$</a:t>
                </a:r>
                <a:r>
                  <a:rPr sz="2400" b="0">
                    <a:solidFill>
                      <a:srgbClr val="111827"/>
                    </a:solidFill>
                    <a:latin typeface="Arial"/>
                  </a:rPr>
                  <a:t> is an equivalence relation: Statement-1 is true. Statement-2 is the standard identity: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Statement-2 is used in the transitivity step, so it is a correct explanation. Answer (B).</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Statement-1 is true, Statement-2 is true; Statement-2 is a correct explanation for Statement-1</a:t>
            </a:r>
            <a:endParaRPr sz="2800">
              <a:solidFill>
                <a:srgbClr val="15803D"/>
              </a:solidFill>
            </a:endParaRP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Similarity is the 'same canonical form' relation: two matrices are similar exactly when they have the same rational canonical form, so it is a kernel relation.</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Every real square matrix is similar to a unique matrix in rational canonical form </a:t>
                </a:r>
                <a14:m>
                  <m:oMath xmlns:m="http://schemas.openxmlformats.org/officeDocument/2006/math">
                    <m:r>
                      <a:rPr lang="en-IN" sz="2400" i="1">
                        <a:solidFill>
                          <a:srgbClr val="111827"/>
                        </a:solidFill>
                        <a:latin typeface="Cambria Math" panose="02040503050406030204" pitchFamily="18" charset="0"/>
                      </a:rPr>
                      <m:t>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(built from its invariant factors).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𝑃</m:t>
                    </m:r>
                  </m:oMath>
                </a14:m>
                <a:r>
                  <a:rPr sz="2400" b="0">
                    <a:solidFill>
                      <a:srgbClr val="111827"/>
                    </a:solidFill>
                    <a:latin typeface="Arial"/>
                  </a:rPr>
                  <a:t> for some invertible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relation 'same value of </a:t>
                </a:r>
                <a14:m>
                  <m:oMath xmlns:m="http://schemas.openxmlformats.org/officeDocument/2006/math">
                    <m:r>
                      <a:rPr lang="en-IN" sz="2400" i="1">
                        <a:solidFill>
                          <a:srgbClr val="111827"/>
                        </a:solidFill>
                        <a:latin typeface="Cambria Math" panose="02040503050406030204" pitchFamily="18" charset="0"/>
                      </a:rPr>
                      <m:t>ρ</m:t>
                    </m:r>
                  </m:oMath>
                </a14:m>
                <a:r>
                  <a:rPr sz="2400" b="0">
                    <a:solidFill>
                      <a:srgbClr val="111827"/>
                    </a:solidFill>
                    <a:latin typeface="Arial"/>
                  </a:rPr>
                  <a:t>' is reflexive, symmetric and transitive because equality is. So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an equivalence relation.</a:t>
                </a:r>
                <a:endParaRPr sz="2400">
                  <a:solidFill>
                    <a:srgbClr val="111827"/>
                  </a:solidFill>
                </a:endParaRPr>
              </a:p>
            </p:txBody>
          </p:sp>
        </mc:Choice>
        <mc:Fallback>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Every real square matrix is similar to a unique matrix in rational canonical form </a:t>
                </a:r>
                <a:r>
                  <a:rPr lang="en-IN" sz="2400">
                    <a:solidFill>
                      <a:srgbClr val="111827"/>
                    </a:solidFill>
                    <a:latin typeface="Cambria Math" panose="02040503050406030204" pitchFamily="18" charset="0"/>
                  </a:rPr>
                  <a:t>$\rho(A)$</a:t>
                </a:r>
                <a:r>
                  <a:rPr sz="2400" b="0">
                    <a:solidFill>
                      <a:srgbClr val="111827"/>
                    </a:solidFill>
                    <a:latin typeface="Arial"/>
                  </a:rPr>
                  <a:t> (built from its invariant factors).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$A=P^{-1}BP$</a:t>
                </a:r>
                <a:r>
                  <a:rPr sz="2400" b="0">
                    <a:solidFill>
                      <a:srgbClr val="111827"/>
                    </a:solidFill>
                    <a:latin typeface="Arial"/>
                  </a:rPr>
                  <a:t> for some invertible </a:t>
                </a:r>
                <a:r>
                  <a:rPr lang="en-IN" sz="2400">
                    <a:solidFill>
                      <a:srgbClr val="111827"/>
                    </a:solidFill>
                    <a:latin typeface="Cambria Math" panose="02040503050406030204" pitchFamily="18" charset="0"/>
                  </a:rPr>
                  <a:t>$P$</a:t>
                </a:r>
                <a:r>
                  <a:rPr sz="2400" b="0">
                    <a:solidFill>
                      <a:srgbClr val="111827"/>
                    </a:solidFill>
                    <a:latin typeface="Arial"/>
                  </a:rPr>
                  <a:t> </a:t>
                </a:r>
                <a:r>
                  <a:rPr lang="en-IN" sz="2400">
                    <a:solidFill>
                      <a:srgbClr val="111827"/>
                    </a:solidFill>
                    <a:latin typeface="Cambria Math" panose="02040503050406030204" pitchFamily="18" charset="0"/>
                  </a:rPr>
                  <a:t>$\iff\rho(A)=\rho(B)$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relation 'same value of </a:t>
                </a:r>
                <a:r>
                  <a:rPr lang="en-IN" sz="2400">
                    <a:solidFill>
                      <a:srgbClr val="111827"/>
                    </a:solidFill>
                    <a:latin typeface="Cambria Math" panose="02040503050406030204" pitchFamily="18" charset="0"/>
                  </a:rPr>
                  <a:t>$\rho$</a:t>
                </a:r>
                <a:r>
                  <a:rPr sz="2400" b="0">
                    <a:solidFill>
                      <a:srgbClr val="111827"/>
                    </a:solidFill>
                    <a:latin typeface="Arial"/>
                  </a:rPr>
                  <a:t>' is reflexive, symmetric and transitive because equality is. So </a:t>
                </a:r>
                <a:r>
                  <a:rPr lang="en-IN" sz="2400">
                    <a:solidFill>
                      <a:srgbClr val="111827"/>
                    </a:solidFill>
                    <a:latin typeface="Cambria Math" panose="02040503050406030204" pitchFamily="18" charset="0"/>
                  </a:rPr>
                  <a:t>$R$</a:t>
                </a:r>
                <a:r>
                  <a:rPr sz="2400" b="0">
                    <a:solidFill>
                      <a:srgbClr val="111827"/>
                    </a:solidFill>
                    <a:latin typeface="Arial"/>
                  </a:rPr>
                  <a:t> is an equivalence relation.</a:t>
                </a:r>
                <a:endParaRPr sz="2400">
                  <a:solidFill>
                    <a:srgbClr val="111827"/>
                  </a:solidFill>
                </a:endParaRPr>
              </a:p>
            </p:txBody>
          </p:sp>
        </mc:Fallback>
      </mc:AlternateContent>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classes are the similarity classes. The identity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r>
                      <a:rPr lang="en-IN" sz="2400" i="1">
                        <a:solidFill>
                          <a:srgbClr val="111827"/>
                        </a:solidFill>
                        <a:latin typeface="Cambria Math" panose="02040503050406030204" pitchFamily="18" charset="0"/>
                      </a:rPr>
                      <m:t>𝑁</m:t>
                    </m:r>
                    <m:sSup>
                      <m:e>
                        <m:r>
                          <m:rPr>
                            <m:sty m:val="p"/>
                          </m:rPr>
                          <a:rPr lang="en-IN" sz="2400">
                            <a:solidFill>
                              <a:srgbClr val="111827"/>
                            </a:solidFill>
                            <a:latin typeface="Cambria Math" panose="02040503050406030204" pitchFamily="18" charset="0"/>
                          </a:rPr>
                          <m:t>)</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𝑁</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sSup>
                      <m:e>
                        <m:r>
                          <a:rPr lang="en-IN" sz="2400" i="1">
                            <a:solidFill>
                              <a:srgbClr val="111827"/>
                            </a:solidFill>
                            <a:latin typeface="Cambria Math" panose="02040503050406030204" pitchFamily="18" charset="0"/>
                          </a:rPr>
                          <m:t>𝑀</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is what makes </a:t>
                </a:r>
                <a14:m>
                  <m:oMath xmlns:m="http://schemas.openxmlformats.org/officeDocument/2006/math">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𝑃</m:t>
                    </m:r>
                  </m:oMath>
                </a14:m>
                <a:r>
                  <a:rPr sz="2400" b="0">
                    <a:solidFill>
                      <a:srgbClr val="111827"/>
                    </a:solidFill>
                    <a:latin typeface="Arial"/>
                  </a:rPr>
                  <a:t> compose correctly, so Statement-2 explains the transitivity.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Answer (B).</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classes are the similarity classes. The identity </a:t>
                </a:r>
                <a:r>
                  <a:rPr lang="en-IN" sz="2400">
                    <a:solidFill>
                      <a:srgbClr val="111827"/>
                    </a:solidFill>
                    <a:latin typeface="Cambria Math" panose="02040503050406030204" pitchFamily="18" charset="0"/>
                  </a:rPr>
                  <a:t>$(MN)^{-1}=N^{-1}M^{-1}$</a:t>
                </a:r>
                <a:r>
                  <a:rPr sz="2400" b="0">
                    <a:solidFill>
                      <a:srgbClr val="111827"/>
                    </a:solidFill>
                    <a:latin typeface="Arial"/>
                  </a:rPr>
                  <a:t> is what makes </a:t>
                </a:r>
                <a:r>
                  <a:rPr lang="en-IN" sz="2400">
                    <a:solidFill>
                      <a:srgbClr val="111827"/>
                    </a:solidFill>
                    <a:latin typeface="Cambria Math" panose="02040503050406030204" pitchFamily="18" charset="0"/>
                  </a:rPr>
                  <a:t>$P^{-1}BP$</a:t>
                </a:r>
                <a:r>
                  <a:rPr sz="2400" b="0">
                    <a:solidFill>
                      <a:srgbClr val="111827"/>
                    </a:solidFill>
                    <a:latin typeface="Arial"/>
                  </a:rPr>
                  <a:t> compose correctly, so Statement-2 explains the transitivity.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Answer (B).</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Statement-1 is true, Statement-2 is true; Statement-2 is a correct explanation for Statement-1</a:t>
            </a:r>
            <a:endParaRPr sz="2800">
              <a:solidFill>
                <a:srgbClr val="15803D"/>
              </a:solidFill>
            </a:endParaRP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Similar matrices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𝑃</m:t>
                    </m:r>
                  </m:oMath>
                </a14:m>
                <a:r>
                  <a:rPr sz="2400" b="0">
                    <a:solidFill>
                      <a:srgbClr val="111827"/>
                    </a:solidFill>
                    <a:latin typeface="Arial"/>
                  </a:rPr>
                  <a:t>) share determinant, trace, rank and characteristic polynomial. Check: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2</m:t>
                              </m:r>
                            </m:e>
                          </m:mr>
                          <m:mr>
                            <m:e>
                              <m:r>
                                <a:rPr lang="en-IN" sz="2400" i="1">
                                  <a:solidFill>
                                    <a:srgbClr val="111827"/>
                                  </a:solidFill>
                                  <a:latin typeface="Cambria Math" panose="02040503050406030204" pitchFamily="18" charset="0"/>
                                </a:rPr>
                                <m:t>3</m:t>
                              </m:r>
                            </m:e>
                            <m:e>
                              <m:r>
                                <a:rPr lang="en-IN" sz="2400" i="1">
                                  <a:solidFill>
                                    <a:srgbClr val="111827"/>
                                  </a:solidFill>
                                  <a:latin typeface="Cambria Math" panose="02040503050406030204" pitchFamily="18" charset="0"/>
                                </a:rPr>
                                <m:t>4</m:t>
                              </m:r>
                            </m:e>
                          </m:mr>
                        </m:m>
                      </m:e>
                    </m:d>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1</m:t>
                              </m:r>
                            </m:e>
                          </m:mr>
                          <m:mr>
                            <m:e>
                              <m:r>
                                <a:rPr lang="en-IN" sz="2400" i="1">
                                  <a:solidFill>
                                    <a:srgbClr val="111827"/>
                                  </a:solidFill>
                                  <a:latin typeface="Cambria Math" panose="02040503050406030204" pitchFamily="18" charset="0"/>
                                </a:rPr>
                                <m:t>0</m:t>
                              </m:r>
                            </m:e>
                            <m:e>
                              <m:r>
                                <a:rPr lang="en-IN" sz="2400" i="1">
                                  <a:solidFill>
                                    <a:srgbClr val="111827"/>
                                  </a:solidFill>
                                  <a:latin typeface="Cambria Math" panose="02040503050406030204" pitchFamily="18" charset="0"/>
                                </a:rPr>
                                <m:t>1</m:t>
                              </m:r>
                            </m:e>
                          </m:mr>
                        </m:m>
                      </m:e>
                    </m:d>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4</m:t>
                              </m:r>
                            </m:e>
                            <m:e>
                              <m:r>
                                <a:rPr lang="en-IN" sz="2400" i="1">
                                  <a:solidFill>
                                    <a:srgbClr val="111827"/>
                                  </a:solidFill>
                                  <a:latin typeface="Cambria Math" panose="02040503050406030204" pitchFamily="18" charset="0"/>
                                </a:rPr>
                                <m:t>2</m:t>
                              </m:r>
                            </m:e>
                          </m:mr>
                          <m:mr>
                            <m:e>
                              <m:r>
                                <a:rPr lang="en-IN" sz="2400" i="1">
                                  <a:solidFill>
                                    <a:srgbClr val="111827"/>
                                  </a:solidFill>
                                  <a:latin typeface="Cambria Math" panose="02040503050406030204" pitchFamily="18" charset="0"/>
                                </a:rPr>
                                <m:t>3</m:t>
                              </m:r>
                            </m:e>
                            <m:e>
                              <m:r>
                                <a:rPr lang="en-IN" sz="2400" i="1">
                                  <a:solidFill>
                                    <a:srgbClr val="111827"/>
                                  </a:solidFill>
                                  <a:latin typeface="Cambria Math" panose="02040503050406030204" pitchFamily="18" charset="0"/>
                                </a:rPr>
                                <m:t>1</m:t>
                              </m:r>
                            </m:e>
                          </m:mr>
                        </m:m>
                      </m:e>
                    </m:d>
                  </m:oMath>
                </a14:m>
                <a:r>
                  <a:rPr sz="2400" b="0">
                    <a:solidFill>
                      <a:srgbClr val="111827"/>
                    </a:solidFill>
                    <a:latin typeface="Arial"/>
                  </a:rPr>
                  <a:t>, trace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determinant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in both.</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identity matrix and any scalar matrix </a:t>
                </a:r>
                <a14:m>
                  <m:oMath xmlns:m="http://schemas.openxmlformats.org/officeDocument/2006/math">
                    <m:r>
                      <a:rPr lang="en-IN" sz="2400" i="1">
                        <a:solidFill>
                          <a:srgbClr val="111827"/>
                        </a:solidFill>
                        <a:latin typeface="Cambria Math" panose="02040503050406030204" pitchFamily="18" charset="0"/>
                      </a:rPr>
                      <m:t>λ</m:t>
                    </m:r>
                    <m:r>
                      <a:rPr lang="en-IN" sz="2400" i="1">
                        <a:solidFill>
                          <a:srgbClr val="111827"/>
                        </a:solidFill>
                        <a:latin typeface="Cambria Math" panose="02040503050406030204" pitchFamily="18" charset="0"/>
                      </a:rPr>
                      <m:t>𝐼</m:t>
                    </m:r>
                  </m:oMath>
                </a14:m>
                <a:r>
                  <a:rPr sz="2400" b="0">
                    <a:solidFill>
                      <a:srgbClr val="111827"/>
                    </a:solidFill>
                    <a:latin typeface="Arial"/>
                  </a:rPr>
                  <a:t> are similar only to themselves (</a:t>
                </a:r>
                <a14:m>
                  <m:oMath xmlns:m="http://schemas.openxmlformats.org/officeDocument/2006/math">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λ</m:t>
                    </m:r>
                    <m:r>
                      <a:rPr lang="en-IN" sz="2400" i="1">
                        <a:solidFill>
                          <a:srgbClr val="111827"/>
                        </a:solidFill>
                        <a:latin typeface="Cambria Math" panose="02040503050406030204" pitchFamily="18" charset="0"/>
                      </a:rPr>
                      <m:t>𝐼</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a:rPr lang="en-IN" sz="2400" i="1">
                        <a:solidFill>
                          <a:srgbClr val="111827"/>
                        </a:solidFill>
                        <a:latin typeface="Cambria Math" panose="02040503050406030204" pitchFamily="18" charset="0"/>
                      </a:rPr>
                      <m:t>𝐼</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Conjugation relations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𝑃</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𝐵</m:t>
                    </m:r>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are equivalence relations because invertible matrices form a group.</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Similar matrices (</a:t>
                </a:r>
                <a:r>
                  <a:rPr lang="en-IN" sz="2400">
                    <a:solidFill>
                      <a:srgbClr val="111827"/>
                    </a:solidFill>
                    <a:latin typeface="Cambria Math" panose="02040503050406030204" pitchFamily="18" charset="0"/>
                  </a:rPr>
                  <a:t>$A=P^{-1}BP$</a:t>
                </a:r>
                <a:r>
                  <a:rPr sz="2400" b="0">
                    <a:solidFill>
                      <a:srgbClr val="111827"/>
                    </a:solidFill>
                    <a:latin typeface="Arial"/>
                  </a:rPr>
                  <a:t>) share determinant, trace, rank and characteristic polynomial. Check: </a:t>
                </a:r>
                <a:r>
                  <a:rPr lang="en-IN" sz="2400">
                    <a:solidFill>
                      <a:srgbClr val="111827"/>
                    </a:solidFill>
                    <a:latin typeface="Cambria Math" panose="02040503050406030204" pitchFamily="18" charset="0"/>
                  </a:rPr>
                  <a:t>$A=\begin{pmatrix}1&amp;2\\3&amp;4\end{pmatrix}$</a:t>
                </a:r>
                <a:r>
                  <a:rPr sz="2400" b="0">
                    <a:solidFill>
                      <a:srgbClr val="111827"/>
                    </a:solidFill>
                    <a:latin typeface="Arial"/>
                  </a:rPr>
                  <a:t>, </a:t>
                </a:r>
                <a:r>
                  <a:rPr lang="en-IN" sz="2400">
                    <a:solidFill>
                      <a:srgbClr val="111827"/>
                    </a:solidFill>
                    <a:latin typeface="Cambria Math" panose="02040503050406030204" pitchFamily="18" charset="0"/>
                  </a:rPr>
                  <a:t>$P=\begin{pmatrix}1&amp;1\\0&amp;1\end{pmatrix}$</a:t>
                </a:r>
                <a:r>
                  <a:rPr sz="2400" b="0">
                    <a:solidFill>
                      <a:srgbClr val="111827"/>
                    </a:solidFill>
                    <a:latin typeface="Arial"/>
                  </a:rPr>
                  <a:t> gives </a:t>
                </a:r>
                <a:r>
                  <a:rPr lang="en-IN" sz="2400">
                    <a:solidFill>
                      <a:srgbClr val="111827"/>
                    </a:solidFill>
                    <a:latin typeface="Cambria Math" panose="02040503050406030204" pitchFamily="18" charset="0"/>
                  </a:rPr>
                  <a:t>$PAP^{-1}=\begin{pmatrix}4&amp;2\\3&amp;1\end{pmatrix}$</a:t>
                </a:r>
                <a:r>
                  <a:rPr sz="2400" b="0">
                    <a:solidFill>
                      <a:srgbClr val="111827"/>
                    </a:solidFill>
                    <a:latin typeface="Arial"/>
                  </a:rPr>
                  <a:t>, trace </a:t>
                </a:r>
                <a:r>
                  <a:rPr lang="en-IN" sz="2400">
                    <a:solidFill>
                      <a:srgbClr val="111827"/>
                    </a:solidFill>
                    <a:latin typeface="Cambria Math" panose="02040503050406030204" pitchFamily="18" charset="0"/>
                  </a:rPr>
                  <a:t>$5$</a:t>
                </a:r>
                <a:r>
                  <a:rPr sz="2400" b="0">
                    <a:solidFill>
                      <a:srgbClr val="111827"/>
                    </a:solidFill>
                    <a:latin typeface="Arial"/>
                  </a:rPr>
                  <a:t>, determinant </a:t>
                </a:r>
                <a:r>
                  <a:rPr lang="en-IN" sz="2400">
                    <a:solidFill>
                      <a:srgbClr val="111827"/>
                    </a:solidFill>
                    <a:latin typeface="Cambria Math" panose="02040503050406030204" pitchFamily="18" charset="0"/>
                  </a:rPr>
                  <a:t>$-2$</a:t>
                </a:r>
                <a:r>
                  <a:rPr sz="2400" b="0">
                    <a:solidFill>
                      <a:srgbClr val="111827"/>
                    </a:solidFill>
                    <a:latin typeface="Arial"/>
                  </a:rPr>
                  <a:t> in both.</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identity matrix and any scalar matrix </a:t>
                </a:r>
                <a:r>
                  <a:rPr lang="en-IN" sz="2400">
                    <a:solidFill>
                      <a:srgbClr val="111827"/>
                    </a:solidFill>
                    <a:latin typeface="Cambria Math" panose="02040503050406030204" pitchFamily="18" charset="0"/>
                  </a:rPr>
                  <a:t>$\lambda I$</a:t>
                </a:r>
                <a:r>
                  <a:rPr sz="2400" b="0">
                    <a:solidFill>
                      <a:srgbClr val="111827"/>
                    </a:solidFill>
                    <a:latin typeface="Arial"/>
                  </a:rPr>
                  <a:t> are similar only to themselves (</a:t>
                </a:r>
                <a:r>
                  <a:rPr lang="en-IN" sz="2400">
                    <a:solidFill>
                      <a:srgbClr val="111827"/>
                    </a:solidFill>
                    <a:latin typeface="Cambria Math" panose="02040503050406030204" pitchFamily="18" charset="0"/>
                  </a:rPr>
                  <a:t>$P^{-1}\lambda IP=\lambda 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Conjugation relations (</a:t>
                </a:r>
                <a:r>
                  <a:rPr lang="en-IN" sz="2400">
                    <a:solidFill>
                      <a:srgbClr val="111827"/>
                    </a:solidFill>
                    <a:latin typeface="Cambria Math" panose="02040503050406030204" pitchFamily="18" charset="0"/>
                  </a:rPr>
                  <a:t>$A=P^{-1}BP$</a:t>
                </a:r>
                <a:r>
                  <a:rPr sz="2400" b="0">
                    <a:solidFill>
                      <a:srgbClr val="111827"/>
                    </a:solidFill>
                    <a:latin typeface="Arial"/>
                  </a:rPr>
                  <a:t>, or </a:t>
                </a:r>
                <a:r>
                  <a:rPr lang="en-IN" sz="2400">
                    <a:solidFill>
                      <a:srgbClr val="111827"/>
                    </a:solidFill>
                    <a:latin typeface="Cambria Math" panose="02040503050406030204" pitchFamily="18" charset="0"/>
                  </a:rPr>
                  <a:t>$A=PBP^{-1}$</a:t>
                </a:r>
                <a:r>
                  <a:rPr sz="2400" b="0">
                    <a:solidFill>
                      <a:srgbClr val="111827"/>
                    </a:solidFill>
                    <a:latin typeface="Arial"/>
                  </a:rPr>
                  <a:t>) are equivalence relations because invertible matrices form a group.</a:t>
                </a:r>
                <a:endParaRPr sz="2400">
                  <a:solidFill>
                    <a:srgbClr val="111827"/>
                  </a:solidFill>
                </a:endParaRPr>
              </a:p>
            </p:txBody>
          </p:sp>
        </mc:Fallback>
      </mc:AlternateContent>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number of different ordered pairs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𝑍</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that can be formed such that </a:t>
                </a:r>
                <a14:m>
                  <m:oMath xmlns:m="http://schemas.openxmlformats.org/officeDocument/2006/math">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𝑍</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𝑍</m:t>
                    </m:r>
                  </m:oMath>
                </a14:m>
                <a:r>
                  <a:rPr sz="2400" b="0">
                    <a:solidFill>
                      <a:srgbClr val="111827"/>
                    </a:solidFill>
                    <a:latin typeface="Arial"/>
                  </a:rPr>
                  <a:t> is empty,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(B) </a:t>
                </a:r>
                <a14:m>
                  <m:oMath xmlns:m="http://schemas.openxmlformats.org/officeDocument/2006/math">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(C) </a:t>
                </a:r>
                <a14:m>
                  <m:oMath xmlns:m="http://schemas.openxmlformats.org/officeDocument/2006/math">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5</m:t>
                        </m:r>
                      </m:sup>
                    </m:sSup>
                  </m:oMath>
                </a14:m>
                <a:r>
                  <a:rPr sz="2400" b="0">
                    <a:solidFill>
                      <a:srgbClr val="111827"/>
                    </a:solidFill>
                    <a:latin typeface="Arial"/>
                  </a:rPr>
                  <a:t>   (D)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5</m:t>
                        </m:r>
                      </m:sup>
                    </m:sSup>
                  </m:oMath>
                </a14:m>
                <a:endParaRPr sz="2400">
                  <a:solidFill>
                    <a:srgbClr val="111827"/>
                  </a:solidFill>
                </a:endParaRPr>
              </a:p>
            </p:txBody>
          </p:sp>
        </mc:Choice>
        <mc:Fallback>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$X=\{1,2,3,4,5\}$</a:t>
                </a:r>
                <a:r>
                  <a:rPr sz="2400" b="0">
                    <a:solidFill>
                      <a:srgbClr val="111827"/>
                    </a:solidFill>
                    <a:latin typeface="Arial"/>
                  </a:rPr>
                  <a:t>. The number of different ordered pairs </a:t>
                </a:r>
                <a:r>
                  <a:rPr lang="en-IN" sz="2400">
                    <a:solidFill>
                      <a:srgbClr val="111827"/>
                    </a:solidFill>
                    <a:latin typeface="Cambria Math" panose="02040503050406030204" pitchFamily="18" charset="0"/>
                  </a:rPr>
                  <a:t>$(Y,Z)$</a:t>
                </a:r>
                <a:r>
                  <a:rPr sz="2400" b="0">
                    <a:solidFill>
                      <a:srgbClr val="111827"/>
                    </a:solidFill>
                    <a:latin typeface="Arial"/>
                  </a:rPr>
                  <a:t> that can be formed such that </a:t>
                </a:r>
                <a:r>
                  <a:rPr lang="en-IN" sz="2400">
                    <a:solidFill>
                      <a:srgbClr val="111827"/>
                    </a:solidFill>
                    <a:latin typeface="Cambria Math" panose="02040503050406030204" pitchFamily="18" charset="0"/>
                  </a:rPr>
                  <a:t>$Y\subseteq X$</a:t>
                </a:r>
                <a:r>
                  <a:rPr sz="2400" b="0">
                    <a:solidFill>
                      <a:srgbClr val="111827"/>
                    </a:solidFill>
                    <a:latin typeface="Arial"/>
                  </a:rPr>
                  <a:t>, </a:t>
                </a:r>
                <a:r>
                  <a:rPr lang="en-IN" sz="2400">
                    <a:solidFill>
                      <a:srgbClr val="111827"/>
                    </a:solidFill>
                    <a:latin typeface="Cambria Math" panose="02040503050406030204" pitchFamily="18" charset="0"/>
                  </a:rPr>
                  <a:t>$Z\subseteq X$</a:t>
                </a:r>
                <a:r>
                  <a:rPr sz="2400" b="0">
                    <a:solidFill>
                      <a:srgbClr val="111827"/>
                    </a:solidFill>
                    <a:latin typeface="Arial"/>
                  </a:rPr>
                  <a:t> and </a:t>
                </a:r>
                <a:r>
                  <a:rPr lang="en-IN" sz="2400">
                    <a:solidFill>
                      <a:srgbClr val="111827"/>
                    </a:solidFill>
                    <a:latin typeface="Cambria Math" panose="02040503050406030204" pitchFamily="18" charset="0"/>
                  </a:rPr>
                  <a:t>$Y\cap Z$</a:t>
                </a:r>
                <a:r>
                  <a:rPr sz="2400" b="0">
                    <a:solidFill>
                      <a:srgbClr val="111827"/>
                    </a:solidFill>
                    <a:latin typeface="Arial"/>
                  </a:rPr>
                  <a:t> is empty,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$5^3$</a:t>
                </a:r>
                <a:r>
                  <a:rPr sz="2400" b="0">
                    <a:solidFill>
                      <a:srgbClr val="111827"/>
                    </a:solidFill>
                    <a:latin typeface="Arial"/>
                  </a:rPr>
                  <a:t>   (B) </a:t>
                </a:r>
                <a:r>
                  <a:rPr lang="en-IN" sz="2400">
                    <a:solidFill>
                      <a:srgbClr val="111827"/>
                    </a:solidFill>
                    <a:latin typeface="Cambria Math" panose="02040503050406030204" pitchFamily="18" charset="0"/>
                  </a:rPr>
                  <a:t>$5^2$</a:t>
                </a:r>
                <a:r>
                  <a:rPr sz="2400" b="0">
                    <a:solidFill>
                      <a:srgbClr val="111827"/>
                    </a:solidFill>
                    <a:latin typeface="Arial"/>
                  </a:rPr>
                  <a:t>   (C) </a:t>
                </a:r>
                <a:r>
                  <a:rPr lang="en-IN" sz="2400">
                    <a:solidFill>
                      <a:srgbClr val="111827"/>
                    </a:solidFill>
                    <a:latin typeface="Cambria Math" panose="02040503050406030204" pitchFamily="18" charset="0"/>
                  </a:rPr>
                  <a:t>$3^5$</a:t>
                </a:r>
                <a:r>
                  <a:rPr sz="2400" b="0">
                    <a:solidFill>
                      <a:srgbClr val="111827"/>
                    </a:solidFill>
                    <a:latin typeface="Arial"/>
                  </a:rPr>
                  <a:t>   (D) </a:t>
                </a:r>
                <a:r>
                  <a:rPr lang="en-IN" sz="2400">
                    <a:solidFill>
                      <a:srgbClr val="111827"/>
                    </a:solidFill>
                    <a:latin typeface="Cambria Math" panose="02040503050406030204" pitchFamily="18" charset="0"/>
                  </a:rPr>
                  <a:t>$2^5$</a:t>
                </a:r>
                <a:endParaRPr sz="2400">
                  <a:solidFill>
                    <a:srgbClr val="111827"/>
                  </a:solidFill>
                </a:endParaRPr>
              </a:p>
            </p:txBody>
          </p:sp>
        </mc:Fallback>
      </mc:AlternateContent>
      <p:sp>
        <p:nvSpPr>
          <p:cNvPr id="5" name="Rectangle 4"/>
          <p:cNvSpPr/>
          <p:nvPr/>
        </p:nvSpPr>
        <p:spPr>
          <a:xfrm>
            <a:off x="731520" y="3580383"/>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Subsets and their counting</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Each element has exactly three choices: only in </a:t>
                </a:r>
                <a14:m>
                  <m:oMath xmlns:m="http://schemas.openxmlformats.org/officeDocument/2006/math">
                    <m:r>
                      <a:rPr lang="en-IN" sz="2400" i="1">
                        <a:solidFill>
                          <a:srgbClr val="78350F"/>
                        </a:solidFill>
                        <a:latin typeface="Cambria Math" panose="02040503050406030204" pitchFamily="18" charset="0"/>
                      </a:rPr>
                      <m:t>𝑌</m:t>
                    </m:r>
                  </m:oMath>
                </a14:m>
                <a:r>
                  <a:rPr sz="2400" b="0">
                    <a:solidFill>
                      <a:srgbClr val="78350F"/>
                    </a:solidFill>
                    <a:latin typeface="Arial"/>
                  </a:rPr>
                  <a:t>, only in </a:t>
                </a:r>
                <a14:m>
                  <m:oMath xmlns:m="http://schemas.openxmlformats.org/officeDocument/2006/math">
                    <m:r>
                      <a:rPr lang="en-IN" sz="2400" i="1">
                        <a:solidFill>
                          <a:srgbClr val="78350F"/>
                        </a:solidFill>
                        <a:latin typeface="Cambria Math" panose="02040503050406030204" pitchFamily="18" charset="0"/>
                      </a:rPr>
                      <m:t>𝑍</m:t>
                    </m:r>
                  </m:oMath>
                </a14:m>
                <a:r>
                  <a:rPr sz="2400" b="0">
                    <a:solidFill>
                      <a:srgbClr val="78350F"/>
                    </a:solidFill>
                    <a:latin typeface="Arial"/>
                  </a:rPr>
                  <a:t>, or in neither.</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Each element has exactly three choices: only in </a:t>
                </a:r>
                <a:r>
                  <a:rPr lang="en-IN" sz="2400">
                    <a:solidFill>
                      <a:srgbClr val="78350F"/>
                    </a:solidFill>
                    <a:latin typeface="Cambria Math" panose="02040503050406030204" pitchFamily="18" charset="0"/>
                  </a:rPr>
                  <a:t>$Y$</a:t>
                </a:r>
                <a:r>
                  <a:rPr sz="2400" b="0">
                    <a:solidFill>
                      <a:srgbClr val="78350F"/>
                    </a:solidFill>
                    <a:latin typeface="Arial"/>
                  </a:rPr>
                  <a:t>, only in </a:t>
                </a:r>
                <a:r>
                  <a:rPr lang="en-IN" sz="2400">
                    <a:solidFill>
                      <a:srgbClr val="78350F"/>
                    </a:solidFill>
                    <a:latin typeface="Cambria Math" panose="02040503050406030204" pitchFamily="18" charset="0"/>
                  </a:rPr>
                  <a:t>$Z$</a:t>
                </a:r>
                <a:r>
                  <a:rPr sz="2400" b="0">
                    <a:solidFill>
                      <a:srgbClr val="78350F"/>
                    </a:solidFill>
                    <a:latin typeface="Arial"/>
                  </a:rPr>
                  <a:t>, or in neither.</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We need </a:t>
                </a:r>
                <a14:m>
                  <m:oMath xmlns:m="http://schemas.openxmlformats.org/officeDocument/2006/math">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𝑍</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𝑍</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Fix one element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1: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𝑍</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2: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𝑍</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We need </a:t>
                </a:r>
                <a:r>
                  <a:rPr lang="en-IN" sz="2400">
                    <a:solidFill>
                      <a:srgbClr val="111827"/>
                    </a:solidFill>
                    <a:latin typeface="Cambria Math" panose="02040503050406030204" pitchFamily="18" charset="0"/>
                  </a:rPr>
                  <a:t>$Y,Z\subseteq X$</a:t>
                </a:r>
                <a:r>
                  <a:rPr sz="2400" b="0">
                    <a:solidFill>
                      <a:srgbClr val="111827"/>
                    </a:solidFill>
                    <a:latin typeface="Arial"/>
                  </a:rPr>
                  <a:t> with </a:t>
                </a:r>
                <a:r>
                  <a:rPr lang="en-IN" sz="2400">
                    <a:solidFill>
                      <a:srgbClr val="111827"/>
                    </a:solidFill>
                    <a:latin typeface="Cambria Math" panose="02040503050406030204" pitchFamily="18" charset="0"/>
                  </a:rPr>
                  <a:t>$Y\cap Z=\emptyset$</a:t>
                </a:r>
                <a:r>
                  <a:rPr sz="2400" b="0">
                    <a:solidFill>
                      <a:srgbClr val="111827"/>
                    </a:solidFill>
                    <a:latin typeface="Arial"/>
                  </a:rPr>
                  <a:t>. Fix one element </a:t>
                </a:r>
                <a:r>
                  <a:rPr lang="en-IN" sz="2400">
                    <a:solidFill>
                      <a:srgbClr val="111827"/>
                    </a:solidFill>
                    <a:latin typeface="Cambria Math" panose="02040503050406030204" pitchFamily="18" charset="0"/>
                  </a:rPr>
                  <a:t>$a\in 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1: </a:t>
                </a:r>
                <a:r>
                  <a:rPr lang="en-IN" sz="2400">
                    <a:solidFill>
                      <a:srgbClr val="111827"/>
                    </a:solidFill>
                    <a:latin typeface="Cambria Math" panose="02040503050406030204" pitchFamily="18" charset="0"/>
                  </a:rPr>
                  <a:t>$a\in Y$</a:t>
                </a:r>
                <a:r>
                  <a:rPr sz="2400" b="0">
                    <a:solidFill>
                      <a:srgbClr val="111827"/>
                    </a:solidFill>
                    <a:latin typeface="Arial"/>
                  </a:rPr>
                  <a:t> and </a:t>
                </a:r>
                <a:r>
                  <a:rPr lang="en-IN" sz="2400">
                    <a:solidFill>
                      <a:srgbClr val="111827"/>
                    </a:solidFill>
                    <a:latin typeface="Cambria Math" panose="02040503050406030204" pitchFamily="18" charset="0"/>
                  </a:rPr>
                  <a:t>$a\notin Z$</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2: </a:t>
                </a:r>
                <a:r>
                  <a:rPr lang="en-IN" sz="2400">
                    <a:solidFill>
                      <a:srgbClr val="111827"/>
                    </a:solidFill>
                    <a:latin typeface="Cambria Math" panose="02040503050406030204" pitchFamily="18" charset="0"/>
                  </a:rPr>
                  <a:t>$a\notin Y$</a:t>
                </a:r>
                <a:r>
                  <a:rPr sz="2400" b="0">
                    <a:solidFill>
                      <a:srgbClr val="111827"/>
                    </a:solidFill>
                    <a:latin typeface="Arial"/>
                  </a:rPr>
                  <a:t> and </a:t>
                </a:r>
                <a:r>
                  <a:rPr lang="en-IN" sz="2400">
                    <a:solidFill>
                      <a:srgbClr val="111827"/>
                    </a:solidFill>
                    <a:latin typeface="Cambria Math" panose="02040503050406030204" pitchFamily="18" charset="0"/>
                  </a:rPr>
                  <a:t>$a\in Z$</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Case 3: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𝑍</m:t>
                    </m:r>
                  </m:oMath>
                </a14:m>
                <a:r>
                  <a:rPr sz="2400" b="0">
                    <a:solidFill>
                      <a:srgbClr val="111827"/>
                    </a:solidFill>
                    <a:latin typeface="Arial"/>
                  </a:rPr>
                  <a:t>. The case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𝑍</m:t>
                    </m:r>
                  </m:oMath>
                </a14:m>
                <a:r>
                  <a:rPr sz="2400" b="0">
                    <a:solidFill>
                      <a:srgbClr val="111827"/>
                    </a:solidFill>
                    <a:latin typeface="Arial"/>
                  </a:rPr>
                  <a:t> is not allowed.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each element has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choices, independently of the others.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the five elements of </a:t>
                </a:r>
                <a14:m>
                  <m:oMath xmlns:m="http://schemas.openxmlformats.org/officeDocument/2006/math">
                    <m:r>
                      <a:rPr lang="en-IN" sz="2400" i="1">
                        <a:solidFill>
                          <a:srgbClr val="111827"/>
                        </a:solidFill>
                        <a:latin typeface="Cambria Math" panose="02040503050406030204" pitchFamily="18" charset="0"/>
                      </a:rPr>
                      <m:t>𝑋</m:t>
                    </m:r>
                  </m:oMath>
                </a14:m>
                <a:r>
                  <a:rPr sz="2400" b="0">
                    <a:solidFill>
                      <a:srgbClr val="111827"/>
                    </a:solidFill>
                    <a:latin typeface="Arial"/>
                  </a:rPr>
                  <a:t> the number of ordered pairs is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5</m:t>
                        </m:r>
                      </m:sup>
                    </m:sSup>
                  </m:oMath>
                </a14:m>
                <a:r>
                  <a:rPr sz="2400" b="0">
                    <a:solidFill>
                      <a:srgbClr val="111827"/>
                    </a:solidFill>
                    <a:latin typeface="Arial"/>
                  </a:rPr>
                  <a:t>. Option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Case 3: </a:t>
                </a:r>
                <a:r>
                  <a:rPr lang="en-IN" sz="2400">
                    <a:solidFill>
                      <a:srgbClr val="111827"/>
                    </a:solidFill>
                    <a:latin typeface="Cambria Math" panose="02040503050406030204" pitchFamily="18" charset="0"/>
                  </a:rPr>
                  <a:t>$a\notin Y$</a:t>
                </a:r>
                <a:r>
                  <a:rPr sz="2400" b="0">
                    <a:solidFill>
                      <a:srgbClr val="111827"/>
                    </a:solidFill>
                    <a:latin typeface="Arial"/>
                  </a:rPr>
                  <a:t> and </a:t>
                </a:r>
                <a:r>
                  <a:rPr lang="en-IN" sz="2400">
                    <a:solidFill>
                      <a:srgbClr val="111827"/>
                    </a:solidFill>
                    <a:latin typeface="Cambria Math" panose="02040503050406030204" pitchFamily="18" charset="0"/>
                  </a:rPr>
                  <a:t>$a\notin Z$</a:t>
                </a:r>
                <a:r>
                  <a:rPr sz="2400" b="0">
                    <a:solidFill>
                      <a:srgbClr val="111827"/>
                    </a:solidFill>
                    <a:latin typeface="Arial"/>
                  </a:rPr>
                  <a:t>. The case </a:t>
                </a:r>
                <a:r>
                  <a:rPr lang="en-IN" sz="2400">
                    <a:solidFill>
                      <a:srgbClr val="111827"/>
                    </a:solidFill>
                    <a:latin typeface="Cambria Math" panose="02040503050406030204" pitchFamily="18" charset="0"/>
                  </a:rPr>
                  <a:t>$a\in Y\cap Z$</a:t>
                </a:r>
                <a:r>
                  <a:rPr sz="2400" b="0">
                    <a:solidFill>
                      <a:srgbClr val="111827"/>
                    </a:solidFill>
                    <a:latin typeface="Arial"/>
                  </a:rPr>
                  <a:t> is not allowed.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each element has </a:t>
                </a:r>
                <a:r>
                  <a:rPr lang="en-IN" sz="2400">
                    <a:solidFill>
                      <a:srgbClr val="111827"/>
                    </a:solidFill>
                    <a:latin typeface="Cambria Math" panose="02040503050406030204" pitchFamily="18" charset="0"/>
                  </a:rPr>
                  <a:t>$3$</a:t>
                </a:r>
                <a:r>
                  <a:rPr sz="2400" b="0">
                    <a:solidFill>
                      <a:srgbClr val="111827"/>
                    </a:solidFill>
                    <a:latin typeface="Arial"/>
                  </a:rPr>
                  <a:t> choices, independently of the others.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the five elements of </a:t>
                </a:r>
                <a:r>
                  <a:rPr lang="en-IN" sz="2400">
                    <a:solidFill>
                      <a:srgbClr val="111827"/>
                    </a:solidFill>
                    <a:latin typeface="Cambria Math" panose="02040503050406030204" pitchFamily="18" charset="0"/>
                  </a:rPr>
                  <a:t>$X$</a:t>
                </a:r>
                <a:r>
                  <a:rPr sz="2400" b="0">
                    <a:solidFill>
                      <a:srgbClr val="111827"/>
                    </a:solidFill>
                    <a:latin typeface="Arial"/>
                  </a:rPr>
                  <a:t> the number of ordered pairs is </a:t>
                </a:r>
                <a:r>
                  <a:rPr lang="en-IN" sz="2400">
                    <a:solidFill>
                      <a:srgbClr val="111827"/>
                    </a:solidFill>
                    <a:latin typeface="Cambria Math" panose="02040503050406030204" pitchFamily="18" charset="0"/>
                  </a:rPr>
                  <a:t>$3\times3\times3\times3\times3=3^5$</a:t>
                </a:r>
                <a:r>
                  <a:rPr sz="2400" b="0">
                    <a:solidFill>
                      <a:srgbClr val="111827"/>
                    </a:solidFill>
                    <a:latin typeface="Arial"/>
                  </a:rPr>
                  <a:t>. Option (C).</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14:m>
                  <m:oMath xmlns:m="http://schemas.openxmlformats.org/officeDocument/2006/math">
                    <m:sSup>
                      <m:e>
                        <m:r>
                          <a:rPr lang="en-IN" sz="2800" i="1">
                            <a:solidFill>
                              <a:srgbClr val="15803D"/>
                            </a:solidFill>
                            <a:latin typeface="Cambria Math" panose="02040503050406030204" pitchFamily="18" charset="0"/>
                          </a:rPr>
                          <m:t>3</m:t>
                        </m:r>
                      </m:e>
                      <m:sup>
                        <m:r>
                          <a:rPr lang="en-IN" sz="2800" i="1">
                            <a:solidFill>
                              <a:srgbClr val="15803D"/>
                            </a:solidFill>
                            <a:latin typeface="Cambria Math" panose="02040503050406030204" pitchFamily="18" charset="0"/>
                          </a:rPr>
                          <m:t>5</m:t>
                        </m:r>
                      </m:sup>
                    </m:sSup>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r>
                  <a:rPr lang="en-IN" sz="2800">
                    <a:solidFill>
                      <a:srgbClr val="15803D"/>
                    </a:solidFill>
                    <a:latin typeface="Cambria Math" panose="02040503050406030204" pitchFamily="18" charset="0"/>
                  </a:rPr>
                  <a:t>$3^5$</a:t>
                </a:r>
                <a:endParaRPr sz="2800">
                  <a:solidFill>
                    <a:srgbClr val="15803D"/>
                  </a:solidFill>
                </a:endParaRPr>
              </a:p>
            </p:txBody>
          </p:sp>
        </mc:Fallback>
      </mc:AlternateContent>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Choose </a:t>
                </a:r>
                <a14:m>
                  <m:oMath xmlns:m="http://schemas.openxmlformats.org/officeDocument/2006/math">
                    <m:r>
                      <a:rPr lang="en-IN" sz="2400" i="1">
                        <a:solidFill>
                          <a:srgbClr val="78350F"/>
                        </a:solidFill>
                        <a:latin typeface="Cambria Math" panose="02040503050406030204" pitchFamily="18" charset="0"/>
                      </a:rPr>
                      <m:t>𝑌</m:t>
                    </m:r>
                  </m:oMath>
                </a14:m>
                <a:r>
                  <a:rPr sz="2400" b="0">
                    <a:solidFill>
                      <a:srgbClr val="78350F"/>
                    </a:solidFill>
                    <a:latin typeface="Arial"/>
                  </a:rPr>
                  <a:t> first, then </a:t>
                </a:r>
                <a14:m>
                  <m:oMath xmlns:m="http://schemas.openxmlformats.org/officeDocument/2006/math">
                    <m:r>
                      <a:rPr lang="en-IN" sz="2400" i="1">
                        <a:solidFill>
                          <a:srgbClr val="78350F"/>
                        </a:solidFill>
                        <a:latin typeface="Cambria Math" panose="02040503050406030204" pitchFamily="18" charset="0"/>
                      </a:rPr>
                      <m:t>𝑍</m:t>
                    </m:r>
                  </m:oMath>
                </a14:m>
                <a:r>
                  <a:rPr sz="2400" b="0">
                    <a:solidFill>
                      <a:srgbClr val="78350F"/>
                    </a:solidFill>
                    <a:latin typeface="Arial"/>
                  </a:rPr>
                  <a:t> as any subset of the complement, and sum with the binomial theorem.</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Choose </a:t>
                </a:r>
                <a:r>
                  <a:rPr lang="en-IN" sz="2400">
                    <a:solidFill>
                      <a:srgbClr val="78350F"/>
                    </a:solidFill>
                    <a:latin typeface="Cambria Math" panose="02040503050406030204" pitchFamily="18" charset="0"/>
                  </a:rPr>
                  <a:t>$Y$</a:t>
                </a:r>
                <a:r>
                  <a:rPr sz="2400" b="0">
                    <a:solidFill>
                      <a:srgbClr val="78350F"/>
                    </a:solidFill>
                    <a:latin typeface="Arial"/>
                  </a:rPr>
                  <a:t> first, then </a:t>
                </a:r>
                <a:r>
                  <a:rPr lang="en-IN" sz="2400">
                    <a:solidFill>
                      <a:srgbClr val="78350F"/>
                    </a:solidFill>
                    <a:latin typeface="Cambria Math" panose="02040503050406030204" pitchFamily="18" charset="0"/>
                  </a:rPr>
                  <a:t>$Z$</a:t>
                </a:r>
                <a:r>
                  <a:rPr sz="2400" b="0">
                    <a:solidFill>
                      <a:srgbClr val="78350F"/>
                    </a:solidFill>
                    <a:latin typeface="Arial"/>
                  </a:rPr>
                  <a:t> as any subset of the complement, and sum with the binomial theorem.</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𝑌</m:t>
                    </m:r>
                  </m:oMath>
                </a14:m>
                <a:r>
                  <a:rPr sz="2400" b="0">
                    <a:solidFill>
                      <a:srgbClr val="111827"/>
                    </a:solidFill>
                    <a:latin typeface="Arial"/>
                  </a:rPr>
                  <a:t> can be chosen in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𝑘</m:t>
                            </m:r>
                          </m:den>
                        </m:f>
                      </m:e>
                    </m:d>
                  </m:oMath>
                </a14:m>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𝑍</m:t>
                    </m:r>
                  </m:oMath>
                </a14:m>
                <a:r>
                  <a:rPr sz="2400" b="0">
                    <a:solidFill>
                      <a:srgbClr val="111827"/>
                    </a:solidFill>
                    <a:latin typeface="Arial"/>
                  </a:rPr>
                  <a:t> must avoid </a:t>
                </a:r>
                <a14:m>
                  <m:oMath xmlns:m="http://schemas.openxmlformats.org/officeDocument/2006/math">
                    <m:r>
                      <a:rPr lang="en-IN" sz="2400" i="1">
                        <a:solidFill>
                          <a:srgbClr val="111827"/>
                        </a:solidFill>
                        <a:latin typeface="Cambria Math" panose="02040503050406030204" pitchFamily="18" charset="0"/>
                      </a:rPr>
                      <m:t>𝑌</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𝑍</m:t>
                    </m:r>
                  </m:oMath>
                </a14:m>
                <a:r>
                  <a:rPr sz="2400" b="0">
                    <a:solidFill>
                      <a:srgbClr val="111827"/>
                    </a:solidFill>
                    <a:latin typeface="Arial"/>
                  </a:rPr>
                  <a:t> is any subset of the other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elements: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sup>
                    </m:sSup>
                  </m:oMath>
                </a14:m>
                <a:r>
                  <a:rPr sz="2400" b="0">
                    <a:solidFill>
                      <a:srgbClr val="111827"/>
                    </a:solidFill>
                    <a:latin typeface="Arial"/>
                  </a:rPr>
                  <a:t> choices.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5</m:t>
                        </m:r>
                      </m: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𝑘</m:t>
                                </m:r>
                              </m:den>
                            </m:f>
                          </m:e>
                        </m:d>
                      </m:e>
                    </m:nary>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the binomial theorem </a:t>
                </a: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sub>
                      <m:sup>
                        <m:r>
                          <a:rPr lang="en-IN" sz="2400" i="1">
                            <a:solidFill>
                              <a:srgbClr val="111827"/>
                            </a:solidFill>
                            <a:latin typeface="Cambria Math" panose="02040503050406030204" pitchFamily="18" charset="0"/>
                          </a:rPr>
                          <m:t>​</m:t>
                        </m:r>
                      </m: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𝑘</m:t>
                                </m:r>
                              </m:den>
                            </m:f>
                          </m:e>
                        </m:d>
                      </m:e>
                    </m:nary>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sup>
                    </m:sSup>
                    <m:sSup>
                      <m:e>
                        <m:r>
                          <a:rPr lang="en-IN" sz="2400" i="1">
                            <a:solidFill>
                              <a:srgbClr val="111827"/>
                            </a:solidFill>
                            <a:latin typeface="Cambria Math" panose="02040503050406030204" pitchFamily="18" charset="0"/>
                          </a:rPr>
                          <m:t>1</m:t>
                        </m:r>
                      </m:e>
                      <m:sup>
                        <m:r>
                          <a:rPr lang="en-IN" sz="2400" i="1">
                            <a:solidFill>
                              <a:srgbClr val="111827"/>
                            </a:solidFill>
                            <a:latin typeface="Cambria Math" panose="02040503050406030204" pitchFamily="18" charset="0"/>
                          </a:rPr>
                          <m:t>𝑘</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243</m:t>
                    </m:r>
                  </m:oMath>
                </a14:m>
                <a:r>
                  <a:rPr sz="2400" b="0">
                    <a:solidFill>
                      <a:srgbClr val="111827"/>
                    </a:solidFill>
                    <a:latin typeface="Arial"/>
                  </a:rPr>
                  <a:t>. Option (C).</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$|Y|=k$</a:t>
                </a:r>
                <a:r>
                  <a:rPr sz="2400" b="0">
                    <a:solidFill>
                      <a:srgbClr val="111827"/>
                    </a:solidFill>
                    <a:latin typeface="Arial"/>
                  </a:rPr>
                  <a:t>, then </a:t>
                </a:r>
                <a:r>
                  <a:rPr lang="en-IN" sz="2400">
                    <a:solidFill>
                      <a:srgbClr val="111827"/>
                    </a:solidFill>
                    <a:latin typeface="Cambria Math" panose="02040503050406030204" pitchFamily="18" charset="0"/>
                  </a:rPr>
                  <a:t>$Y$</a:t>
                </a:r>
                <a:r>
                  <a:rPr sz="2400" b="0">
                    <a:solidFill>
                      <a:srgbClr val="111827"/>
                    </a:solidFill>
                    <a:latin typeface="Arial"/>
                  </a:rPr>
                  <a:t> can be chosen in </a:t>
                </a:r>
                <a:r>
                  <a:rPr lang="en-IN" sz="2400">
                    <a:solidFill>
                      <a:srgbClr val="111827"/>
                    </a:solidFill>
                    <a:latin typeface="Cambria Math" panose="02040503050406030204" pitchFamily="18" charset="0"/>
                  </a:rPr>
                  <a:t>$\binom{5}{k}$</a:t>
                </a:r>
                <a:r>
                  <a:rPr sz="2400" b="0">
                    <a:solidFill>
                      <a:srgbClr val="111827"/>
                    </a:solidFill>
                    <a:latin typeface="Arial"/>
                  </a:rPr>
                  <a:t> ways.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$Z$</a:t>
                </a:r>
                <a:r>
                  <a:rPr sz="2400" b="0">
                    <a:solidFill>
                      <a:srgbClr val="111827"/>
                    </a:solidFill>
                    <a:latin typeface="Arial"/>
                  </a:rPr>
                  <a:t> must avoid </a:t>
                </a:r>
                <a:r>
                  <a:rPr lang="en-IN" sz="2400">
                    <a:solidFill>
                      <a:srgbClr val="111827"/>
                    </a:solidFill>
                    <a:latin typeface="Cambria Math" panose="02040503050406030204" pitchFamily="18" charset="0"/>
                  </a:rPr>
                  <a:t>$Y$</a:t>
                </a:r>
                <a:r>
                  <a:rPr sz="2400" b="0">
                    <a:solidFill>
                      <a:srgbClr val="111827"/>
                    </a:solidFill>
                    <a:latin typeface="Arial"/>
                  </a:rPr>
                  <a:t>, so </a:t>
                </a:r>
                <a:r>
                  <a:rPr lang="en-IN" sz="2400">
                    <a:solidFill>
                      <a:srgbClr val="111827"/>
                    </a:solidFill>
                    <a:latin typeface="Cambria Math" panose="02040503050406030204" pitchFamily="18" charset="0"/>
                  </a:rPr>
                  <a:t>$Z$</a:t>
                </a:r>
                <a:r>
                  <a:rPr sz="2400" b="0">
                    <a:solidFill>
                      <a:srgbClr val="111827"/>
                    </a:solidFill>
                    <a:latin typeface="Arial"/>
                  </a:rPr>
                  <a:t> is any subset of the other </a:t>
                </a:r>
                <a:r>
                  <a:rPr lang="en-IN" sz="2400">
                    <a:solidFill>
                      <a:srgbClr val="111827"/>
                    </a:solidFill>
                    <a:latin typeface="Cambria Math" panose="02040503050406030204" pitchFamily="18" charset="0"/>
                  </a:rPr>
                  <a:t>$5-k$</a:t>
                </a:r>
                <a:r>
                  <a:rPr sz="2400" b="0">
                    <a:solidFill>
                      <a:srgbClr val="111827"/>
                    </a:solidFill>
                    <a:latin typeface="Arial"/>
                  </a:rPr>
                  <a:t> elements: </a:t>
                </a:r>
                <a:r>
                  <a:rPr lang="en-IN" sz="2400">
                    <a:solidFill>
                      <a:srgbClr val="111827"/>
                    </a:solidFill>
                    <a:latin typeface="Cambria Math" panose="02040503050406030204" pitchFamily="18" charset="0"/>
                  </a:rPr>
                  <a:t>$2^{5-k}$</a:t>
                </a:r>
                <a:r>
                  <a:rPr sz="2400" b="0">
                    <a:solidFill>
                      <a:srgbClr val="111827"/>
                    </a:solidFill>
                    <a:latin typeface="Arial"/>
                  </a:rPr>
                  <a:t> choices.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$=\sum_{k=0}^{5}\binom{5}{k}2^{5-k}$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the binomial theorem </a:t>
                </a:r>
                <a:r>
                  <a:rPr lang="en-IN" sz="2400">
                    <a:solidFill>
                      <a:srgbClr val="111827"/>
                    </a:solidFill>
                    <a:latin typeface="Cambria Math" panose="02040503050406030204" pitchFamily="18" charset="0"/>
                  </a:rPr>
                  <a:t>$\sum_{k}\binom{5}{k}2^{5-k}1^k=(2+1)^5=3^5=243$</a:t>
                </a:r>
                <a:r>
                  <a:rPr sz="2400" b="0">
                    <a:solidFill>
                      <a:srgbClr val="111827"/>
                    </a:solidFill>
                    <a:latin typeface="Arial"/>
                  </a:rPr>
                  <a:t>. Option (C).</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14:m>
                  <m:oMath xmlns:m="http://schemas.openxmlformats.org/officeDocument/2006/math">
                    <m:sSup>
                      <m:e>
                        <m:r>
                          <a:rPr lang="en-IN" sz="2800" i="1">
                            <a:solidFill>
                              <a:srgbClr val="15803D"/>
                            </a:solidFill>
                            <a:latin typeface="Cambria Math" panose="02040503050406030204" pitchFamily="18" charset="0"/>
                          </a:rPr>
                          <m:t>3</m:t>
                        </m:r>
                      </m:e>
                      <m:sup>
                        <m:r>
                          <a:rPr lang="en-IN" sz="2800" i="1">
                            <a:solidFill>
                              <a:srgbClr val="15803D"/>
                            </a:solidFill>
                            <a:latin typeface="Cambria Math" panose="02040503050406030204" pitchFamily="18" charset="0"/>
                          </a:rPr>
                          <m:t>5</m:t>
                        </m:r>
                      </m:sup>
                    </m:sSup>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r>
                  <a:rPr lang="en-IN" sz="2800">
                    <a:solidFill>
                      <a:srgbClr val="15803D"/>
                    </a:solidFill>
                    <a:latin typeface="Cambria Math" panose="02040503050406030204" pitchFamily="18" charset="0"/>
                  </a:rPr>
                  <a:t>$3^5$</a:t>
                </a:r>
                <a:endParaRPr sz="2800">
                  <a:solidFill>
                    <a:srgbClr val="15803D"/>
                  </a:solidFill>
                </a:endParaRPr>
              </a:p>
            </p:txBody>
          </p:sp>
        </mc:Fallback>
      </mc:AlternateContent>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Ordered pairs of disjoint subsets of an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-set: </a:t>
                </a:r>
                <a14:m>
                  <m:oMath xmlns:m="http://schemas.openxmlformats.org/officeDocument/2006/math">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Ordered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-tuples of pairwise disjoint subsets: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Ordered pairs with </a:t>
                </a:r>
                <a14:m>
                  <m:oMath xmlns:m="http://schemas.openxmlformats.org/officeDocument/2006/math">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𝑍</m:t>
                    </m:r>
                  </m:oMath>
                </a14:m>
                <a:r>
                  <a:rPr sz="2400" b="0">
                    <a:solidFill>
                      <a:srgbClr val="111827"/>
                    </a:solidFill>
                    <a:latin typeface="Arial"/>
                  </a:rPr>
                  <a:t> also number </a:t>
                </a:r>
                <a14:m>
                  <m:oMath xmlns:m="http://schemas.openxmlformats.org/officeDocument/2006/math">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(each element: in </a:t>
                </a:r>
                <a14:m>
                  <m:oMath xmlns:m="http://schemas.openxmlformats.org/officeDocument/2006/math">
                    <m:r>
                      <a:rPr lang="en-IN" sz="2400" i="1">
                        <a:solidFill>
                          <a:srgbClr val="111827"/>
                        </a:solidFill>
                        <a:latin typeface="Cambria Math" panose="02040503050406030204" pitchFamily="18" charset="0"/>
                      </a:rPr>
                      <m:t>𝑌</m:t>
                    </m:r>
                  </m:oMath>
                </a14:m>
                <a:r>
                  <a:rPr sz="2400" b="0">
                    <a:solidFill>
                      <a:srgbClr val="111827"/>
                    </a:solidFill>
                    <a:latin typeface="Arial"/>
                  </a:rPr>
                  <a:t>, in </a:t>
                </a:r>
                <a14:m>
                  <m:oMath xmlns:m="http://schemas.openxmlformats.org/officeDocument/2006/math">
                    <m:r>
                      <a:rPr lang="en-IN" sz="2400" i="1">
                        <a:solidFill>
                          <a:srgbClr val="111827"/>
                        </a:solidFill>
                        <a:latin typeface="Cambria Math" panose="02040503050406030204" pitchFamily="18" charset="0"/>
                      </a:rPr>
                      <m:t>𝑍</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oMath>
                </a14:m>
                <a:r>
                  <a:rPr sz="2400" b="0">
                    <a:solidFill>
                      <a:srgbClr val="111827"/>
                    </a:solidFill>
                    <a:latin typeface="Arial"/>
                  </a:rPr>
                  <a:t>, or in neither).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Identity behind the second method: </a:t>
                </a: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sub>
                      <m:sup>
                        <m:r>
                          <a:rPr lang="en-IN" sz="2400" i="1">
                            <a:solidFill>
                              <a:srgbClr val="111827"/>
                            </a:solidFill>
                            <a:latin typeface="Cambria Math" panose="02040503050406030204" pitchFamily="18" charset="0"/>
                          </a:rPr>
                          <m:t>​</m:t>
                        </m:r>
                      </m: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𝑘</m:t>
                                </m:r>
                              </m:den>
                            </m:f>
                          </m:e>
                        </m:d>
                      </m:e>
                    </m:nary>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Check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0</m:t>
                            </m:r>
                          </m:den>
                        </m:f>
                      </m:e>
                    </m:d>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1</m:t>
                            </m:r>
                          </m:den>
                        </m:f>
                      </m:e>
                    </m:d>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2</m:t>
                            </m:r>
                          </m:den>
                        </m:f>
                      </m:e>
                    </m:d>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0</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Ordered pairs of disjoint subsets of an </a:t>
                </a:r>
                <a:r>
                  <a:rPr lang="en-IN" sz="2400">
                    <a:solidFill>
                      <a:srgbClr val="111827"/>
                    </a:solidFill>
                    <a:latin typeface="Cambria Math" panose="02040503050406030204" pitchFamily="18" charset="0"/>
                  </a:rPr>
                  <a:t>$n$</a:t>
                </a:r>
                <a:r>
                  <a:rPr sz="2400" b="0">
                    <a:solidFill>
                      <a:srgbClr val="111827"/>
                    </a:solidFill>
                    <a:latin typeface="Arial"/>
                  </a:rPr>
                  <a:t>-set: </a:t>
                </a:r>
                <a:r>
                  <a:rPr lang="en-IN" sz="2400">
                    <a:solidFill>
                      <a:srgbClr val="111827"/>
                    </a:solidFill>
                    <a:latin typeface="Cambria Math" panose="02040503050406030204" pitchFamily="18" charset="0"/>
                  </a:rPr>
                  <a:t>$3^n$</a:t>
                </a:r>
                <a:r>
                  <a:rPr sz="2400" b="0">
                    <a:solidFill>
                      <a:srgbClr val="111827"/>
                    </a:solidFill>
                    <a:latin typeface="Arial"/>
                  </a:rPr>
                  <a:t>. Ordered </a:t>
                </a:r>
                <a:r>
                  <a:rPr lang="en-IN" sz="2400">
                    <a:solidFill>
                      <a:srgbClr val="111827"/>
                    </a:solidFill>
                    <a:latin typeface="Cambria Math" panose="02040503050406030204" pitchFamily="18" charset="0"/>
                  </a:rPr>
                  <a:t>$k$</a:t>
                </a:r>
                <a:r>
                  <a:rPr sz="2400" b="0">
                    <a:solidFill>
                      <a:srgbClr val="111827"/>
                    </a:solidFill>
                    <a:latin typeface="Arial"/>
                  </a:rPr>
                  <a:t>-tuples of pairwise disjoint subsets: </a:t>
                </a:r>
                <a:r>
                  <a:rPr lang="en-IN" sz="2400">
                    <a:solidFill>
                      <a:srgbClr val="111827"/>
                    </a:solidFill>
                    <a:latin typeface="Cambria Math" panose="02040503050406030204" pitchFamily="18" charset="0"/>
                  </a:rPr>
                  <a:t>$(k+1)^n$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Ordered pairs with </a:t>
                </a:r>
                <a:r>
                  <a:rPr lang="en-IN" sz="2400">
                    <a:solidFill>
                      <a:srgbClr val="111827"/>
                    </a:solidFill>
                    <a:latin typeface="Cambria Math" panose="02040503050406030204" pitchFamily="18" charset="0"/>
                  </a:rPr>
                  <a:t>$Y\subseteq Z$</a:t>
                </a:r>
                <a:r>
                  <a:rPr sz="2400" b="0">
                    <a:solidFill>
                      <a:srgbClr val="111827"/>
                    </a:solidFill>
                    <a:latin typeface="Arial"/>
                  </a:rPr>
                  <a:t> also number </a:t>
                </a:r>
                <a:r>
                  <a:rPr lang="en-IN" sz="2400">
                    <a:solidFill>
                      <a:srgbClr val="111827"/>
                    </a:solidFill>
                    <a:latin typeface="Cambria Math" panose="02040503050406030204" pitchFamily="18" charset="0"/>
                  </a:rPr>
                  <a:t>$3^n$</a:t>
                </a:r>
                <a:r>
                  <a:rPr sz="2400" b="0">
                    <a:solidFill>
                      <a:srgbClr val="111827"/>
                    </a:solidFill>
                    <a:latin typeface="Arial"/>
                  </a:rPr>
                  <a:t> (each element: in </a:t>
                </a:r>
                <a:r>
                  <a:rPr lang="en-IN" sz="2400">
                    <a:solidFill>
                      <a:srgbClr val="111827"/>
                    </a:solidFill>
                    <a:latin typeface="Cambria Math" panose="02040503050406030204" pitchFamily="18" charset="0"/>
                  </a:rPr>
                  <a:t>$Y$</a:t>
                </a:r>
                <a:r>
                  <a:rPr sz="2400" b="0">
                    <a:solidFill>
                      <a:srgbClr val="111827"/>
                    </a:solidFill>
                    <a:latin typeface="Arial"/>
                  </a:rPr>
                  <a:t>, in </a:t>
                </a:r>
                <a:r>
                  <a:rPr lang="en-IN" sz="2400">
                    <a:solidFill>
                      <a:srgbClr val="111827"/>
                    </a:solidFill>
                    <a:latin typeface="Cambria Math" panose="02040503050406030204" pitchFamily="18" charset="0"/>
                  </a:rPr>
                  <a:t>$Z\setminus Y$</a:t>
                </a:r>
                <a:r>
                  <a:rPr sz="2400" b="0">
                    <a:solidFill>
                      <a:srgbClr val="111827"/>
                    </a:solidFill>
                    <a:latin typeface="Arial"/>
                  </a:rPr>
                  <a:t>, or in neither).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Identity behind the second method: </a:t>
                </a:r>
                <a:r>
                  <a:rPr lang="en-IN" sz="2400">
                    <a:solidFill>
                      <a:srgbClr val="111827"/>
                    </a:solidFill>
                    <a:latin typeface="Cambria Math" panose="02040503050406030204" pitchFamily="18" charset="0"/>
                  </a:rPr>
                  <a:t>$\sum_k\binom{n}{k}2^{n-k}=3^n$</a:t>
                </a:r>
                <a:r>
                  <a:rPr sz="2400" b="0">
                    <a:solidFill>
                      <a:srgbClr val="111827"/>
                    </a:solidFill>
                    <a:latin typeface="Arial"/>
                  </a:rPr>
                  <a:t>. Check </a:t>
                </a:r>
                <a:r>
                  <a:rPr lang="en-IN" sz="2400">
                    <a:solidFill>
                      <a:srgbClr val="111827"/>
                    </a:solidFill>
                    <a:latin typeface="Cambria Math" panose="02040503050406030204" pitchFamily="18" charset="0"/>
                  </a:rPr>
                  <a:t>$n=2$</a:t>
                </a:r>
                <a:r>
                  <a:rPr sz="2400" b="0">
                    <a:solidFill>
                      <a:srgbClr val="111827"/>
                    </a:solidFill>
                    <a:latin typeface="Arial"/>
                  </a:rPr>
                  <a:t>: </a:t>
                </a:r>
                <a:r>
                  <a:rPr lang="en-IN" sz="2400">
                    <a:solidFill>
                      <a:srgbClr val="111827"/>
                    </a:solidFill>
                    <a:latin typeface="Cambria Math" panose="02040503050406030204" pitchFamily="18" charset="0"/>
                  </a:rPr>
                  <a:t>$\binom20 2^2+\binom21 2^1+\binom22 2^0=4+4+1=9=3^2$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be two sets containing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elements and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elements respectively. The number of subsets of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having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or more elements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256   (B) 220   (C) 219   (D) 211</a:t>
                </a:r>
                <a:endParaRPr sz="2400">
                  <a:solidFill>
                    <a:srgbClr val="111827"/>
                  </a:solidFill>
                </a:endParaRPr>
              </a:p>
            </p:txBody>
          </p:sp>
        </mc:Choice>
        <mc:Fallback>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a:t>
                </a:r>
                <a:r>
                  <a:rPr sz="2400" b="0">
                    <a:solidFill>
                      <a:srgbClr val="111827"/>
                    </a:solidFill>
                    <a:latin typeface="Arial"/>
                  </a:rPr>
                  <a:t> and </a:t>
                </a:r>
                <a:r>
                  <a:rPr lang="en-IN" sz="2400">
                    <a:solidFill>
                      <a:srgbClr val="111827"/>
                    </a:solidFill>
                    <a:latin typeface="Cambria Math" panose="02040503050406030204" pitchFamily="18" charset="0"/>
                  </a:rPr>
                  <a:t>$B$</a:t>
                </a:r>
                <a:r>
                  <a:rPr sz="2400" b="0">
                    <a:solidFill>
                      <a:srgbClr val="111827"/>
                    </a:solidFill>
                    <a:latin typeface="Arial"/>
                  </a:rPr>
                  <a:t> be two sets containing </a:t>
                </a:r>
                <a:r>
                  <a:rPr lang="en-IN" sz="2400">
                    <a:solidFill>
                      <a:srgbClr val="111827"/>
                    </a:solidFill>
                    <a:latin typeface="Cambria Math" panose="02040503050406030204" pitchFamily="18" charset="0"/>
                  </a:rPr>
                  <a:t>$2$</a:t>
                </a:r>
                <a:r>
                  <a:rPr sz="2400" b="0">
                    <a:solidFill>
                      <a:srgbClr val="111827"/>
                    </a:solidFill>
                    <a:latin typeface="Arial"/>
                  </a:rPr>
                  <a:t> elements and </a:t>
                </a:r>
                <a:r>
                  <a:rPr lang="en-IN" sz="2400">
                    <a:solidFill>
                      <a:srgbClr val="111827"/>
                    </a:solidFill>
                    <a:latin typeface="Cambria Math" panose="02040503050406030204" pitchFamily="18" charset="0"/>
                  </a:rPr>
                  <a:t>$4$</a:t>
                </a:r>
                <a:r>
                  <a:rPr sz="2400" b="0">
                    <a:solidFill>
                      <a:srgbClr val="111827"/>
                    </a:solidFill>
                    <a:latin typeface="Arial"/>
                  </a:rPr>
                  <a:t> elements respectively. The number of subsets of </a:t>
                </a:r>
                <a:r>
                  <a:rPr lang="en-IN" sz="2400">
                    <a:solidFill>
                      <a:srgbClr val="111827"/>
                    </a:solidFill>
                    <a:latin typeface="Cambria Math" panose="02040503050406030204" pitchFamily="18" charset="0"/>
                  </a:rPr>
                  <a:t>$A\times B$</a:t>
                </a:r>
                <a:r>
                  <a:rPr sz="2400" b="0">
                    <a:solidFill>
                      <a:srgbClr val="111827"/>
                    </a:solidFill>
                    <a:latin typeface="Arial"/>
                  </a:rPr>
                  <a:t> having </a:t>
                </a:r>
                <a:r>
                  <a:rPr lang="en-IN" sz="2400">
                    <a:solidFill>
                      <a:srgbClr val="111827"/>
                    </a:solidFill>
                    <a:latin typeface="Cambria Math" panose="02040503050406030204" pitchFamily="18" charset="0"/>
                  </a:rPr>
                  <a:t>$3$</a:t>
                </a:r>
                <a:r>
                  <a:rPr sz="2400" b="0">
                    <a:solidFill>
                      <a:srgbClr val="111827"/>
                    </a:solidFill>
                    <a:latin typeface="Arial"/>
                  </a:rPr>
                  <a:t> or more elements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256   (B) 220   (C) 219   (D) 211</a:t>
                </a:r>
                <a:endParaRPr sz="2400">
                  <a:solidFill>
                    <a:srgbClr val="111827"/>
                  </a:solidFill>
                </a:endParaRPr>
              </a:p>
            </p:txBody>
          </p:sp>
        </mc:Fallback>
      </mc:AlternateContent>
      <p:sp>
        <p:nvSpPr>
          <p:cNvPr id="5" name="Rectangle 4"/>
          <p:cNvSpPr/>
          <p:nvPr/>
        </p:nvSpPr>
        <p:spPr>
          <a:xfrm>
            <a:off x="731520" y="3580383"/>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Cartesian product and number of subsets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8</m:t>
                    </m:r>
                  </m:oMath>
                </a14:m>
                <a:r>
                  <a:rPr sz="2400" b="0">
                    <a:solidFill>
                      <a:srgbClr val="78350F"/>
                    </a:solidFill>
                    <a:latin typeface="Arial"/>
                  </a:rPr>
                  <a:t>; subtract subsets of size </a:t>
                </a:r>
                <a14:m>
                  <m:oMath xmlns:m="http://schemas.openxmlformats.org/officeDocument/2006/math">
                    <m:r>
                      <a:rPr lang="en-IN" sz="2400" i="1">
                        <a:solidFill>
                          <a:srgbClr val="78350F"/>
                        </a:solidFill>
                        <a:latin typeface="Cambria Math" panose="02040503050406030204" pitchFamily="18" charset="0"/>
                      </a:rPr>
                      <m:t>0</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1</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2</m:t>
                    </m:r>
                  </m:oMath>
                </a14:m>
                <a:r>
                  <a:rPr sz="2400" b="0">
                    <a:solidFill>
                      <a:srgbClr val="78350F"/>
                    </a:solidFill>
                    <a:latin typeface="Arial"/>
                  </a:rPr>
                  <a:t> from all </a:t>
                </a:r>
                <a14:m>
                  <m:oMath xmlns:m="http://schemas.openxmlformats.org/officeDocument/2006/math">
                    <m:sSup>
                      <m:e>
                        <m:r>
                          <a:rPr lang="en-IN" sz="2400" i="1">
                            <a:solidFill>
                              <a:srgbClr val="78350F"/>
                            </a:solidFill>
                            <a:latin typeface="Cambria Math" panose="02040503050406030204" pitchFamily="18" charset="0"/>
                          </a:rPr>
                          <m:t>2</m:t>
                        </m:r>
                      </m:e>
                      <m:sup>
                        <m:r>
                          <a:rPr lang="en-IN" sz="2400" i="1">
                            <a:solidFill>
                              <a:srgbClr val="78350F"/>
                            </a:solidFill>
                            <a:latin typeface="Cambria Math" panose="02040503050406030204" pitchFamily="18" charset="0"/>
                          </a:rPr>
                          <m:t>8</m:t>
                        </m:r>
                      </m:sup>
                    </m:sSup>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$n(A\times B)=2\cdot4=8$</a:t>
                </a:r>
                <a:r>
                  <a:rPr sz="2400" b="0">
                    <a:solidFill>
                      <a:srgbClr val="78350F"/>
                    </a:solidFill>
                    <a:latin typeface="Arial"/>
                  </a:rPr>
                  <a:t>; subtract subsets of size </a:t>
                </a:r>
                <a:r>
                  <a:rPr lang="en-IN" sz="2400">
                    <a:solidFill>
                      <a:srgbClr val="78350F"/>
                    </a:solidFill>
                    <a:latin typeface="Cambria Math" panose="02040503050406030204" pitchFamily="18" charset="0"/>
                  </a:rPr>
                  <a:t>$0$</a:t>
                </a:r>
                <a:r>
                  <a:rPr sz="2400" b="0">
                    <a:solidFill>
                      <a:srgbClr val="78350F"/>
                    </a:solidFill>
                    <a:latin typeface="Arial"/>
                  </a:rPr>
                  <a:t>, </a:t>
                </a:r>
                <a:r>
                  <a:rPr lang="en-IN" sz="2400">
                    <a:solidFill>
                      <a:srgbClr val="78350F"/>
                    </a:solidFill>
                    <a:latin typeface="Cambria Math" panose="02040503050406030204" pitchFamily="18" charset="0"/>
                  </a:rPr>
                  <a:t>$1$</a:t>
                </a:r>
                <a:r>
                  <a:rPr sz="2400" b="0">
                    <a:solidFill>
                      <a:srgbClr val="78350F"/>
                    </a:solidFill>
                    <a:latin typeface="Arial"/>
                  </a:rPr>
                  <a:t>, </a:t>
                </a:r>
                <a:r>
                  <a:rPr lang="en-IN" sz="2400">
                    <a:solidFill>
                      <a:srgbClr val="78350F"/>
                    </a:solidFill>
                    <a:latin typeface="Cambria Math" panose="02040503050406030204" pitchFamily="18" charset="0"/>
                  </a:rPr>
                  <a:t>$2$</a:t>
                </a:r>
                <a:r>
                  <a:rPr sz="2400" b="0">
                    <a:solidFill>
                      <a:srgbClr val="78350F"/>
                    </a:solidFill>
                    <a:latin typeface="Arial"/>
                  </a:rPr>
                  <a:t> from all </a:t>
                </a:r>
                <a:r>
                  <a:rPr lang="en-IN" sz="2400">
                    <a:solidFill>
                      <a:srgbClr val="78350F"/>
                    </a:solidFill>
                    <a:latin typeface="Cambria Math" panose="02040503050406030204" pitchFamily="18" charset="0"/>
                  </a:rPr>
                  <a:t>$2^8$</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number of subsets of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is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8</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Subsets with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elements: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0</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Subsets with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element: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1</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Subsets with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elements: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Required number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219</m:t>
                    </m:r>
                  </m:oMath>
                </a14:m>
                <a:r>
                  <a:rPr sz="2400" b="0">
                    <a:solidFill>
                      <a:srgbClr val="111827"/>
                    </a:solidFill>
                    <a:latin typeface="Arial"/>
                  </a:rPr>
                  <a:t>. Option (C).</a:t>
                </a:r>
                <a:endParaRPr sz="2400">
                  <a:solidFill>
                    <a:srgbClr val="111827"/>
                  </a:solidFill>
                </a:endParaRPr>
              </a:p>
            </p:txBody>
          </p:sp>
        </mc:Choice>
        <mc:Fallback>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$n(A)=2$</a:t>
                </a:r>
                <a:r>
                  <a:rPr sz="2400" b="0">
                    <a:solidFill>
                      <a:srgbClr val="111827"/>
                    </a:solidFill>
                    <a:latin typeface="Arial"/>
                  </a:rPr>
                  <a:t> and </a:t>
                </a:r>
                <a:r>
                  <a:rPr lang="en-IN" sz="2400">
                    <a:solidFill>
                      <a:srgbClr val="111827"/>
                    </a:solidFill>
                    <a:latin typeface="Cambria Math" panose="02040503050406030204" pitchFamily="18" charset="0"/>
                  </a:rPr>
                  <a:t>$n(B)=4$</a:t>
                </a:r>
                <a:r>
                  <a:rPr sz="2400" b="0">
                    <a:solidFill>
                      <a:srgbClr val="111827"/>
                    </a:solidFill>
                    <a:latin typeface="Arial"/>
                  </a:rPr>
                  <a:t>, so </a:t>
                </a:r>
                <a:r>
                  <a:rPr lang="en-IN" sz="2400">
                    <a:solidFill>
                      <a:srgbClr val="111827"/>
                    </a:solidFill>
                    <a:latin typeface="Cambria Math" panose="02040503050406030204" pitchFamily="18" charset="0"/>
                  </a:rPr>
                  <a:t>$n(A\times B)=2\times4=8$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number of subsets of </a:t>
                </a:r>
                <a:r>
                  <a:rPr lang="en-IN" sz="2400">
                    <a:solidFill>
                      <a:srgbClr val="111827"/>
                    </a:solidFill>
                    <a:latin typeface="Cambria Math" panose="02040503050406030204" pitchFamily="18" charset="0"/>
                  </a:rPr>
                  <a:t>$A\times B$</a:t>
                </a:r>
                <a:r>
                  <a:rPr sz="2400" b="0">
                    <a:solidFill>
                      <a:srgbClr val="111827"/>
                    </a:solidFill>
                    <a:latin typeface="Arial"/>
                  </a:rPr>
                  <a:t> is </a:t>
                </a:r>
                <a:r>
                  <a:rPr lang="en-IN" sz="2400">
                    <a:solidFill>
                      <a:srgbClr val="111827"/>
                    </a:solidFill>
                    <a:latin typeface="Cambria Math" panose="02040503050406030204" pitchFamily="18" charset="0"/>
                  </a:rPr>
                  <a:t>$2^8=256$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Subsets with </a:t>
                </a:r>
                <a:r>
                  <a:rPr lang="en-IN" sz="2400">
                    <a:solidFill>
                      <a:srgbClr val="111827"/>
                    </a:solidFill>
                    <a:latin typeface="Cambria Math" panose="02040503050406030204" pitchFamily="18" charset="0"/>
                  </a:rPr>
                  <a:t>$0$</a:t>
                </a:r>
                <a:r>
                  <a:rPr sz="2400" b="0">
                    <a:solidFill>
                      <a:srgbClr val="111827"/>
                    </a:solidFill>
                    <a:latin typeface="Arial"/>
                  </a:rPr>
                  <a:t> elements: </a:t>
                </a:r>
                <a:r>
                  <a:rPr lang="en-IN" sz="2400">
                    <a:solidFill>
                      <a:srgbClr val="111827"/>
                    </a:solidFill>
                    <a:latin typeface="Cambria Math" panose="02040503050406030204" pitchFamily="18" charset="0"/>
                  </a:rPr>
                  <a:t>$\binom{8}{0}=1$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Subsets with </a:t>
                </a:r>
                <a:r>
                  <a:rPr lang="en-IN" sz="2400">
                    <a:solidFill>
                      <a:srgbClr val="111827"/>
                    </a:solidFill>
                    <a:latin typeface="Cambria Math" panose="02040503050406030204" pitchFamily="18" charset="0"/>
                  </a:rPr>
                  <a:t>$1$</a:t>
                </a:r>
                <a:r>
                  <a:rPr sz="2400" b="0">
                    <a:solidFill>
                      <a:srgbClr val="111827"/>
                    </a:solidFill>
                    <a:latin typeface="Arial"/>
                  </a:rPr>
                  <a:t> element: </a:t>
                </a:r>
                <a:r>
                  <a:rPr lang="en-IN" sz="2400">
                    <a:solidFill>
                      <a:srgbClr val="111827"/>
                    </a:solidFill>
                    <a:latin typeface="Cambria Math" panose="02040503050406030204" pitchFamily="18" charset="0"/>
                  </a:rPr>
                  <a:t>$\binom{8}{1}=8$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Subsets with </a:t>
                </a:r>
                <a:r>
                  <a:rPr lang="en-IN" sz="2400">
                    <a:solidFill>
                      <a:srgbClr val="111827"/>
                    </a:solidFill>
                    <a:latin typeface="Cambria Math" panose="02040503050406030204" pitchFamily="18" charset="0"/>
                  </a:rPr>
                  <a:t>$2$</a:t>
                </a:r>
                <a:r>
                  <a:rPr sz="2400" b="0">
                    <a:solidFill>
                      <a:srgbClr val="111827"/>
                    </a:solidFill>
                    <a:latin typeface="Arial"/>
                  </a:rPr>
                  <a:t> elements: </a:t>
                </a:r>
                <a:r>
                  <a:rPr lang="en-IN" sz="2400">
                    <a:solidFill>
                      <a:srgbClr val="111827"/>
                    </a:solidFill>
                    <a:latin typeface="Cambria Math" panose="02040503050406030204" pitchFamily="18" charset="0"/>
                  </a:rPr>
                  <a:t>$\binom{8}{2}=28$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Required number </a:t>
                </a:r>
                <a:r>
                  <a:rPr lang="en-IN" sz="2400">
                    <a:solidFill>
                      <a:srgbClr val="111827"/>
                    </a:solidFill>
                    <a:latin typeface="Cambria Math" panose="02040503050406030204" pitchFamily="18" charset="0"/>
                  </a:rPr>
                  <a:t>$=256-(28+8+1)=256-37=219$</a:t>
                </a:r>
                <a:r>
                  <a:rPr sz="2400" b="0">
                    <a:solidFill>
                      <a:srgbClr val="111827"/>
                    </a:solidFill>
                    <a:latin typeface="Arial"/>
                  </a:rPr>
                  <a:t>. Option (C).</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219</a:t>
            </a:r>
            <a:endParaRPr sz="2800">
              <a:solidFill>
                <a:srgbClr val="15803D"/>
              </a:solidFill>
            </a:endParaRP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Count the subsets directly by size, adding </a:t>
                </a:r>
                <a14:m>
                  <m:oMath xmlns:m="http://schemas.openxmlformats.org/officeDocument/2006/math">
                    <m:d>
                      <m:dPr>
                        <m:begChr m:val="("/>
                        <m:sepChr m:val=""/>
                        <m:endChr m:val=")"/>
                        <m:grow/>
                        <m:ctrlPr>
                          <a:rPr lang="en-IN" sz="2400" i="1">
                            <a:solidFill>
                              <a:srgbClr val="78350F"/>
                            </a:solidFill>
                            <a:latin typeface="Cambria Math" panose="02040503050406030204" pitchFamily="18" charset="0"/>
                          </a:rPr>
                        </m:ctrlPr>
                      </m:dPr>
                      <m:e>
                        <m:f>
                          <m:fPr>
                            <m:type m:val="no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8</m:t>
                            </m:r>
                          </m:num>
                          <m:den>
                            <m:r>
                              <a:rPr lang="en-IN" sz="2400" i="1">
                                <a:solidFill>
                                  <a:srgbClr val="78350F"/>
                                </a:solidFill>
                                <a:latin typeface="Cambria Math" panose="02040503050406030204" pitchFamily="18" charset="0"/>
                              </a:rPr>
                              <m:t>𝑘</m:t>
                            </m:r>
                          </m:den>
                        </m:f>
                      </m:e>
                    </m:d>
                  </m:oMath>
                </a14:m>
                <a:r>
                  <a:rPr sz="2400" b="0">
                    <a:solidFill>
                      <a:srgbClr val="78350F"/>
                    </a:solidFill>
                    <a:latin typeface="Arial"/>
                  </a:rPr>
                  <a:t> for </a:t>
                </a:r>
                <a14:m>
                  <m:oMath xmlns:m="http://schemas.openxmlformats.org/officeDocument/2006/math">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8</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Count the subsets directly by size, adding </a:t>
                </a:r>
                <a:r>
                  <a:rPr lang="en-IN" sz="2400">
                    <a:solidFill>
                      <a:srgbClr val="78350F"/>
                    </a:solidFill>
                    <a:latin typeface="Cambria Math" panose="02040503050406030204" pitchFamily="18" charset="0"/>
                  </a:rPr>
                  <a:t>$\binom{8}{k}$</a:t>
                </a:r>
                <a:r>
                  <a:rPr sz="2400" b="0">
                    <a:solidFill>
                      <a:srgbClr val="78350F"/>
                    </a:solidFill>
                    <a:latin typeface="Arial"/>
                  </a:rPr>
                  <a:t> for </a:t>
                </a:r>
                <a:r>
                  <a:rPr lang="en-IN" sz="2400">
                    <a:solidFill>
                      <a:srgbClr val="78350F"/>
                    </a:solidFill>
                    <a:latin typeface="Cambria Math" panose="02040503050406030204" pitchFamily="18" charset="0"/>
                  </a:rPr>
                  <a:t>$k=3,\dots,8$</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elements, the number of subsets of size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is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𝑘</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56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70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56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28</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219</m:t>
                    </m:r>
                  </m:oMath>
                </a14:m>
                <a:r>
                  <a:rPr sz="2400" b="0">
                    <a:solidFill>
                      <a:srgbClr val="111827"/>
                    </a:solidFill>
                    <a:latin typeface="Arial"/>
                  </a:rPr>
                  <a:t>. Option (C).</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$8$</a:t>
                </a:r>
                <a:r>
                  <a:rPr sz="2400" b="0">
                    <a:solidFill>
                      <a:srgbClr val="111827"/>
                    </a:solidFill>
                    <a:latin typeface="Arial"/>
                  </a:rPr>
                  <a:t> elements, the number of subsets of size </a:t>
                </a:r>
                <a:r>
                  <a:rPr lang="en-IN" sz="2400">
                    <a:solidFill>
                      <a:srgbClr val="111827"/>
                    </a:solidFill>
                    <a:latin typeface="Cambria Math" panose="02040503050406030204" pitchFamily="18" charset="0"/>
                  </a:rPr>
                  <a:t>$k$</a:t>
                </a:r>
                <a:r>
                  <a:rPr sz="2400" b="0">
                    <a:solidFill>
                      <a:srgbClr val="111827"/>
                    </a:solidFill>
                    <a:latin typeface="Arial"/>
                  </a:rPr>
                  <a:t> is </a:t>
                </a:r>
                <a:r>
                  <a:rPr lang="en-IN" sz="2400">
                    <a:solidFill>
                      <a:srgbClr val="111827"/>
                    </a:solidFill>
                    <a:latin typeface="Cambria Math" panose="02040503050406030204" pitchFamily="18" charset="0"/>
                  </a:rPr>
                  <a:t>$\binom{8}{k}$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$k=3$</a:t>
                </a:r>
                <a:r>
                  <a:rPr sz="2400" b="0">
                    <a:solidFill>
                      <a:srgbClr val="111827"/>
                    </a:solidFill>
                    <a:latin typeface="Arial"/>
                  </a:rPr>
                  <a:t>: </a:t>
                </a:r>
                <a:r>
                  <a:rPr lang="en-IN" sz="2400">
                    <a:solidFill>
                      <a:srgbClr val="111827"/>
                    </a:solidFill>
                    <a:latin typeface="Cambria Math" panose="02040503050406030204" pitchFamily="18" charset="0"/>
                  </a:rPr>
                  <a:t>$56$</a:t>
                </a:r>
                <a:r>
                  <a:rPr sz="2400" b="0">
                    <a:solidFill>
                      <a:srgbClr val="111827"/>
                    </a:solidFill>
                    <a:latin typeface="Arial"/>
                  </a:rPr>
                  <a:t>; </a:t>
                </a:r>
                <a:r>
                  <a:rPr lang="en-IN" sz="2400">
                    <a:solidFill>
                      <a:srgbClr val="111827"/>
                    </a:solidFill>
                    <a:latin typeface="Cambria Math" panose="02040503050406030204" pitchFamily="18" charset="0"/>
                  </a:rPr>
                  <a:t>$k=4$</a:t>
                </a:r>
                <a:r>
                  <a:rPr sz="2400" b="0">
                    <a:solidFill>
                      <a:srgbClr val="111827"/>
                    </a:solidFill>
                    <a:latin typeface="Arial"/>
                  </a:rPr>
                  <a:t>: </a:t>
                </a:r>
                <a:r>
                  <a:rPr lang="en-IN" sz="2400">
                    <a:solidFill>
                      <a:srgbClr val="111827"/>
                    </a:solidFill>
                    <a:latin typeface="Cambria Math" panose="02040503050406030204" pitchFamily="18" charset="0"/>
                  </a:rPr>
                  <a:t>$70$</a:t>
                </a:r>
                <a:r>
                  <a:rPr sz="2400" b="0">
                    <a:solidFill>
                      <a:srgbClr val="111827"/>
                    </a:solidFill>
                    <a:latin typeface="Arial"/>
                  </a:rPr>
                  <a:t>; </a:t>
                </a:r>
                <a:r>
                  <a:rPr lang="en-IN" sz="2400">
                    <a:solidFill>
                      <a:srgbClr val="111827"/>
                    </a:solidFill>
                    <a:latin typeface="Cambria Math" panose="02040503050406030204" pitchFamily="18" charset="0"/>
                  </a:rPr>
                  <a:t>$k=5$</a:t>
                </a:r>
                <a:r>
                  <a:rPr sz="2400" b="0">
                    <a:solidFill>
                      <a:srgbClr val="111827"/>
                    </a:solidFill>
                    <a:latin typeface="Arial"/>
                  </a:rPr>
                  <a:t>: </a:t>
                </a:r>
                <a:r>
                  <a:rPr lang="en-IN" sz="2400">
                    <a:solidFill>
                      <a:srgbClr val="111827"/>
                    </a:solidFill>
                    <a:latin typeface="Cambria Math" panose="02040503050406030204" pitchFamily="18" charset="0"/>
                  </a:rPr>
                  <a:t>$56$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$k=6$</a:t>
                </a:r>
                <a:r>
                  <a:rPr sz="2400" b="0">
                    <a:solidFill>
                      <a:srgbClr val="111827"/>
                    </a:solidFill>
                    <a:latin typeface="Arial"/>
                  </a:rPr>
                  <a:t>: </a:t>
                </a:r>
                <a:r>
                  <a:rPr lang="en-IN" sz="2400">
                    <a:solidFill>
                      <a:srgbClr val="111827"/>
                    </a:solidFill>
                    <a:latin typeface="Cambria Math" panose="02040503050406030204" pitchFamily="18" charset="0"/>
                  </a:rPr>
                  <a:t>$28$</a:t>
                </a:r>
                <a:r>
                  <a:rPr sz="2400" b="0">
                    <a:solidFill>
                      <a:srgbClr val="111827"/>
                    </a:solidFill>
                    <a:latin typeface="Arial"/>
                  </a:rPr>
                  <a:t>; </a:t>
                </a:r>
                <a:r>
                  <a:rPr lang="en-IN" sz="2400">
                    <a:solidFill>
                      <a:srgbClr val="111827"/>
                    </a:solidFill>
                    <a:latin typeface="Cambria Math" panose="02040503050406030204" pitchFamily="18" charset="0"/>
                  </a:rPr>
                  <a:t>$k=7$</a:t>
                </a:r>
                <a:r>
                  <a:rPr sz="2400" b="0">
                    <a:solidFill>
                      <a:srgbClr val="111827"/>
                    </a:solidFill>
                    <a:latin typeface="Arial"/>
                  </a:rPr>
                  <a:t>: </a:t>
                </a:r>
                <a:r>
                  <a:rPr lang="en-IN" sz="2400">
                    <a:solidFill>
                      <a:srgbClr val="111827"/>
                    </a:solidFill>
                    <a:latin typeface="Cambria Math" panose="02040503050406030204" pitchFamily="18" charset="0"/>
                  </a:rPr>
                  <a:t>$8$</a:t>
                </a:r>
                <a:r>
                  <a:rPr sz="2400" b="0">
                    <a:solidFill>
                      <a:srgbClr val="111827"/>
                    </a:solidFill>
                    <a:latin typeface="Arial"/>
                  </a:rPr>
                  <a:t>; </a:t>
                </a:r>
                <a:r>
                  <a:rPr lang="en-IN" sz="2400">
                    <a:solidFill>
                      <a:srgbClr val="111827"/>
                    </a:solidFill>
                    <a:latin typeface="Cambria Math" panose="02040503050406030204" pitchFamily="18" charset="0"/>
                  </a:rPr>
                  <a:t>$k=8$</a:t>
                </a:r>
                <a:r>
                  <a:rPr sz="2400" b="0">
                    <a:solidFill>
                      <a:srgbClr val="111827"/>
                    </a:solidFill>
                    <a:latin typeface="Arial"/>
                  </a:rPr>
                  <a:t>: </a:t>
                </a:r>
                <a:r>
                  <a:rPr lang="en-IN" sz="2400">
                    <a:solidFill>
                      <a:srgbClr val="111827"/>
                    </a:solidFill>
                    <a:latin typeface="Cambria Math" panose="02040503050406030204" pitchFamily="18" charset="0"/>
                  </a:rPr>
                  <a:t>$1$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r>
                  <a:rPr lang="en-IN" sz="2400">
                    <a:solidFill>
                      <a:srgbClr val="111827"/>
                    </a:solidFill>
                    <a:latin typeface="Cambria Math" panose="02040503050406030204" pitchFamily="18" charset="0"/>
                  </a:rPr>
                  <a:t>$=56+70+56+28+8+1=219$</a:t>
                </a:r>
                <a:r>
                  <a:rPr sz="2400" b="0">
                    <a:solidFill>
                      <a:srgbClr val="111827"/>
                    </a:solidFill>
                    <a:latin typeface="Arial"/>
                  </a:rPr>
                  <a:t>. Option (C).</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219</a:t>
            </a:r>
            <a:endParaRPr sz="2800">
              <a:solidFill>
                <a:srgbClr val="15803D"/>
              </a:solidFill>
            </a:endParaRP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subsets with at least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elements: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𝑟</m:t>
                        </m:r>
                      </m:sub>
                      <m:sup>
                        <m:r>
                          <a:rPr lang="en-IN" sz="2400" i="1">
                            <a:solidFill>
                              <a:srgbClr val="111827"/>
                            </a:solidFill>
                            <a:latin typeface="Cambria Math" panose="02040503050406030204" pitchFamily="18" charset="0"/>
                          </a:rPr>
                          <m:t>​</m:t>
                        </m:r>
                      </m:sup>
                      <m:e>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𝑘</m:t>
                                </m:r>
                              </m:den>
                            </m:f>
                          </m:e>
                        </m:d>
                      </m:e>
                    </m:nary>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4</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symmetry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𝑘</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no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den>
                        </m:f>
                      </m:e>
                    </m:d>
                  </m:oMath>
                </a14:m>
                <a:r>
                  <a:rPr sz="2400" b="0">
                    <a:solidFill>
                      <a:srgbClr val="111827"/>
                    </a:solidFill>
                    <a:latin typeface="Arial"/>
                  </a:rPr>
                  <a:t>, so subsets with at most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elements and at least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elements are equinumerous (</a:t>
                </a:r>
                <a14:m>
                  <m:oMath xmlns:m="http://schemas.openxmlformats.org/officeDocument/2006/math">
                    <m:r>
                      <a:rPr lang="en-IN" sz="2400" i="1">
                        <a:solidFill>
                          <a:srgbClr val="111827"/>
                        </a:solidFill>
                        <a:latin typeface="Cambria Math" panose="02040503050406030204" pitchFamily="18" charset="0"/>
                      </a:rPr>
                      <m:t>37</m:t>
                    </m:r>
                  </m:oMath>
                </a14:m>
                <a:r>
                  <a:rPr sz="2400" b="0">
                    <a:solidFill>
                      <a:srgbClr val="111827"/>
                    </a:solidFill>
                    <a:latin typeface="Arial"/>
                  </a:rPr>
                  <a:t> each for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$n(A\times B)=n(A)\,n(B)$</a:t>
                </a:r>
                <a:r>
                  <a:rPr sz="2400" b="0">
                    <a:solidFill>
                      <a:srgbClr val="111827"/>
                    </a:solidFill>
                    <a:latin typeface="Arial"/>
                  </a:rPr>
                  <a:t>; subsets with at least </a:t>
                </a:r>
                <a:r>
                  <a:rPr lang="en-IN" sz="2400">
                    <a:solidFill>
                      <a:srgbClr val="111827"/>
                    </a:solidFill>
                    <a:latin typeface="Cambria Math" panose="02040503050406030204" pitchFamily="18" charset="0"/>
                  </a:rPr>
                  <a:t>$r$</a:t>
                </a:r>
                <a:r>
                  <a:rPr sz="2400" b="0">
                    <a:solidFill>
                      <a:srgbClr val="111827"/>
                    </a:solidFill>
                    <a:latin typeface="Arial"/>
                  </a:rPr>
                  <a:t> elements: </a:t>
                </a:r>
                <a:r>
                  <a:rPr lang="en-IN" sz="2400">
                    <a:solidFill>
                      <a:srgbClr val="111827"/>
                    </a:solidFill>
                    <a:latin typeface="Cambria Math" panose="02040503050406030204" pitchFamily="18" charset="0"/>
                  </a:rPr>
                  <a:t>$2^n-\sum_{k&lt;r}\binom{n}{k}$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$n=4$</a:t>
                </a:r>
                <a:r>
                  <a:rPr sz="2400" b="0">
                    <a:solidFill>
                      <a:srgbClr val="111827"/>
                    </a:solidFill>
                    <a:latin typeface="Arial"/>
                  </a:rPr>
                  <a:t>, </a:t>
                </a:r>
                <a:r>
                  <a:rPr lang="en-IN" sz="2400">
                    <a:solidFill>
                      <a:srgbClr val="111827"/>
                    </a:solidFill>
                    <a:latin typeface="Cambria Math" panose="02040503050406030204" pitchFamily="18" charset="0"/>
                  </a:rPr>
                  <a:t>$r=3$</a:t>
                </a:r>
                <a:r>
                  <a:rPr sz="2400" b="0">
                    <a:solidFill>
                      <a:srgbClr val="111827"/>
                    </a:solidFill>
                    <a:latin typeface="Arial"/>
                  </a:rPr>
                  <a:t>: </a:t>
                </a:r>
                <a:r>
                  <a:rPr lang="en-IN" sz="2400">
                    <a:solidFill>
                      <a:srgbClr val="111827"/>
                    </a:solidFill>
                    <a:latin typeface="Cambria Math" panose="02040503050406030204" pitchFamily="18" charset="0"/>
                  </a:rPr>
                  <a:t>$16-(1+4+6)=5=\binom43+\binom44$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symmetry </a:t>
                </a:r>
                <a:r>
                  <a:rPr lang="en-IN" sz="2400">
                    <a:solidFill>
                      <a:srgbClr val="111827"/>
                    </a:solidFill>
                    <a:latin typeface="Cambria Math" panose="02040503050406030204" pitchFamily="18" charset="0"/>
                  </a:rPr>
                  <a:t>$\binom{n}{k}=\binom{n}{n-k}$</a:t>
                </a:r>
                <a:r>
                  <a:rPr sz="2400" b="0">
                    <a:solidFill>
                      <a:srgbClr val="111827"/>
                    </a:solidFill>
                    <a:latin typeface="Arial"/>
                  </a:rPr>
                  <a:t>, so subsets with at most </a:t>
                </a:r>
                <a:r>
                  <a:rPr lang="en-IN" sz="2400">
                    <a:solidFill>
                      <a:srgbClr val="111827"/>
                    </a:solidFill>
                    <a:latin typeface="Cambria Math" panose="02040503050406030204" pitchFamily="18" charset="0"/>
                  </a:rPr>
                  <a:t>$2$</a:t>
                </a:r>
                <a:r>
                  <a:rPr sz="2400" b="0">
                    <a:solidFill>
                      <a:srgbClr val="111827"/>
                    </a:solidFill>
                    <a:latin typeface="Arial"/>
                  </a:rPr>
                  <a:t> elements and at least </a:t>
                </a:r>
                <a:r>
                  <a:rPr lang="en-IN" sz="2400">
                    <a:solidFill>
                      <a:srgbClr val="111827"/>
                    </a:solidFill>
                    <a:latin typeface="Cambria Math" panose="02040503050406030204" pitchFamily="18" charset="0"/>
                  </a:rPr>
                  <a:t>$n-2$</a:t>
                </a:r>
                <a:r>
                  <a:rPr sz="2400" b="0">
                    <a:solidFill>
                      <a:srgbClr val="111827"/>
                    </a:solidFill>
                    <a:latin typeface="Arial"/>
                  </a:rPr>
                  <a:t> elements are equinumerous (</a:t>
                </a:r>
                <a:r>
                  <a:rPr lang="en-IN" sz="2400">
                    <a:solidFill>
                      <a:srgbClr val="111827"/>
                    </a:solidFill>
                    <a:latin typeface="Cambria Math" panose="02040503050406030204" pitchFamily="18" charset="0"/>
                  </a:rPr>
                  <a:t>$37$</a:t>
                </a:r>
                <a:r>
                  <a:rPr sz="2400" b="0">
                    <a:solidFill>
                      <a:srgbClr val="111827"/>
                    </a:solidFill>
                    <a:latin typeface="Arial"/>
                  </a:rPr>
                  <a:t> each for </a:t>
                </a:r>
                <a:r>
                  <a:rPr lang="en-IN" sz="2400">
                    <a:solidFill>
                      <a:srgbClr val="111827"/>
                    </a:solidFill>
                    <a:latin typeface="Cambria Math" panose="02040503050406030204" pitchFamily="18" charset="0"/>
                  </a:rPr>
                  <a:t>$n=8$</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633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nor/>
                      </m:rPr>
                      <a:rPr lang="en-IN" sz="2400" i="1">
                        <a:solidFill>
                          <a:srgbClr val="111827"/>
                        </a:solidFill>
                        <a:latin typeface="Cambria Math" panose="02040503050406030204" pitchFamily="18" charset="0"/>
                      </a:rPr>
                      <m:t> 𝑎𝑛𝑑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𝑥</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𝑥</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𝑥</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contains exactly two elements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contains exactly four elements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is an empty set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contains exactly one element</a:t>
                </a:r>
                <a:endParaRPr sz="2400">
                  <a:solidFill>
                    <a:srgbClr val="111827"/>
                  </a:solidFill>
                </a:endParaRPr>
              </a:p>
            </p:txBody>
          </p:sp>
        </mc:Choice>
        <mc:Fallback>
          <p:sp>
            <p:nvSpPr>
              <p:cNvPr id="4" name="Rounded Rectangle 3"/>
              <p:cNvSpPr/>
              <p:nvPr/>
            </p:nvSpPr>
            <p:spPr>
              <a:xfrm>
                <a:off x="731520" y="1280160"/>
                <a:ext cx="10725912" cy="2633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$S=\{x\in\mathbb{R}:x\ge0 \text{ and } 2|\sqrt{x}-3|+\sqrt{x}(\sqrt{x}-6)+6=0\}$</a:t>
                </a:r>
                <a:r>
                  <a:rPr sz="2400" b="0">
                    <a:solidFill>
                      <a:srgbClr val="111827"/>
                    </a:solidFill>
                    <a:latin typeface="Arial"/>
                  </a:rPr>
                  <a:t>. Then </a:t>
                </a:r>
                <a:r>
                  <a:rPr lang="en-IN" sz="2400">
                    <a:solidFill>
                      <a:srgbClr val="111827"/>
                    </a:solidFill>
                    <a:latin typeface="Cambria Math" panose="02040503050406030204" pitchFamily="18" charset="0"/>
                  </a:rPr>
                  <a:t>$S$</a:t>
                </a:r>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contains exactly two elements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contains exactly four elements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is an empty set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contains exactly one element</a:t>
                </a:r>
                <a:endParaRPr sz="2400">
                  <a:solidFill>
                    <a:srgbClr val="111827"/>
                  </a:solidFill>
                </a:endParaRPr>
              </a:p>
            </p:txBody>
          </p:sp>
        </mc:Fallback>
      </mc:AlternateContent>
      <p:sp>
        <p:nvSpPr>
          <p:cNvPr id="5" name="Rectangle 4"/>
          <p:cNvSpPr/>
          <p:nvPr/>
        </p:nvSpPr>
        <p:spPr>
          <a:xfrm>
            <a:off x="731520" y="4142739"/>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Roster form of a set, Equations with modulus and square roots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Put </a:t>
                </a:r>
                <a14:m>
                  <m:oMath xmlns:m="http://schemas.openxmlformats.org/officeDocument/2006/math">
                    <m:r>
                      <a:rPr lang="en-IN" sz="2400" i="1">
                        <a:solidFill>
                          <a:srgbClr val="78350F"/>
                        </a:solidFill>
                        <a:latin typeface="Cambria Math" panose="02040503050406030204" pitchFamily="18" charset="0"/>
                      </a:rPr>
                      <m:t>𝑡</m:t>
                    </m:r>
                    <m:r>
                      <m:rPr>
                        <m:sty m:val="p"/>
                      </m:rPr>
                      <a:rPr lang="en-IN" sz="2400">
                        <a:solidFill>
                          <a:srgbClr val="78350F"/>
                        </a:solidFill>
                        <a:latin typeface="Cambria Math" panose="02040503050406030204" pitchFamily="18" charset="0"/>
                      </a:rPr>
                      <m:t>=</m:t>
                    </m:r>
                    <m:rad>
                      <m:radPr>
                        <m:degHide m:val="on"/>
                        <m:ctrlPr>
                          <a:rPr lang="en-IN" sz="2400" i="1">
                            <a:solidFill>
                              <a:srgbClr val="78350F"/>
                            </a:solidFill>
                            <a:latin typeface="Cambria Math" panose="02040503050406030204" pitchFamily="18" charset="0"/>
                          </a:rPr>
                        </m:ctrlPr>
                      </m:radPr>
                      <m:deg/>
                      <m:e>
                        <m:r>
                          <a:rPr lang="en-IN" sz="2400" i="1">
                            <a:solidFill>
                              <a:srgbClr val="78350F"/>
                            </a:solidFill>
                            <a:latin typeface="Cambria Math" panose="02040503050406030204" pitchFamily="18" charset="0"/>
                          </a:rPr>
                          <m:t>𝑥</m:t>
                        </m:r>
                      </m:e>
                    </m:rad>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and split on the sign of </a:t>
                </a:r>
                <a14:m>
                  <m:oMath xmlns:m="http://schemas.openxmlformats.org/officeDocument/2006/math">
                    <m:r>
                      <a:rPr lang="en-IN" sz="2400" i="1">
                        <a:solidFill>
                          <a:srgbClr val="78350F"/>
                        </a:solidFill>
                        <a:latin typeface="Cambria Math" panose="02040503050406030204" pitchFamily="18" charset="0"/>
                      </a:rPr>
                      <m:t>𝑡</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oMath>
                </a14:m>
                <a:r>
                  <a:rPr sz="2400" b="0">
                    <a:solidFill>
                      <a:srgbClr val="78350F"/>
                    </a:solidFill>
                    <a:latin typeface="Arial"/>
                  </a:rPr>
                  <a:t>; each root must satisfy its own case.</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Put </a:t>
                </a:r>
                <a:r>
                  <a:rPr lang="en-IN" sz="2400">
                    <a:solidFill>
                      <a:srgbClr val="78350F"/>
                    </a:solidFill>
                    <a:latin typeface="Cambria Math" panose="02040503050406030204" pitchFamily="18" charset="0"/>
                  </a:rPr>
                  <a:t>$t=\sqrt{x}\ge0$</a:t>
                </a:r>
                <a:r>
                  <a:rPr sz="2400" b="0">
                    <a:solidFill>
                      <a:srgbClr val="78350F"/>
                    </a:solidFill>
                    <a:latin typeface="Arial"/>
                  </a:rPr>
                  <a:t> and split on the sign of </a:t>
                </a:r>
                <a:r>
                  <a:rPr lang="en-IN" sz="2400">
                    <a:solidFill>
                      <a:srgbClr val="78350F"/>
                    </a:solidFill>
                    <a:latin typeface="Cambria Math" panose="02040503050406030204" pitchFamily="18" charset="0"/>
                  </a:rPr>
                  <a:t>$t-3$</a:t>
                </a:r>
                <a:r>
                  <a:rPr sz="2400" b="0">
                    <a:solidFill>
                      <a:srgbClr val="78350F"/>
                    </a:solidFill>
                    <a:latin typeface="Arial"/>
                  </a:rPr>
                  <a:t>; each root must satisfy its own case.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𝑥</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 equation becomes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1: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𝑥</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𝑥</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𝑥</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giving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𝑥</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or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𝑥</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Since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𝑥</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𝑥</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is rejected.</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𝑥</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 which is accepted (</a:t>
                </a:r>
                <a14:m>
                  <m:oMath xmlns:m="http://schemas.openxmlformats.org/officeDocument/2006/math">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$t=\sqrt{x}\ge0$</a:t>
                </a:r>
                <a:r>
                  <a:rPr sz="2400" b="0">
                    <a:solidFill>
                      <a:srgbClr val="111827"/>
                    </a:solidFill>
                    <a:latin typeface="Arial"/>
                  </a:rPr>
                  <a:t>. The equation becomes </a:t>
                </a:r>
                <a:r>
                  <a:rPr lang="en-IN" sz="2400">
                    <a:solidFill>
                      <a:srgbClr val="111827"/>
                    </a:solidFill>
                    <a:latin typeface="Cambria Math" panose="02040503050406030204" pitchFamily="18" charset="0"/>
                  </a:rPr>
                  <a:t>$2|t-3|+t^2-6t+6=0$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1: </a:t>
                </a:r>
                <a:r>
                  <a:rPr lang="en-IN" sz="2400">
                    <a:solidFill>
                      <a:srgbClr val="111827"/>
                    </a:solidFill>
                    <a:latin typeface="Cambria Math" panose="02040503050406030204" pitchFamily="18" charset="0"/>
                  </a:rPr>
                  <a:t>$t-3\ge0$</a:t>
                </a:r>
                <a:r>
                  <a:rPr sz="2400" b="0">
                    <a:solidFill>
                      <a:srgbClr val="111827"/>
                    </a:solidFill>
                    <a:latin typeface="Arial"/>
                  </a:rPr>
                  <a:t>, i.e. </a:t>
                </a:r>
                <a:r>
                  <a:rPr lang="en-IN" sz="2400">
                    <a:solidFill>
                      <a:srgbClr val="111827"/>
                    </a:solidFill>
                    <a:latin typeface="Cambria Math" panose="02040503050406030204" pitchFamily="18" charset="0"/>
                  </a:rPr>
                  <a:t>$\sqrt{x}\ge3$</a:t>
                </a:r>
                <a:r>
                  <a:rPr sz="2400" b="0">
                    <a:solidFill>
                      <a:srgbClr val="111827"/>
                    </a:solidFill>
                    <a:latin typeface="Arial"/>
                  </a:rPr>
                  <a:t> (</a:t>
                </a:r>
                <a:r>
                  <a:rPr lang="en-IN" sz="2400">
                    <a:solidFill>
                      <a:srgbClr val="111827"/>
                    </a:solidFill>
                    <a:latin typeface="Cambria Math" panose="02040503050406030204" pitchFamily="18" charset="0"/>
                  </a:rPr>
                  <a:t>$x\ge9$</a:t>
                </a:r>
                <a:r>
                  <a:rPr sz="2400" b="0">
                    <a:solidFill>
                      <a:srgbClr val="111827"/>
                    </a:solidFill>
                    <a:latin typeface="Arial"/>
                  </a:rPr>
                  <a:t>). Then </a:t>
                </a:r>
                <a:r>
                  <a:rPr lang="en-IN" sz="2400">
                    <a:solidFill>
                      <a:srgbClr val="111827"/>
                    </a:solidFill>
                    <a:latin typeface="Cambria Math" panose="02040503050406030204" pitchFamily="18" charset="0"/>
                  </a:rPr>
                  <a:t>$2(t-3)+t^2-6t+6=0$</a:t>
                </a:r>
                <a:r>
                  <a:rPr sz="2400" b="0">
                    <a:solidFill>
                      <a:srgbClr val="111827"/>
                    </a:solidFill>
                    <a:latin typeface="Arial"/>
                  </a:rPr>
                  <a:t>, i.e. </a:t>
                </a:r>
                <a:r>
                  <a:rPr lang="en-IN" sz="2400">
                    <a:solidFill>
                      <a:srgbClr val="111827"/>
                    </a:solidFill>
                    <a:latin typeface="Cambria Math" panose="02040503050406030204" pitchFamily="18" charset="0"/>
                  </a:rPr>
                  <a:t>$t^2-4t=0$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$\sqrt{x}(\sqrt{x}-4)=0$</a:t>
                </a:r>
                <a:r>
                  <a:rPr sz="2400" b="0">
                    <a:solidFill>
                      <a:srgbClr val="111827"/>
                    </a:solidFill>
                    <a:latin typeface="Arial"/>
                  </a:rPr>
                  <a:t>, giving </a:t>
                </a:r>
                <a:r>
                  <a:rPr lang="en-IN" sz="2400">
                    <a:solidFill>
                      <a:srgbClr val="111827"/>
                    </a:solidFill>
                    <a:latin typeface="Cambria Math" panose="02040503050406030204" pitchFamily="18" charset="0"/>
                  </a:rPr>
                  <a:t>$\sqrt{x}=0$</a:t>
                </a:r>
                <a:r>
                  <a:rPr sz="2400" b="0">
                    <a:solidFill>
                      <a:srgbClr val="111827"/>
                    </a:solidFill>
                    <a:latin typeface="Arial"/>
                  </a:rPr>
                  <a:t> or </a:t>
                </a:r>
                <a:r>
                  <a:rPr lang="en-IN" sz="2400">
                    <a:solidFill>
                      <a:srgbClr val="111827"/>
                    </a:solidFill>
                    <a:latin typeface="Cambria Math" panose="02040503050406030204" pitchFamily="18" charset="0"/>
                  </a:rPr>
                  <a:t>$\sqrt{x}=4$</a:t>
                </a:r>
                <a:r>
                  <a:rPr sz="2400" b="0">
                    <a:solidFill>
                      <a:srgbClr val="111827"/>
                    </a:solidFill>
                    <a:latin typeface="Arial"/>
                  </a:rPr>
                  <a:t>. Since </a:t>
                </a:r>
                <a:r>
                  <a:rPr lang="en-IN" sz="2400">
                    <a:solidFill>
                      <a:srgbClr val="111827"/>
                    </a:solidFill>
                    <a:latin typeface="Cambria Math" panose="02040503050406030204" pitchFamily="18" charset="0"/>
                  </a:rPr>
                  <a:t>$\sqrt{x}\ge3$</a:t>
                </a:r>
                <a:r>
                  <a:rPr sz="2400" b="0">
                    <a:solidFill>
                      <a:srgbClr val="111827"/>
                    </a:solidFill>
                    <a:latin typeface="Arial"/>
                  </a:rPr>
                  <a:t>, </a:t>
                </a:r>
                <a:r>
                  <a:rPr lang="en-IN" sz="2400">
                    <a:solidFill>
                      <a:srgbClr val="111827"/>
                    </a:solidFill>
                    <a:latin typeface="Cambria Math" panose="02040503050406030204" pitchFamily="18" charset="0"/>
                  </a:rPr>
                  <a:t>$\sqrt{x}=0$</a:t>
                </a:r>
                <a:r>
                  <a:rPr sz="2400" b="0">
                    <a:solidFill>
                      <a:srgbClr val="111827"/>
                    </a:solidFill>
                    <a:latin typeface="Arial"/>
                  </a:rPr>
                  <a:t> is rejected.</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$\sqrt{x}=4$</a:t>
                </a:r>
                <a:r>
                  <a:rPr sz="2400" b="0">
                    <a:solidFill>
                      <a:srgbClr val="111827"/>
                    </a:solidFill>
                    <a:latin typeface="Arial"/>
                  </a:rPr>
                  <a:t> gives </a:t>
                </a:r>
                <a:r>
                  <a:rPr lang="en-IN" sz="2400">
                    <a:solidFill>
                      <a:srgbClr val="111827"/>
                    </a:solidFill>
                    <a:latin typeface="Cambria Math" panose="02040503050406030204" pitchFamily="18" charset="0"/>
                  </a:rPr>
                  <a:t>$x=16$</a:t>
                </a:r>
                <a:r>
                  <a:rPr sz="2400" b="0">
                    <a:solidFill>
                      <a:srgbClr val="111827"/>
                    </a:solidFill>
                    <a:latin typeface="Arial"/>
                  </a:rPr>
                  <a:t>, which is accepted (</a:t>
                </a:r>
                <a:r>
                  <a:rPr lang="en-IN" sz="2400">
                    <a:solidFill>
                      <a:srgbClr val="111827"/>
                    </a:solidFill>
                    <a:latin typeface="Cambria Math" panose="02040503050406030204" pitchFamily="18" charset="0"/>
                  </a:rPr>
                  <a:t>$16\ge9$</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Case 2: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9</m:t>
                    </m:r>
                  </m:oMath>
                </a14:m>
                <a:r>
                  <a:rPr sz="2400" b="0">
                    <a:solidFill>
                      <a:srgbClr val="111827"/>
                    </a:solidFill>
                    <a:latin typeface="Arial"/>
                  </a:rPr>
                  <a:t>. Then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𝑥</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or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𝑥</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Since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𝑥</m:t>
                        </m:r>
                      </m:e>
                    </m:rad>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𝑥</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is rejected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𝑥</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accepted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has exactly two elements. Option (A).</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Case 2: </a:t>
                </a:r>
                <a:r>
                  <a:rPr lang="en-IN" sz="2400">
                    <a:solidFill>
                      <a:srgbClr val="111827"/>
                    </a:solidFill>
                    <a:latin typeface="Cambria Math" panose="02040503050406030204" pitchFamily="18" charset="0"/>
                  </a:rPr>
                  <a:t>$t-3&lt;0$</a:t>
                </a:r>
                <a:r>
                  <a:rPr sz="2400" b="0">
                    <a:solidFill>
                      <a:srgbClr val="111827"/>
                    </a:solidFill>
                    <a:latin typeface="Arial"/>
                  </a:rPr>
                  <a:t>, i.e. </a:t>
                </a:r>
                <a:r>
                  <a:rPr lang="en-IN" sz="2400">
                    <a:solidFill>
                      <a:srgbClr val="111827"/>
                    </a:solidFill>
                    <a:latin typeface="Cambria Math" panose="02040503050406030204" pitchFamily="18" charset="0"/>
                  </a:rPr>
                  <a:t>$0\le x&lt;9$</a:t>
                </a:r>
                <a:r>
                  <a:rPr sz="2400" b="0">
                    <a:solidFill>
                      <a:srgbClr val="111827"/>
                    </a:solidFill>
                    <a:latin typeface="Arial"/>
                  </a:rPr>
                  <a:t>. Then </a:t>
                </a:r>
                <a:r>
                  <a:rPr lang="en-IN" sz="2400">
                    <a:solidFill>
                      <a:srgbClr val="111827"/>
                    </a:solidFill>
                    <a:latin typeface="Cambria Math" panose="02040503050406030204" pitchFamily="18" charset="0"/>
                  </a:rPr>
                  <a:t>$-2(t-3)+t^2-6t+6=0$</a:t>
                </a:r>
                <a:r>
                  <a:rPr sz="2400" b="0">
                    <a:solidFill>
                      <a:srgbClr val="111827"/>
                    </a:solidFill>
                    <a:latin typeface="Arial"/>
                  </a:rPr>
                  <a:t>, i.e. </a:t>
                </a:r>
                <a:r>
                  <a:rPr lang="en-IN" sz="2400">
                    <a:solidFill>
                      <a:srgbClr val="111827"/>
                    </a:solidFill>
                    <a:latin typeface="Cambria Math" panose="02040503050406030204" pitchFamily="18" charset="0"/>
                  </a:rPr>
                  <a:t>$t^2-8t+12=0$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$(t-6)(t-2)=0$</a:t>
                </a:r>
                <a:r>
                  <a:rPr sz="2400" b="0">
                    <a:solidFill>
                      <a:srgbClr val="111827"/>
                    </a:solidFill>
                    <a:latin typeface="Arial"/>
                  </a:rPr>
                  <a:t>, so </a:t>
                </a:r>
                <a:r>
                  <a:rPr lang="en-IN" sz="2400">
                    <a:solidFill>
                      <a:srgbClr val="111827"/>
                    </a:solidFill>
                    <a:latin typeface="Cambria Math" panose="02040503050406030204" pitchFamily="18" charset="0"/>
                  </a:rPr>
                  <a:t>$\sqrt{x}=6$</a:t>
                </a:r>
                <a:r>
                  <a:rPr sz="2400" b="0">
                    <a:solidFill>
                      <a:srgbClr val="111827"/>
                    </a:solidFill>
                    <a:latin typeface="Arial"/>
                  </a:rPr>
                  <a:t> or </a:t>
                </a:r>
                <a:r>
                  <a:rPr lang="en-IN" sz="2400">
                    <a:solidFill>
                      <a:srgbClr val="111827"/>
                    </a:solidFill>
                    <a:latin typeface="Cambria Math" panose="02040503050406030204" pitchFamily="18" charset="0"/>
                  </a:rPr>
                  <a:t>$\sqrt{x}=2$</a:t>
                </a:r>
                <a:r>
                  <a:rPr sz="2400" b="0">
                    <a:solidFill>
                      <a:srgbClr val="111827"/>
                    </a:solidFill>
                    <a:latin typeface="Arial"/>
                  </a:rPr>
                  <a:t>. Since </a:t>
                </a:r>
                <a:r>
                  <a:rPr lang="en-IN" sz="2400">
                    <a:solidFill>
                      <a:srgbClr val="111827"/>
                    </a:solidFill>
                    <a:latin typeface="Cambria Math" panose="02040503050406030204" pitchFamily="18" charset="0"/>
                  </a:rPr>
                  <a:t>$\sqrt{x}&lt;3$</a:t>
                </a:r>
                <a:r>
                  <a:rPr sz="2400" b="0">
                    <a:solidFill>
                      <a:srgbClr val="111827"/>
                    </a:solidFill>
                    <a:latin typeface="Arial"/>
                  </a:rPr>
                  <a:t>, </a:t>
                </a:r>
                <a:r>
                  <a:rPr lang="en-IN" sz="2400">
                    <a:solidFill>
                      <a:srgbClr val="111827"/>
                    </a:solidFill>
                    <a:latin typeface="Cambria Math" panose="02040503050406030204" pitchFamily="18" charset="0"/>
                  </a:rPr>
                  <a:t>$\sqrt{x}=6$</a:t>
                </a:r>
                <a:r>
                  <a:rPr sz="2400" b="0">
                    <a:solidFill>
                      <a:srgbClr val="111827"/>
                    </a:solidFill>
                    <a:latin typeface="Arial"/>
                  </a:rPr>
                  <a:t> is rejected (</a:t>
                </a:r>
                <a:r>
                  <a:rPr lang="en-IN" sz="2400">
                    <a:solidFill>
                      <a:srgbClr val="111827"/>
                    </a:solidFill>
                    <a:latin typeface="Cambria Math" panose="02040503050406030204" pitchFamily="18" charset="0"/>
                  </a:rPr>
                  <a:t>$x=36$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$\sqrt{x}=2$</a:t>
                </a:r>
                <a:r>
                  <a:rPr sz="2400" b="0">
                    <a:solidFill>
                      <a:srgbClr val="111827"/>
                    </a:solidFill>
                    <a:latin typeface="Arial"/>
                  </a:rPr>
                  <a:t> gives </a:t>
                </a:r>
                <a:r>
                  <a:rPr lang="en-IN" sz="2400">
                    <a:solidFill>
                      <a:srgbClr val="111827"/>
                    </a:solidFill>
                    <a:latin typeface="Cambria Math" panose="02040503050406030204" pitchFamily="18" charset="0"/>
                  </a:rPr>
                  <a:t>$x=4$</a:t>
                </a:r>
                <a:r>
                  <a:rPr sz="2400" b="0">
                    <a:solidFill>
                      <a:srgbClr val="111827"/>
                    </a:solidFill>
                    <a:latin typeface="Arial"/>
                  </a:rPr>
                  <a:t>, accepted (</a:t>
                </a:r>
                <a:r>
                  <a:rPr lang="en-IN" sz="2400">
                    <a:solidFill>
                      <a:srgbClr val="111827"/>
                    </a:solidFill>
                    <a:latin typeface="Cambria Math" panose="02040503050406030204" pitchFamily="18" charset="0"/>
                  </a:rPr>
                  <a:t>$0\le4&lt;9$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$S=\{4,16\}$</a:t>
                </a:r>
                <a:r>
                  <a:rPr sz="2400" b="0">
                    <a:solidFill>
                      <a:srgbClr val="111827"/>
                    </a:solidFill>
                    <a:latin typeface="Arial"/>
                  </a:rPr>
                  <a:t> has exactly two elements. Option (A).</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contains exactly two elements</a:t>
            </a:r>
            <a:endParaRPr sz="2800">
              <a:solidFill>
                <a:srgbClr val="15803D"/>
              </a:solidFill>
            </a:endParaRP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Complete the square: </a:t>
                </a:r>
                <a14:m>
                  <m:oMath xmlns:m="http://schemas.openxmlformats.org/officeDocument/2006/math">
                    <m:sSup>
                      <m:e>
                        <m:r>
                          <a:rPr lang="en-IN" sz="2400" i="1">
                            <a:solidFill>
                              <a:srgbClr val="78350F"/>
                            </a:solidFill>
                            <a:latin typeface="Cambria Math" panose="02040503050406030204" pitchFamily="18" charset="0"/>
                          </a:rPr>
                          <m:t>𝑡</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m:t>
                    </m:r>
                    <m:r>
                      <a:rPr lang="en-IN" sz="2400" i="1">
                        <a:solidFill>
                          <a:srgbClr val="78350F"/>
                        </a:solidFill>
                        <a:latin typeface="Cambria Math" panose="02040503050406030204" pitchFamily="18" charset="0"/>
                      </a:rPr>
                      <m:t>𝑡</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𝑡</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oMath>
                </a14:m>
                <a:r>
                  <a:rPr sz="2400" b="0">
                    <a:solidFill>
                      <a:srgbClr val="78350F"/>
                    </a:solidFill>
                    <a:latin typeface="Arial"/>
                  </a:rPr>
                  <a:t>, so with </a:t>
                </a:r>
                <a14:m>
                  <m:oMath xmlns:m="http://schemas.openxmlformats.org/officeDocument/2006/math">
                    <m:r>
                      <a:rPr lang="en-IN" sz="2400" i="1">
                        <a:solidFill>
                          <a:srgbClr val="78350F"/>
                        </a:solidFill>
                        <a:latin typeface="Cambria Math" panose="02040503050406030204" pitchFamily="18" charset="0"/>
                      </a:rPr>
                      <m:t>𝑢</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𝑡</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oMath>
                </a14:m>
                <a:r>
                  <a:rPr sz="2400" b="0">
                    <a:solidFill>
                      <a:srgbClr val="78350F"/>
                    </a:solidFill>
                    <a:latin typeface="Arial"/>
                  </a:rPr>
                  <a:t> the equation is </a:t>
                </a:r>
                <a14:m>
                  <m:oMath xmlns:m="http://schemas.openxmlformats.org/officeDocument/2006/math">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𝑢</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𝑢</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a quadratic in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𝑢</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Complete the square: </a:t>
                </a:r>
                <a:r>
                  <a:rPr lang="en-IN" sz="2400">
                    <a:solidFill>
                      <a:srgbClr val="78350F"/>
                    </a:solidFill>
                    <a:latin typeface="Cambria Math" panose="02040503050406030204" pitchFamily="18" charset="0"/>
                  </a:rPr>
                  <a:t>$t^2-6t+6=(t-3)^2-3$</a:t>
                </a:r>
                <a:r>
                  <a:rPr sz="2400" b="0">
                    <a:solidFill>
                      <a:srgbClr val="78350F"/>
                    </a:solidFill>
                    <a:latin typeface="Arial"/>
                  </a:rPr>
                  <a:t>, so with </a:t>
                </a:r>
                <a:r>
                  <a:rPr lang="en-IN" sz="2400">
                    <a:solidFill>
                      <a:srgbClr val="78350F"/>
                    </a:solidFill>
                    <a:latin typeface="Cambria Math" panose="02040503050406030204" pitchFamily="18" charset="0"/>
                  </a:rPr>
                  <a:t>$u=t-3$</a:t>
                </a:r>
                <a:r>
                  <a:rPr sz="2400" b="0">
                    <a:solidFill>
                      <a:srgbClr val="78350F"/>
                    </a:solidFill>
                    <a:latin typeface="Arial"/>
                  </a:rPr>
                  <a:t> the equation is </a:t>
                </a:r>
                <a:r>
                  <a:rPr lang="en-IN" sz="2400">
                    <a:solidFill>
                      <a:srgbClr val="78350F"/>
                    </a:solidFill>
                    <a:latin typeface="Cambria Math" panose="02040503050406030204" pitchFamily="18" charset="0"/>
                  </a:rPr>
                  <a:t>$2|u|+u^2-3=0$</a:t>
                </a:r>
                <a:r>
                  <a:rPr sz="2400" b="0">
                    <a:solidFill>
                      <a:srgbClr val="78350F"/>
                    </a:solidFill>
                    <a:latin typeface="Arial"/>
                  </a:rPr>
                  <a:t>, a quadratic in </a:t>
                </a:r>
                <a:r>
                  <a:rPr lang="en-IN" sz="2400">
                    <a:solidFill>
                      <a:srgbClr val="78350F"/>
                    </a:solidFill>
                    <a:latin typeface="Cambria Math" panose="02040503050406030204" pitchFamily="18" charset="0"/>
                  </a:rPr>
                  <a:t>$|u|$</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𝑥</m:t>
                        </m:r>
                      </m:e>
                    </m:rad>
                  </m:oMath>
                </a14:m>
                <a:r>
                  <a:rPr sz="2400" b="0">
                    <a:solidFill>
                      <a:srgbClr val="111827"/>
                    </a:solidFill>
                    <a:latin typeface="Arial"/>
                  </a:rPr>
                  <a:t>: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𝑥</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𝑥</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The equation is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𝑢</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sSup>
                      <m:e>
                        <m:r>
                          <a:rPr lang="en-IN" sz="2400" i="1">
                            <a:solidFill>
                              <a:srgbClr val="111827"/>
                            </a:solidFill>
                            <a:latin typeface="Cambria Math" panose="02040503050406030204" pitchFamily="18" charset="0"/>
                          </a:rPr>
                          <m:t>𝑢</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this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$t=\sqrt{x}$</a:t>
                </a:r>
                <a:r>
                  <a:rPr sz="2400" b="0">
                    <a:solidFill>
                      <a:srgbClr val="111827"/>
                    </a:solidFill>
                    <a:latin typeface="Arial"/>
                  </a:rPr>
                  <a:t>: </a:t>
                </a:r>
                <a:r>
                  <a:rPr lang="en-IN" sz="2400">
                    <a:solidFill>
                      <a:srgbClr val="111827"/>
                    </a:solidFill>
                    <a:latin typeface="Cambria Math" panose="02040503050406030204" pitchFamily="18" charset="0"/>
                  </a:rPr>
                  <a:t>$\sqrt{x}(\sqrt{x}-6)+6=t^2-6t+6=(t-3)^2-3$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a:t>
                </a:r>
                <a:r>
                  <a:rPr lang="en-IN" sz="2400">
                    <a:solidFill>
                      <a:srgbClr val="111827"/>
                    </a:solidFill>
                    <a:latin typeface="Cambria Math" panose="02040503050406030204" pitchFamily="18" charset="0"/>
                  </a:rPr>
                  <a:t>$u=t-3$</a:t>
                </a:r>
                <a:r>
                  <a:rPr sz="2400" b="0">
                    <a:solidFill>
                      <a:srgbClr val="111827"/>
                    </a:solidFill>
                    <a:latin typeface="Arial"/>
                  </a:rPr>
                  <a:t>. The equation is </a:t>
                </a:r>
                <a:r>
                  <a:rPr lang="en-IN" sz="2400">
                    <a:solidFill>
                      <a:srgbClr val="111827"/>
                    </a:solidFill>
                    <a:latin typeface="Cambria Math" panose="02040503050406030204" pitchFamily="18" charset="0"/>
                  </a:rPr>
                  <a:t>$2|u|+u^2-3=0$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$u^2=|u|^2$</a:t>
                </a:r>
                <a:r>
                  <a:rPr sz="2400" b="0">
                    <a:solidFill>
                      <a:srgbClr val="111827"/>
                    </a:solidFill>
                    <a:latin typeface="Arial"/>
                  </a:rPr>
                  <a:t>, this is </a:t>
                </a:r>
                <a:r>
                  <a:rPr lang="en-IN" sz="2400">
                    <a:solidFill>
                      <a:srgbClr val="111827"/>
                    </a:solidFill>
                    <a:latin typeface="Cambria Math" panose="02040503050406030204" pitchFamily="18" charset="0"/>
                  </a:rPr>
                  <a:t>$|u|^2+2|u|-3=0$</a:t>
                </a:r>
                <a:r>
                  <a:rPr sz="2400" b="0">
                    <a:solidFill>
                      <a:srgbClr val="111827"/>
                    </a:solidFill>
                    <a:latin typeface="Arial"/>
                  </a:rPr>
                  <a:t>, i.e. </a:t>
                </a:r>
                <a:r>
                  <a:rPr lang="en-IN" sz="2400">
                    <a:solidFill>
                      <a:srgbClr val="111827"/>
                    </a:solidFill>
                    <a:latin typeface="Cambria Math" panose="02040503050406030204" pitchFamily="18" charset="0"/>
                  </a:rPr>
                  <a:t>$(|u|+3)(|u|-1)=0$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rejects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both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Two elements: option (A).</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$|u|\ge0$</a:t>
                </a:r>
                <a:r>
                  <a:rPr sz="2400" b="0">
                    <a:solidFill>
                      <a:srgbClr val="111827"/>
                    </a:solidFill>
                    <a:latin typeface="Arial"/>
                  </a:rPr>
                  <a:t> rejects </a:t>
                </a:r>
                <a:r>
                  <a:rPr lang="en-IN" sz="2400">
                    <a:solidFill>
                      <a:srgbClr val="111827"/>
                    </a:solidFill>
                    <a:latin typeface="Cambria Math" panose="02040503050406030204" pitchFamily="18" charset="0"/>
                  </a:rPr>
                  <a:t>$|u|=-3$</a:t>
                </a:r>
                <a:r>
                  <a:rPr sz="2400" b="0">
                    <a:solidFill>
                      <a:srgbClr val="111827"/>
                    </a:solidFill>
                    <a:latin typeface="Arial"/>
                  </a:rPr>
                  <a:t>, so </a:t>
                </a:r>
                <a:r>
                  <a:rPr lang="en-IN" sz="2400">
                    <a:solidFill>
                      <a:srgbClr val="111827"/>
                    </a:solidFill>
                    <a:latin typeface="Cambria Math" panose="02040503050406030204" pitchFamily="18" charset="0"/>
                  </a:rPr>
                  <a:t>$|u|=1$</a:t>
                </a:r>
                <a:r>
                  <a:rPr sz="2400" b="0">
                    <a:solidFill>
                      <a:srgbClr val="111827"/>
                    </a:solidFill>
                    <a:latin typeface="Arial"/>
                  </a:rPr>
                  <a:t> and </a:t>
                </a:r>
                <a:r>
                  <a:rPr lang="en-IN" sz="2400">
                    <a:solidFill>
                      <a:srgbClr val="111827"/>
                    </a:solidFill>
                    <a:latin typeface="Cambria Math" panose="02040503050406030204" pitchFamily="18" charset="0"/>
                  </a:rPr>
                  <a:t>$u=\pm1$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$t=3\pm1\in\{2,4\}$</a:t>
                </a:r>
                <a:r>
                  <a:rPr sz="2400" b="0">
                    <a:solidFill>
                      <a:srgbClr val="111827"/>
                    </a:solidFill>
                    <a:latin typeface="Arial"/>
                  </a:rPr>
                  <a:t>, both </a:t>
                </a:r>
                <a:r>
                  <a:rPr lang="en-IN" sz="2400">
                    <a:solidFill>
                      <a:srgbClr val="111827"/>
                    </a:solidFill>
                    <a:latin typeface="Cambria Math" panose="02040503050406030204" pitchFamily="18" charset="0"/>
                  </a:rPr>
                  <a:t>$\ge0$</a:t>
                </a:r>
                <a:r>
                  <a:rPr sz="2400" b="0">
                    <a:solidFill>
                      <a:srgbClr val="111827"/>
                    </a:solidFill>
                    <a:latin typeface="Arial"/>
                  </a:rPr>
                  <a:t>, so </a:t>
                </a:r>
                <a:r>
                  <a:rPr lang="en-IN" sz="2400">
                    <a:solidFill>
                      <a:srgbClr val="111827"/>
                    </a:solidFill>
                    <a:latin typeface="Cambria Math" panose="02040503050406030204" pitchFamily="18" charset="0"/>
                  </a:rPr>
                  <a:t>$x=t^2\in\{4,16\}$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Two elements: option (A).</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contains exactly two elements</a:t>
            </a:r>
            <a:endParaRPr sz="2800">
              <a:solidFill>
                <a:srgbClr val="15803D"/>
              </a:solidFill>
            </a:endParaRP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an equation with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 quadratic in </a:t>
                </a:r>
                <a14:m>
                  <m:oMath xmlns:m="http://schemas.openxmlformats.org/officeDocument/2006/math">
                    <m:r>
                      <a:rPr lang="en-IN" sz="2400" i="1">
                        <a:solidFill>
                          <a:srgbClr val="111827"/>
                        </a:solidFill>
                        <a:latin typeface="Cambria Math" panose="02040503050406030204" pitchFamily="18" charset="0"/>
                      </a:rPr>
                      <m:t>𝑡</m:t>
                    </m:r>
                  </m:oMath>
                </a14:m>
                <a:r>
                  <a:rPr sz="2400" b="0">
                    <a:solidFill>
                      <a:srgbClr val="111827"/>
                    </a:solidFill>
                    <a:latin typeface="Arial"/>
                  </a:rPr>
                  <a:t>, shift to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then </a:t>
                </a:r>
                <a14:m>
                  <m:oMath xmlns:m="http://schemas.openxmlformats.org/officeDocument/2006/math">
                    <m:sSup>
                      <m:e>
                        <m:r>
                          <a:rPr lang="en-IN" sz="2400" i="1">
                            <a:solidFill>
                              <a:srgbClr val="111827"/>
                            </a:solidFill>
                            <a:latin typeface="Cambria Math" panose="02040503050406030204" pitchFamily="18" charset="0"/>
                          </a:rPr>
                          <m:t>𝑢</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turns it into a quadratic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no case split.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check each root against its case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𝑥</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or </a:t>
                </a:r>
                <a14:m>
                  <m:oMath xmlns:m="http://schemas.openxmlformats.org/officeDocument/2006/math">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3</m:t>
                    </m:r>
                  </m:oMath>
                </a14:m>
                <a:r>
                  <a:rPr sz="2400" b="0">
                    <a:solidFill>
                      <a:srgbClr val="111827"/>
                    </a:solidFill>
                    <a:latin typeface="Arial"/>
                  </a:rPr>
                  <a:t> here); an extraneous root such as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oMath>
                </a14:m>
                <a:r>
                  <a:rPr sz="2400" b="0">
                    <a:solidFill>
                      <a:srgbClr val="111827"/>
                    </a:solidFill>
                    <a:latin typeface="Arial"/>
                  </a:rPr>
                  <a:t> appears otherwise.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an equation with </a:t>
                </a:r>
                <a:r>
                  <a:rPr lang="en-IN" sz="2400">
                    <a:solidFill>
                      <a:srgbClr val="111827"/>
                    </a:solidFill>
                    <a:latin typeface="Cambria Math" panose="02040503050406030204" pitchFamily="18" charset="0"/>
                  </a:rPr>
                  <a:t>$|t-a|$</a:t>
                </a:r>
                <a:r>
                  <a:rPr sz="2400" b="0">
                    <a:solidFill>
                      <a:srgbClr val="111827"/>
                    </a:solidFill>
                    <a:latin typeface="Arial"/>
                  </a:rPr>
                  <a:t> and a quadratic in </a:t>
                </a:r>
                <a:r>
                  <a:rPr lang="en-IN" sz="2400">
                    <a:solidFill>
                      <a:srgbClr val="111827"/>
                    </a:solidFill>
                    <a:latin typeface="Cambria Math" panose="02040503050406030204" pitchFamily="18" charset="0"/>
                  </a:rPr>
                  <a:t>$t$</a:t>
                </a:r>
                <a:r>
                  <a:rPr sz="2400" b="0">
                    <a:solidFill>
                      <a:srgbClr val="111827"/>
                    </a:solidFill>
                    <a:latin typeface="Arial"/>
                  </a:rPr>
                  <a:t>, shift to </a:t>
                </a:r>
                <a:r>
                  <a:rPr lang="en-IN" sz="2400">
                    <a:solidFill>
                      <a:srgbClr val="111827"/>
                    </a:solidFill>
                    <a:latin typeface="Cambria Math" panose="02040503050406030204" pitchFamily="18" charset="0"/>
                  </a:rPr>
                  <a:t>$u=t-a$</a:t>
                </a:r>
                <a:r>
                  <a:rPr sz="2400" b="0">
                    <a:solidFill>
                      <a:srgbClr val="111827"/>
                    </a:solidFill>
                    <a:latin typeface="Arial"/>
                  </a:rPr>
                  <a:t>; then </a:t>
                </a:r>
                <a:r>
                  <a:rPr lang="en-IN" sz="2400">
                    <a:solidFill>
                      <a:srgbClr val="111827"/>
                    </a:solidFill>
                    <a:latin typeface="Cambria Math" panose="02040503050406030204" pitchFamily="18" charset="0"/>
                  </a:rPr>
                  <a:t>$u^2=|u|^2$</a:t>
                </a:r>
                <a:r>
                  <a:rPr sz="2400" b="0">
                    <a:solidFill>
                      <a:srgbClr val="111827"/>
                    </a:solidFill>
                    <a:latin typeface="Arial"/>
                  </a:rPr>
                  <a:t> turns it into a quadratic in </a:t>
                </a:r>
                <a:r>
                  <a:rPr lang="en-IN" sz="2400">
                    <a:solidFill>
                      <a:srgbClr val="111827"/>
                    </a:solidFill>
                    <a:latin typeface="Cambria Math" panose="02040503050406030204" pitchFamily="18" charset="0"/>
                  </a:rPr>
                  <a:t>$|u|$</a:t>
                </a:r>
                <a:r>
                  <a:rPr sz="2400" b="0">
                    <a:solidFill>
                      <a:srgbClr val="111827"/>
                    </a:solidFill>
                    <a:latin typeface="Arial"/>
                  </a:rPr>
                  <a:t>, with no case split.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check each root against its case (</a:t>
                </a:r>
                <a:r>
                  <a:rPr lang="en-IN" sz="2400">
                    <a:solidFill>
                      <a:srgbClr val="111827"/>
                    </a:solidFill>
                    <a:latin typeface="Cambria Math" panose="02040503050406030204" pitchFamily="18" charset="0"/>
                  </a:rPr>
                  <a:t>$\sqrt{x}\ge3$</a:t>
                </a:r>
                <a:r>
                  <a:rPr sz="2400" b="0">
                    <a:solidFill>
                      <a:srgbClr val="111827"/>
                    </a:solidFill>
                    <a:latin typeface="Arial"/>
                  </a:rPr>
                  <a:t> or </a:t>
                </a:r>
                <a:r>
                  <a:rPr lang="en-IN" sz="2400">
                    <a:solidFill>
                      <a:srgbClr val="111827"/>
                    </a:solidFill>
                    <a:latin typeface="Cambria Math" panose="02040503050406030204" pitchFamily="18" charset="0"/>
                  </a:rPr>
                  <a:t>$&lt;3$</a:t>
                </a:r>
                <a:r>
                  <a:rPr sz="2400" b="0">
                    <a:solidFill>
                      <a:srgbClr val="111827"/>
                    </a:solidFill>
                    <a:latin typeface="Arial"/>
                  </a:rPr>
                  <a:t> here); an extraneous root such as </a:t>
                </a:r>
                <a:r>
                  <a:rPr lang="en-IN" sz="2400">
                    <a:solidFill>
                      <a:srgbClr val="111827"/>
                    </a:solidFill>
                    <a:latin typeface="Cambria Math" panose="02040503050406030204" pitchFamily="18" charset="0"/>
                  </a:rPr>
                  <a:t>$x=0$</a:t>
                </a:r>
                <a:r>
                  <a:rPr sz="2400" b="0">
                    <a:solidFill>
                      <a:srgbClr val="111827"/>
                    </a:solidFill>
                    <a:latin typeface="Arial"/>
                  </a:rPr>
                  <a:t> or </a:t>
                </a:r>
                <a:r>
                  <a:rPr lang="en-IN" sz="2400">
                    <a:solidFill>
                      <a:srgbClr val="111827"/>
                    </a:solidFill>
                    <a:latin typeface="Cambria Math" panose="02040503050406030204" pitchFamily="18" charset="0"/>
                  </a:rPr>
                  <a:t>$x=36$</a:t>
                </a:r>
                <a:r>
                  <a:rPr sz="2400" b="0">
                    <a:solidFill>
                      <a:srgbClr val="111827"/>
                    </a:solidFill>
                    <a:latin typeface="Arial"/>
                  </a:rPr>
                  <a:t> appears otherwise.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$x=4$</a:t>
                </a:r>
                <a:r>
                  <a:rPr sz="2400" b="0">
                    <a:solidFill>
                      <a:srgbClr val="111827"/>
                    </a:solidFill>
                    <a:latin typeface="Arial"/>
                  </a:rPr>
                  <a:t>: </a:t>
                </a:r>
                <a:r>
                  <a:rPr lang="en-IN" sz="2400">
                    <a:solidFill>
                      <a:srgbClr val="111827"/>
                    </a:solidFill>
                    <a:latin typeface="Cambria Math" panose="02040503050406030204" pitchFamily="18" charset="0"/>
                  </a:rPr>
                  <a:t>$2|2-3|+2(2-6)+6=2-8+6=0$</a:t>
                </a:r>
                <a:r>
                  <a:rPr sz="2400" b="0">
                    <a:solidFill>
                      <a:srgbClr val="111827"/>
                    </a:solidFill>
                    <a:latin typeface="Arial"/>
                  </a:rPr>
                  <a:t>; </a:t>
                </a:r>
                <a:r>
                  <a:rPr lang="en-IN" sz="2400">
                    <a:solidFill>
                      <a:srgbClr val="111827"/>
                    </a:solidFill>
                    <a:latin typeface="Cambria Math" panose="02040503050406030204" pitchFamily="18" charset="0"/>
                  </a:rPr>
                  <a:t>$x=16$</a:t>
                </a:r>
                <a:r>
                  <a:rPr sz="2400" b="0">
                    <a:solidFill>
                      <a:srgbClr val="111827"/>
                    </a:solidFill>
                    <a:latin typeface="Arial"/>
                  </a:rPr>
                  <a:t>: </a:t>
                </a:r>
                <a:r>
                  <a:rPr lang="en-IN" sz="2400">
                    <a:solidFill>
                      <a:srgbClr val="111827"/>
                    </a:solidFill>
                    <a:latin typeface="Cambria Math" panose="02040503050406030204" pitchFamily="18" charset="0"/>
                  </a:rPr>
                  <a:t>$2|4-3|+4(4-6)+6=2-8+6=0$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2</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Numerical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Q12</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Marks not printed in the paper: +4 assumed (JEE Advanced default)</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Questions are from AIEEE / JEE Main papers</a:t>
            </a:r>
            <a:endParaRPr sz="2800">
              <a:solidFill>
                <a:srgbClr val="FFFFFF"/>
              </a:solidFill>
            </a:endParaRP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nor/>
                      </m:rPr>
                      <a:rPr lang="en-IN" sz="2400" i="1">
                        <a:solidFill>
                          <a:srgbClr val="111827"/>
                        </a:solidFill>
                        <a:latin typeface="Cambria Math" panose="02040503050406030204" pitchFamily="18" charset="0"/>
                      </a:rPr>
                      <m:t> 𝑖𝑠 𝑎 3-𝑑𝑖𝑔𝑖𝑡 𝑛𝑢𝑚𝑏𝑒𝑟</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some </a:t>
                </a:r>
                <a14:m>
                  <m:oMath xmlns:m="http://schemas.openxmlformats.org/officeDocument/2006/math">
                    <m:r>
                      <a:rPr lang="en-IN" sz="2400" i="1">
                        <a:solidFill>
                          <a:srgbClr val="111827"/>
                        </a:solidFill>
                        <a:latin typeface="Cambria Math" panose="02040503050406030204" pitchFamily="18" charset="0"/>
                      </a:rPr>
                      <m:t>ℓ</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ℓ</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If the sum of all the elements of the set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274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400</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ℓ</m:t>
                    </m:r>
                  </m:oMath>
                </a14:m>
                <a:r>
                  <a:rPr sz="2400" b="0">
                    <a:solidFill>
                      <a:srgbClr val="111827"/>
                    </a:solidFill>
                    <a:latin typeface="Arial"/>
                  </a:rPr>
                  <a:t> is equal to ________.</a:t>
                </a:r>
                <a:endParaRPr sz="2400">
                  <a:solidFill>
                    <a:srgbClr val="111827"/>
                  </a:solidFill>
                </a:endParaRPr>
              </a:p>
            </p:txBody>
          </p:sp>
        </mc:Choice>
        <mc:Fallback>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$A=\{n\in\mathbb{N}:n \text{ is a 3-digit number}\}$</a:t>
                </a:r>
                <a:r>
                  <a:rPr sz="2400" b="0">
                    <a:solidFill>
                      <a:srgbClr val="111827"/>
                    </a:solidFill>
                    <a:latin typeface="Arial"/>
                  </a:rPr>
                  <a:t>, </a:t>
                </a:r>
                <a:r>
                  <a:rPr lang="en-IN" sz="2400">
                    <a:solidFill>
                      <a:srgbClr val="111827"/>
                    </a:solidFill>
                    <a:latin typeface="Cambria Math" panose="02040503050406030204" pitchFamily="18" charset="0"/>
                  </a:rPr>
                  <a:t>$B=\{9k+2:k\in\mathbb{N}\}$</a:t>
                </a:r>
                <a:r>
                  <a:rPr sz="2400" b="0">
                    <a:solidFill>
                      <a:srgbClr val="111827"/>
                    </a:solidFill>
                    <a:latin typeface="Arial"/>
                  </a:rPr>
                  <a:t> and </a:t>
                </a:r>
                <a:r>
                  <a:rPr lang="en-IN" sz="2400">
                    <a:solidFill>
                      <a:srgbClr val="111827"/>
                    </a:solidFill>
                    <a:latin typeface="Cambria Math" panose="02040503050406030204" pitchFamily="18" charset="0"/>
                  </a:rPr>
                  <a:t>$C=\{9k+\ell:k\in\mathbb{N}\}$</a:t>
                </a:r>
                <a:r>
                  <a:rPr sz="2400" b="0">
                    <a:solidFill>
                      <a:srgbClr val="111827"/>
                    </a:solidFill>
                    <a:latin typeface="Arial"/>
                  </a:rPr>
                  <a:t> for some </a:t>
                </a:r>
                <a:r>
                  <a:rPr lang="en-IN" sz="2400">
                    <a:solidFill>
                      <a:srgbClr val="111827"/>
                    </a:solidFill>
                    <a:latin typeface="Cambria Math" panose="02040503050406030204" pitchFamily="18" charset="0"/>
                  </a:rPr>
                  <a:t>$\ell$</a:t>
                </a:r>
                <a:r>
                  <a:rPr sz="2400" b="0">
                    <a:solidFill>
                      <a:srgbClr val="111827"/>
                    </a:solidFill>
                    <a:latin typeface="Arial"/>
                  </a:rPr>
                  <a:t> </a:t>
                </a:r>
                <a:r>
                  <a:rPr lang="en-IN" sz="2400">
                    <a:solidFill>
                      <a:srgbClr val="111827"/>
                    </a:solidFill>
                    <a:latin typeface="Cambria Math" panose="02040503050406030204" pitchFamily="18" charset="0"/>
                  </a:rPr>
                  <a:t>$(0&lt;\ell&lt;9)$</a:t>
                </a:r>
                <a:r>
                  <a:rPr sz="2400" b="0">
                    <a:solidFill>
                      <a:srgbClr val="111827"/>
                    </a:solidFill>
                    <a:latin typeface="Arial"/>
                  </a:rPr>
                  <a:t>. If the sum of all the elements of the set </a:t>
                </a:r>
                <a:r>
                  <a:rPr lang="en-IN" sz="2400">
                    <a:solidFill>
                      <a:srgbClr val="111827"/>
                    </a:solidFill>
                    <a:latin typeface="Cambria Math" panose="02040503050406030204" pitchFamily="18" charset="0"/>
                  </a:rPr>
                  <a:t>$A\cap(B\cup C)$</a:t>
                </a:r>
                <a:r>
                  <a:rPr sz="2400" b="0">
                    <a:solidFill>
                      <a:srgbClr val="111827"/>
                    </a:solidFill>
                    <a:latin typeface="Arial"/>
                  </a:rPr>
                  <a:t> is </a:t>
                </a:r>
                <a:r>
                  <a:rPr lang="en-IN" sz="2400">
                    <a:solidFill>
                      <a:srgbClr val="111827"/>
                    </a:solidFill>
                    <a:latin typeface="Cambria Math" panose="02040503050406030204" pitchFamily="18" charset="0"/>
                  </a:rPr>
                  <a:t>$274\times400$</a:t>
                </a:r>
                <a:r>
                  <a:rPr sz="2400" b="0">
                    <a:solidFill>
                      <a:srgbClr val="111827"/>
                    </a:solidFill>
                    <a:latin typeface="Arial"/>
                  </a:rPr>
                  <a:t>, then </a:t>
                </a:r>
                <a:r>
                  <a:rPr lang="en-IN" sz="2400">
                    <a:solidFill>
                      <a:srgbClr val="111827"/>
                    </a:solidFill>
                    <a:latin typeface="Cambria Math" panose="02040503050406030204" pitchFamily="18" charset="0"/>
                  </a:rPr>
                  <a:t>$\ell$</a:t>
                </a:r>
                <a:r>
                  <a:rPr sz="2400" b="0">
                    <a:solidFill>
                      <a:srgbClr val="111827"/>
                    </a:solidFill>
                    <a:latin typeface="Arial"/>
                  </a:rPr>
                  <a:t> is equal to ________.</a:t>
                </a:r>
                <a:endParaRPr sz="2400">
                  <a:solidFill>
                    <a:srgbClr val="111827"/>
                  </a:solidFill>
                </a:endParaRPr>
              </a:p>
            </p:txBody>
          </p:sp>
        </mc:Fallback>
      </mc:AlternateContent>
      <p:sp>
        <p:nvSpPr>
          <p:cNvPr id="5" name="Rectangle 4"/>
          <p:cNvSpPr/>
          <p:nvPr/>
        </p:nvSpPr>
        <p:spPr>
          <a:xfrm>
            <a:off x="731520" y="3888739"/>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Union and intersection of sets, Sum of an arithmetic progression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a:rPr lang="en-IN" sz="2400" i="1">
                        <a:solidFill>
                          <a:srgbClr val="78350F"/>
                        </a:solidFill>
                        <a:latin typeface="Cambria Math" panose="02040503050406030204" pitchFamily="18" charset="0"/>
                      </a:rPr>
                      <m:t>𝐵</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𝐶</m:t>
                    </m:r>
                  </m:oMath>
                </a14:m>
                <a:r>
                  <a:rPr sz="2400" b="0">
                    <a:solidFill>
                      <a:srgbClr val="78350F"/>
                    </a:solidFill>
                    <a:latin typeface="Arial"/>
                  </a:rPr>
                  <a:t> each contribute </a:t>
                </a:r>
                <a14:m>
                  <m:oMath xmlns:m="http://schemas.openxmlformats.org/officeDocument/2006/math">
                    <m:r>
                      <a:rPr lang="en-IN" sz="2400" i="1">
                        <a:solidFill>
                          <a:srgbClr val="78350F"/>
                        </a:solidFill>
                        <a:latin typeface="Cambria Math" panose="02040503050406030204" pitchFamily="18" charset="0"/>
                      </a:rPr>
                      <m:t>100</m:t>
                    </m:r>
                  </m:oMath>
                </a14:m>
                <a:r>
                  <a:rPr sz="2400" b="0">
                    <a:solidFill>
                      <a:srgbClr val="78350F"/>
                    </a:solidFill>
                    <a:latin typeface="Arial"/>
                  </a:rPr>
                  <a:t> three-digit terms; the shift </a:t>
                </a:r>
                <a14:m>
                  <m:oMath xmlns:m="http://schemas.openxmlformats.org/officeDocument/2006/math">
                    <m:r>
                      <a:rPr lang="en-IN" sz="2400" i="1">
                        <a:solidFill>
                          <a:srgbClr val="78350F"/>
                        </a:solidFill>
                        <a:latin typeface="Cambria Math" panose="02040503050406030204" pitchFamily="18" charset="0"/>
                      </a:rPr>
                      <m:t>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 in residue shifts the sum by </a:t>
                </a:r>
                <a14:m>
                  <m:oMath xmlns:m="http://schemas.openxmlformats.org/officeDocument/2006/math">
                    <m:r>
                      <a:rPr lang="en-IN" sz="2400" i="1">
                        <a:solidFill>
                          <a:srgbClr val="78350F"/>
                        </a:solidFill>
                        <a:latin typeface="Cambria Math" panose="02040503050406030204" pitchFamily="18" charset="0"/>
                      </a:rPr>
                      <m:t>100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$B$</a:t>
                </a:r>
                <a:r>
                  <a:rPr sz="2400" b="0">
                    <a:solidFill>
                      <a:srgbClr val="78350F"/>
                    </a:solidFill>
                    <a:latin typeface="Arial"/>
                  </a:rPr>
                  <a:t> and </a:t>
                </a:r>
                <a:r>
                  <a:rPr lang="en-IN" sz="2400">
                    <a:solidFill>
                      <a:srgbClr val="78350F"/>
                    </a:solidFill>
                    <a:latin typeface="Cambria Math" panose="02040503050406030204" pitchFamily="18" charset="0"/>
                  </a:rPr>
                  <a:t>$C$</a:t>
                </a:r>
                <a:r>
                  <a:rPr sz="2400" b="0">
                    <a:solidFill>
                      <a:srgbClr val="78350F"/>
                    </a:solidFill>
                    <a:latin typeface="Arial"/>
                  </a:rPr>
                  <a:t> each contribute </a:t>
                </a:r>
                <a:r>
                  <a:rPr lang="en-IN" sz="2400">
                    <a:solidFill>
                      <a:srgbClr val="78350F"/>
                    </a:solidFill>
                    <a:latin typeface="Cambria Math" panose="02040503050406030204" pitchFamily="18" charset="0"/>
                  </a:rPr>
                  <a:t>$100$</a:t>
                </a:r>
                <a:r>
                  <a:rPr sz="2400" b="0">
                    <a:solidFill>
                      <a:srgbClr val="78350F"/>
                    </a:solidFill>
                    <a:latin typeface="Arial"/>
                  </a:rPr>
                  <a:t> three-digit terms; the shift </a:t>
                </a:r>
                <a:r>
                  <a:rPr lang="en-IN" sz="2400">
                    <a:solidFill>
                      <a:srgbClr val="78350F"/>
                    </a:solidFill>
                    <a:latin typeface="Cambria Math" panose="02040503050406030204" pitchFamily="18" charset="0"/>
                  </a:rPr>
                  <a:t>$\ell-2$</a:t>
                </a:r>
                <a:r>
                  <a:rPr sz="2400" b="0">
                    <a:solidFill>
                      <a:srgbClr val="78350F"/>
                    </a:solidFill>
                    <a:latin typeface="Arial"/>
                  </a:rPr>
                  <a:t> in residue shifts the sum by </a:t>
                </a:r>
                <a:r>
                  <a:rPr lang="en-IN" sz="2400">
                    <a:solidFill>
                      <a:srgbClr val="78350F"/>
                    </a:solidFill>
                    <a:latin typeface="Cambria Math" panose="02040503050406030204" pitchFamily="18" charset="0"/>
                  </a:rPr>
                  <a:t>$100(\ell-2)$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3-digit members of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999</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110</m:t>
                    </m:r>
                  </m:oMath>
                </a14:m>
                <a:r>
                  <a:rPr sz="2400" b="0">
                    <a:solidFill>
                      <a:srgbClr val="111827"/>
                    </a:solidFill>
                    <a:latin typeface="Arial"/>
                  </a:rPr>
                  <a:t> (from </a:t>
                </a:r>
                <a14:m>
                  <m:oMath xmlns:m="http://schemas.openxmlformats.org/officeDocument/2006/math">
                    <m:r>
                      <a:rPr lang="en-IN" sz="2400" i="1">
                        <a:solidFill>
                          <a:srgbClr val="111827"/>
                        </a:solidFill>
                        <a:latin typeface="Cambria Math" panose="02040503050406030204" pitchFamily="18" charset="0"/>
                      </a:rPr>
                      <m:t>101</m:t>
                    </m:r>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992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100</m:t>
                    </m:r>
                  </m:oMath>
                </a14:m>
                <a:r>
                  <a:rPr sz="2400" b="0">
                    <a:solidFill>
                      <a:srgbClr val="111827"/>
                    </a:solidFill>
                    <a:latin typeface="Arial"/>
                  </a:rPr>
                  <a:t> terms.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Their sum is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sub>
                      <m:sup>
                        <m:r>
                          <a:rPr lang="en-IN" sz="2400" i="1">
                            <a:solidFill>
                              <a:srgbClr val="111827"/>
                            </a:solidFill>
                            <a:latin typeface="Cambria Math" panose="02040503050406030204" pitchFamily="18" charset="0"/>
                          </a:rPr>
                          <m:t>110</m:t>
                        </m:r>
                      </m:sup>
                      <m:e>
                        <m:r>
                          <m:rPr>
                            <m:sty m:val="p"/>
                          </m:rPr>
                          <a:rPr lang="en-IN" sz="2400">
                            <a:solidFill>
                              <a:srgbClr val="111827"/>
                            </a:solidFill>
                            <a:latin typeface="Cambria Math" panose="02040503050406030204" pitchFamily="18" charset="0"/>
                          </a:rPr>
                          <m:t>(</m:t>
                        </m:r>
                      </m:e>
                    </m:nary>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6105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54650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required total is </a:t>
                </a:r>
                <a14:m>
                  <m:oMath xmlns:m="http://schemas.openxmlformats.org/officeDocument/2006/math">
                    <m:r>
                      <a:rPr lang="en-IN" sz="2400" i="1">
                        <a:solidFill>
                          <a:srgbClr val="111827"/>
                        </a:solidFill>
                        <a:latin typeface="Cambria Math" panose="02040503050406030204" pitchFamily="18" charset="0"/>
                      </a:rPr>
                      <m:t>274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109600</m:t>
                    </m:r>
                  </m:oMath>
                </a14:m>
                <a:r>
                  <a:rPr sz="2400" b="0">
                    <a:solidFill>
                      <a:srgbClr val="111827"/>
                    </a:solidFill>
                    <a:latin typeface="Arial"/>
                  </a:rPr>
                  <a:t>. If </a:t>
                </a:r>
                <a14:m>
                  <m:oMath xmlns:m="http://schemas.openxmlformats.org/officeDocument/2006/math">
                    <m:r>
                      <a:rPr lang="en-IN" sz="2400" i="1">
                        <a:solidFill>
                          <a:srgbClr val="111827"/>
                        </a:solidFill>
                        <a:latin typeface="Cambria Math" panose="02040503050406030204" pitchFamily="18" charset="0"/>
                      </a:rPr>
                      <m:t>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and the sum would be </a:t>
                </a:r>
                <a14:m>
                  <m:oMath xmlns:m="http://schemas.openxmlformats.org/officeDocument/2006/math">
                    <m:r>
                      <a:rPr lang="en-IN" sz="2400" i="1">
                        <a:solidFill>
                          <a:srgbClr val="111827"/>
                        </a:solidFill>
                        <a:latin typeface="Cambria Math" panose="02040503050406030204" pitchFamily="18" charset="0"/>
                      </a:rPr>
                      <m:t>54650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109600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the residues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ℓ</m:t>
                    </m:r>
                  </m:oMath>
                </a14:m>
                <a:r>
                  <a:rPr sz="2400" b="0">
                    <a:solidFill>
                      <a:srgbClr val="111827"/>
                    </a:solidFill>
                    <a:latin typeface="Arial"/>
                  </a:rPr>
                  <a:t> (mod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differ, so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are disjoint and the sums add.</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3-digit members of </a:t>
                </a:r>
                <a:r>
                  <a:rPr lang="en-IN" sz="2400">
                    <a:solidFill>
                      <a:srgbClr val="111827"/>
                    </a:solidFill>
                    <a:latin typeface="Cambria Math" panose="02040503050406030204" pitchFamily="18" charset="0"/>
                  </a:rPr>
                  <a:t>$B$</a:t>
                </a:r>
                <a:r>
                  <a:rPr sz="2400" b="0">
                    <a:solidFill>
                      <a:srgbClr val="111827"/>
                    </a:solidFill>
                    <a:latin typeface="Arial"/>
                  </a:rPr>
                  <a:t>: </a:t>
                </a:r>
                <a:r>
                  <a:rPr lang="en-IN" sz="2400">
                    <a:solidFill>
                      <a:srgbClr val="111827"/>
                    </a:solidFill>
                    <a:latin typeface="Cambria Math" panose="02040503050406030204" pitchFamily="18" charset="0"/>
                  </a:rPr>
                  <a:t>$9k+2$</a:t>
                </a:r>
                <a:r>
                  <a:rPr sz="2400" b="0">
                    <a:solidFill>
                      <a:srgbClr val="111827"/>
                    </a:solidFill>
                    <a:latin typeface="Arial"/>
                  </a:rPr>
                  <a:t> with </a:t>
                </a:r>
                <a:r>
                  <a:rPr lang="en-IN" sz="2400">
                    <a:solidFill>
                      <a:srgbClr val="111827"/>
                    </a:solidFill>
                    <a:latin typeface="Cambria Math" panose="02040503050406030204" pitchFamily="18" charset="0"/>
                  </a:rPr>
                  <a:t>$100\le9k+2\le999$</a:t>
                </a:r>
                <a:r>
                  <a:rPr sz="2400" b="0">
                    <a:solidFill>
                      <a:srgbClr val="111827"/>
                    </a:solidFill>
                    <a:latin typeface="Arial"/>
                  </a:rPr>
                  <a:t>, i.e. </a:t>
                </a:r>
                <a:r>
                  <a:rPr lang="en-IN" sz="2400">
                    <a:solidFill>
                      <a:srgbClr val="111827"/>
                    </a:solidFill>
                    <a:latin typeface="Cambria Math" panose="02040503050406030204" pitchFamily="18" charset="0"/>
                  </a:rPr>
                  <a:t>$k=11,\dots,110$</a:t>
                </a:r>
                <a:r>
                  <a:rPr sz="2400" b="0">
                    <a:solidFill>
                      <a:srgbClr val="111827"/>
                    </a:solidFill>
                    <a:latin typeface="Arial"/>
                  </a:rPr>
                  <a:t> (from </a:t>
                </a:r>
                <a:r>
                  <a:rPr lang="en-IN" sz="2400">
                    <a:solidFill>
                      <a:srgbClr val="111827"/>
                    </a:solidFill>
                    <a:latin typeface="Cambria Math" panose="02040503050406030204" pitchFamily="18" charset="0"/>
                  </a:rPr>
                  <a:t>$101$</a:t>
                </a:r>
                <a:r>
                  <a:rPr sz="2400" b="0">
                    <a:solidFill>
                      <a:srgbClr val="111827"/>
                    </a:solidFill>
                    <a:latin typeface="Arial"/>
                  </a:rPr>
                  <a:t> to </a:t>
                </a:r>
                <a:r>
                  <a:rPr lang="en-IN" sz="2400">
                    <a:solidFill>
                      <a:srgbClr val="111827"/>
                    </a:solidFill>
                    <a:latin typeface="Cambria Math" panose="02040503050406030204" pitchFamily="18" charset="0"/>
                  </a:rPr>
                  <a:t>$992$</a:t>
                </a:r>
                <a:r>
                  <a:rPr sz="2400" b="0">
                    <a:solidFill>
                      <a:srgbClr val="111827"/>
                    </a:solidFill>
                    <a:latin typeface="Arial"/>
                  </a:rPr>
                  <a:t>): </a:t>
                </a:r>
                <a:r>
                  <a:rPr lang="en-IN" sz="2400">
                    <a:solidFill>
                      <a:srgbClr val="111827"/>
                    </a:solidFill>
                    <a:latin typeface="Cambria Math" panose="02040503050406030204" pitchFamily="18" charset="0"/>
                  </a:rPr>
                  <a:t>$100$</a:t>
                </a:r>
                <a:r>
                  <a:rPr sz="2400" b="0">
                    <a:solidFill>
                      <a:srgbClr val="111827"/>
                    </a:solidFill>
                    <a:latin typeface="Arial"/>
                  </a:rPr>
                  <a:t> terms.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Their sum is </a:t>
                </a:r>
                <a:r>
                  <a:rPr lang="en-IN" sz="2400">
                    <a:solidFill>
                      <a:srgbClr val="111827"/>
                    </a:solidFill>
                    <a:latin typeface="Cambria Math" panose="02040503050406030204" pitchFamily="18" charset="0"/>
                  </a:rPr>
                  <a:t>$\sum_{k=11}^{110}(9k+2)=9(6105-55)+2\cdot100=9\cdot6050+200=54650$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required total is </a:t>
                </a:r>
                <a:r>
                  <a:rPr lang="en-IN" sz="2400">
                    <a:solidFill>
                      <a:srgbClr val="111827"/>
                    </a:solidFill>
                    <a:latin typeface="Cambria Math" panose="02040503050406030204" pitchFamily="18" charset="0"/>
                  </a:rPr>
                  <a:t>$274\times400=109600$</a:t>
                </a:r>
                <a:r>
                  <a:rPr sz="2400" b="0">
                    <a:solidFill>
                      <a:srgbClr val="111827"/>
                    </a:solidFill>
                    <a:latin typeface="Arial"/>
                  </a:rPr>
                  <a:t>. If </a:t>
                </a:r>
                <a:r>
                  <a:rPr lang="en-IN" sz="2400">
                    <a:solidFill>
                      <a:srgbClr val="111827"/>
                    </a:solidFill>
                    <a:latin typeface="Cambria Math" panose="02040503050406030204" pitchFamily="18" charset="0"/>
                  </a:rPr>
                  <a:t>$\ell=2$</a:t>
                </a:r>
                <a:r>
                  <a:rPr sz="2400" b="0">
                    <a:solidFill>
                      <a:srgbClr val="111827"/>
                    </a:solidFill>
                    <a:latin typeface="Arial"/>
                  </a:rPr>
                  <a:t> then </a:t>
                </a:r>
                <a:r>
                  <a:rPr lang="en-IN" sz="2400">
                    <a:solidFill>
                      <a:srgbClr val="111827"/>
                    </a:solidFill>
                    <a:latin typeface="Cambria Math" panose="02040503050406030204" pitchFamily="18" charset="0"/>
                  </a:rPr>
                  <a:t>$B\cup C=B$</a:t>
                </a:r>
                <a:r>
                  <a:rPr sz="2400" b="0">
                    <a:solidFill>
                      <a:srgbClr val="111827"/>
                    </a:solidFill>
                    <a:latin typeface="Arial"/>
                  </a:rPr>
                  <a:t> and the sum would be </a:t>
                </a:r>
                <a:r>
                  <a:rPr lang="en-IN" sz="2400">
                    <a:solidFill>
                      <a:srgbClr val="111827"/>
                    </a:solidFill>
                    <a:latin typeface="Cambria Math" panose="02040503050406030204" pitchFamily="18" charset="0"/>
                  </a:rPr>
                  <a:t>$54650\neq109600$</a:t>
                </a:r>
                <a:r>
                  <a:rPr sz="2400" b="0">
                    <a:solidFill>
                      <a:srgbClr val="111827"/>
                    </a:solidFill>
                    <a:latin typeface="Arial"/>
                  </a:rPr>
                  <a:t>, so </a:t>
                </a:r>
                <a:r>
                  <a:rPr lang="en-IN" sz="2400">
                    <a:solidFill>
                      <a:srgbClr val="111827"/>
                    </a:solidFill>
                    <a:latin typeface="Cambria Math" panose="02040503050406030204" pitchFamily="18" charset="0"/>
                  </a:rPr>
                  <a:t>$\ell\neq2$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$\ell\neq2$</a:t>
                </a:r>
                <a:r>
                  <a:rPr sz="2400" b="0">
                    <a:solidFill>
                      <a:srgbClr val="111827"/>
                    </a:solidFill>
                    <a:latin typeface="Arial"/>
                  </a:rPr>
                  <a:t> the residues </a:t>
                </a:r>
                <a:r>
                  <a:rPr lang="en-IN" sz="2400">
                    <a:solidFill>
                      <a:srgbClr val="111827"/>
                    </a:solidFill>
                    <a:latin typeface="Cambria Math" panose="02040503050406030204" pitchFamily="18" charset="0"/>
                  </a:rPr>
                  <a:t>$2$</a:t>
                </a:r>
                <a:r>
                  <a:rPr sz="2400" b="0">
                    <a:solidFill>
                      <a:srgbClr val="111827"/>
                    </a:solidFill>
                    <a:latin typeface="Arial"/>
                  </a:rPr>
                  <a:t> and </a:t>
                </a:r>
                <a:r>
                  <a:rPr lang="en-IN" sz="2400">
                    <a:solidFill>
                      <a:srgbClr val="111827"/>
                    </a:solidFill>
                    <a:latin typeface="Cambria Math" panose="02040503050406030204" pitchFamily="18" charset="0"/>
                  </a:rPr>
                  <a:t>$\ell$</a:t>
                </a:r>
                <a:r>
                  <a:rPr sz="2400" b="0">
                    <a:solidFill>
                      <a:srgbClr val="111827"/>
                    </a:solidFill>
                    <a:latin typeface="Arial"/>
                  </a:rPr>
                  <a:t> (mod </a:t>
                </a:r>
                <a:r>
                  <a:rPr lang="en-IN" sz="2400">
                    <a:solidFill>
                      <a:srgbClr val="111827"/>
                    </a:solidFill>
                    <a:latin typeface="Cambria Math" panose="02040503050406030204" pitchFamily="18" charset="0"/>
                  </a:rPr>
                  <a:t>$9$</a:t>
                </a:r>
                <a:r>
                  <a:rPr sz="2400" b="0">
                    <a:solidFill>
                      <a:srgbClr val="111827"/>
                    </a:solidFill>
                    <a:latin typeface="Arial"/>
                  </a:rPr>
                  <a:t>) differ, so </a:t>
                </a:r>
                <a:r>
                  <a:rPr lang="en-IN" sz="2400">
                    <a:solidFill>
                      <a:srgbClr val="111827"/>
                    </a:solidFill>
                    <a:latin typeface="Cambria Math" panose="02040503050406030204" pitchFamily="18" charset="0"/>
                  </a:rPr>
                  <a:t>$B$</a:t>
                </a:r>
                <a:r>
                  <a:rPr sz="2400" b="0">
                    <a:solidFill>
                      <a:srgbClr val="111827"/>
                    </a:solidFill>
                    <a:latin typeface="Arial"/>
                  </a:rPr>
                  <a:t> and </a:t>
                </a:r>
                <a:r>
                  <a:rPr lang="en-IN" sz="2400">
                    <a:solidFill>
                      <a:srgbClr val="111827"/>
                    </a:solidFill>
                    <a:latin typeface="Cambria Math" panose="02040503050406030204" pitchFamily="18" charset="0"/>
                  </a:rPr>
                  <a:t>$C$</a:t>
                </a:r>
                <a:r>
                  <a:rPr sz="2400" b="0">
                    <a:solidFill>
                      <a:srgbClr val="111827"/>
                    </a:solidFill>
                    <a:latin typeface="Arial"/>
                  </a:rPr>
                  <a:t> are disjoint and the sums add.</a:t>
                </a:r>
                <a:endParaRPr sz="2400">
                  <a:solidFill>
                    <a:srgbClr val="111827"/>
                  </a:solidFill>
                </a:endParaRPr>
              </a:p>
            </p:txBody>
          </p:sp>
        </mc:Fallback>
      </mc:AlternateContent>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3-digit members of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ℓ</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99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990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998</m:t>
                    </m:r>
                  </m:oMath>
                </a14:m>
                <a:r>
                  <a:rPr sz="2400" b="0">
                    <a:solidFill>
                      <a:srgbClr val="111827"/>
                    </a:solidFill>
                    <a:latin typeface="Arial"/>
                  </a:rPr>
                  <a:t>), again </a:t>
                </a:r>
                <a14:m>
                  <m:oMath xmlns:m="http://schemas.openxmlformats.org/officeDocument/2006/math">
                    <m:r>
                      <a:rPr lang="en-IN" sz="2400" i="1">
                        <a:solidFill>
                          <a:srgbClr val="111827"/>
                        </a:solidFill>
                        <a:latin typeface="Cambria Math" panose="02040503050406030204" pitchFamily="18" charset="0"/>
                      </a:rPr>
                      <m:t>100</m:t>
                    </m:r>
                  </m:oMath>
                </a14:m>
                <a:r>
                  <a:rPr sz="2400" b="0">
                    <a:solidFill>
                      <a:srgbClr val="111827"/>
                    </a:solidFill>
                    <a:latin typeface="Arial"/>
                  </a:rPr>
                  <a:t> terms.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Their sum is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sub>
                      <m:sup>
                        <m:r>
                          <a:rPr lang="en-IN" sz="2400" i="1">
                            <a:solidFill>
                              <a:srgbClr val="111827"/>
                            </a:solidFill>
                            <a:latin typeface="Cambria Math" panose="02040503050406030204" pitchFamily="18" charset="0"/>
                          </a:rPr>
                          <m:t>110</m:t>
                        </m:r>
                      </m:sup>
                      <m:e>
                        <m:r>
                          <m:rPr>
                            <m:sty m:val="p"/>
                          </m:rPr>
                          <a:rPr lang="en-IN" sz="2400">
                            <a:solidFill>
                              <a:srgbClr val="111827"/>
                            </a:solidFill>
                            <a:latin typeface="Cambria Math" panose="02040503050406030204" pitchFamily="18" charset="0"/>
                          </a:rPr>
                          <m:t>(</m:t>
                        </m:r>
                      </m:e>
                    </m:nary>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a:rPr lang="en-IN" sz="2400" i="1">
                        <a:solidFill>
                          <a:srgbClr val="111827"/>
                        </a:solidFill>
                        <a:latin typeface="Cambria Math" panose="02040503050406030204" pitchFamily="18" charset="0"/>
                      </a:rPr>
                      <m:t>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54450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a:rPr lang="en-IN" sz="2400" i="1">
                        <a:solidFill>
                          <a:srgbClr val="111827"/>
                        </a:solidFill>
                        <a:latin typeface="Cambria Math" panose="02040503050406030204" pitchFamily="18" charset="0"/>
                      </a:rPr>
                      <m:t>ℓ</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54650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54450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a:rPr lang="en-IN" sz="2400" i="1">
                        <a:solidFill>
                          <a:srgbClr val="111827"/>
                        </a:solidFill>
                        <a:latin typeface="Cambria Math" panose="02040503050406030204" pitchFamily="18" charset="0"/>
                      </a:rPr>
                      <m:t>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109600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100</m:t>
                    </m:r>
                    <m:r>
                      <a:rPr lang="en-IN" sz="2400" i="1">
                        <a:solidFill>
                          <a:srgbClr val="111827"/>
                        </a:solidFill>
                        <a:latin typeface="Cambria Math" panose="02040503050406030204" pitchFamily="18" charset="0"/>
                      </a:rPr>
                      <m:t>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3-digit members of </a:t>
                </a:r>
                <a:r>
                  <a:rPr lang="en-IN" sz="2400">
                    <a:solidFill>
                      <a:srgbClr val="111827"/>
                    </a:solidFill>
                    <a:latin typeface="Cambria Math" panose="02040503050406030204" pitchFamily="18" charset="0"/>
                  </a:rPr>
                  <a:t>$C$</a:t>
                </a:r>
                <a:r>
                  <a:rPr sz="2400" b="0">
                    <a:solidFill>
                      <a:srgbClr val="111827"/>
                    </a:solidFill>
                    <a:latin typeface="Arial"/>
                  </a:rPr>
                  <a:t>: </a:t>
                </a:r>
                <a:r>
                  <a:rPr lang="en-IN" sz="2400">
                    <a:solidFill>
                      <a:srgbClr val="111827"/>
                    </a:solidFill>
                    <a:latin typeface="Cambria Math" panose="02040503050406030204" pitchFamily="18" charset="0"/>
                  </a:rPr>
                  <a:t>$9k+\ell$</a:t>
                </a:r>
                <a:r>
                  <a:rPr sz="2400" b="0">
                    <a:solidFill>
                      <a:srgbClr val="111827"/>
                    </a:solidFill>
                    <a:latin typeface="Arial"/>
                  </a:rPr>
                  <a:t> with </a:t>
                </a:r>
                <a:r>
                  <a:rPr lang="en-IN" sz="2400">
                    <a:solidFill>
                      <a:srgbClr val="111827"/>
                    </a:solidFill>
                    <a:latin typeface="Cambria Math" panose="02040503050406030204" pitchFamily="18" charset="0"/>
                  </a:rPr>
                  <a:t>$k=11,\dots,110$</a:t>
                </a:r>
                <a:r>
                  <a:rPr sz="2400" b="0">
                    <a:solidFill>
                      <a:srgbClr val="111827"/>
                    </a:solidFill>
                    <a:latin typeface="Arial"/>
                  </a:rPr>
                  <a:t> (</a:t>
                </a:r>
                <a:r>
                  <a:rPr lang="en-IN" sz="2400">
                    <a:solidFill>
                      <a:srgbClr val="111827"/>
                    </a:solidFill>
                    <a:latin typeface="Cambria Math" panose="02040503050406030204" pitchFamily="18" charset="0"/>
                  </a:rPr>
                  <a:t>$99+\ell\ge100$</a:t>
                </a:r>
                <a:r>
                  <a:rPr sz="2400" b="0">
                    <a:solidFill>
                      <a:srgbClr val="111827"/>
                    </a:solidFill>
                    <a:latin typeface="Arial"/>
                  </a:rPr>
                  <a:t> and </a:t>
                </a:r>
                <a:r>
                  <a:rPr lang="en-IN" sz="2400">
                    <a:solidFill>
                      <a:srgbClr val="111827"/>
                    </a:solidFill>
                    <a:latin typeface="Cambria Math" panose="02040503050406030204" pitchFamily="18" charset="0"/>
                  </a:rPr>
                  <a:t>$990+\ell\le998$</a:t>
                </a:r>
                <a:r>
                  <a:rPr sz="2400" b="0">
                    <a:solidFill>
                      <a:srgbClr val="111827"/>
                    </a:solidFill>
                    <a:latin typeface="Arial"/>
                  </a:rPr>
                  <a:t>), again </a:t>
                </a:r>
                <a:r>
                  <a:rPr lang="en-IN" sz="2400">
                    <a:solidFill>
                      <a:srgbClr val="111827"/>
                    </a:solidFill>
                    <a:latin typeface="Cambria Math" panose="02040503050406030204" pitchFamily="18" charset="0"/>
                  </a:rPr>
                  <a:t>$100$</a:t>
                </a:r>
                <a:r>
                  <a:rPr sz="2400" b="0">
                    <a:solidFill>
                      <a:srgbClr val="111827"/>
                    </a:solidFill>
                    <a:latin typeface="Arial"/>
                  </a:rPr>
                  <a:t> terms.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Their sum is </a:t>
                </a:r>
                <a:r>
                  <a:rPr lang="en-IN" sz="2400">
                    <a:solidFill>
                      <a:srgbClr val="111827"/>
                    </a:solidFill>
                    <a:latin typeface="Cambria Math" panose="02040503050406030204" pitchFamily="18" charset="0"/>
                  </a:rPr>
                  <a:t>$\sum_{k=11}^{110}(9k+\ell)=9\cdot6050+100\ell=54450+100\ell$</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$54650+54450+100\ell=109600$</a:t>
                </a:r>
                <a:r>
                  <a:rPr sz="2400" b="0">
                    <a:solidFill>
                      <a:srgbClr val="111827"/>
                    </a:solidFill>
                    <a:latin typeface="Arial"/>
                  </a:rPr>
                  <a:t>, so </a:t>
                </a:r>
                <a:r>
                  <a:rPr lang="en-IN" sz="2400">
                    <a:solidFill>
                      <a:srgbClr val="111827"/>
                    </a:solidFill>
                    <a:latin typeface="Cambria Math" panose="02040503050406030204" pitchFamily="18" charset="0"/>
                  </a:rPr>
                  <a:t>$100\ell=500$</a:t>
                </a:r>
                <a:r>
                  <a:rPr sz="2400" b="0">
                    <a:solidFill>
                      <a:srgbClr val="111827"/>
                    </a:solidFill>
                    <a:latin typeface="Arial"/>
                  </a:rPr>
                  <a:t> and </a:t>
                </a:r>
                <a:r>
                  <a:rPr lang="en-IN" sz="2400">
                    <a:solidFill>
                      <a:srgbClr val="111827"/>
                    </a:solidFill>
                    <a:latin typeface="Cambria Math" panose="02040503050406030204" pitchFamily="18" charset="0"/>
                  </a:rPr>
                  <a:t>$\ell=5$</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5</a:t>
            </a:r>
            <a:endParaRPr sz="2800">
              <a:solidFill>
                <a:srgbClr val="15803D"/>
              </a:solidFill>
            </a:endParaRP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Compare means: both </a:t>
                </a:r>
                <a14:m>
                  <m:oMath xmlns:m="http://schemas.openxmlformats.org/officeDocument/2006/math">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𝐶</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oMath>
                </a14:m>
                <a:r>
                  <a:rPr sz="2400" b="0">
                    <a:solidFill>
                      <a:srgbClr val="78350F"/>
                    </a:solidFill>
                    <a:latin typeface="Arial"/>
                  </a:rPr>
                  <a:t> have </a:t>
                </a:r>
                <a14:m>
                  <m:oMath xmlns:m="http://schemas.openxmlformats.org/officeDocument/2006/math">
                    <m:r>
                      <a:rPr lang="en-IN" sz="2400" i="1">
                        <a:solidFill>
                          <a:srgbClr val="78350F"/>
                        </a:solidFill>
                        <a:latin typeface="Cambria Math" panose="02040503050406030204" pitchFamily="18" charset="0"/>
                      </a:rPr>
                      <m:t>100</m:t>
                    </m:r>
                  </m:oMath>
                </a14:m>
                <a:r>
                  <a:rPr sz="2400" b="0">
                    <a:solidFill>
                      <a:srgbClr val="78350F"/>
                    </a:solidFill>
                    <a:latin typeface="Arial"/>
                  </a:rPr>
                  <a:t> terms, and moving the residue from </a:t>
                </a:r>
                <a14:m>
                  <m:oMath xmlns:m="http://schemas.openxmlformats.org/officeDocument/2006/math">
                    <m:r>
                      <a:rPr lang="en-IN" sz="2400" i="1">
                        <a:solidFill>
                          <a:srgbClr val="78350F"/>
                        </a:solidFill>
                        <a:latin typeface="Cambria Math" panose="02040503050406030204" pitchFamily="18" charset="0"/>
                      </a:rPr>
                      <m:t>2</m:t>
                    </m:r>
                  </m:oMath>
                </a14:m>
                <a:r>
                  <a:rPr sz="2400" b="0">
                    <a:solidFill>
                      <a:srgbClr val="78350F"/>
                    </a:solidFill>
                    <a:latin typeface="Arial"/>
                  </a:rPr>
                  <a:t> to </a:t>
                </a:r>
                <a14:m>
                  <m:oMath xmlns:m="http://schemas.openxmlformats.org/officeDocument/2006/math">
                    <m:r>
                      <a:rPr lang="en-IN" sz="2400" i="1">
                        <a:solidFill>
                          <a:srgbClr val="78350F"/>
                        </a:solidFill>
                        <a:latin typeface="Cambria Math" panose="02040503050406030204" pitchFamily="18" charset="0"/>
                      </a:rPr>
                      <m:t>ℓ</m:t>
                    </m:r>
                  </m:oMath>
                </a14:m>
                <a:r>
                  <a:rPr sz="2400" b="0">
                    <a:solidFill>
                      <a:srgbClr val="78350F"/>
                    </a:solidFill>
                    <a:latin typeface="Arial"/>
                  </a:rPr>
                  <a:t> shifts every term (hence the mean) by </a:t>
                </a:r>
                <a14:m>
                  <m:oMath xmlns:m="http://schemas.openxmlformats.org/officeDocument/2006/math">
                    <m:r>
                      <a:rPr lang="en-IN" sz="2400" i="1">
                        <a:solidFill>
                          <a:srgbClr val="78350F"/>
                        </a:solidFill>
                        <a:latin typeface="Cambria Math" panose="02040503050406030204" pitchFamily="18" charset="0"/>
                      </a:rPr>
                      <m:t>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Compare means: both </a:t>
                </a:r>
                <a:r>
                  <a:rPr lang="en-IN" sz="2400">
                    <a:solidFill>
                      <a:srgbClr val="78350F"/>
                    </a:solidFill>
                    <a:latin typeface="Cambria Math" panose="02040503050406030204" pitchFamily="18" charset="0"/>
                  </a:rPr>
                  <a:t>$B\cap A$</a:t>
                </a:r>
                <a:r>
                  <a:rPr sz="2400" b="0">
                    <a:solidFill>
                      <a:srgbClr val="78350F"/>
                    </a:solidFill>
                    <a:latin typeface="Arial"/>
                  </a:rPr>
                  <a:t> and </a:t>
                </a:r>
                <a:r>
                  <a:rPr lang="en-IN" sz="2400">
                    <a:solidFill>
                      <a:srgbClr val="78350F"/>
                    </a:solidFill>
                    <a:latin typeface="Cambria Math" panose="02040503050406030204" pitchFamily="18" charset="0"/>
                  </a:rPr>
                  <a:t>$C\cap A$</a:t>
                </a:r>
                <a:r>
                  <a:rPr sz="2400" b="0">
                    <a:solidFill>
                      <a:srgbClr val="78350F"/>
                    </a:solidFill>
                    <a:latin typeface="Arial"/>
                  </a:rPr>
                  <a:t> have </a:t>
                </a:r>
                <a:r>
                  <a:rPr lang="en-IN" sz="2400">
                    <a:solidFill>
                      <a:srgbClr val="78350F"/>
                    </a:solidFill>
                    <a:latin typeface="Cambria Math" panose="02040503050406030204" pitchFamily="18" charset="0"/>
                  </a:rPr>
                  <a:t>$100$</a:t>
                </a:r>
                <a:r>
                  <a:rPr sz="2400" b="0">
                    <a:solidFill>
                      <a:srgbClr val="78350F"/>
                    </a:solidFill>
                    <a:latin typeface="Arial"/>
                  </a:rPr>
                  <a:t> terms, and moving the residue from </a:t>
                </a:r>
                <a:r>
                  <a:rPr lang="en-IN" sz="2400">
                    <a:solidFill>
                      <a:srgbClr val="78350F"/>
                    </a:solidFill>
                    <a:latin typeface="Cambria Math" panose="02040503050406030204" pitchFamily="18" charset="0"/>
                  </a:rPr>
                  <a:t>$2$</a:t>
                </a:r>
                <a:r>
                  <a:rPr sz="2400" b="0">
                    <a:solidFill>
                      <a:srgbClr val="78350F"/>
                    </a:solidFill>
                    <a:latin typeface="Arial"/>
                  </a:rPr>
                  <a:t> to </a:t>
                </a:r>
                <a:r>
                  <a:rPr lang="en-IN" sz="2400">
                    <a:solidFill>
                      <a:srgbClr val="78350F"/>
                    </a:solidFill>
                    <a:latin typeface="Cambria Math" panose="02040503050406030204" pitchFamily="18" charset="0"/>
                  </a:rPr>
                  <a:t>$\ell$</a:t>
                </a:r>
                <a:r>
                  <a:rPr sz="2400" b="0">
                    <a:solidFill>
                      <a:srgbClr val="78350F"/>
                    </a:solidFill>
                    <a:latin typeface="Arial"/>
                  </a:rPr>
                  <a:t> shifts every term (hence the mean) by </a:t>
                </a:r>
                <a:r>
                  <a:rPr lang="en-IN" sz="2400">
                    <a:solidFill>
                      <a:srgbClr val="78350F"/>
                    </a:solidFill>
                    <a:latin typeface="Cambria Math" panose="02040503050406030204" pitchFamily="18" charset="0"/>
                  </a:rPr>
                  <a:t>$\ell-2$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oMath>
                </a14:m>
                <a:r>
                  <a:rPr sz="2400" b="0">
                    <a:solidFill>
                      <a:srgbClr val="111827"/>
                    </a:solidFill>
                    <a:latin typeface="Arial"/>
                  </a:rPr>
                  <a:t> is an AP from </a:t>
                </a:r>
                <a14:m>
                  <m:oMath xmlns:m="http://schemas.openxmlformats.org/officeDocument/2006/math">
                    <m:r>
                      <a:rPr lang="en-IN" sz="2400" i="1">
                        <a:solidFill>
                          <a:srgbClr val="111827"/>
                        </a:solidFill>
                        <a:latin typeface="Cambria Math" panose="02040503050406030204" pitchFamily="18" charset="0"/>
                      </a:rPr>
                      <m:t>101</m:t>
                    </m:r>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992</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100</m:t>
                    </m:r>
                  </m:oMath>
                </a14:m>
                <a:r>
                  <a:rPr sz="2400" b="0">
                    <a:solidFill>
                      <a:srgbClr val="111827"/>
                    </a:solidFill>
                    <a:latin typeface="Arial"/>
                  </a:rPr>
                  <a:t> terms, so its mean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992</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546.5</m:t>
                    </m:r>
                  </m:oMath>
                </a14:m>
                <a:r>
                  <a:rPr sz="2400" b="0">
                    <a:solidFill>
                      <a:srgbClr val="111827"/>
                    </a:solidFill>
                    <a:latin typeface="Arial"/>
                  </a:rPr>
                  <a:t> and its sum is </a:t>
                </a:r>
                <a14:m>
                  <m:oMath xmlns:m="http://schemas.openxmlformats.org/officeDocument/2006/math">
                    <m:r>
                      <a:rPr lang="en-IN" sz="2400" i="1">
                        <a:solidFill>
                          <a:srgbClr val="111827"/>
                        </a:solidFill>
                        <a:latin typeface="Cambria Math" panose="02040503050406030204" pitchFamily="18" charset="0"/>
                      </a:rPr>
                      <m:t>54650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union has total </a:t>
                </a:r>
                <a14:m>
                  <m:oMath xmlns:m="http://schemas.openxmlformats.org/officeDocument/2006/math">
                    <m:r>
                      <a:rPr lang="en-IN" sz="2400" i="1">
                        <a:solidFill>
                          <a:srgbClr val="111827"/>
                        </a:solidFill>
                        <a:latin typeface="Cambria Math" panose="02040503050406030204" pitchFamily="18" charset="0"/>
                      </a:rPr>
                      <m:t>274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109600</m:t>
                    </m:r>
                  </m:oMath>
                </a14:m>
                <a:r>
                  <a:rPr sz="2400" b="0">
                    <a:solidFill>
                      <a:srgbClr val="111827"/>
                    </a:solidFill>
                    <a:latin typeface="Arial"/>
                  </a:rPr>
                  <a:t>; if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are disjoint it has </a:t>
                </a:r>
                <a14:m>
                  <m:oMath xmlns:m="http://schemas.openxmlformats.org/officeDocument/2006/math">
                    <m:r>
                      <a:rPr lang="en-IN" sz="2400" i="1">
                        <a:solidFill>
                          <a:srgbClr val="111827"/>
                        </a:solidFill>
                        <a:latin typeface="Cambria Math" panose="02040503050406030204" pitchFamily="18" charset="0"/>
                      </a:rPr>
                      <m:t>200</m:t>
                    </m:r>
                  </m:oMath>
                </a14:m>
                <a:r>
                  <a:rPr sz="2400" b="0">
                    <a:solidFill>
                      <a:srgbClr val="111827"/>
                    </a:solidFill>
                    <a:latin typeface="Arial"/>
                  </a:rPr>
                  <a:t> terms, so its mean is </a:t>
                </a:r>
                <a14:m>
                  <m:oMath xmlns:m="http://schemas.openxmlformats.org/officeDocument/2006/math">
                    <m:r>
                      <a:rPr lang="en-IN" sz="2400" i="1">
                        <a:solidFill>
                          <a:srgbClr val="111827"/>
                        </a:solidFill>
                        <a:latin typeface="Cambria Math" panose="02040503050406030204" pitchFamily="18" charset="0"/>
                      </a:rPr>
                      <m:t>548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the mean of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548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546.5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549.5</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more than the mean of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$B\cap A$</a:t>
                </a:r>
                <a:r>
                  <a:rPr sz="2400" b="0">
                    <a:solidFill>
                      <a:srgbClr val="111827"/>
                    </a:solidFill>
                    <a:latin typeface="Arial"/>
                  </a:rPr>
                  <a:t> is an AP from </a:t>
                </a:r>
                <a:r>
                  <a:rPr lang="en-IN" sz="2400">
                    <a:solidFill>
                      <a:srgbClr val="111827"/>
                    </a:solidFill>
                    <a:latin typeface="Cambria Math" panose="02040503050406030204" pitchFamily="18" charset="0"/>
                  </a:rPr>
                  <a:t>$101$</a:t>
                </a:r>
                <a:r>
                  <a:rPr sz="2400" b="0">
                    <a:solidFill>
                      <a:srgbClr val="111827"/>
                    </a:solidFill>
                    <a:latin typeface="Arial"/>
                  </a:rPr>
                  <a:t> to </a:t>
                </a:r>
                <a:r>
                  <a:rPr lang="en-IN" sz="2400">
                    <a:solidFill>
                      <a:srgbClr val="111827"/>
                    </a:solidFill>
                    <a:latin typeface="Cambria Math" panose="02040503050406030204" pitchFamily="18" charset="0"/>
                  </a:rPr>
                  <a:t>$992$</a:t>
                </a:r>
                <a:r>
                  <a:rPr sz="2400" b="0">
                    <a:solidFill>
                      <a:srgbClr val="111827"/>
                    </a:solidFill>
                    <a:latin typeface="Arial"/>
                  </a:rPr>
                  <a:t> with </a:t>
                </a:r>
                <a:r>
                  <a:rPr lang="en-IN" sz="2400">
                    <a:solidFill>
                      <a:srgbClr val="111827"/>
                    </a:solidFill>
                    <a:latin typeface="Cambria Math" panose="02040503050406030204" pitchFamily="18" charset="0"/>
                  </a:rPr>
                  <a:t>$100$</a:t>
                </a:r>
                <a:r>
                  <a:rPr sz="2400" b="0">
                    <a:solidFill>
                      <a:srgbClr val="111827"/>
                    </a:solidFill>
                    <a:latin typeface="Arial"/>
                  </a:rPr>
                  <a:t> terms, so its mean is </a:t>
                </a:r>
                <a:r>
                  <a:rPr lang="en-IN" sz="2400">
                    <a:solidFill>
                      <a:srgbClr val="111827"/>
                    </a:solidFill>
                    <a:latin typeface="Cambria Math" panose="02040503050406030204" pitchFamily="18" charset="0"/>
                  </a:rPr>
                  <a:t>$\frac{101+992}{2}=546.5$</a:t>
                </a:r>
                <a:r>
                  <a:rPr sz="2400" b="0">
                    <a:solidFill>
                      <a:srgbClr val="111827"/>
                    </a:solidFill>
                    <a:latin typeface="Arial"/>
                  </a:rPr>
                  <a:t> and its sum is </a:t>
                </a:r>
                <a:r>
                  <a:rPr lang="en-IN" sz="2400">
                    <a:solidFill>
                      <a:srgbClr val="111827"/>
                    </a:solidFill>
                    <a:latin typeface="Cambria Math" panose="02040503050406030204" pitchFamily="18" charset="0"/>
                  </a:rPr>
                  <a:t>$54650$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union has total </a:t>
                </a:r>
                <a:r>
                  <a:rPr lang="en-IN" sz="2400">
                    <a:solidFill>
                      <a:srgbClr val="111827"/>
                    </a:solidFill>
                    <a:latin typeface="Cambria Math" panose="02040503050406030204" pitchFamily="18" charset="0"/>
                  </a:rPr>
                  <a:t>$274\times400=109600$</a:t>
                </a:r>
                <a:r>
                  <a:rPr sz="2400" b="0">
                    <a:solidFill>
                      <a:srgbClr val="111827"/>
                    </a:solidFill>
                    <a:latin typeface="Arial"/>
                  </a:rPr>
                  <a:t>; if </a:t>
                </a:r>
                <a:r>
                  <a:rPr lang="en-IN" sz="2400">
                    <a:solidFill>
                      <a:srgbClr val="111827"/>
                    </a:solidFill>
                    <a:latin typeface="Cambria Math" panose="02040503050406030204" pitchFamily="18" charset="0"/>
                  </a:rPr>
                  <a:t>$B,C$</a:t>
                </a:r>
                <a:r>
                  <a:rPr sz="2400" b="0">
                    <a:solidFill>
                      <a:srgbClr val="111827"/>
                    </a:solidFill>
                    <a:latin typeface="Arial"/>
                  </a:rPr>
                  <a:t> are disjoint it has </a:t>
                </a:r>
                <a:r>
                  <a:rPr lang="en-IN" sz="2400">
                    <a:solidFill>
                      <a:srgbClr val="111827"/>
                    </a:solidFill>
                    <a:latin typeface="Cambria Math" panose="02040503050406030204" pitchFamily="18" charset="0"/>
                  </a:rPr>
                  <a:t>$200$</a:t>
                </a:r>
                <a:r>
                  <a:rPr sz="2400" b="0">
                    <a:solidFill>
                      <a:srgbClr val="111827"/>
                    </a:solidFill>
                    <a:latin typeface="Arial"/>
                  </a:rPr>
                  <a:t> terms, so its mean is </a:t>
                </a:r>
                <a:r>
                  <a:rPr lang="en-IN" sz="2400">
                    <a:solidFill>
                      <a:srgbClr val="111827"/>
                    </a:solidFill>
                    <a:latin typeface="Cambria Math" panose="02040503050406030204" pitchFamily="18" charset="0"/>
                  </a:rPr>
                  <a:t>$548$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the mean of </a:t>
                </a:r>
                <a:r>
                  <a:rPr lang="en-IN" sz="2400">
                    <a:solidFill>
                      <a:srgbClr val="111827"/>
                    </a:solidFill>
                    <a:latin typeface="Cambria Math" panose="02040503050406030204" pitchFamily="18" charset="0"/>
                  </a:rPr>
                  <a:t>$C\cap A$</a:t>
                </a:r>
                <a:r>
                  <a:rPr sz="2400" b="0">
                    <a:solidFill>
                      <a:srgbClr val="111827"/>
                    </a:solidFill>
                    <a:latin typeface="Arial"/>
                  </a:rPr>
                  <a:t> is </a:t>
                </a:r>
                <a:r>
                  <a:rPr lang="en-IN" sz="2400">
                    <a:solidFill>
                      <a:srgbClr val="111827"/>
                    </a:solidFill>
                    <a:latin typeface="Cambria Math" panose="02040503050406030204" pitchFamily="18" charset="0"/>
                  </a:rPr>
                  <a:t>$2\cdot548-546.5=549.5$</a:t>
                </a:r>
                <a:r>
                  <a:rPr sz="2400" b="0">
                    <a:solidFill>
                      <a:srgbClr val="111827"/>
                    </a:solidFill>
                    <a:latin typeface="Arial"/>
                  </a:rPr>
                  <a:t>, i.e. </a:t>
                </a:r>
                <a:r>
                  <a:rPr lang="en-IN" sz="2400">
                    <a:solidFill>
                      <a:srgbClr val="111827"/>
                    </a:solidFill>
                    <a:latin typeface="Cambria Math" panose="02040503050406030204" pitchFamily="18" charset="0"/>
                  </a:rPr>
                  <a:t>$3$</a:t>
                </a:r>
                <a:r>
                  <a:rPr sz="2400" b="0">
                    <a:solidFill>
                      <a:srgbClr val="111827"/>
                    </a:solidFill>
                    <a:latin typeface="Arial"/>
                  </a:rPr>
                  <a:t> more than the mean of </a:t>
                </a:r>
                <a:r>
                  <a:rPr lang="en-IN" sz="2400">
                    <a:solidFill>
                      <a:srgbClr val="111827"/>
                    </a:solidFill>
                    <a:latin typeface="Cambria Math" panose="02040503050406030204" pitchFamily="18" charset="0"/>
                  </a:rPr>
                  <a:t>$B\cap A$</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ℓ</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has the same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-range as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its mean exceeds that of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by exactly </a:t>
                </a:r>
                <a14:m>
                  <m:oMath xmlns:m="http://schemas.openxmlformats.org/officeDocument/2006/math">
                    <m:r>
                      <a:rPr lang="en-IN" sz="2400" i="1">
                        <a:solidFill>
                          <a:srgbClr val="111827"/>
                        </a:solidFill>
                        <a:latin typeface="Cambria Math" panose="02040503050406030204" pitchFamily="18" charset="0"/>
                      </a:rPr>
                      <m:t>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so the sets are indeed disjoint).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$C\cap A=\{9k+\ell\}$</a:t>
                </a:r>
                <a:r>
                  <a:rPr sz="2400" b="0">
                    <a:solidFill>
                      <a:srgbClr val="111827"/>
                    </a:solidFill>
                    <a:latin typeface="Arial"/>
                  </a:rPr>
                  <a:t> has the same </a:t>
                </a:r>
                <a:r>
                  <a:rPr lang="en-IN" sz="2400">
                    <a:solidFill>
                      <a:srgbClr val="111827"/>
                    </a:solidFill>
                    <a:latin typeface="Cambria Math" panose="02040503050406030204" pitchFamily="18" charset="0"/>
                  </a:rPr>
                  <a:t>$k$</a:t>
                </a:r>
                <a:r>
                  <a:rPr sz="2400" b="0">
                    <a:solidFill>
                      <a:srgbClr val="111827"/>
                    </a:solidFill>
                    <a:latin typeface="Arial"/>
                  </a:rPr>
                  <a:t>-range as </a:t>
                </a:r>
                <a:r>
                  <a:rPr lang="en-IN" sz="2400">
                    <a:solidFill>
                      <a:srgbClr val="111827"/>
                    </a:solidFill>
                    <a:latin typeface="Cambria Math" panose="02040503050406030204" pitchFamily="18" charset="0"/>
                  </a:rPr>
                  <a:t>$B\cap A=\{9k+2\}$</a:t>
                </a:r>
                <a:r>
                  <a:rPr sz="2400" b="0">
                    <a:solidFill>
                      <a:srgbClr val="111827"/>
                    </a:solidFill>
                    <a:latin typeface="Arial"/>
                  </a:rPr>
                  <a:t>, so its mean exceeds that of </a:t>
                </a:r>
                <a:r>
                  <a:rPr lang="en-IN" sz="2400">
                    <a:solidFill>
                      <a:srgbClr val="111827"/>
                    </a:solidFill>
                    <a:latin typeface="Cambria Math" panose="02040503050406030204" pitchFamily="18" charset="0"/>
                  </a:rPr>
                  <a:t>$B$</a:t>
                </a:r>
                <a:r>
                  <a:rPr sz="2400" b="0">
                    <a:solidFill>
                      <a:srgbClr val="111827"/>
                    </a:solidFill>
                    <a:latin typeface="Arial"/>
                  </a:rPr>
                  <a:t> by exactly </a:t>
                </a:r>
                <a:r>
                  <a:rPr lang="en-IN" sz="2400">
                    <a:solidFill>
                      <a:srgbClr val="111827"/>
                    </a:solidFill>
                    <a:latin typeface="Cambria Math" panose="02040503050406030204" pitchFamily="18" charset="0"/>
                  </a:rPr>
                  <a:t>$\ell-2$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$\ell-2=3$</a:t>
                </a:r>
                <a:r>
                  <a:rPr sz="2400" b="0">
                    <a:solidFill>
                      <a:srgbClr val="111827"/>
                    </a:solidFill>
                    <a:latin typeface="Arial"/>
                  </a:rPr>
                  <a:t>, so </a:t>
                </a:r>
                <a:r>
                  <a:rPr lang="en-IN" sz="2400">
                    <a:solidFill>
                      <a:srgbClr val="111827"/>
                    </a:solidFill>
                    <a:latin typeface="Cambria Math" panose="02040503050406030204" pitchFamily="18" charset="0"/>
                  </a:rPr>
                  <a:t>$\ell=5$</a:t>
                </a:r>
                <a:r>
                  <a:rPr sz="2400" b="0">
                    <a:solidFill>
                      <a:srgbClr val="111827"/>
                    </a:solidFill>
                    <a:latin typeface="Arial"/>
                  </a:rPr>
                  <a:t> (and </a:t>
                </a:r>
                <a:r>
                  <a:rPr lang="en-IN" sz="2400">
                    <a:solidFill>
                      <a:srgbClr val="111827"/>
                    </a:solidFill>
                    <a:latin typeface="Cambria Math" panose="02040503050406030204" pitchFamily="18" charset="0"/>
                  </a:rPr>
                  <a:t>$\ell=5\neq2$</a:t>
                </a:r>
                <a:r>
                  <a:rPr sz="2400" b="0">
                    <a:solidFill>
                      <a:srgbClr val="111827"/>
                    </a:solidFill>
                    <a:latin typeface="Arial"/>
                  </a:rPr>
                  <a:t>, so the sets are indeed disjoint).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5</a:t>
            </a:r>
            <a:endParaRPr sz="2800">
              <a:solidFill>
                <a:srgbClr val="15803D"/>
              </a:solidFill>
            </a:endParaRP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a:t>
                </a:r>
                <a14:m>
                  <m:oMath xmlns:m="http://schemas.openxmlformats.org/officeDocument/2006/math">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999</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900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oMath>
                </a14:m>
                <a:r>
                  <a:rPr sz="2400" b="0">
                    <a:solidFill>
                      <a:srgbClr val="111827"/>
                    </a:solidFill>
                    <a:latin typeface="Arial"/>
                  </a:rPr>
                  <a:t> numbers) every residue class modulo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has exactly </a:t>
                </a:r>
                <a14:m>
                  <m:oMath xmlns:m="http://schemas.openxmlformats.org/officeDocument/2006/math">
                    <m:r>
                      <a:rPr lang="en-IN" sz="2400" i="1">
                        <a:solidFill>
                          <a:srgbClr val="111827"/>
                        </a:solidFill>
                        <a:latin typeface="Cambria Math" panose="02040503050406030204" pitchFamily="18" charset="0"/>
                      </a:rPr>
                      <m:t>100</m:t>
                    </m:r>
                  </m:oMath>
                </a14:m>
                <a:r>
                  <a:rPr sz="2400" b="0">
                    <a:solidFill>
                      <a:srgbClr val="111827"/>
                    </a:solidFill>
                    <a:latin typeface="Arial"/>
                  </a:rPr>
                  <a:t> members.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Changing the residue from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to </a:t>
                </a:r>
                <a14:m>
                  <m:oMath xmlns:m="http://schemas.openxmlformats.org/officeDocument/2006/math">
                    <m:sSup>
                      <m:e>
                        <m:r>
                          <a:rPr lang="en-IN" sz="2400" i="1">
                            <a:solidFill>
                              <a:srgbClr val="111827"/>
                            </a:solidFill>
                            <a:latin typeface="Cambria Math" panose="02040503050406030204" pitchFamily="18" charset="0"/>
                          </a:rPr>
                          <m:t>𝑟</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keeps the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-range and shifts the class sum by </a:t>
                </a:r>
                <a14:m>
                  <m:oMath xmlns:m="http://schemas.openxmlformats.org/officeDocument/2006/math">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𝑟</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𝑟</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54650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54950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of an AP </a:t>
                </a:r>
                <a14:m>
                  <m:oMath xmlns:m="http://schemas.openxmlformats.org/officeDocument/2006/math">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(𝑛𝑢𝑚𝑏𝑒𝑟 𝑜𝑓 𝑡𝑒𝑟𝑚𝑠)</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(𝑓𝑖𝑟𝑠𝑡 + 𝑙𝑎𝑠𝑡)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sums of disjoint sets add, so check disjointness before adding.</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a:t>
                </a:r>
                <a:r>
                  <a:rPr lang="en-IN" sz="2400">
                    <a:solidFill>
                      <a:srgbClr val="111827"/>
                    </a:solidFill>
                    <a:latin typeface="Cambria Math" panose="02040503050406030204" pitchFamily="18" charset="0"/>
                  </a:rPr>
                  <a:t>$100,\dots,999$</a:t>
                </a:r>
                <a:r>
                  <a:rPr sz="2400" b="0">
                    <a:solidFill>
                      <a:srgbClr val="111827"/>
                    </a:solidFill>
                    <a:latin typeface="Arial"/>
                  </a:rPr>
                  <a:t> (</a:t>
                </a:r>
                <a:r>
                  <a:rPr lang="en-IN" sz="2400">
                    <a:solidFill>
                      <a:srgbClr val="111827"/>
                    </a:solidFill>
                    <a:latin typeface="Cambria Math" panose="02040503050406030204" pitchFamily="18" charset="0"/>
                  </a:rPr>
                  <a:t>$900=9\cdot100$</a:t>
                </a:r>
                <a:r>
                  <a:rPr sz="2400" b="0">
                    <a:solidFill>
                      <a:srgbClr val="111827"/>
                    </a:solidFill>
                    <a:latin typeface="Arial"/>
                  </a:rPr>
                  <a:t> numbers) every residue class modulo </a:t>
                </a:r>
                <a:r>
                  <a:rPr lang="en-IN" sz="2400">
                    <a:solidFill>
                      <a:srgbClr val="111827"/>
                    </a:solidFill>
                    <a:latin typeface="Cambria Math" panose="02040503050406030204" pitchFamily="18" charset="0"/>
                  </a:rPr>
                  <a:t>$9$</a:t>
                </a:r>
                <a:r>
                  <a:rPr sz="2400" b="0">
                    <a:solidFill>
                      <a:srgbClr val="111827"/>
                    </a:solidFill>
                    <a:latin typeface="Arial"/>
                  </a:rPr>
                  <a:t> has exactly </a:t>
                </a:r>
                <a:r>
                  <a:rPr lang="en-IN" sz="2400">
                    <a:solidFill>
                      <a:srgbClr val="111827"/>
                    </a:solidFill>
                    <a:latin typeface="Cambria Math" panose="02040503050406030204" pitchFamily="18" charset="0"/>
                  </a:rPr>
                  <a:t>$100$</a:t>
                </a:r>
                <a:r>
                  <a:rPr sz="2400" b="0">
                    <a:solidFill>
                      <a:srgbClr val="111827"/>
                    </a:solidFill>
                    <a:latin typeface="Arial"/>
                  </a:rPr>
                  <a:t> members.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Changing the residue from </a:t>
                </a:r>
                <a:r>
                  <a:rPr lang="en-IN" sz="2400">
                    <a:solidFill>
                      <a:srgbClr val="111827"/>
                    </a:solidFill>
                    <a:latin typeface="Cambria Math" panose="02040503050406030204" pitchFamily="18" charset="0"/>
                  </a:rPr>
                  <a:t>$r$</a:t>
                </a:r>
                <a:r>
                  <a:rPr sz="2400" b="0">
                    <a:solidFill>
                      <a:srgbClr val="111827"/>
                    </a:solidFill>
                    <a:latin typeface="Arial"/>
                  </a:rPr>
                  <a:t> to </a:t>
                </a:r>
                <a:r>
                  <a:rPr lang="en-IN" sz="2400">
                    <a:solidFill>
                      <a:srgbClr val="111827"/>
                    </a:solidFill>
                    <a:latin typeface="Cambria Math" panose="02040503050406030204" pitchFamily="18" charset="0"/>
                  </a:rPr>
                  <a:t>$r'$</a:t>
                </a:r>
                <a:r>
                  <a:rPr sz="2400" b="0">
                    <a:solidFill>
                      <a:srgbClr val="111827"/>
                    </a:solidFill>
                    <a:latin typeface="Arial"/>
                  </a:rPr>
                  <a:t> keeps the </a:t>
                </a:r>
                <a:r>
                  <a:rPr lang="en-IN" sz="2400">
                    <a:solidFill>
                      <a:srgbClr val="111827"/>
                    </a:solidFill>
                    <a:latin typeface="Cambria Math" panose="02040503050406030204" pitchFamily="18" charset="0"/>
                  </a:rPr>
                  <a:t>$k$</a:t>
                </a:r>
                <a:r>
                  <a:rPr sz="2400" b="0">
                    <a:solidFill>
                      <a:srgbClr val="111827"/>
                    </a:solidFill>
                    <a:latin typeface="Arial"/>
                  </a:rPr>
                  <a:t>-range and shifts the class sum by </a:t>
                </a:r>
                <a:r>
                  <a:rPr lang="en-IN" sz="2400">
                    <a:solidFill>
                      <a:srgbClr val="111827"/>
                    </a:solidFill>
                    <a:latin typeface="Cambria Math" panose="02040503050406030204" pitchFamily="18" charset="0"/>
                  </a:rPr>
                  <a:t>$100(r'-r)$</a:t>
                </a:r>
                <a:r>
                  <a:rPr sz="2400" b="0">
                    <a:solidFill>
                      <a:srgbClr val="111827"/>
                    </a:solidFill>
                    <a:latin typeface="Arial"/>
                  </a:rPr>
                  <a:t>; here </a:t>
                </a:r>
                <a:r>
                  <a:rPr lang="en-IN" sz="2400">
                    <a:solidFill>
                      <a:srgbClr val="111827"/>
                    </a:solidFill>
                    <a:latin typeface="Cambria Math" panose="02040503050406030204" pitchFamily="18" charset="0"/>
                  </a:rPr>
                  <a:t>$r=2\to r'=5$</a:t>
                </a:r>
                <a:r>
                  <a:rPr sz="2400" b="0">
                    <a:solidFill>
                      <a:srgbClr val="111827"/>
                    </a:solidFill>
                    <a:latin typeface="Arial"/>
                  </a:rPr>
                  <a:t> gives </a:t>
                </a:r>
                <a:r>
                  <a:rPr lang="en-IN" sz="2400">
                    <a:solidFill>
                      <a:srgbClr val="111827"/>
                    </a:solidFill>
                    <a:latin typeface="Cambria Math" panose="02040503050406030204" pitchFamily="18" charset="0"/>
                  </a:rPr>
                  <a:t>$54650+300=54950$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of an AP </a:t>
                </a:r>
                <a:r>
                  <a:rPr lang="en-IN" sz="2400">
                    <a:solidFill>
                      <a:srgbClr val="111827"/>
                    </a:solidFill>
                    <a:latin typeface="Cambria Math" panose="02040503050406030204" pitchFamily="18" charset="0"/>
                  </a:rPr>
                  <a:t>$=\text{(number of terms)}\times\text{(first + last)}/2$</a:t>
                </a:r>
                <a:r>
                  <a:rPr sz="2400" b="0">
                    <a:solidFill>
                      <a:srgbClr val="111827"/>
                    </a:solidFill>
                    <a:latin typeface="Arial"/>
                  </a:rPr>
                  <a:t>; sums of disjoint sets add, so check disjointness before adding.</a:t>
                </a:r>
                <a:endParaRPr sz="2400">
                  <a:solidFill>
                    <a:srgbClr val="111827"/>
                  </a:solidFill>
                </a:endParaRPr>
              </a:p>
            </p:txBody>
          </p:sp>
        </mc:Fallback>
      </mc:AlternateContent>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3</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Single Correct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Q13 – Q18</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Marks not printed in the paper: +4 assumed (JEE Advanced default)</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Questions are from AIEEE / JEE Main papers</a:t>
            </a:r>
            <a:endParaRPr sz="2800">
              <a:solidFill>
                <a:srgbClr val="FFFFFF"/>
              </a:solidFill>
            </a:endParaRP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1.5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3776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nor/>
                      </m:rPr>
                      <a:rPr lang="en-IN" sz="2400" i="1">
                        <a:solidFill>
                          <a:srgbClr val="111827"/>
                        </a:solidFill>
                        <a:latin typeface="Cambria Math" panose="02040503050406030204" pitchFamily="18" charset="0"/>
                      </a:rPr>
                      <m:t> 𝑎𝑛𝑑 </m:t>
                    </m:r>
                    <m:r>
                      <a:rPr lang="en-IN" sz="2400" i="1">
                        <a:solidFill>
                          <a:srgbClr val="111827"/>
                        </a:solidFill>
                        <a:latin typeface="Cambria Math" panose="02040503050406030204" pitchFamily="18" charset="0"/>
                      </a:rPr>
                      <m:t>𝑄</m:t>
                    </m:r>
                    <m:r>
                      <m:rPr>
                        <m:nor/>
                      </m:rPr>
                      <a:rPr lang="en-IN" sz="2400" i="1">
                        <a:solidFill>
                          <a:srgbClr val="111827"/>
                        </a:solidFill>
                        <a:latin typeface="Cambria Math" panose="02040503050406030204" pitchFamily="18" charset="0"/>
                      </a:rPr>
                      <m:t> 𝑎𝑟𝑒 𝑎𝑡 𝑡ℎ𝑒 𝑠𝑎𝑚𝑒 𝑑𝑖𝑠𝑡𝑎𝑛𝑐𝑒 𝑓𝑟𝑜𝑚 𝑡ℎ𝑒 𝑜𝑟𝑖𝑔𝑖𝑛</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be a relation. Then the equivalence class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the set: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endParaRPr sz="2400">
                  <a:solidFill>
                    <a:srgbClr val="111827"/>
                  </a:solidFill>
                </a:endParaRPr>
              </a:p>
            </p:txBody>
          </p:sp>
        </mc:Choice>
        <mc:Fallback>
          <p:sp>
            <p:nvSpPr>
              <p:cNvPr id="4" name="Rounded Rectangle 3"/>
              <p:cNvSpPr/>
              <p:nvPr/>
            </p:nvSpPr>
            <p:spPr>
              <a:xfrm>
                <a:off x="731520" y="1280160"/>
                <a:ext cx="10725912" cy="33776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$R=\{(P,Q):P \text{ and } Q \text{ are at the same distance from the origin}\}$</a:t>
                </a:r>
                <a:r>
                  <a:rPr sz="2400" b="0">
                    <a:solidFill>
                      <a:srgbClr val="111827"/>
                    </a:solidFill>
                    <a:latin typeface="Arial"/>
                  </a:rPr>
                  <a:t> be a relation. Then the equivalence class of </a:t>
                </a:r>
                <a:r>
                  <a:rPr lang="en-IN" sz="2400">
                    <a:solidFill>
                      <a:srgbClr val="111827"/>
                    </a:solidFill>
                    <a:latin typeface="Cambria Math" panose="02040503050406030204" pitchFamily="18" charset="0"/>
                  </a:rPr>
                  <a:t>$(1,-1)$</a:t>
                </a:r>
                <a:r>
                  <a:rPr sz="2400" b="0">
                    <a:solidFill>
                      <a:srgbClr val="111827"/>
                    </a:solidFill>
                    <a:latin typeface="Arial"/>
                  </a:rPr>
                  <a:t> is the set: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$S=\{(x,y):x^2+y^2=\sqrt{2}\}$</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$S=\{(x,y):x^2+y^2=2\}$</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$S=\{(x,y):x^2+y^2=4\}$</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$S=\{(x,y):x^2+y^2=1\}$</a:t>
                </a:r>
                <a:endParaRPr sz="2400">
                  <a:solidFill>
                    <a:srgbClr val="111827"/>
                  </a:solidFill>
                </a:endParaRPr>
              </a:p>
            </p:txBody>
          </p:sp>
        </mc:Fallback>
      </mc:AlternateContent>
      <p:sp>
        <p:nvSpPr>
          <p:cNvPr id="5" name="Rectangle 4"/>
          <p:cNvSpPr/>
          <p:nvPr/>
        </p:nvSpPr>
        <p:spPr>
          <a:xfrm>
            <a:off x="731520" y="4886452"/>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Equivalence class, Distance from the origin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1.5(A little above JEE Main Level)</a:t>
            </a:r>
            <a:endParaRPr sz="2400">
              <a:solidFill>
                <a:srgbClr val="111827"/>
              </a:solidFill>
            </a:endParaRP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1.5  ·  4 Marks</a:t>
            </a:r>
            <a:endParaRPr sz="2400">
              <a:solidFill>
                <a:srgbClr val="111827"/>
              </a:solidFill>
            </a:endParaRPr>
          </a:p>
        </p:txBody>
      </p:sp>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class of a point is the set of all points at the same distance from the origin: the circle through it.</a:t>
            </a:r>
            <a:endParaRPr sz="24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𝑂</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let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be any point in the class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𝑂</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1</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 so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sSup>
                      <m:e>
                        <m:r>
                          <a:rPr lang="en-IN" sz="2400" i="1">
                            <a:solidFill>
                              <a:srgbClr val="111827"/>
                            </a:solidFill>
                            <a:latin typeface="Cambria Math" panose="02040503050406030204" pitchFamily="18" charset="0"/>
                          </a:rPr>
                          <m:t>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the locus of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is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equivalence class is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Option (B).</a:t>
                </a:r>
                <a:endParaRPr sz="2400">
                  <a:solidFill>
                    <a:srgbClr val="111827"/>
                  </a:solidFill>
                </a:endParaRPr>
              </a:p>
            </p:txBody>
          </p:sp>
        </mc:Choice>
        <mc:Fallback>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$O=(0,0)$</a:t>
                </a:r>
                <a:r>
                  <a:rPr sz="2400" b="0">
                    <a:solidFill>
                      <a:srgbClr val="111827"/>
                    </a:solidFill>
                    <a:latin typeface="Arial"/>
                  </a:rPr>
                  <a:t> and let </a:t>
                </a:r>
                <a:r>
                  <a:rPr lang="en-IN" sz="2400">
                    <a:solidFill>
                      <a:srgbClr val="111827"/>
                    </a:solidFill>
                    <a:latin typeface="Cambria Math" panose="02040503050406030204" pitchFamily="18" charset="0"/>
                  </a:rPr>
                  <a:t>$P=(h,k)$</a:t>
                </a:r>
                <a:r>
                  <a:rPr sz="2400" b="0">
                    <a:solidFill>
                      <a:srgbClr val="111827"/>
                    </a:solidFill>
                    <a:latin typeface="Arial"/>
                  </a:rPr>
                  <a:t> be any point in the class of </a:t>
                </a:r>
                <a:r>
                  <a:rPr lang="en-IN" sz="2400">
                    <a:solidFill>
                      <a:srgbClr val="111827"/>
                    </a:solidFill>
                    <a:latin typeface="Cambria Math" panose="02040503050406030204" pitchFamily="18" charset="0"/>
                  </a:rPr>
                  <a:t>$(1,-1)$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$(P,(1,-1))\in R$</a:t>
                </a:r>
                <a:r>
                  <a:rPr sz="2400" b="0">
                    <a:solidFill>
                      <a:srgbClr val="111827"/>
                    </a:solidFill>
                    <a:latin typeface="Arial"/>
                  </a:rPr>
                  <a:t>, i.e. </a:t>
                </a:r>
                <a:r>
                  <a:rPr lang="en-IN" sz="2400">
                    <a:solidFill>
                      <a:srgbClr val="111827"/>
                    </a:solidFill>
                    <a:latin typeface="Cambria Math" panose="02040503050406030204" pitchFamily="18" charset="0"/>
                  </a:rPr>
                  <a:t>$OP=O(1,-1)$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$O(1,-1)=\sqrt{1^2+(-1)^2}=\sqrt{2}$</a:t>
                </a:r>
                <a:r>
                  <a:rPr sz="2400" b="0">
                    <a:solidFill>
                      <a:srgbClr val="111827"/>
                    </a:solidFill>
                    <a:latin typeface="Arial"/>
                  </a:rPr>
                  <a:t>, so </a:t>
                </a:r>
                <a:r>
                  <a:rPr lang="en-IN" sz="2400">
                    <a:solidFill>
                      <a:srgbClr val="111827"/>
                    </a:solidFill>
                    <a:latin typeface="Cambria Math" panose="02040503050406030204" pitchFamily="18" charset="0"/>
                  </a:rPr>
                  <a:t>$\sqrt{h^2+k^2}=\sqrt{2}$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$h^2+k^2=2$</a:t>
                </a:r>
                <a:r>
                  <a:rPr sz="2400" b="0">
                    <a:solidFill>
                      <a:srgbClr val="111827"/>
                    </a:solidFill>
                    <a:latin typeface="Arial"/>
                  </a:rPr>
                  <a:t>, and the locus of </a:t>
                </a:r>
                <a:r>
                  <a:rPr lang="en-IN" sz="2400">
                    <a:solidFill>
                      <a:srgbClr val="111827"/>
                    </a:solidFill>
                    <a:latin typeface="Cambria Math" panose="02040503050406030204" pitchFamily="18" charset="0"/>
                  </a:rPr>
                  <a:t>$P$</a:t>
                </a:r>
                <a:r>
                  <a:rPr sz="2400" b="0">
                    <a:solidFill>
                      <a:srgbClr val="111827"/>
                    </a:solidFill>
                    <a:latin typeface="Arial"/>
                  </a:rPr>
                  <a:t> is </a:t>
                </a:r>
                <a:r>
                  <a:rPr lang="en-IN" sz="2400">
                    <a:solidFill>
                      <a:srgbClr val="111827"/>
                    </a:solidFill>
                    <a:latin typeface="Cambria Math" panose="02040503050406030204" pitchFamily="18" charset="0"/>
                  </a:rPr>
                  <a:t>$x^2+y^2=2$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equivalence class is </a:t>
                </a:r>
                <a:r>
                  <a:rPr lang="en-IN" sz="2400">
                    <a:solidFill>
                      <a:srgbClr val="111827"/>
                    </a:solidFill>
                    <a:latin typeface="Cambria Math" panose="02040503050406030204" pitchFamily="18" charset="0"/>
                  </a:rPr>
                  <a:t>$\{(x,y):x^2+y^2=2\}$</a:t>
                </a:r>
                <a:r>
                  <a:rPr sz="2400" b="0">
                    <a:solidFill>
                      <a:srgbClr val="111827"/>
                    </a:solidFill>
                    <a:latin typeface="Arial"/>
                  </a:rPr>
                  <a:t>. Option (B).</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14:m>
                  <m:oMath xmlns:m="http://schemas.openxmlformats.org/officeDocument/2006/math">
                    <m:r>
                      <a:rPr lang="en-IN" sz="2800" i="1">
                        <a:solidFill>
                          <a:srgbClr val="15803D"/>
                        </a:solidFill>
                        <a:latin typeface="Cambria Math" panose="02040503050406030204" pitchFamily="18" charset="0"/>
                      </a:rPr>
                      <m:t>𝑆</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𝑦</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sSup>
                      <m:e>
                        <m:r>
                          <a:rPr lang="en-IN" sz="2800" i="1">
                            <a:solidFill>
                              <a:srgbClr val="15803D"/>
                            </a:solidFill>
                            <a:latin typeface="Cambria Math" panose="02040503050406030204" pitchFamily="18" charset="0"/>
                          </a:rPr>
                          <m:t>𝑥</m:t>
                        </m:r>
                      </m:e>
                      <m:sup>
                        <m:r>
                          <a:rPr lang="en-IN" sz="2800" i="1">
                            <a:solidFill>
                              <a:srgbClr val="15803D"/>
                            </a:solidFill>
                            <a:latin typeface="Cambria Math" panose="02040503050406030204" pitchFamily="18" charset="0"/>
                          </a:rPr>
                          <m:t>2</m:t>
                        </m:r>
                      </m:sup>
                    </m:sSup>
                    <m:r>
                      <m:rPr>
                        <m:sty m:val="p"/>
                      </m:rPr>
                      <a:rPr lang="en-IN" sz="2800">
                        <a:solidFill>
                          <a:srgbClr val="15803D"/>
                        </a:solidFill>
                        <a:latin typeface="Cambria Math" panose="02040503050406030204" pitchFamily="18" charset="0"/>
                      </a:rPr>
                      <m:t>+</m:t>
                    </m:r>
                    <m:sSup>
                      <m:e>
                        <m:r>
                          <a:rPr lang="en-IN" sz="2800" i="1">
                            <a:solidFill>
                              <a:srgbClr val="15803D"/>
                            </a:solidFill>
                            <a:latin typeface="Cambria Math" panose="02040503050406030204" pitchFamily="18" charset="0"/>
                          </a:rPr>
                          <m:t>𝑦</m:t>
                        </m:r>
                      </m:e>
                      <m:sup>
                        <m:r>
                          <a:rPr lang="en-IN" sz="2800" i="1">
                            <a:solidFill>
                              <a:srgbClr val="15803D"/>
                            </a:solidFill>
                            <a:latin typeface="Cambria Math" panose="02040503050406030204" pitchFamily="18" charset="0"/>
                          </a:rPr>
                          <m:t>2</m:t>
                        </m:r>
                      </m:sup>
                    </m:s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m:t>
                    </m:r>
                    <m:r>
                      <m:rPr>
                        <m:sty m:val="p"/>
                      </m:rPr>
                      <a:rPr lang="en-IN" sz="2800">
                        <a:solidFill>
                          <a:srgbClr val="15803D"/>
                        </a:solidFill>
                        <a:latin typeface="Cambria Math" panose="02040503050406030204" pitchFamily="18" charset="0"/>
                      </a:rPr>
                      <m:t>}</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r>
                  <a:rPr lang="en-IN" sz="2800">
                    <a:solidFill>
                      <a:srgbClr val="15803D"/>
                    </a:solidFill>
                    <a:latin typeface="Cambria Math" panose="02040503050406030204" pitchFamily="18" charset="0"/>
                  </a:rPr>
                  <a:t>$S=\{(x,y):x^2+y^2=2\}$</a:t>
                </a:r>
                <a:endParaRPr sz="2800">
                  <a:solidFill>
                    <a:srgbClr val="15803D"/>
                  </a:solidFill>
                </a:endParaRPr>
              </a:p>
            </p:txBody>
          </p:sp>
        </mc:Fallback>
      </mc:AlternateContent>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1.5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Rotations about </a:t>
                </a:r>
                <a14:m>
                  <m:oMath xmlns:m="http://schemas.openxmlformats.org/officeDocument/2006/math">
                    <m:r>
                      <a:rPr lang="en-IN" sz="2400" i="1">
                        <a:solidFill>
                          <a:srgbClr val="78350F"/>
                        </a:solidFill>
                        <a:latin typeface="Cambria Math" panose="02040503050406030204" pitchFamily="18" charset="0"/>
                      </a:rPr>
                      <m:t>𝑂</m:t>
                    </m:r>
                  </m:oMath>
                </a14:m>
                <a:r>
                  <a:rPr sz="2400" b="0">
                    <a:solidFill>
                      <a:srgbClr val="78350F"/>
                    </a:solidFill>
                    <a:latin typeface="Arial"/>
                  </a:rPr>
                  <a:t> preserve distance from </a:t>
                </a:r>
                <a14:m>
                  <m:oMath xmlns:m="http://schemas.openxmlformats.org/officeDocument/2006/math">
                    <m:r>
                      <a:rPr lang="en-IN" sz="2400" i="1">
                        <a:solidFill>
                          <a:srgbClr val="78350F"/>
                        </a:solidFill>
                        <a:latin typeface="Cambria Math" panose="02040503050406030204" pitchFamily="18" charset="0"/>
                      </a:rPr>
                      <m:t>𝑂</m:t>
                    </m:r>
                  </m:oMath>
                </a14:m>
                <a:r>
                  <a:rPr sz="2400" b="0">
                    <a:solidFill>
                      <a:srgbClr val="78350F"/>
                    </a:solidFill>
                    <a:latin typeface="Arial"/>
                  </a:rPr>
                  <a:t> and move any point to any other point at that distance, so the class is the orbit of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under rotation: a circle centred at </a:t>
                </a:r>
                <a14:m>
                  <m:oMath xmlns:m="http://schemas.openxmlformats.org/officeDocument/2006/math">
                    <m:r>
                      <a:rPr lang="en-IN" sz="2400" i="1">
                        <a:solidFill>
                          <a:srgbClr val="78350F"/>
                        </a:solidFill>
                        <a:latin typeface="Cambria Math" panose="02040503050406030204" pitchFamily="18" charset="0"/>
                      </a:rPr>
                      <m:t>𝑂</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Rotations about </a:t>
                </a:r>
                <a:r>
                  <a:rPr lang="en-IN" sz="2400">
                    <a:solidFill>
                      <a:srgbClr val="78350F"/>
                    </a:solidFill>
                    <a:latin typeface="Cambria Math" panose="02040503050406030204" pitchFamily="18" charset="0"/>
                  </a:rPr>
                  <a:t>$O$</a:t>
                </a:r>
                <a:r>
                  <a:rPr sz="2400" b="0">
                    <a:solidFill>
                      <a:srgbClr val="78350F"/>
                    </a:solidFill>
                    <a:latin typeface="Arial"/>
                  </a:rPr>
                  <a:t> preserve distance from </a:t>
                </a:r>
                <a:r>
                  <a:rPr lang="en-IN" sz="2400">
                    <a:solidFill>
                      <a:srgbClr val="78350F"/>
                    </a:solidFill>
                    <a:latin typeface="Cambria Math" panose="02040503050406030204" pitchFamily="18" charset="0"/>
                  </a:rPr>
                  <a:t>$O$</a:t>
                </a:r>
                <a:r>
                  <a:rPr sz="2400" b="0">
                    <a:solidFill>
                      <a:srgbClr val="78350F"/>
                    </a:solidFill>
                    <a:latin typeface="Arial"/>
                  </a:rPr>
                  <a:t> and move any point to any other point at that distance, so the class is the orbit of </a:t>
                </a:r>
                <a:r>
                  <a:rPr lang="en-IN" sz="2400">
                    <a:solidFill>
                      <a:srgbClr val="78350F"/>
                    </a:solidFill>
                    <a:latin typeface="Cambria Math" panose="02040503050406030204" pitchFamily="18" charset="0"/>
                  </a:rPr>
                  <a:t>$(1,-1)$</a:t>
                </a:r>
                <a:r>
                  <a:rPr sz="2400" b="0">
                    <a:solidFill>
                      <a:srgbClr val="78350F"/>
                    </a:solidFill>
                    <a:latin typeface="Arial"/>
                  </a:rPr>
                  <a:t> under rotation: a circle centred at </a:t>
                </a:r>
                <a:r>
                  <a:rPr lang="en-IN" sz="2400">
                    <a:solidFill>
                      <a:srgbClr val="78350F"/>
                    </a:solidFill>
                    <a:latin typeface="Cambria Math" panose="02040503050406030204" pitchFamily="18" charset="0"/>
                  </a:rPr>
                  <a:t>$O$</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rotation about </a:t>
                </a:r>
                <a14:m>
                  <m:oMath xmlns:m="http://schemas.openxmlformats.org/officeDocument/2006/math">
                    <m:r>
                      <a:rPr lang="en-IN" sz="2400" i="1">
                        <a:solidFill>
                          <a:srgbClr val="111827"/>
                        </a:solidFill>
                        <a:latin typeface="Cambria Math" panose="02040503050406030204" pitchFamily="18" charset="0"/>
                      </a:rPr>
                      <m:t>𝑂</m:t>
                    </m:r>
                  </m:oMath>
                </a14:m>
                <a:r>
                  <a:rPr sz="2400" b="0">
                    <a:solidFill>
                      <a:srgbClr val="111827"/>
                    </a:solidFill>
                    <a:latin typeface="Arial"/>
                  </a:rPr>
                  <a:t> does not change the distance from </a:t>
                </a:r>
                <a14:m>
                  <m:oMath xmlns:m="http://schemas.openxmlformats.org/officeDocument/2006/math">
                    <m:r>
                      <a:rPr lang="en-IN" sz="2400" i="1">
                        <a:solidFill>
                          <a:srgbClr val="111827"/>
                        </a:solidFill>
                        <a:latin typeface="Cambria Math" panose="02040503050406030204" pitchFamily="18" charset="0"/>
                      </a:rPr>
                      <m:t>𝑂</m:t>
                    </m:r>
                  </m:oMath>
                </a14:m>
                <a:r>
                  <a:rPr sz="2400" b="0">
                    <a:solidFill>
                      <a:srgbClr val="111827"/>
                    </a:solidFill>
                    <a:latin typeface="Arial"/>
                  </a:rPr>
                  <a:t>, so every rotated image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related to it.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Conversely two points at equal distance from </a:t>
                </a:r>
                <a14:m>
                  <m:oMath xmlns:m="http://schemas.openxmlformats.org/officeDocument/2006/math">
                    <m:r>
                      <a:rPr lang="en-IN" sz="2400" i="1">
                        <a:solidFill>
                          <a:srgbClr val="111827"/>
                        </a:solidFill>
                        <a:latin typeface="Cambria Math" panose="02040503050406030204" pitchFamily="18" charset="0"/>
                      </a:rPr>
                      <m:t>𝑂</m:t>
                    </m:r>
                  </m:oMath>
                </a14:m>
                <a:r>
                  <a:rPr sz="2400" b="0">
                    <a:solidFill>
                      <a:srgbClr val="111827"/>
                    </a:solidFill>
                    <a:latin typeface="Arial"/>
                  </a:rPr>
                  <a:t> are related by a rotation about </a:t>
                </a:r>
                <a14:m>
                  <m:oMath xmlns:m="http://schemas.openxmlformats.org/officeDocument/2006/math">
                    <m:r>
                      <a:rPr lang="en-IN" sz="2400" i="1">
                        <a:solidFill>
                          <a:srgbClr val="111827"/>
                        </a:solidFill>
                        <a:latin typeface="Cambria Math" panose="02040503050406030204" pitchFamily="18" charset="0"/>
                      </a:rPr>
                      <m:t>𝑂</m:t>
                    </m:r>
                  </m:oMath>
                </a14:m>
                <a:r>
                  <a:rPr sz="2400" b="0">
                    <a:solidFill>
                      <a:srgbClr val="111827"/>
                    </a:solidFill>
                    <a:latin typeface="Arial"/>
                  </a:rPr>
                  <a:t> (rotate by the angle between them).</a:t>
                </a:r>
                <a:endParaRPr sz="2400">
                  <a:solidFill>
                    <a:srgbClr val="111827"/>
                  </a:solidFill>
                </a:endParaRPr>
              </a:p>
            </p:txBody>
          </p:sp>
        </mc:Choice>
        <mc:Fallback>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rotation about </a:t>
                </a:r>
                <a:r>
                  <a:rPr lang="en-IN" sz="2400">
                    <a:solidFill>
                      <a:srgbClr val="111827"/>
                    </a:solidFill>
                    <a:latin typeface="Cambria Math" panose="02040503050406030204" pitchFamily="18" charset="0"/>
                  </a:rPr>
                  <a:t>$O$</a:t>
                </a:r>
                <a:r>
                  <a:rPr sz="2400" b="0">
                    <a:solidFill>
                      <a:srgbClr val="111827"/>
                    </a:solidFill>
                    <a:latin typeface="Arial"/>
                  </a:rPr>
                  <a:t> does not change the distance from </a:t>
                </a:r>
                <a:r>
                  <a:rPr lang="en-IN" sz="2400">
                    <a:solidFill>
                      <a:srgbClr val="111827"/>
                    </a:solidFill>
                    <a:latin typeface="Cambria Math" panose="02040503050406030204" pitchFamily="18" charset="0"/>
                  </a:rPr>
                  <a:t>$O$</a:t>
                </a:r>
                <a:r>
                  <a:rPr sz="2400" b="0">
                    <a:solidFill>
                      <a:srgbClr val="111827"/>
                    </a:solidFill>
                    <a:latin typeface="Arial"/>
                  </a:rPr>
                  <a:t>, so every rotated image of </a:t>
                </a:r>
                <a:r>
                  <a:rPr lang="en-IN" sz="2400">
                    <a:solidFill>
                      <a:srgbClr val="111827"/>
                    </a:solidFill>
                    <a:latin typeface="Cambria Math" panose="02040503050406030204" pitchFamily="18" charset="0"/>
                  </a:rPr>
                  <a:t>$(1,-1)$</a:t>
                </a:r>
                <a:r>
                  <a:rPr sz="2400" b="0">
                    <a:solidFill>
                      <a:srgbClr val="111827"/>
                    </a:solidFill>
                    <a:latin typeface="Arial"/>
                  </a:rPr>
                  <a:t> is related to it.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Conversely two points at equal distance from </a:t>
                </a:r>
                <a:r>
                  <a:rPr lang="en-IN" sz="2400">
                    <a:solidFill>
                      <a:srgbClr val="111827"/>
                    </a:solidFill>
                    <a:latin typeface="Cambria Math" panose="02040503050406030204" pitchFamily="18" charset="0"/>
                  </a:rPr>
                  <a:t>$O$</a:t>
                </a:r>
                <a:r>
                  <a:rPr sz="2400" b="0">
                    <a:solidFill>
                      <a:srgbClr val="111827"/>
                    </a:solidFill>
                    <a:latin typeface="Arial"/>
                  </a:rPr>
                  <a:t> are related by a rotation about </a:t>
                </a:r>
                <a:r>
                  <a:rPr lang="en-IN" sz="2400">
                    <a:solidFill>
                      <a:srgbClr val="111827"/>
                    </a:solidFill>
                    <a:latin typeface="Cambria Math" panose="02040503050406030204" pitchFamily="18" charset="0"/>
                  </a:rPr>
                  <a:t>$O$</a:t>
                </a:r>
                <a:r>
                  <a:rPr sz="2400" b="0">
                    <a:solidFill>
                      <a:srgbClr val="111827"/>
                    </a:solidFill>
                    <a:latin typeface="Arial"/>
                  </a:rPr>
                  <a:t> (rotate by the angle between them).</a:t>
                </a:r>
                <a:endParaRPr sz="2400">
                  <a:solidFill>
                    <a:srgbClr val="111827"/>
                  </a:solidFill>
                </a:endParaRPr>
              </a:p>
            </p:txBody>
          </p:sp>
        </mc:Fallback>
      </mc:AlternateContent>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1.5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the class is the full circle with centre </a:t>
                </a:r>
                <a14:m>
                  <m:oMath xmlns:m="http://schemas.openxmlformats.org/officeDocument/2006/math">
                    <m:r>
                      <a:rPr lang="en-IN" sz="2400" i="1">
                        <a:solidFill>
                          <a:srgbClr val="111827"/>
                        </a:solidFill>
                        <a:latin typeface="Cambria Math" panose="02040503050406030204" pitchFamily="18" charset="0"/>
                      </a:rPr>
                      <m:t>𝑂</m:t>
                    </m:r>
                  </m:oMath>
                </a14:m>
                <a:r>
                  <a:rPr sz="2400" b="0">
                    <a:solidFill>
                      <a:srgbClr val="111827"/>
                    </a:solidFill>
                    <a:latin typeface="Arial"/>
                  </a:rPr>
                  <a:t> passing through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Its radius is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 so the equation is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Option (B).</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the class is the full circle with centre </a:t>
                </a:r>
                <a:r>
                  <a:rPr lang="en-IN" sz="2400">
                    <a:solidFill>
                      <a:srgbClr val="111827"/>
                    </a:solidFill>
                    <a:latin typeface="Cambria Math" panose="02040503050406030204" pitchFamily="18" charset="0"/>
                  </a:rPr>
                  <a:t>$O$</a:t>
                </a:r>
                <a:r>
                  <a:rPr sz="2400" b="0">
                    <a:solidFill>
                      <a:srgbClr val="111827"/>
                    </a:solidFill>
                    <a:latin typeface="Arial"/>
                  </a:rPr>
                  <a:t> passing through </a:t>
                </a:r>
                <a:r>
                  <a:rPr lang="en-IN" sz="2400">
                    <a:solidFill>
                      <a:srgbClr val="111827"/>
                    </a:solidFill>
                    <a:latin typeface="Cambria Math" panose="02040503050406030204" pitchFamily="18" charset="0"/>
                  </a:rPr>
                  <a:t>$(1,-1)$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Its radius is </a:t>
                </a:r>
                <a:r>
                  <a:rPr lang="en-IN" sz="2400">
                    <a:solidFill>
                      <a:srgbClr val="111827"/>
                    </a:solidFill>
                    <a:latin typeface="Cambria Math" panose="02040503050406030204" pitchFamily="18" charset="0"/>
                  </a:rPr>
                  <a:t>$\sqrt{1+1}=\sqrt2$</a:t>
                </a:r>
                <a:r>
                  <a:rPr sz="2400" b="0">
                    <a:solidFill>
                      <a:srgbClr val="111827"/>
                    </a:solidFill>
                    <a:latin typeface="Arial"/>
                  </a:rPr>
                  <a:t>, so the equation is </a:t>
                </a:r>
                <a:r>
                  <a:rPr lang="en-IN" sz="2400">
                    <a:solidFill>
                      <a:srgbClr val="111827"/>
                    </a:solidFill>
                    <a:latin typeface="Cambria Math" panose="02040503050406030204" pitchFamily="18" charset="0"/>
                  </a:rPr>
                  <a:t>$x^2+y^2=2$</a:t>
                </a:r>
                <a:r>
                  <a:rPr sz="2400" b="0">
                    <a:solidFill>
                      <a:srgbClr val="111827"/>
                    </a:solidFill>
                    <a:latin typeface="Arial"/>
                  </a:rPr>
                  <a:t>. Option (B).</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14:m>
                  <m:oMath xmlns:m="http://schemas.openxmlformats.org/officeDocument/2006/math">
                    <m:r>
                      <a:rPr lang="en-IN" sz="2800" i="1">
                        <a:solidFill>
                          <a:srgbClr val="15803D"/>
                        </a:solidFill>
                        <a:latin typeface="Cambria Math" panose="02040503050406030204" pitchFamily="18" charset="0"/>
                      </a:rPr>
                      <m:t>𝑆</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𝑦</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sSup>
                      <m:e>
                        <m:r>
                          <a:rPr lang="en-IN" sz="2800" i="1">
                            <a:solidFill>
                              <a:srgbClr val="15803D"/>
                            </a:solidFill>
                            <a:latin typeface="Cambria Math" panose="02040503050406030204" pitchFamily="18" charset="0"/>
                          </a:rPr>
                          <m:t>𝑥</m:t>
                        </m:r>
                      </m:e>
                      <m:sup>
                        <m:r>
                          <a:rPr lang="en-IN" sz="2800" i="1">
                            <a:solidFill>
                              <a:srgbClr val="15803D"/>
                            </a:solidFill>
                            <a:latin typeface="Cambria Math" panose="02040503050406030204" pitchFamily="18" charset="0"/>
                          </a:rPr>
                          <m:t>2</m:t>
                        </m:r>
                      </m:sup>
                    </m:sSup>
                    <m:r>
                      <m:rPr>
                        <m:sty m:val="p"/>
                      </m:rPr>
                      <a:rPr lang="en-IN" sz="2800">
                        <a:solidFill>
                          <a:srgbClr val="15803D"/>
                        </a:solidFill>
                        <a:latin typeface="Cambria Math" panose="02040503050406030204" pitchFamily="18" charset="0"/>
                      </a:rPr>
                      <m:t>+</m:t>
                    </m:r>
                    <m:sSup>
                      <m:e>
                        <m:r>
                          <a:rPr lang="en-IN" sz="2800" i="1">
                            <a:solidFill>
                              <a:srgbClr val="15803D"/>
                            </a:solidFill>
                            <a:latin typeface="Cambria Math" panose="02040503050406030204" pitchFamily="18" charset="0"/>
                          </a:rPr>
                          <m:t>𝑦</m:t>
                        </m:r>
                      </m:e>
                      <m:sup>
                        <m:r>
                          <a:rPr lang="en-IN" sz="2800" i="1">
                            <a:solidFill>
                              <a:srgbClr val="15803D"/>
                            </a:solidFill>
                            <a:latin typeface="Cambria Math" panose="02040503050406030204" pitchFamily="18" charset="0"/>
                          </a:rPr>
                          <m:t>2</m:t>
                        </m:r>
                      </m:sup>
                    </m:s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m:t>
                    </m:r>
                    <m:r>
                      <m:rPr>
                        <m:sty m:val="p"/>
                      </m:rPr>
                      <a:rPr lang="en-IN" sz="2800">
                        <a:solidFill>
                          <a:srgbClr val="15803D"/>
                        </a:solidFill>
                        <a:latin typeface="Cambria Math" panose="02040503050406030204" pitchFamily="18" charset="0"/>
                      </a:rPr>
                      <m:t>}</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r>
                  <a:rPr lang="en-IN" sz="2800">
                    <a:solidFill>
                      <a:srgbClr val="15803D"/>
                    </a:solidFill>
                    <a:latin typeface="Cambria Math" panose="02040503050406030204" pitchFamily="18" charset="0"/>
                  </a:rPr>
                  <a:t>$S=\{(x,y):x^2+y^2=2\}$</a:t>
                </a:r>
                <a:endParaRPr sz="2800">
                  <a:solidFill>
                    <a:srgbClr val="15803D"/>
                  </a:solidFill>
                </a:endParaRPr>
              </a:p>
            </p:txBody>
          </p:sp>
        </mc:Fallback>
      </mc:AlternateContent>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1.5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relation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class of </a:t>
                </a:r>
                <a14:m>
                  <m:oMath xmlns:m="http://schemas.openxmlformats.org/officeDocument/2006/math">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0</m:t>
                        </m:r>
                      </m:sub>
                    </m:sSub>
                  </m:oMath>
                </a14:m>
                <a:r>
                  <a:rPr sz="2400" b="0">
                    <a:solidFill>
                      <a:srgbClr val="111827"/>
                    </a:solidFill>
                    <a:latin typeface="Arial"/>
                  </a:rPr>
                  <a:t> is the level set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distance from </a:t>
                </a:r>
                <a14:m>
                  <m:oMath xmlns:m="http://schemas.openxmlformats.org/officeDocument/2006/math">
                    <m:r>
                      <a:rPr lang="en-IN" sz="2400" i="1">
                        <a:solidFill>
                          <a:srgbClr val="111827"/>
                        </a:solidFill>
                        <a:latin typeface="Cambria Math" panose="02040503050406030204" pitchFamily="18" charset="0"/>
                      </a:rPr>
                      <m:t>𝑂</m:t>
                    </m:r>
                  </m:oMath>
                </a14:m>
                <a:r>
                  <a:rPr sz="2400" b="0">
                    <a:solidFill>
                      <a:srgbClr val="111827"/>
                    </a:solidFill>
                    <a:latin typeface="Arial"/>
                  </a:rPr>
                  <a:t> the classes are the concentric circles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classes partition the plane; the number of classes of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infinite (one for each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Pitfall: option (A) shows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 the squared radius is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not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relation '</a:t>
                </a:r>
                <a:r>
                  <a:rPr lang="en-IN" sz="2400">
                    <a:solidFill>
                      <a:srgbClr val="111827"/>
                    </a:solidFill>
                    <a:latin typeface="Cambria Math" panose="02040503050406030204" pitchFamily="18" charset="0"/>
                  </a:rPr>
                  <a:t>$f(P)=f(Q)$</a:t>
                </a:r>
                <a:r>
                  <a:rPr sz="2400" b="0">
                    <a:solidFill>
                      <a:srgbClr val="111827"/>
                    </a:solidFill>
                    <a:latin typeface="Arial"/>
                  </a:rPr>
                  <a:t>' the class of </a:t>
                </a:r>
                <a:r>
                  <a:rPr lang="en-IN" sz="2400">
                    <a:solidFill>
                      <a:srgbClr val="111827"/>
                    </a:solidFill>
                    <a:latin typeface="Cambria Math" panose="02040503050406030204" pitchFamily="18" charset="0"/>
                  </a:rPr>
                  <a:t>$P_0$</a:t>
                </a:r>
                <a:r>
                  <a:rPr sz="2400" b="0">
                    <a:solidFill>
                      <a:srgbClr val="111827"/>
                    </a:solidFill>
                    <a:latin typeface="Arial"/>
                  </a:rPr>
                  <a:t> is the level set </a:t>
                </a:r>
                <a:r>
                  <a:rPr lang="en-IN" sz="2400">
                    <a:solidFill>
                      <a:srgbClr val="111827"/>
                    </a:solidFill>
                    <a:latin typeface="Cambria Math" panose="02040503050406030204" pitchFamily="18" charset="0"/>
                  </a:rPr>
                  <a:t>$f(P)=f(P_0)$</a:t>
                </a:r>
                <a:r>
                  <a:rPr sz="2400" b="0">
                    <a:solidFill>
                      <a:srgbClr val="111827"/>
                    </a:solidFill>
                    <a:latin typeface="Arial"/>
                  </a:rPr>
                  <a:t>; for </a:t>
                </a:r>
                <a:r>
                  <a:rPr lang="en-IN" sz="2400">
                    <a:solidFill>
                      <a:srgbClr val="111827"/>
                    </a:solidFill>
                    <a:latin typeface="Cambria Math" panose="02040503050406030204" pitchFamily="18" charset="0"/>
                  </a:rPr>
                  <a:t>$f=$</a:t>
                </a:r>
                <a:r>
                  <a:rPr sz="2400" b="0">
                    <a:solidFill>
                      <a:srgbClr val="111827"/>
                    </a:solidFill>
                    <a:latin typeface="Arial"/>
                  </a:rPr>
                  <a:t> distance from </a:t>
                </a:r>
                <a:r>
                  <a:rPr lang="en-IN" sz="2400">
                    <a:solidFill>
                      <a:srgbClr val="111827"/>
                    </a:solidFill>
                    <a:latin typeface="Cambria Math" panose="02040503050406030204" pitchFamily="18" charset="0"/>
                  </a:rPr>
                  <a:t>$O$</a:t>
                </a:r>
                <a:r>
                  <a:rPr sz="2400" b="0">
                    <a:solidFill>
                      <a:srgbClr val="111827"/>
                    </a:solidFill>
                    <a:latin typeface="Arial"/>
                  </a:rPr>
                  <a:t> the classes are the concentric circles and </a:t>
                </a:r>
                <a:r>
                  <a:rPr lang="en-IN" sz="2400">
                    <a:solidFill>
                      <a:srgbClr val="111827"/>
                    </a:solidFill>
                    <a:latin typeface="Cambria Math" panose="02040503050406030204" pitchFamily="18" charset="0"/>
                  </a:rPr>
                  <a:t>$\{O\}$</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classes partition the plane; the number of classes of </a:t>
                </a:r>
                <a:r>
                  <a:rPr lang="en-IN" sz="2400">
                    <a:solidFill>
                      <a:srgbClr val="111827"/>
                    </a:solidFill>
                    <a:latin typeface="Cambria Math" panose="02040503050406030204" pitchFamily="18" charset="0"/>
                  </a:rPr>
                  <a:t>$\{x^2+y^2=r^2\}$</a:t>
                </a:r>
                <a:r>
                  <a:rPr sz="2400" b="0">
                    <a:solidFill>
                      <a:srgbClr val="111827"/>
                    </a:solidFill>
                    <a:latin typeface="Arial"/>
                  </a:rPr>
                  <a:t> is infinite (one for each </a:t>
                </a:r>
                <a:r>
                  <a:rPr lang="en-IN" sz="2400">
                    <a:solidFill>
                      <a:srgbClr val="111827"/>
                    </a:solidFill>
                    <a:latin typeface="Cambria Math" panose="02040503050406030204" pitchFamily="18" charset="0"/>
                  </a:rPr>
                  <a:t>$r\ge0$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Pitfall: option (A) shows </a:t>
                </a:r>
                <a:r>
                  <a:rPr lang="en-IN" sz="2400">
                    <a:solidFill>
                      <a:srgbClr val="111827"/>
                    </a:solidFill>
                    <a:latin typeface="Cambria Math" panose="02040503050406030204" pitchFamily="18" charset="0"/>
                  </a:rPr>
                  <a:t>$x^2+y^2=\sqrt2$</a:t>
                </a:r>
                <a:r>
                  <a:rPr sz="2400" b="0">
                    <a:solidFill>
                      <a:srgbClr val="111827"/>
                    </a:solidFill>
                    <a:latin typeface="Arial"/>
                  </a:rPr>
                  <a:t>; the squared radius is </a:t>
                </a:r>
                <a:r>
                  <a:rPr lang="en-IN" sz="2400">
                    <a:solidFill>
                      <a:srgbClr val="111827"/>
                    </a:solidFill>
                    <a:latin typeface="Cambria Math" panose="02040503050406030204" pitchFamily="18" charset="0"/>
                  </a:rPr>
                  <a:t>$2$</a:t>
                </a:r>
                <a:r>
                  <a:rPr sz="2400" b="0">
                    <a:solidFill>
                      <a:srgbClr val="111827"/>
                    </a:solidFill>
                    <a:latin typeface="Arial"/>
                  </a:rPr>
                  <a:t>, not </a:t>
                </a:r>
                <a:r>
                  <a:rPr lang="en-IN" sz="2400">
                    <a:solidFill>
                      <a:srgbClr val="111827"/>
                    </a:solidFill>
                    <a:latin typeface="Cambria Math" panose="02040503050406030204" pitchFamily="18" charset="0"/>
                  </a:rPr>
                  <a:t>$\sqrt2$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1.5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3776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Define a relation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over a class of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real matrices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𝐵</m:t>
                    </m:r>
                  </m:oMath>
                </a14:m>
                <a:r>
                  <a:rPr sz="2400" b="0">
                    <a:solidFill>
                      <a:srgbClr val="111827"/>
                    </a:solidFill>
                    <a:latin typeface="Arial"/>
                  </a:rPr>
                  <a:t> iff there exists a non-singular matrix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such that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Then which of the following is true?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reflexive, transitive but not symmetric</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an equivalence relation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symmetric, transitive but not reflexive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reflexive, symmetric but not transitive</a:t>
                </a:r>
                <a:endParaRPr sz="2400">
                  <a:solidFill>
                    <a:srgbClr val="111827"/>
                  </a:solidFill>
                </a:endParaRPr>
              </a:p>
            </p:txBody>
          </p:sp>
        </mc:Choice>
        <mc:Fallback>
          <p:sp>
            <p:nvSpPr>
              <p:cNvPr id="4" name="Rounded Rectangle 3"/>
              <p:cNvSpPr/>
              <p:nvPr/>
            </p:nvSpPr>
            <p:spPr>
              <a:xfrm>
                <a:off x="731520" y="1280160"/>
                <a:ext cx="10725912" cy="33776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Define a relation </a:t>
                </a:r>
                <a:r>
                  <a:rPr lang="en-IN" sz="2400">
                    <a:solidFill>
                      <a:srgbClr val="111827"/>
                    </a:solidFill>
                    <a:latin typeface="Cambria Math" panose="02040503050406030204" pitchFamily="18" charset="0"/>
                  </a:rPr>
                  <a:t>$R$</a:t>
                </a:r>
                <a:r>
                  <a:rPr sz="2400" b="0">
                    <a:solidFill>
                      <a:srgbClr val="111827"/>
                    </a:solidFill>
                    <a:latin typeface="Arial"/>
                  </a:rPr>
                  <a:t> over a class of </a:t>
                </a:r>
                <a:r>
                  <a:rPr lang="en-IN" sz="2400">
                    <a:solidFill>
                      <a:srgbClr val="111827"/>
                    </a:solidFill>
                    <a:latin typeface="Cambria Math" panose="02040503050406030204" pitchFamily="18" charset="0"/>
                  </a:rPr>
                  <a:t>$n\times n$</a:t>
                </a:r>
                <a:r>
                  <a:rPr sz="2400" b="0">
                    <a:solidFill>
                      <a:srgbClr val="111827"/>
                    </a:solidFill>
                    <a:latin typeface="Arial"/>
                  </a:rPr>
                  <a:t> real matrices </a:t>
                </a:r>
                <a:r>
                  <a:rPr lang="en-IN" sz="2400">
                    <a:solidFill>
                      <a:srgbClr val="111827"/>
                    </a:solidFill>
                    <a:latin typeface="Cambria Math" panose="02040503050406030204" pitchFamily="18" charset="0"/>
                  </a:rPr>
                  <a:t>$A$</a:t>
                </a:r>
                <a:r>
                  <a:rPr sz="2400" b="0">
                    <a:solidFill>
                      <a:srgbClr val="111827"/>
                    </a:solidFill>
                    <a:latin typeface="Arial"/>
                  </a:rPr>
                  <a:t> and </a:t>
                </a:r>
                <a:r>
                  <a:rPr lang="en-IN" sz="2400">
                    <a:solidFill>
                      <a:srgbClr val="111827"/>
                    </a:solidFill>
                    <a:latin typeface="Cambria Math" panose="02040503050406030204" pitchFamily="18" charset="0"/>
                  </a:rPr>
                  <a:t>$B$</a:t>
                </a:r>
                <a:r>
                  <a:rPr sz="2400" b="0">
                    <a:solidFill>
                      <a:srgbClr val="111827"/>
                    </a:solidFill>
                    <a:latin typeface="Arial"/>
                  </a:rPr>
                  <a:t> as '</a:t>
                </a:r>
                <a:r>
                  <a:rPr lang="en-IN" sz="2400">
                    <a:solidFill>
                      <a:srgbClr val="111827"/>
                    </a:solidFill>
                    <a:latin typeface="Cambria Math" panose="02040503050406030204" pitchFamily="18" charset="0"/>
                  </a:rPr>
                  <a:t>$ARB$</a:t>
                </a:r>
                <a:r>
                  <a:rPr sz="2400" b="0">
                    <a:solidFill>
                      <a:srgbClr val="111827"/>
                    </a:solidFill>
                    <a:latin typeface="Arial"/>
                  </a:rPr>
                  <a:t> iff there exists a non-singular matrix </a:t>
                </a:r>
                <a:r>
                  <a:rPr lang="en-IN" sz="2400">
                    <a:solidFill>
                      <a:srgbClr val="111827"/>
                    </a:solidFill>
                    <a:latin typeface="Cambria Math" panose="02040503050406030204" pitchFamily="18" charset="0"/>
                  </a:rPr>
                  <a:t>$P$</a:t>
                </a:r>
                <a:r>
                  <a:rPr sz="2400" b="0">
                    <a:solidFill>
                      <a:srgbClr val="111827"/>
                    </a:solidFill>
                    <a:latin typeface="Arial"/>
                  </a:rPr>
                  <a:t> such that </a:t>
                </a:r>
                <a:r>
                  <a:rPr lang="en-IN" sz="2400">
                    <a:solidFill>
                      <a:srgbClr val="111827"/>
                    </a:solidFill>
                    <a:latin typeface="Cambria Math" panose="02040503050406030204" pitchFamily="18" charset="0"/>
                  </a:rPr>
                  <a:t>$PAP^{-1}=B$</a:t>
                </a:r>
                <a:r>
                  <a:rPr sz="2400" b="0">
                    <a:solidFill>
                      <a:srgbClr val="111827"/>
                    </a:solidFill>
                    <a:latin typeface="Arial"/>
                  </a:rPr>
                  <a:t>'. Then which of the following is true?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$R$</a:t>
                </a:r>
                <a:r>
                  <a:rPr sz="2400" b="0">
                    <a:solidFill>
                      <a:srgbClr val="111827"/>
                    </a:solidFill>
                    <a:latin typeface="Arial"/>
                  </a:rPr>
                  <a:t> is reflexive, transitive but not symmetric</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$R$</a:t>
                </a:r>
                <a:r>
                  <a:rPr sz="2400" b="0">
                    <a:solidFill>
                      <a:srgbClr val="111827"/>
                    </a:solidFill>
                    <a:latin typeface="Arial"/>
                  </a:rPr>
                  <a:t> is an equivalence relation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$R$</a:t>
                </a:r>
                <a:r>
                  <a:rPr sz="2400" b="0">
                    <a:solidFill>
                      <a:srgbClr val="111827"/>
                    </a:solidFill>
                    <a:latin typeface="Arial"/>
                  </a:rPr>
                  <a:t> is symmetric, transitive but not reflexive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$R$</a:t>
                </a:r>
                <a:r>
                  <a:rPr sz="2400" b="0">
                    <a:solidFill>
                      <a:srgbClr val="111827"/>
                    </a:solidFill>
                    <a:latin typeface="Arial"/>
                  </a:rPr>
                  <a:t> is reflexive, symmetric but not transitive</a:t>
                </a:r>
                <a:endParaRPr sz="2400">
                  <a:solidFill>
                    <a:srgbClr val="111827"/>
                  </a:solidFill>
                </a:endParaRPr>
              </a:p>
            </p:txBody>
          </p:sp>
        </mc:Fallback>
      </mc:AlternateContent>
      <p:sp>
        <p:nvSpPr>
          <p:cNvPr id="5" name="Rectangle 4"/>
          <p:cNvSpPr/>
          <p:nvPr/>
        </p:nvSpPr>
        <p:spPr>
          <a:xfrm>
            <a:off x="731520" y="4886452"/>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Equivalence relation, Similar matrices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1.5(A little above JEE Main Level)</a:t>
            </a:r>
            <a:endParaRPr sz="2400">
              <a:solidFill>
                <a:srgbClr val="111827"/>
              </a:solidFill>
            </a:endParaRP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1.5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Use </a:t>
                </a:r>
                <a14:m>
                  <m:oMath xmlns:m="http://schemas.openxmlformats.org/officeDocument/2006/math">
                    <m:r>
                      <a:rPr lang="en-IN" sz="2400" i="1">
                        <a:solidFill>
                          <a:srgbClr val="78350F"/>
                        </a:solidFill>
                        <a:latin typeface="Cambria Math" panose="02040503050406030204" pitchFamily="18" charset="0"/>
                      </a:rPr>
                      <m:t>𝑃</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𝐼</m:t>
                    </m:r>
                  </m:oMath>
                </a14:m>
                <a:r>
                  <a:rPr sz="2400" b="0">
                    <a:solidFill>
                      <a:srgbClr val="78350F"/>
                    </a:solidFill>
                    <a:latin typeface="Arial"/>
                  </a:rPr>
                  <a:t>, </a:t>
                </a:r>
                <a14:m>
                  <m:oMath xmlns:m="http://schemas.openxmlformats.org/officeDocument/2006/math">
                    <m:sSup>
                      <m:e>
                        <m:r>
                          <a:rPr lang="en-IN" sz="2400" i="1">
                            <a:solidFill>
                              <a:srgbClr val="78350F"/>
                            </a:solidFill>
                            <a:latin typeface="Cambria Math" panose="02040503050406030204" pitchFamily="18" charset="0"/>
                          </a:rPr>
                          <m:t>𝑃</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𝑄</m:t>
                    </m:r>
                    <m:r>
                      <a:rPr lang="en-IN" sz="2400" i="1">
                        <a:solidFill>
                          <a:srgbClr val="78350F"/>
                        </a:solidFill>
                        <a:latin typeface="Cambria Math" panose="02040503050406030204" pitchFamily="18" charset="0"/>
                      </a:rPr>
                      <m:t>𝑃</m:t>
                    </m:r>
                  </m:oMath>
                </a14:m>
                <a:r>
                  <a:rPr sz="2400" b="0">
                    <a:solidFill>
                      <a:srgbClr val="78350F"/>
                    </a:solidFill>
                    <a:latin typeface="Arial"/>
                  </a:rPr>
                  <a:t>: identity, inverse and product of invertible matrices give the three properties.</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Use </a:t>
                </a:r>
                <a:r>
                  <a:rPr lang="en-IN" sz="2400">
                    <a:solidFill>
                      <a:srgbClr val="78350F"/>
                    </a:solidFill>
                    <a:latin typeface="Cambria Math" panose="02040503050406030204" pitchFamily="18" charset="0"/>
                  </a:rPr>
                  <a:t>$P=I$</a:t>
                </a:r>
                <a:r>
                  <a:rPr sz="2400" b="0">
                    <a:solidFill>
                      <a:srgbClr val="78350F"/>
                    </a:solidFill>
                    <a:latin typeface="Arial"/>
                  </a:rPr>
                  <a:t>, </a:t>
                </a:r>
                <a:r>
                  <a:rPr lang="en-IN" sz="2400">
                    <a:solidFill>
                      <a:srgbClr val="78350F"/>
                    </a:solidFill>
                    <a:latin typeface="Cambria Math" panose="02040503050406030204" pitchFamily="18" charset="0"/>
                  </a:rPr>
                  <a:t>$P^{-1}$</a:t>
                </a:r>
                <a:r>
                  <a:rPr sz="2400" b="0">
                    <a:solidFill>
                      <a:srgbClr val="78350F"/>
                    </a:solidFill>
                    <a:latin typeface="Arial"/>
                  </a:rPr>
                  <a:t> and </a:t>
                </a:r>
                <a:r>
                  <a:rPr lang="en-IN" sz="2400">
                    <a:solidFill>
                      <a:srgbClr val="78350F"/>
                    </a:solidFill>
                    <a:latin typeface="Cambria Math" panose="02040503050406030204" pitchFamily="18" charset="0"/>
                  </a:rPr>
                  <a:t>$QP$</a:t>
                </a:r>
                <a:r>
                  <a:rPr sz="2400" b="0">
                    <a:solidFill>
                      <a:srgbClr val="78350F"/>
                    </a:solidFill>
                    <a:latin typeface="Arial"/>
                  </a:rPr>
                  <a:t>: identity, inverse and product of invertible matrices give the three properties.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Reflexive: for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𝐼</m:t>
                    </m:r>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𝐼</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𝐴</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reflexive.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Symmetric: let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𝐵</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for some non-singular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Multiply on the left by </a:t>
                </a:r>
                <a14:m>
                  <m:oMath xmlns:m="http://schemas.openxmlformats.org/officeDocument/2006/math">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and on the right by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sSup>
                      <m:e>
                        <m:r>
                          <m:rPr>
                            <m:sty m:val="p"/>
                          </m:rPr>
                          <a:rPr lang="en-IN" sz="2400">
                            <a:solidFill>
                              <a:srgbClr val="111827"/>
                            </a:solidFill>
                            <a:latin typeface="Cambria Math" panose="02040503050406030204" pitchFamily="18" charset="0"/>
                          </a:rPr>
                          <m:t>)</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(non-singular), </a:t>
                </a:r>
                <a14:m>
                  <m:oMath xmlns:m="http://schemas.openxmlformats.org/officeDocument/2006/math">
                    <m:r>
                      <a:rPr lang="en-IN" sz="2400" i="1">
                        <a:solidFill>
                          <a:srgbClr val="111827"/>
                        </a:solidFill>
                        <a:latin typeface="Cambria Math" panose="02040503050406030204" pitchFamily="18" charset="0"/>
                      </a:rPr>
                      <m:t>𝑄</m:t>
                    </m:r>
                    <m:r>
                      <a:rPr lang="en-IN" sz="2400" i="1">
                        <a:solidFill>
                          <a:srgbClr val="111827"/>
                        </a:solidFill>
                        <a:latin typeface="Cambria Math" panose="02040503050406030204" pitchFamily="18" charset="0"/>
                      </a:rPr>
                      <m:t>𝐵</m:t>
                    </m:r>
                    <m:sSup>
                      <m:e>
                        <m:r>
                          <a:rPr lang="en-IN" sz="2400" i="1">
                            <a:solidFill>
                              <a:srgbClr val="111827"/>
                            </a:solidFill>
                            <a:latin typeface="Cambria Math" panose="02040503050406030204" pitchFamily="18" charset="0"/>
                          </a:rPr>
                          <m:t>𝑄</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𝐴</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symmetric.</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Reflexive: for </a:t>
                </a:r>
                <a:r>
                  <a:rPr lang="en-IN" sz="2400">
                    <a:solidFill>
                      <a:srgbClr val="111827"/>
                    </a:solidFill>
                    <a:latin typeface="Cambria Math" panose="02040503050406030204" pitchFamily="18" charset="0"/>
                  </a:rPr>
                  <a:t>$P=I$</a:t>
                </a:r>
                <a:r>
                  <a:rPr sz="2400" b="0">
                    <a:solidFill>
                      <a:srgbClr val="111827"/>
                    </a:solidFill>
                    <a:latin typeface="Arial"/>
                  </a:rPr>
                  <a:t>, </a:t>
                </a:r>
                <a:r>
                  <a:rPr lang="en-IN" sz="2400">
                    <a:solidFill>
                      <a:srgbClr val="111827"/>
                    </a:solidFill>
                    <a:latin typeface="Cambria Math" panose="02040503050406030204" pitchFamily="18" charset="0"/>
                  </a:rPr>
                  <a:t>$IAI^{-1}=A$</a:t>
                </a:r>
                <a:r>
                  <a:rPr sz="2400" b="0">
                    <a:solidFill>
                      <a:srgbClr val="111827"/>
                    </a:solidFill>
                    <a:latin typeface="Arial"/>
                  </a:rPr>
                  <a:t>, so </a:t>
                </a:r>
                <a:r>
                  <a:rPr lang="en-IN" sz="2400">
                    <a:solidFill>
                      <a:srgbClr val="111827"/>
                    </a:solidFill>
                    <a:latin typeface="Cambria Math" panose="02040503050406030204" pitchFamily="18" charset="0"/>
                  </a:rPr>
                  <a:t>$ARA$</a:t>
                </a:r>
                <a:r>
                  <a:rPr sz="2400" b="0">
                    <a:solidFill>
                      <a:srgbClr val="111827"/>
                    </a:solidFill>
                    <a:latin typeface="Arial"/>
                  </a:rPr>
                  <a:t> and </a:t>
                </a:r>
                <a:r>
                  <a:rPr lang="en-IN" sz="2400">
                    <a:solidFill>
                      <a:srgbClr val="111827"/>
                    </a:solidFill>
                    <a:latin typeface="Cambria Math" panose="02040503050406030204" pitchFamily="18" charset="0"/>
                  </a:rPr>
                  <a:t>$R$</a:t>
                </a:r>
                <a:r>
                  <a:rPr sz="2400" b="0">
                    <a:solidFill>
                      <a:srgbClr val="111827"/>
                    </a:solidFill>
                    <a:latin typeface="Arial"/>
                  </a:rPr>
                  <a:t> is reflexive.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Symmetric: let </a:t>
                </a:r>
                <a:r>
                  <a:rPr lang="en-IN" sz="2400">
                    <a:solidFill>
                      <a:srgbClr val="111827"/>
                    </a:solidFill>
                    <a:latin typeface="Cambria Math" panose="02040503050406030204" pitchFamily="18" charset="0"/>
                  </a:rPr>
                  <a:t>$ARB$</a:t>
                </a:r>
                <a:r>
                  <a:rPr sz="2400" b="0">
                    <a:solidFill>
                      <a:srgbClr val="111827"/>
                    </a:solidFill>
                    <a:latin typeface="Arial"/>
                  </a:rPr>
                  <a:t>, i.e. </a:t>
                </a:r>
                <a:r>
                  <a:rPr lang="en-IN" sz="2400">
                    <a:solidFill>
                      <a:srgbClr val="111827"/>
                    </a:solidFill>
                    <a:latin typeface="Cambria Math" panose="02040503050406030204" pitchFamily="18" charset="0"/>
                  </a:rPr>
                  <a:t>$PAP^{-1}=B$</a:t>
                </a:r>
                <a:r>
                  <a:rPr sz="2400" b="0">
                    <a:solidFill>
                      <a:srgbClr val="111827"/>
                    </a:solidFill>
                    <a:latin typeface="Arial"/>
                  </a:rPr>
                  <a:t> for some non-singular </a:t>
                </a:r>
                <a:r>
                  <a:rPr lang="en-IN" sz="2400">
                    <a:solidFill>
                      <a:srgbClr val="111827"/>
                    </a:solidFill>
                    <a:latin typeface="Cambria Math" panose="02040503050406030204" pitchFamily="18" charset="0"/>
                  </a:rPr>
                  <a:t>$P$</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Multiply on the left by </a:t>
                </a:r>
                <a:r>
                  <a:rPr lang="en-IN" sz="2400">
                    <a:solidFill>
                      <a:srgbClr val="111827"/>
                    </a:solidFill>
                    <a:latin typeface="Cambria Math" panose="02040503050406030204" pitchFamily="18" charset="0"/>
                  </a:rPr>
                  <a:t>$P^{-1}$</a:t>
                </a:r>
                <a:r>
                  <a:rPr sz="2400" b="0">
                    <a:solidFill>
                      <a:srgbClr val="111827"/>
                    </a:solidFill>
                    <a:latin typeface="Arial"/>
                  </a:rPr>
                  <a:t> and on the right by </a:t>
                </a:r>
                <a:r>
                  <a:rPr lang="en-IN" sz="2400">
                    <a:solidFill>
                      <a:srgbClr val="111827"/>
                    </a:solidFill>
                    <a:latin typeface="Cambria Math" panose="02040503050406030204" pitchFamily="18" charset="0"/>
                  </a:rPr>
                  <a:t>$P$</a:t>
                </a:r>
                <a:r>
                  <a:rPr sz="2400" b="0">
                    <a:solidFill>
                      <a:srgbClr val="111827"/>
                    </a:solidFill>
                    <a:latin typeface="Arial"/>
                  </a:rPr>
                  <a:t>: </a:t>
                </a:r>
                <a:r>
                  <a:rPr lang="en-IN" sz="2400">
                    <a:solidFill>
                      <a:srgbClr val="111827"/>
                    </a:solidFill>
                    <a:latin typeface="Cambria Math" panose="02040503050406030204" pitchFamily="18" charset="0"/>
                  </a:rPr>
                  <a:t>$A=P^{-1}BP=(P^{-1})\,B\,(P^{-1})^{-1}$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$Q=P^{-1}$</a:t>
                </a:r>
                <a:r>
                  <a:rPr sz="2400" b="0">
                    <a:solidFill>
                      <a:srgbClr val="111827"/>
                    </a:solidFill>
                    <a:latin typeface="Arial"/>
                  </a:rPr>
                  <a:t> (non-singular), </a:t>
                </a:r>
                <a:r>
                  <a:rPr lang="en-IN" sz="2400">
                    <a:solidFill>
                      <a:srgbClr val="111827"/>
                    </a:solidFill>
                    <a:latin typeface="Cambria Math" panose="02040503050406030204" pitchFamily="18" charset="0"/>
                  </a:rPr>
                  <a:t>$QBQ^{-1}=A$</a:t>
                </a:r>
                <a:r>
                  <a:rPr sz="2400" b="0">
                    <a:solidFill>
                      <a:srgbClr val="111827"/>
                    </a:solidFill>
                    <a:latin typeface="Arial"/>
                  </a:rPr>
                  <a:t>, so </a:t>
                </a:r>
                <a:r>
                  <a:rPr lang="en-IN" sz="2400">
                    <a:solidFill>
                      <a:srgbClr val="111827"/>
                    </a:solidFill>
                    <a:latin typeface="Cambria Math" panose="02040503050406030204" pitchFamily="18" charset="0"/>
                  </a:rPr>
                  <a:t>$BRA$</a:t>
                </a:r>
                <a:r>
                  <a:rPr sz="2400" b="0">
                    <a:solidFill>
                      <a:srgbClr val="111827"/>
                    </a:solidFill>
                    <a:latin typeface="Arial"/>
                  </a:rPr>
                  <a:t> and </a:t>
                </a:r>
                <a:r>
                  <a:rPr lang="en-IN" sz="2400">
                    <a:solidFill>
                      <a:srgbClr val="111827"/>
                    </a:solidFill>
                    <a:latin typeface="Cambria Math" panose="02040503050406030204" pitchFamily="18" charset="0"/>
                  </a:rPr>
                  <a:t>$R$</a:t>
                </a:r>
                <a:r>
                  <a:rPr sz="2400" b="0">
                    <a:solidFill>
                      <a:srgbClr val="111827"/>
                    </a:solidFill>
                    <a:latin typeface="Arial"/>
                  </a:rPr>
                  <a:t> is symmetric.</a:t>
                </a:r>
                <a:endParaRPr sz="2400">
                  <a:solidFill>
                    <a:srgbClr val="111827"/>
                  </a:solidFill>
                </a:endParaRPr>
              </a:p>
            </p:txBody>
          </p:sp>
        </mc:Fallback>
      </mc:AlternateContent>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1.5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Transitive: let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𝑄</m:t>
                    </m:r>
                    <m:r>
                      <a:rPr lang="en-IN" sz="2400" i="1">
                        <a:solidFill>
                          <a:srgbClr val="111827"/>
                        </a:solidFill>
                        <a:latin typeface="Cambria Math" panose="02040503050406030204" pitchFamily="18" charset="0"/>
                      </a:rPr>
                      <m:t>𝐵</m:t>
                    </m:r>
                    <m:sSup>
                      <m:e>
                        <m:r>
                          <a:rPr lang="en-IN" sz="2400" i="1">
                            <a:solidFill>
                              <a:srgbClr val="111827"/>
                            </a:solidFill>
                            <a:latin typeface="Cambria Math" panose="02040503050406030204" pitchFamily="18" charset="0"/>
                          </a:rPr>
                          <m:t>𝑄</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𝑄</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𝑄</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𝑄</m:t>
                    </m:r>
                    <m:r>
                      <a:rPr lang="en-IN" sz="2400" i="1">
                        <a:solidFill>
                          <a:srgbClr val="111827"/>
                        </a:solidFill>
                        <a:latin typeface="Cambria Math" panose="02040503050406030204" pitchFamily="18" charset="0"/>
                      </a:rPr>
                      <m:t>𝑃</m:t>
                    </m:r>
                    <m:sSup>
                      <m:e>
                        <m:r>
                          <m:rPr>
                            <m:sty m:val="p"/>
                          </m:rPr>
                          <a:rPr lang="en-IN" sz="2400">
                            <a:solidFill>
                              <a:srgbClr val="111827"/>
                            </a:solidFill>
                            <a:latin typeface="Cambria Math" panose="02040503050406030204" pitchFamily="18" charset="0"/>
                          </a:rPr>
                          <m:t>)</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𝑄</m:t>
                    </m:r>
                    <m:r>
                      <a:rPr lang="en-IN" sz="2400" i="1">
                        <a:solidFill>
                          <a:srgbClr val="111827"/>
                        </a:solidFill>
                        <a:latin typeface="Cambria Math" panose="02040503050406030204" pitchFamily="18" charset="0"/>
                      </a:rPr>
                      <m:t>𝑃</m:t>
                    </m:r>
                  </m:oMath>
                </a14:m>
                <a:r>
                  <a:rPr sz="2400" b="0">
                    <a:solidFill>
                      <a:srgbClr val="111827"/>
                    </a:solidFill>
                    <a:latin typeface="Arial"/>
                  </a:rPr>
                  <a:t> is non-singular, so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𝐶</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transitive.</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reflexive, symmetric and transitive: an equivalence relation. Option (B).</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Transitive: let </a:t>
                </a:r>
                <a:r>
                  <a:rPr lang="en-IN" sz="2400">
                    <a:solidFill>
                      <a:srgbClr val="111827"/>
                    </a:solidFill>
                    <a:latin typeface="Cambria Math" panose="02040503050406030204" pitchFamily="18" charset="0"/>
                  </a:rPr>
                  <a:t>$PAP^{-1}=B$</a:t>
                </a:r>
                <a:r>
                  <a:rPr sz="2400" b="0">
                    <a:solidFill>
                      <a:srgbClr val="111827"/>
                    </a:solidFill>
                    <a:latin typeface="Arial"/>
                  </a:rPr>
                  <a:t> and </a:t>
                </a:r>
                <a:r>
                  <a:rPr lang="en-IN" sz="2400">
                    <a:solidFill>
                      <a:srgbClr val="111827"/>
                    </a:solidFill>
                    <a:latin typeface="Cambria Math" panose="02040503050406030204" pitchFamily="18" charset="0"/>
                  </a:rPr>
                  <a:t>$QBQ^{-1}=C$</a:t>
                </a:r>
                <a:r>
                  <a:rPr sz="2400" b="0">
                    <a:solidFill>
                      <a:srgbClr val="111827"/>
                    </a:solidFill>
                    <a:latin typeface="Arial"/>
                  </a:rPr>
                  <a:t>. Then </a:t>
                </a:r>
                <a:r>
                  <a:rPr lang="en-IN" sz="2400">
                    <a:solidFill>
                      <a:srgbClr val="111827"/>
                    </a:solidFill>
                    <a:latin typeface="Cambria Math" panose="02040503050406030204" pitchFamily="18" charset="0"/>
                  </a:rPr>
                  <a:t>$C=Q(PAP^{-1})Q^{-1}=(QP)A(QP)^{-1}$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$QP$</a:t>
                </a:r>
                <a:r>
                  <a:rPr sz="2400" b="0">
                    <a:solidFill>
                      <a:srgbClr val="111827"/>
                    </a:solidFill>
                    <a:latin typeface="Arial"/>
                  </a:rPr>
                  <a:t> is non-singular, so </a:t>
                </a:r>
                <a:r>
                  <a:rPr lang="en-IN" sz="2400">
                    <a:solidFill>
                      <a:srgbClr val="111827"/>
                    </a:solidFill>
                    <a:latin typeface="Cambria Math" panose="02040503050406030204" pitchFamily="18" charset="0"/>
                  </a:rPr>
                  <a:t>$ARC$</a:t>
                </a:r>
                <a:r>
                  <a:rPr sz="2400" b="0">
                    <a:solidFill>
                      <a:srgbClr val="111827"/>
                    </a:solidFill>
                    <a:latin typeface="Arial"/>
                  </a:rPr>
                  <a:t> and </a:t>
                </a:r>
                <a:r>
                  <a:rPr lang="en-IN" sz="2400">
                    <a:solidFill>
                      <a:srgbClr val="111827"/>
                    </a:solidFill>
                    <a:latin typeface="Cambria Math" panose="02040503050406030204" pitchFamily="18" charset="0"/>
                  </a:rPr>
                  <a:t>$R$</a:t>
                </a:r>
                <a:r>
                  <a:rPr sz="2400" b="0">
                    <a:solidFill>
                      <a:srgbClr val="111827"/>
                    </a:solidFill>
                    <a:latin typeface="Arial"/>
                  </a:rPr>
                  <a:t> is transitive.</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a:t>
                </a:r>
                <a:r>
                  <a:rPr sz="2400" b="0">
                    <a:solidFill>
                      <a:srgbClr val="111827"/>
                    </a:solidFill>
                    <a:latin typeface="Arial"/>
                  </a:rPr>
                  <a:t> is reflexive, symmetric and transitive: an equivalence relation. Option (B).</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14:m>
                  <m:oMath xmlns:m="http://schemas.openxmlformats.org/officeDocument/2006/math">
                    <m:r>
                      <a:rPr lang="en-IN" sz="2800" i="1">
                        <a:solidFill>
                          <a:srgbClr val="15803D"/>
                        </a:solidFill>
                        <a:latin typeface="Cambria Math" panose="02040503050406030204" pitchFamily="18" charset="0"/>
                      </a:rPr>
                      <m:t>𝑅</m:t>
                    </m:r>
                  </m:oMath>
                </a14:m>
                <a:r>
                  <a:rPr sz="2800" b="1">
                    <a:solidFill>
                      <a:srgbClr val="15803D"/>
                    </a:solidFill>
                    <a:latin typeface="Arial"/>
                  </a:rPr>
                  <a:t> is an equivalence relation</a:t>
                </a:r>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r>
                  <a:rPr lang="en-IN" sz="2800">
                    <a:solidFill>
                      <a:srgbClr val="15803D"/>
                    </a:solidFill>
                    <a:latin typeface="Cambria Math" panose="02040503050406030204" pitchFamily="18" charset="0"/>
                  </a:rPr>
                  <a:t>$R$</a:t>
                </a:r>
                <a:r>
                  <a:rPr sz="2800" b="1">
                    <a:solidFill>
                      <a:srgbClr val="15803D"/>
                    </a:solidFill>
                    <a:latin typeface="Arial"/>
                  </a:rPr>
                  <a:t> is an equivalence relation</a:t>
                </a:r>
                <a:endParaRPr sz="2800">
                  <a:solidFill>
                    <a:srgbClr val="15803D"/>
                  </a:solidFill>
                </a:endParaRPr>
              </a:p>
            </p:txBody>
          </p:sp>
        </mc:Fallback>
      </mc:AlternateContent>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1.5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Conjugation is a group action: the non-singular matrices form a group acting on matrices by </a:t>
                </a:r>
                <a14:m>
                  <m:oMath xmlns:m="http://schemas.openxmlformats.org/officeDocument/2006/math">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𝑃</m:t>
                    </m:r>
                    <m:r>
                      <a:rPr lang="en-IN" sz="2400" i="1">
                        <a:solidFill>
                          <a:srgbClr val="78350F"/>
                        </a:solidFill>
                        <a:latin typeface="Cambria Math" panose="02040503050406030204" pitchFamily="18" charset="0"/>
                      </a:rPr>
                      <m:t>𝐴</m:t>
                    </m:r>
                    <m:sSup>
                      <m:e>
                        <m:r>
                          <a:rPr lang="en-IN" sz="2400" i="1">
                            <a:solidFill>
                              <a:srgbClr val="78350F"/>
                            </a:solidFill>
                            <a:latin typeface="Cambria Math" panose="02040503050406030204" pitchFamily="18" charset="0"/>
                          </a:rPr>
                          <m:t>𝑃</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oMath>
                </a14:m>
                <a:r>
                  <a:rPr sz="2400" b="0">
                    <a:solidFill>
                      <a:srgbClr val="78350F"/>
                    </a:solidFill>
                    <a:latin typeface="Arial"/>
                  </a:rPr>
                  <a:t>, and 'in the same orbit' is an equivalence relation by the group axioms.</a:t>
                </a:r>
                <a:endParaRPr sz="2400">
                  <a:solidFill>
                    <a:srgbClr val="78350F"/>
                  </a:solidFill>
                </a:endParaRPr>
              </a:p>
            </p:txBody>
          </p:sp>
        </mc:Choice>
        <mc:Fallback>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Conjugation is a group action: the non-singular matrices form a group acting on matrices by </a:t>
                </a:r>
                <a:r>
                  <a:rPr lang="en-IN" sz="2400">
                    <a:solidFill>
                      <a:srgbClr val="78350F"/>
                    </a:solidFill>
                    <a:latin typeface="Cambria Math" panose="02040503050406030204" pitchFamily="18" charset="0"/>
                  </a:rPr>
                  <a:t>$A\mapsto PAP^{-1}$</a:t>
                </a:r>
                <a:r>
                  <a:rPr sz="2400" b="0">
                    <a:solidFill>
                      <a:srgbClr val="78350F"/>
                    </a:solidFill>
                    <a:latin typeface="Arial"/>
                  </a:rPr>
                  <a:t>, and 'in the same orbit' is an equivalence relation by the group axioms.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𝐺</m:t>
                    </m:r>
                  </m:oMath>
                </a14:m>
                <a:r>
                  <a:rPr sz="2400" b="0">
                    <a:solidFill>
                      <a:srgbClr val="111827"/>
                    </a:solidFill>
                    <a:latin typeface="Arial"/>
                  </a:rPr>
                  <a:t> be the group of non-singular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matrices. Define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Identity: </a:t>
                </a:r>
                <a14:m>
                  <m:oMath xmlns:m="http://schemas.openxmlformats.org/officeDocument/2006/math">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oMath>
                </a14:m>
                <a:r>
                  <a:rPr sz="2400" b="0">
                    <a:solidFill>
                      <a:srgbClr val="111827"/>
                    </a:solidFill>
                    <a:latin typeface="Arial"/>
                  </a:rPr>
                  <a:t>. Compatibility: </a:t>
                </a:r>
                <a14:m>
                  <m:oMath xmlns:m="http://schemas.openxmlformats.org/officeDocument/2006/math">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𝑄</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𝐵</m:t>
                    </m:r>
                  </m:oMath>
                </a14:m>
                <a:r>
                  <a:rPr sz="2400" b="0">
                    <a:solidFill>
                      <a:srgbClr val="111827"/>
                    </a:solidFill>
                    <a:latin typeface="Arial"/>
                  </a:rPr>
                  <a:t> means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lies in the orbit of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under </a:t>
                </a:r>
                <a14:m>
                  <m:oMath xmlns:m="http://schemas.openxmlformats.org/officeDocument/2006/math">
                    <m:r>
                      <a:rPr lang="en-IN" sz="2400" i="1">
                        <a:solidFill>
                          <a:srgbClr val="111827"/>
                        </a:solidFill>
                        <a:latin typeface="Cambria Math" panose="02040503050406030204" pitchFamily="18" charset="0"/>
                      </a:rPr>
                      <m:t>𝐺</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$G$</a:t>
                </a:r>
                <a:r>
                  <a:rPr sz="2400" b="0">
                    <a:solidFill>
                      <a:srgbClr val="111827"/>
                    </a:solidFill>
                    <a:latin typeface="Arial"/>
                  </a:rPr>
                  <a:t> be the group of non-singular </a:t>
                </a:r>
                <a:r>
                  <a:rPr lang="en-IN" sz="2400">
                    <a:solidFill>
                      <a:srgbClr val="111827"/>
                    </a:solidFill>
                    <a:latin typeface="Cambria Math" panose="02040503050406030204" pitchFamily="18" charset="0"/>
                  </a:rPr>
                  <a:t>$n\times n$</a:t>
                </a:r>
                <a:r>
                  <a:rPr sz="2400" b="0">
                    <a:solidFill>
                      <a:srgbClr val="111827"/>
                    </a:solidFill>
                    <a:latin typeface="Arial"/>
                  </a:rPr>
                  <a:t> matrices. Define </a:t>
                </a:r>
                <a:r>
                  <a:rPr lang="en-IN" sz="2400">
                    <a:solidFill>
                      <a:srgbClr val="111827"/>
                    </a:solidFill>
                    <a:latin typeface="Cambria Math" panose="02040503050406030204" pitchFamily="18" charset="0"/>
                  </a:rPr>
                  <a:t>$P\cdot A=PAP^{-1}$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Identity: </a:t>
                </a:r>
                <a:r>
                  <a:rPr lang="en-IN" sz="2400">
                    <a:solidFill>
                      <a:srgbClr val="111827"/>
                    </a:solidFill>
                    <a:latin typeface="Cambria Math" panose="02040503050406030204" pitchFamily="18" charset="0"/>
                  </a:rPr>
                  <a:t>$I\cdot A=A$</a:t>
                </a:r>
                <a:r>
                  <a:rPr sz="2400" b="0">
                    <a:solidFill>
                      <a:srgbClr val="111827"/>
                    </a:solidFill>
                    <a:latin typeface="Arial"/>
                  </a:rPr>
                  <a:t>. Compatibility: </a:t>
                </a:r>
                <a:r>
                  <a:rPr lang="en-IN" sz="2400">
                    <a:solidFill>
                      <a:srgbClr val="111827"/>
                    </a:solidFill>
                    <a:latin typeface="Cambria Math" panose="02040503050406030204" pitchFamily="18" charset="0"/>
                  </a:rPr>
                  <a:t>$Q\cdot(P\cdot A)=(QP)\cdot 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$ARB$</a:t>
                </a:r>
                <a:r>
                  <a:rPr sz="2400" b="0">
                    <a:solidFill>
                      <a:srgbClr val="111827"/>
                    </a:solidFill>
                    <a:latin typeface="Arial"/>
                  </a:rPr>
                  <a:t> means </a:t>
                </a:r>
                <a:r>
                  <a:rPr lang="en-IN" sz="2400">
                    <a:solidFill>
                      <a:srgbClr val="111827"/>
                    </a:solidFill>
                    <a:latin typeface="Cambria Math" panose="02040503050406030204" pitchFamily="18" charset="0"/>
                  </a:rPr>
                  <a:t>$B$</a:t>
                </a:r>
                <a:r>
                  <a:rPr sz="2400" b="0">
                    <a:solidFill>
                      <a:srgbClr val="111827"/>
                    </a:solidFill>
                    <a:latin typeface="Arial"/>
                  </a:rPr>
                  <a:t> lies in the orbit of </a:t>
                </a:r>
                <a:r>
                  <a:rPr lang="en-IN" sz="2400">
                    <a:solidFill>
                      <a:srgbClr val="111827"/>
                    </a:solidFill>
                    <a:latin typeface="Cambria Math" panose="02040503050406030204" pitchFamily="18" charset="0"/>
                  </a:rPr>
                  <a:t>$A$</a:t>
                </a:r>
                <a:r>
                  <a:rPr sz="2400" b="0">
                    <a:solidFill>
                      <a:srgbClr val="111827"/>
                    </a:solidFill>
                    <a:latin typeface="Arial"/>
                  </a:rPr>
                  <a:t> under </a:t>
                </a:r>
                <a:r>
                  <a:rPr lang="en-IN" sz="2400">
                    <a:solidFill>
                      <a:srgbClr val="111827"/>
                    </a:solidFill>
                    <a:latin typeface="Cambria Math" panose="02040503050406030204" pitchFamily="18" charset="0"/>
                  </a:rPr>
                  <a:t>$G$</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1.5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Orbits of a group action partition the set: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is in its own orbit (identity),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(inverse), and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𝑄</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oMath>
                </a14:m>
                <a:r>
                  <a:rPr sz="2400" b="0">
                    <a:solidFill>
                      <a:srgbClr val="111827"/>
                    </a:solidFill>
                    <a:latin typeface="Arial"/>
                  </a:rPr>
                  <a:t> (closure).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an equivalence relation: option (B).</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Orbits of a group action partition the set: </a:t>
                </a:r>
                <a:r>
                  <a:rPr lang="en-IN" sz="2400">
                    <a:solidFill>
                      <a:srgbClr val="111827"/>
                    </a:solidFill>
                    <a:latin typeface="Cambria Math" panose="02040503050406030204" pitchFamily="18" charset="0"/>
                  </a:rPr>
                  <a:t>$A$</a:t>
                </a:r>
                <a:r>
                  <a:rPr sz="2400" b="0">
                    <a:solidFill>
                      <a:srgbClr val="111827"/>
                    </a:solidFill>
                    <a:latin typeface="Arial"/>
                  </a:rPr>
                  <a:t> is in its own orbit (identity), </a:t>
                </a:r>
                <a:r>
                  <a:rPr lang="en-IN" sz="2400">
                    <a:solidFill>
                      <a:srgbClr val="111827"/>
                    </a:solidFill>
                    <a:latin typeface="Cambria Math" panose="02040503050406030204" pitchFamily="18" charset="0"/>
                  </a:rPr>
                  <a:t>$B=P\cdot A\Rightarrow A=P^{-1}\cdot B$</a:t>
                </a:r>
                <a:r>
                  <a:rPr sz="2400" b="0">
                    <a:solidFill>
                      <a:srgbClr val="111827"/>
                    </a:solidFill>
                    <a:latin typeface="Arial"/>
                  </a:rPr>
                  <a:t> (inverse), and </a:t>
                </a:r>
                <a:r>
                  <a:rPr lang="en-IN" sz="2400">
                    <a:solidFill>
                      <a:srgbClr val="111827"/>
                    </a:solidFill>
                    <a:latin typeface="Cambria Math" panose="02040503050406030204" pitchFamily="18" charset="0"/>
                  </a:rPr>
                  <a:t>$B=P\cdot A,\ C=Q\cdot B\Rightarrow C=(QP)\cdot A$</a:t>
                </a:r>
                <a:r>
                  <a:rPr sz="2400" b="0">
                    <a:solidFill>
                      <a:srgbClr val="111827"/>
                    </a:solidFill>
                    <a:latin typeface="Arial"/>
                  </a:rPr>
                  <a:t> (closure).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$R$</a:t>
                </a:r>
                <a:r>
                  <a:rPr sz="2400" b="0">
                    <a:solidFill>
                      <a:srgbClr val="111827"/>
                    </a:solidFill>
                    <a:latin typeface="Arial"/>
                  </a:rPr>
                  <a:t> is an equivalence relation: option (B).</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14:m>
                  <m:oMath xmlns:m="http://schemas.openxmlformats.org/officeDocument/2006/math">
                    <m:r>
                      <a:rPr lang="en-IN" sz="2800" i="1">
                        <a:solidFill>
                          <a:srgbClr val="15803D"/>
                        </a:solidFill>
                        <a:latin typeface="Cambria Math" panose="02040503050406030204" pitchFamily="18" charset="0"/>
                      </a:rPr>
                      <m:t>𝑅</m:t>
                    </m:r>
                  </m:oMath>
                </a14:m>
                <a:r>
                  <a:rPr sz="2800" b="1">
                    <a:solidFill>
                      <a:srgbClr val="15803D"/>
                    </a:solidFill>
                    <a:latin typeface="Arial"/>
                  </a:rPr>
                  <a:t> is an equivalence relation</a:t>
                </a:r>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r>
                  <a:rPr lang="en-IN" sz="2800">
                    <a:solidFill>
                      <a:srgbClr val="15803D"/>
                    </a:solidFill>
                    <a:latin typeface="Cambria Math" panose="02040503050406030204" pitchFamily="18" charset="0"/>
                  </a:rPr>
                  <a:t>$R$</a:t>
                </a:r>
                <a:r>
                  <a:rPr sz="2800" b="1">
                    <a:solidFill>
                      <a:srgbClr val="15803D"/>
                    </a:solidFill>
                    <a:latin typeface="Arial"/>
                  </a:rPr>
                  <a:t> is an equivalence relation</a:t>
                </a:r>
                <a:endParaRPr sz="2800">
                  <a:solidFill>
                    <a:srgbClr val="15803D"/>
                  </a:solidFill>
                </a:endParaRPr>
              </a:p>
            </p:txBody>
          </p:sp>
        </mc:Fallback>
      </mc:AlternateContent>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1.5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Similarity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oMath>
                </a14:m>
                <a:r>
                  <a:rPr sz="2400" b="0">
                    <a:solidFill>
                      <a:srgbClr val="111827"/>
                    </a:solidFill>
                    <a:latin typeface="Arial"/>
                  </a:rPr>
                  <a:t>) is an equivalence relation; similar matrices share determinant, trace, rank, characteristic polynomial and eigenvalues.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2</m:t>
                              </m:r>
                            </m:e>
                          </m:mr>
                          <m:mr>
                            <m:e>
                              <m:r>
                                <a:rPr lang="en-IN" sz="2400" i="1">
                                  <a:solidFill>
                                    <a:srgbClr val="111827"/>
                                  </a:solidFill>
                                  <a:latin typeface="Cambria Math" panose="02040503050406030204" pitchFamily="18" charset="0"/>
                                </a:rPr>
                                <m:t>3</m:t>
                              </m:r>
                            </m:e>
                            <m:e>
                              <m:r>
                                <a:rPr lang="en-IN" sz="2400" i="1">
                                  <a:solidFill>
                                    <a:srgbClr val="111827"/>
                                  </a:solidFill>
                                  <a:latin typeface="Cambria Math" panose="02040503050406030204" pitchFamily="18" charset="0"/>
                                </a:rPr>
                                <m:t>4</m:t>
                              </m:r>
                            </m:e>
                          </m:mr>
                        </m:m>
                      </m:e>
                    </m:d>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1</m:t>
                              </m:r>
                            </m:e>
                          </m:mr>
                          <m:mr>
                            <m:e>
                              <m:r>
                                <a:rPr lang="en-IN" sz="2400" i="1">
                                  <a:solidFill>
                                    <a:srgbClr val="111827"/>
                                  </a:solidFill>
                                  <a:latin typeface="Cambria Math" panose="02040503050406030204" pitchFamily="18" charset="0"/>
                                </a:rPr>
                                <m:t>0</m:t>
                              </m:r>
                            </m:e>
                            <m:e>
                              <m:r>
                                <a:rPr lang="en-IN" sz="2400" i="1">
                                  <a:solidFill>
                                    <a:srgbClr val="111827"/>
                                  </a:solidFill>
                                  <a:latin typeface="Cambria Math" panose="02040503050406030204" pitchFamily="18" charset="0"/>
                                </a:rPr>
                                <m:t>1</m:t>
                              </m:r>
                            </m:e>
                          </m:mr>
                        </m:m>
                      </m:e>
                    </m:d>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4</m:t>
                              </m:r>
                            </m:e>
                            <m:e>
                              <m:r>
                                <a:rPr lang="en-IN" sz="2400" i="1">
                                  <a:solidFill>
                                    <a:srgbClr val="111827"/>
                                  </a:solidFill>
                                  <a:latin typeface="Cambria Math" panose="02040503050406030204" pitchFamily="18" charset="0"/>
                                </a:rPr>
                                <m:t>2</m:t>
                              </m:r>
                            </m:e>
                          </m:mr>
                          <m:mr>
                            <m:e>
                              <m:r>
                                <a:rPr lang="en-IN" sz="2400" i="1">
                                  <a:solidFill>
                                    <a:srgbClr val="111827"/>
                                  </a:solidFill>
                                  <a:latin typeface="Cambria Math" panose="02040503050406030204" pitchFamily="18" charset="0"/>
                                </a:rPr>
                                <m:t>3</m:t>
                              </m:r>
                            </m:e>
                            <m:e>
                              <m:r>
                                <a:rPr lang="en-IN" sz="2400" i="1">
                                  <a:solidFill>
                                    <a:srgbClr val="111827"/>
                                  </a:solidFill>
                                  <a:latin typeface="Cambria Math" panose="02040503050406030204" pitchFamily="18" charset="0"/>
                                </a:rPr>
                                <m:t>1</m:t>
                              </m:r>
                            </m:e>
                          </m:mr>
                        </m:m>
                      </m:e>
                    </m:d>
                  </m:oMath>
                </a14:m>
                <a:r>
                  <a:rPr sz="2400" b="0">
                    <a:solidFill>
                      <a:srgbClr val="111827"/>
                    </a:solidFill>
                    <a:latin typeface="Arial"/>
                  </a:rPr>
                  <a:t>, trace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determinant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unchanged.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class of a scalar matrix </a:t>
                </a:r>
                <a14:m>
                  <m:oMath xmlns:m="http://schemas.openxmlformats.org/officeDocument/2006/math">
                    <m:r>
                      <a:rPr lang="en-IN" sz="2400" i="1">
                        <a:solidFill>
                          <a:srgbClr val="111827"/>
                        </a:solidFill>
                        <a:latin typeface="Cambria Math" panose="02040503050406030204" pitchFamily="18" charset="0"/>
                      </a:rPr>
                      <m:t>λ</m:t>
                    </m:r>
                    <m:r>
                      <a:rPr lang="en-IN" sz="2400" i="1">
                        <a:solidFill>
                          <a:srgbClr val="111827"/>
                        </a:solidFill>
                        <a:latin typeface="Cambria Math" panose="02040503050406030204" pitchFamily="18" charset="0"/>
                      </a:rPr>
                      <m:t>𝐼</m:t>
                    </m:r>
                  </m:oMath>
                </a14:m>
                <a:r>
                  <a:rPr sz="2400" b="0">
                    <a:solidFill>
                      <a:srgbClr val="111827"/>
                    </a:solidFill>
                    <a:latin typeface="Arial"/>
                  </a:rPr>
                  <a:t>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alone.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Similarity (</a:t>
                </a:r>
                <a:r>
                  <a:rPr lang="en-IN" sz="2400">
                    <a:solidFill>
                      <a:srgbClr val="111827"/>
                    </a:solidFill>
                    <a:latin typeface="Cambria Math" panose="02040503050406030204" pitchFamily="18" charset="0"/>
                  </a:rPr>
                  <a:t>$B=PAP^{-1}$</a:t>
                </a:r>
                <a:r>
                  <a:rPr sz="2400" b="0">
                    <a:solidFill>
                      <a:srgbClr val="111827"/>
                    </a:solidFill>
                    <a:latin typeface="Arial"/>
                  </a:rPr>
                  <a:t>) is an equivalence relation; similar matrices share determinant, trace, rank, characteristic polynomial and eigenvalues.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$A=\begin{pmatrix}1&amp;2\\3&amp;4\end{pmatrix}$</a:t>
                </a:r>
                <a:r>
                  <a:rPr sz="2400" b="0">
                    <a:solidFill>
                      <a:srgbClr val="111827"/>
                    </a:solidFill>
                    <a:latin typeface="Arial"/>
                  </a:rPr>
                  <a:t>, </a:t>
                </a:r>
                <a:r>
                  <a:rPr lang="en-IN" sz="2400">
                    <a:solidFill>
                      <a:srgbClr val="111827"/>
                    </a:solidFill>
                    <a:latin typeface="Cambria Math" panose="02040503050406030204" pitchFamily="18" charset="0"/>
                  </a:rPr>
                  <a:t>$P=\begin{pmatrix}1&amp;1\\0&amp;1\end{pmatrix}$</a:t>
                </a:r>
                <a:r>
                  <a:rPr sz="2400" b="0">
                    <a:solidFill>
                      <a:srgbClr val="111827"/>
                    </a:solidFill>
                    <a:latin typeface="Arial"/>
                  </a:rPr>
                  <a:t>: </a:t>
                </a:r>
                <a:r>
                  <a:rPr lang="en-IN" sz="2400">
                    <a:solidFill>
                      <a:srgbClr val="111827"/>
                    </a:solidFill>
                    <a:latin typeface="Cambria Math" panose="02040503050406030204" pitchFamily="18" charset="0"/>
                  </a:rPr>
                  <a:t>$PAP^{-1}=\begin{pmatrix}4&amp;2\\3&amp;1\end{pmatrix}$</a:t>
                </a:r>
                <a:r>
                  <a:rPr sz="2400" b="0">
                    <a:solidFill>
                      <a:srgbClr val="111827"/>
                    </a:solidFill>
                    <a:latin typeface="Arial"/>
                  </a:rPr>
                  <a:t>, trace </a:t>
                </a:r>
                <a:r>
                  <a:rPr lang="en-IN" sz="2400">
                    <a:solidFill>
                      <a:srgbClr val="111827"/>
                    </a:solidFill>
                    <a:latin typeface="Cambria Math" panose="02040503050406030204" pitchFamily="18" charset="0"/>
                  </a:rPr>
                  <a:t>$5$</a:t>
                </a:r>
                <a:r>
                  <a:rPr sz="2400" b="0">
                    <a:solidFill>
                      <a:srgbClr val="111827"/>
                    </a:solidFill>
                    <a:latin typeface="Arial"/>
                  </a:rPr>
                  <a:t>, determinant </a:t>
                </a:r>
                <a:r>
                  <a:rPr lang="en-IN" sz="2400">
                    <a:solidFill>
                      <a:srgbClr val="111827"/>
                    </a:solidFill>
                    <a:latin typeface="Cambria Math" panose="02040503050406030204" pitchFamily="18" charset="0"/>
                  </a:rPr>
                  <a:t>$-2$</a:t>
                </a:r>
                <a:r>
                  <a:rPr sz="2400" b="0">
                    <a:solidFill>
                      <a:srgbClr val="111827"/>
                    </a:solidFill>
                    <a:latin typeface="Arial"/>
                  </a:rPr>
                  <a:t> unchanged.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class of a scalar matrix </a:t>
                </a:r>
                <a:r>
                  <a:rPr lang="en-IN" sz="2400">
                    <a:solidFill>
                      <a:srgbClr val="111827"/>
                    </a:solidFill>
                    <a:latin typeface="Cambria Math" panose="02040503050406030204" pitchFamily="18" charset="0"/>
                  </a:rPr>
                  <a:t>$\lambda I$</a:t>
                </a:r>
                <a:r>
                  <a:rPr sz="2400" b="0">
                    <a:solidFill>
                      <a:srgbClr val="111827"/>
                    </a:solidFill>
                    <a:latin typeface="Arial"/>
                  </a:rPr>
                  <a:t> is </a:t>
                </a:r>
                <a:r>
                  <a:rPr lang="en-IN" sz="2400">
                    <a:solidFill>
                      <a:srgbClr val="111827"/>
                    </a:solidFill>
                    <a:latin typeface="Cambria Math" panose="02040503050406030204" pitchFamily="18" charset="0"/>
                  </a:rPr>
                  <a:t>$\{\lambda I\}$</a:t>
                </a:r>
                <a:r>
                  <a:rPr sz="2400" b="0">
                    <a:solidFill>
                      <a:srgbClr val="111827"/>
                    </a:solidFill>
                    <a:latin typeface="Arial"/>
                  </a:rPr>
                  <a:t> alone.</a:t>
                </a:r>
                <a:endParaRPr sz="2400">
                  <a:solidFill>
                    <a:srgbClr val="111827"/>
                  </a:solidFill>
                </a:endParaRPr>
              </a:p>
            </p:txBody>
          </p:sp>
        </mc:Fallback>
      </mc:AlternateContent>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731520" y="1280160"/>
            <a:ext cx="10725912" cy="24434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In a school, there are three types of games to be played. Some of the students play two types of games, but none play all the three games. Which Venn diagrams can justify the above statement? [Figure: three diagrams P, Q, R of three overlapping circles.]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P and Q   (B) Q and R   (C) None of these   (D) P and R</a:t>
            </a:r>
            <a:endParaRPr sz="2400">
              <a:solidFill>
                <a:srgbClr val="111827"/>
              </a:solidFill>
            </a:endParaRPr>
          </a:p>
        </p:txBody>
      </p:sp>
      <p:sp>
        <p:nvSpPr>
          <p:cNvPr id="5" name="Rectangle 4"/>
          <p:cNvSpPr/>
          <p:nvPr/>
        </p:nvSpPr>
        <p:spPr>
          <a:xfrm>
            <a:off x="731520" y="3952239"/>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Venn diagrams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statement needs pairwise overlaps with an empty common part; every diagram shows a region lying in all three circles.</a:t>
            </a:r>
            <a:endParaRPr sz="24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games be </a:t>
                </a:r>
                <a14:m>
                  <m:oMath xmlns:m="http://schemas.openxmlformats.org/officeDocument/2006/math">
                    <m:sSub>
                      <m:e>
                        <m:r>
                          <a:rPr lang="en-IN" sz="2400" i="1">
                            <a:solidFill>
                              <a:srgbClr val="111827"/>
                            </a:solidFill>
                            <a:latin typeface="Cambria Math" panose="02040503050406030204" pitchFamily="18" charset="0"/>
                          </a:rPr>
                          <m:t>𝐺</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𝐺</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𝐺</m:t>
                        </m:r>
                      </m:e>
                      <m:sub>
                        <m:r>
                          <a:rPr lang="en-IN" sz="2400" i="1">
                            <a:solidFill>
                              <a:srgbClr val="111827"/>
                            </a:solidFill>
                            <a:latin typeface="Cambria Math" panose="02040503050406030204" pitchFamily="18" charset="0"/>
                          </a:rPr>
                          <m:t>3</m:t>
                        </m:r>
                      </m:sub>
                    </m:sSub>
                  </m:oMath>
                </a14:m>
                <a:r>
                  <a:rPr sz="2400" b="0">
                    <a:solidFill>
                      <a:srgbClr val="111827"/>
                    </a:solidFill>
                    <a:latin typeface="Arial"/>
                  </a:rPr>
                  <a:t> and let the circles be the sets of students playing each game.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'Some students play two games' means the pairwise overlaps (outside the third circle) are non-empty.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'None play all three' means </a:t>
                </a:r>
                <a14:m>
                  <m:oMath xmlns:m="http://schemas.openxmlformats.org/officeDocument/2006/math">
                    <m:sSub>
                      <m:e>
                        <m:r>
                          <a:rPr lang="en-IN" sz="2400" i="1">
                            <a:solidFill>
                              <a:srgbClr val="111827"/>
                            </a:solidFill>
                            <a:latin typeface="Cambria Math" panose="02040503050406030204" pitchFamily="18" charset="0"/>
                          </a:rPr>
                          <m:t>𝐺</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𝐺</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𝐺</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no region lies inside all three circles.</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games be </a:t>
                </a:r>
                <a:r>
                  <a:rPr lang="en-IN" sz="2400">
                    <a:solidFill>
                      <a:srgbClr val="111827"/>
                    </a:solidFill>
                    <a:latin typeface="Cambria Math" panose="02040503050406030204" pitchFamily="18" charset="0"/>
                  </a:rPr>
                  <a:t>$G_1,G_2,G_3$</a:t>
                </a:r>
                <a:r>
                  <a:rPr sz="2400" b="0">
                    <a:solidFill>
                      <a:srgbClr val="111827"/>
                    </a:solidFill>
                    <a:latin typeface="Arial"/>
                  </a:rPr>
                  <a:t> and let the circles be the sets of students playing each game.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'Some students play two games' means the pairwise overlaps (outside the third circle) are non-empty.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'None play all three' means </a:t>
                </a:r>
                <a:r>
                  <a:rPr lang="en-IN" sz="2400">
                    <a:solidFill>
                      <a:srgbClr val="111827"/>
                    </a:solidFill>
                    <a:latin typeface="Cambria Math" panose="02040503050406030204" pitchFamily="18" charset="0"/>
                  </a:rPr>
                  <a:t>$G_1\cap G_2\cap G_3=\emptyset$</a:t>
                </a:r>
                <a:r>
                  <a:rPr sz="2400" b="0">
                    <a:solidFill>
                      <a:srgbClr val="111827"/>
                    </a:solidFill>
                    <a:latin typeface="Arial"/>
                  </a:rPr>
                  <a:t>: no region lies inside all three circles.</a:t>
                </a:r>
                <a:endParaRPr sz="2400">
                  <a:solidFill>
                    <a:srgbClr val="111827"/>
                  </a:solidFill>
                </a:endParaRPr>
              </a:p>
            </p:txBody>
          </p:sp>
        </mc:Fallback>
      </mc:AlternateContent>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diagram P the two small circles overlap and lie inside the big circle, so their common lens lies in all three circles: a triple region exists.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diagram Q the left and right circles overlap, and that overlap lies inside the middle circle: a triple region exists. The same holds in diagram 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every diagram contains students playing all three games, which contradicts the statement. None of them is valid. Option (C).</a:t>
            </a:r>
            <a:endParaRPr sz="2400">
              <a:solidFill>
                <a:srgbClr val="111827"/>
              </a:solidFill>
            </a:endParaRPr>
          </a:p>
        </p:txBody>
      </p:sp>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None of these</a:t>
            </a:r>
            <a:endParaRPr sz="2800">
              <a:solidFill>
                <a:srgbClr val="15803D"/>
              </a:solidFill>
            </a:endParaRP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Three sets split the plane into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regions (3 only-one, 3 exactly-two, 1 triple); 'none play all three' removes the triple region.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 valid Venn picture for 'only pairwise overlaps' no point of the plane lies in all three circles: each pairwise lens must stick out of the third circle.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Three sets split the plane into </a:t>
                </a:r>
                <a:r>
                  <a:rPr lang="en-IN" sz="2400">
                    <a:solidFill>
                      <a:srgbClr val="111827"/>
                    </a:solidFill>
                    <a:latin typeface="Cambria Math" panose="02040503050406030204" pitchFamily="18" charset="0"/>
                  </a:rPr>
                  <a:t>$7$</a:t>
                </a:r>
                <a:r>
                  <a:rPr sz="2400" b="0">
                    <a:solidFill>
                      <a:srgbClr val="111827"/>
                    </a:solidFill>
                    <a:latin typeface="Arial"/>
                  </a:rPr>
                  <a:t> regions (3 only-one, 3 exactly-two, 1 triple); 'none play all three' removes the triple region.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$A\cap B\cap C=\emptyset$</a:t>
                </a:r>
                <a:r>
                  <a:rPr sz="2400" b="0">
                    <a:solidFill>
                      <a:srgbClr val="111827"/>
                    </a:solidFill>
                    <a:latin typeface="Arial"/>
                  </a:rPr>
                  <a:t> then </a:t>
                </a:r>
                <a:r>
                  <a:rPr lang="en-IN" sz="2400">
                    <a:solidFill>
                      <a:srgbClr val="111827"/>
                    </a:solidFill>
                    <a:latin typeface="Cambria Math" panose="02040503050406030204" pitchFamily="18" charset="0"/>
                  </a:rPr>
                  <a:t>$|A\cup B\cup C|=|A|+|B|+|C|-|A\cap B|-|B\cap C|-|C\cap 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 valid Venn picture for 'only pairwise overlaps' no point of the plane lies in all three circles: each pairwise lens must stick out of the third circle.</a:t>
                </a:r>
                <a:endParaRPr sz="2400">
                  <a:solidFill>
                    <a:srgbClr val="111827"/>
                  </a:solidFill>
                </a:endParaRPr>
              </a:p>
            </p:txBody>
          </p:sp>
        </mc:Fallback>
      </mc:AlternateContent>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1.5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4434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be an equivalence relation on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oMath>
                </a14:m>
                <a:r>
                  <a:rPr sz="2400" b="0">
                    <a:solidFill>
                      <a:srgbClr val="111827"/>
                    </a:solidFill>
                    <a:latin typeface="Arial"/>
                  </a:rPr>
                  <a:t>, defined by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if and only if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oMath>
                </a14:m>
                <a:r>
                  <a:rPr sz="2400" b="0">
                    <a:solidFill>
                      <a:srgbClr val="111827"/>
                    </a:solidFill>
                    <a:latin typeface="Arial"/>
                  </a:rPr>
                  <a:t>. Then the number of ordered pairs which satisfy this equivalence relation with ordered pair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5   (B) 8   (C) 6   (D) 7</a:t>
                </a:r>
                <a:endParaRPr sz="2400">
                  <a:solidFill>
                    <a:srgbClr val="111827"/>
                  </a:solidFill>
                </a:endParaRPr>
              </a:p>
            </p:txBody>
          </p:sp>
        </mc:Choice>
        <mc:Fallback>
          <p:sp>
            <p:nvSpPr>
              <p:cNvPr id="4" name="Rounded Rectangle 3"/>
              <p:cNvSpPr/>
              <p:nvPr/>
            </p:nvSpPr>
            <p:spPr>
              <a:xfrm>
                <a:off x="731520" y="1280160"/>
                <a:ext cx="10725912" cy="24434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$A=\{2,3,4,5,\dots,30\}$</a:t>
                </a:r>
                <a:r>
                  <a:rPr sz="2400" b="0">
                    <a:solidFill>
                      <a:srgbClr val="111827"/>
                    </a:solidFill>
                    <a:latin typeface="Arial"/>
                  </a:rPr>
                  <a:t> and '</a:t>
                </a:r>
                <a:r>
                  <a:rPr lang="en-IN" sz="2400">
                    <a:solidFill>
                      <a:srgbClr val="111827"/>
                    </a:solidFill>
                    <a:latin typeface="Cambria Math" panose="02040503050406030204" pitchFamily="18" charset="0"/>
                  </a:rPr>
                  <a:t>$\simeq$</a:t>
                </a:r>
                <a:r>
                  <a:rPr sz="2400" b="0">
                    <a:solidFill>
                      <a:srgbClr val="111827"/>
                    </a:solidFill>
                    <a:latin typeface="Arial"/>
                  </a:rPr>
                  <a:t>' be an equivalence relation on </a:t>
                </a:r>
                <a:r>
                  <a:rPr lang="en-IN" sz="2400">
                    <a:solidFill>
                      <a:srgbClr val="111827"/>
                    </a:solidFill>
                    <a:latin typeface="Cambria Math" panose="02040503050406030204" pitchFamily="18" charset="0"/>
                  </a:rPr>
                  <a:t>$A\times A$</a:t>
                </a:r>
                <a:r>
                  <a:rPr sz="2400" b="0">
                    <a:solidFill>
                      <a:srgbClr val="111827"/>
                    </a:solidFill>
                    <a:latin typeface="Arial"/>
                  </a:rPr>
                  <a:t>, defined by </a:t>
                </a:r>
                <a:r>
                  <a:rPr lang="en-IN" sz="2400">
                    <a:solidFill>
                      <a:srgbClr val="111827"/>
                    </a:solidFill>
                    <a:latin typeface="Cambria Math" panose="02040503050406030204" pitchFamily="18" charset="0"/>
                  </a:rPr>
                  <a:t>$(a,b)\simeq(c,d)$</a:t>
                </a:r>
                <a:r>
                  <a:rPr sz="2400" b="0">
                    <a:solidFill>
                      <a:srgbClr val="111827"/>
                    </a:solidFill>
                    <a:latin typeface="Arial"/>
                  </a:rPr>
                  <a:t> if and only if </a:t>
                </a:r>
                <a:r>
                  <a:rPr lang="en-IN" sz="2400">
                    <a:solidFill>
                      <a:srgbClr val="111827"/>
                    </a:solidFill>
                    <a:latin typeface="Cambria Math" panose="02040503050406030204" pitchFamily="18" charset="0"/>
                  </a:rPr>
                  <a:t>$ad=bc$</a:t>
                </a:r>
                <a:r>
                  <a:rPr sz="2400" b="0">
                    <a:solidFill>
                      <a:srgbClr val="111827"/>
                    </a:solidFill>
                    <a:latin typeface="Arial"/>
                  </a:rPr>
                  <a:t>. Then the number of ordered pairs which satisfy this equivalence relation with ordered pair </a:t>
                </a:r>
                <a:r>
                  <a:rPr lang="en-IN" sz="2400">
                    <a:solidFill>
                      <a:srgbClr val="111827"/>
                    </a:solidFill>
                    <a:latin typeface="Cambria Math" panose="02040503050406030204" pitchFamily="18" charset="0"/>
                  </a:rPr>
                  <a:t>$(4,3)$</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5   (B) 8   (C) 6   (D) 7</a:t>
                </a:r>
                <a:endParaRPr sz="2400">
                  <a:solidFill>
                    <a:srgbClr val="111827"/>
                  </a:solidFill>
                </a:endParaRPr>
              </a:p>
            </p:txBody>
          </p:sp>
        </mc:Fallback>
      </mc:AlternateContent>
      <p:sp>
        <p:nvSpPr>
          <p:cNvPr id="5" name="Rectangle 4"/>
          <p:cNvSpPr/>
          <p:nvPr/>
        </p:nvSpPr>
        <p:spPr>
          <a:xfrm>
            <a:off x="731520" y="3952239"/>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Equivalence class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1.5(A little above JEE Main Level)</a:t>
            </a:r>
            <a:endParaRPr sz="2400">
              <a:solidFill>
                <a:srgbClr val="111827"/>
              </a:solidFill>
            </a:endParaRP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1.5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a:rPr lang="en-IN" sz="2400" i="1">
                        <a:solidFill>
                          <a:srgbClr val="78350F"/>
                        </a:solidFill>
                        <a:latin typeface="Cambria Math" panose="02040503050406030204" pitchFamily="18" charset="0"/>
                      </a:rPr>
                      <m:t>𝑎</m:t>
                    </m:r>
                    <m:r>
                      <a:rPr lang="en-IN" sz="2400" i="1">
                        <a:solidFill>
                          <a:srgbClr val="78350F"/>
                        </a:solidFill>
                        <a:latin typeface="Cambria Math" panose="02040503050406030204" pitchFamily="18" charset="0"/>
                      </a:rPr>
                      <m:t>𝑑</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a:rPr lang="en-IN" sz="2400" i="1">
                        <a:solidFill>
                          <a:srgbClr val="78350F"/>
                        </a:solidFill>
                        <a:latin typeface="Cambria Math" panose="02040503050406030204" pitchFamily="18" charset="0"/>
                      </a:rPr>
                      <m:t>𝑐</m:t>
                    </m:r>
                  </m:oMath>
                </a14:m>
                <a:r>
                  <a:rPr sz="2400" b="0">
                    <a:solidFill>
                      <a:srgbClr val="78350F"/>
                    </a:solidFill>
                    <a:latin typeface="Arial"/>
                  </a:rPr>
                  <a:t> means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𝑎</m:t>
                        </m:r>
                      </m:num>
                      <m:den>
                        <m:r>
                          <a:rPr lang="en-IN" sz="2400" i="1">
                            <a:solidFill>
                              <a:srgbClr val="78350F"/>
                            </a:solidFill>
                            <a:latin typeface="Cambria Math" panose="02040503050406030204" pitchFamily="18" charset="0"/>
                          </a:rPr>
                          <m:t>𝑏</m:t>
                        </m:r>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𝑐</m:t>
                        </m:r>
                      </m:num>
                      <m:den>
                        <m:r>
                          <a:rPr lang="en-IN" sz="2400" i="1">
                            <a:solidFill>
                              <a:srgbClr val="78350F"/>
                            </a:solidFill>
                            <a:latin typeface="Cambria Math" panose="02040503050406030204" pitchFamily="18" charset="0"/>
                          </a:rPr>
                          <m:t>𝑑</m:t>
                        </m:r>
                      </m:den>
                    </m:f>
                  </m:oMath>
                </a14:m>
                <a:r>
                  <a:rPr sz="2400" b="0">
                    <a:solidFill>
                      <a:srgbClr val="78350F"/>
                    </a:solidFill>
                    <a:latin typeface="Arial"/>
                  </a:rPr>
                  <a:t>, so the class of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consists of the pairs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lying in </a:t>
                </a:r>
                <a14:m>
                  <m:oMath xmlns:m="http://schemas.openxmlformats.org/officeDocument/2006/math">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$ad=bc$</a:t>
                </a:r>
                <a:r>
                  <a:rPr sz="2400" b="0">
                    <a:solidFill>
                      <a:srgbClr val="78350F"/>
                    </a:solidFill>
                    <a:latin typeface="Arial"/>
                  </a:rPr>
                  <a:t> means </a:t>
                </a:r>
                <a:r>
                  <a:rPr lang="en-IN" sz="2400">
                    <a:solidFill>
                      <a:srgbClr val="78350F"/>
                    </a:solidFill>
                    <a:latin typeface="Cambria Math" panose="02040503050406030204" pitchFamily="18" charset="0"/>
                  </a:rPr>
                  <a:t>$\frac ab=\frac cd$</a:t>
                </a:r>
                <a:r>
                  <a:rPr sz="2400" b="0">
                    <a:solidFill>
                      <a:srgbClr val="78350F"/>
                    </a:solidFill>
                    <a:latin typeface="Arial"/>
                  </a:rPr>
                  <a:t>, so the class of </a:t>
                </a:r>
                <a:r>
                  <a:rPr lang="en-IN" sz="2400">
                    <a:solidFill>
                      <a:srgbClr val="78350F"/>
                    </a:solidFill>
                    <a:latin typeface="Cambria Math" panose="02040503050406030204" pitchFamily="18" charset="0"/>
                  </a:rPr>
                  <a:t>$(4,3)$</a:t>
                </a:r>
                <a:r>
                  <a:rPr sz="2400" b="0">
                    <a:solidFill>
                      <a:srgbClr val="78350F"/>
                    </a:solidFill>
                    <a:latin typeface="Arial"/>
                  </a:rPr>
                  <a:t> consists of the pairs </a:t>
                </a:r>
                <a:r>
                  <a:rPr lang="en-IN" sz="2400">
                    <a:solidFill>
                      <a:srgbClr val="78350F"/>
                    </a:solidFill>
                    <a:latin typeface="Cambria Math" panose="02040503050406030204" pitchFamily="18" charset="0"/>
                  </a:rPr>
                  <a:t>$(4k,3k)$</a:t>
                </a:r>
                <a:r>
                  <a:rPr sz="2400" b="0">
                    <a:solidFill>
                      <a:srgbClr val="78350F"/>
                    </a:solidFill>
                    <a:latin typeface="Arial"/>
                  </a:rPr>
                  <a:t> lying in </a:t>
                </a:r>
                <a:r>
                  <a:rPr lang="en-IN" sz="2400">
                    <a:solidFill>
                      <a:srgbClr val="78350F"/>
                    </a:solidFill>
                    <a:latin typeface="Cambria Math" panose="02040503050406030204" pitchFamily="18" charset="0"/>
                  </a:rPr>
                  <a:t>$A\times A$</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𝑐</m:t>
                        </m:r>
                      </m:num>
                      <m:den>
                        <m:r>
                          <a:rPr lang="en-IN" sz="2400" i="1">
                            <a:solidFill>
                              <a:srgbClr val="111827"/>
                            </a:solidFill>
                            <a:latin typeface="Cambria Math" panose="02040503050406030204" pitchFamily="18" charset="0"/>
                          </a:rPr>
                          <m:t>𝑑</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we need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𝑐</m:t>
                        </m:r>
                      </m:num>
                      <m:den>
                        <m:r>
                          <a:rPr lang="en-IN" sz="2400" i="1">
                            <a:solidFill>
                              <a:srgbClr val="111827"/>
                            </a:solidFill>
                            <a:latin typeface="Cambria Math" panose="02040503050406030204" pitchFamily="18" charset="0"/>
                          </a:rPr>
                          <m:t>𝑑</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i.e.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16</m:t>
                        </m:r>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20</m:t>
                        </m:r>
                      </m:num>
                      <m:den>
                        <m:r>
                          <a:rPr lang="en-IN" sz="2400" i="1">
                            <a:solidFill>
                              <a:srgbClr val="111827"/>
                            </a:solidFill>
                            <a:latin typeface="Cambria Math" panose="02040503050406030204" pitchFamily="18" charset="0"/>
                          </a:rPr>
                          <m:t>15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24</m:t>
                        </m:r>
                      </m:num>
                      <m:den>
                        <m:r>
                          <a:rPr lang="en-IN" sz="2400" i="1">
                            <a:solidFill>
                              <a:srgbClr val="111827"/>
                            </a:solidFill>
                            <a:latin typeface="Cambria Math" panose="02040503050406030204" pitchFamily="18" charset="0"/>
                          </a:rPr>
                          <m:t>18</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28</m:t>
                        </m:r>
                      </m:num>
                      <m:den>
                        <m:r>
                          <a:rPr lang="en-IN" sz="2400" i="1">
                            <a:solidFill>
                              <a:srgbClr val="111827"/>
                            </a:solidFill>
                            <a:latin typeface="Cambria Math" panose="02040503050406030204" pitchFamily="18" charset="0"/>
                          </a:rPr>
                          <m:t>21</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$(a,b)\simeq(c,d)\iff ad=bc\iff\frac ab=\frac cd$</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$(a,b)=(4,3)$</a:t>
                </a:r>
                <a:r>
                  <a:rPr sz="2400" b="0">
                    <a:solidFill>
                      <a:srgbClr val="111827"/>
                    </a:solidFill>
                    <a:latin typeface="Arial"/>
                  </a:rPr>
                  <a:t> we need </a:t>
                </a:r>
                <a:r>
                  <a:rPr lang="en-IN" sz="2400">
                    <a:solidFill>
                      <a:srgbClr val="111827"/>
                    </a:solidFill>
                    <a:latin typeface="Cambria Math" panose="02040503050406030204" pitchFamily="18" charset="0"/>
                  </a:rPr>
                  <a:t>$\frac cd=\frac43$</a:t>
                </a:r>
                <a:r>
                  <a:rPr sz="2400" b="0">
                    <a:solidFill>
                      <a:srgbClr val="111827"/>
                    </a:solidFill>
                    <a:latin typeface="Arial"/>
                  </a:rPr>
                  <a:t>, i.e. </a:t>
                </a:r>
                <a:r>
                  <a:rPr lang="en-IN" sz="2400">
                    <a:solidFill>
                      <a:srgbClr val="111827"/>
                    </a:solidFill>
                    <a:latin typeface="Cambria Math" panose="02040503050406030204" pitchFamily="18" charset="0"/>
                  </a:rPr>
                  <a:t>$(c,d)=(4k,3k)$</a:t>
                </a:r>
                <a:r>
                  <a:rPr sz="2400" b="0">
                    <a:solidFill>
                      <a:srgbClr val="111827"/>
                    </a:solidFill>
                    <a:latin typeface="Arial"/>
                  </a:rPr>
                  <a:t> with </a:t>
                </a:r>
                <a:r>
                  <a:rPr lang="en-IN" sz="2400">
                    <a:solidFill>
                      <a:srgbClr val="111827"/>
                    </a:solidFill>
                    <a:latin typeface="Cambria Math" panose="02040503050406030204" pitchFamily="18" charset="0"/>
                  </a:rPr>
                  <a:t>$c,d\in\{2,\dots,30\}$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$\frac{4}{3}=\frac{8}{6}=\frac{12}{9}=\frac{16}{12}=\frac{20}{15}=\frac{24}{18}=\frac{28}{21}$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1.5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next one,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has </a:t>
                </a:r>
                <a14:m>
                  <m:oMath xmlns:m="http://schemas.openxmlformats.org/officeDocument/2006/math">
                    <m:r>
                      <a:rPr lang="en-IN" sz="2400" i="1">
                        <a:solidFill>
                          <a:srgbClr val="111827"/>
                        </a:solidFill>
                        <a:latin typeface="Cambria Math" panose="02040503050406030204" pitchFamily="18" charset="0"/>
                      </a:rPr>
                      <m:t>32</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30</m:t>
                    </m:r>
                  </m:oMath>
                </a14:m>
                <a:r>
                  <a:rPr sz="2400" b="0">
                    <a:solidFill>
                      <a:srgbClr val="111827"/>
                    </a:solidFill>
                    <a:latin typeface="Arial"/>
                  </a:rPr>
                  <a:t>, so it is not in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pairs are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pairs. Option (D).</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next one, </a:t>
                </a:r>
                <a:r>
                  <a:rPr lang="en-IN" sz="2400">
                    <a:solidFill>
                      <a:srgbClr val="111827"/>
                    </a:solidFill>
                    <a:latin typeface="Cambria Math" panose="02040503050406030204" pitchFamily="18" charset="0"/>
                  </a:rPr>
                  <a:t>$(32,24)$</a:t>
                </a:r>
                <a:r>
                  <a:rPr sz="2400" b="0">
                    <a:solidFill>
                      <a:srgbClr val="111827"/>
                    </a:solidFill>
                    <a:latin typeface="Arial"/>
                  </a:rPr>
                  <a:t>, has </a:t>
                </a:r>
                <a:r>
                  <a:rPr lang="en-IN" sz="2400">
                    <a:solidFill>
                      <a:srgbClr val="111827"/>
                    </a:solidFill>
                    <a:latin typeface="Cambria Math" panose="02040503050406030204" pitchFamily="18" charset="0"/>
                  </a:rPr>
                  <a:t>$32&gt;30$</a:t>
                </a:r>
                <a:r>
                  <a:rPr sz="2400" b="0">
                    <a:solidFill>
                      <a:srgbClr val="111827"/>
                    </a:solidFill>
                    <a:latin typeface="Arial"/>
                  </a:rPr>
                  <a:t>, so it is not in </a:t>
                </a:r>
                <a:r>
                  <a:rPr lang="en-IN" sz="2400">
                    <a:solidFill>
                      <a:srgbClr val="111827"/>
                    </a:solidFill>
                    <a:latin typeface="Cambria Math" panose="02040503050406030204" pitchFamily="18" charset="0"/>
                  </a:rPr>
                  <a:t>$A\times 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pairs are </a:t>
                </a:r>
                <a:r>
                  <a:rPr lang="en-IN" sz="2400">
                    <a:solidFill>
                      <a:srgbClr val="111827"/>
                    </a:solidFill>
                    <a:latin typeface="Cambria Math" panose="02040503050406030204" pitchFamily="18" charset="0"/>
                  </a:rPr>
                  <a:t>$(4,3),(8,6),(12,9),(16,12),(20,15),(24,18),(28,21)$</a:t>
                </a:r>
                <a:r>
                  <a:rPr sz="2400" b="0">
                    <a:solidFill>
                      <a:srgbClr val="111827"/>
                    </a:solidFill>
                    <a:latin typeface="Arial"/>
                  </a:rPr>
                  <a:t>: </a:t>
                </a:r>
                <a:r>
                  <a:rPr lang="en-IN" sz="2400">
                    <a:solidFill>
                      <a:srgbClr val="111827"/>
                    </a:solidFill>
                    <a:latin typeface="Cambria Math" panose="02040503050406030204" pitchFamily="18" charset="0"/>
                  </a:rPr>
                  <a:t>$7$</a:t>
                </a:r>
                <a:r>
                  <a:rPr sz="2400" b="0">
                    <a:solidFill>
                      <a:srgbClr val="111827"/>
                    </a:solidFill>
                    <a:latin typeface="Arial"/>
                  </a:rPr>
                  <a:t> pairs. Option (D).</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7</a:t>
            </a:r>
            <a:endParaRPr sz="2800">
              <a:solidFill>
                <a:srgbClr val="15803D"/>
              </a:solidFill>
            </a:endParaRP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1.5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class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under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oMath>
                </a14:m>
                <a:r>
                  <a:rPr sz="2400" b="0">
                    <a:solidFill>
                      <a:srgbClr val="111827"/>
                    </a:solidFill>
                    <a:latin typeface="Arial"/>
                  </a:rPr>
                  <a:t> is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sSup>
                      <m:e>
                        <m:r>
                          <a:rPr lang="en-IN" sz="2400" i="1">
                            <a:solidFill>
                              <a:srgbClr val="111827"/>
                            </a:solidFill>
                            <a:latin typeface="Cambria Math" panose="02040503050406030204" pitchFamily="18" charset="0"/>
                          </a:rPr>
                          <m:t>𝑎</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sSup>
                      <m:e>
                        <m:r>
                          <a:rPr lang="en-IN" sz="2400" i="1">
                            <a:solidFill>
                              <a:srgbClr val="111827"/>
                            </a:solidFill>
                            <a:latin typeface="Cambria Math" panose="02040503050406030204" pitchFamily="18" charset="0"/>
                          </a:rPr>
                          <m:t>𝑏</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where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m:rPr>
                                <m:sty m:val="p"/>
                              </m:rPr>
                              <a:rPr lang="en-IN" sz="2400">
                                <a:solidFill>
                                  <a:srgbClr val="111827"/>
                                </a:solidFill>
                                <a:latin typeface="Cambria Math" panose="02040503050406030204" pitchFamily="18" charset="0"/>
                              </a:rPr>
                              <m:t>′</m:t>
                            </m:r>
                          </m:sup>
                        </m:sSup>
                      </m:num>
                      <m:den>
                        <m:sSup>
                          <m:e>
                            <m:r>
                              <a:rPr lang="en-IN" sz="2400" i="1">
                                <a:solidFill>
                                  <a:srgbClr val="111827"/>
                                </a:solidFill>
                                <a:latin typeface="Cambria Math" panose="02040503050406030204" pitchFamily="18" charset="0"/>
                              </a:rPr>
                              <m:t>𝑏</m:t>
                            </m:r>
                          </m:e>
                          <m:sup>
                            <m:r>
                              <m:rPr>
                                <m:sty m:val="p"/>
                              </m:rPr>
                              <a:rPr lang="en-IN" sz="2400">
                                <a:solidFill>
                                  <a:srgbClr val="111827"/>
                                </a:solidFill>
                                <a:latin typeface="Cambria Math" panose="02040503050406030204" pitchFamily="18" charset="0"/>
                              </a:rPr>
                              <m:t>′</m:t>
                            </m:r>
                          </m:sup>
                        </m:sSup>
                      </m:den>
                    </m:f>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𝑏</m:t>
                        </m:r>
                      </m:den>
                    </m:f>
                  </m:oMath>
                </a14:m>
                <a:r>
                  <a:rPr sz="2400" b="0">
                    <a:solidFill>
                      <a:srgbClr val="111827"/>
                    </a:solidFill>
                    <a:latin typeface="Arial"/>
                  </a:rPr>
                  <a:t> in lowest terms; its size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max</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minus any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with a coordinate below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m:rPr>
                                <m:sty m:val="p"/>
                              </m:rPr>
                              <a:rPr lang="en-IN" sz="2400">
                                <a:solidFill>
                                  <a:srgbClr val="111827"/>
                                </a:solidFill>
                                <a:latin typeface="Cambria Math" panose="02040503050406030204" pitchFamily="18" charset="0"/>
                              </a:rPr>
                              <m:t>′</m:t>
                            </m:r>
                          </m:sup>
                        </m:sSup>
                      </m:num>
                      <m:den>
                        <m:sSup>
                          <m:e>
                            <m:r>
                              <a:rPr lang="en-IN" sz="2400" i="1">
                                <a:solidFill>
                                  <a:srgbClr val="111827"/>
                                </a:solidFill>
                                <a:latin typeface="Cambria Math" panose="02040503050406030204" pitchFamily="18" charset="0"/>
                              </a:rPr>
                              <m:t>𝑏</m:t>
                            </m:r>
                          </m:e>
                          <m:sup>
                            <m:r>
                              <m:rPr>
                                <m:sty m:val="p"/>
                              </m:rPr>
                              <a:rPr lang="en-IN" sz="2400">
                                <a:solidFill>
                                  <a:srgbClr val="111827"/>
                                </a:solidFill>
                                <a:latin typeface="Cambria Math" panose="02040503050406030204" pitchFamily="18" charset="0"/>
                              </a:rPr>
                              <m:t>′</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is already reduced,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always: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pairs.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oMath>
                </a14:m>
                <a:r>
                  <a:rPr sz="2400" b="0">
                    <a:solidFill>
                      <a:srgbClr val="111827"/>
                    </a:solidFill>
                    <a:latin typeface="Arial"/>
                  </a:rPr>
                  <a:t> on non-zero pairs is the equality of fractions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𝑐</m:t>
                        </m:r>
                      </m:num>
                      <m:den>
                        <m:r>
                          <a:rPr lang="en-IN" sz="2400" i="1">
                            <a:solidFill>
                              <a:srgbClr val="111827"/>
                            </a:solidFill>
                            <a:latin typeface="Cambria Math" panose="02040503050406030204" pitchFamily="18" charset="0"/>
                          </a:rPr>
                          <m:t>𝑑</m:t>
                        </m:r>
                      </m:den>
                    </m:f>
                  </m:oMath>
                </a14:m>
                <a:r>
                  <a:rPr sz="2400" b="0">
                    <a:solidFill>
                      <a:srgbClr val="111827"/>
                    </a:solidFill>
                    <a:latin typeface="Arial"/>
                  </a:rPr>
                  <a:t>, so it is always an equivalence relation.</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class of </a:t>
                </a:r>
                <a:r>
                  <a:rPr lang="en-IN" sz="2400">
                    <a:solidFill>
                      <a:srgbClr val="111827"/>
                    </a:solidFill>
                    <a:latin typeface="Cambria Math" panose="02040503050406030204" pitchFamily="18" charset="0"/>
                  </a:rPr>
                  <a:t>$(a,b)$</a:t>
                </a:r>
                <a:r>
                  <a:rPr sz="2400" b="0">
                    <a:solidFill>
                      <a:srgbClr val="111827"/>
                    </a:solidFill>
                    <a:latin typeface="Arial"/>
                  </a:rPr>
                  <a:t> under </a:t>
                </a:r>
                <a:r>
                  <a:rPr lang="en-IN" sz="2400">
                    <a:solidFill>
                      <a:srgbClr val="111827"/>
                    </a:solidFill>
                    <a:latin typeface="Cambria Math" panose="02040503050406030204" pitchFamily="18" charset="0"/>
                  </a:rPr>
                  <a:t>$ad=bc$</a:t>
                </a:r>
                <a:r>
                  <a:rPr sz="2400" b="0">
                    <a:solidFill>
                      <a:srgbClr val="111827"/>
                    </a:solidFill>
                    <a:latin typeface="Arial"/>
                  </a:rPr>
                  <a:t> is </a:t>
                </a:r>
                <a:r>
                  <a:rPr lang="en-IN" sz="2400">
                    <a:solidFill>
                      <a:srgbClr val="111827"/>
                    </a:solidFill>
                    <a:latin typeface="Cambria Math" panose="02040503050406030204" pitchFamily="18" charset="0"/>
                  </a:rPr>
                  <a:t>$\{(ka',kb')\}$</a:t>
                </a:r>
                <a:r>
                  <a:rPr sz="2400" b="0">
                    <a:solidFill>
                      <a:srgbClr val="111827"/>
                    </a:solidFill>
                    <a:latin typeface="Arial"/>
                  </a:rPr>
                  <a:t>, where </a:t>
                </a:r>
                <a:r>
                  <a:rPr lang="en-IN" sz="2400">
                    <a:solidFill>
                      <a:srgbClr val="111827"/>
                    </a:solidFill>
                    <a:latin typeface="Cambria Math" panose="02040503050406030204" pitchFamily="18" charset="0"/>
                  </a:rPr>
                  <a:t>$\frac{a'}{b'}$</a:t>
                </a:r>
                <a:r>
                  <a:rPr sz="2400" b="0">
                    <a:solidFill>
                      <a:srgbClr val="111827"/>
                    </a:solidFill>
                    <a:latin typeface="Arial"/>
                  </a:rPr>
                  <a:t> is </a:t>
                </a:r>
                <a:r>
                  <a:rPr lang="en-IN" sz="2400">
                    <a:solidFill>
                      <a:srgbClr val="111827"/>
                    </a:solidFill>
                    <a:latin typeface="Cambria Math" panose="02040503050406030204" pitchFamily="18" charset="0"/>
                  </a:rPr>
                  <a:t>$\frac ab$</a:t>
                </a:r>
                <a:r>
                  <a:rPr sz="2400" b="0">
                    <a:solidFill>
                      <a:srgbClr val="111827"/>
                    </a:solidFill>
                    <a:latin typeface="Arial"/>
                  </a:rPr>
                  <a:t> in lowest terms; its size in </a:t>
                </a:r>
                <a:r>
                  <a:rPr lang="en-IN" sz="2400">
                    <a:solidFill>
                      <a:srgbClr val="111827"/>
                    </a:solidFill>
                    <a:latin typeface="Cambria Math" panose="02040503050406030204" pitchFamily="18" charset="0"/>
                  </a:rPr>
                  <a:t>$\{m,\dots,N\}^2$</a:t>
                </a:r>
                <a:r>
                  <a:rPr sz="2400" b="0">
                    <a:solidFill>
                      <a:srgbClr val="111827"/>
                    </a:solidFill>
                    <a:latin typeface="Arial"/>
                  </a:rPr>
                  <a:t> is </a:t>
                </a:r>
                <a:r>
                  <a:rPr lang="en-IN" sz="2400">
                    <a:solidFill>
                      <a:srgbClr val="111827"/>
                    </a:solidFill>
                    <a:latin typeface="Cambria Math" panose="02040503050406030204" pitchFamily="18" charset="0"/>
                  </a:rPr>
                  <a:t>$\lfloor N/\max(a',b')\rfloor$</a:t>
                </a:r>
                <a:r>
                  <a:rPr sz="2400" b="0">
                    <a:solidFill>
                      <a:srgbClr val="111827"/>
                    </a:solidFill>
                    <a:latin typeface="Arial"/>
                  </a:rPr>
                  <a:t> minus any </a:t>
                </a:r>
                <a:r>
                  <a:rPr lang="en-IN" sz="2400">
                    <a:solidFill>
                      <a:srgbClr val="111827"/>
                    </a:solidFill>
                    <a:latin typeface="Cambria Math" panose="02040503050406030204" pitchFamily="18" charset="0"/>
                  </a:rPr>
                  <a:t>$k$</a:t>
                </a:r>
                <a:r>
                  <a:rPr sz="2400" b="0">
                    <a:solidFill>
                      <a:srgbClr val="111827"/>
                    </a:solidFill>
                    <a:latin typeface="Arial"/>
                  </a:rPr>
                  <a:t> with a coordinate below </a:t>
                </a:r>
                <a:r>
                  <a:rPr lang="en-IN" sz="2400">
                    <a:solidFill>
                      <a:srgbClr val="111827"/>
                    </a:solidFill>
                    <a:latin typeface="Cambria Math" panose="02040503050406030204" pitchFamily="18" charset="0"/>
                  </a:rPr>
                  <a:t>$m$</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r>
                  <a:rPr lang="en-IN" sz="2400">
                    <a:solidFill>
                      <a:srgbClr val="111827"/>
                    </a:solidFill>
                    <a:latin typeface="Cambria Math" panose="02040503050406030204" pitchFamily="18" charset="0"/>
                  </a:rPr>
                  <a:t>$\frac{a'}{b'}=\frac43$</a:t>
                </a:r>
                <a:r>
                  <a:rPr sz="2400" b="0">
                    <a:solidFill>
                      <a:srgbClr val="111827"/>
                    </a:solidFill>
                    <a:latin typeface="Arial"/>
                  </a:rPr>
                  <a:t> is already reduced, </a:t>
                </a:r>
                <a:r>
                  <a:rPr lang="en-IN" sz="2400">
                    <a:solidFill>
                      <a:srgbClr val="111827"/>
                    </a:solidFill>
                    <a:latin typeface="Cambria Math" panose="02040503050406030204" pitchFamily="18" charset="0"/>
                  </a:rPr>
                  <a:t>$k\le\lfloor30/4\rfloor=7$</a:t>
                </a:r>
                <a:r>
                  <a:rPr sz="2400" b="0">
                    <a:solidFill>
                      <a:srgbClr val="111827"/>
                    </a:solidFill>
                    <a:latin typeface="Arial"/>
                  </a:rPr>
                  <a:t>, and </a:t>
                </a:r>
                <a:r>
                  <a:rPr lang="en-IN" sz="2400">
                    <a:solidFill>
                      <a:srgbClr val="111827"/>
                    </a:solidFill>
                    <a:latin typeface="Cambria Math" panose="02040503050406030204" pitchFamily="18" charset="0"/>
                  </a:rPr>
                  <a:t>$3k\ge2$</a:t>
                </a:r>
                <a:r>
                  <a:rPr sz="2400" b="0">
                    <a:solidFill>
                      <a:srgbClr val="111827"/>
                    </a:solidFill>
                    <a:latin typeface="Arial"/>
                  </a:rPr>
                  <a:t> always: </a:t>
                </a:r>
                <a:r>
                  <a:rPr lang="en-IN" sz="2400">
                    <a:solidFill>
                      <a:srgbClr val="111827"/>
                    </a:solidFill>
                    <a:latin typeface="Cambria Math" panose="02040503050406030204" pitchFamily="18" charset="0"/>
                  </a:rPr>
                  <a:t>$7$</a:t>
                </a:r>
                <a:r>
                  <a:rPr sz="2400" b="0">
                    <a:solidFill>
                      <a:srgbClr val="111827"/>
                    </a:solidFill>
                    <a:latin typeface="Arial"/>
                  </a:rPr>
                  <a:t> pairs.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$ad=bc$</a:t>
                </a:r>
                <a:r>
                  <a:rPr sz="2400" b="0">
                    <a:solidFill>
                      <a:srgbClr val="111827"/>
                    </a:solidFill>
                    <a:latin typeface="Arial"/>
                  </a:rPr>
                  <a:t> on non-zero pairs is the equality of fractions </a:t>
                </a:r>
                <a:r>
                  <a:rPr lang="en-IN" sz="2400">
                    <a:solidFill>
                      <a:srgbClr val="111827"/>
                    </a:solidFill>
                    <a:latin typeface="Cambria Math" panose="02040503050406030204" pitchFamily="18" charset="0"/>
                  </a:rPr>
                  <a:t>$\frac ab=\frac cd$</a:t>
                </a:r>
                <a:r>
                  <a:rPr sz="2400" b="0">
                    <a:solidFill>
                      <a:srgbClr val="111827"/>
                    </a:solidFill>
                    <a:latin typeface="Arial"/>
                  </a:rPr>
                  <a:t>, so it is always an equivalence relation.</a:t>
                </a:r>
                <a:endParaRPr sz="2400">
                  <a:solidFill>
                    <a:srgbClr val="111827"/>
                  </a:solidFill>
                </a:endParaRPr>
              </a:p>
            </p:txBody>
          </p:sp>
        </mc:Fallback>
      </mc:AlternateContent>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elements in the set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2   (B) 1   (C) 3   (D) 4</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number of elements in the set </a:t>
                </a:r>
                <a:r>
                  <a:rPr lang="en-IN" sz="2400">
                    <a:solidFill>
                      <a:srgbClr val="111827"/>
                    </a:solidFill>
                    <a:latin typeface="Cambria Math" panose="02040503050406030204" pitchFamily="18" charset="0"/>
                  </a:rPr>
                  <a:t>$\{x\in\mathbb{R}:(|x|-3)|x+4|=6\}$</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2   (B) 1   (C) 3   (D) 4</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Modulus equation and quadratic equation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Split at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oMath>
                </a14:m>
                <a:r>
                  <a:rPr sz="2400" b="0">
                    <a:solidFill>
                      <a:srgbClr val="78350F"/>
                    </a:solidFill>
                    <a:latin typeface="Arial"/>
                  </a:rPr>
                  <a:t>; accept a root only if it lies in its own interval.</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Split at </a:t>
                </a:r>
                <a:r>
                  <a:rPr lang="en-IN" sz="2400">
                    <a:solidFill>
                      <a:srgbClr val="78350F"/>
                    </a:solidFill>
                    <a:latin typeface="Cambria Math" panose="02040503050406030204" pitchFamily="18" charset="0"/>
                  </a:rPr>
                  <a:t>$x=0$</a:t>
                </a:r>
                <a:r>
                  <a:rPr sz="2400" b="0">
                    <a:solidFill>
                      <a:srgbClr val="78350F"/>
                    </a:solidFill>
                    <a:latin typeface="Arial"/>
                  </a:rPr>
                  <a:t> and </a:t>
                </a:r>
                <a:r>
                  <a:rPr lang="en-IN" sz="2400">
                    <a:solidFill>
                      <a:srgbClr val="78350F"/>
                    </a:solidFill>
                    <a:latin typeface="Cambria Math" panose="02040503050406030204" pitchFamily="18" charset="0"/>
                  </a:rPr>
                  <a:t>$x=-4$</a:t>
                </a:r>
                <a:r>
                  <a:rPr sz="2400" b="0">
                    <a:solidFill>
                      <a:srgbClr val="78350F"/>
                    </a:solidFill>
                    <a:latin typeface="Arial"/>
                  </a:rPr>
                  <a:t>; accept a root only if it lies in its own interval.</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Case I: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i.e.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73</m:t>
                            </m:r>
                          </m:e>
                        </m:rad>
                      </m:num>
                      <m:den>
                        <m:r>
                          <a:rPr lang="en-IN" sz="2400" i="1">
                            <a:solidFill>
                              <a:srgbClr val="111827"/>
                            </a:solidFill>
                            <a:latin typeface="Cambria Math" panose="02040503050406030204" pitchFamily="18" charset="0"/>
                          </a:rPr>
                          <m:t>2</m:t>
                        </m:r>
                      </m:den>
                    </m:f>
                  </m:oMath>
                </a14:m>
                <a:r>
                  <a:rPr sz="2400" b="0">
                    <a:solidFill>
                      <a:srgbClr val="111827"/>
                    </a:solidFill>
                    <a:latin typeface="Arial"/>
                  </a:rPr>
                  <a:t>. Only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73</m:t>
                            </m:r>
                          </m:e>
                        </m:rad>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is accepted.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II: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Then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i.e.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Its discriminant is </a:t>
                </a:r>
                <a14:m>
                  <m:oMath xmlns:m="http://schemas.openxmlformats.org/officeDocument/2006/math">
                    <m:r>
                      <a:rPr lang="en-IN" sz="2400" i="1">
                        <a:solidFill>
                          <a:srgbClr val="111827"/>
                        </a:solidFill>
                        <a:latin typeface="Cambria Math" panose="02040503050406030204" pitchFamily="18" charset="0"/>
                      </a:rPr>
                      <m:t>49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72</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so there is no real root in this case.</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Case I: </a:t>
                </a:r>
                <a:r>
                  <a:rPr lang="en-IN" sz="2400">
                    <a:solidFill>
                      <a:srgbClr val="111827"/>
                    </a:solidFill>
                    <a:latin typeface="Cambria Math" panose="02040503050406030204" pitchFamily="18" charset="0"/>
                  </a:rPr>
                  <a:t>$x\ge0$</a:t>
                </a:r>
                <a:r>
                  <a:rPr sz="2400" b="0">
                    <a:solidFill>
                      <a:srgbClr val="111827"/>
                    </a:solidFill>
                    <a:latin typeface="Arial"/>
                  </a:rPr>
                  <a:t>. Then </a:t>
                </a:r>
                <a:r>
                  <a:rPr lang="en-IN" sz="2400">
                    <a:solidFill>
                      <a:srgbClr val="111827"/>
                    </a:solidFill>
                    <a:latin typeface="Cambria Math" panose="02040503050406030204" pitchFamily="18" charset="0"/>
                  </a:rPr>
                  <a:t>$(x-3)(x+4)=6$</a:t>
                </a:r>
                <a:r>
                  <a:rPr sz="2400" b="0">
                    <a:solidFill>
                      <a:srgbClr val="111827"/>
                    </a:solidFill>
                    <a:latin typeface="Arial"/>
                  </a:rPr>
                  <a:t>, i.e. </a:t>
                </a:r>
                <a:r>
                  <a:rPr lang="en-IN" sz="2400">
                    <a:solidFill>
                      <a:srgbClr val="111827"/>
                    </a:solidFill>
                    <a:latin typeface="Cambria Math" panose="02040503050406030204" pitchFamily="18" charset="0"/>
                  </a:rPr>
                  <a:t>$x^2+x-12=6$</a:t>
                </a:r>
                <a:r>
                  <a:rPr sz="2400" b="0">
                    <a:solidFill>
                      <a:srgbClr val="111827"/>
                    </a:solidFill>
                    <a:latin typeface="Arial"/>
                  </a:rPr>
                  <a:t>, so </a:t>
                </a:r>
                <a:r>
                  <a:rPr lang="en-IN" sz="2400">
                    <a:solidFill>
                      <a:srgbClr val="111827"/>
                    </a:solidFill>
                    <a:latin typeface="Cambria Math" panose="02040503050406030204" pitchFamily="18" charset="0"/>
                  </a:rPr>
                  <a:t>$x^2+x-18=0$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$x=\frac{-1\pm\sqrt{73}}{2}$</a:t>
                </a:r>
                <a:r>
                  <a:rPr sz="2400" b="0">
                    <a:solidFill>
                      <a:srgbClr val="111827"/>
                    </a:solidFill>
                    <a:latin typeface="Arial"/>
                  </a:rPr>
                  <a:t>. Only </a:t>
                </a:r>
                <a:r>
                  <a:rPr lang="en-IN" sz="2400">
                    <a:solidFill>
                      <a:srgbClr val="111827"/>
                    </a:solidFill>
                    <a:latin typeface="Cambria Math" panose="02040503050406030204" pitchFamily="18" charset="0"/>
                  </a:rPr>
                  <a:t>$x=\frac{-1+\sqrt{73}}{2}&gt;0$</a:t>
                </a:r>
                <a:r>
                  <a:rPr sz="2400" b="0">
                    <a:solidFill>
                      <a:srgbClr val="111827"/>
                    </a:solidFill>
                    <a:latin typeface="Arial"/>
                  </a:rPr>
                  <a:t> is accepted.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II: </a:t>
                </a:r>
                <a:r>
                  <a:rPr lang="en-IN" sz="2400">
                    <a:solidFill>
                      <a:srgbClr val="111827"/>
                    </a:solidFill>
                    <a:latin typeface="Cambria Math" panose="02040503050406030204" pitchFamily="18" charset="0"/>
                  </a:rPr>
                  <a:t>$-4\le x&lt;0$</a:t>
                </a:r>
                <a:r>
                  <a:rPr sz="2400" b="0">
                    <a:solidFill>
                      <a:srgbClr val="111827"/>
                    </a:solidFill>
                    <a:latin typeface="Arial"/>
                  </a:rPr>
                  <a:t>. Then </a:t>
                </a:r>
                <a:r>
                  <a:rPr lang="en-IN" sz="2400">
                    <a:solidFill>
                      <a:srgbClr val="111827"/>
                    </a:solidFill>
                    <a:latin typeface="Cambria Math" panose="02040503050406030204" pitchFamily="18" charset="0"/>
                  </a:rPr>
                  <a:t>$(-x-3)(x+4)=6$</a:t>
                </a:r>
                <a:r>
                  <a:rPr sz="2400" b="0">
                    <a:solidFill>
                      <a:srgbClr val="111827"/>
                    </a:solidFill>
                    <a:latin typeface="Arial"/>
                  </a:rPr>
                  <a:t>, i.e. </a:t>
                </a:r>
                <a:r>
                  <a:rPr lang="en-IN" sz="2400">
                    <a:solidFill>
                      <a:srgbClr val="111827"/>
                    </a:solidFill>
                    <a:latin typeface="Cambria Math" panose="02040503050406030204" pitchFamily="18" charset="0"/>
                  </a:rPr>
                  <a:t>$-(x^2+7x+12)=6$</a:t>
                </a:r>
                <a:r>
                  <a:rPr sz="2400" b="0">
                    <a:solidFill>
                      <a:srgbClr val="111827"/>
                    </a:solidFill>
                    <a:latin typeface="Arial"/>
                  </a:rPr>
                  <a:t>, so </a:t>
                </a:r>
                <a:r>
                  <a:rPr lang="en-IN" sz="2400">
                    <a:solidFill>
                      <a:srgbClr val="111827"/>
                    </a:solidFill>
                    <a:latin typeface="Cambria Math" panose="02040503050406030204" pitchFamily="18" charset="0"/>
                  </a:rPr>
                  <a:t>$x^2+7x+18=0$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Its discriminant is </a:t>
                </a:r>
                <a:r>
                  <a:rPr lang="en-IN" sz="2400">
                    <a:solidFill>
                      <a:srgbClr val="111827"/>
                    </a:solidFill>
                    <a:latin typeface="Cambria Math" panose="02040503050406030204" pitchFamily="18" charset="0"/>
                  </a:rPr>
                  <a:t>$49-72&lt;0$</a:t>
                </a:r>
                <a:r>
                  <a:rPr sz="2400" b="0">
                    <a:solidFill>
                      <a:srgbClr val="111827"/>
                    </a:solidFill>
                    <a:latin typeface="Arial"/>
                  </a:rPr>
                  <a:t>, so there is no real root in this case.</a:t>
                </a:r>
                <a:endParaRPr sz="2400">
                  <a:solidFill>
                    <a:srgbClr val="111827"/>
                  </a:solidFill>
                </a:endParaRPr>
              </a:p>
            </p:txBody>
          </p:sp>
        </mc:Fallback>
      </mc:AlternateContent>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Case III: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Then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i.e.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Since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is rejected and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is accepted.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set has exactly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elements: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73</m:t>
                            </m:r>
                          </m:e>
                        </m:rad>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Option (A).</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Case III: </a:t>
                </a:r>
                <a:r>
                  <a:rPr lang="en-IN" sz="2400">
                    <a:solidFill>
                      <a:srgbClr val="111827"/>
                    </a:solidFill>
                    <a:latin typeface="Cambria Math" panose="02040503050406030204" pitchFamily="18" charset="0"/>
                  </a:rPr>
                  <a:t>$x&lt;-4$</a:t>
                </a:r>
                <a:r>
                  <a:rPr sz="2400" b="0">
                    <a:solidFill>
                      <a:srgbClr val="111827"/>
                    </a:solidFill>
                    <a:latin typeface="Arial"/>
                  </a:rPr>
                  <a:t>. Then </a:t>
                </a:r>
                <a:r>
                  <a:rPr lang="en-IN" sz="2400">
                    <a:solidFill>
                      <a:srgbClr val="111827"/>
                    </a:solidFill>
                    <a:latin typeface="Cambria Math" panose="02040503050406030204" pitchFamily="18" charset="0"/>
                  </a:rPr>
                  <a:t>$(-x-3)(-x-4)=6$</a:t>
                </a:r>
                <a:r>
                  <a:rPr sz="2400" b="0">
                    <a:solidFill>
                      <a:srgbClr val="111827"/>
                    </a:solidFill>
                    <a:latin typeface="Arial"/>
                  </a:rPr>
                  <a:t>, i.e. </a:t>
                </a:r>
                <a:r>
                  <a:rPr lang="en-IN" sz="2400">
                    <a:solidFill>
                      <a:srgbClr val="111827"/>
                    </a:solidFill>
                    <a:latin typeface="Cambria Math" panose="02040503050406030204" pitchFamily="18" charset="0"/>
                  </a:rPr>
                  <a:t>$x^2+7x+12=6$</a:t>
                </a:r>
                <a:r>
                  <a:rPr sz="2400" b="0">
                    <a:solidFill>
                      <a:srgbClr val="111827"/>
                    </a:solidFill>
                    <a:latin typeface="Arial"/>
                  </a:rPr>
                  <a:t>, so </a:t>
                </a:r>
                <a:r>
                  <a:rPr lang="en-IN" sz="2400">
                    <a:solidFill>
                      <a:srgbClr val="111827"/>
                    </a:solidFill>
                    <a:latin typeface="Cambria Math" panose="02040503050406030204" pitchFamily="18" charset="0"/>
                  </a:rPr>
                  <a:t>$x^2+7x+6=0$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$(x+1)(x+6)=0$</a:t>
                </a:r>
                <a:r>
                  <a:rPr sz="2400" b="0">
                    <a:solidFill>
                      <a:srgbClr val="111827"/>
                    </a:solidFill>
                    <a:latin typeface="Arial"/>
                  </a:rPr>
                  <a:t> gives </a:t>
                </a:r>
                <a:r>
                  <a:rPr lang="en-IN" sz="2400">
                    <a:solidFill>
                      <a:srgbClr val="111827"/>
                    </a:solidFill>
                    <a:latin typeface="Cambria Math" panose="02040503050406030204" pitchFamily="18" charset="0"/>
                  </a:rPr>
                  <a:t>$x=-1$</a:t>
                </a:r>
                <a:r>
                  <a:rPr sz="2400" b="0">
                    <a:solidFill>
                      <a:srgbClr val="111827"/>
                    </a:solidFill>
                    <a:latin typeface="Arial"/>
                  </a:rPr>
                  <a:t> or </a:t>
                </a:r>
                <a:r>
                  <a:rPr lang="en-IN" sz="2400">
                    <a:solidFill>
                      <a:srgbClr val="111827"/>
                    </a:solidFill>
                    <a:latin typeface="Cambria Math" panose="02040503050406030204" pitchFamily="18" charset="0"/>
                  </a:rPr>
                  <a:t>$x=-6$</a:t>
                </a:r>
                <a:r>
                  <a:rPr sz="2400" b="0">
                    <a:solidFill>
                      <a:srgbClr val="111827"/>
                    </a:solidFill>
                    <a:latin typeface="Arial"/>
                  </a:rPr>
                  <a:t>. Since </a:t>
                </a:r>
                <a:r>
                  <a:rPr lang="en-IN" sz="2400">
                    <a:solidFill>
                      <a:srgbClr val="111827"/>
                    </a:solidFill>
                    <a:latin typeface="Cambria Math" panose="02040503050406030204" pitchFamily="18" charset="0"/>
                  </a:rPr>
                  <a:t>$x&lt;-4$</a:t>
                </a:r>
                <a:r>
                  <a:rPr sz="2400" b="0">
                    <a:solidFill>
                      <a:srgbClr val="111827"/>
                    </a:solidFill>
                    <a:latin typeface="Arial"/>
                  </a:rPr>
                  <a:t>, </a:t>
                </a:r>
                <a:r>
                  <a:rPr lang="en-IN" sz="2400">
                    <a:solidFill>
                      <a:srgbClr val="111827"/>
                    </a:solidFill>
                    <a:latin typeface="Cambria Math" panose="02040503050406030204" pitchFamily="18" charset="0"/>
                  </a:rPr>
                  <a:t>$x=-1$</a:t>
                </a:r>
                <a:r>
                  <a:rPr sz="2400" b="0">
                    <a:solidFill>
                      <a:srgbClr val="111827"/>
                    </a:solidFill>
                    <a:latin typeface="Arial"/>
                  </a:rPr>
                  <a:t> is rejected and </a:t>
                </a:r>
                <a:r>
                  <a:rPr lang="en-IN" sz="2400">
                    <a:solidFill>
                      <a:srgbClr val="111827"/>
                    </a:solidFill>
                    <a:latin typeface="Cambria Math" panose="02040503050406030204" pitchFamily="18" charset="0"/>
                  </a:rPr>
                  <a:t>$x=-6$</a:t>
                </a:r>
                <a:r>
                  <a:rPr sz="2400" b="0">
                    <a:solidFill>
                      <a:srgbClr val="111827"/>
                    </a:solidFill>
                    <a:latin typeface="Arial"/>
                  </a:rPr>
                  <a:t> is accepted.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set has exactly </a:t>
                </a:r>
                <a:r>
                  <a:rPr lang="en-IN" sz="2400">
                    <a:solidFill>
                      <a:srgbClr val="111827"/>
                    </a:solidFill>
                    <a:latin typeface="Cambria Math" panose="02040503050406030204" pitchFamily="18" charset="0"/>
                  </a:rPr>
                  <a:t>$2$</a:t>
                </a:r>
                <a:r>
                  <a:rPr sz="2400" b="0">
                    <a:solidFill>
                      <a:srgbClr val="111827"/>
                    </a:solidFill>
                    <a:latin typeface="Arial"/>
                  </a:rPr>
                  <a:t> elements: </a:t>
                </a:r>
                <a:r>
                  <a:rPr lang="en-IN" sz="2400">
                    <a:solidFill>
                      <a:srgbClr val="111827"/>
                    </a:solidFill>
                    <a:latin typeface="Cambria Math" panose="02040503050406030204" pitchFamily="18" charset="0"/>
                  </a:rPr>
                  <a:t>$\frac{-1+\sqrt{73}}{2}$</a:t>
                </a:r>
                <a:r>
                  <a:rPr sz="2400" b="0">
                    <a:solidFill>
                      <a:srgbClr val="111827"/>
                    </a:solidFill>
                    <a:latin typeface="Arial"/>
                  </a:rPr>
                  <a:t> and </a:t>
                </a:r>
                <a:r>
                  <a:rPr lang="en-IN" sz="2400">
                    <a:solidFill>
                      <a:srgbClr val="111827"/>
                    </a:solidFill>
                    <a:latin typeface="Cambria Math" panose="02040503050406030204" pitchFamily="18" charset="0"/>
                  </a:rPr>
                  <a:t>$-6$</a:t>
                </a:r>
                <a:r>
                  <a:rPr sz="2400" b="0">
                    <a:solidFill>
                      <a:srgbClr val="111827"/>
                    </a:solidFill>
                    <a:latin typeface="Arial"/>
                  </a:rPr>
                  <a:t>. Option (A).</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2</a:t>
            </a:r>
            <a:endParaRPr sz="2800">
              <a:solidFill>
                <a:srgbClr val="15803D"/>
              </a:solidFill>
            </a:endParaRP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Graph </a:t>
                </a:r>
                <a14:m>
                  <m:oMath xmlns:m="http://schemas.openxmlformats.org/officeDocument/2006/math">
                    <m:r>
                      <a:rPr lang="en-IN" sz="2400" i="1">
                        <a:solidFill>
                          <a:srgbClr val="78350F"/>
                        </a:solidFill>
                        <a:latin typeface="Cambria Math" panose="02040503050406030204" pitchFamily="18" charset="0"/>
                      </a:rPr>
                      <m:t>𝑓</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and count intersections with </a:t>
                </a:r>
                <a14:m>
                  <m:oMath xmlns:m="http://schemas.openxmlformats.org/officeDocument/2006/math">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m:t>
                    </m:r>
                  </m:oMath>
                </a14:m>
                <a:r>
                  <a:rPr sz="2400" b="0">
                    <a:solidFill>
                      <a:srgbClr val="78350F"/>
                    </a:solidFill>
                    <a:latin typeface="Arial"/>
                  </a:rPr>
                  <a:t> using monotonicity on each piece.</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Graph </a:t>
                </a:r>
                <a:r>
                  <a:rPr lang="en-IN" sz="2400">
                    <a:solidFill>
                      <a:srgbClr val="78350F"/>
                    </a:solidFill>
                    <a:latin typeface="Cambria Math" panose="02040503050406030204" pitchFamily="18" charset="0"/>
                  </a:rPr>
                  <a:t>$f(x)=(|x|-3)|x+4|$</a:t>
                </a:r>
                <a:r>
                  <a:rPr sz="2400" b="0">
                    <a:solidFill>
                      <a:srgbClr val="78350F"/>
                    </a:solidFill>
                    <a:latin typeface="Arial"/>
                  </a:rPr>
                  <a:t> and count intersections with </a:t>
                </a:r>
                <a:r>
                  <a:rPr lang="en-IN" sz="2400">
                    <a:solidFill>
                      <a:srgbClr val="78350F"/>
                    </a:solidFill>
                    <a:latin typeface="Cambria Math" panose="02040503050406030204" pitchFamily="18" charset="0"/>
                  </a:rPr>
                  <a:t>$y=6$</a:t>
                </a:r>
                <a:r>
                  <a:rPr sz="2400" b="0">
                    <a:solidFill>
                      <a:srgbClr val="78350F"/>
                    </a:solidFill>
                    <a:latin typeface="Arial"/>
                  </a:rPr>
                  <a:t> using monotonicity on each piece.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is strictly increasing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from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to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it crosses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exactly once.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 downward parabola with maximum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𝑓</m:t>
                        </m:r>
                      </m:e>
                      <m:sub>
                        <m:r>
                          <m:rPr>
                            <m:sty m:val="p"/>
                          </m:rPr>
                          <a:rPr lang="en-IN" sz="2400">
                            <a:solidFill>
                              <a:srgbClr val="111827"/>
                            </a:solidFill>
                            <a:latin typeface="Cambria Math" panose="02040503050406030204" pitchFamily="18" charset="0"/>
                          </a:rPr>
                          <m:t>max</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0.25</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6</m:t>
                    </m:r>
                  </m:oMath>
                </a14:m>
                <a:r>
                  <a:rPr sz="2400" b="0">
                    <a:solidFill>
                      <a:srgbClr val="111827"/>
                    </a:solidFill>
                    <a:latin typeface="Arial"/>
                  </a:rPr>
                  <a:t>. No intersection.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decreases from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it crosses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exactly once.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intersections: option (A).</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$x\ge0$</a:t>
                </a:r>
                <a:r>
                  <a:rPr sz="2400" b="0">
                    <a:solidFill>
                      <a:srgbClr val="111827"/>
                    </a:solidFill>
                    <a:latin typeface="Arial"/>
                  </a:rPr>
                  <a:t>: </a:t>
                </a:r>
                <a:r>
                  <a:rPr lang="en-IN" sz="2400">
                    <a:solidFill>
                      <a:srgbClr val="111827"/>
                    </a:solidFill>
                    <a:latin typeface="Cambria Math" panose="02040503050406030204" pitchFamily="18" charset="0"/>
                  </a:rPr>
                  <a:t>$f=(x-3)(x+4)=x^2+x-12$</a:t>
                </a:r>
                <a:r>
                  <a:rPr sz="2400" b="0">
                    <a:solidFill>
                      <a:srgbClr val="111827"/>
                    </a:solidFill>
                    <a:latin typeface="Arial"/>
                  </a:rPr>
                  <a:t> is strictly increasing (</a:t>
                </a:r>
                <a:r>
                  <a:rPr lang="en-IN" sz="2400">
                    <a:solidFill>
                      <a:srgbClr val="111827"/>
                    </a:solidFill>
                    <a:latin typeface="Cambria Math" panose="02040503050406030204" pitchFamily="18" charset="0"/>
                  </a:rPr>
                  <a:t>$f'=2x+1&gt;0$</a:t>
                </a:r>
                <a:r>
                  <a:rPr sz="2400" b="0">
                    <a:solidFill>
                      <a:srgbClr val="111827"/>
                    </a:solidFill>
                    <a:latin typeface="Arial"/>
                  </a:rPr>
                  <a:t>) from </a:t>
                </a:r>
                <a:r>
                  <a:rPr lang="en-IN" sz="2400">
                    <a:solidFill>
                      <a:srgbClr val="111827"/>
                    </a:solidFill>
                    <a:latin typeface="Cambria Math" panose="02040503050406030204" pitchFamily="18" charset="0"/>
                  </a:rPr>
                  <a:t>$f(0)=-12$</a:t>
                </a:r>
                <a:r>
                  <a:rPr sz="2400" b="0">
                    <a:solidFill>
                      <a:srgbClr val="111827"/>
                    </a:solidFill>
                    <a:latin typeface="Arial"/>
                  </a:rPr>
                  <a:t> to </a:t>
                </a:r>
                <a:r>
                  <a:rPr lang="en-IN" sz="2400">
                    <a:solidFill>
                      <a:srgbClr val="111827"/>
                    </a:solidFill>
                    <a:latin typeface="Cambria Math" panose="02040503050406030204" pitchFamily="18" charset="0"/>
                  </a:rPr>
                  <a:t>$\infty$</a:t>
                </a:r>
                <a:r>
                  <a:rPr sz="2400" b="0">
                    <a:solidFill>
                      <a:srgbClr val="111827"/>
                    </a:solidFill>
                    <a:latin typeface="Arial"/>
                  </a:rPr>
                  <a:t>: it crosses </a:t>
                </a:r>
                <a:r>
                  <a:rPr lang="en-IN" sz="2400">
                    <a:solidFill>
                      <a:srgbClr val="111827"/>
                    </a:solidFill>
                    <a:latin typeface="Cambria Math" panose="02040503050406030204" pitchFamily="18" charset="0"/>
                  </a:rPr>
                  <a:t>$y=6$</a:t>
                </a:r>
                <a:r>
                  <a:rPr sz="2400" b="0">
                    <a:solidFill>
                      <a:srgbClr val="111827"/>
                    </a:solidFill>
                    <a:latin typeface="Arial"/>
                  </a:rPr>
                  <a:t> exactly once.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$-4\le x&lt;0$</a:t>
                </a:r>
                <a:r>
                  <a:rPr sz="2400" b="0">
                    <a:solidFill>
                      <a:srgbClr val="111827"/>
                    </a:solidFill>
                    <a:latin typeface="Arial"/>
                  </a:rPr>
                  <a:t>: </a:t>
                </a:r>
                <a:r>
                  <a:rPr lang="en-IN" sz="2400">
                    <a:solidFill>
                      <a:srgbClr val="111827"/>
                    </a:solidFill>
                    <a:latin typeface="Cambria Math" panose="02040503050406030204" pitchFamily="18" charset="0"/>
                  </a:rPr>
                  <a:t>$f=-(x+3)(x+4)$</a:t>
                </a:r>
                <a:r>
                  <a:rPr sz="2400" b="0">
                    <a:solidFill>
                      <a:srgbClr val="111827"/>
                    </a:solidFill>
                    <a:latin typeface="Arial"/>
                  </a:rPr>
                  <a:t> is a downward parabola with maximum at </a:t>
                </a:r>
                <a:r>
                  <a:rPr lang="en-IN" sz="2400">
                    <a:solidFill>
                      <a:srgbClr val="111827"/>
                    </a:solidFill>
                    <a:latin typeface="Cambria Math" panose="02040503050406030204" pitchFamily="18" charset="0"/>
                  </a:rPr>
                  <a:t>$x=-3.5$</a:t>
                </a:r>
                <a:r>
                  <a:rPr sz="2400" b="0">
                    <a:solidFill>
                      <a:srgbClr val="111827"/>
                    </a:solidFill>
                    <a:latin typeface="Arial"/>
                  </a:rPr>
                  <a:t>: </a:t>
                </a:r>
                <a:r>
                  <a:rPr lang="en-IN" sz="2400">
                    <a:solidFill>
                      <a:srgbClr val="111827"/>
                    </a:solidFill>
                    <a:latin typeface="Cambria Math" panose="02040503050406030204" pitchFamily="18" charset="0"/>
                  </a:rPr>
                  <a:t>$f_{\max}=0.25&lt;6$</a:t>
                </a:r>
                <a:r>
                  <a:rPr sz="2400" b="0">
                    <a:solidFill>
                      <a:srgbClr val="111827"/>
                    </a:solidFill>
                    <a:latin typeface="Arial"/>
                  </a:rPr>
                  <a:t>. No intersection.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$x&lt;-4$</a:t>
                </a:r>
                <a:r>
                  <a:rPr sz="2400" b="0">
                    <a:solidFill>
                      <a:srgbClr val="111827"/>
                    </a:solidFill>
                    <a:latin typeface="Arial"/>
                  </a:rPr>
                  <a:t>: </a:t>
                </a:r>
                <a:r>
                  <a:rPr lang="en-IN" sz="2400">
                    <a:solidFill>
                      <a:srgbClr val="111827"/>
                    </a:solidFill>
                    <a:latin typeface="Cambria Math" panose="02040503050406030204" pitchFamily="18" charset="0"/>
                  </a:rPr>
                  <a:t>$f=(x+3)(x+4)$</a:t>
                </a:r>
                <a:r>
                  <a:rPr sz="2400" b="0">
                    <a:solidFill>
                      <a:srgbClr val="111827"/>
                    </a:solidFill>
                    <a:latin typeface="Arial"/>
                  </a:rPr>
                  <a:t> with </a:t>
                </a:r>
                <a:r>
                  <a:rPr lang="en-IN" sz="2400">
                    <a:solidFill>
                      <a:srgbClr val="111827"/>
                    </a:solidFill>
                    <a:latin typeface="Cambria Math" panose="02040503050406030204" pitchFamily="18" charset="0"/>
                  </a:rPr>
                  <a:t>$f'=2x+7&lt;0$</a:t>
                </a:r>
                <a:r>
                  <a:rPr sz="2400" b="0">
                    <a:solidFill>
                      <a:srgbClr val="111827"/>
                    </a:solidFill>
                    <a:latin typeface="Arial"/>
                  </a:rPr>
                  <a:t>, so </a:t>
                </a:r>
                <a:r>
                  <a:rPr lang="en-IN" sz="2400">
                    <a:solidFill>
                      <a:srgbClr val="111827"/>
                    </a:solidFill>
                    <a:latin typeface="Cambria Math" panose="02040503050406030204" pitchFamily="18" charset="0"/>
                  </a:rPr>
                  <a:t>$f$</a:t>
                </a:r>
                <a:r>
                  <a:rPr sz="2400" b="0">
                    <a:solidFill>
                      <a:srgbClr val="111827"/>
                    </a:solidFill>
                    <a:latin typeface="Arial"/>
                  </a:rPr>
                  <a:t> decreases from </a:t>
                </a:r>
                <a:r>
                  <a:rPr lang="en-IN" sz="2400">
                    <a:solidFill>
                      <a:srgbClr val="111827"/>
                    </a:solidFill>
                    <a:latin typeface="Cambria Math" panose="02040503050406030204" pitchFamily="18" charset="0"/>
                  </a:rPr>
                  <a:t>$+\infty$</a:t>
                </a:r>
                <a:r>
                  <a:rPr sz="2400" b="0">
                    <a:solidFill>
                      <a:srgbClr val="111827"/>
                    </a:solidFill>
                    <a:latin typeface="Arial"/>
                  </a:rPr>
                  <a:t> (as </a:t>
                </a:r>
                <a:r>
                  <a:rPr lang="en-IN" sz="2400">
                    <a:solidFill>
                      <a:srgbClr val="111827"/>
                    </a:solidFill>
                    <a:latin typeface="Cambria Math" panose="02040503050406030204" pitchFamily="18" charset="0"/>
                  </a:rPr>
                  <a:t>$x\to-\infty$</a:t>
                </a:r>
                <a:r>
                  <a:rPr sz="2400" b="0">
                    <a:solidFill>
                      <a:srgbClr val="111827"/>
                    </a:solidFill>
                    <a:latin typeface="Arial"/>
                  </a:rPr>
                  <a:t>) to </a:t>
                </a:r>
                <a:r>
                  <a:rPr lang="en-IN" sz="2400">
                    <a:solidFill>
                      <a:srgbClr val="111827"/>
                    </a:solidFill>
                    <a:latin typeface="Cambria Math" panose="02040503050406030204" pitchFamily="18" charset="0"/>
                  </a:rPr>
                  <a:t>$f(-4)=0$</a:t>
                </a:r>
                <a:r>
                  <a:rPr sz="2400" b="0">
                    <a:solidFill>
                      <a:srgbClr val="111827"/>
                    </a:solidFill>
                    <a:latin typeface="Arial"/>
                  </a:rPr>
                  <a:t>: it crosses </a:t>
                </a:r>
                <a:r>
                  <a:rPr lang="en-IN" sz="2400">
                    <a:solidFill>
                      <a:srgbClr val="111827"/>
                    </a:solidFill>
                    <a:latin typeface="Cambria Math" panose="02040503050406030204" pitchFamily="18" charset="0"/>
                  </a:rPr>
                  <a:t>$y=6$</a:t>
                </a:r>
                <a:r>
                  <a:rPr sz="2400" b="0">
                    <a:solidFill>
                      <a:srgbClr val="111827"/>
                    </a:solidFill>
                    <a:latin typeface="Arial"/>
                  </a:rPr>
                  <a:t> exactly once.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$=1+0+1=2$</a:t>
                </a:r>
                <a:r>
                  <a:rPr sz="2400" b="0">
                    <a:solidFill>
                      <a:srgbClr val="111827"/>
                    </a:solidFill>
                    <a:latin typeface="Arial"/>
                  </a:rPr>
                  <a:t> intersections: option (A).</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2</a:t>
            </a:r>
            <a:endParaRPr sz="2800">
              <a:solidFill>
                <a:srgbClr val="15803D"/>
              </a:solidFill>
            </a:endParaRP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an equation with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split at the critical points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and check every root against its own interval.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quadratic piece with discriminant </a:t>
                </a:r>
                <a14:m>
                  <m:oMath xmlns:m="http://schemas.openxmlformats.org/officeDocument/2006/math">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gives no root; a monotone piece reaching the target level gives exactly one.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73</m:t>
                            </m:r>
                          </m:e>
                        </m:rad>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3.77</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0.77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7.77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an equation with </a:t>
                </a:r>
                <a:r>
                  <a:rPr lang="en-IN" sz="2400">
                    <a:solidFill>
                      <a:srgbClr val="111827"/>
                    </a:solidFill>
                    <a:latin typeface="Cambria Math" panose="02040503050406030204" pitchFamily="18" charset="0"/>
                  </a:rPr>
                  <a:t>$|x|$</a:t>
                </a:r>
                <a:r>
                  <a:rPr sz="2400" b="0">
                    <a:solidFill>
                      <a:srgbClr val="111827"/>
                    </a:solidFill>
                    <a:latin typeface="Arial"/>
                  </a:rPr>
                  <a:t> and </a:t>
                </a:r>
                <a:r>
                  <a:rPr lang="en-IN" sz="2400">
                    <a:solidFill>
                      <a:srgbClr val="111827"/>
                    </a:solidFill>
                    <a:latin typeface="Cambria Math" panose="02040503050406030204" pitchFamily="18" charset="0"/>
                  </a:rPr>
                  <a:t>$|x+4|$</a:t>
                </a:r>
                <a:r>
                  <a:rPr sz="2400" b="0">
                    <a:solidFill>
                      <a:srgbClr val="111827"/>
                    </a:solidFill>
                    <a:latin typeface="Arial"/>
                  </a:rPr>
                  <a:t>, split at the critical points </a:t>
                </a:r>
                <a:r>
                  <a:rPr lang="en-IN" sz="2400">
                    <a:solidFill>
                      <a:srgbClr val="111827"/>
                    </a:solidFill>
                    <a:latin typeface="Cambria Math" panose="02040503050406030204" pitchFamily="18" charset="0"/>
                  </a:rPr>
                  <a:t>$0$</a:t>
                </a:r>
                <a:r>
                  <a:rPr sz="2400" b="0">
                    <a:solidFill>
                      <a:srgbClr val="111827"/>
                    </a:solidFill>
                    <a:latin typeface="Arial"/>
                  </a:rPr>
                  <a:t> and </a:t>
                </a:r>
                <a:r>
                  <a:rPr lang="en-IN" sz="2400">
                    <a:solidFill>
                      <a:srgbClr val="111827"/>
                    </a:solidFill>
                    <a:latin typeface="Cambria Math" panose="02040503050406030204" pitchFamily="18" charset="0"/>
                  </a:rPr>
                  <a:t>$-4$</a:t>
                </a:r>
                <a:r>
                  <a:rPr sz="2400" b="0">
                    <a:solidFill>
                      <a:srgbClr val="111827"/>
                    </a:solidFill>
                    <a:latin typeface="Arial"/>
                  </a:rPr>
                  <a:t> and check every root against its own interval.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quadratic piece with discriminant </a:t>
                </a:r>
                <a:r>
                  <a:rPr lang="en-IN" sz="2400">
                    <a:solidFill>
                      <a:srgbClr val="111827"/>
                    </a:solidFill>
                    <a:latin typeface="Cambria Math" panose="02040503050406030204" pitchFamily="18" charset="0"/>
                  </a:rPr>
                  <a:t>$&lt;0$</a:t>
                </a:r>
                <a:r>
                  <a:rPr sz="2400" b="0">
                    <a:solidFill>
                      <a:srgbClr val="111827"/>
                    </a:solidFill>
                    <a:latin typeface="Arial"/>
                  </a:rPr>
                  <a:t> gives no root; a monotone piece reaching the target level gives exactly one.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$x=-6$</a:t>
                </a:r>
                <a:r>
                  <a:rPr sz="2400" b="0">
                    <a:solidFill>
                      <a:srgbClr val="111827"/>
                    </a:solidFill>
                    <a:latin typeface="Arial"/>
                  </a:rPr>
                  <a:t>: </a:t>
                </a:r>
                <a:r>
                  <a:rPr lang="en-IN" sz="2400">
                    <a:solidFill>
                      <a:srgbClr val="111827"/>
                    </a:solidFill>
                    <a:latin typeface="Cambria Math" panose="02040503050406030204" pitchFamily="18" charset="0"/>
                  </a:rPr>
                  <a:t>$(6-3)\cdot|{-2}|=3\cdot2=6$</a:t>
                </a:r>
                <a:r>
                  <a:rPr sz="2400" b="0">
                    <a:solidFill>
                      <a:srgbClr val="111827"/>
                    </a:solidFill>
                    <a:latin typeface="Arial"/>
                  </a:rPr>
                  <a:t>; </a:t>
                </a:r>
                <a:r>
                  <a:rPr lang="en-IN" sz="2400">
                    <a:solidFill>
                      <a:srgbClr val="111827"/>
                    </a:solidFill>
                    <a:latin typeface="Cambria Math" panose="02040503050406030204" pitchFamily="18" charset="0"/>
                  </a:rPr>
                  <a:t>$x=\frac{-1+\sqrt{73}}2\approx3.77$</a:t>
                </a:r>
                <a:r>
                  <a:rPr sz="2400" b="0">
                    <a:solidFill>
                      <a:srgbClr val="111827"/>
                    </a:solidFill>
                    <a:latin typeface="Arial"/>
                  </a:rPr>
                  <a:t>: </a:t>
                </a:r>
                <a:r>
                  <a:rPr lang="en-IN" sz="2400">
                    <a:solidFill>
                      <a:srgbClr val="111827"/>
                    </a:solidFill>
                    <a:latin typeface="Cambria Math" panose="02040503050406030204" pitchFamily="18" charset="0"/>
                  </a:rPr>
                  <a:t>$(0.77)(7.77)\approx6$</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3776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m:rPr>
                        <m:scr m:val="double-struck"/>
                        <m:sty m:val="p"/>
                      </m:rPr>
                      <a:rPr lang="en-IN" sz="2400">
                        <a:solidFill>
                          <a:srgbClr val="111827"/>
                        </a:solidFill>
                        <a:latin typeface="Cambria Math" panose="02040503050406030204" pitchFamily="18" charset="0"/>
                      </a:rPr>
                      <m:t>N</m:t>
                    </m:r>
                  </m:oMath>
                </a14:m>
                <a:r>
                  <a:rPr sz="2400" b="0">
                    <a:solidFill>
                      <a:srgbClr val="111827"/>
                    </a:solidFill>
                    <a:latin typeface="Arial"/>
                  </a:rPr>
                  <a:t> be the set of natural numbers and a relation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on </a:t>
                </a:r>
                <a14:m>
                  <m:oMath xmlns:m="http://schemas.openxmlformats.org/officeDocument/2006/math">
                    <m:r>
                      <m:rPr>
                        <m:scr m:val="double-struck"/>
                        <m:sty m:val="p"/>
                      </m:rPr>
                      <a:rPr lang="en-IN" sz="2400">
                        <a:solidFill>
                          <a:srgbClr val="111827"/>
                        </a:solidFill>
                        <a:latin typeface="Cambria Math" panose="02040503050406030204" pitchFamily="18" charset="0"/>
                      </a:rPr>
                      <m:t>N</m:t>
                    </m:r>
                  </m:oMath>
                </a14:m>
                <a:r>
                  <a:rPr sz="2400" b="0">
                    <a:solidFill>
                      <a:srgbClr val="111827"/>
                    </a:solidFill>
                    <a:latin typeface="Arial"/>
                  </a:rPr>
                  <a:t> be defined by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the relation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reflexive but neither symmetric nor transitive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symmetric but neither reflexive nor transitive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an equivalence relation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reflexive and symmetric, but not transitive</a:t>
                </a:r>
                <a:endParaRPr sz="2400">
                  <a:solidFill>
                    <a:srgbClr val="111827"/>
                  </a:solidFill>
                </a:endParaRPr>
              </a:p>
            </p:txBody>
          </p:sp>
        </mc:Choice>
        <mc:Fallback>
          <p:sp>
            <p:nvSpPr>
              <p:cNvPr id="4" name="Rounded Rectangle 3"/>
              <p:cNvSpPr/>
              <p:nvPr/>
            </p:nvSpPr>
            <p:spPr>
              <a:xfrm>
                <a:off x="731520" y="1280160"/>
                <a:ext cx="10725912" cy="33776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$\mathbb{N}$</a:t>
                </a:r>
                <a:r>
                  <a:rPr sz="2400" b="0">
                    <a:solidFill>
                      <a:srgbClr val="111827"/>
                    </a:solidFill>
                    <a:latin typeface="Arial"/>
                  </a:rPr>
                  <a:t> be the set of natural numbers and a relation </a:t>
                </a:r>
                <a:r>
                  <a:rPr lang="en-IN" sz="2400">
                    <a:solidFill>
                      <a:srgbClr val="111827"/>
                    </a:solidFill>
                    <a:latin typeface="Cambria Math" panose="02040503050406030204" pitchFamily="18" charset="0"/>
                  </a:rPr>
                  <a:t>$R$</a:t>
                </a:r>
                <a:r>
                  <a:rPr sz="2400" b="0">
                    <a:solidFill>
                      <a:srgbClr val="111827"/>
                    </a:solidFill>
                    <a:latin typeface="Arial"/>
                  </a:rPr>
                  <a:t> on </a:t>
                </a:r>
                <a:r>
                  <a:rPr lang="en-IN" sz="2400">
                    <a:solidFill>
                      <a:srgbClr val="111827"/>
                    </a:solidFill>
                    <a:latin typeface="Cambria Math" panose="02040503050406030204" pitchFamily="18" charset="0"/>
                  </a:rPr>
                  <a:t>$\mathbb{N}$</a:t>
                </a:r>
                <a:r>
                  <a:rPr sz="2400" b="0">
                    <a:solidFill>
                      <a:srgbClr val="111827"/>
                    </a:solidFill>
                    <a:latin typeface="Arial"/>
                  </a:rPr>
                  <a:t> be defined by </a:t>
                </a:r>
                <a:r>
                  <a:rPr lang="en-IN" sz="2400">
                    <a:solidFill>
                      <a:srgbClr val="111827"/>
                    </a:solidFill>
                    <a:latin typeface="Cambria Math" panose="02040503050406030204" pitchFamily="18" charset="0"/>
                  </a:rPr>
                  <a:t>$R=\{(x,y)\in\mathbb{N}\times\mathbb{N}:x^3-3x^2y-xy^2+3y^3=0\}$</a:t>
                </a:r>
                <a:r>
                  <a:rPr sz="2400" b="0">
                    <a:solidFill>
                      <a:srgbClr val="111827"/>
                    </a:solidFill>
                    <a:latin typeface="Arial"/>
                  </a:rPr>
                  <a:t>. Then the relation </a:t>
                </a:r>
                <a:r>
                  <a:rPr lang="en-IN" sz="2400">
                    <a:solidFill>
                      <a:srgbClr val="111827"/>
                    </a:solidFill>
                    <a:latin typeface="Cambria Math" panose="02040503050406030204" pitchFamily="18" charset="0"/>
                  </a:rPr>
                  <a:t>$R$</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reflexive but neither symmetric nor transitive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symmetric but neither reflexive nor transitive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an equivalence relation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reflexive and symmetric, but not transitive</a:t>
                </a:r>
                <a:endParaRPr sz="2400">
                  <a:solidFill>
                    <a:srgbClr val="111827"/>
                  </a:solidFill>
                </a:endParaRPr>
              </a:p>
            </p:txBody>
          </p:sp>
        </mc:Fallback>
      </mc:AlternateContent>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p:sp>
        <p:nvSpPr>
          <p:cNvPr id="4" name="Rectangle 3"/>
          <p:cNvSpPr/>
          <p:nvPr/>
        </p:nvSpPr>
        <p:spPr>
          <a:xfrm>
            <a:off x="731520" y="128016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Equivalence relation, Factorisation of polynomials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2.5(A little easier than 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438144"/>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Factor: </a:t>
                </a:r>
                <a14:m>
                  <m:oMath xmlns:m="http://schemas.openxmlformats.org/officeDocument/2006/math">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3</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sSup>
                      <m:e>
                        <m:r>
                          <a:rPr lang="en-IN" sz="2400" i="1">
                            <a:solidFill>
                              <a:srgbClr val="78350F"/>
                            </a:solidFill>
                            <a:latin typeface="Cambria Math" panose="02040503050406030204" pitchFamily="18" charset="0"/>
                          </a:rPr>
                          <m:t>𝑦</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sSup>
                      <m:e>
                        <m:r>
                          <a:rPr lang="en-IN" sz="2400" i="1">
                            <a:solidFill>
                              <a:srgbClr val="78350F"/>
                            </a:solidFill>
                            <a:latin typeface="Cambria Math" panose="02040503050406030204" pitchFamily="18" charset="0"/>
                          </a:rPr>
                          <m:t>𝑦</m:t>
                        </m:r>
                      </m:e>
                      <m:sup>
                        <m:r>
                          <a:rPr lang="en-IN" sz="2400" i="1">
                            <a:solidFill>
                              <a:srgbClr val="78350F"/>
                            </a:solidFill>
                            <a:latin typeface="Cambria Math" panose="02040503050406030204" pitchFamily="18" charset="0"/>
                          </a:rPr>
                          <m:t>3</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so on </a:t>
                </a:r>
                <a14:m>
                  <m:oMath xmlns:m="http://schemas.openxmlformats.org/officeDocument/2006/math">
                    <m:r>
                      <m:rPr>
                        <m:scr m:val="double-struck"/>
                        <m:sty m:val="p"/>
                      </m:rPr>
                      <a:rPr lang="en-IN" sz="2400">
                        <a:solidFill>
                          <a:srgbClr val="78350F"/>
                        </a:solidFill>
                        <a:latin typeface="Cambria Math" panose="02040503050406030204" pitchFamily="18" charset="0"/>
                      </a:rPr>
                      <m:t>N</m:t>
                    </m:r>
                  </m:oMath>
                </a14:m>
                <a:r>
                  <a:rPr sz="2400" b="0">
                    <a:solidFill>
                      <a:srgbClr val="78350F"/>
                    </a:solidFill>
                    <a:latin typeface="Arial"/>
                  </a:rPr>
                  <a:t> the relation is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oMath>
                </a14:m>
                <a:r>
                  <a:rPr sz="2400" b="0">
                    <a:solidFill>
                      <a:srgbClr val="78350F"/>
                    </a:solidFill>
                    <a:latin typeface="Arial"/>
                  </a:rPr>
                  <a:t> or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𝑦</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3438144"/>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Factor: </a:t>
                </a:r>
                <a:r>
                  <a:rPr lang="en-IN" sz="2400">
                    <a:solidFill>
                      <a:srgbClr val="78350F"/>
                    </a:solidFill>
                    <a:latin typeface="Cambria Math" panose="02040503050406030204" pitchFamily="18" charset="0"/>
                  </a:rPr>
                  <a:t>$x^3-3x^2y-xy^2+3y^3=(x-y)(x+y)(x-3y)$</a:t>
                </a:r>
                <a:r>
                  <a:rPr sz="2400" b="0">
                    <a:solidFill>
                      <a:srgbClr val="78350F"/>
                    </a:solidFill>
                    <a:latin typeface="Arial"/>
                  </a:rPr>
                  <a:t>, so on </a:t>
                </a:r>
                <a:r>
                  <a:rPr lang="en-IN" sz="2400">
                    <a:solidFill>
                      <a:srgbClr val="78350F"/>
                    </a:solidFill>
                    <a:latin typeface="Cambria Math" panose="02040503050406030204" pitchFamily="18" charset="0"/>
                  </a:rPr>
                  <a:t>$\mathbb{N}$</a:t>
                </a:r>
                <a:r>
                  <a:rPr sz="2400" b="0">
                    <a:solidFill>
                      <a:srgbClr val="78350F"/>
                    </a:solidFill>
                    <a:latin typeface="Arial"/>
                  </a:rPr>
                  <a:t> the relation is </a:t>
                </a:r>
                <a:r>
                  <a:rPr lang="en-IN" sz="2400">
                    <a:solidFill>
                      <a:srgbClr val="78350F"/>
                    </a:solidFill>
                    <a:latin typeface="Cambria Math" panose="02040503050406030204" pitchFamily="18" charset="0"/>
                  </a:rPr>
                  <a:t>$x=y$</a:t>
                </a:r>
                <a:r>
                  <a:rPr sz="2400" b="0">
                    <a:solidFill>
                      <a:srgbClr val="78350F"/>
                    </a:solidFill>
                    <a:latin typeface="Arial"/>
                  </a:rPr>
                  <a:t> or </a:t>
                </a:r>
                <a:r>
                  <a:rPr lang="en-IN" sz="2400">
                    <a:solidFill>
                      <a:srgbClr val="78350F"/>
                    </a:solidFill>
                    <a:latin typeface="Cambria Math" panose="02040503050406030204" pitchFamily="18" charset="0"/>
                  </a:rPr>
                  <a:t>$x=3y$</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4684776"/>
                <a:ext cx="10725912" cy="19903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oMath>
                </a14:m>
                <a:r>
                  <a:rPr sz="2400" b="0">
                    <a:solidFill>
                      <a:srgbClr val="111827"/>
                    </a:solidFill>
                    <a:latin typeface="Arial"/>
                  </a:rPr>
                  <a:t>. On </a:t>
                </a:r>
                <a14:m>
                  <m:oMath xmlns:m="http://schemas.openxmlformats.org/officeDocument/2006/math">
                    <m:r>
                      <m:rPr>
                        <m:scr m:val="double-struck"/>
                        <m:sty m:val="p"/>
                      </m:rPr>
                      <a:rPr lang="en-IN" sz="2400">
                        <a:solidFill>
                          <a:srgbClr val="111827"/>
                        </a:solidFill>
                        <a:latin typeface="Cambria Math" panose="02040503050406030204" pitchFamily="18" charset="0"/>
                      </a:rPr>
                      <m:t>N</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is impossible, so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means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4684776"/>
                <a:ext cx="10725912" cy="19903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$x^3-3x^2y-xy^2+3y^3=x(x^2-y^2)-3y(x^2-y^2)=(x-3y)(x^2-y^2)=(x-y)(x+y)(x-3y)$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$(x,y)\in R\iff x=y$</a:t>
                </a:r>
                <a:r>
                  <a:rPr sz="2400" b="0">
                    <a:solidFill>
                      <a:srgbClr val="111827"/>
                    </a:solidFill>
                    <a:latin typeface="Arial"/>
                  </a:rPr>
                  <a:t> or </a:t>
                </a:r>
                <a:r>
                  <a:rPr lang="en-IN" sz="2400">
                    <a:solidFill>
                      <a:srgbClr val="111827"/>
                    </a:solidFill>
                    <a:latin typeface="Cambria Math" panose="02040503050406030204" pitchFamily="18" charset="0"/>
                  </a:rPr>
                  <a:t>$x=-y$</a:t>
                </a:r>
                <a:r>
                  <a:rPr sz="2400" b="0">
                    <a:solidFill>
                      <a:srgbClr val="111827"/>
                    </a:solidFill>
                    <a:latin typeface="Arial"/>
                  </a:rPr>
                  <a:t> or </a:t>
                </a:r>
                <a:r>
                  <a:rPr lang="en-IN" sz="2400">
                    <a:solidFill>
                      <a:srgbClr val="111827"/>
                    </a:solidFill>
                    <a:latin typeface="Cambria Math" panose="02040503050406030204" pitchFamily="18" charset="0"/>
                  </a:rPr>
                  <a:t>$x=3y$</a:t>
                </a:r>
                <a:r>
                  <a:rPr sz="2400" b="0">
                    <a:solidFill>
                      <a:srgbClr val="111827"/>
                    </a:solidFill>
                    <a:latin typeface="Arial"/>
                  </a:rPr>
                  <a:t>. On </a:t>
                </a:r>
                <a:r>
                  <a:rPr lang="en-IN" sz="2400">
                    <a:solidFill>
                      <a:srgbClr val="111827"/>
                    </a:solidFill>
                    <a:latin typeface="Cambria Math" panose="02040503050406030204" pitchFamily="18" charset="0"/>
                  </a:rPr>
                  <a:t>$\mathbb{N}$</a:t>
                </a:r>
                <a:r>
                  <a:rPr sz="2400" b="0">
                    <a:solidFill>
                      <a:srgbClr val="111827"/>
                    </a:solidFill>
                    <a:latin typeface="Arial"/>
                  </a:rPr>
                  <a:t>, </a:t>
                </a:r>
                <a:r>
                  <a:rPr lang="en-IN" sz="2400">
                    <a:solidFill>
                      <a:srgbClr val="111827"/>
                    </a:solidFill>
                    <a:latin typeface="Cambria Math" panose="02040503050406030204" pitchFamily="18" charset="0"/>
                  </a:rPr>
                  <a:t>$x=-y$</a:t>
                </a:r>
                <a:r>
                  <a:rPr sz="2400" b="0">
                    <a:solidFill>
                      <a:srgbClr val="111827"/>
                    </a:solidFill>
                    <a:latin typeface="Arial"/>
                  </a:rPr>
                  <a:t> is impossible, so </a:t>
                </a:r>
                <a:r>
                  <a:rPr lang="en-IN" sz="2400">
                    <a:solidFill>
                      <a:srgbClr val="111827"/>
                    </a:solidFill>
                    <a:latin typeface="Cambria Math" panose="02040503050406030204" pitchFamily="18" charset="0"/>
                  </a:rPr>
                  <a:t>$R$</a:t>
                </a:r>
                <a:r>
                  <a:rPr sz="2400" b="0">
                    <a:solidFill>
                      <a:srgbClr val="111827"/>
                    </a:solidFill>
                    <a:latin typeface="Arial"/>
                  </a:rPr>
                  <a:t> means </a:t>
                </a:r>
                <a:r>
                  <a:rPr lang="en-IN" sz="2400">
                    <a:solidFill>
                      <a:srgbClr val="111827"/>
                    </a:solidFill>
                    <a:latin typeface="Cambria Math" panose="02040503050406030204" pitchFamily="18" charset="0"/>
                  </a:rPr>
                  <a:t>$x=y$</a:t>
                </a:r>
                <a:r>
                  <a:rPr sz="2400" b="0">
                    <a:solidFill>
                      <a:srgbClr val="111827"/>
                    </a:solidFill>
                    <a:latin typeface="Arial"/>
                  </a:rPr>
                  <a:t> or </a:t>
                </a:r>
                <a:r>
                  <a:rPr lang="en-IN" sz="2400">
                    <a:solidFill>
                      <a:srgbClr val="111827"/>
                    </a:solidFill>
                    <a:latin typeface="Cambria Math" panose="02040503050406030204" pitchFamily="18" charset="0"/>
                  </a:rPr>
                  <a:t>$x=3y$</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Reflexive: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Not symmetric: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but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Not transitive: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but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reflexive but neither symmetric nor transitive. Option (A).</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Reflexive: </a:t>
                </a:r>
                <a:r>
                  <a:rPr lang="en-IN" sz="2400">
                    <a:solidFill>
                      <a:srgbClr val="111827"/>
                    </a:solidFill>
                    <a:latin typeface="Cambria Math" panose="02040503050406030204" pitchFamily="18" charset="0"/>
                  </a:rPr>
                  <a:t>$x=x$</a:t>
                </a:r>
                <a:r>
                  <a:rPr sz="2400" b="0">
                    <a:solidFill>
                      <a:srgbClr val="111827"/>
                    </a:solidFill>
                    <a:latin typeface="Arial"/>
                  </a:rPr>
                  <a:t>, so </a:t>
                </a:r>
                <a:r>
                  <a:rPr lang="en-IN" sz="2400">
                    <a:solidFill>
                      <a:srgbClr val="111827"/>
                    </a:solidFill>
                    <a:latin typeface="Cambria Math" panose="02040503050406030204" pitchFamily="18" charset="0"/>
                  </a:rPr>
                  <a:t>$(x,x)\in 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Not symmetric: </a:t>
                </a:r>
                <a:r>
                  <a:rPr lang="en-IN" sz="2400">
                    <a:solidFill>
                      <a:srgbClr val="111827"/>
                    </a:solidFill>
                    <a:latin typeface="Cambria Math" panose="02040503050406030204" pitchFamily="18" charset="0"/>
                  </a:rPr>
                  <a:t>$(3,1)\in R$</a:t>
                </a:r>
                <a:r>
                  <a:rPr sz="2400" b="0">
                    <a:solidFill>
                      <a:srgbClr val="111827"/>
                    </a:solidFill>
                    <a:latin typeface="Arial"/>
                  </a:rPr>
                  <a:t> (as </a:t>
                </a:r>
                <a:r>
                  <a:rPr lang="en-IN" sz="2400">
                    <a:solidFill>
                      <a:srgbClr val="111827"/>
                    </a:solidFill>
                    <a:latin typeface="Cambria Math" panose="02040503050406030204" pitchFamily="18" charset="0"/>
                  </a:rPr>
                  <a:t>$3=3\cdot1$</a:t>
                </a:r>
                <a:r>
                  <a:rPr sz="2400" b="0">
                    <a:solidFill>
                      <a:srgbClr val="111827"/>
                    </a:solidFill>
                    <a:latin typeface="Arial"/>
                  </a:rPr>
                  <a:t>) but </a:t>
                </a:r>
                <a:r>
                  <a:rPr lang="en-IN" sz="2400">
                    <a:solidFill>
                      <a:srgbClr val="111827"/>
                    </a:solidFill>
                    <a:latin typeface="Cambria Math" panose="02040503050406030204" pitchFamily="18" charset="0"/>
                  </a:rPr>
                  <a:t>$(1,3)\notin R$</a:t>
                </a:r>
                <a:r>
                  <a:rPr sz="2400" b="0">
                    <a:solidFill>
                      <a:srgbClr val="111827"/>
                    </a:solidFill>
                    <a:latin typeface="Arial"/>
                  </a:rPr>
                  <a:t> (as </a:t>
                </a:r>
                <a:r>
                  <a:rPr lang="en-IN" sz="2400">
                    <a:solidFill>
                      <a:srgbClr val="111827"/>
                    </a:solidFill>
                    <a:latin typeface="Cambria Math" panose="02040503050406030204" pitchFamily="18" charset="0"/>
                  </a:rPr>
                  <a:t>$1\neq3$</a:t>
                </a:r>
                <a:r>
                  <a:rPr sz="2400" b="0">
                    <a:solidFill>
                      <a:srgbClr val="111827"/>
                    </a:solidFill>
                    <a:latin typeface="Arial"/>
                  </a:rPr>
                  <a:t> and </a:t>
                </a:r>
                <a:r>
                  <a:rPr lang="en-IN" sz="2400">
                    <a:solidFill>
                      <a:srgbClr val="111827"/>
                    </a:solidFill>
                    <a:latin typeface="Cambria Math" panose="02040503050406030204" pitchFamily="18" charset="0"/>
                  </a:rPr>
                  <a:t>$1\neq9$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Not transitive: </a:t>
                </a:r>
                <a:r>
                  <a:rPr lang="en-IN" sz="2400">
                    <a:solidFill>
                      <a:srgbClr val="111827"/>
                    </a:solidFill>
                    <a:latin typeface="Cambria Math" panose="02040503050406030204" pitchFamily="18" charset="0"/>
                  </a:rPr>
                  <a:t>$(9,3)\in R$</a:t>
                </a:r>
                <a:r>
                  <a:rPr sz="2400" b="0">
                    <a:solidFill>
                      <a:srgbClr val="111827"/>
                    </a:solidFill>
                    <a:latin typeface="Arial"/>
                  </a:rPr>
                  <a:t> and </a:t>
                </a:r>
                <a:r>
                  <a:rPr lang="en-IN" sz="2400">
                    <a:solidFill>
                      <a:srgbClr val="111827"/>
                    </a:solidFill>
                    <a:latin typeface="Cambria Math" panose="02040503050406030204" pitchFamily="18" charset="0"/>
                  </a:rPr>
                  <a:t>$(3,1)\in R$</a:t>
                </a:r>
                <a:r>
                  <a:rPr sz="2400" b="0">
                    <a:solidFill>
                      <a:srgbClr val="111827"/>
                    </a:solidFill>
                    <a:latin typeface="Arial"/>
                  </a:rPr>
                  <a:t>, but </a:t>
                </a:r>
                <a:r>
                  <a:rPr lang="en-IN" sz="2400">
                    <a:solidFill>
                      <a:srgbClr val="111827"/>
                    </a:solidFill>
                    <a:latin typeface="Cambria Math" panose="02040503050406030204" pitchFamily="18" charset="0"/>
                  </a:rPr>
                  <a:t>$(9,1)\notin R$</a:t>
                </a:r>
                <a:r>
                  <a:rPr sz="2400" b="0">
                    <a:solidFill>
                      <a:srgbClr val="111827"/>
                    </a:solidFill>
                    <a:latin typeface="Arial"/>
                  </a:rPr>
                  <a:t> (as </a:t>
                </a:r>
                <a:r>
                  <a:rPr lang="en-IN" sz="2400">
                    <a:solidFill>
                      <a:srgbClr val="111827"/>
                    </a:solidFill>
                    <a:latin typeface="Cambria Math" panose="02040503050406030204" pitchFamily="18" charset="0"/>
                  </a:rPr>
                  <a:t>$9\neq1$</a:t>
                </a:r>
                <a:r>
                  <a:rPr sz="2400" b="0">
                    <a:solidFill>
                      <a:srgbClr val="111827"/>
                    </a:solidFill>
                    <a:latin typeface="Arial"/>
                  </a:rPr>
                  <a:t> and </a:t>
                </a:r>
                <a:r>
                  <a:rPr lang="en-IN" sz="2400">
                    <a:solidFill>
                      <a:srgbClr val="111827"/>
                    </a:solidFill>
                    <a:latin typeface="Cambria Math" panose="02040503050406030204" pitchFamily="18" charset="0"/>
                  </a:rPr>
                  <a:t>$9\neq3$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$R$</a:t>
                </a:r>
                <a:r>
                  <a:rPr sz="2400" b="0">
                    <a:solidFill>
                      <a:srgbClr val="111827"/>
                    </a:solidFill>
                    <a:latin typeface="Arial"/>
                  </a:rPr>
                  <a:t> is reflexive but neither symmetric nor transitive. Option (A).</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reflexive but neither symmetric nor transitive</a:t>
            </a:r>
            <a:endParaRPr sz="2800">
              <a:solidFill>
                <a:srgbClr val="15803D"/>
              </a:solidFill>
            </a:endParaRP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Eliminate options by one substitution: options (B), (C), (D) all claim symmetry, so a single pair with no reverse removes them.</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Test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Test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not symmetric.</a:t>
                </a:r>
                <a:endParaRPr sz="2400">
                  <a:solidFill>
                    <a:srgbClr val="111827"/>
                  </a:solidFill>
                </a:endParaRPr>
              </a:p>
            </p:txBody>
          </p:sp>
        </mc:Choice>
        <mc:Fallback>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Test </a:t>
                </a:r>
                <a:r>
                  <a:rPr lang="en-IN" sz="2400">
                    <a:solidFill>
                      <a:srgbClr val="111827"/>
                    </a:solidFill>
                    <a:latin typeface="Cambria Math" panose="02040503050406030204" pitchFamily="18" charset="0"/>
                  </a:rPr>
                  <a:t>$(3,1)$</a:t>
                </a:r>
                <a:r>
                  <a:rPr sz="2400" b="0">
                    <a:solidFill>
                      <a:srgbClr val="111827"/>
                    </a:solidFill>
                    <a:latin typeface="Arial"/>
                  </a:rPr>
                  <a:t>: </a:t>
                </a:r>
                <a:r>
                  <a:rPr lang="en-IN" sz="2400">
                    <a:solidFill>
                      <a:srgbClr val="111827"/>
                    </a:solidFill>
                    <a:latin typeface="Cambria Math" panose="02040503050406030204" pitchFamily="18" charset="0"/>
                  </a:rPr>
                  <a:t>$27-3\cdot9\cdot1-3\cdot1+3\cdot1=27-27-3+3=0$</a:t>
                </a:r>
                <a:r>
                  <a:rPr sz="2400" b="0">
                    <a:solidFill>
                      <a:srgbClr val="111827"/>
                    </a:solidFill>
                    <a:latin typeface="Arial"/>
                  </a:rPr>
                  <a:t>, so </a:t>
                </a:r>
                <a:r>
                  <a:rPr lang="en-IN" sz="2400">
                    <a:solidFill>
                      <a:srgbClr val="111827"/>
                    </a:solidFill>
                    <a:latin typeface="Cambria Math" panose="02040503050406030204" pitchFamily="18" charset="0"/>
                  </a:rPr>
                  <a:t>$(3,1)\in 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Test </a:t>
                </a:r>
                <a:r>
                  <a:rPr lang="en-IN" sz="2400">
                    <a:solidFill>
                      <a:srgbClr val="111827"/>
                    </a:solidFill>
                    <a:latin typeface="Cambria Math" panose="02040503050406030204" pitchFamily="18" charset="0"/>
                  </a:rPr>
                  <a:t>$(1,3)$</a:t>
                </a:r>
                <a:r>
                  <a:rPr sz="2400" b="0">
                    <a:solidFill>
                      <a:srgbClr val="111827"/>
                    </a:solidFill>
                    <a:latin typeface="Arial"/>
                  </a:rPr>
                  <a:t>: </a:t>
                </a:r>
                <a:r>
                  <a:rPr lang="en-IN" sz="2400">
                    <a:solidFill>
                      <a:srgbClr val="111827"/>
                    </a:solidFill>
                    <a:latin typeface="Cambria Math" panose="02040503050406030204" pitchFamily="18" charset="0"/>
                  </a:rPr>
                  <a:t>$1-3\cdot1\cdot3-1\cdot9+3\cdot27=1-9-9+81=64\neq0$</a:t>
                </a:r>
                <a:r>
                  <a:rPr sz="2400" b="0">
                    <a:solidFill>
                      <a:srgbClr val="111827"/>
                    </a:solidFill>
                    <a:latin typeface="Arial"/>
                  </a:rPr>
                  <a:t>, so </a:t>
                </a:r>
                <a:r>
                  <a:rPr lang="en-IN" sz="2400">
                    <a:solidFill>
                      <a:srgbClr val="111827"/>
                    </a:solidFill>
                    <a:latin typeface="Cambria Math" panose="02040503050406030204" pitchFamily="18" charset="0"/>
                  </a:rPr>
                  <a:t>$(1,3)\notin R$</a:t>
                </a:r>
                <a:r>
                  <a:rPr sz="2400" b="0">
                    <a:solidFill>
                      <a:srgbClr val="111827"/>
                    </a:solidFill>
                    <a:latin typeface="Arial"/>
                  </a:rPr>
                  <a:t>. So </a:t>
                </a:r>
                <a:r>
                  <a:rPr lang="en-IN" sz="2400">
                    <a:solidFill>
                      <a:srgbClr val="111827"/>
                    </a:solidFill>
                    <a:latin typeface="Cambria Math" panose="02040503050406030204" pitchFamily="18" charset="0"/>
                  </a:rPr>
                  <a:t>$R$</a:t>
                </a:r>
                <a:r>
                  <a:rPr sz="2400" b="0">
                    <a:solidFill>
                      <a:srgbClr val="111827"/>
                    </a:solidFill>
                    <a:latin typeface="Arial"/>
                  </a:rPr>
                  <a:t> is not symmetric.</a:t>
                </a:r>
                <a:endParaRPr sz="2400">
                  <a:solidFill>
                    <a:srgbClr val="111827"/>
                  </a:solidFill>
                </a:endParaRPr>
              </a:p>
            </p:txBody>
          </p:sp>
        </mc:Fallback>
      </mc:AlternateContent>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Options (B), (C) and (D) each say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symmetric, so all three are eliminated.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Only option (A) remains; as a check,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gives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reflexive, as (A) says. Option (A).</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Options (B), (C) and (D) each say </a:t>
                </a:r>
                <a:r>
                  <a:rPr lang="en-IN" sz="2400">
                    <a:solidFill>
                      <a:srgbClr val="111827"/>
                    </a:solidFill>
                    <a:latin typeface="Cambria Math" panose="02040503050406030204" pitchFamily="18" charset="0"/>
                  </a:rPr>
                  <a:t>$R$</a:t>
                </a:r>
                <a:r>
                  <a:rPr sz="2400" b="0">
                    <a:solidFill>
                      <a:srgbClr val="111827"/>
                    </a:solidFill>
                    <a:latin typeface="Arial"/>
                  </a:rPr>
                  <a:t> is symmetric, so all three are eliminated.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Only option (A) remains; as a check, </a:t>
                </a:r>
                <a:r>
                  <a:rPr lang="en-IN" sz="2400">
                    <a:solidFill>
                      <a:srgbClr val="111827"/>
                    </a:solidFill>
                    <a:latin typeface="Cambria Math" panose="02040503050406030204" pitchFamily="18" charset="0"/>
                  </a:rPr>
                  <a:t>$(x,x)$</a:t>
                </a:r>
                <a:r>
                  <a:rPr sz="2400" b="0">
                    <a:solidFill>
                      <a:srgbClr val="111827"/>
                    </a:solidFill>
                    <a:latin typeface="Arial"/>
                  </a:rPr>
                  <a:t> gives </a:t>
                </a:r>
                <a:r>
                  <a:rPr lang="en-IN" sz="2400">
                    <a:solidFill>
                      <a:srgbClr val="111827"/>
                    </a:solidFill>
                    <a:latin typeface="Cambria Math" panose="02040503050406030204" pitchFamily="18" charset="0"/>
                  </a:rPr>
                  <a:t>$x^3-3x^3-x^3+3x^3=0$</a:t>
                </a:r>
                <a:r>
                  <a:rPr sz="2400" b="0">
                    <a:solidFill>
                      <a:srgbClr val="111827"/>
                    </a:solidFill>
                    <a:latin typeface="Arial"/>
                  </a:rPr>
                  <a:t>, so </a:t>
                </a:r>
                <a:r>
                  <a:rPr lang="en-IN" sz="2400">
                    <a:solidFill>
                      <a:srgbClr val="111827"/>
                    </a:solidFill>
                    <a:latin typeface="Cambria Math" panose="02040503050406030204" pitchFamily="18" charset="0"/>
                  </a:rPr>
                  <a:t>$R$</a:t>
                </a:r>
                <a:r>
                  <a:rPr sz="2400" b="0">
                    <a:solidFill>
                      <a:srgbClr val="111827"/>
                    </a:solidFill>
                    <a:latin typeface="Arial"/>
                  </a:rPr>
                  <a:t> is reflexive, as (A) says. Option (A).</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reflexive but neither symmetric nor transitive</a:t>
            </a:r>
            <a:endParaRPr sz="2800">
              <a:solidFill>
                <a:srgbClr val="15803D"/>
              </a:solidFill>
            </a:endParaRP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homogeneous equation in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is an equation in the ratio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here </a:t>
                </a:r>
                <a14:m>
                  <m:oMath xmlns:m="http://schemas.openxmlformats.org/officeDocument/2006/math">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relation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oMath>
                </a14:m>
                <a:r>
                  <a:rPr sz="2400" b="0">
                    <a:solidFill>
                      <a:srgbClr val="111827"/>
                    </a:solidFill>
                    <a:latin typeface="Arial"/>
                  </a:rPr>
                  <a:t>' is reflexive iff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oMath>
                </a14:m>
                <a:r>
                  <a:rPr sz="2400" b="0">
                    <a:solidFill>
                      <a:srgbClr val="111827"/>
                    </a:solidFill>
                    <a:latin typeface="Arial"/>
                  </a:rPr>
                  <a:t> and symmetric iff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is closed under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not, so no symmetry.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of the factorisation: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homogeneous equation in </a:t>
                </a:r>
                <a:r>
                  <a:rPr lang="en-IN" sz="2400">
                    <a:solidFill>
                      <a:srgbClr val="111827"/>
                    </a:solidFill>
                    <a:latin typeface="Cambria Math" panose="02040503050406030204" pitchFamily="18" charset="0"/>
                  </a:rPr>
                  <a:t>$x,y$</a:t>
                </a:r>
                <a:r>
                  <a:rPr sz="2400" b="0">
                    <a:solidFill>
                      <a:srgbClr val="111827"/>
                    </a:solidFill>
                    <a:latin typeface="Arial"/>
                  </a:rPr>
                  <a:t> is an equation in the ratio </a:t>
                </a:r>
                <a:r>
                  <a:rPr lang="en-IN" sz="2400">
                    <a:solidFill>
                      <a:srgbClr val="111827"/>
                    </a:solidFill>
                    <a:latin typeface="Cambria Math" panose="02040503050406030204" pitchFamily="18" charset="0"/>
                  </a:rPr>
                  <a:t>$t=x/y$</a:t>
                </a:r>
                <a:r>
                  <a:rPr sz="2400" b="0">
                    <a:solidFill>
                      <a:srgbClr val="111827"/>
                    </a:solidFill>
                    <a:latin typeface="Arial"/>
                  </a:rPr>
                  <a:t>: here </a:t>
                </a:r>
                <a:r>
                  <a:rPr lang="en-IN" sz="2400">
                    <a:solidFill>
                      <a:srgbClr val="111827"/>
                    </a:solidFill>
                    <a:latin typeface="Cambria Math" panose="02040503050406030204" pitchFamily="18" charset="0"/>
                  </a:rPr>
                  <a:t>$t^3-3t^2-t+3=(t-1)(t+1)(t-3)=0$</a:t>
                </a:r>
                <a:r>
                  <a:rPr sz="2400" b="0">
                    <a:solidFill>
                      <a:srgbClr val="111827"/>
                    </a:solidFill>
                    <a:latin typeface="Arial"/>
                  </a:rPr>
                  <a:t>, </a:t>
                </a:r>
                <a:r>
                  <a:rPr lang="en-IN" sz="2400">
                    <a:solidFill>
                      <a:srgbClr val="111827"/>
                    </a:solidFill>
                    <a:latin typeface="Cambria Math" panose="02040503050406030204" pitchFamily="18" charset="0"/>
                  </a:rPr>
                  <a:t>$t\in\{1,-1,3\}$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relation '</a:t>
                </a:r>
                <a:r>
                  <a:rPr lang="en-IN" sz="2400">
                    <a:solidFill>
                      <a:srgbClr val="111827"/>
                    </a:solidFill>
                    <a:latin typeface="Cambria Math" panose="02040503050406030204" pitchFamily="18" charset="0"/>
                  </a:rPr>
                  <a:t>$x/y\in S$</a:t>
                </a:r>
                <a:r>
                  <a:rPr sz="2400" b="0">
                    <a:solidFill>
                      <a:srgbClr val="111827"/>
                    </a:solidFill>
                    <a:latin typeface="Arial"/>
                  </a:rPr>
                  <a:t>' is reflexive iff </a:t>
                </a:r>
                <a:r>
                  <a:rPr lang="en-IN" sz="2400">
                    <a:solidFill>
                      <a:srgbClr val="111827"/>
                    </a:solidFill>
                    <a:latin typeface="Cambria Math" panose="02040503050406030204" pitchFamily="18" charset="0"/>
                  </a:rPr>
                  <a:t>$1\in S$</a:t>
                </a:r>
                <a:r>
                  <a:rPr sz="2400" b="0">
                    <a:solidFill>
                      <a:srgbClr val="111827"/>
                    </a:solidFill>
                    <a:latin typeface="Arial"/>
                  </a:rPr>
                  <a:t> and symmetric iff </a:t>
                </a:r>
                <a:r>
                  <a:rPr lang="en-IN" sz="2400">
                    <a:solidFill>
                      <a:srgbClr val="111827"/>
                    </a:solidFill>
                    <a:latin typeface="Cambria Math" panose="02040503050406030204" pitchFamily="18" charset="0"/>
                  </a:rPr>
                  <a:t>$S$</a:t>
                </a:r>
                <a:r>
                  <a:rPr sz="2400" b="0">
                    <a:solidFill>
                      <a:srgbClr val="111827"/>
                    </a:solidFill>
                    <a:latin typeface="Arial"/>
                  </a:rPr>
                  <a:t> is closed under </a:t>
                </a:r>
                <a:r>
                  <a:rPr lang="en-IN" sz="2400">
                    <a:solidFill>
                      <a:srgbClr val="111827"/>
                    </a:solidFill>
                    <a:latin typeface="Cambria Math" panose="02040503050406030204" pitchFamily="18" charset="0"/>
                  </a:rPr>
                  <a:t>$t\mapsto1/t$</a:t>
                </a:r>
                <a:r>
                  <a:rPr sz="2400" b="0">
                    <a:solidFill>
                      <a:srgbClr val="111827"/>
                    </a:solidFill>
                    <a:latin typeface="Arial"/>
                  </a:rPr>
                  <a:t>; </a:t>
                </a:r>
                <a:r>
                  <a:rPr lang="en-IN" sz="2400">
                    <a:solidFill>
                      <a:srgbClr val="111827"/>
                    </a:solidFill>
                    <a:latin typeface="Cambria Math" panose="02040503050406030204" pitchFamily="18" charset="0"/>
                  </a:rPr>
                  <a:t>$S=\{1,3\}$</a:t>
                </a:r>
                <a:r>
                  <a:rPr sz="2400" b="0">
                    <a:solidFill>
                      <a:srgbClr val="111827"/>
                    </a:solidFill>
                    <a:latin typeface="Arial"/>
                  </a:rPr>
                  <a:t> is not, so no symmetry.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of the factorisation: </a:t>
                </a:r>
                <a:r>
                  <a:rPr lang="en-IN" sz="2400">
                    <a:solidFill>
                      <a:srgbClr val="111827"/>
                    </a:solidFill>
                    <a:latin typeface="Cambria Math" panose="02040503050406030204" pitchFamily="18" charset="0"/>
                  </a:rPr>
                  <a:t>$(x-y)(x+y)(x-3y)$</a:t>
                </a:r>
                <a:r>
                  <a:rPr sz="2400" b="0">
                    <a:solidFill>
                      <a:srgbClr val="111827"/>
                    </a:solidFill>
                    <a:latin typeface="Arial"/>
                  </a:rPr>
                  <a:t> at </a:t>
                </a:r>
                <a:r>
                  <a:rPr lang="en-IN" sz="2400">
                    <a:solidFill>
                      <a:srgbClr val="111827"/>
                    </a:solidFill>
                    <a:latin typeface="Cambria Math" panose="02040503050406030204" pitchFamily="18" charset="0"/>
                  </a:rPr>
                  <a:t>$(x,y)=(2,1)$</a:t>
                </a:r>
                <a:r>
                  <a:rPr sz="2400" b="0">
                    <a:solidFill>
                      <a:srgbClr val="111827"/>
                    </a:solidFill>
                    <a:latin typeface="Arial"/>
                  </a:rPr>
                  <a:t>: </a:t>
                </a:r>
                <a:r>
                  <a:rPr lang="en-IN" sz="2400">
                    <a:solidFill>
                      <a:srgbClr val="111827"/>
                    </a:solidFill>
                    <a:latin typeface="Cambria Math" panose="02040503050406030204" pitchFamily="18" charset="0"/>
                  </a:rPr>
                  <a:t>$1\cdot3\cdot(-1)=-3$</a:t>
                </a:r>
                <a:r>
                  <a:rPr sz="2400" b="0">
                    <a:solidFill>
                      <a:srgbClr val="111827"/>
                    </a:solidFill>
                    <a:latin typeface="Arial"/>
                  </a:rPr>
                  <a:t>, and </a:t>
                </a:r>
                <a:r>
                  <a:rPr lang="en-IN" sz="2400">
                    <a:solidFill>
                      <a:srgbClr val="111827"/>
                    </a:solidFill>
                    <a:latin typeface="Cambria Math" panose="02040503050406030204" pitchFamily="18" charset="0"/>
                  </a:rPr>
                  <a:t>$8-12-2+3=-3$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4</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Numerical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Q19</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Marks not printed in the paper: +4 assumed (JEE Advanced default)</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Questions are from AIEEE / JEE Main papers</a:t>
            </a:r>
            <a:endParaRPr sz="2800">
              <a:solidFill>
                <a:srgbClr val="FFFFFF"/>
              </a:solidFill>
            </a:endParaRP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000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the sum of all the elements of the set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equal to ________.</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$A=\{n\in\mathbb{N}:n^2\le n+10{,}000\}$</a:t>
                </a:r>
                <a:r>
                  <a:rPr sz="2400" b="0">
                    <a:solidFill>
                      <a:srgbClr val="111827"/>
                    </a:solidFill>
                    <a:latin typeface="Arial"/>
                  </a:rPr>
                  <a:t>, </a:t>
                </a:r>
                <a:r>
                  <a:rPr lang="en-IN" sz="2400">
                    <a:solidFill>
                      <a:srgbClr val="111827"/>
                    </a:solidFill>
                    <a:latin typeface="Cambria Math" panose="02040503050406030204" pitchFamily="18" charset="0"/>
                  </a:rPr>
                  <a:t>$B=\{3k+1:k\in\mathbb{N}\}$</a:t>
                </a:r>
                <a:r>
                  <a:rPr sz="2400" b="0">
                    <a:solidFill>
                      <a:srgbClr val="111827"/>
                    </a:solidFill>
                    <a:latin typeface="Arial"/>
                  </a:rPr>
                  <a:t> and </a:t>
                </a:r>
                <a:r>
                  <a:rPr lang="en-IN" sz="2400">
                    <a:solidFill>
                      <a:srgbClr val="111827"/>
                    </a:solidFill>
                    <a:latin typeface="Cambria Math" panose="02040503050406030204" pitchFamily="18" charset="0"/>
                  </a:rPr>
                  <a:t>$C=\{2k:k\in\mathbb{N}\}$</a:t>
                </a:r>
                <a:r>
                  <a:rPr sz="2400" b="0">
                    <a:solidFill>
                      <a:srgbClr val="111827"/>
                    </a:solidFill>
                    <a:latin typeface="Arial"/>
                  </a:rPr>
                  <a:t>. Then the sum of all the elements of the set </a:t>
                </a:r>
                <a:r>
                  <a:rPr lang="en-IN" sz="2400">
                    <a:solidFill>
                      <a:srgbClr val="111827"/>
                    </a:solidFill>
                    <a:latin typeface="Cambria Math" panose="02040503050406030204" pitchFamily="18" charset="0"/>
                  </a:rPr>
                  <a:t>$A\cap(B-C)$</a:t>
                </a:r>
                <a:r>
                  <a:rPr sz="2400" b="0">
                    <a:solidFill>
                      <a:srgbClr val="111827"/>
                    </a:solidFill>
                    <a:latin typeface="Arial"/>
                  </a:rPr>
                  <a:t> is equal to ________.</a:t>
                </a:r>
                <a:endParaRPr sz="2400">
                  <a:solidFill>
                    <a:srgbClr val="111827"/>
                  </a:solidFill>
                </a:endParaRPr>
              </a:p>
            </p:txBody>
          </p:sp>
        </mc:Fallback>
      </mc:AlternateContent>
      <p:sp>
        <p:nvSpPr>
          <p:cNvPr id="5" name="Rectangle 4"/>
          <p:cNvSpPr/>
          <p:nvPr/>
        </p:nvSpPr>
        <p:spPr>
          <a:xfrm>
            <a:off x="731520" y="324612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Operations on sets of numbers, Sum of an arithmetic progression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𝐶</m:t>
                    </m:r>
                  </m:oMath>
                </a14:m>
                <a:r>
                  <a:rPr sz="2400" b="0">
                    <a:solidFill>
                      <a:srgbClr val="78350F"/>
                    </a:solidFill>
                    <a:latin typeface="Arial"/>
                  </a:rPr>
                  <a:t> keeps the odd members of </a:t>
                </a:r>
                <a14:m>
                  <m:oMath xmlns:m="http://schemas.openxmlformats.org/officeDocument/2006/math">
                    <m:r>
                      <a:rPr lang="en-IN" sz="2400" i="1">
                        <a:solidFill>
                          <a:srgbClr val="78350F"/>
                        </a:solidFill>
                        <a:latin typeface="Cambria Math" panose="02040503050406030204" pitchFamily="18" charset="0"/>
                      </a:rPr>
                      <m:t>𝐵</m:t>
                    </m:r>
                  </m:oMath>
                </a14:m>
                <a:r>
                  <a:rPr sz="2400" b="0">
                    <a:solidFill>
                      <a:srgbClr val="78350F"/>
                    </a:solidFill>
                    <a:latin typeface="Arial"/>
                  </a:rPr>
                  <a:t>; combined with </a:t>
                </a:r>
                <a14:m>
                  <m:oMath xmlns:m="http://schemas.openxmlformats.org/officeDocument/2006/math">
                    <m:r>
                      <a:rPr lang="en-IN" sz="2400" i="1">
                        <a:solidFill>
                          <a:srgbClr val="78350F"/>
                        </a:solidFill>
                        <a:latin typeface="Cambria Math" panose="02040503050406030204" pitchFamily="18" charset="0"/>
                      </a:rPr>
                      <m:t>𝐵</m:t>
                    </m:r>
                  </m:oMath>
                </a14:m>
                <a:r>
                  <a:rPr sz="2400" b="0">
                    <a:solidFill>
                      <a:srgbClr val="78350F"/>
                    </a:solidFill>
                    <a:latin typeface="Arial"/>
                  </a:rPr>
                  <a:t>'s residue this is </a:t>
                </a:r>
                <a14:m>
                  <m:oMath xmlns:m="http://schemas.openxmlformats.org/officeDocument/2006/math">
                    <m:r>
                      <a:rPr lang="en-IN" sz="2400" i="1">
                        <a:solidFill>
                          <a:srgbClr val="78350F"/>
                        </a:solidFill>
                        <a:latin typeface="Cambria Math" panose="02040503050406030204" pitchFamily="18" charset="0"/>
                      </a:rPr>
                      <m:t>6</m:t>
                    </m:r>
                    <m:r>
                      <a:rPr lang="en-IN" sz="2400" i="1">
                        <a:solidFill>
                          <a:srgbClr val="78350F"/>
                        </a:solidFill>
                        <a:latin typeface="Cambria Math" panose="02040503050406030204" pitchFamily="18" charset="0"/>
                      </a:rPr>
                      <m:t>𝑗</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$B-C$</a:t>
                </a:r>
                <a:r>
                  <a:rPr sz="2400" b="0">
                    <a:solidFill>
                      <a:srgbClr val="78350F"/>
                    </a:solidFill>
                    <a:latin typeface="Arial"/>
                  </a:rPr>
                  <a:t> keeps the odd members of </a:t>
                </a:r>
                <a:r>
                  <a:rPr lang="en-IN" sz="2400">
                    <a:solidFill>
                      <a:srgbClr val="78350F"/>
                    </a:solidFill>
                    <a:latin typeface="Cambria Math" panose="02040503050406030204" pitchFamily="18" charset="0"/>
                  </a:rPr>
                  <a:t>$B$</a:t>
                </a:r>
                <a:r>
                  <a:rPr sz="2400" b="0">
                    <a:solidFill>
                      <a:srgbClr val="78350F"/>
                    </a:solidFill>
                    <a:latin typeface="Arial"/>
                  </a:rPr>
                  <a:t>; combined with </a:t>
                </a:r>
                <a:r>
                  <a:rPr lang="en-IN" sz="2400">
                    <a:solidFill>
                      <a:srgbClr val="78350F"/>
                    </a:solidFill>
                    <a:latin typeface="Cambria Math" panose="02040503050406030204" pitchFamily="18" charset="0"/>
                  </a:rPr>
                  <a:t>$B$</a:t>
                </a:r>
                <a:r>
                  <a:rPr sz="2400" b="0">
                    <a:solidFill>
                      <a:srgbClr val="78350F"/>
                    </a:solidFill>
                    <a:latin typeface="Arial"/>
                  </a:rPr>
                  <a:t>'s residue this is </a:t>
                </a:r>
                <a:r>
                  <a:rPr lang="en-IN" sz="2400">
                    <a:solidFill>
                      <a:srgbClr val="78350F"/>
                    </a:solidFill>
                    <a:latin typeface="Cambria Math" panose="02040503050406030204" pitchFamily="18" charset="0"/>
                  </a:rPr>
                  <a:t>$6j+1$</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10000</m:t>
                    </m:r>
                  </m:oMath>
                </a14:m>
                <a:r>
                  <a:rPr sz="2400" b="0">
                    <a:solidFill>
                      <a:srgbClr val="111827"/>
                    </a:solidFill>
                    <a:latin typeface="Arial"/>
                  </a:rPr>
                  <a:t>: a product of two consecutive natural numbers is at most </a:t>
                </a:r>
                <a14:m>
                  <m:oMath xmlns:m="http://schemas.openxmlformats.org/officeDocument/2006/math">
                    <m:r>
                      <a:rPr lang="en-IN" sz="2400" i="1">
                        <a:solidFill>
                          <a:srgbClr val="111827"/>
                        </a:solidFill>
                        <a:latin typeface="Cambria Math" panose="02040503050406030204" pitchFamily="18" charset="0"/>
                      </a:rPr>
                      <m:t>10000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9900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10000</m:t>
                    </m:r>
                  </m:oMath>
                </a14:m>
                <a:r>
                  <a:rPr sz="2400" b="0">
                    <a:solidFill>
                      <a:srgbClr val="111827"/>
                    </a:solidFill>
                    <a:latin typeface="Arial"/>
                  </a:rPr>
                  <a:t> but </a:t>
                </a:r>
                <a14:m>
                  <m:oMath xmlns:m="http://schemas.openxmlformats.org/officeDocument/2006/math">
                    <m:r>
                      <a:rPr lang="en-IN" sz="2400" i="1">
                        <a:solidFill>
                          <a:srgbClr val="111827"/>
                        </a:solidFill>
                        <a:latin typeface="Cambria Math" panose="02040503050406030204" pitchFamily="18" charset="0"/>
                      </a:rPr>
                      <m:t>101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10100</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10000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removes the even members of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$n^2\le n+10000\iff n(n-1)\le10000$</a:t>
                </a:r>
                <a:r>
                  <a:rPr sz="2400" b="0">
                    <a:solidFill>
                      <a:srgbClr val="111827"/>
                    </a:solidFill>
                    <a:latin typeface="Arial"/>
                  </a:rPr>
                  <a:t>: a product of two consecutive natural numbers is at most </a:t>
                </a:r>
                <a:r>
                  <a:rPr lang="en-IN" sz="2400">
                    <a:solidFill>
                      <a:srgbClr val="111827"/>
                    </a:solidFill>
                    <a:latin typeface="Cambria Math" panose="02040503050406030204" pitchFamily="18" charset="0"/>
                  </a:rPr>
                  <a:t>$10000$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$100\cdot99=9900\le10000$</a:t>
                </a:r>
                <a:r>
                  <a:rPr sz="2400" b="0">
                    <a:solidFill>
                      <a:srgbClr val="111827"/>
                    </a:solidFill>
                    <a:latin typeface="Arial"/>
                  </a:rPr>
                  <a:t> but </a:t>
                </a:r>
                <a:r>
                  <a:rPr lang="en-IN" sz="2400">
                    <a:solidFill>
                      <a:srgbClr val="111827"/>
                    </a:solidFill>
                    <a:latin typeface="Cambria Math" panose="02040503050406030204" pitchFamily="18" charset="0"/>
                  </a:rPr>
                  <a:t>$101\cdot100=10100&gt;10000$</a:t>
                </a:r>
                <a:r>
                  <a:rPr sz="2400" b="0">
                    <a:solidFill>
                      <a:srgbClr val="111827"/>
                    </a:solidFill>
                    <a:latin typeface="Arial"/>
                  </a:rPr>
                  <a:t>, so </a:t>
                </a:r>
                <a:r>
                  <a:rPr lang="en-IN" sz="2400">
                    <a:solidFill>
                      <a:srgbClr val="111827"/>
                    </a:solidFill>
                    <a:latin typeface="Cambria Math" panose="02040503050406030204" pitchFamily="18" charset="0"/>
                  </a:rPr>
                  <a:t>$A=\{1,2,3,\dots,100\}$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$B=\{4,7,10,\dots,97,100,103,\dots\}$</a:t>
                </a:r>
                <a:r>
                  <a:rPr sz="2400" b="0">
                    <a:solidFill>
                      <a:srgbClr val="111827"/>
                    </a:solidFill>
                    <a:latin typeface="Arial"/>
                  </a:rPr>
                  <a:t> and </a:t>
                </a:r>
                <a:r>
                  <a:rPr lang="en-IN" sz="2400">
                    <a:solidFill>
                      <a:srgbClr val="111827"/>
                    </a:solidFill>
                    <a:latin typeface="Cambria Math" panose="02040503050406030204" pitchFamily="18" charset="0"/>
                  </a:rPr>
                  <a:t>$C=\{2,4,6,8,\dots,98,100,102,\dots\}$</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$B-C$</a:t>
                </a:r>
                <a:r>
                  <a:rPr sz="2400" b="0">
                    <a:solidFill>
                      <a:srgbClr val="111827"/>
                    </a:solidFill>
                    <a:latin typeface="Arial"/>
                  </a:rPr>
                  <a:t> removes the even members of </a:t>
                </a:r>
                <a:r>
                  <a:rPr lang="en-IN" sz="2400">
                    <a:solidFill>
                      <a:srgbClr val="111827"/>
                    </a:solidFill>
                    <a:latin typeface="Cambria Math" panose="02040503050406030204" pitchFamily="18" charset="0"/>
                  </a:rPr>
                  <a:t>$B$</a:t>
                </a:r>
                <a:r>
                  <a:rPr sz="2400" b="0">
                    <a:solidFill>
                      <a:srgbClr val="111827"/>
                    </a:solidFill>
                    <a:latin typeface="Arial"/>
                  </a:rPr>
                  <a:t>: </a:t>
                </a:r>
                <a:r>
                  <a:rPr lang="en-IN" sz="2400">
                    <a:solidFill>
                      <a:srgbClr val="111827"/>
                    </a:solidFill>
                    <a:latin typeface="Cambria Math" panose="02040503050406030204" pitchFamily="18" charset="0"/>
                  </a:rPr>
                  <a:t>$B-C=\{7,13,19,\dots,91,97,103,\dots\}$</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 AP with first term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common difference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last term </a:t>
                </a:r>
                <a14:m>
                  <m:oMath xmlns:m="http://schemas.openxmlformats.org/officeDocument/2006/math">
                    <m:r>
                      <a:rPr lang="en-IN" sz="2400" i="1">
                        <a:solidFill>
                          <a:srgbClr val="111827"/>
                        </a:solidFill>
                        <a:latin typeface="Cambria Math" panose="02040503050406030204" pitchFamily="18" charset="0"/>
                      </a:rPr>
                      <m:t>97</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terms: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16</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832</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$A\cap(B-C)=\{7,13,19,\dots,91,97\}$</a:t>
                </a:r>
                <a:r>
                  <a:rPr sz="2400" b="0">
                    <a:solidFill>
                      <a:srgbClr val="111827"/>
                    </a:solidFill>
                    <a:latin typeface="Arial"/>
                  </a:rPr>
                  <a:t>, an AP with first term </a:t>
                </a:r>
                <a:r>
                  <a:rPr lang="en-IN" sz="2400">
                    <a:solidFill>
                      <a:srgbClr val="111827"/>
                    </a:solidFill>
                    <a:latin typeface="Cambria Math" panose="02040503050406030204" pitchFamily="18" charset="0"/>
                  </a:rPr>
                  <a:t>$7$</a:t>
                </a:r>
                <a:r>
                  <a:rPr sz="2400" b="0">
                    <a:solidFill>
                      <a:srgbClr val="111827"/>
                    </a:solidFill>
                    <a:latin typeface="Arial"/>
                  </a:rPr>
                  <a:t>, common difference </a:t>
                </a:r>
                <a:r>
                  <a:rPr lang="en-IN" sz="2400">
                    <a:solidFill>
                      <a:srgbClr val="111827"/>
                    </a:solidFill>
                    <a:latin typeface="Cambria Math" panose="02040503050406030204" pitchFamily="18" charset="0"/>
                  </a:rPr>
                  <a:t>$6$</a:t>
                </a:r>
                <a:r>
                  <a:rPr sz="2400" b="0">
                    <a:solidFill>
                      <a:srgbClr val="111827"/>
                    </a:solidFill>
                    <a:latin typeface="Arial"/>
                  </a:rPr>
                  <a:t>, last term </a:t>
                </a:r>
                <a:r>
                  <a:rPr lang="en-IN" sz="2400">
                    <a:solidFill>
                      <a:srgbClr val="111827"/>
                    </a:solidFill>
                    <a:latin typeface="Cambria Math" panose="02040503050406030204" pitchFamily="18" charset="0"/>
                  </a:rPr>
                  <a:t>$97$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terms: </a:t>
                </a:r>
                <a:r>
                  <a:rPr lang="en-IN" sz="2400">
                    <a:solidFill>
                      <a:srgbClr val="111827"/>
                    </a:solidFill>
                    <a:latin typeface="Cambria Math" panose="02040503050406030204" pitchFamily="18" charset="0"/>
                  </a:rPr>
                  <a:t>$\frac{97-7}{6}+1=16$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r>
                  <a:rPr lang="en-IN" sz="2400">
                    <a:solidFill>
                      <a:srgbClr val="111827"/>
                    </a:solidFill>
                    <a:latin typeface="Cambria Math" panose="02040503050406030204" pitchFamily="18" charset="0"/>
                  </a:rPr>
                  <a:t>$=\frac{16}{2}(7+97)=8\times104=832$</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832</a:t>
            </a:r>
            <a:endParaRPr sz="2800">
              <a:solidFill>
                <a:srgbClr val="15803D"/>
              </a:solidFill>
            </a:endParaRP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Intersect residue classes by the Chinese remainder idea: odd and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a:rPr lang="en-IN" sz="2400" i="1">
                        <a:solidFill>
                          <a:srgbClr val="78350F"/>
                        </a:solidFill>
                        <a:latin typeface="Cambria Math" panose="02040503050406030204" pitchFamily="18" charset="0"/>
                      </a:rPr>
                      <m:t> </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mod</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means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a:rPr lang="en-IN" sz="2400" i="1">
                        <a:solidFill>
                          <a:srgbClr val="78350F"/>
                        </a:solidFill>
                        <a:latin typeface="Cambria Math" panose="02040503050406030204" pitchFamily="18" charset="0"/>
                      </a:rPr>
                      <m:t> </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mod</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6</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(excluding </a:t>
                </a:r>
                <a14:m>
                  <m:oMath xmlns:m="http://schemas.openxmlformats.org/officeDocument/2006/math">
                    <m:r>
                      <a:rPr lang="en-IN" sz="2400" i="1">
                        <a:solidFill>
                          <a:srgbClr val="78350F"/>
                        </a:solidFill>
                        <a:latin typeface="Cambria Math" panose="02040503050406030204" pitchFamily="18" charset="0"/>
                      </a:rPr>
                      <m:t>1</m:t>
                    </m:r>
                  </m:oMath>
                </a14:m>
                <a:r>
                  <a:rPr sz="2400" b="0">
                    <a:solidFill>
                      <a:srgbClr val="78350F"/>
                    </a:solidFill>
                    <a:latin typeface="Arial"/>
                  </a:rPr>
                  <a:t> since </a:t>
                </a:r>
                <a14:m>
                  <m:oMath xmlns:m="http://schemas.openxmlformats.org/officeDocument/2006/math">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Intersect residue classes by the Chinese remainder idea: odd and </a:t>
                </a:r>
                <a:r>
                  <a:rPr lang="en-IN" sz="2400">
                    <a:solidFill>
                      <a:srgbClr val="78350F"/>
                    </a:solidFill>
                    <a:latin typeface="Cambria Math" panose="02040503050406030204" pitchFamily="18" charset="0"/>
                  </a:rPr>
                  <a:t>$\equiv1\pmod3$</a:t>
                </a:r>
                <a:r>
                  <a:rPr sz="2400" b="0">
                    <a:solidFill>
                      <a:srgbClr val="78350F"/>
                    </a:solidFill>
                    <a:latin typeface="Arial"/>
                  </a:rPr>
                  <a:t> means </a:t>
                </a:r>
                <a:r>
                  <a:rPr lang="en-IN" sz="2400">
                    <a:solidFill>
                      <a:srgbClr val="78350F"/>
                    </a:solidFill>
                    <a:latin typeface="Cambria Math" panose="02040503050406030204" pitchFamily="18" charset="0"/>
                  </a:rPr>
                  <a:t>$\equiv1\pmod6$</a:t>
                </a:r>
                <a:r>
                  <a:rPr sz="2400" b="0">
                    <a:solidFill>
                      <a:srgbClr val="78350F"/>
                    </a:solidFill>
                    <a:latin typeface="Arial"/>
                  </a:rPr>
                  <a:t> (excluding </a:t>
                </a:r>
                <a:r>
                  <a:rPr lang="en-IN" sz="2400">
                    <a:solidFill>
                      <a:srgbClr val="78350F"/>
                    </a:solidFill>
                    <a:latin typeface="Cambria Math" panose="02040503050406030204" pitchFamily="18" charset="0"/>
                  </a:rPr>
                  <a:t>$1$</a:t>
                </a:r>
                <a:r>
                  <a:rPr sz="2400" b="0">
                    <a:solidFill>
                      <a:srgbClr val="78350F"/>
                    </a:solidFill>
                    <a:latin typeface="Arial"/>
                  </a:rPr>
                  <a:t> since </a:t>
                </a:r>
                <a:r>
                  <a:rPr lang="en-IN" sz="2400">
                    <a:solidFill>
                      <a:srgbClr val="78350F"/>
                    </a:solidFill>
                    <a:latin typeface="Cambria Math" panose="02040503050406030204" pitchFamily="18" charset="0"/>
                  </a:rPr>
                  <a:t>$k\ge1$</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means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(because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means </a:t>
                </a:r>
                <a14:m>
                  <m:oMath xmlns:m="http://schemas.openxmlformats.org/officeDocument/2006/math">
                    <m:r>
                      <a:rPr lang="en-IN" sz="2400" i="1">
                        <a:solidFill>
                          <a:srgbClr val="111827"/>
                        </a:solidFill>
                        <a:latin typeface="Cambria Math" panose="02040503050406030204" pitchFamily="18" charset="0"/>
                      </a:rPr>
                      <m:t>𝑏</m:t>
                    </m:r>
                  </m:oMath>
                </a14:m>
                <a:r>
                  <a:rPr sz="2400" b="0">
                    <a:solidFill>
                      <a:srgbClr val="111827"/>
                    </a:solidFill>
                    <a:latin typeface="Arial"/>
                  </a:rPr>
                  <a:t> is odd.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Odd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means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excludes </a:t>
                </a:r>
                <a14:m>
                  <m:oMath xmlns:m="http://schemas.openxmlformats.org/officeDocument/2006/math">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14:m>
                  <m:oMath xmlns:m="http://schemas.openxmlformats.org/officeDocument/2006/math">
                    <m:r>
                      <m:rPr>
                        <m:sty m:val="p"/>
                      </m:rPr>
                      <a:rPr lang="en-IN" sz="2400">
                        <a:solidFill>
                          <a:srgbClr val="111827"/>
                        </a:solidFill>
                        <a:latin typeface="Cambria Math" panose="02040503050406030204" pitchFamily="18" charset="0"/>
                      </a:rPr>
                      <m:t>=</m:t>
                    </m:r>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16</m:t>
                        </m:r>
                      </m:sup>
                      <m:e>
                        <m:r>
                          <m:rPr>
                            <m:sty m:val="p"/>
                          </m:rPr>
                          <a:rPr lang="en-IN" sz="2400">
                            <a:solidFill>
                              <a:srgbClr val="111827"/>
                            </a:solidFill>
                            <a:latin typeface="Cambria Math" panose="02040503050406030204" pitchFamily="18" charset="0"/>
                          </a:rPr>
                          <m:t>(</m:t>
                        </m:r>
                      </m:e>
                    </m:nary>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832</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$b\in B$</a:t>
                </a:r>
                <a:r>
                  <a:rPr sz="2400" b="0">
                    <a:solidFill>
                      <a:srgbClr val="111827"/>
                    </a:solidFill>
                    <a:latin typeface="Arial"/>
                  </a:rPr>
                  <a:t> means </a:t>
                </a:r>
                <a:r>
                  <a:rPr lang="en-IN" sz="2400">
                    <a:solidFill>
                      <a:srgbClr val="111827"/>
                    </a:solidFill>
                    <a:latin typeface="Cambria Math" panose="02040503050406030204" pitchFamily="18" charset="0"/>
                  </a:rPr>
                  <a:t>$b\equiv1\pmod3$</a:t>
                </a:r>
                <a:r>
                  <a:rPr sz="2400" b="0">
                    <a:solidFill>
                      <a:srgbClr val="111827"/>
                    </a:solidFill>
                    <a:latin typeface="Arial"/>
                  </a:rPr>
                  <a:t> and </a:t>
                </a:r>
                <a:r>
                  <a:rPr lang="en-IN" sz="2400">
                    <a:solidFill>
                      <a:srgbClr val="111827"/>
                    </a:solidFill>
                    <a:latin typeface="Cambria Math" panose="02040503050406030204" pitchFamily="18" charset="0"/>
                  </a:rPr>
                  <a:t>$b\ge4$</a:t>
                </a:r>
                <a:r>
                  <a:rPr sz="2400" b="0">
                    <a:solidFill>
                      <a:srgbClr val="111827"/>
                    </a:solidFill>
                    <a:latin typeface="Arial"/>
                  </a:rPr>
                  <a:t> (because </a:t>
                </a:r>
                <a:r>
                  <a:rPr lang="en-IN" sz="2400">
                    <a:solidFill>
                      <a:srgbClr val="111827"/>
                    </a:solidFill>
                    <a:latin typeface="Cambria Math" panose="02040503050406030204" pitchFamily="18" charset="0"/>
                  </a:rPr>
                  <a:t>$k\ge1$</a:t>
                </a:r>
                <a:r>
                  <a:rPr sz="2400" b="0">
                    <a:solidFill>
                      <a:srgbClr val="111827"/>
                    </a:solidFill>
                    <a:latin typeface="Arial"/>
                  </a:rPr>
                  <a:t>); </a:t>
                </a:r>
                <a:r>
                  <a:rPr lang="en-IN" sz="2400">
                    <a:solidFill>
                      <a:srgbClr val="111827"/>
                    </a:solidFill>
                    <a:latin typeface="Cambria Math" panose="02040503050406030204" pitchFamily="18" charset="0"/>
                  </a:rPr>
                  <a:t>$b\notin C$</a:t>
                </a:r>
                <a:r>
                  <a:rPr sz="2400" b="0">
                    <a:solidFill>
                      <a:srgbClr val="111827"/>
                    </a:solidFill>
                    <a:latin typeface="Arial"/>
                  </a:rPr>
                  <a:t> means </a:t>
                </a:r>
                <a:r>
                  <a:rPr lang="en-IN" sz="2400">
                    <a:solidFill>
                      <a:srgbClr val="111827"/>
                    </a:solidFill>
                    <a:latin typeface="Cambria Math" panose="02040503050406030204" pitchFamily="18" charset="0"/>
                  </a:rPr>
                  <a:t>$b$</a:t>
                </a:r>
                <a:r>
                  <a:rPr sz="2400" b="0">
                    <a:solidFill>
                      <a:srgbClr val="111827"/>
                    </a:solidFill>
                    <a:latin typeface="Arial"/>
                  </a:rPr>
                  <a:t> is odd.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Odd and </a:t>
                </a:r>
                <a:r>
                  <a:rPr lang="en-IN" sz="2400">
                    <a:solidFill>
                      <a:srgbClr val="111827"/>
                    </a:solidFill>
                    <a:latin typeface="Cambria Math" panose="02040503050406030204" pitchFamily="18" charset="0"/>
                  </a:rPr>
                  <a:t>$\equiv1\pmod3$</a:t>
                </a:r>
                <a:r>
                  <a:rPr sz="2400" b="0">
                    <a:solidFill>
                      <a:srgbClr val="111827"/>
                    </a:solidFill>
                    <a:latin typeface="Arial"/>
                  </a:rPr>
                  <a:t> means </a:t>
                </a:r>
                <a:r>
                  <a:rPr lang="en-IN" sz="2400">
                    <a:solidFill>
                      <a:srgbClr val="111827"/>
                    </a:solidFill>
                    <a:latin typeface="Cambria Math" panose="02040503050406030204" pitchFamily="18" charset="0"/>
                  </a:rPr>
                  <a:t>$b\equiv1\pmod6$</a:t>
                </a:r>
                <a:r>
                  <a:rPr sz="2400" b="0">
                    <a:solidFill>
                      <a:srgbClr val="111827"/>
                    </a:solidFill>
                    <a:latin typeface="Arial"/>
                  </a:rPr>
                  <a:t>, i.e. </a:t>
                </a:r>
                <a:r>
                  <a:rPr lang="en-IN" sz="2400">
                    <a:solidFill>
                      <a:srgbClr val="111827"/>
                    </a:solidFill>
                    <a:latin typeface="Cambria Math" panose="02040503050406030204" pitchFamily="18" charset="0"/>
                  </a:rPr>
                  <a:t>$b=6j+1$</a:t>
                </a:r>
                <a:r>
                  <a:rPr sz="2400" b="0">
                    <a:solidFill>
                      <a:srgbClr val="111827"/>
                    </a:solidFill>
                    <a:latin typeface="Arial"/>
                  </a:rPr>
                  <a:t>; </a:t>
                </a:r>
                <a:r>
                  <a:rPr lang="en-IN" sz="2400">
                    <a:solidFill>
                      <a:srgbClr val="111827"/>
                    </a:solidFill>
                    <a:latin typeface="Cambria Math" panose="02040503050406030204" pitchFamily="18" charset="0"/>
                  </a:rPr>
                  <a:t>$b\ge4$</a:t>
                </a:r>
                <a:r>
                  <a:rPr sz="2400" b="0">
                    <a:solidFill>
                      <a:srgbClr val="111827"/>
                    </a:solidFill>
                    <a:latin typeface="Arial"/>
                  </a:rPr>
                  <a:t> excludes </a:t>
                </a:r>
                <a:r>
                  <a:rPr lang="en-IN" sz="2400">
                    <a:solidFill>
                      <a:srgbClr val="111827"/>
                    </a:solidFill>
                    <a:latin typeface="Cambria Math" panose="02040503050406030204" pitchFamily="18" charset="0"/>
                  </a:rPr>
                  <a:t>$j=0$</a:t>
                </a:r>
                <a:r>
                  <a:rPr sz="2400" b="0">
                    <a:solidFill>
                      <a:srgbClr val="111827"/>
                    </a:solidFill>
                    <a:latin typeface="Arial"/>
                  </a:rPr>
                  <a:t>, so </a:t>
                </a:r>
                <a:r>
                  <a:rPr lang="en-IN" sz="2400">
                    <a:solidFill>
                      <a:srgbClr val="111827"/>
                    </a:solidFill>
                    <a:latin typeface="Cambria Math" panose="02040503050406030204" pitchFamily="18" charset="0"/>
                  </a:rPr>
                  <a:t>$j\ge1$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a:t>
                </a:r>
                <a:r>
                  <a:rPr sz="2400" b="0">
                    <a:solidFill>
                      <a:srgbClr val="111827"/>
                    </a:solidFill>
                    <a:latin typeface="Arial"/>
                  </a:rPr>
                  <a:t> is </a:t>
                </a:r>
                <a:r>
                  <a:rPr lang="en-IN" sz="2400">
                    <a:solidFill>
                      <a:srgbClr val="111827"/>
                    </a:solidFill>
                    <a:latin typeface="Cambria Math" panose="02040503050406030204" pitchFamily="18" charset="0"/>
                  </a:rPr>
                  <a:t>$\{1,\dots,100\}$</a:t>
                </a:r>
                <a:r>
                  <a:rPr sz="2400" b="0">
                    <a:solidFill>
                      <a:srgbClr val="111827"/>
                    </a:solidFill>
                    <a:latin typeface="Arial"/>
                  </a:rPr>
                  <a:t>, so </a:t>
                </a:r>
                <a:r>
                  <a:rPr lang="en-IN" sz="2400">
                    <a:solidFill>
                      <a:srgbClr val="111827"/>
                    </a:solidFill>
                    <a:latin typeface="Cambria Math" panose="02040503050406030204" pitchFamily="18" charset="0"/>
                  </a:rPr>
                  <a:t>$6j+1\le100$</a:t>
                </a:r>
                <a:r>
                  <a:rPr sz="2400" b="0">
                    <a:solidFill>
                      <a:srgbClr val="111827"/>
                    </a:solidFill>
                    <a:latin typeface="Arial"/>
                  </a:rPr>
                  <a:t> gives </a:t>
                </a:r>
                <a:r>
                  <a:rPr lang="en-IN" sz="2400">
                    <a:solidFill>
                      <a:srgbClr val="111827"/>
                    </a:solidFill>
                    <a:latin typeface="Cambria Math" panose="02040503050406030204" pitchFamily="18" charset="0"/>
                  </a:rPr>
                  <a:t>$j\le16$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r>
                  <a:rPr lang="en-IN" sz="2400">
                    <a:solidFill>
                      <a:srgbClr val="111827"/>
                    </a:solidFill>
                    <a:latin typeface="Cambria Math" panose="02040503050406030204" pitchFamily="18" charset="0"/>
                  </a:rPr>
                  <a:t>$=\sum_{j=1}^{16}(6j+1)=6\cdot\frac{16\cdot17}{2}+16=816+16=832$</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832</a:t>
            </a:r>
            <a:endParaRPr sz="2800">
              <a:solidFill>
                <a:srgbClr val="15803D"/>
              </a:solidFill>
            </a:endParaRP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Two congruence conditions with coprime moduli combine into one class modulo the product: odd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Mind the starting point: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removes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from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oMath>
                </a14:m>
                <a:r>
                  <a:rPr sz="2400" b="0">
                    <a:solidFill>
                      <a:srgbClr val="111827"/>
                    </a:solidFill>
                    <a:latin typeface="Arial"/>
                  </a:rPr>
                  <a:t>: find the largest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oMath>
                </a14:m>
                <a:r>
                  <a:rPr sz="2400" b="0">
                    <a:solidFill>
                      <a:srgbClr val="111827"/>
                    </a:solidFill>
                    <a:latin typeface="Arial"/>
                  </a:rPr>
                  <a:t> because </a:t>
                </a:r>
                <a14:m>
                  <m:oMath xmlns:m="http://schemas.openxmlformats.org/officeDocument/2006/math">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9900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101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10100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Two congruence conditions with coprime moduli combine into one class modulo the product: odd and </a:t>
                </a:r>
                <a:r>
                  <a:rPr lang="en-IN" sz="2400">
                    <a:solidFill>
                      <a:srgbClr val="111827"/>
                    </a:solidFill>
                    <a:latin typeface="Cambria Math" panose="02040503050406030204" pitchFamily="18" charset="0"/>
                  </a:rPr>
                  <a:t>$\equiv1\pmod3\Rightarrow\equiv1\pmod6$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Mind the starting point: </a:t>
                </a:r>
                <a:r>
                  <a:rPr lang="en-IN" sz="2400">
                    <a:solidFill>
                      <a:srgbClr val="111827"/>
                    </a:solidFill>
                    <a:latin typeface="Cambria Math" panose="02040503050406030204" pitchFamily="18" charset="0"/>
                  </a:rPr>
                  <a:t>$k\in\mathbb{N}$</a:t>
                </a:r>
                <a:r>
                  <a:rPr sz="2400" b="0">
                    <a:solidFill>
                      <a:srgbClr val="111827"/>
                    </a:solidFill>
                    <a:latin typeface="Arial"/>
                  </a:rPr>
                  <a:t> (</a:t>
                </a:r>
                <a:r>
                  <a:rPr lang="en-IN" sz="2400">
                    <a:solidFill>
                      <a:srgbClr val="111827"/>
                    </a:solidFill>
                    <a:latin typeface="Cambria Math" panose="02040503050406030204" pitchFamily="18" charset="0"/>
                  </a:rPr>
                  <a:t>$k\ge1$</a:t>
                </a:r>
                <a:r>
                  <a:rPr sz="2400" b="0">
                    <a:solidFill>
                      <a:srgbClr val="111827"/>
                    </a:solidFill>
                    <a:latin typeface="Arial"/>
                  </a:rPr>
                  <a:t>) removes </a:t>
                </a:r>
                <a:r>
                  <a:rPr lang="en-IN" sz="2400">
                    <a:solidFill>
                      <a:srgbClr val="111827"/>
                    </a:solidFill>
                    <a:latin typeface="Cambria Math" panose="02040503050406030204" pitchFamily="18" charset="0"/>
                  </a:rPr>
                  <a:t>$1$</a:t>
                </a:r>
                <a:r>
                  <a:rPr sz="2400" b="0">
                    <a:solidFill>
                      <a:srgbClr val="111827"/>
                    </a:solidFill>
                    <a:latin typeface="Arial"/>
                  </a:rPr>
                  <a:t> from </a:t>
                </a:r>
                <a:r>
                  <a:rPr lang="en-IN" sz="2400">
                    <a:solidFill>
                      <a:srgbClr val="111827"/>
                    </a:solidFill>
                    <a:latin typeface="Cambria Math" panose="02040503050406030204" pitchFamily="18" charset="0"/>
                  </a:rPr>
                  <a:t>$\{3k+1\}$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$n(n-1)\le M$</a:t>
                </a:r>
                <a:r>
                  <a:rPr sz="2400" b="0">
                    <a:solidFill>
                      <a:srgbClr val="111827"/>
                    </a:solidFill>
                    <a:latin typeface="Arial"/>
                  </a:rPr>
                  <a:t>: find the largest </a:t>
                </a:r>
                <a:r>
                  <a:rPr lang="en-IN" sz="2400">
                    <a:solidFill>
                      <a:srgbClr val="111827"/>
                    </a:solidFill>
                    <a:latin typeface="Cambria Math" panose="02040503050406030204" pitchFamily="18" charset="0"/>
                  </a:rPr>
                  <a:t>$n$</a:t>
                </a:r>
                <a:r>
                  <a:rPr sz="2400" b="0">
                    <a:solidFill>
                      <a:srgbClr val="111827"/>
                    </a:solidFill>
                    <a:latin typeface="Arial"/>
                  </a:rPr>
                  <a:t> with </a:t>
                </a:r>
                <a:r>
                  <a:rPr lang="en-IN" sz="2400">
                    <a:solidFill>
                      <a:srgbClr val="111827"/>
                    </a:solidFill>
                    <a:latin typeface="Cambria Math" panose="02040503050406030204" pitchFamily="18" charset="0"/>
                  </a:rPr>
                  <a:t>$n(n-1)\le M$</a:t>
                </a:r>
                <a:r>
                  <a:rPr sz="2400" b="0">
                    <a:solidFill>
                      <a:srgbClr val="111827"/>
                    </a:solidFill>
                    <a:latin typeface="Arial"/>
                  </a:rPr>
                  <a:t>; here </a:t>
                </a:r>
                <a:r>
                  <a:rPr lang="en-IN" sz="2400">
                    <a:solidFill>
                      <a:srgbClr val="111827"/>
                    </a:solidFill>
                    <a:latin typeface="Cambria Math" panose="02040503050406030204" pitchFamily="18" charset="0"/>
                  </a:rPr>
                  <a:t>$n=100$</a:t>
                </a:r>
                <a:r>
                  <a:rPr sz="2400" b="0">
                    <a:solidFill>
                      <a:srgbClr val="111827"/>
                    </a:solidFill>
                    <a:latin typeface="Arial"/>
                  </a:rPr>
                  <a:t> because </a:t>
                </a:r>
                <a:r>
                  <a:rPr lang="en-IN" sz="2400">
                    <a:solidFill>
                      <a:srgbClr val="111827"/>
                    </a:solidFill>
                    <a:latin typeface="Cambria Math" panose="02040503050406030204" pitchFamily="18" charset="0"/>
                  </a:rPr>
                  <a:t>$100\cdot99=9900$</a:t>
                </a:r>
                <a:r>
                  <a:rPr sz="2400" b="0">
                    <a:solidFill>
                      <a:srgbClr val="111827"/>
                    </a:solidFill>
                    <a:latin typeface="Arial"/>
                  </a:rPr>
                  <a:t> and </a:t>
                </a:r>
                <a:r>
                  <a:rPr lang="en-IN" sz="2400">
                    <a:solidFill>
                      <a:srgbClr val="111827"/>
                    </a:solidFill>
                    <a:latin typeface="Cambria Math" panose="02040503050406030204" pitchFamily="18" charset="0"/>
                  </a:rPr>
                  <a:t>$101\cdot100=10100$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5</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Single Correct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Q20 – Q21</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Marks not printed in the paper: +4 assumed (JEE Advanced default)</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Questions are from AIEEE / JEE Main papers</a:t>
            </a:r>
            <a:endParaRPr sz="2800">
              <a:solidFill>
                <a:srgbClr val="FFFFFF"/>
              </a:solidFill>
            </a:endParaRP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74954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Out of all the patients in a hospital </a:t>
                </a:r>
                <a14:m>
                  <m:oMath xmlns:m="http://schemas.openxmlformats.org/officeDocument/2006/math">
                    <m:r>
                      <a:rPr lang="en-IN" sz="2400" i="1">
                        <a:solidFill>
                          <a:srgbClr val="111827"/>
                        </a:solidFill>
                        <a:latin typeface="Cambria Math" panose="02040503050406030204" pitchFamily="18" charset="0"/>
                      </a:rPr>
                      <m:t>89</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are found to be suffering from heart ailment and </a:t>
                </a:r>
                <a14:m>
                  <m:oMath xmlns:m="http://schemas.openxmlformats.org/officeDocument/2006/math">
                    <m:r>
                      <a:rPr lang="en-IN" sz="2400" i="1">
                        <a:solidFill>
                          <a:srgbClr val="111827"/>
                        </a:solidFill>
                        <a:latin typeface="Cambria Math" panose="02040503050406030204" pitchFamily="18" charset="0"/>
                      </a:rPr>
                      <m:t>98</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are suffering from lungs infection. If </a:t>
                </a:r>
                <a14:m>
                  <m:oMath xmlns:m="http://schemas.openxmlformats.org/officeDocument/2006/math">
                    <m:r>
                      <a:rPr lang="en-IN" sz="2400" i="1">
                        <a:solidFill>
                          <a:srgbClr val="111827"/>
                        </a:solidFill>
                        <a:latin typeface="Cambria Math" panose="02040503050406030204" pitchFamily="18" charset="0"/>
                      </a:rPr>
                      <m:t>𝐾</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of them are suffering from both ailments, then </a:t>
                </a:r>
                <a14:m>
                  <m:oMath xmlns:m="http://schemas.openxmlformats.org/officeDocument/2006/math">
                    <m:r>
                      <a:rPr lang="en-IN" sz="2400" i="1">
                        <a:solidFill>
                          <a:srgbClr val="111827"/>
                        </a:solidFill>
                        <a:latin typeface="Cambria Math" panose="02040503050406030204" pitchFamily="18" charset="0"/>
                      </a:rPr>
                      <m:t>𝐾</m:t>
                    </m:r>
                  </m:oMath>
                </a14:m>
                <a:r>
                  <a:rPr sz="2400" b="0">
                    <a:solidFill>
                      <a:srgbClr val="111827"/>
                    </a:solidFill>
                    <a:latin typeface="Arial"/>
                  </a:rPr>
                  <a:t> cannot belong to the set: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{84, 87, 90, 93}</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{79, 81, 83, 85}</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{84, 86, 88, 90}</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{80, 83, 86, 89}</a:t>
                </a:r>
                <a:endParaRPr sz="2400">
                  <a:solidFill>
                    <a:srgbClr val="111827"/>
                  </a:solidFill>
                </a:endParaRPr>
              </a:p>
            </p:txBody>
          </p:sp>
        </mc:Choice>
        <mc:Fallback>
          <p:sp>
            <p:nvSpPr>
              <p:cNvPr id="4" name="Rounded Rectangle 3"/>
              <p:cNvSpPr/>
              <p:nvPr/>
            </p:nvSpPr>
            <p:spPr>
              <a:xfrm>
                <a:off x="731520" y="1280160"/>
                <a:ext cx="10725912" cy="374954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Out of all the patients in a hospital </a:t>
                </a:r>
                <a:r>
                  <a:rPr lang="en-IN" sz="2400">
                    <a:solidFill>
                      <a:srgbClr val="111827"/>
                    </a:solidFill>
                    <a:latin typeface="Cambria Math" panose="02040503050406030204" pitchFamily="18" charset="0"/>
                  </a:rPr>
                  <a:t>$89\%$</a:t>
                </a:r>
                <a:r>
                  <a:rPr sz="2400" b="0">
                    <a:solidFill>
                      <a:srgbClr val="111827"/>
                    </a:solidFill>
                    <a:latin typeface="Arial"/>
                  </a:rPr>
                  <a:t> are found to be suffering from heart ailment and </a:t>
                </a:r>
                <a:r>
                  <a:rPr lang="en-IN" sz="2400">
                    <a:solidFill>
                      <a:srgbClr val="111827"/>
                    </a:solidFill>
                    <a:latin typeface="Cambria Math" panose="02040503050406030204" pitchFamily="18" charset="0"/>
                  </a:rPr>
                  <a:t>$98\%$</a:t>
                </a:r>
                <a:r>
                  <a:rPr sz="2400" b="0">
                    <a:solidFill>
                      <a:srgbClr val="111827"/>
                    </a:solidFill>
                    <a:latin typeface="Arial"/>
                  </a:rPr>
                  <a:t> are suffering from lungs infection. If </a:t>
                </a:r>
                <a:r>
                  <a:rPr lang="en-IN" sz="2400">
                    <a:solidFill>
                      <a:srgbClr val="111827"/>
                    </a:solidFill>
                    <a:latin typeface="Cambria Math" panose="02040503050406030204" pitchFamily="18" charset="0"/>
                  </a:rPr>
                  <a:t>$K\%$</a:t>
                </a:r>
                <a:r>
                  <a:rPr sz="2400" b="0">
                    <a:solidFill>
                      <a:srgbClr val="111827"/>
                    </a:solidFill>
                    <a:latin typeface="Arial"/>
                  </a:rPr>
                  <a:t> of them are suffering from both ailments, then </a:t>
                </a:r>
                <a:r>
                  <a:rPr lang="en-IN" sz="2400">
                    <a:solidFill>
                      <a:srgbClr val="111827"/>
                    </a:solidFill>
                    <a:latin typeface="Cambria Math" panose="02040503050406030204" pitchFamily="18" charset="0"/>
                  </a:rPr>
                  <a:t>$K$</a:t>
                </a:r>
                <a:r>
                  <a:rPr sz="2400" b="0">
                    <a:solidFill>
                      <a:srgbClr val="111827"/>
                    </a:solidFill>
                    <a:latin typeface="Arial"/>
                  </a:rPr>
                  <a:t> cannot belong to the set: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{84, 87, 90, 93}</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{79, 81, 83, 85}</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{84, 86, 88, 90}</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{80, 83, 86, 89}</a:t>
                </a:r>
                <a:endParaRPr sz="2400">
                  <a:solidFill>
                    <a:srgbClr val="111827"/>
                  </a:solidFill>
                </a:endParaRPr>
              </a:p>
            </p:txBody>
          </p:sp>
        </mc:Fallback>
      </mc:AlternateContent>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ectangle 3"/>
          <p:cNvSpPr/>
          <p:nvPr/>
        </p:nvSpPr>
        <p:spPr>
          <a:xfrm>
            <a:off x="731520" y="128016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Cardinality of the union of two sets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438144"/>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union cannot exceed </a:t>
                </a:r>
                <a14:m>
                  <m:oMath xmlns:m="http://schemas.openxmlformats.org/officeDocument/2006/math">
                    <m:r>
                      <a:rPr lang="en-IN" sz="2400" i="1">
                        <a:solidFill>
                          <a:srgbClr val="78350F"/>
                        </a:solidFill>
                        <a:latin typeface="Cambria Math" panose="02040503050406030204" pitchFamily="18" charset="0"/>
                      </a:rPr>
                      <m:t>100</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so </a:t>
                </a:r>
                <a14:m>
                  <m:oMath xmlns:m="http://schemas.openxmlformats.org/officeDocument/2006/math">
                    <m:r>
                      <a:rPr lang="en-IN" sz="2400" i="1">
                        <a:solidFill>
                          <a:srgbClr val="78350F"/>
                        </a:solidFill>
                        <a:latin typeface="Cambria Math" panose="02040503050406030204" pitchFamily="18" charset="0"/>
                      </a:rPr>
                      <m:t>𝐾</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87</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𝐾</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89</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3438144"/>
                <a:ext cx="10725912" cy="73761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union cannot exceed </a:t>
                </a:r>
                <a:r>
                  <a:rPr lang="en-IN" sz="2400">
                    <a:solidFill>
                      <a:srgbClr val="78350F"/>
                    </a:solidFill>
                    <a:latin typeface="Cambria Math" panose="02040503050406030204" pitchFamily="18" charset="0"/>
                  </a:rPr>
                  <a:t>$100\%$</a:t>
                </a:r>
                <a:r>
                  <a:rPr sz="2400" b="0">
                    <a:solidFill>
                      <a:srgbClr val="78350F"/>
                    </a:solidFill>
                    <a:latin typeface="Arial"/>
                  </a:rPr>
                  <a:t>, so </a:t>
                </a:r>
                <a:r>
                  <a:rPr lang="en-IN" sz="2400">
                    <a:solidFill>
                      <a:srgbClr val="78350F"/>
                    </a:solidFill>
                    <a:latin typeface="Cambria Math" panose="02040503050406030204" pitchFamily="18" charset="0"/>
                  </a:rPr>
                  <a:t>$K\ge87$</a:t>
                </a:r>
                <a:r>
                  <a:rPr sz="2400" b="0">
                    <a:solidFill>
                      <a:srgbClr val="78350F"/>
                    </a:solidFill>
                    <a:latin typeface="Arial"/>
                  </a:rPr>
                  <a:t>; and </a:t>
                </a:r>
                <a:r>
                  <a:rPr lang="en-IN" sz="2400">
                    <a:solidFill>
                      <a:srgbClr val="78350F"/>
                    </a:solidFill>
                    <a:latin typeface="Cambria Math" panose="02040503050406030204" pitchFamily="18" charset="0"/>
                  </a:rPr>
                  <a:t>$K\le89$</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4312920"/>
                <a:ext cx="10725912" cy="23621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 heart only, </a:t>
                </a:r>
                <a14:m>
                  <m:oMath xmlns:m="http://schemas.openxmlformats.org/officeDocument/2006/math">
                    <m:r>
                      <a:rPr lang="en-IN" sz="2400" i="1">
                        <a:solidFill>
                          <a:srgbClr val="111827"/>
                        </a:solidFill>
                        <a:latin typeface="Cambria Math" panose="02040503050406030204" pitchFamily="18" charset="0"/>
                      </a:rPr>
                      <m:t>𝑏</m:t>
                    </m:r>
                  </m:oMath>
                </a14:m>
                <a:r>
                  <a:rPr sz="2400" b="0">
                    <a:solidFill>
                      <a:srgbClr val="111827"/>
                    </a:solidFill>
                    <a:latin typeface="Arial"/>
                  </a:rPr>
                  <a:t> = lungs only, </a:t>
                </a:r>
                <a14:m>
                  <m:oMath xmlns:m="http://schemas.openxmlformats.org/officeDocument/2006/math">
                    <m:r>
                      <a:rPr lang="en-IN" sz="2400" i="1">
                        <a:solidFill>
                          <a:srgbClr val="111827"/>
                        </a:solidFill>
                        <a:latin typeface="Cambria Math" panose="02040503050406030204" pitchFamily="18" charset="0"/>
                      </a:rPr>
                      <m:t>𝑐</m:t>
                    </m:r>
                  </m:oMath>
                </a14:m>
                <a:r>
                  <a:rPr sz="2400" b="0">
                    <a:solidFill>
                      <a:srgbClr val="111827"/>
                    </a:solidFill>
                    <a:latin typeface="Arial"/>
                  </a:rPr>
                  <a:t> = both, </a:t>
                </a:r>
                <a14:m>
                  <m:oMath xmlns:m="http://schemas.openxmlformats.org/officeDocument/2006/math">
                    <m:r>
                      <a:rPr lang="en-IN" sz="2400" i="1">
                        <a:solidFill>
                          <a:srgbClr val="111827"/>
                        </a:solidFill>
                        <a:latin typeface="Cambria Math" panose="02040503050406030204" pitchFamily="18" charset="0"/>
                      </a:rPr>
                      <m:t>𝑑</m:t>
                    </m:r>
                  </m:oMath>
                </a14:m>
                <a:r>
                  <a:rPr sz="2400" b="0">
                    <a:solidFill>
                      <a:srgbClr val="111827"/>
                    </a:solidFill>
                    <a:latin typeface="Arial"/>
                  </a:rPr>
                  <a:t> = neither (in percent):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Heart: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89</m:t>
                    </m:r>
                  </m:oMath>
                </a14:m>
                <a:r>
                  <a:rPr sz="2400" b="0">
                    <a:solidFill>
                      <a:srgbClr val="111827"/>
                    </a:solidFill>
                    <a:latin typeface="Arial"/>
                  </a:rPr>
                  <a:t>. Lungs: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Adding the last two: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187</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4312920"/>
                <a:ext cx="10725912" cy="23621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a:t>
                </a:r>
                <a:r>
                  <a:rPr sz="2400" b="0">
                    <a:solidFill>
                      <a:srgbClr val="111827"/>
                    </a:solidFill>
                    <a:latin typeface="Arial"/>
                  </a:rPr>
                  <a:t> = heart only, </a:t>
                </a:r>
                <a:r>
                  <a:rPr lang="en-IN" sz="2400">
                    <a:solidFill>
                      <a:srgbClr val="111827"/>
                    </a:solidFill>
                    <a:latin typeface="Cambria Math" panose="02040503050406030204" pitchFamily="18" charset="0"/>
                  </a:rPr>
                  <a:t>$b$</a:t>
                </a:r>
                <a:r>
                  <a:rPr sz="2400" b="0">
                    <a:solidFill>
                      <a:srgbClr val="111827"/>
                    </a:solidFill>
                    <a:latin typeface="Arial"/>
                  </a:rPr>
                  <a:t> = lungs only, </a:t>
                </a:r>
                <a:r>
                  <a:rPr lang="en-IN" sz="2400">
                    <a:solidFill>
                      <a:srgbClr val="111827"/>
                    </a:solidFill>
                    <a:latin typeface="Cambria Math" panose="02040503050406030204" pitchFamily="18" charset="0"/>
                  </a:rPr>
                  <a:t>$c$</a:t>
                </a:r>
                <a:r>
                  <a:rPr sz="2400" b="0">
                    <a:solidFill>
                      <a:srgbClr val="111827"/>
                    </a:solidFill>
                    <a:latin typeface="Arial"/>
                  </a:rPr>
                  <a:t> = both, </a:t>
                </a:r>
                <a:r>
                  <a:rPr lang="en-IN" sz="2400">
                    <a:solidFill>
                      <a:srgbClr val="111827"/>
                    </a:solidFill>
                    <a:latin typeface="Cambria Math" panose="02040503050406030204" pitchFamily="18" charset="0"/>
                  </a:rPr>
                  <a:t>$d$</a:t>
                </a:r>
                <a:r>
                  <a:rPr sz="2400" b="0">
                    <a:solidFill>
                      <a:srgbClr val="111827"/>
                    </a:solidFill>
                    <a:latin typeface="Arial"/>
                  </a:rPr>
                  <a:t> = neither (in percent): </a:t>
                </a:r>
                <a:r>
                  <a:rPr lang="en-IN" sz="2400">
                    <a:solidFill>
                      <a:srgbClr val="111827"/>
                    </a:solidFill>
                    <a:latin typeface="Cambria Math" panose="02040503050406030204" pitchFamily="18" charset="0"/>
                  </a:rPr>
                  <a:t>$a+b+c+d=100$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Heart: </a:t>
                </a:r>
                <a:r>
                  <a:rPr lang="en-IN" sz="2400">
                    <a:solidFill>
                      <a:srgbClr val="111827"/>
                    </a:solidFill>
                    <a:latin typeface="Cambria Math" panose="02040503050406030204" pitchFamily="18" charset="0"/>
                  </a:rPr>
                  <a:t>$a+c=89$</a:t>
                </a:r>
                <a:r>
                  <a:rPr sz="2400" b="0">
                    <a:solidFill>
                      <a:srgbClr val="111827"/>
                    </a:solidFill>
                    <a:latin typeface="Arial"/>
                  </a:rPr>
                  <a:t>. Lungs: </a:t>
                </a:r>
                <a:r>
                  <a:rPr lang="en-IN" sz="2400">
                    <a:solidFill>
                      <a:srgbClr val="111827"/>
                    </a:solidFill>
                    <a:latin typeface="Cambria Math" panose="02040503050406030204" pitchFamily="18" charset="0"/>
                  </a:rPr>
                  <a:t>$b+c=98$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Adding the last two: </a:t>
                </a:r>
                <a:r>
                  <a:rPr lang="en-IN" sz="2400">
                    <a:solidFill>
                      <a:srgbClr val="111827"/>
                    </a:solidFill>
                    <a:latin typeface="Cambria Math" panose="02040503050406030204" pitchFamily="18" charset="0"/>
                  </a:rPr>
                  <a:t>$a+b+2c=187$</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87</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Also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89</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𝐾</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satisfies </a:t>
                </a:r>
                <a14:m>
                  <m:oMath xmlns:m="http://schemas.openxmlformats.org/officeDocument/2006/math">
                    <m:r>
                      <a:rPr lang="en-IN" sz="2400" i="1">
                        <a:solidFill>
                          <a:srgbClr val="111827"/>
                        </a:solidFill>
                        <a:latin typeface="Cambria Math" panose="02040503050406030204" pitchFamily="18" charset="0"/>
                      </a:rPr>
                      <m:t>87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𝐾</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set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contains no number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89</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𝐾</m:t>
                    </m:r>
                  </m:oMath>
                </a14:m>
                <a:r>
                  <a:rPr sz="2400" b="0">
                    <a:solidFill>
                      <a:srgbClr val="111827"/>
                    </a:solidFill>
                    <a:latin typeface="Arial"/>
                  </a:rPr>
                  <a:t> cannot belong to it. Option (B).</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$a+b+c+d=100$</a:t>
                </a:r>
                <a:r>
                  <a:rPr sz="2400" b="0">
                    <a:solidFill>
                      <a:srgbClr val="111827"/>
                    </a:solidFill>
                    <a:latin typeface="Arial"/>
                  </a:rPr>
                  <a:t> with </a:t>
                </a:r>
                <a:r>
                  <a:rPr lang="en-IN" sz="2400">
                    <a:solidFill>
                      <a:srgbClr val="111827"/>
                    </a:solidFill>
                    <a:latin typeface="Cambria Math" panose="02040503050406030204" pitchFamily="18" charset="0"/>
                  </a:rPr>
                  <a:t>$d\ge0$</a:t>
                </a:r>
                <a:r>
                  <a:rPr sz="2400" b="0">
                    <a:solidFill>
                      <a:srgbClr val="111827"/>
                    </a:solidFill>
                    <a:latin typeface="Arial"/>
                  </a:rPr>
                  <a:t>, </a:t>
                </a:r>
                <a:r>
                  <a:rPr lang="en-IN" sz="2400">
                    <a:solidFill>
                      <a:srgbClr val="111827"/>
                    </a:solidFill>
                    <a:latin typeface="Cambria Math" panose="02040503050406030204" pitchFamily="18" charset="0"/>
                  </a:rPr>
                  <a:t>$a+b+c\le100$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a:t>
                </a:r>
                <a:r>
                  <a:rPr lang="en-IN" sz="2400">
                    <a:solidFill>
                      <a:srgbClr val="111827"/>
                    </a:solidFill>
                    <a:latin typeface="Cambria Math" panose="02040503050406030204" pitchFamily="18" charset="0"/>
                  </a:rPr>
                  <a:t>$c=(a+b+2c)-(a+b+c)\ge187-100=87$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Also </a:t>
                </a:r>
                <a:r>
                  <a:rPr lang="en-IN" sz="2400">
                    <a:solidFill>
                      <a:srgbClr val="111827"/>
                    </a:solidFill>
                    <a:latin typeface="Cambria Math" panose="02040503050406030204" pitchFamily="18" charset="0"/>
                  </a:rPr>
                  <a:t>$c\le a+c=89$</a:t>
                </a:r>
                <a:r>
                  <a:rPr sz="2400" b="0">
                    <a:solidFill>
                      <a:srgbClr val="111827"/>
                    </a:solidFill>
                    <a:latin typeface="Arial"/>
                  </a:rPr>
                  <a:t>. So </a:t>
                </a:r>
                <a:r>
                  <a:rPr lang="en-IN" sz="2400">
                    <a:solidFill>
                      <a:srgbClr val="111827"/>
                    </a:solidFill>
                    <a:latin typeface="Cambria Math" panose="02040503050406030204" pitchFamily="18" charset="0"/>
                  </a:rPr>
                  <a:t>$K=c$</a:t>
                </a:r>
                <a:r>
                  <a:rPr sz="2400" b="0">
                    <a:solidFill>
                      <a:srgbClr val="111827"/>
                    </a:solidFill>
                    <a:latin typeface="Arial"/>
                  </a:rPr>
                  <a:t> satisfies </a:t>
                </a:r>
                <a:r>
                  <a:rPr lang="en-IN" sz="2400">
                    <a:solidFill>
                      <a:srgbClr val="111827"/>
                    </a:solidFill>
                    <a:latin typeface="Cambria Math" panose="02040503050406030204" pitchFamily="18" charset="0"/>
                  </a:rPr>
                  <a:t>$87\le K\le89$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set </a:t>
                </a:r>
                <a:r>
                  <a:rPr lang="en-IN" sz="2400">
                    <a:solidFill>
                      <a:srgbClr val="111827"/>
                    </a:solidFill>
                    <a:latin typeface="Cambria Math" panose="02040503050406030204" pitchFamily="18" charset="0"/>
                  </a:rPr>
                  <a:t>$\{79,81,83,85\}$</a:t>
                </a:r>
                <a:r>
                  <a:rPr sz="2400" b="0">
                    <a:solidFill>
                      <a:srgbClr val="111827"/>
                    </a:solidFill>
                    <a:latin typeface="Arial"/>
                  </a:rPr>
                  <a:t> contains no number in </a:t>
                </a:r>
                <a:r>
                  <a:rPr lang="en-IN" sz="2400">
                    <a:solidFill>
                      <a:srgbClr val="111827"/>
                    </a:solidFill>
                    <a:latin typeface="Cambria Math" panose="02040503050406030204" pitchFamily="18" charset="0"/>
                  </a:rPr>
                  <a:t>$[87,89]$</a:t>
                </a:r>
                <a:r>
                  <a:rPr sz="2400" b="0">
                    <a:solidFill>
                      <a:srgbClr val="111827"/>
                    </a:solidFill>
                    <a:latin typeface="Arial"/>
                  </a:rPr>
                  <a:t>, so </a:t>
                </a:r>
                <a:r>
                  <a:rPr lang="en-IN" sz="2400">
                    <a:solidFill>
                      <a:srgbClr val="111827"/>
                    </a:solidFill>
                    <a:latin typeface="Cambria Math" panose="02040503050406030204" pitchFamily="18" charset="0"/>
                  </a:rPr>
                  <a:t>$K$</a:t>
                </a:r>
                <a:r>
                  <a:rPr sz="2400" b="0">
                    <a:solidFill>
                      <a:srgbClr val="111827"/>
                    </a:solidFill>
                    <a:latin typeface="Arial"/>
                  </a:rPr>
                  <a:t> cannot belong to it. Option (B).</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{79, 81, 83, 85}</a:t>
            </a:r>
            <a:endParaRPr sz="2800">
              <a:solidFill>
                <a:srgbClr val="15803D"/>
              </a:solidFill>
            </a:endParaRP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complements: only </a:t>
                </a:r>
                <a14:m>
                  <m:oMath xmlns:m="http://schemas.openxmlformats.org/officeDocument/2006/math">
                    <m:r>
                      <a:rPr lang="en-IN" sz="2400" i="1">
                        <a:solidFill>
                          <a:srgbClr val="78350F"/>
                        </a:solidFill>
                        <a:latin typeface="Cambria Math" panose="02040503050406030204" pitchFamily="18" charset="0"/>
                      </a:rPr>
                      <m:t>11</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miss heart and only </a:t>
                </a:r>
                <a14:m>
                  <m:oMath xmlns:m="http://schemas.openxmlformats.org/officeDocument/2006/math">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miss lungs, so at most </a:t>
                </a:r>
                <a14:m>
                  <m:oMath xmlns:m="http://schemas.openxmlformats.org/officeDocument/2006/math">
                    <m:r>
                      <a:rPr lang="en-IN" sz="2400" i="1">
                        <a:solidFill>
                          <a:srgbClr val="78350F"/>
                        </a:solidFill>
                        <a:latin typeface="Cambria Math" panose="02040503050406030204" pitchFamily="18" charset="0"/>
                      </a:rPr>
                      <m:t>13</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can lack at least one ailment.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complements: only </a:t>
                </a:r>
                <a:r>
                  <a:rPr lang="en-IN" sz="2400">
                    <a:solidFill>
                      <a:srgbClr val="78350F"/>
                    </a:solidFill>
                    <a:latin typeface="Cambria Math" panose="02040503050406030204" pitchFamily="18" charset="0"/>
                  </a:rPr>
                  <a:t>$11\%$</a:t>
                </a:r>
                <a:r>
                  <a:rPr sz="2400" b="0">
                    <a:solidFill>
                      <a:srgbClr val="78350F"/>
                    </a:solidFill>
                    <a:latin typeface="Arial"/>
                  </a:rPr>
                  <a:t> miss heart and only </a:t>
                </a:r>
                <a:r>
                  <a:rPr lang="en-IN" sz="2400">
                    <a:solidFill>
                      <a:srgbClr val="78350F"/>
                    </a:solidFill>
                    <a:latin typeface="Cambria Math" panose="02040503050406030204" pitchFamily="18" charset="0"/>
                  </a:rPr>
                  <a:t>$2\%$</a:t>
                </a:r>
                <a:r>
                  <a:rPr sz="2400" b="0">
                    <a:solidFill>
                      <a:srgbClr val="78350F"/>
                    </a:solidFill>
                    <a:latin typeface="Arial"/>
                  </a:rPr>
                  <a:t> miss lungs, so at most </a:t>
                </a:r>
                <a:r>
                  <a:rPr lang="en-IN" sz="2400">
                    <a:solidFill>
                      <a:srgbClr val="78350F"/>
                    </a:solidFill>
                    <a:latin typeface="Cambria Math" panose="02040503050406030204" pitchFamily="18" charset="0"/>
                  </a:rPr>
                  <a:t>$13\%$</a:t>
                </a:r>
                <a:r>
                  <a:rPr sz="2400" b="0">
                    <a:solidFill>
                      <a:srgbClr val="78350F"/>
                    </a:solidFill>
                    <a:latin typeface="Arial"/>
                  </a:rPr>
                  <a:t> can lack at least one ailment.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patients lacking heart ailment are </a:t>
                </a:r>
                <a14:m>
                  <m:oMath xmlns:m="http://schemas.openxmlformats.org/officeDocument/2006/math">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those lacking lungs infection are </a:t>
                </a:r>
                <a14:m>
                  <m:oMath xmlns:m="http://schemas.openxmlformats.org/officeDocument/2006/math">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Those who do not have both ailments lack at least one, so they number at most </a:t>
                </a:r>
                <a14:m>
                  <m:oMath xmlns:m="http://schemas.openxmlformats.org/officeDocument/2006/math">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(union bound).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𝐾</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87</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patients lacking heart ailment are </a:t>
                </a:r>
                <a:r>
                  <a:rPr lang="en-IN" sz="2400">
                    <a:solidFill>
                      <a:srgbClr val="111827"/>
                    </a:solidFill>
                    <a:latin typeface="Cambria Math" panose="02040503050406030204" pitchFamily="18" charset="0"/>
                  </a:rPr>
                  <a:t>$100-89=11\%$</a:t>
                </a:r>
                <a:r>
                  <a:rPr sz="2400" b="0">
                    <a:solidFill>
                      <a:srgbClr val="111827"/>
                    </a:solidFill>
                    <a:latin typeface="Arial"/>
                  </a:rPr>
                  <a:t>; those lacking lungs infection are </a:t>
                </a:r>
                <a:r>
                  <a:rPr lang="en-IN" sz="2400">
                    <a:solidFill>
                      <a:srgbClr val="111827"/>
                    </a:solidFill>
                    <a:latin typeface="Cambria Math" panose="02040503050406030204" pitchFamily="18" charset="0"/>
                  </a:rPr>
                  <a:t>$100-98=2\%$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Those who do not have both ailments lack at least one, so they number at most </a:t>
                </a:r>
                <a:r>
                  <a:rPr lang="en-IN" sz="2400">
                    <a:solidFill>
                      <a:srgbClr val="111827"/>
                    </a:solidFill>
                    <a:latin typeface="Cambria Math" panose="02040503050406030204" pitchFamily="18" charset="0"/>
                  </a:rPr>
                  <a:t>$11+2=13\%$</a:t>
                </a:r>
                <a:r>
                  <a:rPr sz="2400" b="0">
                    <a:solidFill>
                      <a:srgbClr val="111827"/>
                    </a:solidFill>
                    <a:latin typeface="Arial"/>
                  </a:rPr>
                  <a:t> (union bound).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$K\ge100-13=87$</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patients with both ailments are a subset of the heart patients: </a:t>
                </a:r>
                <a14:m>
                  <m:oMath xmlns:m="http://schemas.openxmlformats.org/officeDocument/2006/math">
                    <m:r>
                      <a:rPr lang="en-IN" sz="2400" i="1">
                        <a:solidFill>
                          <a:srgbClr val="111827"/>
                        </a:solidFill>
                        <a:latin typeface="Cambria Math" panose="02040503050406030204" pitchFamily="18" charset="0"/>
                      </a:rPr>
                      <m:t>𝐾</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Thus </a:t>
                </a:r>
                <a14:m>
                  <m:oMath xmlns:m="http://schemas.openxmlformats.org/officeDocument/2006/math">
                    <m:r>
                      <a:rPr lang="en-IN" sz="2400" i="1">
                        <a:solidFill>
                          <a:srgbClr val="111827"/>
                        </a:solidFill>
                        <a:latin typeface="Cambria Math" panose="02040503050406030204" pitchFamily="18" charset="0"/>
                      </a:rPr>
                      <m:t>87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𝐾</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89</m:t>
                    </m:r>
                  </m:oMath>
                </a14:m>
                <a:r>
                  <a:rPr sz="2400" b="0">
                    <a:solidFill>
                      <a:srgbClr val="111827"/>
                    </a:solidFill>
                    <a:latin typeface="Arial"/>
                  </a:rPr>
                  <a:t> and the set with no member in this range is (B).</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patients with both ailments are a subset of the heart patients: </a:t>
                </a:r>
                <a:r>
                  <a:rPr lang="en-IN" sz="2400">
                    <a:solidFill>
                      <a:srgbClr val="111827"/>
                    </a:solidFill>
                    <a:latin typeface="Cambria Math" panose="02040503050406030204" pitchFamily="18" charset="0"/>
                  </a:rPr>
                  <a:t>$K\le89$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Thus </a:t>
                </a:r>
                <a:r>
                  <a:rPr lang="en-IN" sz="2400">
                    <a:solidFill>
                      <a:srgbClr val="111827"/>
                    </a:solidFill>
                    <a:latin typeface="Cambria Math" panose="02040503050406030204" pitchFamily="18" charset="0"/>
                  </a:rPr>
                  <a:t>$87\le K\le89$</a:t>
                </a:r>
                <a:r>
                  <a:rPr sz="2400" b="0">
                    <a:solidFill>
                      <a:srgbClr val="111827"/>
                    </a:solidFill>
                    <a:latin typeface="Arial"/>
                  </a:rPr>
                  <a:t> and the set with no member in this range is (B).</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{79, 81, 83, 85}</a:t>
            </a:r>
            <a:endParaRPr sz="2800">
              <a:solidFill>
                <a:srgbClr val="15803D"/>
              </a:solidFill>
            </a:endParaRP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two events,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min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89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𝐾</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Complement form of the same fact: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𝑛𝑜𝑡 𝑏𝑜𝑡ℎ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three sets the analogue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two events, </a:t>
                </a:r>
                <a:r>
                  <a:rPr lang="en-IN" sz="2400">
                    <a:solidFill>
                      <a:srgbClr val="111827"/>
                    </a:solidFill>
                    <a:latin typeface="Cambria Math" panose="02040503050406030204" pitchFamily="18" charset="0"/>
                  </a:rPr>
                  <a:t>$P(A\cap B)\ge P(A)+P(B)-1$</a:t>
                </a:r>
                <a:r>
                  <a:rPr sz="2400" b="0">
                    <a:solidFill>
                      <a:srgbClr val="111827"/>
                    </a:solidFill>
                    <a:latin typeface="Arial"/>
                  </a:rPr>
                  <a:t> and </a:t>
                </a:r>
                <a:r>
                  <a:rPr lang="en-IN" sz="2400">
                    <a:solidFill>
                      <a:srgbClr val="111827"/>
                    </a:solidFill>
                    <a:latin typeface="Cambria Math" panose="02040503050406030204" pitchFamily="18" charset="0"/>
                  </a:rPr>
                  <a:t>$P(A\cap B)\le\min\{P(A),P(B)\}$</a:t>
                </a:r>
                <a:r>
                  <a:rPr sz="2400" b="0">
                    <a:solidFill>
                      <a:srgbClr val="111827"/>
                    </a:solidFill>
                    <a:latin typeface="Arial"/>
                  </a:rPr>
                  <a:t>; here </a:t>
                </a:r>
                <a:r>
                  <a:rPr lang="en-IN" sz="2400">
                    <a:solidFill>
                      <a:srgbClr val="111827"/>
                    </a:solidFill>
                    <a:latin typeface="Cambria Math" panose="02040503050406030204" pitchFamily="18" charset="0"/>
                  </a:rPr>
                  <a:t>$89+98-100=87\le K\le89$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Complement form of the same fact: </a:t>
                </a:r>
                <a:r>
                  <a:rPr lang="en-IN" sz="2400">
                    <a:solidFill>
                      <a:srgbClr val="111827"/>
                    </a:solidFill>
                    <a:latin typeface="Cambria Math" panose="02040503050406030204" pitchFamily="18" charset="0"/>
                  </a:rPr>
                  <a:t>$P(\text{not both})\le P(\bar A)+P(\bar 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three sets the analogue is </a:t>
                </a:r>
                <a:r>
                  <a:rPr lang="en-IN" sz="2400">
                    <a:solidFill>
                      <a:srgbClr val="111827"/>
                    </a:solidFill>
                    <a:latin typeface="Cambria Math" panose="02040503050406030204" pitchFamily="18" charset="0"/>
                  </a:rPr>
                  <a:t>$|A\cap B\cap C|\ge|A|+|B|+|C|-2n$</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3776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Which of the following is not correct for a relation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on the set of real numbers?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&lt;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is neither transitive nor symmetric</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is reflexive and symmetric</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&lt;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is symmetric and transitive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is reflexive but not symmetric</a:t>
                </a:r>
                <a:endParaRPr sz="2400">
                  <a:solidFill>
                    <a:srgbClr val="111827"/>
                  </a:solidFill>
                </a:endParaRPr>
              </a:p>
            </p:txBody>
          </p:sp>
        </mc:Choice>
        <mc:Fallback>
          <p:sp>
            <p:nvSpPr>
              <p:cNvPr id="4" name="Rounded Rectangle 3"/>
              <p:cNvSpPr/>
              <p:nvPr/>
            </p:nvSpPr>
            <p:spPr>
              <a:xfrm>
                <a:off x="731520" y="1280160"/>
                <a:ext cx="10725912" cy="33776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Which of the following is not correct for a relation </a:t>
                </a:r>
                <a:r>
                  <a:rPr lang="en-IN" sz="2400">
                    <a:solidFill>
                      <a:srgbClr val="111827"/>
                    </a:solidFill>
                    <a:latin typeface="Cambria Math" panose="02040503050406030204" pitchFamily="18" charset="0"/>
                  </a:rPr>
                  <a:t>$R$</a:t>
                </a:r>
                <a:r>
                  <a:rPr sz="2400" b="0">
                    <a:solidFill>
                      <a:srgbClr val="111827"/>
                    </a:solidFill>
                    <a:latin typeface="Arial"/>
                  </a:rPr>
                  <a:t> on the set of real numbers?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$(x,y)\in R\iff0&lt;|x|-|y|\le1$</a:t>
                </a:r>
                <a:r>
                  <a:rPr sz="2400" b="0">
                    <a:solidFill>
                      <a:srgbClr val="111827"/>
                    </a:solidFill>
                    <a:latin typeface="Arial"/>
                  </a:rPr>
                  <a:t> is neither transitive nor symmetric</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$(x,y)\in R\iff|x-y|\le1$</a:t>
                </a:r>
                <a:r>
                  <a:rPr sz="2400" b="0">
                    <a:solidFill>
                      <a:srgbClr val="111827"/>
                    </a:solidFill>
                    <a:latin typeface="Arial"/>
                  </a:rPr>
                  <a:t> is reflexive and symmetric</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$(x,y)\in R\iff0&lt;|x-y|\le1$</a:t>
                </a:r>
                <a:r>
                  <a:rPr sz="2400" b="0">
                    <a:solidFill>
                      <a:srgbClr val="111827"/>
                    </a:solidFill>
                    <a:latin typeface="Arial"/>
                  </a:rPr>
                  <a:t> is symmetric and transitive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$(x,y)\in R\iff|x|-|y|\le1$</a:t>
                </a:r>
                <a:r>
                  <a:rPr sz="2400" b="0">
                    <a:solidFill>
                      <a:srgbClr val="111827"/>
                    </a:solidFill>
                    <a:latin typeface="Arial"/>
                  </a:rPr>
                  <a:t> is reflexive but not symmetric</a:t>
                </a:r>
                <a:endParaRPr sz="2400">
                  <a:solidFill>
                    <a:srgbClr val="111827"/>
                  </a:solidFill>
                </a:endParaRPr>
              </a:p>
            </p:txBody>
          </p:sp>
        </mc:Fallback>
      </mc:AlternateContent>
      <p:sp>
        <p:nvSpPr>
          <p:cNvPr id="5" name="Rectangle 4"/>
          <p:cNvSpPr/>
          <p:nvPr/>
        </p:nvSpPr>
        <p:spPr>
          <a:xfrm>
            <a:off x="731520" y="4886452"/>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Types of relations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Symmetric plus transitive would force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𝑅</m:t>
                    </m:r>
                  </m:oMath>
                </a14:m>
                <a:r>
                  <a:rPr sz="2400" b="0">
                    <a:solidFill>
                      <a:srgbClr val="78350F"/>
                    </a:solidFill>
                    <a:latin typeface="Arial"/>
                  </a:rPr>
                  <a:t> for every related </a:t>
                </a:r>
                <a14:m>
                  <m:oMath xmlns:m="http://schemas.openxmlformats.org/officeDocument/2006/math">
                    <m:r>
                      <a:rPr lang="en-IN" sz="2400" i="1">
                        <a:solidFill>
                          <a:srgbClr val="78350F"/>
                        </a:solidFill>
                        <a:latin typeface="Cambria Math" panose="02040503050406030204" pitchFamily="18" charset="0"/>
                      </a:rPr>
                      <m:t>𝑥</m:t>
                    </m:r>
                  </m:oMath>
                </a14:m>
                <a:r>
                  <a:rPr sz="2400" b="0">
                    <a:solidFill>
                      <a:srgbClr val="78350F"/>
                    </a:solidFill>
                    <a:latin typeface="Arial"/>
                  </a:rPr>
                  <a:t>, but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Symmetric plus transitive would force </a:t>
                </a:r>
                <a:r>
                  <a:rPr lang="en-IN" sz="2400">
                    <a:solidFill>
                      <a:srgbClr val="78350F"/>
                    </a:solidFill>
                    <a:latin typeface="Cambria Math" panose="02040503050406030204" pitchFamily="18" charset="0"/>
                  </a:rPr>
                  <a:t>$(x,x)\in R$</a:t>
                </a:r>
                <a:r>
                  <a:rPr sz="2400" b="0">
                    <a:solidFill>
                      <a:srgbClr val="78350F"/>
                    </a:solidFill>
                    <a:latin typeface="Arial"/>
                  </a:rPr>
                  <a:t> for every related </a:t>
                </a:r>
                <a:r>
                  <a:rPr lang="en-IN" sz="2400">
                    <a:solidFill>
                      <a:srgbClr val="78350F"/>
                    </a:solidFill>
                    <a:latin typeface="Cambria Math" panose="02040503050406030204" pitchFamily="18" charset="0"/>
                  </a:rPr>
                  <a:t>$x$</a:t>
                </a:r>
                <a:r>
                  <a:rPr sz="2400" b="0">
                    <a:solidFill>
                      <a:srgbClr val="78350F"/>
                    </a:solidFill>
                    <a:latin typeface="Arial"/>
                  </a:rPr>
                  <a:t>, but </a:t>
                </a:r>
                <a:r>
                  <a:rPr lang="en-IN" sz="2400">
                    <a:solidFill>
                      <a:srgbClr val="78350F"/>
                    </a:solidFill>
                    <a:latin typeface="Cambria Math" panose="02040503050406030204" pitchFamily="18" charset="0"/>
                  </a:rPr>
                  <a:t>$|x-x|=0\not&gt;0$</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&lt;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not symmetric, since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gives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Not transitive: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0.4</m:t>
                    </m:r>
                  </m:oMath>
                </a14:m>
                <a:r>
                  <a:rPr sz="2400" b="0">
                    <a:solidFill>
                      <a:srgbClr val="111827"/>
                    </a:solidFill>
                    <a:latin typeface="Arial"/>
                  </a:rPr>
                  <a:t> give differences </a:t>
                </a:r>
                <a14:m>
                  <m:oMath xmlns:m="http://schemas.openxmlformats.org/officeDocument/2006/math">
                    <m:r>
                      <a:rPr lang="en-IN" sz="2400" i="1">
                        <a:solidFill>
                          <a:srgbClr val="111827"/>
                        </a:solidFill>
                        <a:latin typeface="Cambria Math" panose="02040503050406030204" pitchFamily="18" charset="0"/>
                      </a:rPr>
                      <m:t>0.8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but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oMath>
                </a14:m>
                <a:r>
                  <a:rPr sz="2400" b="0">
                    <a:solidFill>
                      <a:srgbClr val="111827"/>
                    </a:solidFill>
                    <a:latin typeface="Arial"/>
                  </a:rPr>
                  <a:t>. Statement (A) is correct.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reflexive since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symmetric since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Statement (B) is correct.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&lt;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symmetric since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$0&lt;|x|-|y|\le1$</a:t>
                </a:r>
                <a:r>
                  <a:rPr sz="2400" b="0">
                    <a:solidFill>
                      <a:srgbClr val="111827"/>
                    </a:solidFill>
                    <a:latin typeface="Arial"/>
                  </a:rPr>
                  <a:t>: not symmetric, since </a:t>
                </a:r>
                <a:r>
                  <a:rPr lang="en-IN" sz="2400">
                    <a:solidFill>
                      <a:srgbClr val="111827"/>
                    </a:solidFill>
                    <a:latin typeface="Cambria Math" panose="02040503050406030204" pitchFamily="18" charset="0"/>
                  </a:rPr>
                  <a:t>$|x|-|y|&gt;0$</a:t>
                </a:r>
                <a:r>
                  <a:rPr sz="2400" b="0">
                    <a:solidFill>
                      <a:srgbClr val="111827"/>
                    </a:solidFill>
                    <a:latin typeface="Arial"/>
                  </a:rPr>
                  <a:t> gives </a:t>
                </a:r>
                <a:r>
                  <a:rPr lang="en-IN" sz="2400">
                    <a:solidFill>
                      <a:srgbClr val="111827"/>
                    </a:solidFill>
                    <a:latin typeface="Cambria Math" panose="02040503050406030204" pitchFamily="18" charset="0"/>
                  </a:rPr>
                  <a:t>$|y|-|x|&lt;0$</a:t>
                </a:r>
                <a:r>
                  <a:rPr sz="2400" b="0">
                    <a:solidFill>
                      <a:srgbClr val="111827"/>
                    </a:solidFill>
                    <a:latin typeface="Arial"/>
                  </a:rPr>
                  <a:t>. Not transitive: </a:t>
                </a:r>
                <a:r>
                  <a:rPr lang="en-IN" sz="2400">
                    <a:solidFill>
                      <a:srgbClr val="111827"/>
                    </a:solidFill>
                    <a:latin typeface="Cambria Math" panose="02040503050406030204" pitchFamily="18" charset="0"/>
                  </a:rPr>
                  <a:t>$x=2,y=1.2,z=0.4$</a:t>
                </a:r>
                <a:r>
                  <a:rPr sz="2400" b="0">
                    <a:solidFill>
                      <a:srgbClr val="111827"/>
                    </a:solidFill>
                    <a:latin typeface="Arial"/>
                  </a:rPr>
                  <a:t> give differences </a:t>
                </a:r>
                <a:r>
                  <a:rPr lang="en-IN" sz="2400">
                    <a:solidFill>
                      <a:srgbClr val="111827"/>
                    </a:solidFill>
                    <a:latin typeface="Cambria Math" panose="02040503050406030204" pitchFamily="18" charset="0"/>
                  </a:rPr>
                  <a:t>$0.8,0.8\in(0,1]$</a:t>
                </a:r>
                <a:r>
                  <a:rPr sz="2400" b="0">
                    <a:solidFill>
                      <a:srgbClr val="111827"/>
                    </a:solidFill>
                    <a:latin typeface="Arial"/>
                  </a:rPr>
                  <a:t> but </a:t>
                </a:r>
                <a:r>
                  <a:rPr lang="en-IN" sz="2400">
                    <a:solidFill>
                      <a:srgbClr val="111827"/>
                    </a:solidFill>
                    <a:latin typeface="Cambria Math" panose="02040503050406030204" pitchFamily="18" charset="0"/>
                  </a:rPr>
                  <a:t>$|x|-|z|=1.6&gt;1$</a:t>
                </a:r>
                <a:r>
                  <a:rPr sz="2400" b="0">
                    <a:solidFill>
                      <a:srgbClr val="111827"/>
                    </a:solidFill>
                    <a:latin typeface="Arial"/>
                  </a:rPr>
                  <a:t>. Statement (A) is correct.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$|x-y|\le1$</a:t>
                </a:r>
                <a:r>
                  <a:rPr sz="2400" b="0">
                    <a:solidFill>
                      <a:srgbClr val="111827"/>
                    </a:solidFill>
                    <a:latin typeface="Arial"/>
                  </a:rPr>
                  <a:t>: reflexive since </a:t>
                </a:r>
                <a:r>
                  <a:rPr lang="en-IN" sz="2400">
                    <a:solidFill>
                      <a:srgbClr val="111827"/>
                    </a:solidFill>
                    <a:latin typeface="Cambria Math" panose="02040503050406030204" pitchFamily="18" charset="0"/>
                  </a:rPr>
                  <a:t>$|x-x|=0\le1$</a:t>
                </a:r>
                <a:r>
                  <a:rPr sz="2400" b="0">
                    <a:solidFill>
                      <a:srgbClr val="111827"/>
                    </a:solidFill>
                    <a:latin typeface="Arial"/>
                  </a:rPr>
                  <a:t>; symmetric since </a:t>
                </a:r>
                <a:r>
                  <a:rPr lang="en-IN" sz="2400">
                    <a:solidFill>
                      <a:srgbClr val="111827"/>
                    </a:solidFill>
                    <a:latin typeface="Cambria Math" panose="02040503050406030204" pitchFamily="18" charset="0"/>
                  </a:rPr>
                  <a:t>$|x-y|=|y-x|$</a:t>
                </a:r>
                <a:r>
                  <a:rPr sz="2400" b="0">
                    <a:solidFill>
                      <a:srgbClr val="111827"/>
                    </a:solidFill>
                    <a:latin typeface="Arial"/>
                  </a:rPr>
                  <a:t>. Statement (B) is correct.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$0&lt;|x-y|\le1$</a:t>
                </a:r>
                <a:r>
                  <a:rPr sz="2400" b="0">
                    <a:solidFill>
                      <a:srgbClr val="111827"/>
                    </a:solidFill>
                    <a:latin typeface="Arial"/>
                  </a:rPr>
                  <a:t>: symmetric since </a:t>
                </a:r>
                <a:r>
                  <a:rPr lang="en-IN" sz="2400">
                    <a:solidFill>
                      <a:srgbClr val="111827"/>
                    </a:solidFill>
                    <a:latin typeface="Cambria Math" panose="02040503050406030204" pitchFamily="18" charset="0"/>
                  </a:rPr>
                  <a:t>$|x-y|=|y-x|$</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Transitivity fails: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 give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0.8</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0.8</m:t>
                    </m:r>
                  </m:oMath>
                </a14:m>
                <a:r>
                  <a:rPr sz="2400" b="0">
                    <a:solidFill>
                      <a:srgbClr val="111827"/>
                    </a:solidFill>
                    <a:latin typeface="Arial"/>
                  </a:rPr>
                  <a:t>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but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oMath>
                </a14:m>
                <a:r>
                  <a:rPr sz="2400" b="0">
                    <a:solidFill>
                      <a:srgbClr val="111827"/>
                    </a:solidFill>
                    <a:latin typeface="Arial"/>
                  </a:rPr>
                  <a:t>. So (C) is not correct.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reflexive since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Not symmetric: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as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but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oMath>
                </a14:m>
                <a:r>
                  <a:rPr sz="2400" b="0">
                    <a:solidFill>
                      <a:srgbClr val="111827"/>
                    </a:solidFill>
                    <a:latin typeface="Arial"/>
                  </a:rPr>
                  <a:t>. Statement (D) is correct.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statement that is not correct is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Transitivity fails: </a:t>
                </a:r>
                <a:r>
                  <a:rPr lang="en-IN" sz="2400">
                    <a:solidFill>
                      <a:srgbClr val="111827"/>
                    </a:solidFill>
                    <a:latin typeface="Cambria Math" panose="02040503050406030204" pitchFamily="18" charset="0"/>
                  </a:rPr>
                  <a:t>$x=0,y=0.8,z=1.6$</a:t>
                </a:r>
                <a:r>
                  <a:rPr sz="2400" b="0">
                    <a:solidFill>
                      <a:srgbClr val="111827"/>
                    </a:solidFill>
                    <a:latin typeface="Arial"/>
                  </a:rPr>
                  <a:t> give </a:t>
                </a:r>
                <a:r>
                  <a:rPr lang="en-IN" sz="2400">
                    <a:solidFill>
                      <a:srgbClr val="111827"/>
                    </a:solidFill>
                    <a:latin typeface="Cambria Math" panose="02040503050406030204" pitchFamily="18" charset="0"/>
                  </a:rPr>
                  <a:t>$|x-y|=0.8$</a:t>
                </a:r>
                <a:r>
                  <a:rPr sz="2400" b="0">
                    <a:solidFill>
                      <a:srgbClr val="111827"/>
                    </a:solidFill>
                    <a:latin typeface="Arial"/>
                  </a:rPr>
                  <a:t> and </a:t>
                </a:r>
                <a:r>
                  <a:rPr lang="en-IN" sz="2400">
                    <a:solidFill>
                      <a:srgbClr val="111827"/>
                    </a:solidFill>
                    <a:latin typeface="Cambria Math" panose="02040503050406030204" pitchFamily="18" charset="0"/>
                  </a:rPr>
                  <a:t>$|y-z|=0.8$</a:t>
                </a:r>
                <a:r>
                  <a:rPr sz="2400" b="0">
                    <a:solidFill>
                      <a:srgbClr val="111827"/>
                    </a:solidFill>
                    <a:latin typeface="Arial"/>
                  </a:rPr>
                  <a:t> in </a:t>
                </a:r>
                <a:r>
                  <a:rPr lang="en-IN" sz="2400">
                    <a:solidFill>
                      <a:srgbClr val="111827"/>
                    </a:solidFill>
                    <a:latin typeface="Cambria Math" panose="02040503050406030204" pitchFamily="18" charset="0"/>
                  </a:rPr>
                  <a:t>$(0,1]$</a:t>
                </a:r>
                <a:r>
                  <a:rPr sz="2400" b="0">
                    <a:solidFill>
                      <a:srgbClr val="111827"/>
                    </a:solidFill>
                    <a:latin typeface="Arial"/>
                  </a:rPr>
                  <a:t>, but </a:t>
                </a:r>
                <a:r>
                  <a:rPr lang="en-IN" sz="2400">
                    <a:solidFill>
                      <a:srgbClr val="111827"/>
                    </a:solidFill>
                    <a:latin typeface="Cambria Math" panose="02040503050406030204" pitchFamily="18" charset="0"/>
                  </a:rPr>
                  <a:t>$|x-z|=1.6&gt;1$</a:t>
                </a:r>
                <a:r>
                  <a:rPr sz="2400" b="0">
                    <a:solidFill>
                      <a:srgbClr val="111827"/>
                    </a:solidFill>
                    <a:latin typeface="Arial"/>
                  </a:rPr>
                  <a:t>. So (C) is not correct.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$|x|-|y|\le1$</a:t>
                </a:r>
                <a:r>
                  <a:rPr sz="2400" b="0">
                    <a:solidFill>
                      <a:srgbClr val="111827"/>
                    </a:solidFill>
                    <a:latin typeface="Arial"/>
                  </a:rPr>
                  <a:t>: reflexive since </a:t>
                </a:r>
                <a:r>
                  <a:rPr lang="en-IN" sz="2400">
                    <a:solidFill>
                      <a:srgbClr val="111827"/>
                    </a:solidFill>
                    <a:latin typeface="Cambria Math" panose="02040503050406030204" pitchFamily="18" charset="0"/>
                  </a:rPr>
                  <a:t>$0\le1$</a:t>
                </a:r>
                <a:r>
                  <a:rPr sz="2400" b="0">
                    <a:solidFill>
                      <a:srgbClr val="111827"/>
                    </a:solidFill>
                    <a:latin typeface="Arial"/>
                  </a:rPr>
                  <a:t>. Not symmetric: </a:t>
                </a:r>
                <a:r>
                  <a:rPr lang="en-IN" sz="2400">
                    <a:solidFill>
                      <a:srgbClr val="111827"/>
                    </a:solidFill>
                    <a:latin typeface="Cambria Math" panose="02040503050406030204" pitchFamily="18" charset="0"/>
                  </a:rPr>
                  <a:t>$(0,5)\in R$</a:t>
                </a:r>
                <a:r>
                  <a:rPr sz="2400" b="0">
                    <a:solidFill>
                      <a:srgbClr val="111827"/>
                    </a:solidFill>
                    <a:latin typeface="Arial"/>
                  </a:rPr>
                  <a:t> as </a:t>
                </a:r>
                <a:r>
                  <a:rPr lang="en-IN" sz="2400">
                    <a:solidFill>
                      <a:srgbClr val="111827"/>
                    </a:solidFill>
                    <a:latin typeface="Cambria Math" panose="02040503050406030204" pitchFamily="18" charset="0"/>
                  </a:rPr>
                  <a:t>$-5\le1$</a:t>
                </a:r>
                <a:r>
                  <a:rPr sz="2400" b="0">
                    <a:solidFill>
                      <a:srgbClr val="111827"/>
                    </a:solidFill>
                    <a:latin typeface="Arial"/>
                  </a:rPr>
                  <a:t>, but </a:t>
                </a:r>
                <a:r>
                  <a:rPr lang="en-IN" sz="2400">
                    <a:solidFill>
                      <a:srgbClr val="111827"/>
                    </a:solidFill>
                    <a:latin typeface="Cambria Math" panose="02040503050406030204" pitchFamily="18" charset="0"/>
                  </a:rPr>
                  <a:t>$(5,0)\notin R$</a:t>
                </a:r>
                <a:r>
                  <a:rPr sz="2400" b="0">
                    <a:solidFill>
                      <a:srgbClr val="111827"/>
                    </a:solidFill>
                    <a:latin typeface="Arial"/>
                  </a:rPr>
                  <a:t> as </a:t>
                </a:r>
                <a:r>
                  <a:rPr lang="en-IN" sz="2400">
                    <a:solidFill>
                      <a:srgbClr val="111827"/>
                    </a:solidFill>
                    <a:latin typeface="Cambria Math" panose="02040503050406030204" pitchFamily="18" charset="0"/>
                  </a:rPr>
                  <a:t>$5&gt;1$</a:t>
                </a:r>
                <a:r>
                  <a:rPr sz="2400" b="0">
                    <a:solidFill>
                      <a:srgbClr val="111827"/>
                    </a:solidFill>
                    <a:latin typeface="Arial"/>
                  </a:rPr>
                  <a:t>. Statement (D) is correct.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statement that is not correct is (C).</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14:m>
                  <m:oMath xmlns:m="http://schemas.openxmlformats.org/officeDocument/2006/math">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𝑦</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𝑅</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0</m:t>
                    </m:r>
                    <m:r>
                      <m:rPr>
                        <m:sty m:val="p"/>
                      </m:rPr>
                      <a:rPr lang="en-IN" sz="2800">
                        <a:solidFill>
                          <a:srgbClr val="15803D"/>
                        </a:solidFill>
                        <a:latin typeface="Cambria Math" panose="02040503050406030204" pitchFamily="18" charset="0"/>
                      </a:rPr>
                      <m:t>&lt;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𝑦</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oMath>
                </a14:m>
                <a:r>
                  <a:rPr sz="2800" b="1">
                    <a:solidFill>
                      <a:srgbClr val="15803D"/>
                    </a:solidFill>
                    <a:latin typeface="Arial"/>
                  </a:rPr>
                  <a:t> is symmetric and transitive</a:t>
                </a:r>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r>
                  <a:rPr lang="en-IN" sz="2800">
                    <a:solidFill>
                      <a:srgbClr val="15803D"/>
                    </a:solidFill>
                    <a:latin typeface="Cambria Math" panose="02040503050406030204" pitchFamily="18" charset="0"/>
                  </a:rPr>
                  <a:t>$(x,y)\in R\iff0&lt;|x-y|\le1$</a:t>
                </a:r>
                <a:r>
                  <a:rPr sz="2800" b="1">
                    <a:solidFill>
                      <a:srgbClr val="15803D"/>
                    </a:solidFill>
                    <a:latin typeface="Arial"/>
                  </a:rPr>
                  <a:t> is symmetric and transitive</a:t>
                </a:r>
                <a:endParaRPr sz="2800">
                  <a:solidFill>
                    <a:srgbClr val="15803D"/>
                  </a:solidFill>
                </a:endParaRPr>
              </a:p>
            </p:txBody>
          </p:sp>
        </mc:Fallback>
      </mc:AlternateContent>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A symmetric and transitive relation is reflexive on every element that is related to something; (C) violates this.</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Suppose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&lt;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were symmetric and transitive.</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since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by symmetry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Transitivity applied to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would give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Suppose </a:t>
                </a:r>
                <a:r>
                  <a:rPr lang="en-IN" sz="2400">
                    <a:solidFill>
                      <a:srgbClr val="111827"/>
                    </a:solidFill>
                    <a:latin typeface="Cambria Math" panose="02040503050406030204" pitchFamily="18" charset="0"/>
                  </a:rPr>
                  <a:t>$R:\ 0&lt;|x-y|\le1$</a:t>
                </a:r>
                <a:r>
                  <a:rPr sz="2400" b="0">
                    <a:solidFill>
                      <a:srgbClr val="111827"/>
                    </a:solidFill>
                    <a:latin typeface="Arial"/>
                  </a:rPr>
                  <a:t> were symmetric and transitive.</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$(0,0.5)\in R$</a:t>
                </a:r>
                <a:r>
                  <a:rPr sz="2400" b="0">
                    <a:solidFill>
                      <a:srgbClr val="111827"/>
                    </a:solidFill>
                    <a:latin typeface="Arial"/>
                  </a:rPr>
                  <a:t> since </a:t>
                </a:r>
                <a:r>
                  <a:rPr lang="en-IN" sz="2400">
                    <a:solidFill>
                      <a:srgbClr val="111827"/>
                    </a:solidFill>
                    <a:latin typeface="Cambria Math" panose="02040503050406030204" pitchFamily="18" charset="0"/>
                  </a:rPr>
                  <a:t>$|0-0.5|=0.5\in(0,1]$</a:t>
                </a:r>
                <a:r>
                  <a:rPr sz="2400" b="0">
                    <a:solidFill>
                      <a:srgbClr val="111827"/>
                    </a:solidFill>
                    <a:latin typeface="Arial"/>
                  </a:rPr>
                  <a:t>; by symmetry </a:t>
                </a:r>
                <a:r>
                  <a:rPr lang="en-IN" sz="2400">
                    <a:solidFill>
                      <a:srgbClr val="111827"/>
                    </a:solidFill>
                    <a:latin typeface="Cambria Math" panose="02040503050406030204" pitchFamily="18" charset="0"/>
                  </a:rPr>
                  <a:t>$(0.5,0)\in 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Transitivity applied to </a:t>
                </a:r>
                <a:r>
                  <a:rPr lang="en-IN" sz="2400">
                    <a:solidFill>
                      <a:srgbClr val="111827"/>
                    </a:solidFill>
                    <a:latin typeface="Cambria Math" panose="02040503050406030204" pitchFamily="18" charset="0"/>
                  </a:rPr>
                  <a:t>$(0,0.5),(0.5,0)$</a:t>
                </a:r>
                <a:r>
                  <a:rPr sz="2400" b="0">
                    <a:solidFill>
                      <a:srgbClr val="111827"/>
                    </a:solidFill>
                    <a:latin typeface="Arial"/>
                  </a:rPr>
                  <a:t> would give </a:t>
                </a:r>
                <a:r>
                  <a:rPr lang="en-IN" sz="2400">
                    <a:solidFill>
                      <a:srgbClr val="111827"/>
                    </a:solidFill>
                    <a:latin typeface="Cambria Math" panose="02040503050406030204" pitchFamily="18" charset="0"/>
                  </a:rPr>
                  <a:t>$(0,0)\in R$</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But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is not </a:t>
                </a:r>
                <a14:m>
                  <m:oMath xmlns:m="http://schemas.openxmlformats.org/officeDocument/2006/math">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Contradiction: (C) cannot be symmetric and transitive together.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(C) is the incorrect statement.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But </a:t>
                </a:r>
                <a:r>
                  <a:rPr lang="en-IN" sz="2400">
                    <a:solidFill>
                      <a:srgbClr val="111827"/>
                    </a:solidFill>
                    <a:latin typeface="Cambria Math" panose="02040503050406030204" pitchFamily="18" charset="0"/>
                  </a:rPr>
                  <a:t>$|0-0|=0$</a:t>
                </a:r>
                <a:r>
                  <a:rPr sz="2400" b="0">
                    <a:solidFill>
                      <a:srgbClr val="111827"/>
                    </a:solidFill>
                    <a:latin typeface="Arial"/>
                  </a:rPr>
                  <a:t> is not </a:t>
                </a:r>
                <a:r>
                  <a:rPr lang="en-IN" sz="2400">
                    <a:solidFill>
                      <a:srgbClr val="111827"/>
                    </a:solidFill>
                    <a:latin typeface="Cambria Math" panose="02040503050406030204" pitchFamily="18" charset="0"/>
                  </a:rPr>
                  <a:t>$&gt;0$</a:t>
                </a:r>
                <a:r>
                  <a:rPr sz="2400" b="0">
                    <a:solidFill>
                      <a:srgbClr val="111827"/>
                    </a:solidFill>
                    <a:latin typeface="Arial"/>
                  </a:rPr>
                  <a:t>, so </a:t>
                </a:r>
                <a:r>
                  <a:rPr lang="en-IN" sz="2400">
                    <a:solidFill>
                      <a:srgbClr val="111827"/>
                    </a:solidFill>
                    <a:latin typeface="Cambria Math" panose="02040503050406030204" pitchFamily="18" charset="0"/>
                  </a:rPr>
                  <a:t>$(0,0)\notin R$</a:t>
                </a:r>
                <a:r>
                  <a:rPr sz="2400" b="0">
                    <a:solidFill>
                      <a:srgbClr val="111827"/>
                    </a:solidFill>
                    <a:latin typeface="Arial"/>
                  </a:rPr>
                  <a:t>. Contradiction: (C) cannot be symmetric and transitive together.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(C) is the incorrect statement.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14:m>
                  <m:oMath xmlns:m="http://schemas.openxmlformats.org/officeDocument/2006/math">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𝑦</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𝑅</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0</m:t>
                    </m:r>
                    <m:r>
                      <m:rPr>
                        <m:sty m:val="p"/>
                      </m:rPr>
                      <a:rPr lang="en-IN" sz="2800">
                        <a:solidFill>
                          <a:srgbClr val="15803D"/>
                        </a:solidFill>
                        <a:latin typeface="Cambria Math" panose="02040503050406030204" pitchFamily="18" charset="0"/>
                      </a:rPr>
                      <m:t>&lt;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𝑦</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oMath>
                </a14:m>
                <a:r>
                  <a:rPr sz="2800" b="1">
                    <a:solidFill>
                      <a:srgbClr val="15803D"/>
                    </a:solidFill>
                    <a:latin typeface="Arial"/>
                  </a:rPr>
                  <a:t> is symmetric and transitive</a:t>
                </a:r>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r>
                  <a:rPr lang="en-IN" sz="2800">
                    <a:solidFill>
                      <a:srgbClr val="15803D"/>
                    </a:solidFill>
                    <a:latin typeface="Cambria Math" panose="02040503050406030204" pitchFamily="18" charset="0"/>
                  </a:rPr>
                  <a:t>$(x,y)\in R\iff0&lt;|x-y|\le1$</a:t>
                </a:r>
                <a:r>
                  <a:rPr sz="2800" b="1">
                    <a:solidFill>
                      <a:srgbClr val="15803D"/>
                    </a:solidFill>
                    <a:latin typeface="Arial"/>
                  </a:rPr>
                  <a:t> is symmetric and transitive</a:t>
                </a:r>
                <a:endParaRPr sz="2800">
                  <a:solidFill>
                    <a:srgbClr val="15803D"/>
                  </a:solidFill>
                </a:endParaRPr>
              </a:p>
            </p:txBody>
          </p:sp>
        </mc:Fallback>
      </mc:AlternateContent>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Symmetric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transitive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𝑥</m:t>
                    </m:r>
                  </m:oMath>
                </a14:m>
                <a:r>
                  <a:rPr sz="2400" b="0">
                    <a:solidFill>
                      <a:srgbClr val="111827"/>
                    </a:solidFill>
                    <a:latin typeface="Arial"/>
                  </a:rPr>
                  <a:t>): if </a:t>
                </a:r>
                <a14:m>
                  <m:oMath xmlns:m="http://schemas.openxmlformats.org/officeDocument/2006/math">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𝑦</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𝑥</m:t>
                    </m:r>
                  </m:oMath>
                </a14:m>
                <a:r>
                  <a:rPr sz="2400" b="0">
                    <a:solidFill>
                      <a:srgbClr val="111827"/>
                    </a:solidFill>
                    <a:latin typeface="Arial"/>
                  </a:rPr>
                  <a:t> and so </a:t>
                </a:r>
                <a14:m>
                  <m:oMath xmlns:m="http://schemas.openxmlformats.org/officeDocument/2006/math">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𝑥</m:t>
                    </m:r>
                  </m:oMath>
                </a14:m>
                <a:r>
                  <a:rPr sz="2400" b="0">
                    <a:solidFill>
                      <a:srgbClr val="111827"/>
                    </a:solidFill>
                    <a:latin typeface="Arial"/>
                  </a:rPr>
                  <a:t>. A symmetric transitive relation can fail to be reflexive only on elements related to nothing.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'Closeness' relations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on </a:t>
                </a:r>
                <a14:m>
                  <m:oMath xmlns:m="http://schemas.openxmlformats.org/officeDocument/2006/math">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are reflexive and symmetric but not transitive (chain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-type relations compare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so symmetry fails unless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always.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Symmetric </a:t>
                </a:r>
                <a:r>
                  <a:rPr lang="en-IN" sz="2400">
                    <a:solidFill>
                      <a:srgbClr val="111827"/>
                    </a:solidFill>
                    <a:latin typeface="Cambria Math" panose="02040503050406030204" pitchFamily="18" charset="0"/>
                  </a:rPr>
                  <a:t>$+$</a:t>
                </a:r>
                <a:r>
                  <a:rPr sz="2400" b="0">
                    <a:solidFill>
                      <a:srgbClr val="111827"/>
                    </a:solidFill>
                    <a:latin typeface="Arial"/>
                  </a:rPr>
                  <a:t> transitive </a:t>
                </a:r>
                <a:r>
                  <a:rPr lang="en-IN" sz="2400">
                    <a:solidFill>
                      <a:srgbClr val="111827"/>
                    </a:solidFill>
                    <a:latin typeface="Cambria Math" panose="02040503050406030204" pitchFamily="18" charset="0"/>
                  </a:rPr>
                  <a:t>$\Rightarrow$</a:t>
                </a:r>
                <a:r>
                  <a:rPr sz="2400" b="0">
                    <a:solidFill>
                      <a:srgbClr val="111827"/>
                    </a:solidFill>
                    <a:latin typeface="Arial"/>
                  </a:rPr>
                  <a:t> (</a:t>
                </a:r>
                <a:r>
                  <a:rPr lang="en-IN" sz="2400">
                    <a:solidFill>
                      <a:srgbClr val="111827"/>
                    </a:solidFill>
                    <a:latin typeface="Cambria Math" panose="02040503050406030204" pitchFamily="18" charset="0"/>
                  </a:rPr>
                  <a:t>$xRy\Rightarrow xRx$</a:t>
                </a:r>
                <a:r>
                  <a:rPr sz="2400" b="0">
                    <a:solidFill>
                      <a:srgbClr val="111827"/>
                    </a:solidFill>
                    <a:latin typeface="Arial"/>
                  </a:rPr>
                  <a:t>): if </a:t>
                </a:r>
                <a:r>
                  <a:rPr lang="en-IN" sz="2400">
                    <a:solidFill>
                      <a:srgbClr val="111827"/>
                    </a:solidFill>
                    <a:latin typeface="Cambria Math" panose="02040503050406030204" pitchFamily="18" charset="0"/>
                  </a:rPr>
                  <a:t>$xRy$</a:t>
                </a:r>
                <a:r>
                  <a:rPr sz="2400" b="0">
                    <a:solidFill>
                      <a:srgbClr val="111827"/>
                    </a:solidFill>
                    <a:latin typeface="Arial"/>
                  </a:rPr>
                  <a:t> then </a:t>
                </a:r>
                <a:r>
                  <a:rPr lang="en-IN" sz="2400">
                    <a:solidFill>
                      <a:srgbClr val="111827"/>
                    </a:solidFill>
                    <a:latin typeface="Cambria Math" panose="02040503050406030204" pitchFamily="18" charset="0"/>
                  </a:rPr>
                  <a:t>$yRx$</a:t>
                </a:r>
                <a:r>
                  <a:rPr sz="2400" b="0">
                    <a:solidFill>
                      <a:srgbClr val="111827"/>
                    </a:solidFill>
                    <a:latin typeface="Arial"/>
                  </a:rPr>
                  <a:t> and so </a:t>
                </a:r>
                <a:r>
                  <a:rPr lang="en-IN" sz="2400">
                    <a:solidFill>
                      <a:srgbClr val="111827"/>
                    </a:solidFill>
                    <a:latin typeface="Cambria Math" panose="02040503050406030204" pitchFamily="18" charset="0"/>
                  </a:rPr>
                  <a:t>$xRx$</a:t>
                </a:r>
                <a:r>
                  <a:rPr sz="2400" b="0">
                    <a:solidFill>
                      <a:srgbClr val="111827"/>
                    </a:solidFill>
                    <a:latin typeface="Arial"/>
                  </a:rPr>
                  <a:t>. A symmetric transitive relation can fail to be reflexive only on elements related to nothing.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'Closeness' relations </a:t>
                </a:r>
                <a:r>
                  <a:rPr lang="en-IN" sz="2400">
                    <a:solidFill>
                      <a:srgbClr val="111827"/>
                    </a:solidFill>
                    <a:latin typeface="Cambria Math" panose="02040503050406030204" pitchFamily="18" charset="0"/>
                  </a:rPr>
                  <a:t>$|x-y|\le k$</a:t>
                </a:r>
                <a:r>
                  <a:rPr sz="2400" b="0">
                    <a:solidFill>
                      <a:srgbClr val="111827"/>
                    </a:solidFill>
                    <a:latin typeface="Arial"/>
                  </a:rPr>
                  <a:t> (</a:t>
                </a:r>
                <a:r>
                  <a:rPr lang="en-IN" sz="2400">
                    <a:solidFill>
                      <a:srgbClr val="111827"/>
                    </a:solidFill>
                    <a:latin typeface="Cambria Math" panose="02040503050406030204" pitchFamily="18" charset="0"/>
                  </a:rPr>
                  <a:t>$k&gt;0$</a:t>
                </a:r>
                <a:r>
                  <a:rPr sz="2400" b="0">
                    <a:solidFill>
                      <a:srgbClr val="111827"/>
                    </a:solidFill>
                    <a:latin typeface="Arial"/>
                  </a:rPr>
                  <a:t>) on </a:t>
                </a:r>
                <a:r>
                  <a:rPr lang="en-IN" sz="2400">
                    <a:solidFill>
                      <a:srgbClr val="111827"/>
                    </a:solidFill>
                    <a:latin typeface="Cambria Math" panose="02040503050406030204" pitchFamily="18" charset="0"/>
                  </a:rPr>
                  <a:t>$\mathbb{R}$</a:t>
                </a:r>
                <a:r>
                  <a:rPr sz="2400" b="0">
                    <a:solidFill>
                      <a:srgbClr val="111827"/>
                    </a:solidFill>
                    <a:latin typeface="Arial"/>
                  </a:rPr>
                  <a:t> are reflexive and symmetric but not transitive (chain </a:t>
                </a:r>
                <a:r>
                  <a:rPr lang="en-IN" sz="2400">
                    <a:solidFill>
                      <a:srgbClr val="111827"/>
                    </a:solidFill>
                    <a:latin typeface="Cambria Math" panose="02040503050406030204" pitchFamily="18" charset="0"/>
                  </a:rPr>
                  <a:t>$0,k,2k$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$|x|-|y|\le k$</a:t>
                </a:r>
                <a:r>
                  <a:rPr sz="2400" b="0">
                    <a:solidFill>
                      <a:srgbClr val="111827"/>
                    </a:solidFill>
                    <a:latin typeface="Arial"/>
                  </a:rPr>
                  <a:t>-type relations compare </a:t>
                </a:r>
                <a:r>
                  <a:rPr lang="en-IN" sz="2400">
                    <a:solidFill>
                      <a:srgbClr val="111827"/>
                    </a:solidFill>
                    <a:latin typeface="Cambria Math" panose="02040503050406030204" pitchFamily="18" charset="0"/>
                  </a:rPr>
                  <a:t>$(x,y)$</a:t>
                </a:r>
                <a:r>
                  <a:rPr sz="2400" b="0">
                    <a:solidFill>
                      <a:srgbClr val="111827"/>
                    </a:solidFill>
                    <a:latin typeface="Arial"/>
                  </a:rPr>
                  <a:t> and </a:t>
                </a:r>
                <a:r>
                  <a:rPr lang="en-IN" sz="2400">
                    <a:solidFill>
                      <a:srgbClr val="111827"/>
                    </a:solidFill>
                    <a:latin typeface="Cambria Math" panose="02040503050406030204" pitchFamily="18" charset="0"/>
                  </a:rPr>
                  <a:t>$(y,x)$</a:t>
                </a:r>
                <a:r>
                  <a:rPr sz="2400" b="0">
                    <a:solidFill>
                      <a:srgbClr val="111827"/>
                    </a:solidFill>
                    <a:latin typeface="Arial"/>
                  </a:rPr>
                  <a:t>: </a:t>
                </a:r>
                <a:r>
                  <a:rPr lang="en-IN" sz="2400">
                    <a:solidFill>
                      <a:srgbClr val="111827"/>
                    </a:solidFill>
                    <a:latin typeface="Cambria Math" panose="02040503050406030204" pitchFamily="18" charset="0"/>
                  </a:rPr>
                  <a:t>$|x|-|y|=a$</a:t>
                </a:r>
                <a:r>
                  <a:rPr sz="2400" b="0">
                    <a:solidFill>
                      <a:srgbClr val="111827"/>
                    </a:solidFill>
                    <a:latin typeface="Arial"/>
                  </a:rPr>
                  <a:t> and </a:t>
                </a:r>
                <a:r>
                  <a:rPr lang="en-IN" sz="2400">
                    <a:solidFill>
                      <a:srgbClr val="111827"/>
                    </a:solidFill>
                    <a:latin typeface="Cambria Math" panose="02040503050406030204" pitchFamily="18" charset="0"/>
                  </a:rPr>
                  <a:t>$|y|-|x|=-a$</a:t>
                </a:r>
                <a:r>
                  <a:rPr sz="2400" b="0">
                    <a:solidFill>
                      <a:srgbClr val="111827"/>
                    </a:solidFill>
                    <a:latin typeface="Arial"/>
                  </a:rPr>
                  <a:t>, so symmetry fails unless </a:t>
                </a:r>
                <a:r>
                  <a:rPr lang="en-IN" sz="2400">
                    <a:solidFill>
                      <a:srgbClr val="111827"/>
                    </a:solidFill>
                    <a:latin typeface="Cambria Math" panose="02040503050406030204" pitchFamily="18" charset="0"/>
                  </a:rPr>
                  <a:t>$|a|\le k$</a:t>
                </a:r>
                <a:r>
                  <a:rPr sz="2400" b="0">
                    <a:solidFill>
                      <a:srgbClr val="111827"/>
                    </a:solidFill>
                    <a:latin typeface="Arial"/>
                  </a:rPr>
                  <a:t> always.</a:t>
                </a:r>
                <a:endParaRPr sz="2400">
                  <a:solidFill>
                    <a:srgbClr val="111827"/>
                  </a:solidFill>
                </a:endParaRPr>
              </a:p>
            </p:txBody>
          </p:sp>
        </mc:Fallback>
      </mc:AlternateContent>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6</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Numerical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Q22</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Marks not printed in the paper: +4 assumed (JEE Advanced default)</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Questions are from AIEEE / JEE Main papers</a:t>
            </a:r>
            <a:endParaRPr sz="2800">
              <a:solidFill>
                <a:srgbClr val="FFFFFF"/>
              </a:solidFill>
            </a:endParaRP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cr m:val="double-struck"/>
                        <m:sty m:val="p"/>
                      </m:rPr>
                      <a:rPr lang="en-IN" sz="2400">
                        <a:solidFill>
                          <a:srgbClr val="111827"/>
                        </a:solidFill>
                        <a:latin typeface="Cambria Math" panose="02040503050406030204" pitchFamily="18" charset="0"/>
                      </a:rPr>
                      <m:t>Z</m:t>
                    </m:r>
                  </m:oMath>
                </a14:m>
                <a:r>
                  <a:rPr sz="2400" b="0">
                    <a:solidFill>
                      <a:srgbClr val="111827"/>
                    </a:solidFill>
                    <a:latin typeface="Arial"/>
                  </a:rPr>
                  <a:t> is the set of all integers, then the number of subsets of the set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𝑐</m:t>
                        </m:r>
                      </m:sup>
                    </m:sSup>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Z</m:t>
                    </m:r>
                  </m:oMath>
                </a14:m>
                <a:r>
                  <a:rPr sz="2400" b="0">
                    <a:solidFill>
                      <a:srgbClr val="111827"/>
                    </a:solidFill>
                    <a:latin typeface="Arial"/>
                  </a:rPr>
                  <a:t> is ________.</a:t>
                </a:r>
                <a:endParaRPr sz="2400">
                  <a:solidFill>
                    <a:srgbClr val="111827"/>
                  </a:solidFill>
                </a:endParaRPr>
              </a:p>
            </p:txBody>
          </p:sp>
        </mc:Choice>
        <mc:Fallback>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$A=\{x\in\mathbb{R}:|x-2|&gt;1\}$</a:t>
                </a:r>
                <a:r>
                  <a:rPr sz="2400" b="0">
                    <a:solidFill>
                      <a:srgbClr val="111827"/>
                    </a:solidFill>
                    <a:latin typeface="Arial"/>
                  </a:rPr>
                  <a:t>, </a:t>
                </a:r>
                <a:r>
                  <a:rPr lang="en-IN" sz="2400">
                    <a:solidFill>
                      <a:srgbClr val="111827"/>
                    </a:solidFill>
                    <a:latin typeface="Cambria Math" panose="02040503050406030204" pitchFamily="18" charset="0"/>
                  </a:rPr>
                  <a:t>$B=\{x\in\mathbb{R}:\sqrt{x^2-3}&gt;1\}$</a:t>
                </a:r>
                <a:r>
                  <a:rPr sz="2400" b="0">
                    <a:solidFill>
                      <a:srgbClr val="111827"/>
                    </a:solidFill>
                    <a:latin typeface="Arial"/>
                  </a:rPr>
                  <a:t>, </a:t>
                </a:r>
                <a:r>
                  <a:rPr lang="en-IN" sz="2400">
                    <a:solidFill>
                      <a:srgbClr val="111827"/>
                    </a:solidFill>
                    <a:latin typeface="Cambria Math" panose="02040503050406030204" pitchFamily="18" charset="0"/>
                  </a:rPr>
                  <a:t>$C=\{x\in\mathbb{R}:|x-4|\ge2\}$</a:t>
                </a:r>
                <a:r>
                  <a:rPr sz="2400" b="0">
                    <a:solidFill>
                      <a:srgbClr val="111827"/>
                    </a:solidFill>
                    <a:latin typeface="Arial"/>
                  </a:rPr>
                  <a:t> and </a:t>
                </a:r>
                <a:r>
                  <a:rPr lang="en-IN" sz="2400">
                    <a:solidFill>
                      <a:srgbClr val="111827"/>
                    </a:solidFill>
                    <a:latin typeface="Cambria Math" panose="02040503050406030204" pitchFamily="18" charset="0"/>
                  </a:rPr>
                  <a:t>$\mathbb{Z}$</a:t>
                </a:r>
                <a:r>
                  <a:rPr sz="2400" b="0">
                    <a:solidFill>
                      <a:srgbClr val="111827"/>
                    </a:solidFill>
                    <a:latin typeface="Arial"/>
                  </a:rPr>
                  <a:t> is the set of all integers, then the number of subsets of the set </a:t>
                </a:r>
                <a:r>
                  <a:rPr lang="en-IN" sz="2400">
                    <a:solidFill>
                      <a:srgbClr val="111827"/>
                    </a:solidFill>
                    <a:latin typeface="Cambria Math" panose="02040503050406030204" pitchFamily="18" charset="0"/>
                  </a:rPr>
                  <a:t>$(A\cap B\cap C)^c\cap\mathbb{Z}$</a:t>
                </a:r>
                <a:r>
                  <a:rPr sz="2400" b="0">
                    <a:solidFill>
                      <a:srgbClr val="111827"/>
                    </a:solidFill>
                    <a:latin typeface="Arial"/>
                  </a:rPr>
                  <a:t> is ________.</a:t>
                </a:r>
                <a:endParaRPr sz="2400">
                  <a:solidFill>
                    <a:srgbClr val="111827"/>
                  </a:solidFill>
                </a:endParaRPr>
              </a:p>
            </p:txBody>
          </p:sp>
        </mc:Fallback>
      </mc:AlternateContent>
      <p:sp>
        <p:nvSpPr>
          <p:cNvPr id="5" name="Rectangle 4"/>
          <p:cNvSpPr/>
          <p:nvPr/>
        </p:nvSpPr>
        <p:spPr>
          <a:xfrm>
            <a:off x="731520" y="3516884"/>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Operations on sets and complement, Modulus inequalities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Reduce </a:t>
                </a:r>
                <a14:m>
                  <m:oMath xmlns:m="http://schemas.openxmlformats.org/officeDocument/2006/math">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𝐶</m:t>
                    </m:r>
                  </m:oMath>
                </a14:m>
                <a:r>
                  <a:rPr sz="2400" b="0">
                    <a:solidFill>
                      <a:srgbClr val="78350F"/>
                    </a:solidFill>
                    <a:latin typeface="Arial"/>
                  </a:rPr>
                  <a:t> to intervals; the complement of </a:t>
                </a:r>
                <a14:m>
                  <m:oMath xmlns:m="http://schemas.openxmlformats.org/officeDocument/2006/math">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𝐶</m:t>
                    </m:r>
                  </m:oMath>
                </a14:m>
                <a:r>
                  <a:rPr sz="2400" b="0">
                    <a:solidFill>
                      <a:srgbClr val="78350F"/>
                    </a:solidFill>
                    <a:latin typeface="Arial"/>
                  </a:rPr>
                  <a:t> is </a:t>
                </a:r>
                <a14:m>
                  <m:oMath xmlns:m="http://schemas.openxmlformats.org/officeDocument/2006/math">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Reduce </a:t>
                </a:r>
                <a:r>
                  <a:rPr lang="en-IN" sz="2400">
                    <a:solidFill>
                      <a:srgbClr val="78350F"/>
                    </a:solidFill>
                    <a:latin typeface="Cambria Math" panose="02040503050406030204" pitchFamily="18" charset="0"/>
                  </a:rPr>
                  <a:t>$A,B,C$</a:t>
                </a:r>
                <a:r>
                  <a:rPr sz="2400" b="0">
                    <a:solidFill>
                      <a:srgbClr val="78350F"/>
                    </a:solidFill>
                    <a:latin typeface="Arial"/>
                  </a:rPr>
                  <a:t> to intervals; the complement of </a:t>
                </a:r>
                <a:r>
                  <a:rPr lang="en-IN" sz="2400">
                    <a:solidFill>
                      <a:srgbClr val="78350F"/>
                    </a:solidFill>
                    <a:latin typeface="Cambria Math" panose="02040503050406030204" pitchFamily="18" charset="0"/>
                  </a:rPr>
                  <a:t>$A\cap B\cap C$</a:t>
                </a:r>
                <a:r>
                  <a:rPr sz="2400" b="0">
                    <a:solidFill>
                      <a:srgbClr val="78350F"/>
                    </a:solidFill>
                    <a:latin typeface="Arial"/>
                  </a:rPr>
                  <a:t> is </a:t>
                </a:r>
                <a:r>
                  <a:rPr lang="en-IN" sz="2400">
                    <a:solidFill>
                      <a:srgbClr val="78350F"/>
                    </a:solidFill>
                    <a:latin typeface="Cambria Math" panose="02040503050406030204" pitchFamily="18" charset="0"/>
                  </a:rPr>
                  <a:t>$[-2,6)$</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&lt;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3</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4</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𝐶</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a:t>
                </a:r>
                <a:r>
                  <a:rPr sz="2400" b="0">
                    <a:solidFill>
                      <a:srgbClr val="111827"/>
                    </a:solidFill>
                    <a:latin typeface="Arial"/>
                  </a:rPr>
                  <a:t>: </a:t>
                </a:r>
                <a:r>
                  <a:rPr lang="en-IN" sz="2400">
                    <a:solidFill>
                      <a:srgbClr val="111827"/>
                    </a:solidFill>
                    <a:latin typeface="Cambria Math" panose="02040503050406030204" pitchFamily="18" charset="0"/>
                  </a:rPr>
                  <a:t>$x-2&lt;-1$</a:t>
                </a:r>
                <a:r>
                  <a:rPr sz="2400" b="0">
                    <a:solidFill>
                      <a:srgbClr val="111827"/>
                    </a:solidFill>
                    <a:latin typeface="Arial"/>
                  </a:rPr>
                  <a:t> or </a:t>
                </a:r>
                <a:r>
                  <a:rPr lang="en-IN" sz="2400">
                    <a:solidFill>
                      <a:srgbClr val="111827"/>
                    </a:solidFill>
                    <a:latin typeface="Cambria Math" panose="02040503050406030204" pitchFamily="18" charset="0"/>
                  </a:rPr>
                  <a:t>$x-2&gt;1$</a:t>
                </a:r>
                <a:r>
                  <a:rPr sz="2400" b="0">
                    <a:solidFill>
                      <a:srgbClr val="111827"/>
                    </a:solidFill>
                    <a:latin typeface="Arial"/>
                  </a:rPr>
                  <a:t>, i.e. </a:t>
                </a:r>
                <a:r>
                  <a:rPr lang="en-IN" sz="2400">
                    <a:solidFill>
                      <a:srgbClr val="111827"/>
                    </a:solidFill>
                    <a:latin typeface="Cambria Math" panose="02040503050406030204" pitchFamily="18" charset="0"/>
                  </a:rPr>
                  <a:t>$x&lt;1$</a:t>
                </a:r>
                <a:r>
                  <a:rPr sz="2400" b="0">
                    <a:solidFill>
                      <a:srgbClr val="111827"/>
                    </a:solidFill>
                    <a:latin typeface="Arial"/>
                  </a:rPr>
                  <a:t> or </a:t>
                </a:r>
                <a:r>
                  <a:rPr lang="en-IN" sz="2400">
                    <a:solidFill>
                      <a:srgbClr val="111827"/>
                    </a:solidFill>
                    <a:latin typeface="Cambria Math" panose="02040503050406030204" pitchFamily="18" charset="0"/>
                  </a:rPr>
                  <a:t>$x&gt;3$</a:t>
                </a:r>
                <a:r>
                  <a:rPr sz="2400" b="0">
                    <a:solidFill>
                      <a:srgbClr val="111827"/>
                    </a:solidFill>
                    <a:latin typeface="Arial"/>
                  </a:rPr>
                  <a:t>. So </a:t>
                </a:r>
                <a:r>
                  <a:rPr lang="en-IN" sz="2400">
                    <a:solidFill>
                      <a:srgbClr val="111827"/>
                    </a:solidFill>
                    <a:latin typeface="Cambria Math" panose="02040503050406030204" pitchFamily="18" charset="0"/>
                  </a:rPr>
                  <a:t>$A=(-\infty,1)\cup(3,\infty)$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a:t>
                </a:r>
                <a:r>
                  <a:rPr sz="2400" b="0">
                    <a:solidFill>
                      <a:srgbClr val="111827"/>
                    </a:solidFill>
                    <a:latin typeface="Arial"/>
                  </a:rPr>
                  <a:t>: </a:t>
                </a:r>
                <a:r>
                  <a:rPr lang="en-IN" sz="2400">
                    <a:solidFill>
                      <a:srgbClr val="111827"/>
                    </a:solidFill>
                    <a:latin typeface="Cambria Math" panose="02040503050406030204" pitchFamily="18" charset="0"/>
                  </a:rPr>
                  <a:t>$\sqrt{x^2-3}&gt;1\Rightarrow x^2-3&gt;1\Rightarrow x^2&gt;4$</a:t>
                </a:r>
                <a:r>
                  <a:rPr sz="2400" b="0">
                    <a:solidFill>
                      <a:srgbClr val="111827"/>
                    </a:solidFill>
                    <a:latin typeface="Arial"/>
                  </a:rPr>
                  <a:t>, so </a:t>
                </a:r>
                <a:r>
                  <a:rPr lang="en-IN" sz="2400">
                    <a:solidFill>
                      <a:srgbClr val="111827"/>
                    </a:solidFill>
                    <a:latin typeface="Cambria Math" panose="02040503050406030204" pitchFamily="18" charset="0"/>
                  </a:rPr>
                  <a:t>$B=(-\infty,-2)\cup(2,\infty)$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$C$</a:t>
                </a:r>
                <a:r>
                  <a:rPr sz="2400" b="0">
                    <a:solidFill>
                      <a:srgbClr val="111827"/>
                    </a:solidFill>
                    <a:latin typeface="Arial"/>
                  </a:rPr>
                  <a:t>: </a:t>
                </a:r>
                <a:r>
                  <a:rPr lang="en-IN" sz="2400">
                    <a:solidFill>
                      <a:srgbClr val="111827"/>
                    </a:solidFill>
                    <a:latin typeface="Cambria Math" panose="02040503050406030204" pitchFamily="18" charset="0"/>
                  </a:rPr>
                  <a:t>$x-4\le-2$</a:t>
                </a:r>
                <a:r>
                  <a:rPr sz="2400" b="0">
                    <a:solidFill>
                      <a:srgbClr val="111827"/>
                    </a:solidFill>
                    <a:latin typeface="Arial"/>
                  </a:rPr>
                  <a:t> or </a:t>
                </a:r>
                <a:r>
                  <a:rPr lang="en-IN" sz="2400">
                    <a:solidFill>
                      <a:srgbClr val="111827"/>
                    </a:solidFill>
                    <a:latin typeface="Cambria Math" panose="02040503050406030204" pitchFamily="18" charset="0"/>
                  </a:rPr>
                  <a:t>$x-4\ge2$</a:t>
                </a:r>
                <a:r>
                  <a:rPr sz="2400" b="0">
                    <a:solidFill>
                      <a:srgbClr val="111827"/>
                    </a:solidFill>
                    <a:latin typeface="Arial"/>
                  </a:rPr>
                  <a:t>, i.e. </a:t>
                </a:r>
                <a:r>
                  <a:rPr lang="en-IN" sz="2400">
                    <a:solidFill>
                      <a:srgbClr val="111827"/>
                    </a:solidFill>
                    <a:latin typeface="Cambria Math" panose="02040503050406030204" pitchFamily="18" charset="0"/>
                  </a:rPr>
                  <a:t>$x\le2$</a:t>
                </a:r>
                <a:r>
                  <a:rPr sz="2400" b="0">
                    <a:solidFill>
                      <a:srgbClr val="111827"/>
                    </a:solidFill>
                    <a:latin typeface="Arial"/>
                  </a:rPr>
                  <a:t> or </a:t>
                </a:r>
                <a:r>
                  <a:rPr lang="en-IN" sz="2400">
                    <a:solidFill>
                      <a:srgbClr val="111827"/>
                    </a:solidFill>
                    <a:latin typeface="Cambria Math" panose="02040503050406030204" pitchFamily="18" charset="0"/>
                  </a:rPr>
                  <a:t>$x\ge6$</a:t>
                </a:r>
                <a:r>
                  <a:rPr sz="2400" b="0">
                    <a:solidFill>
                      <a:srgbClr val="111827"/>
                    </a:solidFill>
                    <a:latin typeface="Arial"/>
                  </a:rPr>
                  <a:t>. So </a:t>
                </a:r>
                <a:r>
                  <a:rPr lang="en-IN" sz="2400">
                    <a:solidFill>
                      <a:srgbClr val="111827"/>
                    </a:solidFill>
                    <a:latin typeface="Cambria Math" panose="02040503050406030204" pitchFamily="18" charset="0"/>
                  </a:rPr>
                  <a:t>$C=(-\infty,2]\cup[6,\infty)$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$A\cap B=(-\infty,-2)\cup(3,\infty)$</a:t>
                </a:r>
                <a:r>
                  <a:rPr sz="2400" b="0">
                    <a:solidFill>
                      <a:srgbClr val="111827"/>
                    </a:solidFill>
                    <a:latin typeface="Arial"/>
                  </a:rPr>
                  <a:t>, and </a:t>
                </a:r>
                <a:r>
                  <a:rPr lang="en-IN" sz="2400">
                    <a:solidFill>
                      <a:srgbClr val="111827"/>
                    </a:solidFill>
                    <a:latin typeface="Cambria Math" panose="02040503050406030204" pitchFamily="18" charset="0"/>
                  </a:rPr>
                  <a:t>$\cap\,C$</a:t>
                </a:r>
                <a:r>
                  <a:rPr sz="2400" b="0">
                    <a:solidFill>
                      <a:srgbClr val="111827"/>
                    </a:solidFill>
                    <a:latin typeface="Arial"/>
                  </a:rPr>
                  <a:t> gives </a:t>
                </a:r>
                <a:r>
                  <a:rPr lang="en-IN" sz="2400">
                    <a:solidFill>
                      <a:srgbClr val="111827"/>
                    </a:solidFill>
                    <a:latin typeface="Cambria Math" panose="02040503050406030204" pitchFamily="18" charset="0"/>
                  </a:rPr>
                  <a:t>$A\cap B\cap C=(-\infty,-2)\cup[6,\infty)$</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𝑐</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𝑐</m:t>
                        </m:r>
                      </m:sup>
                    </m:sSup>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Z</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which has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elements.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subsets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8</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256</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$(A\cap B\cap C)^c=[-2,6)$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$(A\cap B\cap C)^c\cap\mathbb{Z}=\{-2,-1,0,1,2,3,4,5\}$</a:t>
                </a:r>
                <a:r>
                  <a:rPr sz="2400" b="0">
                    <a:solidFill>
                      <a:srgbClr val="111827"/>
                    </a:solidFill>
                    <a:latin typeface="Arial"/>
                  </a:rPr>
                  <a:t>, which has </a:t>
                </a:r>
                <a:r>
                  <a:rPr lang="en-IN" sz="2400">
                    <a:solidFill>
                      <a:srgbClr val="111827"/>
                    </a:solidFill>
                    <a:latin typeface="Cambria Math" panose="02040503050406030204" pitchFamily="18" charset="0"/>
                  </a:rPr>
                  <a:t>$8$</a:t>
                </a:r>
                <a:r>
                  <a:rPr sz="2400" b="0">
                    <a:solidFill>
                      <a:srgbClr val="111827"/>
                    </a:solidFill>
                    <a:latin typeface="Arial"/>
                  </a:rPr>
                  <a:t> elements.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Number of subsets </a:t>
                </a:r>
                <a:r>
                  <a:rPr lang="en-IN" sz="2400">
                    <a:solidFill>
                      <a:srgbClr val="111827"/>
                    </a:solidFill>
                    <a:latin typeface="Cambria Math" panose="02040503050406030204" pitchFamily="18" charset="0"/>
                  </a:rPr>
                  <a:t>$=2^8=256$</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256</a:t>
            </a:r>
            <a:endParaRPr sz="2800">
              <a:solidFill>
                <a:srgbClr val="15803D"/>
              </a:solidFill>
            </a:endParaRP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Test the integers one by one: only integers matter, so decide membership in </a:t>
                </a:r>
                <a14:m>
                  <m:oMath xmlns:m="http://schemas.openxmlformats.org/officeDocument/2006/math">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𝐶</m:t>
                    </m:r>
                  </m:oMath>
                </a14:m>
                <a:r>
                  <a:rPr sz="2400" b="0">
                    <a:solidFill>
                      <a:srgbClr val="78350F"/>
                    </a:solidFill>
                    <a:latin typeface="Arial"/>
                  </a:rPr>
                  <a:t> for each.</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Test the integers one by one: only integers matter, so decide membership in </a:t>
                </a:r>
                <a:r>
                  <a:rPr lang="en-IN" sz="2400">
                    <a:solidFill>
                      <a:srgbClr val="78350F"/>
                    </a:solidFill>
                    <a:latin typeface="Cambria Math" panose="02040503050406030204" pitchFamily="18" charset="0"/>
                  </a:rPr>
                  <a:t>$A\cap B\cap C$</a:t>
                </a:r>
                <a:r>
                  <a:rPr sz="2400" b="0">
                    <a:solidFill>
                      <a:srgbClr val="78350F"/>
                    </a:solidFill>
                    <a:latin typeface="Arial"/>
                  </a:rPr>
                  <a:t> for each.</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Integers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all three hold, so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(not in the complement).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needs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oMath>
                </a14:m>
                <a:r>
                  <a:rPr sz="2400" b="0">
                    <a:solidFill>
                      <a:srgbClr val="111827"/>
                    </a:solidFill>
                    <a:latin typeface="Arial"/>
                  </a:rPr>
                  <a:t>, false.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 </m:t>
                        </m:r>
                      </m:e>
                    </m:rad>
                  </m:oMath>
                </a14:m>
                <a:r>
                  <a:rPr sz="2400" b="0">
                    <a:solidFill>
                      <a:srgbClr val="111827"/>
                    </a:solidFill>
                    <a:latin typeface="Arial"/>
                  </a:rPr>
                  <a:t> is undefined and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All four lie in the complement.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not </a:t>
                </a:r>
                <a14:m>
                  <m:oMath xmlns:m="http://schemas.openxmlformats.org/officeDocument/2006/math">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2</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All four lie in the complement.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Integers </a:t>
                </a:r>
                <a:r>
                  <a:rPr lang="en-IN" sz="2400">
                    <a:solidFill>
                      <a:srgbClr val="111827"/>
                    </a:solidFill>
                    <a:latin typeface="Cambria Math" panose="02040503050406030204" pitchFamily="18" charset="0"/>
                  </a:rPr>
                  <a:t>$n\le-3$</a:t>
                </a:r>
                <a:r>
                  <a:rPr sz="2400" b="0">
                    <a:solidFill>
                      <a:srgbClr val="111827"/>
                    </a:solidFill>
                    <a:latin typeface="Arial"/>
                  </a:rPr>
                  <a:t>: </a:t>
                </a:r>
                <a:r>
                  <a:rPr lang="en-IN" sz="2400">
                    <a:solidFill>
                      <a:srgbClr val="111827"/>
                    </a:solidFill>
                    <a:latin typeface="Cambria Math" panose="02040503050406030204" pitchFamily="18" charset="0"/>
                  </a:rPr>
                  <a:t>$|n-2|&gt;1$</a:t>
                </a:r>
                <a:r>
                  <a:rPr sz="2400" b="0">
                    <a:solidFill>
                      <a:srgbClr val="111827"/>
                    </a:solidFill>
                    <a:latin typeface="Arial"/>
                  </a:rPr>
                  <a:t>, </a:t>
                </a:r>
                <a:r>
                  <a:rPr lang="en-IN" sz="2400">
                    <a:solidFill>
                      <a:srgbClr val="111827"/>
                    </a:solidFill>
                    <a:latin typeface="Cambria Math" panose="02040503050406030204" pitchFamily="18" charset="0"/>
                  </a:rPr>
                  <a:t>$n^2-3\ge6&gt;1$</a:t>
                </a:r>
                <a:r>
                  <a:rPr sz="2400" b="0">
                    <a:solidFill>
                      <a:srgbClr val="111827"/>
                    </a:solidFill>
                    <a:latin typeface="Arial"/>
                  </a:rPr>
                  <a:t>, </a:t>
                </a:r>
                <a:r>
                  <a:rPr lang="en-IN" sz="2400">
                    <a:solidFill>
                      <a:srgbClr val="111827"/>
                    </a:solidFill>
                    <a:latin typeface="Cambria Math" panose="02040503050406030204" pitchFamily="18" charset="0"/>
                  </a:rPr>
                  <a:t>$|n-4|\ge7\ge2$</a:t>
                </a:r>
                <a:r>
                  <a:rPr sz="2400" b="0">
                    <a:solidFill>
                      <a:srgbClr val="111827"/>
                    </a:solidFill>
                    <a:latin typeface="Arial"/>
                  </a:rPr>
                  <a:t>: all three hold, so </a:t>
                </a:r>
                <a:r>
                  <a:rPr lang="en-IN" sz="2400">
                    <a:solidFill>
                      <a:srgbClr val="111827"/>
                    </a:solidFill>
                    <a:latin typeface="Cambria Math" panose="02040503050406030204" pitchFamily="18" charset="0"/>
                  </a:rPr>
                  <a:t>$n\in A\cap B\cap C$</a:t>
                </a:r>
                <a:r>
                  <a:rPr sz="2400" b="0">
                    <a:solidFill>
                      <a:srgbClr val="111827"/>
                    </a:solidFill>
                    <a:latin typeface="Arial"/>
                  </a:rPr>
                  <a:t> (not in the complement).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$n=-2$</a:t>
                </a:r>
                <a:r>
                  <a:rPr sz="2400" b="0">
                    <a:solidFill>
                      <a:srgbClr val="111827"/>
                    </a:solidFill>
                    <a:latin typeface="Arial"/>
                  </a:rPr>
                  <a:t>: </a:t>
                </a:r>
                <a:r>
                  <a:rPr lang="en-IN" sz="2400">
                    <a:solidFill>
                      <a:srgbClr val="111827"/>
                    </a:solidFill>
                    <a:latin typeface="Cambria Math" panose="02040503050406030204" pitchFamily="18" charset="0"/>
                  </a:rPr>
                  <a:t>$B$</a:t>
                </a:r>
                <a:r>
                  <a:rPr sz="2400" b="0">
                    <a:solidFill>
                      <a:srgbClr val="111827"/>
                    </a:solidFill>
                    <a:latin typeface="Arial"/>
                  </a:rPr>
                  <a:t> needs </a:t>
                </a:r>
                <a:r>
                  <a:rPr lang="en-IN" sz="2400">
                    <a:solidFill>
                      <a:srgbClr val="111827"/>
                    </a:solidFill>
                    <a:latin typeface="Cambria Math" panose="02040503050406030204" pitchFamily="18" charset="0"/>
                  </a:rPr>
                  <a:t>$\sqrt{4-3}=1&gt;1$</a:t>
                </a:r>
                <a:r>
                  <a:rPr sz="2400" b="0">
                    <a:solidFill>
                      <a:srgbClr val="111827"/>
                    </a:solidFill>
                    <a:latin typeface="Arial"/>
                  </a:rPr>
                  <a:t>, false. </a:t>
                </a:r>
                <a:r>
                  <a:rPr lang="en-IN" sz="2400">
                    <a:solidFill>
                      <a:srgbClr val="111827"/>
                    </a:solidFill>
                    <a:latin typeface="Cambria Math" panose="02040503050406030204" pitchFamily="18" charset="0"/>
                  </a:rPr>
                  <a:t>$n=-1,0,1$</a:t>
                </a:r>
                <a:r>
                  <a:rPr sz="2400" b="0">
                    <a:solidFill>
                      <a:srgbClr val="111827"/>
                    </a:solidFill>
                    <a:latin typeface="Arial"/>
                  </a:rPr>
                  <a:t>: </a:t>
                </a:r>
                <a:r>
                  <a:rPr lang="en-IN" sz="2400">
                    <a:solidFill>
                      <a:srgbClr val="111827"/>
                    </a:solidFill>
                    <a:latin typeface="Cambria Math" panose="02040503050406030204" pitchFamily="18" charset="0"/>
                  </a:rPr>
                  <a:t>$n^2-3&lt;0$</a:t>
                </a:r>
                <a:r>
                  <a:rPr sz="2400" b="0">
                    <a:solidFill>
                      <a:srgbClr val="111827"/>
                    </a:solidFill>
                    <a:latin typeface="Arial"/>
                  </a:rPr>
                  <a:t>, so </a:t>
                </a:r>
                <a:r>
                  <a:rPr lang="en-IN" sz="2400">
                    <a:solidFill>
                      <a:srgbClr val="111827"/>
                    </a:solidFill>
                    <a:latin typeface="Cambria Math" panose="02040503050406030204" pitchFamily="18" charset="0"/>
                  </a:rPr>
                  <a:t>$\sqrt{\ }$</a:t>
                </a:r>
                <a:r>
                  <a:rPr sz="2400" b="0">
                    <a:solidFill>
                      <a:srgbClr val="111827"/>
                    </a:solidFill>
                    <a:latin typeface="Arial"/>
                  </a:rPr>
                  <a:t> is undefined and </a:t>
                </a:r>
                <a:r>
                  <a:rPr lang="en-IN" sz="2400">
                    <a:solidFill>
                      <a:srgbClr val="111827"/>
                    </a:solidFill>
                    <a:latin typeface="Cambria Math" panose="02040503050406030204" pitchFamily="18" charset="0"/>
                  </a:rPr>
                  <a:t>$n\notin B$</a:t>
                </a:r>
                <a:r>
                  <a:rPr sz="2400" b="0">
                    <a:solidFill>
                      <a:srgbClr val="111827"/>
                    </a:solidFill>
                    <a:latin typeface="Arial"/>
                  </a:rPr>
                  <a:t>. All four lie in the complement.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$n=2$</a:t>
                </a:r>
                <a:r>
                  <a:rPr sz="2400" b="0">
                    <a:solidFill>
                      <a:srgbClr val="111827"/>
                    </a:solidFill>
                    <a:latin typeface="Arial"/>
                  </a:rPr>
                  <a:t> and </a:t>
                </a:r>
                <a:r>
                  <a:rPr lang="en-IN" sz="2400">
                    <a:solidFill>
                      <a:srgbClr val="111827"/>
                    </a:solidFill>
                    <a:latin typeface="Cambria Math" panose="02040503050406030204" pitchFamily="18" charset="0"/>
                  </a:rPr>
                  <a:t>$n=3$</a:t>
                </a:r>
                <a:r>
                  <a:rPr sz="2400" b="0">
                    <a:solidFill>
                      <a:srgbClr val="111827"/>
                    </a:solidFill>
                    <a:latin typeface="Arial"/>
                  </a:rPr>
                  <a:t>: </a:t>
                </a:r>
                <a:r>
                  <a:rPr lang="en-IN" sz="2400">
                    <a:solidFill>
                      <a:srgbClr val="111827"/>
                    </a:solidFill>
                    <a:latin typeface="Cambria Math" panose="02040503050406030204" pitchFamily="18" charset="0"/>
                  </a:rPr>
                  <a:t>$|n-2|\in\{0,1\}$</a:t>
                </a:r>
                <a:r>
                  <a:rPr sz="2400" b="0">
                    <a:solidFill>
                      <a:srgbClr val="111827"/>
                    </a:solidFill>
                    <a:latin typeface="Arial"/>
                  </a:rPr>
                  <a:t> is not </a:t>
                </a:r>
                <a:r>
                  <a:rPr lang="en-IN" sz="2400">
                    <a:solidFill>
                      <a:srgbClr val="111827"/>
                    </a:solidFill>
                    <a:latin typeface="Cambria Math" panose="02040503050406030204" pitchFamily="18" charset="0"/>
                  </a:rPr>
                  <a:t>$&gt;1$</a:t>
                </a:r>
                <a:r>
                  <a:rPr sz="2400" b="0">
                    <a:solidFill>
                      <a:srgbClr val="111827"/>
                    </a:solidFill>
                    <a:latin typeface="Arial"/>
                  </a:rPr>
                  <a:t>, so </a:t>
                </a:r>
                <a:r>
                  <a:rPr lang="en-IN" sz="2400">
                    <a:solidFill>
                      <a:srgbClr val="111827"/>
                    </a:solidFill>
                    <a:latin typeface="Cambria Math" panose="02040503050406030204" pitchFamily="18" charset="0"/>
                  </a:rPr>
                  <a:t>$n\notin A$</a:t>
                </a:r>
                <a:r>
                  <a:rPr sz="2400" b="0">
                    <a:solidFill>
                      <a:srgbClr val="111827"/>
                    </a:solidFill>
                    <a:latin typeface="Arial"/>
                  </a:rPr>
                  <a:t>. </a:t>
                </a:r>
                <a:r>
                  <a:rPr lang="en-IN" sz="2400">
                    <a:solidFill>
                      <a:srgbClr val="111827"/>
                    </a:solidFill>
                    <a:latin typeface="Cambria Math" panose="02040503050406030204" pitchFamily="18" charset="0"/>
                  </a:rPr>
                  <a:t>$n=4,5$</a:t>
                </a:r>
                <a:r>
                  <a:rPr sz="2400" b="0">
                    <a:solidFill>
                      <a:srgbClr val="111827"/>
                    </a:solidFill>
                    <a:latin typeface="Arial"/>
                  </a:rPr>
                  <a:t>: </a:t>
                </a:r>
                <a:r>
                  <a:rPr lang="en-IN" sz="2400">
                    <a:solidFill>
                      <a:srgbClr val="111827"/>
                    </a:solidFill>
                    <a:latin typeface="Cambria Math" panose="02040503050406030204" pitchFamily="18" charset="0"/>
                  </a:rPr>
                  <a:t>$|n-4|\in\{0,1\}&lt;2$</a:t>
                </a:r>
                <a:r>
                  <a:rPr sz="2400" b="0">
                    <a:solidFill>
                      <a:srgbClr val="111827"/>
                    </a:solidFill>
                    <a:latin typeface="Arial"/>
                  </a:rPr>
                  <a:t>, so </a:t>
                </a:r>
                <a:r>
                  <a:rPr lang="en-IN" sz="2400">
                    <a:solidFill>
                      <a:srgbClr val="111827"/>
                    </a:solidFill>
                    <a:latin typeface="Cambria Math" panose="02040503050406030204" pitchFamily="18" charset="0"/>
                  </a:rPr>
                  <a:t>$n\notin C$</a:t>
                </a:r>
                <a:r>
                  <a:rPr sz="2400" b="0">
                    <a:solidFill>
                      <a:srgbClr val="111827"/>
                    </a:solidFill>
                    <a:latin typeface="Arial"/>
                  </a:rPr>
                  <a:t>. All four lie in the complement.</a:t>
                </a:r>
                <a:endParaRPr sz="2400">
                  <a:solidFill>
                    <a:srgbClr val="111827"/>
                  </a:solidFill>
                </a:endParaRPr>
              </a:p>
            </p:txBody>
          </p:sp>
        </mc:Fallback>
      </mc:AlternateContent>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Integers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33</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all three hold.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integers in the complement are exactly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elements and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8</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256</m:t>
                    </m:r>
                  </m:oMath>
                </a14:m>
                <a:r>
                  <a:rPr sz="2400" b="0">
                    <a:solidFill>
                      <a:srgbClr val="111827"/>
                    </a:solidFill>
                    <a:latin typeface="Arial"/>
                  </a:rPr>
                  <a:t> subsets.</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Integers </a:t>
                </a:r>
                <a:r>
                  <a:rPr lang="en-IN" sz="2400">
                    <a:solidFill>
                      <a:srgbClr val="111827"/>
                    </a:solidFill>
                    <a:latin typeface="Cambria Math" panose="02040503050406030204" pitchFamily="18" charset="0"/>
                  </a:rPr>
                  <a:t>$n\ge6$</a:t>
                </a:r>
                <a:r>
                  <a:rPr sz="2400" b="0">
                    <a:solidFill>
                      <a:srgbClr val="111827"/>
                    </a:solidFill>
                    <a:latin typeface="Arial"/>
                  </a:rPr>
                  <a:t>: </a:t>
                </a:r>
                <a:r>
                  <a:rPr lang="en-IN" sz="2400">
                    <a:solidFill>
                      <a:srgbClr val="111827"/>
                    </a:solidFill>
                    <a:latin typeface="Cambria Math" panose="02040503050406030204" pitchFamily="18" charset="0"/>
                  </a:rPr>
                  <a:t>$|n-2|\ge4$</a:t>
                </a:r>
                <a:r>
                  <a:rPr sz="2400" b="0">
                    <a:solidFill>
                      <a:srgbClr val="111827"/>
                    </a:solidFill>
                    <a:latin typeface="Arial"/>
                  </a:rPr>
                  <a:t>, </a:t>
                </a:r>
                <a:r>
                  <a:rPr lang="en-IN" sz="2400">
                    <a:solidFill>
                      <a:srgbClr val="111827"/>
                    </a:solidFill>
                    <a:latin typeface="Cambria Math" panose="02040503050406030204" pitchFamily="18" charset="0"/>
                  </a:rPr>
                  <a:t>$n^2-3\ge33$</a:t>
                </a:r>
                <a:r>
                  <a:rPr sz="2400" b="0">
                    <a:solidFill>
                      <a:srgbClr val="111827"/>
                    </a:solidFill>
                    <a:latin typeface="Arial"/>
                  </a:rPr>
                  <a:t>, </a:t>
                </a:r>
                <a:r>
                  <a:rPr lang="en-IN" sz="2400">
                    <a:solidFill>
                      <a:srgbClr val="111827"/>
                    </a:solidFill>
                    <a:latin typeface="Cambria Math" panose="02040503050406030204" pitchFamily="18" charset="0"/>
                  </a:rPr>
                  <a:t>$|n-4|\ge2$</a:t>
                </a:r>
                <a:r>
                  <a:rPr sz="2400" b="0">
                    <a:solidFill>
                      <a:srgbClr val="111827"/>
                    </a:solidFill>
                    <a:latin typeface="Arial"/>
                  </a:rPr>
                  <a:t>: all three hold.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integers in the complement are exactly </a:t>
                </a:r>
                <a:r>
                  <a:rPr lang="en-IN" sz="2400">
                    <a:solidFill>
                      <a:srgbClr val="111827"/>
                    </a:solidFill>
                    <a:latin typeface="Cambria Math" panose="02040503050406030204" pitchFamily="18" charset="0"/>
                  </a:rPr>
                  <a:t>$-2,-1,0,1,2,3,4,5$</a:t>
                </a:r>
                <a:r>
                  <a:rPr sz="2400" b="0">
                    <a:solidFill>
                      <a:srgbClr val="111827"/>
                    </a:solidFill>
                    <a:latin typeface="Arial"/>
                  </a:rPr>
                  <a:t>: </a:t>
                </a:r>
                <a:r>
                  <a:rPr lang="en-IN" sz="2400">
                    <a:solidFill>
                      <a:srgbClr val="111827"/>
                    </a:solidFill>
                    <a:latin typeface="Cambria Math" panose="02040503050406030204" pitchFamily="18" charset="0"/>
                  </a:rPr>
                  <a:t>$8$</a:t>
                </a:r>
                <a:r>
                  <a:rPr sz="2400" b="0">
                    <a:solidFill>
                      <a:srgbClr val="111827"/>
                    </a:solidFill>
                    <a:latin typeface="Arial"/>
                  </a:rPr>
                  <a:t> elements and </a:t>
                </a:r>
                <a:r>
                  <a:rPr lang="en-IN" sz="2400">
                    <a:solidFill>
                      <a:srgbClr val="111827"/>
                    </a:solidFill>
                    <a:latin typeface="Cambria Math" panose="02040503050406030204" pitchFamily="18" charset="0"/>
                  </a:rPr>
                  <a:t>$2^8=256$</a:t>
                </a:r>
                <a:r>
                  <a:rPr sz="2400" b="0">
                    <a:solidFill>
                      <a:srgbClr val="111827"/>
                    </a:solidFill>
                    <a:latin typeface="Arial"/>
                  </a:rPr>
                  <a:t> subsets.</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256</a:t>
            </a:r>
            <a:endParaRPr sz="2800">
              <a:solidFill>
                <a:srgbClr val="15803D"/>
              </a:solidFill>
            </a:endParaRP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De Morgan: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𝑐</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𝑐</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𝐵</m:t>
                        </m:r>
                      </m:e>
                      <m:sup>
                        <m:r>
                          <a:rPr lang="en-IN" sz="2400" i="1">
                            <a:solidFill>
                              <a:srgbClr val="111827"/>
                            </a:solidFill>
                            <a:latin typeface="Cambria Math" panose="02040503050406030204" pitchFamily="18" charset="0"/>
                          </a:rPr>
                          <m:t>𝑐</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𝐶</m:t>
                        </m:r>
                      </m:e>
                      <m:sup>
                        <m:r>
                          <a:rPr lang="en-IN" sz="2400" i="1">
                            <a:solidFill>
                              <a:srgbClr val="111827"/>
                            </a:solidFill>
                            <a:latin typeface="Cambria Math" panose="02040503050406030204" pitchFamily="18" charset="0"/>
                          </a:rPr>
                          <m:t>𝑐</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a:t>
                </a:r>
                <a14:m>
                  <m:oMath xmlns:m="http://schemas.openxmlformats.org/officeDocument/2006/math">
                    <m:sSup>
                      <m:e>
                        <m:r>
                          <a:rPr lang="en-IN" sz="2400" i="1">
                            <a:solidFill>
                              <a:srgbClr val="111827"/>
                            </a:solidFill>
                            <a:latin typeface="Cambria Math" panose="02040503050406030204" pitchFamily="18" charset="0"/>
                          </a:rPr>
                          <m:t>𝐵</m:t>
                        </m:r>
                      </m:e>
                      <m:sup>
                        <m:r>
                          <a:rPr lang="en-IN" sz="2400" i="1">
                            <a:solidFill>
                              <a:srgbClr val="111827"/>
                            </a:solidFill>
                            <a:latin typeface="Cambria Math" panose="02040503050406030204" pitchFamily="18" charset="0"/>
                          </a:rPr>
                          <m:t>𝑐</m:t>
                        </m:r>
                      </m:sup>
                    </m:sSup>
                  </m:oMath>
                </a14:m>
                <a:r>
                  <a:rPr sz="2400" b="0">
                    <a:solidFill>
                      <a:srgbClr val="111827"/>
                    </a:solidFill>
                    <a:latin typeface="Arial"/>
                  </a:rPr>
                  <a:t> include the points where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e>
                    </m:rad>
                  </m:oMath>
                </a14:m>
                <a:r>
                  <a:rPr sz="2400" b="0">
                    <a:solidFill>
                      <a:srgbClr val="111827"/>
                    </a:solidFill>
                    <a:latin typeface="Arial"/>
                  </a:rPr>
                  <a:t> is undefined).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Strict versus non-strict inequality decides whether an endpoint integer is counted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set with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elements has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𝑚</m:t>
                        </m:r>
                      </m:sup>
                    </m:sSup>
                  </m:oMath>
                </a14:m>
                <a:r>
                  <a:rPr sz="2400" b="0">
                    <a:solidFill>
                      <a:srgbClr val="111827"/>
                    </a:solidFill>
                    <a:latin typeface="Arial"/>
                  </a:rPr>
                  <a:t> subsets.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De Morgan: </a:t>
                </a:r>
                <a:r>
                  <a:rPr lang="en-IN" sz="2400">
                    <a:solidFill>
                      <a:srgbClr val="111827"/>
                    </a:solidFill>
                    <a:latin typeface="Cambria Math" panose="02040503050406030204" pitchFamily="18" charset="0"/>
                  </a:rPr>
                  <a:t>$(A\cap B\cap C)^c=A^c\cup B^c\cup C^c=[1,3]\cup[-2,2]\cup(2,6)=[-2,6)$</a:t>
                </a:r>
                <a:r>
                  <a:rPr sz="2400" b="0">
                    <a:solidFill>
                      <a:srgbClr val="111827"/>
                    </a:solidFill>
                    <a:latin typeface="Arial"/>
                  </a:rPr>
                  <a:t> (for </a:t>
                </a:r>
                <a:r>
                  <a:rPr lang="en-IN" sz="2400">
                    <a:solidFill>
                      <a:srgbClr val="111827"/>
                    </a:solidFill>
                    <a:latin typeface="Cambria Math" panose="02040503050406030204" pitchFamily="18" charset="0"/>
                  </a:rPr>
                  <a:t>$B^c$</a:t>
                </a:r>
                <a:r>
                  <a:rPr sz="2400" b="0">
                    <a:solidFill>
                      <a:srgbClr val="111827"/>
                    </a:solidFill>
                    <a:latin typeface="Arial"/>
                  </a:rPr>
                  <a:t> include the points where </a:t>
                </a:r>
                <a:r>
                  <a:rPr lang="en-IN" sz="2400">
                    <a:solidFill>
                      <a:srgbClr val="111827"/>
                    </a:solidFill>
                    <a:latin typeface="Cambria Math" panose="02040503050406030204" pitchFamily="18" charset="0"/>
                  </a:rPr>
                  <a:t>$\sqrt{x^2-3}$</a:t>
                </a:r>
                <a:r>
                  <a:rPr sz="2400" b="0">
                    <a:solidFill>
                      <a:srgbClr val="111827"/>
                    </a:solidFill>
                    <a:latin typeface="Arial"/>
                  </a:rPr>
                  <a:t> is undefined).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Strict versus non-strict inequality decides whether an endpoint integer is counted (</a:t>
                </a:r>
                <a:r>
                  <a:rPr lang="en-IN" sz="2400">
                    <a:solidFill>
                      <a:srgbClr val="111827"/>
                    </a:solidFill>
                    <a:latin typeface="Cambria Math" panose="02040503050406030204" pitchFamily="18" charset="0"/>
                  </a:rPr>
                  <a:t>$-2\notin B$</a:t>
                </a:r>
                <a:r>
                  <a:rPr sz="2400" b="0">
                    <a:solidFill>
                      <a:srgbClr val="111827"/>
                    </a:solidFill>
                    <a:latin typeface="Arial"/>
                  </a:rPr>
                  <a:t>, </a:t>
                </a:r>
                <a:r>
                  <a:rPr lang="en-IN" sz="2400">
                    <a:solidFill>
                      <a:srgbClr val="111827"/>
                    </a:solidFill>
                    <a:latin typeface="Cambria Math" panose="02040503050406030204" pitchFamily="18" charset="0"/>
                  </a:rPr>
                  <a:t>$6\in 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set with </a:t>
                </a:r>
                <a:r>
                  <a:rPr lang="en-IN" sz="2400">
                    <a:solidFill>
                      <a:srgbClr val="111827"/>
                    </a:solidFill>
                    <a:latin typeface="Cambria Math" panose="02040503050406030204" pitchFamily="18" charset="0"/>
                  </a:rPr>
                  <a:t>$m$</a:t>
                </a:r>
                <a:r>
                  <a:rPr sz="2400" b="0">
                    <a:solidFill>
                      <a:srgbClr val="111827"/>
                    </a:solidFill>
                    <a:latin typeface="Arial"/>
                  </a:rPr>
                  <a:t> elements has </a:t>
                </a:r>
                <a:r>
                  <a:rPr lang="en-IN" sz="2400">
                    <a:solidFill>
                      <a:srgbClr val="111827"/>
                    </a:solidFill>
                    <a:latin typeface="Cambria Math" panose="02040503050406030204" pitchFamily="18" charset="0"/>
                  </a:rPr>
                  <a:t>$2^m$</a:t>
                </a:r>
                <a:r>
                  <a:rPr sz="2400" b="0">
                    <a:solidFill>
                      <a:srgbClr val="111827"/>
                    </a:solidFill>
                    <a:latin typeface="Arial"/>
                  </a:rPr>
                  <a:t> subsets.</a:t>
                </a:r>
                <a:endParaRPr sz="2400">
                  <a:solidFill>
                    <a:srgbClr val="111827"/>
                  </a:solidFill>
                </a:endParaRPr>
              </a:p>
            </p:txBody>
          </p:sp>
        </mc:Fallback>
      </mc:AlternateContent>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7</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Single Correct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Q23 – Q25</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Marks not printed in the paper: +4 assumed (JEE Advanced default)</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Questions are from AIEEE / JEE Main papers</a:t>
            </a:r>
            <a:endParaRPr sz="2800">
              <a:solidFill>
                <a:srgbClr val="FFFFFF"/>
              </a:solidFill>
            </a:endParaRP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which one of the following statements is NOT true?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endParaRPr sz="2400">
                  <a:solidFill>
                    <a:srgbClr val="111827"/>
                  </a:solidFill>
                </a:endParaRPr>
              </a:p>
            </p:txBody>
          </p:sp>
        </mc:Choice>
        <mc:Fallback>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$A=\{x\in\mathbb{R}:|x+1|&lt;2\}$</a:t>
                </a:r>
                <a:r>
                  <a:rPr sz="2400" b="0">
                    <a:solidFill>
                      <a:srgbClr val="111827"/>
                    </a:solidFill>
                    <a:latin typeface="Arial"/>
                  </a:rPr>
                  <a:t> and </a:t>
                </a:r>
                <a:r>
                  <a:rPr lang="en-IN" sz="2400">
                    <a:solidFill>
                      <a:srgbClr val="111827"/>
                    </a:solidFill>
                    <a:latin typeface="Cambria Math" panose="02040503050406030204" pitchFamily="18" charset="0"/>
                  </a:rPr>
                  <a:t>$B=\{x\in\mathbb{R}:|x-1|\ge2\}$</a:t>
                </a:r>
                <a:r>
                  <a:rPr sz="2400" b="0">
                    <a:solidFill>
                      <a:srgbClr val="111827"/>
                    </a:solidFill>
                    <a:latin typeface="Arial"/>
                  </a:rPr>
                  <a:t>. Then which one of the following statements is NOT true?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$A-B=(-1,1)$</a:t>
                </a:r>
                <a:r>
                  <a:rPr sz="2400" b="0">
                    <a:solidFill>
                      <a:srgbClr val="111827"/>
                    </a:solidFill>
                    <a:latin typeface="Arial"/>
                  </a:rPr>
                  <a:t>   (B) </a:t>
                </a:r>
                <a:r>
                  <a:rPr lang="en-IN" sz="2400">
                    <a:solidFill>
                      <a:srgbClr val="111827"/>
                    </a:solidFill>
                    <a:latin typeface="Cambria Math" panose="02040503050406030204" pitchFamily="18" charset="0"/>
                  </a:rPr>
                  <a:t>$B-A=\mathbb{R}-(-3,1)$</a:t>
                </a:r>
                <a:r>
                  <a:rPr sz="2400" b="0">
                    <a:solidFill>
                      <a:srgbClr val="111827"/>
                    </a:solidFill>
                    <a:latin typeface="Arial"/>
                  </a:rPr>
                  <a:t>   (C) </a:t>
                </a:r>
                <a:r>
                  <a:rPr lang="en-IN" sz="2400">
                    <a:solidFill>
                      <a:srgbClr val="111827"/>
                    </a:solidFill>
                    <a:latin typeface="Cambria Math" panose="02040503050406030204" pitchFamily="18" charset="0"/>
                  </a:rPr>
                  <a:t>$A\cap B=(-3,-1]$</a:t>
                </a:r>
                <a:r>
                  <a:rPr sz="2400" b="0">
                    <a:solidFill>
                      <a:srgbClr val="111827"/>
                    </a:solidFill>
                    <a:latin typeface="Arial"/>
                  </a:rPr>
                  <a:t>   (D) </a:t>
                </a:r>
                <a:r>
                  <a:rPr lang="en-IN" sz="2400">
                    <a:solidFill>
                      <a:srgbClr val="111827"/>
                    </a:solidFill>
                    <a:latin typeface="Cambria Math" panose="02040503050406030204" pitchFamily="18" charset="0"/>
                  </a:rPr>
                  <a:t>$A\cup B=\mathbb{R}-[1,3)$</a:t>
                </a:r>
                <a:endParaRPr sz="2400">
                  <a:solidFill>
                    <a:srgbClr val="111827"/>
                  </a:solidFill>
                </a:endParaRPr>
              </a:p>
            </p:txBody>
          </p:sp>
        </mc:Fallback>
      </mc:AlternateContent>
      <p:sp>
        <p:nvSpPr>
          <p:cNvPr id="5" name="Rectangle 4"/>
          <p:cNvSpPr/>
          <p:nvPr/>
        </p:nvSpPr>
        <p:spPr>
          <a:xfrm>
            <a:off x="731520" y="3580383"/>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Operations on sets of intervals, Modulus inequalities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Convert to intervals: </a:t>
                </a:r>
                <a14:m>
                  <m:oMath xmlns:m="http://schemas.openxmlformats.org/officeDocument/2006/math">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so </a:t>
                </a:r>
                <a14:m>
                  <m:oMath xmlns:m="http://schemas.openxmlformats.org/officeDocument/2006/math">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m:rPr>
                        <m:scr m:val="double-struck"/>
                        <m:sty m:val="p"/>
                      </m:rPr>
                      <a:rPr lang="en-IN" sz="2400">
                        <a:solidFill>
                          <a:srgbClr val="78350F"/>
                        </a:solidFill>
                        <a:latin typeface="Cambria Math" panose="02040503050406030204" pitchFamily="18" charset="0"/>
                      </a:rPr>
                      <m:t>R</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Convert to intervals: </a:t>
                </a:r>
                <a:r>
                  <a:rPr lang="en-IN" sz="2400">
                    <a:solidFill>
                      <a:srgbClr val="78350F"/>
                    </a:solidFill>
                    <a:latin typeface="Cambria Math" panose="02040503050406030204" pitchFamily="18" charset="0"/>
                  </a:rPr>
                  <a:t>$A=(-3,1)$</a:t>
                </a:r>
                <a:r>
                  <a:rPr sz="2400" b="0">
                    <a:solidFill>
                      <a:srgbClr val="78350F"/>
                    </a:solidFill>
                    <a:latin typeface="Arial"/>
                  </a:rPr>
                  <a:t>, </a:t>
                </a:r>
                <a:r>
                  <a:rPr lang="en-IN" sz="2400">
                    <a:solidFill>
                      <a:srgbClr val="78350F"/>
                    </a:solidFill>
                    <a:latin typeface="Cambria Math" panose="02040503050406030204" pitchFamily="18" charset="0"/>
                  </a:rPr>
                  <a:t>$B=(-\infty,-1]\cup[3,\infty)$</a:t>
                </a:r>
                <a:r>
                  <a:rPr sz="2400" b="0">
                    <a:solidFill>
                      <a:srgbClr val="78350F"/>
                    </a:solidFill>
                    <a:latin typeface="Arial"/>
                  </a:rPr>
                  <a:t>, so </a:t>
                </a:r>
                <a:r>
                  <a:rPr lang="en-IN" sz="2400">
                    <a:solidFill>
                      <a:srgbClr val="78350F"/>
                    </a:solidFill>
                    <a:latin typeface="Cambria Math" panose="02040503050406030204" pitchFamily="18" charset="0"/>
                  </a:rPr>
                  <a:t>$B-A=\mathbb{R}-(-3,3)$</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which is not </a:t>
                </a:r>
                <a14:m>
                  <m:oMath xmlns:m="http://schemas.openxmlformats.org/officeDocument/2006/math">
                    <m:r>
                      <m:rPr>
                        <m:scr m:val="double-struck"/>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point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is in the latter but not in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NOT true.</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a:t>
                </a:r>
                <a:r>
                  <a:rPr sz="2400" b="0">
                    <a:solidFill>
                      <a:srgbClr val="111827"/>
                    </a:solidFill>
                    <a:latin typeface="Arial"/>
                  </a:rPr>
                  <a:t>: </a:t>
                </a:r>
                <a:r>
                  <a:rPr lang="en-IN" sz="2400">
                    <a:solidFill>
                      <a:srgbClr val="111827"/>
                    </a:solidFill>
                    <a:latin typeface="Cambria Math" panose="02040503050406030204" pitchFamily="18" charset="0"/>
                  </a:rPr>
                  <a:t>$|x+1|&lt;2\iff-2&lt;x+1&lt;2\iff x\in(-3,1)$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a:t>
                </a:r>
                <a:r>
                  <a:rPr sz="2400" b="0">
                    <a:solidFill>
                      <a:srgbClr val="111827"/>
                    </a:solidFill>
                    <a:latin typeface="Arial"/>
                  </a:rPr>
                  <a:t>: </a:t>
                </a:r>
                <a:r>
                  <a:rPr lang="en-IN" sz="2400">
                    <a:solidFill>
                      <a:srgbClr val="111827"/>
                    </a:solidFill>
                    <a:latin typeface="Cambria Math" panose="02040503050406030204" pitchFamily="18" charset="0"/>
                  </a:rPr>
                  <a:t>$|x-1|\ge2\iff x-1\in(-\infty,-2]\cup[2,\infty)\iff x\in(-\infty,-1]\cup[3,\infty)$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$A-B=(-3,1)\cap(-1,3)=(-1,1)$</a:t>
                </a:r>
                <a:r>
                  <a:rPr sz="2400" b="0">
                    <a:solidFill>
                      <a:srgbClr val="111827"/>
                    </a:solidFill>
                    <a:latin typeface="Arial"/>
                  </a:rPr>
                  <a:t>: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$B-A=(-\infty,-3]\cup[3,\infty)=\mathbb{R}-(-3,3)$</a:t>
                </a:r>
                <a:r>
                  <a:rPr sz="2400" b="0">
                    <a:solidFill>
                      <a:srgbClr val="111827"/>
                    </a:solidFill>
                    <a:latin typeface="Arial"/>
                  </a:rPr>
                  <a:t>, which is not </a:t>
                </a:r>
                <a:r>
                  <a:rPr lang="en-IN" sz="2400">
                    <a:solidFill>
                      <a:srgbClr val="111827"/>
                    </a:solidFill>
                    <a:latin typeface="Cambria Math" panose="02040503050406030204" pitchFamily="18" charset="0"/>
                  </a:rPr>
                  <a:t>$\mathbb{R}-(-3,1)$</a:t>
                </a:r>
                <a:r>
                  <a:rPr sz="2400" b="0">
                    <a:solidFill>
                      <a:srgbClr val="111827"/>
                    </a:solidFill>
                    <a:latin typeface="Arial"/>
                  </a:rPr>
                  <a:t> (the point </a:t>
                </a:r>
                <a:r>
                  <a:rPr lang="en-IN" sz="2400">
                    <a:solidFill>
                      <a:srgbClr val="111827"/>
                    </a:solidFill>
                    <a:latin typeface="Cambria Math" panose="02040503050406030204" pitchFamily="18" charset="0"/>
                  </a:rPr>
                  <a:t>$x=2$</a:t>
                </a:r>
                <a:r>
                  <a:rPr sz="2400" b="0">
                    <a:solidFill>
                      <a:srgbClr val="111827"/>
                    </a:solidFill>
                    <a:latin typeface="Arial"/>
                  </a:rPr>
                  <a:t> is in the latter but not in </a:t>
                </a:r>
                <a:r>
                  <a:rPr lang="en-IN" sz="2400">
                    <a:solidFill>
                      <a:srgbClr val="111827"/>
                    </a:solidFill>
                    <a:latin typeface="Cambria Math" panose="02040503050406030204" pitchFamily="18" charset="0"/>
                  </a:rPr>
                  <a:t>$B$</a:t>
                </a:r>
                <a:r>
                  <a:rPr sz="2400" b="0">
                    <a:solidFill>
                      <a:srgbClr val="111827"/>
                    </a:solidFill>
                    <a:latin typeface="Arial"/>
                  </a:rPr>
                  <a:t>): NOT true.</a:t>
                </a:r>
                <a:endParaRPr sz="2400">
                  <a:solidFill>
                    <a:srgbClr val="111827"/>
                  </a:solidFill>
                </a:endParaRPr>
              </a:p>
            </p:txBody>
          </p:sp>
        </mc:Fallback>
      </mc:AlternateContent>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statement that is not true is (B).</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$A\cap B=(-3,-1]$</a:t>
                </a:r>
                <a:r>
                  <a:rPr sz="2400" b="0">
                    <a:solidFill>
                      <a:srgbClr val="111827"/>
                    </a:solidFill>
                    <a:latin typeface="Arial"/>
                  </a:rPr>
                  <a:t>: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$A\cup B=(-\infty,1)\cup[3,\infty)=\mathbb{R}-[1,3)$</a:t>
                </a:r>
                <a:r>
                  <a:rPr sz="2400" b="0">
                    <a:solidFill>
                      <a:srgbClr val="111827"/>
                    </a:solidFill>
                    <a:latin typeface="Arial"/>
                  </a:rPr>
                  <a:t>: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statement that is not true is (B).</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14:m>
                  <m:oMath xmlns:m="http://schemas.openxmlformats.org/officeDocument/2006/math">
                    <m:r>
                      <a:rPr lang="en-IN" sz="2800" i="1">
                        <a:solidFill>
                          <a:srgbClr val="15803D"/>
                        </a:solidFill>
                        <a:latin typeface="Cambria Math" panose="02040503050406030204" pitchFamily="18" charset="0"/>
                      </a:rPr>
                      <m:t>𝐵</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𝐴</m:t>
                    </m:r>
                    <m:r>
                      <m:rPr>
                        <m:sty m:val="p"/>
                      </m:rPr>
                      <a:rPr lang="en-IN" sz="2800">
                        <a:solidFill>
                          <a:srgbClr val="15803D"/>
                        </a:solidFill>
                        <a:latin typeface="Cambria Math" panose="02040503050406030204" pitchFamily="18" charset="0"/>
                      </a:rPr>
                      <m:t>=</m:t>
                    </m:r>
                    <m:r>
                      <m:rPr>
                        <m:scr m:val="double-struck"/>
                        <m:sty m:val="p"/>
                      </m:rPr>
                      <a:rPr lang="en-IN" sz="2800">
                        <a:solidFill>
                          <a:srgbClr val="15803D"/>
                        </a:solidFill>
                        <a:latin typeface="Cambria Math" panose="02040503050406030204" pitchFamily="18" charset="0"/>
                      </a:rPr>
                      <m:t>R</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3</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r>
                      <m:rPr>
                        <m:sty m:val="p"/>
                      </m:rPr>
                      <a:rPr lang="en-IN" sz="2800">
                        <a:solidFill>
                          <a:srgbClr val="15803D"/>
                        </a:solidFill>
                        <a:latin typeface="Cambria Math" panose="02040503050406030204" pitchFamily="18" charset="0"/>
                      </a:rPr>
                      <m:t>)</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r>
                  <a:rPr lang="en-IN" sz="2800">
                    <a:solidFill>
                      <a:srgbClr val="15803D"/>
                    </a:solidFill>
                    <a:latin typeface="Cambria Math" panose="02040503050406030204" pitchFamily="18" charset="0"/>
                  </a:rPr>
                  <a:t>$B-A=\mathbb{R}-(-3,1)$</a:t>
                </a:r>
                <a:endParaRPr sz="2800">
                  <a:solidFill>
                    <a:srgbClr val="15803D"/>
                  </a:solidFill>
                </a:endParaRPr>
              </a:p>
            </p:txBody>
          </p:sp>
        </mc:Fallback>
      </mc:AlternateContent>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One test point refutes (B):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 is in </a:t>
                </a:r>
                <a14:m>
                  <m:oMath xmlns:m="http://schemas.openxmlformats.org/officeDocument/2006/math">
                    <m:r>
                      <m:rPr>
                        <m:scr m:val="double-struck"/>
                        <m:sty m:val="p"/>
                      </m:rPr>
                      <a:rPr lang="en-IN" sz="2400">
                        <a:solidFill>
                          <a:srgbClr val="78350F"/>
                        </a:solidFill>
                        <a:latin typeface="Cambria Math" panose="02040503050406030204" pitchFamily="18" charset="0"/>
                      </a:rPr>
                      <m:t>R</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but </a:t>
                </a:r>
                <a14:m>
                  <m:oMath xmlns:m="http://schemas.openxmlformats.org/officeDocument/2006/math">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One test point refutes (B): </a:t>
                </a:r>
                <a:r>
                  <a:rPr lang="en-IN" sz="2400">
                    <a:solidFill>
                      <a:srgbClr val="78350F"/>
                    </a:solidFill>
                    <a:latin typeface="Cambria Math" panose="02040503050406030204" pitchFamily="18" charset="0"/>
                  </a:rPr>
                  <a:t>$x=2$</a:t>
                </a:r>
                <a:r>
                  <a:rPr sz="2400" b="0">
                    <a:solidFill>
                      <a:srgbClr val="78350F"/>
                    </a:solidFill>
                    <a:latin typeface="Arial"/>
                  </a:rPr>
                  <a:t> is in </a:t>
                </a:r>
                <a:r>
                  <a:rPr lang="en-IN" sz="2400">
                    <a:solidFill>
                      <a:srgbClr val="78350F"/>
                    </a:solidFill>
                    <a:latin typeface="Cambria Math" panose="02040503050406030204" pitchFamily="18" charset="0"/>
                  </a:rPr>
                  <a:t>$\mathbb{R}-(-3,1)$</a:t>
                </a:r>
                <a:r>
                  <a:rPr sz="2400" b="0">
                    <a:solidFill>
                      <a:srgbClr val="78350F"/>
                    </a:solidFill>
                    <a:latin typeface="Arial"/>
                  </a:rPr>
                  <a:t> but </a:t>
                </a:r>
                <a:r>
                  <a:rPr lang="en-IN" sz="2400">
                    <a:solidFill>
                      <a:srgbClr val="78350F"/>
                    </a:solidFill>
                    <a:latin typeface="Cambria Math" panose="02040503050406030204" pitchFamily="18" charset="0"/>
                  </a:rPr>
                  <a:t>$2\notin B$</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Statement (B) claims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right side contains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since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whether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2</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and hence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Statement (B) claims </a:t>
                </a:r>
                <a:r>
                  <a:rPr lang="en-IN" sz="2400">
                    <a:solidFill>
                      <a:srgbClr val="111827"/>
                    </a:solidFill>
                    <a:latin typeface="Cambria Math" panose="02040503050406030204" pitchFamily="18" charset="0"/>
                  </a:rPr>
                  <a:t>$B-A=\mathbb{R}-(-3,1)$</a:t>
                </a:r>
                <a:r>
                  <a:rPr sz="2400" b="0">
                    <a:solidFill>
                      <a:srgbClr val="111827"/>
                    </a:solidFill>
                    <a:latin typeface="Arial"/>
                  </a:rPr>
                  <a:t>; the right side contains </a:t>
                </a:r>
                <a:r>
                  <a:rPr lang="en-IN" sz="2400">
                    <a:solidFill>
                      <a:srgbClr val="111827"/>
                    </a:solidFill>
                    <a:latin typeface="Cambria Math" panose="02040503050406030204" pitchFamily="18" charset="0"/>
                  </a:rPr>
                  <a:t>$2$</a:t>
                </a:r>
                <a:r>
                  <a:rPr sz="2400" b="0">
                    <a:solidFill>
                      <a:srgbClr val="111827"/>
                    </a:solidFill>
                    <a:latin typeface="Arial"/>
                  </a:rPr>
                  <a:t> since </a:t>
                </a:r>
                <a:r>
                  <a:rPr lang="en-IN" sz="2400">
                    <a:solidFill>
                      <a:srgbClr val="111827"/>
                    </a:solidFill>
                    <a:latin typeface="Cambria Math" panose="02040503050406030204" pitchFamily="18" charset="0"/>
                  </a:rPr>
                  <a:t>$2\notin(-3,1)$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whether </a:t>
                </a:r>
                <a:r>
                  <a:rPr lang="en-IN" sz="2400">
                    <a:solidFill>
                      <a:srgbClr val="111827"/>
                    </a:solidFill>
                    <a:latin typeface="Cambria Math" panose="02040503050406030204" pitchFamily="18" charset="0"/>
                  </a:rPr>
                  <a:t>$2\in B-A$</a:t>
                </a:r>
                <a:r>
                  <a:rPr sz="2400" b="0">
                    <a:solidFill>
                      <a:srgbClr val="111827"/>
                    </a:solidFill>
                    <a:latin typeface="Arial"/>
                  </a:rPr>
                  <a:t>: </a:t>
                </a:r>
                <a:r>
                  <a:rPr lang="en-IN" sz="2400">
                    <a:solidFill>
                      <a:srgbClr val="111827"/>
                    </a:solidFill>
                    <a:latin typeface="Cambria Math" panose="02040503050406030204" pitchFamily="18" charset="0"/>
                  </a:rPr>
                  <a:t>$|2-1|=1&lt;2$</a:t>
                </a:r>
                <a:r>
                  <a:rPr sz="2400" b="0">
                    <a:solidFill>
                      <a:srgbClr val="111827"/>
                    </a:solidFill>
                    <a:latin typeface="Arial"/>
                  </a:rPr>
                  <a:t>, so </a:t>
                </a:r>
                <a:r>
                  <a:rPr lang="en-IN" sz="2400">
                    <a:solidFill>
                      <a:srgbClr val="111827"/>
                    </a:solidFill>
                    <a:latin typeface="Cambria Math" panose="02040503050406030204" pitchFamily="18" charset="0"/>
                  </a:rPr>
                  <a:t>$2\notin B$</a:t>
                </a:r>
                <a:r>
                  <a:rPr sz="2400" b="0">
                    <a:solidFill>
                      <a:srgbClr val="111827"/>
                    </a:solidFill>
                    <a:latin typeface="Arial"/>
                  </a:rPr>
                  <a:t> and hence </a:t>
                </a:r>
                <a:r>
                  <a:rPr lang="en-IN" sz="2400">
                    <a:solidFill>
                      <a:srgbClr val="111827"/>
                    </a:solidFill>
                    <a:latin typeface="Cambria Math" panose="02040503050406030204" pitchFamily="18" charset="0"/>
                  </a:rPr>
                  <a:t>$2\notin B-A$</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(B) is false; since exactly one statement is not true, the answer is (B).</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Confirm one other for safety: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2</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consistent with (A).</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(B) is false; since exactly one statement is not true, the answer is (B).</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Confirm one other for safety: </a:t>
                </a:r>
                <a:r>
                  <a:rPr lang="en-IN" sz="2400">
                    <a:solidFill>
                      <a:srgbClr val="111827"/>
                    </a:solidFill>
                    <a:latin typeface="Cambria Math" panose="02040503050406030204" pitchFamily="18" charset="0"/>
                  </a:rPr>
                  <a:t>$-0.5\in A$</a:t>
                </a:r>
                <a:r>
                  <a:rPr sz="2400" b="0">
                    <a:solidFill>
                      <a:srgbClr val="111827"/>
                    </a:solidFill>
                    <a:latin typeface="Arial"/>
                  </a:rPr>
                  <a:t> and </a:t>
                </a:r>
                <a:r>
                  <a:rPr lang="en-IN" sz="2400">
                    <a:solidFill>
                      <a:srgbClr val="111827"/>
                    </a:solidFill>
                    <a:latin typeface="Cambria Math" panose="02040503050406030204" pitchFamily="18" charset="0"/>
                  </a:rPr>
                  <a:t>$|{-0.5}-1|=1.5&lt;2$</a:t>
                </a:r>
                <a:r>
                  <a:rPr sz="2400" b="0">
                    <a:solidFill>
                      <a:srgbClr val="111827"/>
                    </a:solidFill>
                    <a:latin typeface="Arial"/>
                  </a:rPr>
                  <a:t>, so </a:t>
                </a:r>
                <a:r>
                  <a:rPr lang="en-IN" sz="2400">
                    <a:solidFill>
                      <a:srgbClr val="111827"/>
                    </a:solidFill>
                    <a:latin typeface="Cambria Math" panose="02040503050406030204" pitchFamily="18" charset="0"/>
                  </a:rPr>
                  <a:t>$-0.5\in A-B$</a:t>
                </a:r>
                <a:r>
                  <a:rPr sz="2400" b="0">
                    <a:solidFill>
                      <a:srgbClr val="111827"/>
                    </a:solidFill>
                    <a:latin typeface="Arial"/>
                  </a:rPr>
                  <a:t>, consistent with (A).</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14:m>
                  <m:oMath xmlns:m="http://schemas.openxmlformats.org/officeDocument/2006/math">
                    <m:r>
                      <a:rPr lang="en-IN" sz="2800" i="1">
                        <a:solidFill>
                          <a:srgbClr val="15803D"/>
                        </a:solidFill>
                        <a:latin typeface="Cambria Math" panose="02040503050406030204" pitchFamily="18" charset="0"/>
                      </a:rPr>
                      <m:t>𝐵</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𝐴</m:t>
                    </m:r>
                    <m:r>
                      <m:rPr>
                        <m:sty m:val="p"/>
                      </m:rPr>
                      <a:rPr lang="en-IN" sz="2800">
                        <a:solidFill>
                          <a:srgbClr val="15803D"/>
                        </a:solidFill>
                        <a:latin typeface="Cambria Math" panose="02040503050406030204" pitchFamily="18" charset="0"/>
                      </a:rPr>
                      <m:t>=</m:t>
                    </m:r>
                    <m:r>
                      <m:rPr>
                        <m:scr m:val="double-struck"/>
                        <m:sty m:val="p"/>
                      </m:rPr>
                      <a:rPr lang="en-IN" sz="2800">
                        <a:solidFill>
                          <a:srgbClr val="15803D"/>
                        </a:solidFill>
                        <a:latin typeface="Cambria Math" panose="02040503050406030204" pitchFamily="18" charset="0"/>
                      </a:rPr>
                      <m:t>R</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3</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r>
                      <m:rPr>
                        <m:sty m:val="p"/>
                      </m:rPr>
                      <a:rPr lang="en-IN" sz="2800">
                        <a:solidFill>
                          <a:srgbClr val="15803D"/>
                        </a:solidFill>
                        <a:latin typeface="Cambria Math" panose="02040503050406030204" pitchFamily="18" charset="0"/>
                      </a:rPr>
                      <m:t>)</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r>
                  <a:rPr lang="en-IN" sz="2800">
                    <a:solidFill>
                      <a:srgbClr val="15803D"/>
                    </a:solidFill>
                    <a:latin typeface="Cambria Math" panose="02040503050406030204" pitchFamily="18" charset="0"/>
                  </a:rPr>
                  <a:t>$B-A=\mathbb{R}-(-3,1)$</a:t>
                </a:r>
                <a:endParaRPr sz="2800">
                  <a:solidFill>
                    <a:srgbClr val="15803D"/>
                  </a:solidFill>
                </a:endParaRPr>
              </a:p>
            </p:txBody>
          </p:sp>
        </mc:Fallback>
      </mc:AlternateContent>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𝑌</m:t>
                        </m:r>
                      </m:e>
                      <m:sup>
                        <m:r>
                          <a:rPr lang="en-IN" sz="2400" i="1">
                            <a:solidFill>
                              <a:srgbClr val="111827"/>
                            </a:solidFill>
                            <a:latin typeface="Cambria Math" panose="02040503050406030204" pitchFamily="18" charset="0"/>
                          </a:rPr>
                          <m:t>𝑐</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𝐴</m:t>
                        </m:r>
                      </m:e>
                      <m:sup>
                        <m:r>
                          <a:rPr lang="en-IN" sz="2400" i="1">
                            <a:solidFill>
                              <a:srgbClr val="111827"/>
                            </a:solidFill>
                            <a:latin typeface="Cambria Math" panose="02040503050406030204" pitchFamily="18" charset="0"/>
                          </a:rPr>
                          <m:t>𝑐</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single test point that is in one side of a set identity and not in the other disproves it.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$|x-a|&lt;r\iff x\in(a-r,a+r)$</a:t>
                </a:r>
                <a:r>
                  <a:rPr sz="2400" b="0">
                    <a:solidFill>
                      <a:srgbClr val="111827"/>
                    </a:solidFill>
                    <a:latin typeface="Arial"/>
                  </a:rPr>
                  <a:t> and </a:t>
                </a:r>
                <a:r>
                  <a:rPr lang="en-IN" sz="2400">
                    <a:solidFill>
                      <a:srgbClr val="111827"/>
                    </a:solidFill>
                    <a:latin typeface="Cambria Math" panose="02040503050406030204" pitchFamily="18" charset="0"/>
                  </a:rPr>
                  <a:t>$|x-a|\ge r\iff x\notin(a-r,a+r)$</a:t>
                </a:r>
                <a:r>
                  <a:rPr sz="2400" b="0">
                    <a:solidFill>
                      <a:srgbClr val="111827"/>
                    </a:solidFill>
                    <a:latin typeface="Arial"/>
                  </a:rPr>
                  <a:t>; so </a:t>
                </a:r>
                <a:r>
                  <a:rPr lang="en-IN" sz="2400">
                    <a:solidFill>
                      <a:srgbClr val="111827"/>
                    </a:solidFill>
                    <a:latin typeface="Cambria Math" panose="02040503050406030204" pitchFamily="18" charset="0"/>
                  </a:rPr>
                  <a:t>$B=\mathbb{R}-(-1,3)$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$X-Y=X\cap Y^c$</a:t>
                </a:r>
                <a:r>
                  <a:rPr sz="2400" b="0">
                    <a:solidFill>
                      <a:srgbClr val="111827"/>
                    </a:solidFill>
                    <a:latin typeface="Arial"/>
                  </a:rPr>
                  <a:t>: </a:t>
                </a:r>
                <a:r>
                  <a:rPr lang="en-IN" sz="2400">
                    <a:solidFill>
                      <a:srgbClr val="111827"/>
                    </a:solidFill>
                    <a:latin typeface="Cambria Math" panose="02040503050406030204" pitchFamily="18" charset="0"/>
                  </a:rPr>
                  <a:t>$A-B=A\cap(-1,3)=(-1,1)$</a:t>
                </a:r>
                <a:r>
                  <a:rPr sz="2400" b="0">
                    <a:solidFill>
                      <a:srgbClr val="111827"/>
                    </a:solidFill>
                    <a:latin typeface="Arial"/>
                  </a:rPr>
                  <a:t> and </a:t>
                </a:r>
                <a:r>
                  <a:rPr lang="en-IN" sz="2400">
                    <a:solidFill>
                      <a:srgbClr val="111827"/>
                    </a:solidFill>
                    <a:latin typeface="Cambria Math" panose="02040503050406030204" pitchFamily="18" charset="0"/>
                  </a:rPr>
                  <a:t>$B-A=B\cap A^c$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single test point that is in one side of a set identity and not in the other disproves it.</a:t>
                </a:r>
                <a:endParaRPr sz="2400">
                  <a:solidFill>
                    <a:srgbClr val="111827"/>
                  </a:solidFill>
                </a:endParaRPr>
              </a:p>
            </p:txBody>
          </p:sp>
        </mc:Fallback>
      </mc:AlternateContent>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005836"/>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on </a:t>
                </a:r>
                <a14:m>
                  <m:oMath xmlns:m="http://schemas.openxmlformats.org/officeDocument/2006/math">
                    <m:r>
                      <m:rPr>
                        <m:scr m:val="double-struck"/>
                        <m:sty m:val="p"/>
                      </m:rPr>
                      <a:rPr lang="en-IN" sz="2400">
                        <a:solidFill>
                          <a:srgbClr val="111827"/>
                        </a:solidFill>
                        <a:latin typeface="Cambria Math" panose="02040503050406030204" pitchFamily="18" charset="0"/>
                      </a:rPr>
                      <m:t>N</m:t>
                    </m:r>
                  </m:oMath>
                </a14:m>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Both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are equivalence relations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Neither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nor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is an equivalence relation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is an equivalence relation but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is not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is an equivalence relation but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is not</a:t>
                </a:r>
                <a:endParaRPr sz="2400">
                  <a:solidFill>
                    <a:srgbClr val="111827"/>
                  </a:solidFill>
                </a:endParaRPr>
              </a:p>
            </p:txBody>
          </p:sp>
        </mc:Choice>
        <mc:Fallback>
          <p:sp>
            <p:nvSpPr>
              <p:cNvPr id="4" name="Rounded Rectangle 3"/>
              <p:cNvSpPr/>
              <p:nvPr/>
            </p:nvSpPr>
            <p:spPr>
              <a:xfrm>
                <a:off x="731520" y="1280160"/>
                <a:ext cx="10725912" cy="3005836"/>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$R_1=\{(a,b)\in\mathbb{N}\times\mathbb{N}:|a-b|\le13\}$</a:t>
                </a:r>
                <a:r>
                  <a:rPr sz="2400" b="0">
                    <a:solidFill>
                      <a:srgbClr val="111827"/>
                    </a:solidFill>
                    <a:latin typeface="Arial"/>
                  </a:rPr>
                  <a:t> and </a:t>
                </a:r>
                <a:r>
                  <a:rPr lang="en-IN" sz="2400">
                    <a:solidFill>
                      <a:srgbClr val="111827"/>
                    </a:solidFill>
                    <a:latin typeface="Cambria Math" panose="02040503050406030204" pitchFamily="18" charset="0"/>
                  </a:rPr>
                  <a:t>$R_2=\{(a,b)\in\mathbb{N}\times\mathbb{N}:|a-b|\neq13\}$</a:t>
                </a:r>
                <a:r>
                  <a:rPr sz="2400" b="0">
                    <a:solidFill>
                      <a:srgbClr val="111827"/>
                    </a:solidFill>
                    <a:latin typeface="Arial"/>
                  </a:rPr>
                  <a:t>. Then on </a:t>
                </a:r>
                <a:r>
                  <a:rPr lang="en-IN" sz="2400">
                    <a:solidFill>
                      <a:srgbClr val="111827"/>
                    </a:solidFill>
                    <a:latin typeface="Cambria Math" panose="02040503050406030204" pitchFamily="18" charset="0"/>
                  </a:rPr>
                  <a:t>$\mathbb{N}$</a:t>
                </a:r>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Both </a:t>
                </a:r>
                <a:r>
                  <a:rPr lang="en-IN" sz="2400">
                    <a:solidFill>
                      <a:srgbClr val="111827"/>
                    </a:solidFill>
                    <a:latin typeface="Cambria Math" panose="02040503050406030204" pitchFamily="18" charset="0"/>
                  </a:rPr>
                  <a:t>$R_1$</a:t>
                </a:r>
                <a:r>
                  <a:rPr sz="2400" b="0">
                    <a:solidFill>
                      <a:srgbClr val="111827"/>
                    </a:solidFill>
                    <a:latin typeface="Arial"/>
                  </a:rPr>
                  <a:t> and </a:t>
                </a:r>
                <a:r>
                  <a:rPr lang="en-IN" sz="2400">
                    <a:solidFill>
                      <a:srgbClr val="111827"/>
                    </a:solidFill>
                    <a:latin typeface="Cambria Math" panose="02040503050406030204" pitchFamily="18" charset="0"/>
                  </a:rPr>
                  <a:t>$R_2$</a:t>
                </a:r>
                <a:r>
                  <a:rPr sz="2400" b="0">
                    <a:solidFill>
                      <a:srgbClr val="111827"/>
                    </a:solidFill>
                    <a:latin typeface="Arial"/>
                  </a:rPr>
                  <a:t> are equivalence relations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Neither </a:t>
                </a:r>
                <a:r>
                  <a:rPr lang="en-IN" sz="2400">
                    <a:solidFill>
                      <a:srgbClr val="111827"/>
                    </a:solidFill>
                    <a:latin typeface="Cambria Math" panose="02040503050406030204" pitchFamily="18" charset="0"/>
                  </a:rPr>
                  <a:t>$R_1$</a:t>
                </a:r>
                <a:r>
                  <a:rPr sz="2400" b="0">
                    <a:solidFill>
                      <a:srgbClr val="111827"/>
                    </a:solidFill>
                    <a:latin typeface="Arial"/>
                  </a:rPr>
                  <a:t> nor </a:t>
                </a:r>
                <a:r>
                  <a:rPr lang="en-IN" sz="2400">
                    <a:solidFill>
                      <a:srgbClr val="111827"/>
                    </a:solidFill>
                    <a:latin typeface="Cambria Math" panose="02040503050406030204" pitchFamily="18" charset="0"/>
                  </a:rPr>
                  <a:t>$R_2$</a:t>
                </a:r>
                <a:r>
                  <a:rPr sz="2400" b="0">
                    <a:solidFill>
                      <a:srgbClr val="111827"/>
                    </a:solidFill>
                    <a:latin typeface="Arial"/>
                  </a:rPr>
                  <a:t> is an equivalence relation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$R_1$</a:t>
                </a:r>
                <a:r>
                  <a:rPr sz="2400" b="0">
                    <a:solidFill>
                      <a:srgbClr val="111827"/>
                    </a:solidFill>
                    <a:latin typeface="Arial"/>
                  </a:rPr>
                  <a:t> is an equivalence relation but </a:t>
                </a:r>
                <a:r>
                  <a:rPr lang="en-IN" sz="2400">
                    <a:solidFill>
                      <a:srgbClr val="111827"/>
                    </a:solidFill>
                    <a:latin typeface="Cambria Math" panose="02040503050406030204" pitchFamily="18" charset="0"/>
                  </a:rPr>
                  <a:t>$R_2$</a:t>
                </a:r>
                <a:r>
                  <a:rPr sz="2400" b="0">
                    <a:solidFill>
                      <a:srgbClr val="111827"/>
                    </a:solidFill>
                    <a:latin typeface="Arial"/>
                  </a:rPr>
                  <a:t> is not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$R_2$</a:t>
                </a:r>
                <a:r>
                  <a:rPr sz="2400" b="0">
                    <a:solidFill>
                      <a:srgbClr val="111827"/>
                    </a:solidFill>
                    <a:latin typeface="Arial"/>
                  </a:rPr>
                  <a:t> is an equivalence relation but </a:t>
                </a:r>
                <a:r>
                  <a:rPr lang="en-IN" sz="2400">
                    <a:solidFill>
                      <a:srgbClr val="111827"/>
                    </a:solidFill>
                    <a:latin typeface="Cambria Math" panose="02040503050406030204" pitchFamily="18" charset="0"/>
                  </a:rPr>
                  <a:t>$R_1$</a:t>
                </a:r>
                <a:r>
                  <a:rPr sz="2400" b="0">
                    <a:solidFill>
                      <a:srgbClr val="111827"/>
                    </a:solidFill>
                    <a:latin typeface="Arial"/>
                  </a:rPr>
                  <a:t> is not</a:t>
                </a:r>
                <a:endParaRPr sz="2400">
                  <a:solidFill>
                    <a:srgbClr val="111827"/>
                  </a:solidFill>
                </a:endParaRPr>
              </a:p>
            </p:txBody>
          </p:sp>
        </mc:Fallback>
      </mc:AlternateContent>
      <p:sp>
        <p:nvSpPr>
          <p:cNvPr id="5" name="Rectangle 4"/>
          <p:cNvSpPr/>
          <p:nvPr/>
        </p:nvSpPr>
        <p:spPr>
          <a:xfrm>
            <a:off x="731520" y="4514596"/>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Equivalence relation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2.5(A little easier than Average JEE Advanced Level)</a:t>
            </a:r>
            <a:endParaRPr sz="2400">
              <a:solidFill>
                <a:srgbClr val="111827"/>
              </a:solidFill>
            </a:endParaRP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Both relations are reflexive and symmetric; one chain of three numbers breaks transitivity of each.</a:t>
            </a:r>
            <a:endParaRPr sz="24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 so reflexive;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symmetric.</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not transitive: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But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13</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is not an equivalence relation.</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 so reflexive;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symmetric.</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$R_1$</a:t>
                </a:r>
                <a:r>
                  <a:rPr sz="2400" b="0">
                    <a:solidFill>
                      <a:srgbClr val="111827"/>
                    </a:solidFill>
                    <a:latin typeface="Arial"/>
                  </a:rPr>
                  <a:t>: </a:t>
                </a:r>
                <a:r>
                  <a:rPr lang="en-IN" sz="2400">
                    <a:solidFill>
                      <a:srgbClr val="111827"/>
                    </a:solidFill>
                    <a:latin typeface="Cambria Math" panose="02040503050406030204" pitchFamily="18" charset="0"/>
                  </a:rPr>
                  <a:t>$|a-a|=0\le13$</a:t>
                </a:r>
                <a:r>
                  <a:rPr sz="2400" b="0">
                    <a:solidFill>
                      <a:srgbClr val="111827"/>
                    </a:solidFill>
                    <a:latin typeface="Arial"/>
                  </a:rPr>
                  <a:t>, so reflexive; </a:t>
                </a:r>
                <a:r>
                  <a:rPr lang="en-IN" sz="2400">
                    <a:solidFill>
                      <a:srgbClr val="111827"/>
                    </a:solidFill>
                    <a:latin typeface="Cambria Math" panose="02040503050406030204" pitchFamily="18" charset="0"/>
                  </a:rPr>
                  <a:t>$|a-b|=|b-a|$</a:t>
                </a:r>
                <a:r>
                  <a:rPr sz="2400" b="0">
                    <a:solidFill>
                      <a:srgbClr val="111827"/>
                    </a:solidFill>
                    <a:latin typeface="Arial"/>
                  </a:rPr>
                  <a:t>, so symmetric.</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$R_1$</a:t>
                </a:r>
                <a:r>
                  <a:rPr sz="2400" b="0">
                    <a:solidFill>
                      <a:srgbClr val="111827"/>
                    </a:solidFill>
                    <a:latin typeface="Arial"/>
                  </a:rPr>
                  <a:t> not transitive: </a:t>
                </a:r>
                <a:r>
                  <a:rPr lang="en-IN" sz="2400">
                    <a:solidFill>
                      <a:srgbClr val="111827"/>
                    </a:solidFill>
                    <a:latin typeface="Cambria Math" panose="02040503050406030204" pitchFamily="18" charset="0"/>
                  </a:rPr>
                  <a:t>$a=1,b=12,c=19$</a:t>
                </a:r>
                <a:r>
                  <a:rPr sz="2400" b="0">
                    <a:solidFill>
                      <a:srgbClr val="111827"/>
                    </a:solidFill>
                    <a:latin typeface="Arial"/>
                  </a:rPr>
                  <a:t>. </a:t>
                </a:r>
                <a:r>
                  <a:rPr lang="en-IN" sz="2400">
                    <a:solidFill>
                      <a:srgbClr val="111827"/>
                    </a:solidFill>
                    <a:latin typeface="Cambria Math" panose="02040503050406030204" pitchFamily="18" charset="0"/>
                  </a:rPr>
                  <a:t>$|1-12|=11\le13$</a:t>
                </a:r>
                <a:r>
                  <a:rPr sz="2400" b="0">
                    <a:solidFill>
                      <a:srgbClr val="111827"/>
                    </a:solidFill>
                    <a:latin typeface="Arial"/>
                  </a:rPr>
                  <a:t> and </a:t>
                </a:r>
                <a:r>
                  <a:rPr lang="en-IN" sz="2400">
                    <a:solidFill>
                      <a:srgbClr val="111827"/>
                    </a:solidFill>
                    <a:latin typeface="Cambria Math" panose="02040503050406030204" pitchFamily="18" charset="0"/>
                  </a:rPr>
                  <a:t>$|12-19|=7\le13$</a:t>
                </a:r>
                <a:r>
                  <a:rPr sz="2400" b="0">
                    <a:solidFill>
                      <a:srgbClr val="111827"/>
                    </a:solidFill>
                    <a:latin typeface="Arial"/>
                  </a:rPr>
                  <a:t>, so </a:t>
                </a:r>
                <a:r>
                  <a:rPr lang="en-IN" sz="2400">
                    <a:solidFill>
                      <a:srgbClr val="111827"/>
                    </a:solidFill>
                    <a:latin typeface="Cambria Math" panose="02040503050406030204" pitchFamily="18" charset="0"/>
                  </a:rPr>
                  <a:t>$(1,12),(12,19)\in R_1$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But </a:t>
                </a:r>
                <a:r>
                  <a:rPr lang="en-IN" sz="2400">
                    <a:solidFill>
                      <a:srgbClr val="111827"/>
                    </a:solidFill>
                    <a:latin typeface="Cambria Math" panose="02040503050406030204" pitchFamily="18" charset="0"/>
                  </a:rPr>
                  <a:t>$|1-19|=18&gt;13$</a:t>
                </a:r>
                <a:r>
                  <a:rPr sz="2400" b="0">
                    <a:solidFill>
                      <a:srgbClr val="111827"/>
                    </a:solidFill>
                    <a:latin typeface="Arial"/>
                  </a:rPr>
                  <a:t>, so </a:t>
                </a:r>
                <a:r>
                  <a:rPr lang="en-IN" sz="2400">
                    <a:solidFill>
                      <a:srgbClr val="111827"/>
                    </a:solidFill>
                    <a:latin typeface="Cambria Math" panose="02040503050406030204" pitchFamily="18" charset="0"/>
                  </a:rPr>
                  <a:t>$(1,19)\notin R_1$</a:t>
                </a:r>
                <a:r>
                  <a:rPr sz="2400" b="0">
                    <a:solidFill>
                      <a:srgbClr val="111827"/>
                    </a:solidFill>
                    <a:latin typeface="Arial"/>
                  </a:rPr>
                  <a:t>. </a:t>
                </a:r>
                <a:r>
                  <a:rPr lang="en-IN" sz="2400">
                    <a:solidFill>
                      <a:srgbClr val="111827"/>
                    </a:solidFill>
                    <a:latin typeface="Cambria Math" panose="02040503050406030204" pitchFamily="18" charset="0"/>
                  </a:rPr>
                  <a:t>$R_1$</a:t>
                </a:r>
                <a:r>
                  <a:rPr sz="2400" b="0">
                    <a:solidFill>
                      <a:srgbClr val="111827"/>
                    </a:solidFill>
                    <a:latin typeface="Arial"/>
                  </a:rPr>
                  <a:t> is not an equivalence relation.</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$R_2$</a:t>
                </a:r>
                <a:r>
                  <a:rPr sz="2400" b="0">
                    <a:solidFill>
                      <a:srgbClr val="111827"/>
                    </a:solidFill>
                    <a:latin typeface="Arial"/>
                  </a:rPr>
                  <a:t>: </a:t>
                </a:r>
                <a:r>
                  <a:rPr lang="en-IN" sz="2400">
                    <a:solidFill>
                      <a:srgbClr val="111827"/>
                    </a:solidFill>
                    <a:latin typeface="Cambria Math" panose="02040503050406030204" pitchFamily="18" charset="0"/>
                  </a:rPr>
                  <a:t>$|a-a|=0\neq13$</a:t>
                </a:r>
                <a:r>
                  <a:rPr sz="2400" b="0">
                    <a:solidFill>
                      <a:srgbClr val="111827"/>
                    </a:solidFill>
                    <a:latin typeface="Arial"/>
                  </a:rPr>
                  <a:t>, so reflexive; </a:t>
                </a:r>
                <a:r>
                  <a:rPr lang="en-IN" sz="2400">
                    <a:solidFill>
                      <a:srgbClr val="111827"/>
                    </a:solidFill>
                    <a:latin typeface="Cambria Math" panose="02040503050406030204" pitchFamily="18" charset="0"/>
                  </a:rPr>
                  <a:t>$|a-b|=|b-a|$</a:t>
                </a:r>
                <a:r>
                  <a:rPr sz="2400" b="0">
                    <a:solidFill>
                      <a:srgbClr val="111827"/>
                    </a:solidFill>
                    <a:latin typeface="Arial"/>
                  </a:rPr>
                  <a:t>, so symmetric.</a:t>
                </a:r>
                <a:endParaRPr sz="2400">
                  <a:solidFill>
                    <a:srgbClr val="111827"/>
                  </a:solidFill>
                </a:endParaRPr>
              </a:p>
            </p:txBody>
          </p:sp>
        </mc:Fallback>
      </mc:AlternateContent>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not transitive: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But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is not an equivalence relation.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Neither is an equivalence relation. Option (B).</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$R_2$</a:t>
                </a:r>
                <a:r>
                  <a:rPr sz="2400" b="0">
                    <a:solidFill>
                      <a:srgbClr val="111827"/>
                    </a:solidFill>
                    <a:latin typeface="Arial"/>
                  </a:rPr>
                  <a:t> not transitive: </a:t>
                </a:r>
                <a:r>
                  <a:rPr lang="en-IN" sz="2400">
                    <a:solidFill>
                      <a:srgbClr val="111827"/>
                    </a:solidFill>
                    <a:latin typeface="Cambria Math" panose="02040503050406030204" pitchFamily="18" charset="0"/>
                  </a:rPr>
                  <a:t>$a=10,b=15,c=23$</a:t>
                </a:r>
                <a:r>
                  <a:rPr sz="2400" b="0">
                    <a:solidFill>
                      <a:srgbClr val="111827"/>
                    </a:solidFill>
                    <a:latin typeface="Arial"/>
                  </a:rPr>
                  <a:t>. </a:t>
                </a:r>
                <a:r>
                  <a:rPr lang="en-IN" sz="2400">
                    <a:solidFill>
                      <a:srgbClr val="111827"/>
                    </a:solidFill>
                    <a:latin typeface="Cambria Math" panose="02040503050406030204" pitchFamily="18" charset="0"/>
                  </a:rPr>
                  <a:t>$|10-15|=5\neq13$</a:t>
                </a:r>
                <a:r>
                  <a:rPr sz="2400" b="0">
                    <a:solidFill>
                      <a:srgbClr val="111827"/>
                    </a:solidFill>
                    <a:latin typeface="Arial"/>
                  </a:rPr>
                  <a:t> and </a:t>
                </a:r>
                <a:r>
                  <a:rPr lang="en-IN" sz="2400">
                    <a:solidFill>
                      <a:srgbClr val="111827"/>
                    </a:solidFill>
                    <a:latin typeface="Cambria Math" panose="02040503050406030204" pitchFamily="18" charset="0"/>
                  </a:rPr>
                  <a:t>$|15-23|=8\neq13$</a:t>
                </a:r>
                <a:r>
                  <a:rPr sz="2400" b="0">
                    <a:solidFill>
                      <a:srgbClr val="111827"/>
                    </a:solidFill>
                    <a:latin typeface="Arial"/>
                  </a:rPr>
                  <a:t>, so </a:t>
                </a:r>
                <a:r>
                  <a:rPr lang="en-IN" sz="2400">
                    <a:solidFill>
                      <a:srgbClr val="111827"/>
                    </a:solidFill>
                    <a:latin typeface="Cambria Math" panose="02040503050406030204" pitchFamily="18" charset="0"/>
                  </a:rPr>
                  <a:t>$(10,15),(15,23)\in R_2$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But </a:t>
                </a:r>
                <a:r>
                  <a:rPr lang="en-IN" sz="2400">
                    <a:solidFill>
                      <a:srgbClr val="111827"/>
                    </a:solidFill>
                    <a:latin typeface="Cambria Math" panose="02040503050406030204" pitchFamily="18" charset="0"/>
                  </a:rPr>
                  <a:t>$|10-23|=13$</a:t>
                </a:r>
                <a:r>
                  <a:rPr sz="2400" b="0">
                    <a:solidFill>
                      <a:srgbClr val="111827"/>
                    </a:solidFill>
                    <a:latin typeface="Arial"/>
                  </a:rPr>
                  <a:t>, so </a:t>
                </a:r>
                <a:r>
                  <a:rPr lang="en-IN" sz="2400">
                    <a:solidFill>
                      <a:srgbClr val="111827"/>
                    </a:solidFill>
                    <a:latin typeface="Cambria Math" panose="02040503050406030204" pitchFamily="18" charset="0"/>
                  </a:rPr>
                  <a:t>$(10,23)\notin R_2$</a:t>
                </a:r>
                <a:r>
                  <a:rPr sz="2400" b="0">
                    <a:solidFill>
                      <a:srgbClr val="111827"/>
                    </a:solidFill>
                    <a:latin typeface="Arial"/>
                  </a:rPr>
                  <a:t>. </a:t>
                </a:r>
                <a:r>
                  <a:rPr lang="en-IN" sz="2400">
                    <a:solidFill>
                      <a:srgbClr val="111827"/>
                    </a:solidFill>
                    <a:latin typeface="Cambria Math" panose="02040503050406030204" pitchFamily="18" charset="0"/>
                  </a:rPr>
                  <a:t>$R_2$</a:t>
                </a:r>
                <a:r>
                  <a:rPr sz="2400" b="0">
                    <a:solidFill>
                      <a:srgbClr val="111827"/>
                    </a:solidFill>
                    <a:latin typeface="Arial"/>
                  </a:rPr>
                  <a:t> is not an equivalence relation.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Neither is an equivalence relation. Option (B).</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Neither </a:t>
                </a:r>
                <a14:m>
                  <m:oMath xmlns:m="http://schemas.openxmlformats.org/officeDocument/2006/math">
                    <m:sSub>
                      <m:e>
                        <m:r>
                          <a:rPr lang="en-IN" sz="2800" i="1">
                            <a:solidFill>
                              <a:srgbClr val="15803D"/>
                            </a:solidFill>
                            <a:latin typeface="Cambria Math" panose="02040503050406030204" pitchFamily="18" charset="0"/>
                          </a:rPr>
                          <m:t>𝑅</m:t>
                        </m:r>
                      </m:e>
                      <m:sub>
                        <m:r>
                          <a:rPr lang="en-IN" sz="2800" i="1">
                            <a:solidFill>
                              <a:srgbClr val="15803D"/>
                            </a:solidFill>
                            <a:latin typeface="Cambria Math" panose="02040503050406030204" pitchFamily="18" charset="0"/>
                          </a:rPr>
                          <m:t>1</m:t>
                        </m:r>
                      </m:sub>
                    </m:sSub>
                  </m:oMath>
                </a14:m>
                <a:r>
                  <a:rPr sz="2800" b="1">
                    <a:solidFill>
                      <a:srgbClr val="15803D"/>
                    </a:solidFill>
                    <a:latin typeface="Arial"/>
                  </a:rPr>
                  <a:t> nor </a:t>
                </a:r>
                <a14:m>
                  <m:oMath xmlns:m="http://schemas.openxmlformats.org/officeDocument/2006/math">
                    <m:sSub>
                      <m:e>
                        <m:r>
                          <a:rPr lang="en-IN" sz="2800" i="1">
                            <a:solidFill>
                              <a:srgbClr val="15803D"/>
                            </a:solidFill>
                            <a:latin typeface="Cambria Math" panose="02040503050406030204" pitchFamily="18" charset="0"/>
                          </a:rPr>
                          <m:t>𝑅</m:t>
                        </m:r>
                      </m:e>
                      <m:sub>
                        <m:r>
                          <a:rPr lang="en-IN" sz="2800" i="1">
                            <a:solidFill>
                              <a:srgbClr val="15803D"/>
                            </a:solidFill>
                            <a:latin typeface="Cambria Math" panose="02040503050406030204" pitchFamily="18" charset="0"/>
                          </a:rPr>
                          <m:t>2</m:t>
                        </m:r>
                      </m:sub>
                    </m:sSub>
                  </m:oMath>
                </a14:m>
                <a:r>
                  <a:rPr sz="2800" b="1">
                    <a:solidFill>
                      <a:srgbClr val="15803D"/>
                    </a:solidFill>
                    <a:latin typeface="Arial"/>
                  </a:rPr>
                  <a:t> is an equivalence relation</a:t>
                </a:r>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Neither </a:t>
                </a:r>
                <a:r>
                  <a:rPr lang="en-IN" sz="2800">
                    <a:solidFill>
                      <a:srgbClr val="15803D"/>
                    </a:solidFill>
                    <a:latin typeface="Cambria Math" panose="02040503050406030204" pitchFamily="18" charset="0"/>
                  </a:rPr>
                  <a:t>$R_1$</a:t>
                </a:r>
                <a:r>
                  <a:rPr sz="2800" b="1">
                    <a:solidFill>
                      <a:srgbClr val="15803D"/>
                    </a:solidFill>
                    <a:latin typeface="Arial"/>
                  </a:rPr>
                  <a:t> nor </a:t>
                </a:r>
                <a:r>
                  <a:rPr lang="en-IN" sz="2800">
                    <a:solidFill>
                      <a:srgbClr val="15803D"/>
                    </a:solidFill>
                    <a:latin typeface="Cambria Math" panose="02040503050406030204" pitchFamily="18" charset="0"/>
                  </a:rPr>
                  <a:t>$R_2$</a:t>
                </a:r>
                <a:r>
                  <a:rPr sz="2800" b="1">
                    <a:solidFill>
                      <a:srgbClr val="15803D"/>
                    </a:solidFill>
                    <a:latin typeface="Arial"/>
                  </a:rPr>
                  <a:t> is an equivalence relation</a:t>
                </a:r>
                <a:endParaRPr sz="2800">
                  <a:solidFill>
                    <a:srgbClr val="15803D"/>
                  </a:solidFill>
                </a:endParaRPr>
              </a:p>
            </p:txBody>
          </p:sp>
        </mc:Fallback>
      </mc:AlternateContent>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An equivalence relation splits </a:t>
                </a:r>
                <a14:m>
                  <m:oMath xmlns:m="http://schemas.openxmlformats.org/officeDocument/2006/math">
                    <m:r>
                      <m:rPr>
                        <m:scr m:val="double-struck"/>
                        <m:sty m:val="p"/>
                      </m:rPr>
                      <a:rPr lang="en-IN" sz="2400">
                        <a:solidFill>
                          <a:srgbClr val="78350F"/>
                        </a:solidFill>
                        <a:latin typeface="Cambria Math" panose="02040503050406030204" pitchFamily="18" charset="0"/>
                      </a:rPr>
                      <m:t>N</m:t>
                    </m:r>
                  </m:oMath>
                </a14:m>
                <a:r>
                  <a:rPr sz="2400" b="0">
                    <a:solidFill>
                      <a:srgbClr val="78350F"/>
                    </a:solidFill>
                    <a:latin typeface="Arial"/>
                  </a:rPr>
                  <a:t> into disjoint classes; two elements related to a common element must be related to each other, which fails here.</a:t>
                </a:r>
                <a:endParaRPr sz="2400">
                  <a:solidFill>
                    <a:srgbClr val="78350F"/>
                  </a:solidFill>
                </a:endParaRPr>
              </a:p>
            </p:txBody>
          </p:sp>
        </mc:Choice>
        <mc:Fallback>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An equivalence relation splits </a:t>
                </a:r>
                <a:r>
                  <a:rPr lang="en-IN" sz="2400">
                    <a:solidFill>
                      <a:srgbClr val="78350F"/>
                    </a:solidFill>
                    <a:latin typeface="Cambria Math" panose="02040503050406030204" pitchFamily="18" charset="0"/>
                  </a:rPr>
                  <a:t>$\mathbb{N}$</a:t>
                </a:r>
                <a:r>
                  <a:rPr sz="2400" b="0">
                    <a:solidFill>
                      <a:srgbClr val="78350F"/>
                    </a:solidFill>
                    <a:latin typeface="Arial"/>
                  </a:rPr>
                  <a:t> into disjoint classes; two elements related to a common element must be related to each other, which fails here.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Suppose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were an equivalence relation. </a:t>
                </a:r>
                <a14:m>
                  <m:oMath xmlns:m="http://schemas.openxmlformats.org/officeDocument/2006/math">
                    <m:r>
                      <a:rPr lang="en-IN" sz="2400" i="1">
                        <a:solidFill>
                          <a:srgbClr val="111827"/>
                        </a:solidFill>
                        <a:latin typeface="Cambria Math" panose="02040503050406030204" pitchFamily="18" charset="0"/>
                      </a:rPr>
                      <m:t>14</m:t>
                    </m:r>
                  </m:oMath>
                </a14:m>
                <a:r>
                  <a:rPr sz="2400" b="0">
                    <a:solidFill>
                      <a:srgbClr val="111827"/>
                    </a:solidFill>
                    <a:latin typeface="Arial"/>
                  </a:rPr>
                  <a:t> is related to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 and to </a:t>
                </a:r>
                <a14:m>
                  <m:oMath xmlns:m="http://schemas.openxmlformats.org/officeDocument/2006/math">
                    <m:r>
                      <a:rPr lang="en-IN" sz="2400" i="1">
                        <a:solidFill>
                          <a:srgbClr val="111827"/>
                        </a:solidFill>
                        <a:latin typeface="Cambria Math" panose="02040503050406030204" pitchFamily="18" charset="0"/>
                      </a:rPr>
                      <m:t>27</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Elements related to a common element must be related to each other,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would follow.</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But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13</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Contradiction: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is not an equivalence relation.</a:t>
                </a:r>
                <a:endParaRPr sz="2400">
                  <a:solidFill>
                    <a:srgbClr val="111827"/>
                  </a:solidFill>
                </a:endParaRPr>
              </a:p>
            </p:txBody>
          </p:sp>
        </mc:Choice>
        <mc:Fallback>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Suppose </a:t>
                </a:r>
                <a:r>
                  <a:rPr lang="en-IN" sz="2400">
                    <a:solidFill>
                      <a:srgbClr val="111827"/>
                    </a:solidFill>
                    <a:latin typeface="Cambria Math" panose="02040503050406030204" pitchFamily="18" charset="0"/>
                  </a:rPr>
                  <a:t>$R_1$</a:t>
                </a:r>
                <a:r>
                  <a:rPr sz="2400" b="0">
                    <a:solidFill>
                      <a:srgbClr val="111827"/>
                    </a:solidFill>
                    <a:latin typeface="Arial"/>
                  </a:rPr>
                  <a:t> were an equivalence relation. </a:t>
                </a:r>
                <a:r>
                  <a:rPr lang="en-IN" sz="2400">
                    <a:solidFill>
                      <a:srgbClr val="111827"/>
                    </a:solidFill>
                    <a:latin typeface="Cambria Math" panose="02040503050406030204" pitchFamily="18" charset="0"/>
                  </a:rPr>
                  <a:t>$14$</a:t>
                </a:r>
                <a:r>
                  <a:rPr sz="2400" b="0">
                    <a:solidFill>
                      <a:srgbClr val="111827"/>
                    </a:solidFill>
                    <a:latin typeface="Arial"/>
                  </a:rPr>
                  <a:t> is related to </a:t>
                </a:r>
                <a:r>
                  <a:rPr lang="en-IN" sz="2400">
                    <a:solidFill>
                      <a:srgbClr val="111827"/>
                    </a:solidFill>
                    <a:latin typeface="Cambria Math" panose="02040503050406030204" pitchFamily="18" charset="0"/>
                  </a:rPr>
                  <a:t>$1$</a:t>
                </a:r>
                <a:r>
                  <a:rPr sz="2400" b="0">
                    <a:solidFill>
                      <a:srgbClr val="111827"/>
                    </a:solidFill>
                    <a:latin typeface="Arial"/>
                  </a:rPr>
                  <a:t> (</a:t>
                </a:r>
                <a:r>
                  <a:rPr lang="en-IN" sz="2400">
                    <a:solidFill>
                      <a:srgbClr val="111827"/>
                    </a:solidFill>
                    <a:latin typeface="Cambria Math" panose="02040503050406030204" pitchFamily="18" charset="0"/>
                  </a:rPr>
                  <a:t>$|14-1|=13\le13$</a:t>
                </a:r>
                <a:r>
                  <a:rPr sz="2400" b="0">
                    <a:solidFill>
                      <a:srgbClr val="111827"/>
                    </a:solidFill>
                    <a:latin typeface="Arial"/>
                  </a:rPr>
                  <a:t>) and to </a:t>
                </a:r>
                <a:r>
                  <a:rPr lang="en-IN" sz="2400">
                    <a:solidFill>
                      <a:srgbClr val="111827"/>
                    </a:solidFill>
                    <a:latin typeface="Cambria Math" panose="02040503050406030204" pitchFamily="18" charset="0"/>
                  </a:rPr>
                  <a:t>$27$</a:t>
                </a:r>
                <a:r>
                  <a:rPr sz="2400" b="0">
                    <a:solidFill>
                      <a:srgbClr val="111827"/>
                    </a:solidFill>
                    <a:latin typeface="Arial"/>
                  </a:rPr>
                  <a:t> (</a:t>
                </a:r>
                <a:r>
                  <a:rPr lang="en-IN" sz="2400">
                    <a:solidFill>
                      <a:srgbClr val="111827"/>
                    </a:solidFill>
                    <a:latin typeface="Cambria Math" panose="02040503050406030204" pitchFamily="18" charset="0"/>
                  </a:rPr>
                  <a:t>$|27-14|=13\le13$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Elements related to a common element must be related to each other, so </a:t>
                </a:r>
                <a:r>
                  <a:rPr lang="en-IN" sz="2400">
                    <a:solidFill>
                      <a:srgbClr val="111827"/>
                    </a:solidFill>
                    <a:latin typeface="Cambria Math" panose="02040503050406030204" pitchFamily="18" charset="0"/>
                  </a:rPr>
                  <a:t>$(1,27)\in R_1$</a:t>
                </a:r>
                <a:r>
                  <a:rPr sz="2400" b="0">
                    <a:solidFill>
                      <a:srgbClr val="111827"/>
                    </a:solidFill>
                    <a:latin typeface="Arial"/>
                  </a:rPr>
                  <a:t> would follow.</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But </a:t>
                </a:r>
                <a:r>
                  <a:rPr lang="en-IN" sz="2400">
                    <a:solidFill>
                      <a:srgbClr val="111827"/>
                    </a:solidFill>
                    <a:latin typeface="Cambria Math" panose="02040503050406030204" pitchFamily="18" charset="0"/>
                  </a:rPr>
                  <a:t>$|1-27|=26&gt;13$</a:t>
                </a:r>
                <a:r>
                  <a:rPr sz="2400" b="0">
                    <a:solidFill>
                      <a:srgbClr val="111827"/>
                    </a:solidFill>
                    <a:latin typeface="Arial"/>
                  </a:rPr>
                  <a:t>, so </a:t>
                </a:r>
                <a:r>
                  <a:rPr lang="en-IN" sz="2400">
                    <a:solidFill>
                      <a:srgbClr val="111827"/>
                    </a:solidFill>
                    <a:latin typeface="Cambria Math" panose="02040503050406030204" pitchFamily="18" charset="0"/>
                  </a:rPr>
                  <a:t>$(1,27)\notin R_1$</a:t>
                </a:r>
                <a:r>
                  <a:rPr sz="2400" b="0">
                    <a:solidFill>
                      <a:srgbClr val="111827"/>
                    </a:solidFill>
                    <a:latin typeface="Arial"/>
                  </a:rPr>
                  <a:t>. Contradiction: </a:t>
                </a:r>
                <a:r>
                  <a:rPr lang="en-IN" sz="2400">
                    <a:solidFill>
                      <a:srgbClr val="111827"/>
                    </a:solidFill>
                    <a:latin typeface="Cambria Math" panose="02040503050406030204" pitchFamily="18" charset="0"/>
                  </a:rPr>
                  <a:t>$R_1$</a:t>
                </a:r>
                <a:r>
                  <a:rPr sz="2400" b="0">
                    <a:solidFill>
                      <a:srgbClr val="111827"/>
                    </a:solidFill>
                    <a:latin typeface="Arial"/>
                  </a:rPr>
                  <a:t> is not an equivalence relation.</a:t>
                </a:r>
                <a:endParaRPr sz="2400">
                  <a:solidFill>
                    <a:srgbClr val="111827"/>
                  </a:solidFill>
                </a:endParaRPr>
              </a:p>
            </p:txBody>
          </p:sp>
        </mc:Fallback>
      </mc:AlternateContent>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Suppose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were an equivalence relation.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is related to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 and to </a:t>
                </a:r>
                <a14:m>
                  <m:oMath xmlns:m="http://schemas.openxmlformats.org/officeDocument/2006/math">
                    <m:r>
                      <a:rPr lang="en-IN" sz="2400" i="1">
                        <a:solidFill>
                          <a:srgbClr val="111827"/>
                        </a:solidFill>
                        <a:latin typeface="Cambria Math" panose="02040503050406030204" pitchFamily="18" charset="0"/>
                      </a:rPr>
                      <m:t>14</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would follow; but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Contradiction: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is not an equivalence relation.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Neither is an equivalence relation: option (B).</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Suppose </a:t>
                </a:r>
                <a:r>
                  <a:rPr lang="en-IN" sz="2400">
                    <a:solidFill>
                      <a:srgbClr val="111827"/>
                    </a:solidFill>
                    <a:latin typeface="Cambria Math" panose="02040503050406030204" pitchFamily="18" charset="0"/>
                  </a:rPr>
                  <a:t>$R_2$</a:t>
                </a:r>
                <a:r>
                  <a:rPr sz="2400" b="0">
                    <a:solidFill>
                      <a:srgbClr val="111827"/>
                    </a:solidFill>
                    <a:latin typeface="Arial"/>
                  </a:rPr>
                  <a:t> were an equivalence relation. </a:t>
                </a:r>
                <a:r>
                  <a:rPr lang="en-IN" sz="2400">
                    <a:solidFill>
                      <a:srgbClr val="111827"/>
                    </a:solidFill>
                    <a:latin typeface="Cambria Math" panose="02040503050406030204" pitchFamily="18" charset="0"/>
                  </a:rPr>
                  <a:t>$2$</a:t>
                </a:r>
                <a:r>
                  <a:rPr sz="2400" b="0">
                    <a:solidFill>
                      <a:srgbClr val="111827"/>
                    </a:solidFill>
                    <a:latin typeface="Arial"/>
                  </a:rPr>
                  <a:t> is related to </a:t>
                </a:r>
                <a:r>
                  <a:rPr lang="en-IN" sz="2400">
                    <a:solidFill>
                      <a:srgbClr val="111827"/>
                    </a:solidFill>
                    <a:latin typeface="Cambria Math" panose="02040503050406030204" pitchFamily="18" charset="0"/>
                  </a:rPr>
                  <a:t>$1$</a:t>
                </a:r>
                <a:r>
                  <a:rPr sz="2400" b="0">
                    <a:solidFill>
                      <a:srgbClr val="111827"/>
                    </a:solidFill>
                    <a:latin typeface="Arial"/>
                  </a:rPr>
                  <a:t> (</a:t>
                </a:r>
                <a:r>
                  <a:rPr lang="en-IN" sz="2400">
                    <a:solidFill>
                      <a:srgbClr val="111827"/>
                    </a:solidFill>
                    <a:latin typeface="Cambria Math" panose="02040503050406030204" pitchFamily="18" charset="0"/>
                  </a:rPr>
                  <a:t>$|2-1|=1\neq13$</a:t>
                </a:r>
                <a:r>
                  <a:rPr sz="2400" b="0">
                    <a:solidFill>
                      <a:srgbClr val="111827"/>
                    </a:solidFill>
                    <a:latin typeface="Arial"/>
                  </a:rPr>
                  <a:t>) and to </a:t>
                </a:r>
                <a:r>
                  <a:rPr lang="en-IN" sz="2400">
                    <a:solidFill>
                      <a:srgbClr val="111827"/>
                    </a:solidFill>
                    <a:latin typeface="Cambria Math" panose="02040503050406030204" pitchFamily="18" charset="0"/>
                  </a:rPr>
                  <a:t>$14$</a:t>
                </a:r>
                <a:r>
                  <a:rPr sz="2400" b="0">
                    <a:solidFill>
                      <a:srgbClr val="111827"/>
                    </a:solidFill>
                    <a:latin typeface="Arial"/>
                  </a:rPr>
                  <a:t> (</a:t>
                </a:r>
                <a:r>
                  <a:rPr lang="en-IN" sz="2400">
                    <a:solidFill>
                      <a:srgbClr val="111827"/>
                    </a:solidFill>
                    <a:latin typeface="Cambria Math" panose="02040503050406030204" pitchFamily="18" charset="0"/>
                  </a:rPr>
                  <a:t>$|14-2|=12\neq13$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$(1,14)\in R_2$</a:t>
                </a:r>
                <a:r>
                  <a:rPr sz="2400" b="0">
                    <a:solidFill>
                      <a:srgbClr val="111827"/>
                    </a:solidFill>
                    <a:latin typeface="Arial"/>
                  </a:rPr>
                  <a:t> would follow; but </a:t>
                </a:r>
                <a:r>
                  <a:rPr lang="en-IN" sz="2400">
                    <a:solidFill>
                      <a:srgbClr val="111827"/>
                    </a:solidFill>
                    <a:latin typeface="Cambria Math" panose="02040503050406030204" pitchFamily="18" charset="0"/>
                  </a:rPr>
                  <a:t>$|14-1|=13$</a:t>
                </a:r>
                <a:r>
                  <a:rPr sz="2400" b="0">
                    <a:solidFill>
                      <a:srgbClr val="111827"/>
                    </a:solidFill>
                    <a:latin typeface="Arial"/>
                  </a:rPr>
                  <a:t>, so </a:t>
                </a:r>
                <a:r>
                  <a:rPr lang="en-IN" sz="2400">
                    <a:solidFill>
                      <a:srgbClr val="111827"/>
                    </a:solidFill>
                    <a:latin typeface="Cambria Math" panose="02040503050406030204" pitchFamily="18" charset="0"/>
                  </a:rPr>
                  <a:t>$(1,14)\notin R_2$</a:t>
                </a:r>
                <a:r>
                  <a:rPr sz="2400" b="0">
                    <a:solidFill>
                      <a:srgbClr val="111827"/>
                    </a:solidFill>
                    <a:latin typeface="Arial"/>
                  </a:rPr>
                  <a:t>. Contradiction: </a:t>
                </a:r>
                <a:r>
                  <a:rPr lang="en-IN" sz="2400">
                    <a:solidFill>
                      <a:srgbClr val="111827"/>
                    </a:solidFill>
                    <a:latin typeface="Cambria Math" panose="02040503050406030204" pitchFamily="18" charset="0"/>
                  </a:rPr>
                  <a:t>$R_2$</a:t>
                </a:r>
                <a:r>
                  <a:rPr sz="2400" b="0">
                    <a:solidFill>
                      <a:srgbClr val="111827"/>
                    </a:solidFill>
                    <a:latin typeface="Arial"/>
                  </a:rPr>
                  <a:t> is not an equivalence relation.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Neither is an equivalence relation: option (B).</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Neither </a:t>
                </a:r>
                <a14:m>
                  <m:oMath xmlns:m="http://schemas.openxmlformats.org/officeDocument/2006/math">
                    <m:sSub>
                      <m:e>
                        <m:r>
                          <a:rPr lang="en-IN" sz="2800" i="1">
                            <a:solidFill>
                              <a:srgbClr val="15803D"/>
                            </a:solidFill>
                            <a:latin typeface="Cambria Math" panose="02040503050406030204" pitchFamily="18" charset="0"/>
                          </a:rPr>
                          <m:t>𝑅</m:t>
                        </m:r>
                      </m:e>
                      <m:sub>
                        <m:r>
                          <a:rPr lang="en-IN" sz="2800" i="1">
                            <a:solidFill>
                              <a:srgbClr val="15803D"/>
                            </a:solidFill>
                            <a:latin typeface="Cambria Math" panose="02040503050406030204" pitchFamily="18" charset="0"/>
                          </a:rPr>
                          <m:t>1</m:t>
                        </m:r>
                      </m:sub>
                    </m:sSub>
                  </m:oMath>
                </a14:m>
                <a:r>
                  <a:rPr sz="2800" b="1">
                    <a:solidFill>
                      <a:srgbClr val="15803D"/>
                    </a:solidFill>
                    <a:latin typeface="Arial"/>
                  </a:rPr>
                  <a:t> nor </a:t>
                </a:r>
                <a14:m>
                  <m:oMath xmlns:m="http://schemas.openxmlformats.org/officeDocument/2006/math">
                    <m:sSub>
                      <m:e>
                        <m:r>
                          <a:rPr lang="en-IN" sz="2800" i="1">
                            <a:solidFill>
                              <a:srgbClr val="15803D"/>
                            </a:solidFill>
                            <a:latin typeface="Cambria Math" panose="02040503050406030204" pitchFamily="18" charset="0"/>
                          </a:rPr>
                          <m:t>𝑅</m:t>
                        </m:r>
                      </m:e>
                      <m:sub>
                        <m:r>
                          <a:rPr lang="en-IN" sz="2800" i="1">
                            <a:solidFill>
                              <a:srgbClr val="15803D"/>
                            </a:solidFill>
                            <a:latin typeface="Cambria Math" panose="02040503050406030204" pitchFamily="18" charset="0"/>
                          </a:rPr>
                          <m:t>2</m:t>
                        </m:r>
                      </m:sub>
                    </m:sSub>
                  </m:oMath>
                </a14:m>
                <a:r>
                  <a:rPr sz="2800" b="1">
                    <a:solidFill>
                      <a:srgbClr val="15803D"/>
                    </a:solidFill>
                    <a:latin typeface="Arial"/>
                  </a:rPr>
                  <a:t> is an equivalence relation</a:t>
                </a:r>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Neither </a:t>
                </a:r>
                <a:r>
                  <a:rPr lang="en-IN" sz="2800">
                    <a:solidFill>
                      <a:srgbClr val="15803D"/>
                    </a:solidFill>
                    <a:latin typeface="Cambria Math" panose="02040503050406030204" pitchFamily="18" charset="0"/>
                  </a:rPr>
                  <a:t>$R_1$</a:t>
                </a:r>
                <a:r>
                  <a:rPr sz="2800" b="1">
                    <a:solidFill>
                      <a:srgbClr val="15803D"/>
                    </a:solidFill>
                    <a:latin typeface="Arial"/>
                  </a:rPr>
                  <a:t> nor </a:t>
                </a:r>
                <a:r>
                  <a:rPr lang="en-IN" sz="2800">
                    <a:solidFill>
                      <a:srgbClr val="15803D"/>
                    </a:solidFill>
                    <a:latin typeface="Cambria Math" panose="02040503050406030204" pitchFamily="18" charset="0"/>
                  </a:rPr>
                  <a:t>$R_2$</a:t>
                </a:r>
                <a:r>
                  <a:rPr sz="2800" b="1">
                    <a:solidFill>
                      <a:srgbClr val="15803D"/>
                    </a:solidFill>
                    <a:latin typeface="Arial"/>
                  </a:rPr>
                  <a:t> is an equivalence relation</a:t>
                </a:r>
                <a:endParaRPr sz="2800">
                  <a:solidFill>
                    <a:srgbClr val="15803D"/>
                  </a:solidFill>
                </a:endParaRPr>
              </a:p>
            </p:txBody>
          </p:sp>
        </mc:Fallback>
      </mc:AlternateContent>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'Closeness' relations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and 'not exactly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apart' relations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are reflexive and symmetric, but never transitive.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an equivalence relation, two elements related to the same element must be related to each other; find such a pair that is not related to disprove.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for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are related but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not.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'Closeness' relations </a:t>
                </a:r>
                <a:r>
                  <a:rPr lang="en-IN" sz="2400">
                    <a:solidFill>
                      <a:srgbClr val="111827"/>
                    </a:solidFill>
                    <a:latin typeface="Cambria Math" panose="02040503050406030204" pitchFamily="18" charset="0"/>
                  </a:rPr>
                  <a:t>$|a-b|\le k$</a:t>
                </a:r>
                <a:r>
                  <a:rPr sz="2400" b="0">
                    <a:solidFill>
                      <a:srgbClr val="111827"/>
                    </a:solidFill>
                    <a:latin typeface="Arial"/>
                  </a:rPr>
                  <a:t> and 'not exactly </a:t>
                </a:r>
                <a:r>
                  <a:rPr lang="en-IN" sz="2400">
                    <a:solidFill>
                      <a:srgbClr val="111827"/>
                    </a:solidFill>
                    <a:latin typeface="Cambria Math" panose="02040503050406030204" pitchFamily="18" charset="0"/>
                  </a:rPr>
                  <a:t>$k$</a:t>
                </a:r>
                <a:r>
                  <a:rPr sz="2400" b="0">
                    <a:solidFill>
                      <a:srgbClr val="111827"/>
                    </a:solidFill>
                    <a:latin typeface="Arial"/>
                  </a:rPr>
                  <a:t> apart' relations </a:t>
                </a:r>
                <a:r>
                  <a:rPr lang="en-IN" sz="2400">
                    <a:solidFill>
                      <a:srgbClr val="111827"/>
                    </a:solidFill>
                    <a:latin typeface="Cambria Math" panose="02040503050406030204" pitchFamily="18" charset="0"/>
                  </a:rPr>
                  <a:t>$|a-b|\neq k$</a:t>
                </a:r>
                <a:r>
                  <a:rPr sz="2400" b="0">
                    <a:solidFill>
                      <a:srgbClr val="111827"/>
                    </a:solidFill>
                    <a:latin typeface="Arial"/>
                  </a:rPr>
                  <a:t> (</a:t>
                </a:r>
                <a:r>
                  <a:rPr lang="en-IN" sz="2400">
                    <a:solidFill>
                      <a:srgbClr val="111827"/>
                    </a:solidFill>
                    <a:latin typeface="Cambria Math" panose="02040503050406030204" pitchFamily="18" charset="0"/>
                  </a:rPr>
                  <a:t>$k\ge1$</a:t>
                </a:r>
                <a:r>
                  <a:rPr sz="2400" b="0">
                    <a:solidFill>
                      <a:srgbClr val="111827"/>
                    </a:solidFill>
                    <a:latin typeface="Arial"/>
                  </a:rPr>
                  <a:t>) are reflexive and symmetric, but never transitive.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an equivalence relation, two elements related to the same element must be related to each other; find such a pair that is not related to disprove.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for </a:t>
                </a:r>
                <a:r>
                  <a:rPr lang="en-IN" sz="2400">
                    <a:solidFill>
                      <a:srgbClr val="111827"/>
                    </a:solidFill>
                    <a:latin typeface="Cambria Math" panose="02040503050406030204" pitchFamily="18" charset="0"/>
                  </a:rPr>
                  <a:t>$R_2$</a:t>
                </a:r>
                <a:r>
                  <a:rPr sz="2400" b="0">
                    <a:solidFill>
                      <a:srgbClr val="111827"/>
                    </a:solidFill>
                    <a:latin typeface="Arial"/>
                  </a:rPr>
                  <a:t> with </a:t>
                </a:r>
                <a:r>
                  <a:rPr lang="en-IN" sz="2400">
                    <a:solidFill>
                      <a:srgbClr val="111827"/>
                    </a:solidFill>
                    <a:latin typeface="Cambria Math" panose="02040503050406030204" pitchFamily="18" charset="0"/>
                  </a:rPr>
                  <a:t>$k=1$</a:t>
                </a:r>
                <a:r>
                  <a:rPr sz="2400" b="0">
                    <a:solidFill>
                      <a:srgbClr val="111827"/>
                    </a:solidFill>
                    <a:latin typeface="Arial"/>
                  </a:rPr>
                  <a:t> on </a:t>
                </a:r>
                <a:r>
                  <a:rPr lang="en-IN" sz="2400">
                    <a:solidFill>
                      <a:srgbClr val="111827"/>
                    </a:solidFill>
                    <a:latin typeface="Cambria Math" panose="02040503050406030204" pitchFamily="18" charset="0"/>
                  </a:rPr>
                  <a:t>$\{1,2,3\}$</a:t>
                </a:r>
                <a:r>
                  <a:rPr sz="2400" b="0">
                    <a:solidFill>
                      <a:srgbClr val="111827"/>
                    </a:solidFill>
                    <a:latin typeface="Arial"/>
                  </a:rPr>
                  <a:t>: </a:t>
                </a:r>
                <a:r>
                  <a:rPr lang="en-IN" sz="2400">
                    <a:solidFill>
                      <a:srgbClr val="111827"/>
                    </a:solidFill>
                    <a:latin typeface="Cambria Math" panose="02040503050406030204" pitchFamily="18" charset="0"/>
                  </a:rPr>
                  <a:t>$(1,3),(3,2)$</a:t>
                </a:r>
                <a:r>
                  <a:rPr sz="2400" b="0">
                    <a:solidFill>
                      <a:srgbClr val="111827"/>
                    </a:solidFill>
                    <a:latin typeface="Arial"/>
                  </a:rPr>
                  <a:t> are related but </a:t>
                </a:r>
                <a:r>
                  <a:rPr lang="en-IN" sz="2400">
                    <a:solidFill>
                      <a:srgbClr val="111827"/>
                    </a:solidFill>
                    <a:latin typeface="Cambria Math" panose="02040503050406030204" pitchFamily="18" charset="0"/>
                  </a:rPr>
                  <a:t>$(1,2)$</a:t>
                </a:r>
                <a:r>
                  <a:rPr sz="2400" b="0">
                    <a:solidFill>
                      <a:srgbClr val="111827"/>
                    </a:solidFill>
                    <a:latin typeface="Arial"/>
                  </a:rPr>
                  <a:t> is not.</a:t>
                </a:r>
                <a:endParaRPr sz="2400">
                  <a:solidFill>
                    <a:srgbClr val="111827"/>
                  </a:solidFill>
                </a:endParaRPr>
              </a:p>
            </p:txBody>
          </p:sp>
        </mc:Fallback>
      </mc:AlternateContent>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3776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 set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𝑘</m:t>
                        </m:r>
                      </m:sub>
                    </m:sSub>
                  </m:oMath>
                </a14:m>
                <a:r>
                  <a:rPr sz="2400" b="0">
                    <a:solidFill>
                      <a:srgbClr val="111827"/>
                    </a:solidFill>
                    <a:latin typeface="Arial"/>
                  </a:rPr>
                  <a:t>, where </a:t>
                </a:r>
                <a14:m>
                  <m:oMath xmlns:m="http://schemas.openxmlformats.org/officeDocument/2006/math">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𝑗</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ϕ</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𝑗</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Define the relation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from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by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𝑖</m:t>
                        </m:r>
                      </m:sub>
                    </m:sSub>
                    <m:r>
                      <m:rPr>
                        <m:nor/>
                      </m:rPr>
                      <a:rPr lang="en-IN" sz="2400" i="1">
                        <a:solidFill>
                          <a:srgbClr val="111827"/>
                        </a:solidFill>
                        <a:latin typeface="Cambria Math" panose="02040503050406030204" pitchFamily="18" charset="0"/>
                      </a:rPr>
                      <m:t> 𝑖𝑓 𝑎𝑛𝑑 𝑜𝑛𝑙𝑦 𝑖𝑓 </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reflexive, symmetric but not transitive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reflexive, transitive but not symmetric</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reflexive but not symmetric and transitive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an equivalence relation</a:t>
                </a:r>
                <a:endParaRPr sz="2400">
                  <a:solidFill>
                    <a:srgbClr val="111827"/>
                  </a:solidFill>
                </a:endParaRPr>
              </a:p>
            </p:txBody>
          </p:sp>
        </mc:Choice>
        <mc:Fallback>
          <p:sp>
            <p:nvSpPr>
              <p:cNvPr id="4" name="Rounded Rectangle 3"/>
              <p:cNvSpPr/>
              <p:nvPr/>
            </p:nvSpPr>
            <p:spPr>
              <a:xfrm>
                <a:off x="731520" y="1280160"/>
                <a:ext cx="10725912" cy="33776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 set </a:t>
                </a:r>
                <a:r>
                  <a:rPr lang="en-IN" sz="2400">
                    <a:solidFill>
                      <a:srgbClr val="111827"/>
                    </a:solidFill>
                    <a:latin typeface="Cambria Math" panose="02040503050406030204" pitchFamily="18" charset="0"/>
                  </a:rPr>
                  <a:t>$A=A_1\cup A_2\cup\dots\cup A_k$</a:t>
                </a:r>
                <a:r>
                  <a:rPr sz="2400" b="0">
                    <a:solidFill>
                      <a:srgbClr val="111827"/>
                    </a:solidFill>
                    <a:latin typeface="Arial"/>
                  </a:rPr>
                  <a:t>, where </a:t>
                </a:r>
                <a:r>
                  <a:rPr lang="en-IN" sz="2400">
                    <a:solidFill>
                      <a:srgbClr val="111827"/>
                    </a:solidFill>
                    <a:latin typeface="Cambria Math" panose="02040503050406030204" pitchFamily="18" charset="0"/>
                  </a:rPr>
                  <a:t>$A_i\cap A_j=\phi$</a:t>
                </a:r>
                <a:r>
                  <a:rPr sz="2400" b="0">
                    <a:solidFill>
                      <a:srgbClr val="111827"/>
                    </a:solidFill>
                    <a:latin typeface="Arial"/>
                  </a:rPr>
                  <a:t> for </a:t>
                </a:r>
                <a:r>
                  <a:rPr lang="en-IN" sz="2400">
                    <a:solidFill>
                      <a:srgbClr val="111827"/>
                    </a:solidFill>
                    <a:latin typeface="Cambria Math" panose="02040503050406030204" pitchFamily="18" charset="0"/>
                  </a:rPr>
                  <a:t>$i\neq j$</a:t>
                </a:r>
                <a:r>
                  <a:rPr sz="2400" b="0">
                    <a:solidFill>
                      <a:srgbClr val="111827"/>
                    </a:solidFill>
                    <a:latin typeface="Arial"/>
                  </a:rPr>
                  <a:t>, </a:t>
                </a:r>
                <a:r>
                  <a:rPr lang="en-IN" sz="2400">
                    <a:solidFill>
                      <a:srgbClr val="111827"/>
                    </a:solidFill>
                    <a:latin typeface="Cambria Math" panose="02040503050406030204" pitchFamily="18" charset="0"/>
                  </a:rPr>
                  <a:t>$1\le i,j\le k$</a:t>
                </a:r>
                <a:r>
                  <a:rPr sz="2400" b="0">
                    <a:solidFill>
                      <a:srgbClr val="111827"/>
                    </a:solidFill>
                    <a:latin typeface="Arial"/>
                  </a:rPr>
                  <a:t>. Define the relation </a:t>
                </a:r>
                <a:r>
                  <a:rPr lang="en-IN" sz="2400">
                    <a:solidFill>
                      <a:srgbClr val="111827"/>
                    </a:solidFill>
                    <a:latin typeface="Cambria Math" panose="02040503050406030204" pitchFamily="18" charset="0"/>
                  </a:rPr>
                  <a:t>$R$</a:t>
                </a:r>
                <a:r>
                  <a:rPr sz="2400" b="0">
                    <a:solidFill>
                      <a:srgbClr val="111827"/>
                    </a:solidFill>
                    <a:latin typeface="Arial"/>
                  </a:rPr>
                  <a:t> from </a:t>
                </a:r>
                <a:r>
                  <a:rPr lang="en-IN" sz="2400">
                    <a:solidFill>
                      <a:srgbClr val="111827"/>
                    </a:solidFill>
                    <a:latin typeface="Cambria Math" panose="02040503050406030204" pitchFamily="18" charset="0"/>
                  </a:rPr>
                  <a:t>$A$</a:t>
                </a:r>
                <a:r>
                  <a:rPr sz="2400" b="0">
                    <a:solidFill>
                      <a:srgbClr val="111827"/>
                    </a:solidFill>
                    <a:latin typeface="Arial"/>
                  </a:rPr>
                  <a:t> to </a:t>
                </a:r>
                <a:r>
                  <a:rPr lang="en-IN" sz="2400">
                    <a:solidFill>
                      <a:srgbClr val="111827"/>
                    </a:solidFill>
                    <a:latin typeface="Cambria Math" panose="02040503050406030204" pitchFamily="18" charset="0"/>
                  </a:rPr>
                  <a:t>$A$</a:t>
                </a:r>
                <a:r>
                  <a:rPr sz="2400" b="0">
                    <a:solidFill>
                      <a:srgbClr val="111827"/>
                    </a:solidFill>
                    <a:latin typeface="Arial"/>
                  </a:rPr>
                  <a:t> by </a:t>
                </a:r>
                <a:r>
                  <a:rPr lang="en-IN" sz="2400">
                    <a:solidFill>
                      <a:srgbClr val="111827"/>
                    </a:solidFill>
                    <a:latin typeface="Cambria Math" panose="02040503050406030204" pitchFamily="18" charset="0"/>
                  </a:rPr>
                  <a:t>$R=\{(x,y):y\in A_i \text{ if and only if } x\in A_i,\ 1\le i\le k\}$</a:t>
                </a:r>
                <a:r>
                  <a:rPr sz="2400" b="0">
                    <a:solidFill>
                      <a:srgbClr val="111827"/>
                    </a:solidFill>
                    <a:latin typeface="Arial"/>
                  </a:rPr>
                  <a:t>. Then </a:t>
                </a:r>
                <a:r>
                  <a:rPr lang="en-IN" sz="2400">
                    <a:solidFill>
                      <a:srgbClr val="111827"/>
                    </a:solidFill>
                    <a:latin typeface="Cambria Math" panose="02040503050406030204" pitchFamily="18" charset="0"/>
                  </a:rPr>
                  <a:t>$R$</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reflexive, symmetric but not transitive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reflexive, transitive but not symmetric</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reflexive but not symmetric and transitive</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an equivalence relation</a:t>
                </a:r>
                <a:endParaRPr sz="2400">
                  <a:solidFill>
                    <a:srgbClr val="111827"/>
                  </a:solidFill>
                </a:endParaRPr>
              </a:p>
            </p:txBody>
          </p:sp>
        </mc:Fallback>
      </mc:AlternateContent>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p:sp>
        <p:nvSpPr>
          <p:cNvPr id="4" name="Rectangle 3"/>
          <p:cNvSpPr/>
          <p:nvPr/>
        </p:nvSpPr>
        <p:spPr>
          <a:xfrm>
            <a:off x="731520" y="128016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Equivalence relation and partition of a set</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2.5(A little easier than 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438144"/>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𝑅</m:t>
                    </m:r>
                  </m:oMath>
                </a14:m>
                <a:r>
                  <a:rPr sz="2400" b="0">
                    <a:solidFill>
                      <a:srgbClr val="78350F"/>
                    </a:solidFill>
                    <a:latin typeface="Arial"/>
                  </a:rPr>
                  <a:t> says </a:t>
                </a:r>
                <a14:m>
                  <m:oMath xmlns:m="http://schemas.openxmlformats.org/officeDocument/2006/math">
                    <m:r>
                      <a:rPr lang="en-IN" sz="2400" i="1">
                        <a:solidFill>
                          <a:srgbClr val="78350F"/>
                        </a:solidFill>
                        <a:latin typeface="Cambria Math" panose="02040503050406030204" pitchFamily="18" charset="0"/>
                      </a:rPr>
                      <m:t>𝑥</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𝑦</m:t>
                    </m:r>
                  </m:oMath>
                </a14:m>
                <a:r>
                  <a:rPr sz="2400" b="0">
                    <a:solidFill>
                      <a:srgbClr val="78350F"/>
                    </a:solidFill>
                    <a:latin typeface="Arial"/>
                  </a:rPr>
                  <a:t> lie in the same block </a:t>
                </a:r>
                <a14:m>
                  <m:oMath xmlns:m="http://schemas.openxmlformats.org/officeDocument/2006/math">
                    <m:sSub>
                      <m:e>
                        <m:r>
                          <a:rPr lang="en-IN" sz="2400" i="1">
                            <a:solidFill>
                              <a:srgbClr val="78350F"/>
                            </a:solidFill>
                            <a:latin typeface="Cambria Math" panose="02040503050406030204" pitchFamily="18" charset="0"/>
                          </a:rPr>
                          <m:t>𝐴</m:t>
                        </m:r>
                      </m:e>
                      <m:sub>
                        <m:r>
                          <a:rPr lang="en-IN" sz="2400" i="1">
                            <a:solidFill>
                              <a:srgbClr val="78350F"/>
                            </a:solidFill>
                            <a:latin typeface="Cambria Math" panose="02040503050406030204" pitchFamily="18" charset="0"/>
                          </a:rPr>
                          <m:t>𝑖</m:t>
                        </m:r>
                      </m:sub>
                    </m:sSub>
                  </m:oMath>
                </a14:m>
                <a:r>
                  <a:rPr sz="2400" b="0">
                    <a:solidFill>
                      <a:srgbClr val="78350F"/>
                    </a:solidFill>
                    <a:latin typeface="Arial"/>
                  </a:rPr>
                  <a:t> of the partition.</a:t>
                </a:r>
                <a:endParaRPr sz="2400">
                  <a:solidFill>
                    <a:srgbClr val="78350F"/>
                  </a:solidFill>
                </a:endParaRPr>
              </a:p>
            </p:txBody>
          </p:sp>
        </mc:Choice>
        <mc:Fallback>
          <p:sp>
            <p:nvSpPr>
              <p:cNvPr id="5" name="Rounded Rectangle 4"/>
              <p:cNvSpPr/>
              <p:nvPr/>
            </p:nvSpPr>
            <p:spPr>
              <a:xfrm>
                <a:off x="731520" y="3438144"/>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$(x,y)\in R$</a:t>
                </a:r>
                <a:r>
                  <a:rPr sz="2400" b="0">
                    <a:solidFill>
                      <a:srgbClr val="78350F"/>
                    </a:solidFill>
                    <a:latin typeface="Arial"/>
                  </a:rPr>
                  <a:t> says </a:t>
                </a:r>
                <a:r>
                  <a:rPr lang="en-IN" sz="2400">
                    <a:solidFill>
                      <a:srgbClr val="78350F"/>
                    </a:solidFill>
                    <a:latin typeface="Cambria Math" panose="02040503050406030204" pitchFamily="18" charset="0"/>
                  </a:rPr>
                  <a:t>$x$</a:t>
                </a:r>
                <a:r>
                  <a:rPr sz="2400" b="0">
                    <a:solidFill>
                      <a:srgbClr val="78350F"/>
                    </a:solidFill>
                    <a:latin typeface="Arial"/>
                  </a:rPr>
                  <a:t> and </a:t>
                </a:r>
                <a:r>
                  <a:rPr lang="en-IN" sz="2400">
                    <a:solidFill>
                      <a:srgbClr val="78350F"/>
                    </a:solidFill>
                    <a:latin typeface="Cambria Math" panose="02040503050406030204" pitchFamily="18" charset="0"/>
                  </a:rPr>
                  <a:t>$y$</a:t>
                </a:r>
                <a:r>
                  <a:rPr sz="2400" b="0">
                    <a:solidFill>
                      <a:srgbClr val="78350F"/>
                    </a:solidFill>
                    <a:latin typeface="Arial"/>
                  </a:rPr>
                  <a:t> lie in the same block </a:t>
                </a:r>
                <a:r>
                  <a:rPr lang="en-IN" sz="2400">
                    <a:solidFill>
                      <a:srgbClr val="78350F"/>
                    </a:solidFill>
                    <a:latin typeface="Cambria Math" panose="02040503050406030204" pitchFamily="18" charset="0"/>
                  </a:rPr>
                  <a:t>$A_i$</a:t>
                </a:r>
                <a:r>
                  <a:rPr sz="2400" b="0">
                    <a:solidFill>
                      <a:srgbClr val="78350F"/>
                    </a:solidFill>
                    <a:latin typeface="Arial"/>
                  </a:rPr>
                  <a:t> of the partition.</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4684776"/>
                <a:ext cx="10725912" cy="19903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Reflexive: for any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 iff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 is true for every </a:t>
                </a:r>
                <a14:m>
                  <m:oMath xmlns:m="http://schemas.openxmlformats.org/officeDocument/2006/math">
                    <m:r>
                      <a:rPr lang="en-IN" sz="2400" i="1">
                        <a:solidFill>
                          <a:srgbClr val="111827"/>
                        </a:solidFill>
                        <a:latin typeface="Cambria Math" panose="02040503050406030204" pitchFamily="18" charset="0"/>
                      </a:rPr>
                      <m:t>𝑖</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Symmetric: let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 for all </a:t>
                </a:r>
                <a14:m>
                  <m:oMath xmlns:m="http://schemas.openxmlformats.org/officeDocument/2006/math">
                    <m:r>
                      <a:rPr lang="en-IN" sz="2400" i="1">
                        <a:solidFill>
                          <a:srgbClr val="111827"/>
                        </a:solidFill>
                        <a:latin typeface="Cambria Math" panose="02040503050406030204" pitchFamily="18" charset="0"/>
                      </a:rPr>
                      <m:t>𝑖</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4684776"/>
                <a:ext cx="10725912" cy="19903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Reflexive: for any </a:t>
                </a:r>
                <a:r>
                  <a:rPr lang="en-IN" sz="2400">
                    <a:solidFill>
                      <a:srgbClr val="111827"/>
                    </a:solidFill>
                    <a:latin typeface="Cambria Math" panose="02040503050406030204" pitchFamily="18" charset="0"/>
                  </a:rPr>
                  <a:t>$x\in A$</a:t>
                </a:r>
                <a:r>
                  <a:rPr sz="2400" b="0">
                    <a:solidFill>
                      <a:srgbClr val="111827"/>
                    </a:solidFill>
                    <a:latin typeface="Arial"/>
                  </a:rPr>
                  <a:t>, '</a:t>
                </a:r>
                <a:r>
                  <a:rPr lang="en-IN" sz="2400">
                    <a:solidFill>
                      <a:srgbClr val="111827"/>
                    </a:solidFill>
                    <a:latin typeface="Cambria Math" panose="02040503050406030204" pitchFamily="18" charset="0"/>
                  </a:rPr>
                  <a:t>$x\in A_i$</a:t>
                </a:r>
                <a:r>
                  <a:rPr sz="2400" b="0">
                    <a:solidFill>
                      <a:srgbClr val="111827"/>
                    </a:solidFill>
                    <a:latin typeface="Arial"/>
                  </a:rPr>
                  <a:t> iff </a:t>
                </a:r>
                <a:r>
                  <a:rPr lang="en-IN" sz="2400">
                    <a:solidFill>
                      <a:srgbClr val="111827"/>
                    </a:solidFill>
                    <a:latin typeface="Cambria Math" panose="02040503050406030204" pitchFamily="18" charset="0"/>
                  </a:rPr>
                  <a:t>$x\in A_i$</a:t>
                </a:r>
                <a:r>
                  <a:rPr sz="2400" b="0">
                    <a:solidFill>
                      <a:srgbClr val="111827"/>
                    </a:solidFill>
                    <a:latin typeface="Arial"/>
                  </a:rPr>
                  <a:t>' is true for every </a:t>
                </a:r>
                <a:r>
                  <a:rPr lang="en-IN" sz="2400">
                    <a:solidFill>
                      <a:srgbClr val="111827"/>
                    </a:solidFill>
                    <a:latin typeface="Cambria Math" panose="02040503050406030204" pitchFamily="18" charset="0"/>
                  </a:rPr>
                  <a:t>$i$</a:t>
                </a:r>
                <a:r>
                  <a:rPr sz="2400" b="0">
                    <a:solidFill>
                      <a:srgbClr val="111827"/>
                    </a:solidFill>
                    <a:latin typeface="Arial"/>
                  </a:rPr>
                  <a:t>, so </a:t>
                </a:r>
                <a:r>
                  <a:rPr lang="en-IN" sz="2400">
                    <a:solidFill>
                      <a:srgbClr val="111827"/>
                    </a:solidFill>
                    <a:latin typeface="Cambria Math" panose="02040503050406030204" pitchFamily="18" charset="0"/>
                  </a:rPr>
                  <a:t>$(x,x)\in 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Symmetric: let </a:t>
                </a:r>
                <a:r>
                  <a:rPr lang="en-IN" sz="2400">
                    <a:solidFill>
                      <a:srgbClr val="111827"/>
                    </a:solidFill>
                    <a:latin typeface="Cambria Math" panose="02040503050406030204" pitchFamily="18" charset="0"/>
                  </a:rPr>
                  <a:t>$(x,y)\in R$</a:t>
                </a:r>
                <a:r>
                  <a:rPr sz="2400" b="0">
                    <a:solidFill>
                      <a:srgbClr val="111827"/>
                    </a:solidFill>
                    <a:latin typeface="Arial"/>
                  </a:rPr>
                  <a:t>, i.e. </a:t>
                </a:r>
                <a:r>
                  <a:rPr lang="en-IN" sz="2400">
                    <a:solidFill>
                      <a:srgbClr val="111827"/>
                    </a:solidFill>
                    <a:latin typeface="Cambria Math" panose="02040503050406030204" pitchFamily="18" charset="0"/>
                  </a:rPr>
                  <a:t>$y\in A_i\iff x\in A_i$</a:t>
                </a:r>
                <a:r>
                  <a:rPr sz="2400" b="0">
                    <a:solidFill>
                      <a:srgbClr val="111827"/>
                    </a:solidFill>
                    <a:latin typeface="Arial"/>
                  </a:rPr>
                  <a:t> for all </a:t>
                </a:r>
                <a:r>
                  <a:rPr lang="en-IN" sz="2400">
                    <a:solidFill>
                      <a:srgbClr val="111827"/>
                    </a:solidFill>
                    <a:latin typeface="Cambria Math" panose="02040503050406030204" pitchFamily="18" charset="0"/>
                  </a:rPr>
                  <a:t>$i$</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statement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 is the same biconditional read backwards,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Transitive: let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For each </a:t>
                </a:r>
                <a14:m>
                  <m:oMath xmlns:m="http://schemas.openxmlformats.org/officeDocument/2006/math">
                    <m:r>
                      <a:rPr lang="en-IN" sz="2400" i="1">
                        <a:solidFill>
                          <a:srgbClr val="111827"/>
                        </a:solidFill>
                        <a:latin typeface="Cambria Math" panose="02040503050406030204" pitchFamily="18" charset="0"/>
                      </a:rPr>
                      <m:t>𝑖</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Chaining the two biconditionals gives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 for every </a:t>
                </a:r>
                <a14:m>
                  <m:oMath xmlns:m="http://schemas.openxmlformats.org/officeDocument/2006/math">
                    <m:r>
                      <a:rPr lang="en-IN" sz="2400" i="1">
                        <a:solidFill>
                          <a:srgbClr val="111827"/>
                        </a:solidFill>
                        <a:latin typeface="Cambria Math" panose="02040503050406030204" pitchFamily="18" charset="0"/>
                      </a:rPr>
                      <m:t>𝑖</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reflexive, symmetric and transitive: an equivalence relation. Option (D).</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statement '</a:t>
                </a:r>
                <a:r>
                  <a:rPr lang="en-IN" sz="2400">
                    <a:solidFill>
                      <a:srgbClr val="111827"/>
                    </a:solidFill>
                    <a:latin typeface="Cambria Math" panose="02040503050406030204" pitchFamily="18" charset="0"/>
                  </a:rPr>
                  <a:t>$x\in A_i\iff y\in A_i$</a:t>
                </a:r>
                <a:r>
                  <a:rPr sz="2400" b="0">
                    <a:solidFill>
                      <a:srgbClr val="111827"/>
                    </a:solidFill>
                    <a:latin typeface="Arial"/>
                  </a:rPr>
                  <a:t>' is the same biconditional read backwards, so </a:t>
                </a:r>
                <a:r>
                  <a:rPr lang="en-IN" sz="2400">
                    <a:solidFill>
                      <a:srgbClr val="111827"/>
                    </a:solidFill>
                    <a:latin typeface="Cambria Math" panose="02040503050406030204" pitchFamily="18" charset="0"/>
                  </a:rPr>
                  <a:t>$(y,x)\in 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Transitive: let </a:t>
                </a:r>
                <a:r>
                  <a:rPr lang="en-IN" sz="2400">
                    <a:solidFill>
                      <a:srgbClr val="111827"/>
                    </a:solidFill>
                    <a:latin typeface="Cambria Math" panose="02040503050406030204" pitchFamily="18" charset="0"/>
                  </a:rPr>
                  <a:t>$(x,y),(y,z)\in R$</a:t>
                </a:r>
                <a:r>
                  <a:rPr sz="2400" b="0">
                    <a:solidFill>
                      <a:srgbClr val="111827"/>
                    </a:solidFill>
                    <a:latin typeface="Arial"/>
                  </a:rPr>
                  <a:t>. For each </a:t>
                </a:r>
                <a:r>
                  <a:rPr lang="en-IN" sz="2400">
                    <a:solidFill>
                      <a:srgbClr val="111827"/>
                    </a:solidFill>
                    <a:latin typeface="Cambria Math" panose="02040503050406030204" pitchFamily="18" charset="0"/>
                  </a:rPr>
                  <a:t>$i$</a:t>
                </a:r>
                <a:r>
                  <a:rPr sz="2400" b="0">
                    <a:solidFill>
                      <a:srgbClr val="111827"/>
                    </a:solidFill>
                    <a:latin typeface="Arial"/>
                  </a:rPr>
                  <a:t>: </a:t>
                </a:r>
                <a:r>
                  <a:rPr lang="en-IN" sz="2400">
                    <a:solidFill>
                      <a:srgbClr val="111827"/>
                    </a:solidFill>
                    <a:latin typeface="Cambria Math" panose="02040503050406030204" pitchFamily="18" charset="0"/>
                  </a:rPr>
                  <a:t>$x\in A_i\iff y\in A_i$</a:t>
                </a:r>
                <a:r>
                  <a:rPr sz="2400" b="0">
                    <a:solidFill>
                      <a:srgbClr val="111827"/>
                    </a:solidFill>
                    <a:latin typeface="Arial"/>
                  </a:rPr>
                  <a:t> and </a:t>
                </a:r>
                <a:r>
                  <a:rPr lang="en-IN" sz="2400">
                    <a:solidFill>
                      <a:srgbClr val="111827"/>
                    </a:solidFill>
                    <a:latin typeface="Cambria Math" panose="02040503050406030204" pitchFamily="18" charset="0"/>
                  </a:rPr>
                  <a:t>$y\in A_i\iff z\in A_i$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Chaining the two biconditionals gives </a:t>
                </a:r>
                <a:r>
                  <a:rPr lang="en-IN" sz="2400">
                    <a:solidFill>
                      <a:srgbClr val="111827"/>
                    </a:solidFill>
                    <a:latin typeface="Cambria Math" panose="02040503050406030204" pitchFamily="18" charset="0"/>
                  </a:rPr>
                  <a:t>$x\in A_i\iff z\in A_i$</a:t>
                </a:r>
                <a:r>
                  <a:rPr sz="2400" b="0">
                    <a:solidFill>
                      <a:srgbClr val="111827"/>
                    </a:solidFill>
                    <a:latin typeface="Arial"/>
                  </a:rPr>
                  <a:t> for every </a:t>
                </a:r>
                <a:r>
                  <a:rPr lang="en-IN" sz="2400">
                    <a:solidFill>
                      <a:srgbClr val="111827"/>
                    </a:solidFill>
                    <a:latin typeface="Cambria Math" panose="02040503050406030204" pitchFamily="18" charset="0"/>
                  </a:rPr>
                  <a:t>$i$</a:t>
                </a:r>
                <a:r>
                  <a:rPr sz="2400" b="0">
                    <a:solidFill>
                      <a:srgbClr val="111827"/>
                    </a:solidFill>
                    <a:latin typeface="Arial"/>
                  </a:rPr>
                  <a:t>, so </a:t>
                </a:r>
                <a:r>
                  <a:rPr lang="en-IN" sz="2400">
                    <a:solidFill>
                      <a:srgbClr val="111827"/>
                    </a:solidFill>
                    <a:latin typeface="Cambria Math" panose="02040503050406030204" pitchFamily="18" charset="0"/>
                  </a:rPr>
                  <a:t>$(x,z)\in 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a:t>
                </a:r>
                <a:r>
                  <a:rPr sz="2400" b="0">
                    <a:solidFill>
                      <a:srgbClr val="111827"/>
                    </a:solidFill>
                    <a:latin typeface="Arial"/>
                  </a:rPr>
                  <a:t> is reflexive, symmetric and transitive: an equivalence relation. Option (D).</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an equivalence relation</a:t>
            </a:r>
            <a:endParaRPr sz="2800">
              <a:solidFill>
                <a:srgbClr val="15803D"/>
              </a:solidFill>
            </a:endParaRP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a:t>
                </a:r>
                <a14:m>
                  <m:oMath xmlns:m="http://schemas.openxmlformats.org/officeDocument/2006/math">
                    <m:sSub>
                      <m:e>
                        <m:r>
                          <a:rPr lang="en-IN" sz="2400" i="1">
                            <a:solidFill>
                              <a:srgbClr val="78350F"/>
                            </a:solidFill>
                            <a:latin typeface="Cambria Math" panose="02040503050406030204" pitchFamily="18" charset="0"/>
                          </a:rPr>
                          <m:t>𝐴</m:t>
                        </m:r>
                      </m:e>
                      <m:sub>
                        <m:r>
                          <a:rPr lang="en-IN" sz="2400" i="1">
                            <a:solidFill>
                              <a:srgbClr val="78350F"/>
                            </a:solidFill>
                            <a:latin typeface="Cambria Math" panose="02040503050406030204" pitchFamily="18" charset="0"/>
                          </a:rPr>
                          <m:t>𝑖</m:t>
                        </m:r>
                      </m:sub>
                    </m:sSub>
                  </m:oMath>
                </a14:m>
                <a:r>
                  <a:rPr sz="2400" b="0">
                    <a:solidFill>
                      <a:srgbClr val="78350F"/>
                    </a:solidFill>
                    <a:latin typeface="Arial"/>
                  </a:rPr>
                  <a:t> partition </a:t>
                </a:r>
                <a14:m>
                  <m:oMath xmlns:m="http://schemas.openxmlformats.org/officeDocument/2006/math">
                    <m:r>
                      <a:rPr lang="en-IN" sz="2400" i="1">
                        <a:solidFill>
                          <a:srgbClr val="78350F"/>
                        </a:solidFill>
                        <a:latin typeface="Cambria Math" panose="02040503050406030204" pitchFamily="18" charset="0"/>
                      </a:rPr>
                      <m:t>𝐴</m:t>
                    </m:r>
                  </m:oMath>
                </a14:m>
                <a:r>
                  <a:rPr sz="2400" b="0">
                    <a:solidFill>
                      <a:srgbClr val="78350F"/>
                    </a:solidFill>
                    <a:latin typeface="Arial"/>
                  </a:rPr>
                  <a:t>, so each </a:t>
                </a:r>
                <a14:m>
                  <m:oMath xmlns:m="http://schemas.openxmlformats.org/officeDocument/2006/math">
                    <m:r>
                      <a:rPr lang="en-IN" sz="2400" i="1">
                        <a:solidFill>
                          <a:srgbClr val="78350F"/>
                        </a:solidFill>
                        <a:latin typeface="Cambria Math" panose="02040503050406030204" pitchFamily="18" charset="0"/>
                      </a:rPr>
                      <m:t>𝑥</m:t>
                    </m:r>
                  </m:oMath>
                </a14:m>
                <a:r>
                  <a:rPr sz="2400" b="0">
                    <a:solidFill>
                      <a:srgbClr val="78350F"/>
                    </a:solidFill>
                    <a:latin typeface="Arial"/>
                  </a:rPr>
                  <a:t> lies in exactly one block; the relation is 'same block', i.e. equality of the block index.</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a:t>
                </a:r>
                <a:r>
                  <a:rPr lang="en-IN" sz="2400">
                    <a:solidFill>
                      <a:srgbClr val="78350F"/>
                    </a:solidFill>
                    <a:latin typeface="Cambria Math" panose="02040503050406030204" pitchFamily="18" charset="0"/>
                  </a:rPr>
                  <a:t>$A_i$</a:t>
                </a:r>
                <a:r>
                  <a:rPr sz="2400" b="0">
                    <a:solidFill>
                      <a:srgbClr val="78350F"/>
                    </a:solidFill>
                    <a:latin typeface="Arial"/>
                  </a:rPr>
                  <a:t> partition </a:t>
                </a:r>
                <a:r>
                  <a:rPr lang="en-IN" sz="2400">
                    <a:solidFill>
                      <a:srgbClr val="78350F"/>
                    </a:solidFill>
                    <a:latin typeface="Cambria Math" panose="02040503050406030204" pitchFamily="18" charset="0"/>
                  </a:rPr>
                  <a:t>$A$</a:t>
                </a:r>
                <a:r>
                  <a:rPr sz="2400" b="0">
                    <a:solidFill>
                      <a:srgbClr val="78350F"/>
                    </a:solidFill>
                    <a:latin typeface="Arial"/>
                  </a:rPr>
                  <a:t>, so each </a:t>
                </a:r>
                <a:r>
                  <a:rPr lang="en-IN" sz="2400">
                    <a:solidFill>
                      <a:srgbClr val="78350F"/>
                    </a:solidFill>
                    <a:latin typeface="Cambria Math" panose="02040503050406030204" pitchFamily="18" charset="0"/>
                  </a:rPr>
                  <a:t>$x$</a:t>
                </a:r>
                <a:r>
                  <a:rPr sz="2400" b="0">
                    <a:solidFill>
                      <a:srgbClr val="78350F"/>
                    </a:solidFill>
                    <a:latin typeface="Arial"/>
                  </a:rPr>
                  <a:t> lies in exactly one block; the relation is 'same block', i.e. equality of the block index.</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Because the </a:t>
                </a:r>
                <a14:m>
                  <m:oMath xmlns:m="http://schemas.openxmlformats.org/officeDocument/2006/math">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 are pairwise disjoint and cover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each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oMath>
                </a14:m>
                <a:r>
                  <a:rPr sz="2400" b="0">
                    <a:solidFill>
                      <a:srgbClr val="111827"/>
                    </a:solidFill>
                    <a:latin typeface="Arial"/>
                  </a:rPr>
                  <a:t> lies in exactly one </a:t>
                </a:r>
                <a14:m>
                  <m:oMath xmlns:m="http://schemas.openxmlformats.org/officeDocument/2006/math">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 call its index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 for all </a:t>
                </a:r>
                <a14:m>
                  <m:oMath xmlns:m="http://schemas.openxmlformats.org/officeDocument/2006/math">
                    <m:r>
                      <a:rPr lang="en-IN" sz="2400" i="1">
                        <a:solidFill>
                          <a:srgbClr val="111827"/>
                        </a:solidFill>
                        <a:latin typeface="Cambria Math" panose="02040503050406030204" pitchFamily="18" charset="0"/>
                      </a:rPr>
                      <m:t>𝑖</m:t>
                    </m:r>
                  </m:oMath>
                </a14:m>
                <a:r>
                  <a:rPr sz="2400" b="0">
                    <a:solidFill>
                      <a:srgbClr val="111827"/>
                    </a:solidFill>
                    <a:latin typeface="Arial"/>
                  </a:rPr>
                  <a:t>' means exactly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 relation 'same value of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which is reflexive, symmetric and transitive because equality is.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equivalence classes are the blocks </a:t>
                </a:r>
                <a14:m>
                  <m:oMath xmlns:m="http://schemas.openxmlformats.org/officeDocument/2006/math">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𝑘</m:t>
                        </m:r>
                      </m:sub>
                    </m:sSub>
                  </m:oMath>
                </a14:m>
                <a:r>
                  <a:rPr sz="2400" b="0">
                    <a:solidFill>
                      <a:srgbClr val="111827"/>
                    </a:solidFill>
                    <a:latin typeface="Arial"/>
                  </a:rPr>
                  <a:t>. Option (D).</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Because the </a:t>
                </a:r>
                <a:r>
                  <a:rPr lang="en-IN" sz="2400">
                    <a:solidFill>
                      <a:srgbClr val="111827"/>
                    </a:solidFill>
                    <a:latin typeface="Cambria Math" panose="02040503050406030204" pitchFamily="18" charset="0"/>
                  </a:rPr>
                  <a:t>$A_i$</a:t>
                </a:r>
                <a:r>
                  <a:rPr sz="2400" b="0">
                    <a:solidFill>
                      <a:srgbClr val="111827"/>
                    </a:solidFill>
                    <a:latin typeface="Arial"/>
                  </a:rPr>
                  <a:t> are pairwise disjoint and cover </a:t>
                </a:r>
                <a:r>
                  <a:rPr lang="en-IN" sz="2400">
                    <a:solidFill>
                      <a:srgbClr val="111827"/>
                    </a:solidFill>
                    <a:latin typeface="Cambria Math" panose="02040503050406030204" pitchFamily="18" charset="0"/>
                  </a:rPr>
                  <a:t>$A$</a:t>
                </a:r>
                <a:r>
                  <a:rPr sz="2400" b="0">
                    <a:solidFill>
                      <a:srgbClr val="111827"/>
                    </a:solidFill>
                    <a:latin typeface="Arial"/>
                  </a:rPr>
                  <a:t>, each </a:t>
                </a:r>
                <a:r>
                  <a:rPr lang="en-IN" sz="2400">
                    <a:solidFill>
                      <a:srgbClr val="111827"/>
                    </a:solidFill>
                    <a:latin typeface="Cambria Math" panose="02040503050406030204" pitchFamily="18" charset="0"/>
                  </a:rPr>
                  <a:t>$x\in A$</a:t>
                </a:r>
                <a:r>
                  <a:rPr sz="2400" b="0">
                    <a:solidFill>
                      <a:srgbClr val="111827"/>
                    </a:solidFill>
                    <a:latin typeface="Arial"/>
                  </a:rPr>
                  <a:t> lies in exactly one </a:t>
                </a:r>
                <a:r>
                  <a:rPr lang="en-IN" sz="2400">
                    <a:solidFill>
                      <a:srgbClr val="111827"/>
                    </a:solidFill>
                    <a:latin typeface="Cambria Math" panose="02040503050406030204" pitchFamily="18" charset="0"/>
                  </a:rPr>
                  <a:t>$A_i$</a:t>
                </a:r>
                <a:r>
                  <a:rPr sz="2400" b="0">
                    <a:solidFill>
                      <a:srgbClr val="111827"/>
                    </a:solidFill>
                    <a:latin typeface="Arial"/>
                  </a:rPr>
                  <a:t>; call its index </a:t>
                </a:r>
                <a:r>
                  <a:rPr lang="en-IN" sz="2400">
                    <a:solidFill>
                      <a:srgbClr val="111827"/>
                    </a:solidFill>
                    <a:latin typeface="Cambria Math" panose="02040503050406030204" pitchFamily="18" charset="0"/>
                  </a:rPr>
                  <a:t>$f(x)$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$x\in A_i\iff y\in A_i$</a:t>
                </a:r>
                <a:r>
                  <a:rPr sz="2400" b="0">
                    <a:solidFill>
                      <a:srgbClr val="111827"/>
                    </a:solidFill>
                    <a:latin typeface="Arial"/>
                  </a:rPr>
                  <a:t> for all </a:t>
                </a:r>
                <a:r>
                  <a:rPr lang="en-IN" sz="2400">
                    <a:solidFill>
                      <a:srgbClr val="111827"/>
                    </a:solidFill>
                    <a:latin typeface="Cambria Math" panose="02040503050406030204" pitchFamily="18" charset="0"/>
                  </a:rPr>
                  <a:t>$i$</a:t>
                </a:r>
                <a:r>
                  <a:rPr sz="2400" b="0">
                    <a:solidFill>
                      <a:srgbClr val="111827"/>
                    </a:solidFill>
                    <a:latin typeface="Arial"/>
                  </a:rPr>
                  <a:t>' means exactly </a:t>
                </a:r>
                <a:r>
                  <a:rPr lang="en-IN" sz="2400">
                    <a:solidFill>
                      <a:srgbClr val="111827"/>
                    </a:solidFill>
                    <a:latin typeface="Cambria Math" panose="02040503050406030204" pitchFamily="18" charset="0"/>
                  </a:rPr>
                  <a:t>$f(x)=f(y)$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$R=\{(x,y):f(x)=f(y)\}$</a:t>
                </a:r>
                <a:r>
                  <a:rPr sz="2400" b="0">
                    <a:solidFill>
                      <a:srgbClr val="111827"/>
                    </a:solidFill>
                    <a:latin typeface="Arial"/>
                  </a:rPr>
                  <a:t>, a relation 'same value of </a:t>
                </a:r>
                <a:r>
                  <a:rPr lang="en-IN" sz="2400">
                    <a:solidFill>
                      <a:srgbClr val="111827"/>
                    </a:solidFill>
                    <a:latin typeface="Cambria Math" panose="02040503050406030204" pitchFamily="18" charset="0"/>
                  </a:rPr>
                  <a:t>$f$</a:t>
                </a:r>
                <a:r>
                  <a:rPr sz="2400" b="0">
                    <a:solidFill>
                      <a:srgbClr val="111827"/>
                    </a:solidFill>
                    <a:latin typeface="Arial"/>
                  </a:rPr>
                  <a:t>', which is reflexive, symmetric and transitive because equality is.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equivalence classes are the blocks </a:t>
                </a:r>
                <a:r>
                  <a:rPr lang="en-IN" sz="2400">
                    <a:solidFill>
                      <a:srgbClr val="111827"/>
                    </a:solidFill>
                    <a:latin typeface="Cambria Math" panose="02040503050406030204" pitchFamily="18" charset="0"/>
                  </a:rPr>
                  <a:t>$A_1,\dots,A_k$</a:t>
                </a:r>
                <a:r>
                  <a:rPr sz="2400" b="0">
                    <a:solidFill>
                      <a:srgbClr val="111827"/>
                    </a:solidFill>
                    <a:latin typeface="Arial"/>
                  </a:rPr>
                  <a:t>. Option (D).</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an equivalence relation</a:t>
            </a:r>
            <a:endParaRPr sz="2800">
              <a:solidFill>
                <a:srgbClr val="15803D"/>
              </a:solidFill>
            </a:endParaRP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Partitions of a set correspond one-to-one with equivalence relations on it: the blocks are the classes, 'same block' is the relation.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number of equivalence relations on an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-element set is the Bell number </a:t>
                </a:r>
                <a14:m>
                  <m:oMath xmlns:m="http://schemas.openxmlformats.org/officeDocument/2006/math">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𝑛</m:t>
                        </m:r>
                      </m:sub>
                    </m:sSub>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52</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relation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always an equivalence relation, with classes the fibres of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Partitions of a set correspond one-to-one with equivalence relations on it: the blocks are the classes, 'same block' is the relation.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number of equivalence relations on an </a:t>
                </a:r>
                <a:r>
                  <a:rPr lang="en-IN" sz="2400">
                    <a:solidFill>
                      <a:srgbClr val="111827"/>
                    </a:solidFill>
                    <a:latin typeface="Cambria Math" panose="02040503050406030204" pitchFamily="18" charset="0"/>
                  </a:rPr>
                  <a:t>$n$</a:t>
                </a:r>
                <a:r>
                  <a:rPr sz="2400" b="0">
                    <a:solidFill>
                      <a:srgbClr val="111827"/>
                    </a:solidFill>
                    <a:latin typeface="Arial"/>
                  </a:rPr>
                  <a:t>-element set is the Bell number </a:t>
                </a:r>
                <a:r>
                  <a:rPr lang="en-IN" sz="2400">
                    <a:solidFill>
                      <a:srgbClr val="111827"/>
                    </a:solidFill>
                    <a:latin typeface="Cambria Math" panose="02040503050406030204" pitchFamily="18" charset="0"/>
                  </a:rPr>
                  <a:t>$B_n$</a:t>
                </a:r>
                <a:r>
                  <a:rPr sz="2400" b="0">
                    <a:solidFill>
                      <a:srgbClr val="111827"/>
                    </a:solidFill>
                    <a:latin typeface="Arial"/>
                  </a:rPr>
                  <a:t>: </a:t>
                </a:r>
                <a:r>
                  <a:rPr lang="en-IN" sz="2400">
                    <a:solidFill>
                      <a:srgbClr val="111827"/>
                    </a:solidFill>
                    <a:latin typeface="Cambria Math" panose="02040503050406030204" pitchFamily="18" charset="0"/>
                  </a:rPr>
                  <a:t>$1,2,5,15,52$</a:t>
                </a:r>
                <a:r>
                  <a:rPr sz="2400" b="0">
                    <a:solidFill>
                      <a:srgbClr val="111827"/>
                    </a:solidFill>
                    <a:latin typeface="Arial"/>
                  </a:rPr>
                  <a:t> for </a:t>
                </a:r>
                <a:r>
                  <a:rPr lang="en-IN" sz="2400">
                    <a:solidFill>
                      <a:srgbClr val="111827"/>
                    </a:solidFill>
                    <a:latin typeface="Cambria Math" panose="02040503050406030204" pitchFamily="18" charset="0"/>
                  </a:rPr>
                  <a:t>$n=1,\dots,5$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relation </a:t>
                </a:r>
                <a:r>
                  <a:rPr lang="en-IN" sz="2400">
                    <a:solidFill>
                      <a:srgbClr val="111827"/>
                    </a:solidFill>
                    <a:latin typeface="Cambria Math" panose="02040503050406030204" pitchFamily="18" charset="0"/>
                  </a:rPr>
                  <a:t>$f(x)=f(y)$</a:t>
                </a:r>
                <a:r>
                  <a:rPr sz="2400" b="0">
                    <a:solidFill>
                      <a:srgbClr val="111827"/>
                    </a:solidFill>
                    <a:latin typeface="Arial"/>
                  </a:rPr>
                  <a:t> is always an equivalence relation, with classes the fibres of </a:t>
                </a:r>
                <a:r>
                  <a:rPr lang="en-IN" sz="2400">
                    <a:solidFill>
                      <a:srgbClr val="111827"/>
                    </a:solidFill>
                    <a:latin typeface="Cambria Math" panose="02040503050406030204" pitchFamily="18" charset="0"/>
                  </a:rPr>
                  <a:t>$f$</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8</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Numerical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Q26 – Q27</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Marks not printed in the paper: +4 assumed (JEE Advanced default)</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Questions are from AIEEE / JEE Main papers</a:t>
            </a:r>
            <a:endParaRPr sz="2800">
              <a:solidFill>
                <a:srgbClr val="FFFFFF"/>
              </a:solidFill>
            </a:endParaRP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𝐻.𝐶.𝐹.</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let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the sum of all the elements of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is ________.</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$A=\{n\in\mathbb{N}:\text{H.C.F.}(n,45)=1\}$</a:t>
                </a:r>
                <a:r>
                  <a:rPr sz="2400" b="0">
                    <a:solidFill>
                      <a:srgbClr val="111827"/>
                    </a:solidFill>
                    <a:latin typeface="Arial"/>
                  </a:rPr>
                  <a:t> and let </a:t>
                </a:r>
                <a:r>
                  <a:rPr lang="en-IN" sz="2400">
                    <a:solidFill>
                      <a:srgbClr val="111827"/>
                    </a:solidFill>
                    <a:latin typeface="Cambria Math" panose="02040503050406030204" pitchFamily="18" charset="0"/>
                  </a:rPr>
                  <a:t>$B=\{2k:k\in\{1,2,\dots,100\}\}$</a:t>
                </a:r>
                <a:r>
                  <a:rPr sz="2400" b="0">
                    <a:solidFill>
                      <a:srgbClr val="111827"/>
                    </a:solidFill>
                    <a:latin typeface="Arial"/>
                  </a:rPr>
                  <a:t>. Then the sum of all the elements of </a:t>
                </a:r>
                <a:r>
                  <a:rPr lang="en-IN" sz="2400">
                    <a:solidFill>
                      <a:srgbClr val="111827"/>
                    </a:solidFill>
                    <a:latin typeface="Cambria Math" panose="02040503050406030204" pitchFamily="18" charset="0"/>
                  </a:rPr>
                  <a:t>$A\cap B$</a:t>
                </a:r>
                <a:r>
                  <a:rPr sz="2400" b="0">
                    <a:solidFill>
                      <a:srgbClr val="111827"/>
                    </a:solidFill>
                    <a:latin typeface="Arial"/>
                  </a:rPr>
                  <a:t> is ________.</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Operations on sets (inclusion-exclusion), HCF and divisibility</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m:rPr>
                        <m:sty m:val="p"/>
                      </m:rPr>
                      <a:rPr lang="en-IN" sz="2400">
                        <a:solidFill>
                          <a:srgbClr val="78350F"/>
                        </a:solidFill>
                        <a:latin typeface="Cambria Math" panose="02040503050406030204" pitchFamily="18" charset="0"/>
                      </a:rPr>
                      <m:t>gcd</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45</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means </a:t>
                </a:r>
                <a14:m>
                  <m:oMath xmlns:m="http://schemas.openxmlformats.org/officeDocument/2006/math">
                    <m:r>
                      <a:rPr lang="en-IN" sz="2400" i="1">
                        <a:solidFill>
                          <a:srgbClr val="78350F"/>
                        </a:solidFill>
                        <a:latin typeface="Cambria Math" panose="02040503050406030204" pitchFamily="18" charset="0"/>
                      </a:rPr>
                      <m:t>𝑛</m:t>
                    </m:r>
                  </m:oMath>
                </a14:m>
                <a:r>
                  <a:rPr sz="2400" b="0">
                    <a:solidFill>
                      <a:srgbClr val="78350F"/>
                    </a:solidFill>
                    <a:latin typeface="Arial"/>
                  </a:rPr>
                  <a:t> is divisible by neither </a:t>
                </a:r>
                <a14:m>
                  <m:oMath xmlns:m="http://schemas.openxmlformats.org/officeDocument/2006/math">
                    <m:r>
                      <a:rPr lang="en-IN" sz="2400" i="1">
                        <a:solidFill>
                          <a:srgbClr val="78350F"/>
                        </a:solidFill>
                        <a:latin typeface="Cambria Math" panose="02040503050406030204" pitchFamily="18" charset="0"/>
                      </a:rPr>
                      <m:t>3</m:t>
                    </m:r>
                  </m:oMath>
                </a14:m>
                <a:r>
                  <a:rPr sz="2400" b="0">
                    <a:solidFill>
                      <a:srgbClr val="78350F"/>
                    </a:solidFill>
                    <a:latin typeface="Arial"/>
                  </a:rPr>
                  <a:t> nor </a:t>
                </a:r>
                <a14:m>
                  <m:oMath xmlns:m="http://schemas.openxmlformats.org/officeDocument/2006/math">
                    <m:r>
                      <a:rPr lang="en-IN" sz="2400" i="1">
                        <a:solidFill>
                          <a:srgbClr val="78350F"/>
                        </a:solidFill>
                        <a:latin typeface="Cambria Math" panose="02040503050406030204" pitchFamily="18" charset="0"/>
                      </a:rPr>
                      <m:t>5</m:t>
                    </m:r>
                  </m:oMath>
                </a14:m>
                <a:r>
                  <a:rPr sz="2400" b="0">
                    <a:solidFill>
                      <a:srgbClr val="78350F"/>
                    </a:solidFill>
                    <a:latin typeface="Arial"/>
                  </a:rPr>
                  <a:t>; use inclusion-exclusion on the sums of multiples within the even numbers.</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$\gcd(n,45)=1$</a:t>
                </a:r>
                <a:r>
                  <a:rPr sz="2400" b="0">
                    <a:solidFill>
                      <a:srgbClr val="78350F"/>
                    </a:solidFill>
                    <a:latin typeface="Arial"/>
                  </a:rPr>
                  <a:t> means </a:t>
                </a:r>
                <a:r>
                  <a:rPr lang="en-IN" sz="2400">
                    <a:solidFill>
                      <a:srgbClr val="78350F"/>
                    </a:solidFill>
                    <a:latin typeface="Cambria Math" panose="02040503050406030204" pitchFamily="18" charset="0"/>
                  </a:rPr>
                  <a:t>$n$</a:t>
                </a:r>
                <a:r>
                  <a:rPr sz="2400" b="0">
                    <a:solidFill>
                      <a:srgbClr val="78350F"/>
                    </a:solidFill>
                    <a:latin typeface="Arial"/>
                  </a:rPr>
                  <a:t> is divisible by neither </a:t>
                </a:r>
                <a:r>
                  <a:rPr lang="en-IN" sz="2400">
                    <a:solidFill>
                      <a:srgbClr val="78350F"/>
                    </a:solidFill>
                    <a:latin typeface="Cambria Math" panose="02040503050406030204" pitchFamily="18" charset="0"/>
                  </a:rPr>
                  <a:t>$3$</a:t>
                </a:r>
                <a:r>
                  <a:rPr sz="2400" b="0">
                    <a:solidFill>
                      <a:srgbClr val="78350F"/>
                    </a:solidFill>
                    <a:latin typeface="Arial"/>
                  </a:rPr>
                  <a:t> nor </a:t>
                </a:r>
                <a:r>
                  <a:rPr lang="en-IN" sz="2400">
                    <a:solidFill>
                      <a:srgbClr val="78350F"/>
                    </a:solidFill>
                    <a:latin typeface="Cambria Math" panose="02040503050406030204" pitchFamily="18" charset="0"/>
                  </a:rPr>
                  <a:t>$5$</a:t>
                </a:r>
                <a:r>
                  <a:rPr sz="2400" b="0">
                    <a:solidFill>
                      <a:srgbClr val="78350F"/>
                    </a:solidFill>
                    <a:latin typeface="Arial"/>
                  </a:rPr>
                  <a:t>; use inclusion-exclusion on the sums of multiples within the even numbers.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gcd</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iff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45</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So we need the even numbers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200</m:t>
                    </m:r>
                  </m:oMath>
                </a14:m>
                <a:r>
                  <a:rPr sz="2400" b="0">
                    <a:solidFill>
                      <a:srgbClr val="111827"/>
                    </a:solidFill>
                    <a:latin typeface="Arial"/>
                  </a:rPr>
                  <a:t> not divisible by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of all evens: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10100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Evens divisible by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(multiples of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561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3366</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$\gcd(n,45)=1$</a:t>
                </a:r>
                <a:r>
                  <a:rPr sz="2400" b="0">
                    <a:solidFill>
                      <a:srgbClr val="111827"/>
                    </a:solidFill>
                    <a:latin typeface="Arial"/>
                  </a:rPr>
                  <a:t> iff </a:t>
                </a:r>
                <a:r>
                  <a:rPr lang="en-IN" sz="2400">
                    <a:solidFill>
                      <a:srgbClr val="111827"/>
                    </a:solidFill>
                    <a:latin typeface="Cambria Math" panose="02040503050406030204" pitchFamily="18" charset="0"/>
                  </a:rPr>
                  <a:t>$3\nmid n$</a:t>
                </a:r>
                <a:r>
                  <a:rPr sz="2400" b="0">
                    <a:solidFill>
                      <a:srgbClr val="111827"/>
                    </a:solidFill>
                    <a:latin typeface="Arial"/>
                  </a:rPr>
                  <a:t> and </a:t>
                </a:r>
                <a:r>
                  <a:rPr lang="en-IN" sz="2400">
                    <a:solidFill>
                      <a:srgbClr val="111827"/>
                    </a:solidFill>
                    <a:latin typeface="Cambria Math" panose="02040503050406030204" pitchFamily="18" charset="0"/>
                  </a:rPr>
                  <a:t>$5\nmid n$</a:t>
                </a:r>
                <a:r>
                  <a:rPr sz="2400" b="0">
                    <a:solidFill>
                      <a:srgbClr val="111827"/>
                    </a:solidFill>
                    <a:latin typeface="Arial"/>
                  </a:rPr>
                  <a:t> (as </a:t>
                </a:r>
                <a:r>
                  <a:rPr lang="en-IN" sz="2400">
                    <a:solidFill>
                      <a:srgbClr val="111827"/>
                    </a:solidFill>
                    <a:latin typeface="Cambria Math" panose="02040503050406030204" pitchFamily="18" charset="0"/>
                  </a:rPr>
                  <a:t>$45=3^2\cdot5$</a:t>
                </a:r>
                <a:r>
                  <a:rPr sz="2400" b="0">
                    <a:solidFill>
                      <a:srgbClr val="111827"/>
                    </a:solidFill>
                    <a:latin typeface="Arial"/>
                  </a:rPr>
                  <a:t>). So we need the even numbers </a:t>
                </a:r>
                <a:r>
                  <a:rPr lang="en-IN" sz="2400">
                    <a:solidFill>
                      <a:srgbClr val="111827"/>
                    </a:solidFill>
                    <a:latin typeface="Cambria Math" panose="02040503050406030204" pitchFamily="18" charset="0"/>
                  </a:rPr>
                  <a:t>$2,4,\dots,200$</a:t>
                </a:r>
                <a:r>
                  <a:rPr sz="2400" b="0">
                    <a:solidFill>
                      <a:srgbClr val="111827"/>
                    </a:solidFill>
                    <a:latin typeface="Arial"/>
                  </a:rPr>
                  <a:t> not divisible by </a:t>
                </a:r>
                <a:r>
                  <a:rPr lang="en-IN" sz="2400">
                    <a:solidFill>
                      <a:srgbClr val="111827"/>
                    </a:solidFill>
                    <a:latin typeface="Cambria Math" panose="02040503050406030204" pitchFamily="18" charset="0"/>
                  </a:rPr>
                  <a:t>$3$</a:t>
                </a:r>
                <a:r>
                  <a:rPr sz="2400" b="0">
                    <a:solidFill>
                      <a:srgbClr val="111827"/>
                    </a:solidFill>
                    <a:latin typeface="Arial"/>
                  </a:rPr>
                  <a:t> or </a:t>
                </a:r>
                <a:r>
                  <a:rPr lang="en-IN" sz="2400">
                    <a:solidFill>
                      <a:srgbClr val="111827"/>
                    </a:solidFill>
                    <a:latin typeface="Cambria Math" panose="02040503050406030204" pitchFamily="18" charset="0"/>
                  </a:rPr>
                  <a:t>$5$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of all evens: </a:t>
                </a:r>
                <a:r>
                  <a:rPr lang="en-IN" sz="2400">
                    <a:solidFill>
                      <a:srgbClr val="111827"/>
                    </a:solidFill>
                    <a:latin typeface="Cambria Math" panose="02040503050406030204" pitchFamily="18" charset="0"/>
                  </a:rPr>
                  <a:t>$2+4+\dots+200=2\cdot\frac{100\cdot101}{2}=10100$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Evens divisible by </a:t>
                </a:r>
                <a:r>
                  <a:rPr lang="en-IN" sz="2400">
                    <a:solidFill>
                      <a:srgbClr val="111827"/>
                    </a:solidFill>
                    <a:latin typeface="Cambria Math" panose="02040503050406030204" pitchFamily="18" charset="0"/>
                  </a:rPr>
                  <a:t>$3$</a:t>
                </a:r>
                <a:r>
                  <a:rPr sz="2400" b="0">
                    <a:solidFill>
                      <a:srgbClr val="111827"/>
                    </a:solidFill>
                    <a:latin typeface="Arial"/>
                  </a:rPr>
                  <a:t> (multiples of </a:t>
                </a:r>
                <a:r>
                  <a:rPr lang="en-IN" sz="2400">
                    <a:solidFill>
                      <a:srgbClr val="111827"/>
                    </a:solidFill>
                    <a:latin typeface="Cambria Math" panose="02040503050406030204" pitchFamily="18" charset="0"/>
                  </a:rPr>
                  <a:t>$6$</a:t>
                </a:r>
                <a:r>
                  <a:rPr sz="2400" b="0">
                    <a:solidFill>
                      <a:srgbClr val="111827"/>
                    </a:solidFill>
                    <a:latin typeface="Arial"/>
                  </a:rPr>
                  <a:t>): </a:t>
                </a:r>
                <a:r>
                  <a:rPr lang="en-IN" sz="2400">
                    <a:solidFill>
                      <a:srgbClr val="111827"/>
                    </a:solidFill>
                    <a:latin typeface="Cambria Math" panose="02040503050406030204" pitchFamily="18" charset="0"/>
                  </a:rPr>
                  <a:t>$6+12+\dots+198=6(1+\dots+33)=6\cdot561=3366$</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Evens divisible by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(multiples of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2100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Evens divisible by both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(multiples of </a:t>
                </a:r>
                <a14:m>
                  <m:oMath xmlns:m="http://schemas.openxmlformats.org/officeDocument/2006/math">
                    <m:r>
                      <a:rPr lang="en-IN" sz="2400" i="1">
                        <a:solidFill>
                          <a:srgbClr val="111827"/>
                        </a:solidFill>
                        <a:latin typeface="Cambria Math" panose="02040503050406030204" pitchFamily="18" charset="0"/>
                      </a:rPr>
                      <m:t>30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630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inclusion-exclusion the required sum is </a:t>
                </a:r>
                <a14:m>
                  <m:oMath xmlns:m="http://schemas.openxmlformats.org/officeDocument/2006/math">
                    <m:r>
                      <a:rPr lang="en-IN" sz="2400" i="1">
                        <a:solidFill>
                          <a:srgbClr val="111827"/>
                        </a:solidFill>
                        <a:latin typeface="Cambria Math" panose="02040503050406030204" pitchFamily="18" charset="0"/>
                      </a:rPr>
                      <m:t>10100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3366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5264</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Evens divisible by </a:t>
                </a:r>
                <a:r>
                  <a:rPr lang="en-IN" sz="2400">
                    <a:solidFill>
                      <a:srgbClr val="111827"/>
                    </a:solidFill>
                    <a:latin typeface="Cambria Math" panose="02040503050406030204" pitchFamily="18" charset="0"/>
                  </a:rPr>
                  <a:t>$5$</a:t>
                </a:r>
                <a:r>
                  <a:rPr sz="2400" b="0">
                    <a:solidFill>
                      <a:srgbClr val="111827"/>
                    </a:solidFill>
                    <a:latin typeface="Arial"/>
                  </a:rPr>
                  <a:t> (multiples of </a:t>
                </a:r>
                <a:r>
                  <a:rPr lang="en-IN" sz="2400">
                    <a:solidFill>
                      <a:srgbClr val="111827"/>
                    </a:solidFill>
                    <a:latin typeface="Cambria Math" panose="02040503050406030204" pitchFamily="18" charset="0"/>
                  </a:rPr>
                  <a:t>$10$</a:t>
                </a:r>
                <a:r>
                  <a:rPr sz="2400" b="0">
                    <a:solidFill>
                      <a:srgbClr val="111827"/>
                    </a:solidFill>
                    <a:latin typeface="Arial"/>
                  </a:rPr>
                  <a:t>): </a:t>
                </a:r>
                <a:r>
                  <a:rPr lang="en-IN" sz="2400">
                    <a:solidFill>
                      <a:srgbClr val="111827"/>
                    </a:solidFill>
                    <a:latin typeface="Cambria Math" panose="02040503050406030204" pitchFamily="18" charset="0"/>
                  </a:rPr>
                  <a:t>$10+20+\dots+200=10(1+\dots+20)=10\cdot210=2100$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Evens divisible by both </a:t>
                </a:r>
                <a:r>
                  <a:rPr lang="en-IN" sz="2400">
                    <a:solidFill>
                      <a:srgbClr val="111827"/>
                    </a:solidFill>
                    <a:latin typeface="Cambria Math" panose="02040503050406030204" pitchFamily="18" charset="0"/>
                  </a:rPr>
                  <a:t>$3$</a:t>
                </a:r>
                <a:r>
                  <a:rPr sz="2400" b="0">
                    <a:solidFill>
                      <a:srgbClr val="111827"/>
                    </a:solidFill>
                    <a:latin typeface="Arial"/>
                  </a:rPr>
                  <a:t> and </a:t>
                </a:r>
                <a:r>
                  <a:rPr lang="en-IN" sz="2400">
                    <a:solidFill>
                      <a:srgbClr val="111827"/>
                    </a:solidFill>
                    <a:latin typeface="Cambria Math" panose="02040503050406030204" pitchFamily="18" charset="0"/>
                  </a:rPr>
                  <a:t>$5$</a:t>
                </a:r>
                <a:r>
                  <a:rPr sz="2400" b="0">
                    <a:solidFill>
                      <a:srgbClr val="111827"/>
                    </a:solidFill>
                    <a:latin typeface="Arial"/>
                  </a:rPr>
                  <a:t> (multiples of </a:t>
                </a:r>
                <a:r>
                  <a:rPr lang="en-IN" sz="2400">
                    <a:solidFill>
                      <a:srgbClr val="111827"/>
                    </a:solidFill>
                    <a:latin typeface="Cambria Math" panose="02040503050406030204" pitchFamily="18" charset="0"/>
                  </a:rPr>
                  <a:t>$30$</a:t>
                </a:r>
                <a:r>
                  <a:rPr sz="2400" b="0">
                    <a:solidFill>
                      <a:srgbClr val="111827"/>
                    </a:solidFill>
                    <a:latin typeface="Arial"/>
                  </a:rPr>
                  <a:t>): </a:t>
                </a:r>
                <a:r>
                  <a:rPr lang="en-IN" sz="2400">
                    <a:solidFill>
                      <a:srgbClr val="111827"/>
                    </a:solidFill>
                    <a:latin typeface="Cambria Math" panose="02040503050406030204" pitchFamily="18" charset="0"/>
                  </a:rPr>
                  <a:t>$30+60+\dots+180=30(1+\dots+6)=30\cdot21=630$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inclusion-exclusion the required sum is </a:t>
                </a:r>
                <a:r>
                  <a:rPr lang="en-IN" sz="2400">
                    <a:solidFill>
                      <a:srgbClr val="111827"/>
                    </a:solidFill>
                    <a:latin typeface="Cambria Math" panose="02040503050406030204" pitchFamily="18" charset="0"/>
                  </a:rPr>
                  <a:t>$10100-3366-2100+630=5264$</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5264</a:t>
            </a:r>
            <a:endParaRPr sz="2800">
              <a:solidFill>
                <a:srgbClr val="15803D"/>
              </a:solidFill>
            </a:endParaRP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period </a:t>
                </a:r>
                <a14:m>
                  <m:oMath xmlns:m="http://schemas.openxmlformats.org/officeDocument/2006/math">
                    <m:r>
                      <a:rPr lang="en-IN" sz="2400" i="1">
                        <a:solidFill>
                          <a:srgbClr val="78350F"/>
                        </a:solidFill>
                        <a:latin typeface="Cambria Math" panose="02040503050406030204" pitchFamily="18" charset="0"/>
                      </a:rPr>
                      <m:t>30</m:t>
                    </m:r>
                  </m:oMath>
                </a14:m>
                <a:r>
                  <a:rPr sz="2400" b="0">
                    <a:solidFill>
                      <a:srgbClr val="78350F"/>
                    </a:solidFill>
                    <a:latin typeface="Arial"/>
                  </a:rPr>
                  <a:t>: within each block of </a:t>
                </a:r>
                <a14:m>
                  <m:oMath xmlns:m="http://schemas.openxmlformats.org/officeDocument/2006/math">
                    <m:r>
                      <a:rPr lang="en-IN" sz="2400" i="1">
                        <a:solidFill>
                          <a:srgbClr val="78350F"/>
                        </a:solidFill>
                        <a:latin typeface="Cambria Math" panose="02040503050406030204" pitchFamily="18" charset="0"/>
                      </a:rPr>
                      <m:t>30</m:t>
                    </m:r>
                  </m:oMath>
                </a14:m>
                <a:r>
                  <a:rPr sz="2400" b="0">
                    <a:solidFill>
                      <a:srgbClr val="78350F"/>
                    </a:solidFill>
                    <a:latin typeface="Arial"/>
                  </a:rPr>
                  <a:t> consecutive integers the admissible even numbers are </a:t>
                </a:r>
                <a14:m>
                  <m:oMath xmlns:m="http://schemas.openxmlformats.org/officeDocument/2006/math">
                    <m:r>
                      <a:rPr lang="en-IN" sz="2400" i="1">
                        <a:solidFill>
                          <a:srgbClr val="78350F"/>
                        </a:solidFill>
                        <a:latin typeface="Cambria Math" panose="02040503050406030204" pitchFamily="18" charset="0"/>
                      </a:rPr>
                      <m:t>8</m:t>
                    </m:r>
                  </m:oMath>
                </a14:m>
                <a:r>
                  <a:rPr sz="2400" b="0">
                    <a:solidFill>
                      <a:srgbClr val="78350F"/>
                    </a:solidFill>
                    <a:latin typeface="Arial"/>
                  </a:rPr>
                  <a:t> fixed residues, and each block's sum rises by </a:t>
                </a:r>
                <a14:m>
                  <m:oMath xmlns:m="http://schemas.openxmlformats.org/officeDocument/2006/math">
                    <m:r>
                      <a:rPr lang="en-IN" sz="2400" i="1">
                        <a:solidFill>
                          <a:srgbClr val="78350F"/>
                        </a:solidFill>
                        <a:latin typeface="Cambria Math" panose="02040503050406030204" pitchFamily="18" charset="0"/>
                      </a:rPr>
                      <m:t>240</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period </a:t>
                </a:r>
                <a:r>
                  <a:rPr lang="en-IN" sz="2400">
                    <a:solidFill>
                      <a:srgbClr val="78350F"/>
                    </a:solidFill>
                    <a:latin typeface="Cambria Math" panose="02040503050406030204" pitchFamily="18" charset="0"/>
                  </a:rPr>
                  <a:t>$30$</a:t>
                </a:r>
                <a:r>
                  <a:rPr sz="2400" b="0">
                    <a:solidFill>
                      <a:srgbClr val="78350F"/>
                    </a:solidFill>
                    <a:latin typeface="Arial"/>
                  </a:rPr>
                  <a:t>: within each block of </a:t>
                </a:r>
                <a:r>
                  <a:rPr lang="en-IN" sz="2400">
                    <a:solidFill>
                      <a:srgbClr val="78350F"/>
                    </a:solidFill>
                    <a:latin typeface="Cambria Math" panose="02040503050406030204" pitchFamily="18" charset="0"/>
                  </a:rPr>
                  <a:t>$30$</a:t>
                </a:r>
                <a:r>
                  <a:rPr sz="2400" b="0">
                    <a:solidFill>
                      <a:srgbClr val="78350F"/>
                    </a:solidFill>
                    <a:latin typeface="Arial"/>
                  </a:rPr>
                  <a:t> consecutive integers the admissible even numbers are </a:t>
                </a:r>
                <a:r>
                  <a:rPr lang="en-IN" sz="2400">
                    <a:solidFill>
                      <a:srgbClr val="78350F"/>
                    </a:solidFill>
                    <a:latin typeface="Cambria Math" panose="02040503050406030204" pitchFamily="18" charset="0"/>
                  </a:rPr>
                  <a:t>$8$</a:t>
                </a:r>
                <a:r>
                  <a:rPr sz="2400" b="0">
                    <a:solidFill>
                      <a:srgbClr val="78350F"/>
                    </a:solidFill>
                    <a:latin typeface="Arial"/>
                  </a:rPr>
                  <a:t> fixed residues, and each block's sum rises by </a:t>
                </a:r>
                <a:r>
                  <a:rPr lang="en-IN" sz="2400">
                    <a:solidFill>
                      <a:srgbClr val="78350F"/>
                    </a:solidFill>
                    <a:latin typeface="Cambria Math" panose="02040503050406030204" pitchFamily="18" charset="0"/>
                  </a:rPr>
                  <a:t>$240$</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Even numbers coprime to </a:t>
                </a:r>
                <a14:m>
                  <m:oMath xmlns:m="http://schemas.openxmlformats.org/officeDocument/2006/math">
                    <m:r>
                      <a:rPr lang="en-IN" sz="2400" i="1">
                        <a:solidFill>
                          <a:srgbClr val="111827"/>
                        </a:solidFill>
                        <a:latin typeface="Cambria Math" panose="02040503050406030204" pitchFamily="18" charset="0"/>
                      </a:rPr>
                      <m:t>15</m:t>
                    </m:r>
                  </m:oMath>
                </a14:m>
                <a:r>
                  <a:rPr sz="2400" b="0">
                    <a:solidFill>
                      <a:srgbClr val="111827"/>
                    </a:solidFill>
                    <a:latin typeface="Arial"/>
                  </a:rPr>
                  <a:t> in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numbers) with sum </a:t>
                </a:r>
                <a14:m>
                  <m:oMath xmlns:m="http://schemas.openxmlformats.org/officeDocument/2006/math">
                    <m:r>
                      <a:rPr lang="en-IN" sz="2400" i="1">
                        <a:solidFill>
                          <a:srgbClr val="111827"/>
                        </a:solidFill>
                        <a:latin typeface="Cambria Math" panose="02040503050406030204" pitchFamily="18" charset="0"/>
                      </a:rPr>
                      <m:t>120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the block </a:t>
                </a:r>
                <a14:m>
                  <m:oMath xmlns:m="http://schemas.openxmlformats.org/officeDocument/2006/math">
                    <m:r>
                      <a:rPr lang="en-IN" sz="2400" i="1">
                        <a:solidFill>
                          <a:srgbClr val="111827"/>
                        </a:solidFill>
                        <a:latin typeface="Cambria Math" panose="02040503050406030204" pitchFamily="18" charset="0"/>
                      </a:rPr>
                      <m:t>30</m:t>
                    </m:r>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oMath>
                </a14:m>
                <a:r>
                  <a:rPr sz="2400" b="0">
                    <a:solidFill>
                      <a:srgbClr val="111827"/>
                    </a:solidFill>
                    <a:latin typeface="Arial"/>
                  </a:rPr>
                  <a:t> the same residues shifted by </a:t>
                </a:r>
                <a14:m>
                  <m:oMath xmlns:m="http://schemas.openxmlformats.org/officeDocument/2006/math">
                    <m:r>
                      <a:rPr lang="en-IN" sz="2400" i="1">
                        <a:solidFill>
                          <a:srgbClr val="111827"/>
                        </a:solidFill>
                        <a:latin typeface="Cambria Math" panose="02040503050406030204" pitchFamily="18" charset="0"/>
                      </a:rPr>
                      <m:t>30</m:t>
                    </m:r>
                    <m:r>
                      <a:rPr lang="en-IN" sz="2400" i="1">
                        <a:solidFill>
                          <a:srgbClr val="111827"/>
                        </a:solidFill>
                        <a:latin typeface="Cambria Math" panose="02040503050406030204" pitchFamily="18" charset="0"/>
                      </a:rPr>
                      <m:t>𝑗</m:t>
                    </m:r>
                  </m:oMath>
                </a14:m>
                <a:r>
                  <a:rPr sz="2400" b="0">
                    <a:solidFill>
                      <a:srgbClr val="111827"/>
                    </a:solidFill>
                    <a:latin typeface="Arial"/>
                  </a:rPr>
                  <a:t> give sum </a:t>
                </a:r>
                <a14:m>
                  <m:oMath xmlns:m="http://schemas.openxmlformats.org/officeDocument/2006/math">
                    <m:r>
                      <a:rPr lang="en-IN" sz="2400" i="1">
                        <a:solidFill>
                          <a:srgbClr val="111827"/>
                        </a:solidFill>
                        <a:latin typeface="Cambria Math" panose="02040503050406030204" pitchFamily="18" charset="0"/>
                      </a:rPr>
                      <m:t>120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240</m:t>
                    </m:r>
                    <m:r>
                      <a:rPr lang="en-IN" sz="2400" i="1">
                        <a:solidFill>
                          <a:srgbClr val="111827"/>
                        </a:solidFill>
                        <a:latin typeface="Cambria Math" panose="02040503050406030204" pitchFamily="18" charset="0"/>
                      </a:rPr>
                      <m:t>𝑗</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numbers up to </a:t>
                </a:r>
                <a14:m>
                  <m:oMath xmlns:m="http://schemas.openxmlformats.org/officeDocument/2006/math">
                    <m:r>
                      <a:rPr lang="en-IN" sz="2400" i="1">
                        <a:solidFill>
                          <a:srgbClr val="111827"/>
                        </a:solidFill>
                        <a:latin typeface="Cambria Math" panose="02040503050406030204" pitchFamily="18" charset="0"/>
                      </a:rPr>
                      <m:t>180</m:t>
                    </m:r>
                  </m:oMath>
                </a14:m>
                <a:r>
                  <a:rPr sz="2400" b="0">
                    <a:solidFill>
                      <a:srgbClr val="111827"/>
                    </a:solidFill>
                    <a:latin typeface="Arial"/>
                  </a:rPr>
                  <a:t> form blocks </a:t>
                </a:r>
                <a14:m>
                  <m:oMath xmlns:m="http://schemas.openxmlformats.org/officeDocument/2006/math">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5</m:t>
                        </m:r>
                      </m:sup>
                      <m:e>
                        <m:r>
                          <m:rPr>
                            <m:sty m:val="p"/>
                          </m:rPr>
                          <a:rPr lang="en-IN" sz="2400">
                            <a:solidFill>
                              <a:srgbClr val="111827"/>
                            </a:solidFill>
                            <a:latin typeface="Cambria Math" panose="02040503050406030204" pitchFamily="18" charset="0"/>
                          </a:rPr>
                          <m:t>(</m:t>
                        </m:r>
                      </m:e>
                    </m:nary>
                    <m:r>
                      <a:rPr lang="en-IN" sz="2400" i="1">
                        <a:solidFill>
                          <a:srgbClr val="111827"/>
                        </a:solidFill>
                        <a:latin typeface="Cambria Math" panose="02040503050406030204" pitchFamily="18" charset="0"/>
                      </a:rPr>
                      <m:t>120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240</m:t>
                    </m:r>
                    <m:r>
                      <a:rPr lang="en-IN" sz="2400" i="1">
                        <a:solidFill>
                          <a:srgbClr val="111827"/>
                        </a:solidFill>
                        <a:latin typeface="Cambria Math" panose="02040503050406030204" pitchFamily="18" charset="0"/>
                      </a:rPr>
                      <m:t>𝑗</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4320</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Even numbers coprime to </a:t>
                </a:r>
                <a:r>
                  <a:rPr lang="en-IN" sz="2400">
                    <a:solidFill>
                      <a:srgbClr val="111827"/>
                    </a:solidFill>
                    <a:latin typeface="Cambria Math" panose="02040503050406030204" pitchFamily="18" charset="0"/>
                  </a:rPr>
                  <a:t>$15$</a:t>
                </a:r>
                <a:r>
                  <a:rPr sz="2400" b="0">
                    <a:solidFill>
                      <a:srgbClr val="111827"/>
                    </a:solidFill>
                    <a:latin typeface="Arial"/>
                  </a:rPr>
                  <a:t> in </a:t>
                </a:r>
                <a:r>
                  <a:rPr lang="en-IN" sz="2400">
                    <a:solidFill>
                      <a:srgbClr val="111827"/>
                    </a:solidFill>
                    <a:latin typeface="Cambria Math" panose="02040503050406030204" pitchFamily="18" charset="0"/>
                  </a:rPr>
                  <a:t>$1,\dots,30$</a:t>
                </a:r>
                <a:r>
                  <a:rPr sz="2400" b="0">
                    <a:solidFill>
                      <a:srgbClr val="111827"/>
                    </a:solidFill>
                    <a:latin typeface="Arial"/>
                  </a:rPr>
                  <a:t>: </a:t>
                </a:r>
                <a:r>
                  <a:rPr lang="en-IN" sz="2400">
                    <a:solidFill>
                      <a:srgbClr val="111827"/>
                    </a:solidFill>
                    <a:latin typeface="Cambria Math" panose="02040503050406030204" pitchFamily="18" charset="0"/>
                  </a:rPr>
                  <a:t>$2,4,8,14,16,22,26,28$</a:t>
                </a:r>
                <a:r>
                  <a:rPr sz="2400" b="0">
                    <a:solidFill>
                      <a:srgbClr val="111827"/>
                    </a:solidFill>
                    <a:latin typeface="Arial"/>
                  </a:rPr>
                  <a:t> (</a:t>
                </a:r>
                <a:r>
                  <a:rPr lang="en-IN" sz="2400">
                    <a:solidFill>
                      <a:srgbClr val="111827"/>
                    </a:solidFill>
                    <a:latin typeface="Cambria Math" panose="02040503050406030204" pitchFamily="18" charset="0"/>
                  </a:rPr>
                  <a:t>$8$</a:t>
                </a:r>
                <a:r>
                  <a:rPr sz="2400" b="0">
                    <a:solidFill>
                      <a:srgbClr val="111827"/>
                    </a:solidFill>
                    <a:latin typeface="Arial"/>
                  </a:rPr>
                  <a:t> numbers) with sum </a:t>
                </a:r>
                <a:r>
                  <a:rPr lang="en-IN" sz="2400">
                    <a:solidFill>
                      <a:srgbClr val="111827"/>
                    </a:solidFill>
                    <a:latin typeface="Cambria Math" panose="02040503050406030204" pitchFamily="18" charset="0"/>
                  </a:rPr>
                  <a:t>$120$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the block </a:t>
                </a:r>
                <a:r>
                  <a:rPr lang="en-IN" sz="2400">
                    <a:solidFill>
                      <a:srgbClr val="111827"/>
                    </a:solidFill>
                    <a:latin typeface="Cambria Math" panose="02040503050406030204" pitchFamily="18" charset="0"/>
                  </a:rPr>
                  <a:t>$30j+1,\dots,30j+30$</a:t>
                </a:r>
                <a:r>
                  <a:rPr sz="2400" b="0">
                    <a:solidFill>
                      <a:srgbClr val="111827"/>
                    </a:solidFill>
                    <a:latin typeface="Arial"/>
                  </a:rPr>
                  <a:t> the same residues shifted by </a:t>
                </a:r>
                <a:r>
                  <a:rPr lang="en-IN" sz="2400">
                    <a:solidFill>
                      <a:srgbClr val="111827"/>
                    </a:solidFill>
                    <a:latin typeface="Cambria Math" panose="02040503050406030204" pitchFamily="18" charset="0"/>
                  </a:rPr>
                  <a:t>$30j$</a:t>
                </a:r>
                <a:r>
                  <a:rPr sz="2400" b="0">
                    <a:solidFill>
                      <a:srgbClr val="111827"/>
                    </a:solidFill>
                    <a:latin typeface="Arial"/>
                  </a:rPr>
                  <a:t> give sum </a:t>
                </a:r>
                <a:r>
                  <a:rPr lang="en-IN" sz="2400">
                    <a:solidFill>
                      <a:srgbClr val="111827"/>
                    </a:solidFill>
                    <a:latin typeface="Cambria Math" panose="02040503050406030204" pitchFamily="18" charset="0"/>
                  </a:rPr>
                  <a:t>$120+8\cdot30j=120+240j$</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numbers up to </a:t>
                </a:r>
                <a:r>
                  <a:rPr lang="en-IN" sz="2400">
                    <a:solidFill>
                      <a:srgbClr val="111827"/>
                    </a:solidFill>
                    <a:latin typeface="Cambria Math" panose="02040503050406030204" pitchFamily="18" charset="0"/>
                  </a:rPr>
                  <a:t>$180$</a:t>
                </a:r>
                <a:r>
                  <a:rPr sz="2400" b="0">
                    <a:solidFill>
                      <a:srgbClr val="111827"/>
                    </a:solidFill>
                    <a:latin typeface="Arial"/>
                  </a:rPr>
                  <a:t> form blocks </a:t>
                </a:r>
                <a:r>
                  <a:rPr lang="en-IN" sz="2400">
                    <a:solidFill>
                      <a:srgbClr val="111827"/>
                    </a:solidFill>
                    <a:latin typeface="Cambria Math" panose="02040503050406030204" pitchFamily="18" charset="0"/>
                  </a:rPr>
                  <a:t>$j=0,\dots,5$</a:t>
                </a:r>
                <a:r>
                  <a:rPr sz="2400" b="0">
                    <a:solidFill>
                      <a:srgbClr val="111827"/>
                    </a:solidFill>
                    <a:latin typeface="Arial"/>
                  </a:rPr>
                  <a:t>: </a:t>
                </a:r>
                <a:r>
                  <a:rPr lang="en-IN" sz="2400">
                    <a:solidFill>
                      <a:srgbClr val="111827"/>
                    </a:solidFill>
                    <a:latin typeface="Cambria Math" panose="02040503050406030204" pitchFamily="18" charset="0"/>
                  </a:rPr>
                  <a:t>$\sum_{j=0}^{5}(120+240j)=720+240\cdot15=4320$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Remaining evens </a:t>
                </a:r>
                <a14:m>
                  <m:oMath xmlns:m="http://schemas.openxmlformats.org/officeDocument/2006/math">
                    <m:r>
                      <a:rPr lang="en-IN" sz="2400" i="1">
                        <a:solidFill>
                          <a:srgbClr val="111827"/>
                        </a:solidFill>
                        <a:latin typeface="Cambria Math" panose="02040503050406030204" pitchFamily="18" charset="0"/>
                      </a:rPr>
                      <m:t>182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200</m:t>
                    </m:r>
                  </m:oMath>
                </a14:m>
                <a:r>
                  <a:rPr sz="2400" b="0">
                    <a:solidFill>
                      <a:srgbClr val="111827"/>
                    </a:solidFill>
                    <a:latin typeface="Arial"/>
                  </a:rPr>
                  <a:t>: admissible ones are </a:t>
                </a:r>
                <a14:m>
                  <m:oMath xmlns:m="http://schemas.openxmlformats.org/officeDocument/2006/math">
                    <m:r>
                      <a:rPr lang="en-IN" sz="2400" i="1">
                        <a:solidFill>
                          <a:srgbClr val="111827"/>
                        </a:solidFill>
                        <a:latin typeface="Cambria Math" panose="02040503050406030204" pitchFamily="18" charset="0"/>
                      </a:rPr>
                      <m:t>182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196</m:t>
                    </m:r>
                  </m:oMath>
                </a14:m>
                <a:r>
                  <a:rPr sz="2400" b="0">
                    <a:solidFill>
                      <a:srgbClr val="111827"/>
                    </a:solidFill>
                    <a:latin typeface="Arial"/>
                  </a:rPr>
                  <a:t> (since </a:t>
                </a:r>
                <a14:m>
                  <m:oMath xmlns:m="http://schemas.openxmlformats.org/officeDocument/2006/math">
                    <m:r>
                      <a:rPr lang="en-IN" sz="2400" i="1">
                        <a:solidFill>
                          <a:srgbClr val="111827"/>
                        </a:solidFill>
                        <a:latin typeface="Cambria Math" panose="02040503050406030204" pitchFamily="18" charset="0"/>
                      </a:rPr>
                      <m:t>186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198</m:t>
                    </m:r>
                  </m:oMath>
                </a14:m>
                <a:r>
                  <a:rPr sz="2400" b="0">
                    <a:solidFill>
                      <a:srgbClr val="111827"/>
                    </a:solidFill>
                    <a:latin typeface="Arial"/>
                  </a:rPr>
                  <a:t> are multiples of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190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200</m:t>
                    </m:r>
                  </m:oMath>
                </a14:m>
                <a:r>
                  <a:rPr sz="2400" b="0">
                    <a:solidFill>
                      <a:srgbClr val="111827"/>
                    </a:solidFill>
                    <a:latin typeface="Arial"/>
                  </a:rPr>
                  <a:t> of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sum </a:t>
                </a:r>
                <a14:m>
                  <m:oMath xmlns:m="http://schemas.openxmlformats.org/officeDocument/2006/math">
                    <m:r>
                      <a:rPr lang="en-IN" sz="2400" i="1">
                        <a:solidFill>
                          <a:srgbClr val="111827"/>
                        </a:solidFill>
                        <a:latin typeface="Cambria Math" panose="02040503050406030204" pitchFamily="18" charset="0"/>
                      </a:rPr>
                      <m:t>944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4320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944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5264</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Remaining evens </a:t>
                </a:r>
                <a:r>
                  <a:rPr lang="en-IN" sz="2400">
                    <a:solidFill>
                      <a:srgbClr val="111827"/>
                    </a:solidFill>
                    <a:latin typeface="Cambria Math" panose="02040503050406030204" pitchFamily="18" charset="0"/>
                  </a:rPr>
                  <a:t>$182,\dots,200$</a:t>
                </a:r>
                <a:r>
                  <a:rPr sz="2400" b="0">
                    <a:solidFill>
                      <a:srgbClr val="111827"/>
                    </a:solidFill>
                    <a:latin typeface="Arial"/>
                  </a:rPr>
                  <a:t>: admissible ones are </a:t>
                </a:r>
                <a:r>
                  <a:rPr lang="en-IN" sz="2400">
                    <a:solidFill>
                      <a:srgbClr val="111827"/>
                    </a:solidFill>
                    <a:latin typeface="Cambria Math" panose="02040503050406030204" pitchFamily="18" charset="0"/>
                  </a:rPr>
                  <a:t>$182,184,188,194,196$</a:t>
                </a:r>
                <a:r>
                  <a:rPr sz="2400" b="0">
                    <a:solidFill>
                      <a:srgbClr val="111827"/>
                    </a:solidFill>
                    <a:latin typeface="Arial"/>
                  </a:rPr>
                  <a:t> (since </a:t>
                </a:r>
                <a:r>
                  <a:rPr lang="en-IN" sz="2400">
                    <a:solidFill>
                      <a:srgbClr val="111827"/>
                    </a:solidFill>
                    <a:latin typeface="Cambria Math" panose="02040503050406030204" pitchFamily="18" charset="0"/>
                  </a:rPr>
                  <a:t>$186,192,198$</a:t>
                </a:r>
                <a:r>
                  <a:rPr sz="2400" b="0">
                    <a:solidFill>
                      <a:srgbClr val="111827"/>
                    </a:solidFill>
                    <a:latin typeface="Arial"/>
                  </a:rPr>
                  <a:t> are multiples of </a:t>
                </a:r>
                <a:r>
                  <a:rPr lang="en-IN" sz="2400">
                    <a:solidFill>
                      <a:srgbClr val="111827"/>
                    </a:solidFill>
                    <a:latin typeface="Cambria Math" panose="02040503050406030204" pitchFamily="18" charset="0"/>
                  </a:rPr>
                  <a:t>$3$</a:t>
                </a:r>
                <a:r>
                  <a:rPr sz="2400" b="0">
                    <a:solidFill>
                      <a:srgbClr val="111827"/>
                    </a:solidFill>
                    <a:latin typeface="Arial"/>
                  </a:rPr>
                  <a:t> and </a:t>
                </a:r>
                <a:r>
                  <a:rPr lang="en-IN" sz="2400">
                    <a:solidFill>
                      <a:srgbClr val="111827"/>
                    </a:solidFill>
                    <a:latin typeface="Cambria Math" panose="02040503050406030204" pitchFamily="18" charset="0"/>
                  </a:rPr>
                  <a:t>$190,200$</a:t>
                </a:r>
                <a:r>
                  <a:rPr sz="2400" b="0">
                    <a:solidFill>
                      <a:srgbClr val="111827"/>
                    </a:solidFill>
                    <a:latin typeface="Arial"/>
                  </a:rPr>
                  <a:t> of </a:t>
                </a:r>
                <a:r>
                  <a:rPr lang="en-IN" sz="2400">
                    <a:solidFill>
                      <a:srgbClr val="111827"/>
                    </a:solidFill>
                    <a:latin typeface="Cambria Math" panose="02040503050406030204" pitchFamily="18" charset="0"/>
                  </a:rPr>
                  <a:t>$5$</a:t>
                </a:r>
                <a:r>
                  <a:rPr sz="2400" b="0">
                    <a:solidFill>
                      <a:srgbClr val="111827"/>
                    </a:solidFill>
                    <a:latin typeface="Arial"/>
                  </a:rPr>
                  <a:t>); sum </a:t>
                </a:r>
                <a:r>
                  <a:rPr lang="en-IN" sz="2400">
                    <a:solidFill>
                      <a:srgbClr val="111827"/>
                    </a:solidFill>
                    <a:latin typeface="Cambria Math" panose="02040503050406030204" pitchFamily="18" charset="0"/>
                  </a:rPr>
                  <a:t>$944$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$=4320+944=5264$</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5264</a:t>
            </a:r>
            <a:endParaRPr sz="2800">
              <a:solidFill>
                <a:srgbClr val="15803D"/>
              </a:solidFill>
            </a:endParaRP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gcd</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iff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shares no prime factor with </a:t>
                </a:r>
                <a14:m>
                  <m:oMath xmlns:m="http://schemas.openxmlformats.org/officeDocument/2006/math">
                    <m:r>
                      <a:rPr lang="en-IN" sz="2400" i="1">
                        <a:solidFill>
                          <a:srgbClr val="111827"/>
                        </a:solidFill>
                        <a:latin typeface="Cambria Math" panose="02040503050406030204" pitchFamily="18" charset="0"/>
                      </a:rPr>
                      <m:t>𝑁</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45</m:t>
                    </m:r>
                  </m:oMath>
                </a14:m>
                <a:r>
                  <a:rPr sz="2400" b="0">
                    <a:solidFill>
                      <a:srgbClr val="111827"/>
                    </a:solidFill>
                    <a:latin typeface="Arial"/>
                  </a:rPr>
                  <a:t> this is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of the multiples of </a:t>
                </a:r>
                <a14:m>
                  <m:oMath xmlns:m="http://schemas.openxmlformats.org/officeDocument/2006/math">
                    <m:r>
                      <a:rPr lang="en-IN" sz="2400" i="1">
                        <a:solidFill>
                          <a:srgbClr val="111827"/>
                        </a:solidFill>
                        <a:latin typeface="Cambria Math" panose="02040503050406030204" pitchFamily="18" charset="0"/>
                      </a:rPr>
                      <m:t>𝑑</m:t>
                    </m:r>
                  </m:oMath>
                </a14:m>
                <a:r>
                  <a:rPr sz="2400" b="0">
                    <a:solidFill>
                      <a:srgbClr val="111827"/>
                    </a:solidFill>
                    <a:latin typeface="Arial"/>
                  </a:rPr>
                  <a:t> up to </a:t>
                </a:r>
                <a14:m>
                  <m:oMath xmlns:m="http://schemas.openxmlformats.org/officeDocument/2006/math">
                    <m:r>
                      <a:rPr lang="en-IN" sz="2400" i="1">
                        <a:solidFill>
                          <a:srgbClr val="111827"/>
                        </a:solidFill>
                        <a:latin typeface="Cambria Math" panose="02040503050406030204" pitchFamily="18" charset="0"/>
                      </a:rPr>
                      <m:t>𝑀</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inclusion-exclusion over the prime factors.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density of integers coprime to </a:t>
                </a:r>
                <a14:m>
                  <m:oMath xmlns:m="http://schemas.openxmlformats.org/officeDocument/2006/math">
                    <m:r>
                      <a:rPr lang="en-IN" sz="2400" i="1">
                        <a:solidFill>
                          <a:srgbClr val="111827"/>
                        </a:solidFill>
                        <a:latin typeface="Cambria Math" panose="02040503050406030204" pitchFamily="18" charset="0"/>
                      </a:rPr>
                      <m:t>15</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among even numbers coprime to </a:t>
                </a:r>
                <a14:m>
                  <m:oMath xmlns:m="http://schemas.openxmlformats.org/officeDocument/2006/math">
                    <m:r>
                      <a:rPr lang="en-IN" sz="2400" i="1">
                        <a:solidFill>
                          <a:srgbClr val="111827"/>
                        </a:solidFill>
                        <a:latin typeface="Cambria Math" panose="02040503050406030204" pitchFamily="18" charset="0"/>
                      </a:rPr>
                      <m:t>15</m:t>
                    </m:r>
                  </m:oMath>
                </a14:m>
                <a:r>
                  <a:rPr sz="2400" b="0">
                    <a:solidFill>
                      <a:srgbClr val="111827"/>
                    </a:solidFill>
                    <a:latin typeface="Arial"/>
                  </a:rPr>
                  <a:t> there are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per </a:t>
                </a:r>
                <a14:m>
                  <m:oMath xmlns:m="http://schemas.openxmlformats.org/officeDocument/2006/math">
                    <m:r>
                      <a:rPr lang="en-IN" sz="2400" i="1">
                        <a:solidFill>
                          <a:srgbClr val="111827"/>
                        </a:solidFill>
                        <a:latin typeface="Cambria Math" panose="02040503050406030204" pitchFamily="18" charset="0"/>
                      </a:rPr>
                      <m:t>30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$\gcd(n,N)=1$</a:t>
                </a:r>
                <a:r>
                  <a:rPr sz="2400" b="0">
                    <a:solidFill>
                      <a:srgbClr val="111827"/>
                    </a:solidFill>
                    <a:latin typeface="Arial"/>
                  </a:rPr>
                  <a:t> iff </a:t>
                </a:r>
                <a:r>
                  <a:rPr lang="en-IN" sz="2400">
                    <a:solidFill>
                      <a:srgbClr val="111827"/>
                    </a:solidFill>
                    <a:latin typeface="Cambria Math" panose="02040503050406030204" pitchFamily="18" charset="0"/>
                  </a:rPr>
                  <a:t>$n$</a:t>
                </a:r>
                <a:r>
                  <a:rPr sz="2400" b="0">
                    <a:solidFill>
                      <a:srgbClr val="111827"/>
                    </a:solidFill>
                    <a:latin typeface="Arial"/>
                  </a:rPr>
                  <a:t> shares no prime factor with </a:t>
                </a:r>
                <a:r>
                  <a:rPr lang="en-IN" sz="2400">
                    <a:solidFill>
                      <a:srgbClr val="111827"/>
                    </a:solidFill>
                    <a:latin typeface="Cambria Math" panose="02040503050406030204" pitchFamily="18" charset="0"/>
                  </a:rPr>
                  <a:t>$N$</a:t>
                </a:r>
                <a:r>
                  <a:rPr sz="2400" b="0">
                    <a:solidFill>
                      <a:srgbClr val="111827"/>
                    </a:solidFill>
                    <a:latin typeface="Arial"/>
                  </a:rPr>
                  <a:t>; for </a:t>
                </a:r>
                <a:r>
                  <a:rPr lang="en-IN" sz="2400">
                    <a:solidFill>
                      <a:srgbClr val="111827"/>
                    </a:solidFill>
                    <a:latin typeface="Cambria Math" panose="02040503050406030204" pitchFamily="18" charset="0"/>
                  </a:rPr>
                  <a:t>$N=45$</a:t>
                </a:r>
                <a:r>
                  <a:rPr sz="2400" b="0">
                    <a:solidFill>
                      <a:srgbClr val="111827"/>
                    </a:solidFill>
                    <a:latin typeface="Arial"/>
                  </a:rPr>
                  <a:t> this is '</a:t>
                </a:r>
                <a:r>
                  <a:rPr lang="en-IN" sz="2400">
                    <a:solidFill>
                      <a:srgbClr val="111827"/>
                    </a:solidFill>
                    <a:latin typeface="Cambria Math" panose="02040503050406030204" pitchFamily="18" charset="0"/>
                  </a:rPr>
                  <a:t>$3\nmid n$</a:t>
                </a:r>
                <a:r>
                  <a:rPr sz="2400" b="0">
                    <a:solidFill>
                      <a:srgbClr val="111827"/>
                    </a:solidFill>
                    <a:latin typeface="Arial"/>
                  </a:rPr>
                  <a:t> and </a:t>
                </a:r>
                <a:r>
                  <a:rPr lang="en-IN" sz="2400">
                    <a:solidFill>
                      <a:srgbClr val="111827"/>
                    </a:solidFill>
                    <a:latin typeface="Cambria Math" panose="02040503050406030204" pitchFamily="18" charset="0"/>
                  </a:rPr>
                  <a:t>$5\nmid 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of the multiples of </a:t>
                </a:r>
                <a:r>
                  <a:rPr lang="en-IN" sz="2400">
                    <a:solidFill>
                      <a:srgbClr val="111827"/>
                    </a:solidFill>
                    <a:latin typeface="Cambria Math" panose="02040503050406030204" pitchFamily="18" charset="0"/>
                  </a:rPr>
                  <a:t>$d$</a:t>
                </a:r>
                <a:r>
                  <a:rPr sz="2400" b="0">
                    <a:solidFill>
                      <a:srgbClr val="111827"/>
                    </a:solidFill>
                    <a:latin typeface="Arial"/>
                  </a:rPr>
                  <a:t> up to </a:t>
                </a:r>
                <a:r>
                  <a:rPr lang="en-IN" sz="2400">
                    <a:solidFill>
                      <a:srgbClr val="111827"/>
                    </a:solidFill>
                    <a:latin typeface="Cambria Math" panose="02040503050406030204" pitchFamily="18" charset="0"/>
                  </a:rPr>
                  <a:t>$M$</a:t>
                </a:r>
                <a:r>
                  <a:rPr sz="2400" b="0">
                    <a:solidFill>
                      <a:srgbClr val="111827"/>
                    </a:solidFill>
                    <a:latin typeface="Arial"/>
                  </a:rPr>
                  <a:t>: </a:t>
                </a:r>
                <a:r>
                  <a:rPr lang="en-IN" sz="2400">
                    <a:solidFill>
                      <a:srgbClr val="111827"/>
                    </a:solidFill>
                    <a:latin typeface="Cambria Math" panose="02040503050406030204" pitchFamily="18" charset="0"/>
                  </a:rPr>
                  <a:t>$d\cdot\frac{m(m+1)}{2}$</a:t>
                </a:r>
                <a:r>
                  <a:rPr sz="2400" b="0">
                    <a:solidFill>
                      <a:srgbClr val="111827"/>
                    </a:solidFill>
                    <a:latin typeface="Arial"/>
                  </a:rPr>
                  <a:t> with </a:t>
                </a:r>
                <a:r>
                  <a:rPr lang="en-IN" sz="2400">
                    <a:solidFill>
                      <a:srgbClr val="111827"/>
                    </a:solidFill>
                    <a:latin typeface="Cambria Math" panose="02040503050406030204" pitchFamily="18" charset="0"/>
                  </a:rPr>
                  <a:t>$m=\lfloor M/d\rfloor$</a:t>
                </a:r>
                <a:r>
                  <a:rPr sz="2400" b="0">
                    <a:solidFill>
                      <a:srgbClr val="111827"/>
                    </a:solidFill>
                    <a:latin typeface="Arial"/>
                  </a:rPr>
                  <a:t>; inclusion-exclusion over the prime factors.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density of integers coprime to </a:t>
                </a:r>
                <a:r>
                  <a:rPr lang="en-IN" sz="2400">
                    <a:solidFill>
                      <a:srgbClr val="111827"/>
                    </a:solidFill>
                    <a:latin typeface="Cambria Math" panose="02040503050406030204" pitchFamily="18" charset="0"/>
                  </a:rPr>
                  <a:t>$15$</a:t>
                </a:r>
                <a:r>
                  <a:rPr sz="2400" b="0">
                    <a:solidFill>
                      <a:srgbClr val="111827"/>
                    </a:solidFill>
                    <a:latin typeface="Arial"/>
                  </a:rPr>
                  <a:t> is </a:t>
                </a:r>
                <a:r>
                  <a:rPr lang="en-IN" sz="2400">
                    <a:solidFill>
                      <a:srgbClr val="111827"/>
                    </a:solidFill>
                    <a:latin typeface="Cambria Math" panose="02040503050406030204" pitchFamily="18" charset="0"/>
                  </a:rPr>
                  <a:t>$\varphi(15)/15=8/15$</a:t>
                </a:r>
                <a:r>
                  <a:rPr sz="2400" b="0">
                    <a:solidFill>
                      <a:srgbClr val="111827"/>
                    </a:solidFill>
                    <a:latin typeface="Arial"/>
                  </a:rPr>
                  <a:t>; among even numbers coprime to </a:t>
                </a:r>
                <a:r>
                  <a:rPr lang="en-IN" sz="2400">
                    <a:solidFill>
                      <a:srgbClr val="111827"/>
                    </a:solidFill>
                    <a:latin typeface="Cambria Math" panose="02040503050406030204" pitchFamily="18" charset="0"/>
                  </a:rPr>
                  <a:t>$15$</a:t>
                </a:r>
                <a:r>
                  <a:rPr sz="2400" b="0">
                    <a:solidFill>
                      <a:srgbClr val="111827"/>
                    </a:solidFill>
                    <a:latin typeface="Arial"/>
                  </a:rPr>
                  <a:t> there are </a:t>
                </a:r>
                <a:r>
                  <a:rPr lang="en-IN" sz="2400">
                    <a:solidFill>
                      <a:srgbClr val="111827"/>
                    </a:solidFill>
                    <a:latin typeface="Cambria Math" panose="02040503050406030204" pitchFamily="18" charset="0"/>
                  </a:rPr>
                  <a:t>$8$</a:t>
                </a:r>
                <a:r>
                  <a:rPr sz="2400" b="0">
                    <a:solidFill>
                      <a:srgbClr val="111827"/>
                    </a:solidFill>
                    <a:latin typeface="Arial"/>
                  </a:rPr>
                  <a:t> per </a:t>
                </a:r>
                <a:r>
                  <a:rPr lang="en-IN" sz="2400">
                    <a:solidFill>
                      <a:srgbClr val="111827"/>
                    </a:solidFill>
                    <a:latin typeface="Cambria Math" panose="02040503050406030204" pitchFamily="18" charset="0"/>
                  </a:rPr>
                  <a:t>$30$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be relations on the set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such that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nor/>
                      </m:rPr>
                      <a:rPr lang="en-IN" sz="2400" i="1">
                        <a:solidFill>
                          <a:srgbClr val="111827"/>
                        </a:solidFill>
                        <a:latin typeface="Cambria Math" panose="02040503050406030204" pitchFamily="18" charset="0"/>
                      </a:rPr>
                      <m:t> 𝑖𝑠 𝑎 𝑝𝑟𝑖𝑚𝑒 𝑎𝑛𝑑 </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nor/>
                      </m:rPr>
                      <a:rPr lang="en-IN" sz="2400" i="1">
                        <a:solidFill>
                          <a:srgbClr val="111827"/>
                        </a:solidFill>
                        <a:latin typeface="Cambria Math" panose="02040503050406030204" pitchFamily="18" charset="0"/>
                      </a:rPr>
                      <m:t> 𝑖𝑠 𝑎𝑛 𝑖𝑛𝑡𝑒𝑔𝑒𝑟</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nor/>
                      </m:rPr>
                      <a:rPr lang="en-IN" sz="2400" i="1">
                        <a:solidFill>
                          <a:srgbClr val="111827"/>
                        </a:solidFill>
                        <a:latin typeface="Cambria Math" panose="02040503050406030204" pitchFamily="18" charset="0"/>
                      </a:rPr>
                      <m:t> 𝑖𝑠 𝑎 𝑝𝑟𝑖𝑚𝑒 𝑎𝑛𝑑 </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nor/>
                      </m:rPr>
                      <a:rPr lang="en-IN" sz="2400" i="1">
                        <a:solidFill>
                          <a:srgbClr val="111827"/>
                        </a:solidFill>
                        <a:latin typeface="Cambria Math" panose="02040503050406030204" pitchFamily="18" charset="0"/>
                      </a:rPr>
                      <m:t> 𝑜𝑟 </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the number of elements in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is ________.</a:t>
                </a:r>
                <a:endParaRPr sz="2400">
                  <a:solidFill>
                    <a:srgbClr val="111827"/>
                  </a:solidFill>
                </a:endParaRPr>
              </a:p>
            </p:txBody>
          </p:sp>
        </mc:Choice>
        <mc:Fallback>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$R_1$</a:t>
                </a:r>
                <a:r>
                  <a:rPr sz="2400" b="0">
                    <a:solidFill>
                      <a:srgbClr val="111827"/>
                    </a:solidFill>
                    <a:latin typeface="Arial"/>
                  </a:rPr>
                  <a:t> and </a:t>
                </a:r>
                <a:r>
                  <a:rPr lang="en-IN" sz="2400">
                    <a:solidFill>
                      <a:srgbClr val="111827"/>
                    </a:solidFill>
                    <a:latin typeface="Cambria Math" panose="02040503050406030204" pitchFamily="18" charset="0"/>
                  </a:rPr>
                  <a:t>$R_2$</a:t>
                </a:r>
                <a:r>
                  <a:rPr sz="2400" b="0">
                    <a:solidFill>
                      <a:srgbClr val="111827"/>
                    </a:solidFill>
                    <a:latin typeface="Arial"/>
                  </a:rPr>
                  <a:t> be relations on the set </a:t>
                </a:r>
                <a:r>
                  <a:rPr lang="en-IN" sz="2400">
                    <a:solidFill>
                      <a:srgbClr val="111827"/>
                    </a:solidFill>
                    <a:latin typeface="Cambria Math" panose="02040503050406030204" pitchFamily="18" charset="0"/>
                  </a:rPr>
                  <a:t>$\{1,2,\dots,50\}$</a:t>
                </a:r>
                <a:r>
                  <a:rPr sz="2400" b="0">
                    <a:solidFill>
                      <a:srgbClr val="111827"/>
                    </a:solidFill>
                    <a:latin typeface="Arial"/>
                  </a:rPr>
                  <a:t> such that </a:t>
                </a:r>
                <a:r>
                  <a:rPr lang="en-IN" sz="2400">
                    <a:solidFill>
                      <a:srgbClr val="111827"/>
                    </a:solidFill>
                    <a:latin typeface="Cambria Math" panose="02040503050406030204" pitchFamily="18" charset="0"/>
                  </a:rPr>
                  <a:t>$R_1=\{(p,p^n):p \text{ is a prime and } n\ge0 \text{ is an integer}\}$</a:t>
                </a:r>
                <a:r>
                  <a:rPr sz="2400" b="0">
                    <a:solidFill>
                      <a:srgbClr val="111827"/>
                    </a:solidFill>
                    <a:latin typeface="Arial"/>
                  </a:rPr>
                  <a:t> and </a:t>
                </a:r>
                <a:r>
                  <a:rPr lang="en-IN" sz="2400">
                    <a:solidFill>
                      <a:srgbClr val="111827"/>
                    </a:solidFill>
                    <a:latin typeface="Cambria Math" panose="02040503050406030204" pitchFamily="18" charset="0"/>
                  </a:rPr>
                  <a:t>$R_2=\{(p,p^n):p \text{ is a prime and } n=0 \text{ or } 1\}$</a:t>
                </a:r>
                <a:r>
                  <a:rPr sz="2400" b="0">
                    <a:solidFill>
                      <a:srgbClr val="111827"/>
                    </a:solidFill>
                    <a:latin typeface="Arial"/>
                  </a:rPr>
                  <a:t>. Then the number of elements in </a:t>
                </a:r>
                <a:r>
                  <a:rPr lang="en-IN" sz="2400">
                    <a:solidFill>
                      <a:srgbClr val="111827"/>
                    </a:solidFill>
                    <a:latin typeface="Cambria Math" panose="02040503050406030204" pitchFamily="18" charset="0"/>
                  </a:rPr>
                  <a:t>$R_1-R_2$</a:t>
                </a:r>
                <a:r>
                  <a:rPr sz="2400" b="0">
                    <a:solidFill>
                      <a:srgbClr val="111827"/>
                    </a:solidFill>
                    <a:latin typeface="Arial"/>
                  </a:rPr>
                  <a:t> is ________.</a:t>
                </a:r>
                <a:endParaRPr sz="2400">
                  <a:solidFill>
                    <a:srgbClr val="111827"/>
                  </a:solidFill>
                </a:endParaRPr>
              </a:p>
            </p:txBody>
          </p:sp>
        </mc:Fallback>
      </mc:AlternateContent>
      <p:sp>
        <p:nvSpPr>
          <p:cNvPr id="5" name="Rectangle 4"/>
          <p:cNvSpPr/>
          <p:nvPr/>
        </p:nvSpPr>
        <p:spPr>
          <a:xfrm>
            <a:off x="731520" y="3888739"/>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Number of elements of a relation, Prime numbers and powers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sSub>
                      <m:e>
                        <m:r>
                          <a:rPr lang="en-IN" sz="2400" i="1">
                            <a:solidFill>
                              <a:srgbClr val="78350F"/>
                            </a:solidFill>
                            <a:latin typeface="Cambria Math" panose="02040503050406030204" pitchFamily="18" charset="0"/>
                          </a:rPr>
                          <m:t>𝑅</m:t>
                        </m:r>
                      </m:e>
                      <m:sub>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𝑅</m:t>
                        </m:r>
                      </m:e>
                      <m:sub>
                        <m:r>
                          <a:rPr lang="en-IN" sz="2400" i="1">
                            <a:solidFill>
                              <a:srgbClr val="78350F"/>
                            </a:solidFill>
                            <a:latin typeface="Cambria Math" panose="02040503050406030204" pitchFamily="18" charset="0"/>
                          </a:rPr>
                          <m:t>2</m:t>
                        </m:r>
                      </m:sub>
                    </m:sSub>
                  </m:oMath>
                </a14:m>
                <a:r>
                  <a:rPr sz="2400" b="0">
                    <a:solidFill>
                      <a:srgbClr val="78350F"/>
                    </a:solidFill>
                    <a:latin typeface="Arial"/>
                  </a:rPr>
                  <a:t> is exactly the set of pairs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𝑝</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𝑝</m:t>
                        </m:r>
                      </m:e>
                      <m:sup>
                        <m:r>
                          <a:rPr lang="en-IN" sz="2400" i="1">
                            <a:solidFill>
                              <a:srgbClr val="78350F"/>
                            </a:solidFill>
                            <a:latin typeface="Cambria Math" panose="02040503050406030204" pitchFamily="18" charset="0"/>
                          </a:rPr>
                          <m:t>𝑛</m:t>
                        </m:r>
                      </m:sup>
                    </m:sSup>
                    <m:r>
                      <m:rPr>
                        <m:sty m:val="p"/>
                      </m:rPr>
                      <a:rPr lang="en-IN" sz="2400">
                        <a:solidFill>
                          <a:srgbClr val="78350F"/>
                        </a:solidFill>
                        <a:latin typeface="Cambria Math" panose="02040503050406030204" pitchFamily="18" charset="0"/>
                      </a:rPr>
                      <m:t>)</m:t>
                    </m:r>
                  </m:oMath>
                </a14:m>
                <a:r>
                  <a:rPr sz="2400" b="0">
                    <a:solidFill>
                      <a:srgbClr val="78350F"/>
                    </a:solidFill>
                    <a:latin typeface="Arial"/>
                  </a:rPr>
                  <a:t> with </a:t>
                </a:r>
                <a14:m>
                  <m:oMath xmlns:m="http://schemas.openxmlformats.org/officeDocument/2006/math">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 and </a:t>
                </a:r>
                <a14:m>
                  <m:oMath xmlns:m="http://schemas.openxmlformats.org/officeDocument/2006/math">
                    <m:sSup>
                      <m:e>
                        <m:r>
                          <a:rPr lang="en-IN" sz="2400" i="1">
                            <a:solidFill>
                              <a:srgbClr val="78350F"/>
                            </a:solidFill>
                            <a:latin typeface="Cambria Math" panose="02040503050406030204" pitchFamily="18" charset="0"/>
                          </a:rPr>
                          <m:t>𝑝</m:t>
                        </m:r>
                      </m:e>
                      <m:sup>
                        <m:r>
                          <a:rPr lang="en-IN" sz="2400" i="1">
                            <a:solidFill>
                              <a:srgbClr val="78350F"/>
                            </a:solidFill>
                            <a:latin typeface="Cambria Math" panose="02040503050406030204" pitchFamily="18" charset="0"/>
                          </a:rPr>
                          <m:t>𝑛</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50</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$R_1-R_2$</a:t>
                </a:r>
                <a:r>
                  <a:rPr sz="2400" b="0">
                    <a:solidFill>
                      <a:srgbClr val="78350F"/>
                    </a:solidFill>
                    <a:latin typeface="Arial"/>
                  </a:rPr>
                  <a:t> is exactly the set of pairs </a:t>
                </a:r>
                <a:r>
                  <a:rPr lang="en-IN" sz="2400">
                    <a:solidFill>
                      <a:srgbClr val="78350F"/>
                    </a:solidFill>
                    <a:latin typeface="Cambria Math" panose="02040503050406030204" pitchFamily="18" charset="0"/>
                  </a:rPr>
                  <a:t>$(p,p^n)$</a:t>
                </a:r>
                <a:r>
                  <a:rPr sz="2400" b="0">
                    <a:solidFill>
                      <a:srgbClr val="78350F"/>
                    </a:solidFill>
                    <a:latin typeface="Arial"/>
                  </a:rPr>
                  <a:t> with </a:t>
                </a:r>
                <a:r>
                  <a:rPr lang="en-IN" sz="2400">
                    <a:solidFill>
                      <a:srgbClr val="78350F"/>
                    </a:solidFill>
                    <a:latin typeface="Cambria Math" panose="02040503050406030204" pitchFamily="18" charset="0"/>
                  </a:rPr>
                  <a:t>$n\ge2$</a:t>
                </a:r>
                <a:r>
                  <a:rPr sz="2400" b="0">
                    <a:solidFill>
                      <a:srgbClr val="78350F"/>
                    </a:solidFill>
                    <a:latin typeface="Arial"/>
                  </a:rPr>
                  <a:t> and </a:t>
                </a:r>
                <a:r>
                  <a:rPr lang="en-IN" sz="2400">
                    <a:solidFill>
                      <a:srgbClr val="78350F"/>
                    </a:solidFill>
                    <a:latin typeface="Cambria Math" panose="02040503050406030204" pitchFamily="18" charset="0"/>
                  </a:rPr>
                  <a:t>$p^n\le50$</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Both coordinates must lie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oMath>
                </a14:m>
                <a:r>
                  <a:rPr sz="2400" b="0">
                    <a:solidFill>
                      <a:srgbClr val="111827"/>
                    </a:solidFill>
                    <a:latin typeface="Arial"/>
                  </a:rPr>
                  <a:t>. The primes up to </a:t>
                </a:r>
                <a14:m>
                  <m:oMath xmlns:m="http://schemas.openxmlformats.org/officeDocument/2006/math">
                    <m:r>
                      <a:rPr lang="en-IN" sz="2400" i="1">
                        <a:solidFill>
                          <a:srgbClr val="111827"/>
                        </a:solidFill>
                        <a:latin typeface="Cambria Math" panose="02040503050406030204" pitchFamily="18" charset="0"/>
                      </a:rPr>
                      <m:t>50</m:t>
                    </m:r>
                  </m:oMath>
                </a14:m>
                <a:r>
                  <a:rPr sz="2400" b="0">
                    <a:solidFill>
                      <a:srgbClr val="111827"/>
                    </a:solidFill>
                    <a:latin typeface="Arial"/>
                  </a:rPr>
                  <a:t> are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47</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15</m:t>
                    </m:r>
                  </m:oMath>
                </a14:m>
                <a:r>
                  <a:rPr sz="2400" b="0">
                    <a:solidFill>
                      <a:srgbClr val="111827"/>
                    </a:solidFill>
                    <a:latin typeface="Arial"/>
                  </a:rPr>
                  <a:t> primes.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pairs;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Each of the other </a:t>
                </a:r>
                <a14:m>
                  <m:oMath xmlns:m="http://schemas.openxmlformats.org/officeDocument/2006/math">
                    <m:r>
                      <a:rPr lang="en-IN" sz="2400" i="1">
                        <a:solidFill>
                          <a:srgbClr val="111827"/>
                        </a:solidFill>
                        <a:latin typeface="Cambria Math" panose="02040503050406030204" pitchFamily="18" charset="0"/>
                      </a:rPr>
                      <m:t>11</m:t>
                    </m:r>
                  </m:oMath>
                </a14:m>
                <a:r>
                  <a:rPr sz="2400" b="0">
                    <a:solidFill>
                      <a:srgbClr val="111827"/>
                    </a:solidFill>
                    <a:latin typeface="Arial"/>
                  </a:rPr>
                  <a:t> primes (</a:t>
                </a:r>
                <a14:m>
                  <m:oMath xmlns:m="http://schemas.openxmlformats.org/officeDocument/2006/math">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47</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pairs. So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38</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Both coordinates must lie in </a:t>
                </a:r>
                <a:r>
                  <a:rPr lang="en-IN" sz="2400">
                    <a:solidFill>
                      <a:srgbClr val="111827"/>
                    </a:solidFill>
                    <a:latin typeface="Cambria Math" panose="02040503050406030204" pitchFamily="18" charset="0"/>
                  </a:rPr>
                  <a:t>$\{1,\dots,50\}$</a:t>
                </a:r>
                <a:r>
                  <a:rPr sz="2400" b="0">
                    <a:solidFill>
                      <a:srgbClr val="111827"/>
                    </a:solidFill>
                    <a:latin typeface="Arial"/>
                  </a:rPr>
                  <a:t>, so </a:t>
                </a:r>
                <a:r>
                  <a:rPr lang="en-IN" sz="2400">
                    <a:solidFill>
                      <a:srgbClr val="111827"/>
                    </a:solidFill>
                    <a:latin typeface="Cambria Math" panose="02040503050406030204" pitchFamily="18" charset="0"/>
                  </a:rPr>
                  <a:t>$p\le50$</a:t>
                </a:r>
                <a:r>
                  <a:rPr sz="2400" b="0">
                    <a:solidFill>
                      <a:srgbClr val="111827"/>
                    </a:solidFill>
                    <a:latin typeface="Arial"/>
                  </a:rPr>
                  <a:t> and </a:t>
                </a:r>
                <a:r>
                  <a:rPr lang="en-IN" sz="2400">
                    <a:solidFill>
                      <a:srgbClr val="111827"/>
                    </a:solidFill>
                    <a:latin typeface="Cambria Math" panose="02040503050406030204" pitchFamily="18" charset="0"/>
                  </a:rPr>
                  <a:t>$p^n\le50$</a:t>
                </a:r>
                <a:r>
                  <a:rPr sz="2400" b="0">
                    <a:solidFill>
                      <a:srgbClr val="111827"/>
                    </a:solidFill>
                    <a:latin typeface="Arial"/>
                  </a:rPr>
                  <a:t>. The primes up to </a:t>
                </a:r>
                <a:r>
                  <a:rPr lang="en-IN" sz="2400">
                    <a:solidFill>
                      <a:srgbClr val="111827"/>
                    </a:solidFill>
                    <a:latin typeface="Cambria Math" panose="02040503050406030204" pitchFamily="18" charset="0"/>
                  </a:rPr>
                  <a:t>$50$</a:t>
                </a:r>
                <a:r>
                  <a:rPr sz="2400" b="0">
                    <a:solidFill>
                      <a:srgbClr val="111827"/>
                    </a:solidFill>
                    <a:latin typeface="Arial"/>
                  </a:rPr>
                  <a:t> are </a:t>
                </a:r>
                <a:r>
                  <a:rPr lang="en-IN" sz="2400">
                    <a:solidFill>
                      <a:srgbClr val="111827"/>
                    </a:solidFill>
                    <a:latin typeface="Cambria Math" panose="02040503050406030204" pitchFamily="18" charset="0"/>
                  </a:rPr>
                  <a:t>$2,3,5,7,11,13,17,19,23,29,31,37,41,43,47$</a:t>
                </a:r>
                <a:r>
                  <a:rPr sz="2400" b="0">
                    <a:solidFill>
                      <a:srgbClr val="111827"/>
                    </a:solidFill>
                    <a:latin typeface="Arial"/>
                  </a:rPr>
                  <a:t>: </a:t>
                </a:r>
                <a:r>
                  <a:rPr lang="en-IN" sz="2400">
                    <a:solidFill>
                      <a:srgbClr val="111827"/>
                    </a:solidFill>
                    <a:latin typeface="Cambria Math" panose="02040503050406030204" pitchFamily="18" charset="0"/>
                  </a:rPr>
                  <a:t>$15$</a:t>
                </a:r>
                <a:r>
                  <a:rPr sz="2400" b="0">
                    <a:solidFill>
                      <a:srgbClr val="111827"/>
                    </a:solidFill>
                    <a:latin typeface="Arial"/>
                  </a:rPr>
                  <a:t> primes.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$R_1$</a:t>
                </a:r>
                <a:r>
                  <a:rPr sz="2400" b="0">
                    <a:solidFill>
                      <a:srgbClr val="111827"/>
                    </a:solidFill>
                    <a:latin typeface="Arial"/>
                  </a:rPr>
                  <a:t>: </a:t>
                </a:r>
                <a:r>
                  <a:rPr lang="en-IN" sz="2400">
                    <a:solidFill>
                      <a:srgbClr val="111827"/>
                    </a:solidFill>
                    <a:latin typeface="Cambria Math" panose="02040503050406030204" pitchFamily="18" charset="0"/>
                  </a:rPr>
                  <a:t>$p=2$</a:t>
                </a:r>
                <a:r>
                  <a:rPr sz="2400" b="0">
                    <a:solidFill>
                      <a:srgbClr val="111827"/>
                    </a:solidFill>
                    <a:latin typeface="Arial"/>
                  </a:rPr>
                  <a:t>: </a:t>
                </a:r>
                <a:r>
                  <a:rPr lang="en-IN" sz="2400">
                    <a:solidFill>
                      <a:srgbClr val="111827"/>
                    </a:solidFill>
                    <a:latin typeface="Cambria Math" panose="02040503050406030204" pitchFamily="18" charset="0"/>
                  </a:rPr>
                  <a:t>$n=0,\dots,5$</a:t>
                </a:r>
                <a:r>
                  <a:rPr sz="2400" b="0">
                    <a:solidFill>
                      <a:srgbClr val="111827"/>
                    </a:solidFill>
                    <a:latin typeface="Arial"/>
                  </a:rPr>
                  <a:t> gives </a:t>
                </a:r>
                <a:r>
                  <a:rPr lang="en-IN" sz="2400">
                    <a:solidFill>
                      <a:srgbClr val="111827"/>
                    </a:solidFill>
                    <a:latin typeface="Cambria Math" panose="02040503050406030204" pitchFamily="18" charset="0"/>
                  </a:rPr>
                  <a:t>$6$</a:t>
                </a:r>
                <a:r>
                  <a:rPr sz="2400" b="0">
                    <a:solidFill>
                      <a:srgbClr val="111827"/>
                    </a:solidFill>
                    <a:latin typeface="Arial"/>
                  </a:rPr>
                  <a:t> pairs; </a:t>
                </a:r>
                <a:r>
                  <a:rPr lang="en-IN" sz="2400">
                    <a:solidFill>
                      <a:srgbClr val="111827"/>
                    </a:solidFill>
                    <a:latin typeface="Cambria Math" panose="02040503050406030204" pitchFamily="18" charset="0"/>
                  </a:rPr>
                  <a:t>$p=3$</a:t>
                </a:r>
                <a:r>
                  <a:rPr sz="2400" b="0">
                    <a:solidFill>
                      <a:srgbClr val="111827"/>
                    </a:solidFill>
                    <a:latin typeface="Arial"/>
                  </a:rPr>
                  <a:t>: </a:t>
                </a:r>
                <a:r>
                  <a:rPr lang="en-IN" sz="2400">
                    <a:solidFill>
                      <a:srgbClr val="111827"/>
                    </a:solidFill>
                    <a:latin typeface="Cambria Math" panose="02040503050406030204" pitchFamily="18" charset="0"/>
                  </a:rPr>
                  <a:t>$n=0,\dots,3$</a:t>
                </a:r>
                <a:r>
                  <a:rPr sz="2400" b="0">
                    <a:solidFill>
                      <a:srgbClr val="111827"/>
                    </a:solidFill>
                    <a:latin typeface="Arial"/>
                  </a:rPr>
                  <a:t> gives </a:t>
                </a:r>
                <a:r>
                  <a:rPr lang="en-IN" sz="2400">
                    <a:solidFill>
                      <a:srgbClr val="111827"/>
                    </a:solidFill>
                    <a:latin typeface="Cambria Math" panose="02040503050406030204" pitchFamily="18" charset="0"/>
                  </a:rPr>
                  <a:t>$4$</a:t>
                </a:r>
                <a:r>
                  <a:rPr sz="2400" b="0">
                    <a:solidFill>
                      <a:srgbClr val="111827"/>
                    </a:solidFill>
                    <a:latin typeface="Arial"/>
                  </a:rPr>
                  <a:t>; </a:t>
                </a:r>
                <a:r>
                  <a:rPr lang="en-IN" sz="2400">
                    <a:solidFill>
                      <a:srgbClr val="111827"/>
                    </a:solidFill>
                    <a:latin typeface="Cambria Math" panose="02040503050406030204" pitchFamily="18" charset="0"/>
                  </a:rPr>
                  <a:t>$p=5$</a:t>
                </a:r>
                <a:r>
                  <a:rPr sz="2400" b="0">
                    <a:solidFill>
                      <a:srgbClr val="111827"/>
                    </a:solidFill>
                    <a:latin typeface="Arial"/>
                  </a:rPr>
                  <a:t>: </a:t>
                </a:r>
                <a:r>
                  <a:rPr lang="en-IN" sz="2400">
                    <a:solidFill>
                      <a:srgbClr val="111827"/>
                    </a:solidFill>
                    <a:latin typeface="Cambria Math" panose="02040503050406030204" pitchFamily="18" charset="0"/>
                  </a:rPr>
                  <a:t>$n=0,1,2$</a:t>
                </a:r>
                <a:r>
                  <a:rPr sz="2400" b="0">
                    <a:solidFill>
                      <a:srgbClr val="111827"/>
                    </a:solidFill>
                    <a:latin typeface="Arial"/>
                  </a:rPr>
                  <a:t> gives </a:t>
                </a:r>
                <a:r>
                  <a:rPr lang="en-IN" sz="2400">
                    <a:solidFill>
                      <a:srgbClr val="111827"/>
                    </a:solidFill>
                    <a:latin typeface="Cambria Math" panose="02040503050406030204" pitchFamily="18" charset="0"/>
                  </a:rPr>
                  <a:t>$3$</a:t>
                </a:r>
                <a:r>
                  <a:rPr sz="2400" b="0">
                    <a:solidFill>
                      <a:srgbClr val="111827"/>
                    </a:solidFill>
                    <a:latin typeface="Arial"/>
                  </a:rPr>
                  <a:t>; </a:t>
                </a:r>
                <a:r>
                  <a:rPr lang="en-IN" sz="2400">
                    <a:solidFill>
                      <a:srgbClr val="111827"/>
                    </a:solidFill>
                    <a:latin typeface="Cambria Math" panose="02040503050406030204" pitchFamily="18" charset="0"/>
                  </a:rPr>
                  <a:t>$p=7$</a:t>
                </a:r>
                <a:r>
                  <a:rPr sz="2400" b="0">
                    <a:solidFill>
                      <a:srgbClr val="111827"/>
                    </a:solidFill>
                    <a:latin typeface="Arial"/>
                  </a:rPr>
                  <a:t>: </a:t>
                </a:r>
                <a:r>
                  <a:rPr lang="en-IN" sz="2400">
                    <a:solidFill>
                      <a:srgbClr val="111827"/>
                    </a:solidFill>
                    <a:latin typeface="Cambria Math" panose="02040503050406030204" pitchFamily="18" charset="0"/>
                  </a:rPr>
                  <a:t>$n=0,1,2$</a:t>
                </a:r>
                <a:r>
                  <a:rPr sz="2400" b="0">
                    <a:solidFill>
                      <a:srgbClr val="111827"/>
                    </a:solidFill>
                    <a:latin typeface="Arial"/>
                  </a:rPr>
                  <a:t> gives </a:t>
                </a:r>
                <a:r>
                  <a:rPr lang="en-IN" sz="2400">
                    <a:solidFill>
                      <a:srgbClr val="111827"/>
                    </a:solidFill>
                    <a:latin typeface="Cambria Math" panose="02040503050406030204" pitchFamily="18" charset="0"/>
                  </a:rPr>
                  <a: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Each of the other </a:t>
                </a:r>
                <a:r>
                  <a:rPr lang="en-IN" sz="2400">
                    <a:solidFill>
                      <a:srgbClr val="111827"/>
                    </a:solidFill>
                    <a:latin typeface="Cambria Math" panose="02040503050406030204" pitchFamily="18" charset="0"/>
                  </a:rPr>
                  <a:t>$11$</a:t>
                </a:r>
                <a:r>
                  <a:rPr sz="2400" b="0">
                    <a:solidFill>
                      <a:srgbClr val="111827"/>
                    </a:solidFill>
                    <a:latin typeface="Arial"/>
                  </a:rPr>
                  <a:t> primes (</a:t>
                </a:r>
                <a:r>
                  <a:rPr lang="en-IN" sz="2400">
                    <a:solidFill>
                      <a:srgbClr val="111827"/>
                    </a:solidFill>
                    <a:latin typeface="Cambria Math" panose="02040503050406030204" pitchFamily="18" charset="0"/>
                  </a:rPr>
                  <a:t>$11,\dots,47$</a:t>
                </a:r>
                <a:r>
                  <a:rPr sz="2400" b="0">
                    <a:solidFill>
                      <a:srgbClr val="111827"/>
                    </a:solidFill>
                    <a:latin typeface="Arial"/>
                  </a:rPr>
                  <a:t>) gives </a:t>
                </a:r>
                <a:r>
                  <a:rPr lang="en-IN" sz="2400">
                    <a:solidFill>
                      <a:srgbClr val="111827"/>
                    </a:solidFill>
                    <a:latin typeface="Cambria Math" panose="02040503050406030204" pitchFamily="18" charset="0"/>
                  </a:rPr>
                  <a:t>$n=0,1$</a:t>
                </a:r>
                <a:r>
                  <a:rPr sz="2400" b="0">
                    <a:solidFill>
                      <a:srgbClr val="111827"/>
                    </a:solidFill>
                    <a:latin typeface="Arial"/>
                  </a:rPr>
                  <a:t>: </a:t>
                </a:r>
                <a:r>
                  <a:rPr lang="en-IN" sz="2400">
                    <a:solidFill>
                      <a:srgbClr val="111827"/>
                    </a:solidFill>
                    <a:latin typeface="Cambria Math" panose="02040503050406030204" pitchFamily="18" charset="0"/>
                  </a:rPr>
                  <a:t>$2$</a:t>
                </a:r>
                <a:r>
                  <a:rPr sz="2400" b="0">
                    <a:solidFill>
                      <a:srgbClr val="111827"/>
                    </a:solidFill>
                    <a:latin typeface="Arial"/>
                  </a:rPr>
                  <a:t> pairs. So </a:t>
                </a:r>
                <a:r>
                  <a:rPr lang="en-IN" sz="2400">
                    <a:solidFill>
                      <a:srgbClr val="111827"/>
                    </a:solidFill>
                    <a:latin typeface="Cambria Math" panose="02040503050406030204" pitchFamily="18" charset="0"/>
                  </a:rPr>
                  <a:t>$n(R_1)=6+4+3+3+2\cdot11=38$</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every prime gives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$R_2$</a:t>
                </a:r>
                <a:r>
                  <a:rPr sz="2400" b="0">
                    <a:solidFill>
                      <a:srgbClr val="111827"/>
                    </a:solidFill>
                    <a:latin typeface="Arial"/>
                  </a:rPr>
                  <a:t>: every prime gives </a:t>
                </a:r>
                <a:r>
                  <a:rPr lang="en-IN" sz="2400">
                    <a:solidFill>
                      <a:srgbClr val="111827"/>
                    </a:solidFill>
                    <a:latin typeface="Cambria Math" panose="02040503050406030204" pitchFamily="18" charset="0"/>
                  </a:rPr>
                  <a:t>$n=0$</a:t>
                </a:r>
                <a:r>
                  <a:rPr sz="2400" b="0">
                    <a:solidFill>
                      <a:srgbClr val="111827"/>
                    </a:solidFill>
                    <a:latin typeface="Arial"/>
                  </a:rPr>
                  <a:t> and </a:t>
                </a:r>
                <a:r>
                  <a:rPr lang="en-IN" sz="2400">
                    <a:solidFill>
                      <a:srgbClr val="111827"/>
                    </a:solidFill>
                    <a:latin typeface="Cambria Math" panose="02040503050406030204" pitchFamily="18" charset="0"/>
                  </a:rPr>
                  <a:t>$n=1$</a:t>
                </a:r>
                <a:r>
                  <a:rPr sz="2400" b="0">
                    <a:solidFill>
                      <a:srgbClr val="111827"/>
                    </a:solidFill>
                    <a:latin typeface="Arial"/>
                  </a:rPr>
                  <a:t>: </a:t>
                </a:r>
                <a:r>
                  <a:rPr lang="en-IN" sz="2400">
                    <a:solidFill>
                      <a:srgbClr val="111827"/>
                    </a:solidFill>
                    <a:latin typeface="Cambria Math" panose="02040503050406030204" pitchFamily="18" charset="0"/>
                  </a:rPr>
                  <a:t>$n(R_2)=2\cdot15=30$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$R_2\subseteq R_1$</a:t>
                </a:r>
                <a:r>
                  <a:rPr sz="2400" b="0">
                    <a:solidFill>
                      <a:srgbClr val="111827"/>
                    </a:solidFill>
                    <a:latin typeface="Arial"/>
                  </a:rPr>
                  <a:t>, so </a:t>
                </a:r>
                <a:r>
                  <a:rPr lang="en-IN" sz="2400">
                    <a:solidFill>
                      <a:srgbClr val="111827"/>
                    </a:solidFill>
                    <a:latin typeface="Cambria Math" panose="02040503050406030204" pitchFamily="18" charset="0"/>
                  </a:rPr>
                  <a:t>$n(R_1-R_2)=38-30=8$</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8</a:t>
            </a:r>
            <a:endParaRPr sz="2800">
              <a:solidFill>
                <a:srgbClr val="15803D"/>
              </a:solidFill>
            </a:endParaRP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Count the difference directly: it consists of the pairs with </a:t>
                </a:r>
                <a14:m>
                  <m:oMath xmlns:m="http://schemas.openxmlformats.org/officeDocument/2006/math">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 i.e. the prime powers </a:t>
                </a:r>
                <a14:m>
                  <m:oMath xmlns:m="http://schemas.openxmlformats.org/officeDocument/2006/math">
                    <m:sSup>
                      <m:e>
                        <m:r>
                          <a:rPr lang="en-IN" sz="2400" i="1">
                            <a:solidFill>
                              <a:srgbClr val="78350F"/>
                            </a:solidFill>
                            <a:latin typeface="Cambria Math" panose="02040503050406030204" pitchFamily="18" charset="0"/>
                          </a:rPr>
                          <m:t>𝑝</m:t>
                        </m:r>
                      </m:e>
                      <m:sup>
                        <m:r>
                          <a:rPr lang="en-IN" sz="2400" i="1">
                            <a:solidFill>
                              <a:srgbClr val="78350F"/>
                            </a:solidFill>
                            <a:latin typeface="Cambria Math" panose="02040503050406030204" pitchFamily="18" charset="0"/>
                          </a:rPr>
                          <m:t>𝑛</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50</m:t>
                    </m:r>
                  </m:oMath>
                </a14:m>
                <a:r>
                  <a:rPr sz="2400" b="0">
                    <a:solidFill>
                      <a:srgbClr val="78350F"/>
                    </a:solidFill>
                    <a:latin typeface="Arial"/>
                  </a:rPr>
                  <a:t> with </a:t>
                </a:r>
                <a14:m>
                  <m:oMath xmlns:m="http://schemas.openxmlformats.org/officeDocument/2006/math">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Count the difference directly: it consists of the pairs with </a:t>
                </a:r>
                <a:r>
                  <a:rPr lang="en-IN" sz="2400">
                    <a:solidFill>
                      <a:srgbClr val="78350F"/>
                    </a:solidFill>
                    <a:latin typeface="Cambria Math" panose="02040503050406030204" pitchFamily="18" charset="0"/>
                  </a:rPr>
                  <a:t>$n\ge2$</a:t>
                </a:r>
                <a:r>
                  <a:rPr sz="2400" b="0">
                    <a:solidFill>
                      <a:srgbClr val="78350F"/>
                    </a:solidFill>
                    <a:latin typeface="Arial"/>
                  </a:rPr>
                  <a:t>, i.e. the prime powers </a:t>
                </a:r>
                <a:r>
                  <a:rPr lang="en-IN" sz="2400">
                    <a:solidFill>
                      <a:srgbClr val="78350F"/>
                    </a:solidFill>
                    <a:latin typeface="Cambria Math" panose="02040503050406030204" pitchFamily="18" charset="0"/>
                  </a:rPr>
                  <a:t>$p^n\le50$</a:t>
                </a:r>
                <a:r>
                  <a:rPr sz="2400" b="0">
                    <a:solidFill>
                      <a:srgbClr val="78350F"/>
                    </a:solidFill>
                    <a:latin typeface="Arial"/>
                  </a:rPr>
                  <a:t> with </a:t>
                </a:r>
                <a:r>
                  <a:rPr lang="en-IN" sz="2400">
                    <a:solidFill>
                      <a:srgbClr val="78350F"/>
                    </a:solidFill>
                    <a:latin typeface="Cambria Math" panose="02040503050406030204" pitchFamily="18" charset="0"/>
                  </a:rPr>
                  <a:t>$n\ge2$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iff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pairs.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pairs.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pair.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49</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pair.</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 has </a:t>
                </a:r>
                <a14:m>
                  <m:oMath xmlns:m="http://schemas.openxmlformats.org/officeDocument/2006/math">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121</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50</m:t>
                    </m:r>
                  </m:oMath>
                </a14:m>
                <a:r>
                  <a:rPr sz="2400" b="0">
                    <a:solidFill>
                      <a:srgbClr val="111827"/>
                    </a:solidFill>
                    <a:latin typeface="Arial"/>
                  </a:rPr>
                  <a:t>: none.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$(p,p^n)\in R_1-R_2$</a:t>
                </a:r>
                <a:r>
                  <a:rPr sz="2400" b="0">
                    <a:solidFill>
                      <a:srgbClr val="111827"/>
                    </a:solidFill>
                    <a:latin typeface="Arial"/>
                  </a:rPr>
                  <a:t> iff </a:t>
                </a:r>
                <a:r>
                  <a:rPr lang="en-IN" sz="2400">
                    <a:solidFill>
                      <a:srgbClr val="111827"/>
                    </a:solidFill>
                    <a:latin typeface="Cambria Math" panose="02040503050406030204" pitchFamily="18" charset="0"/>
                  </a:rPr>
                  <a:t>$n\ge2$</a:t>
                </a:r>
                <a:r>
                  <a:rPr sz="2400" b="0">
                    <a:solidFill>
                      <a:srgbClr val="111827"/>
                    </a:solidFill>
                    <a:latin typeface="Arial"/>
                  </a:rPr>
                  <a:t> and </a:t>
                </a:r>
                <a:r>
                  <a:rPr lang="en-IN" sz="2400">
                    <a:solidFill>
                      <a:srgbClr val="111827"/>
                    </a:solidFill>
                    <a:latin typeface="Cambria Math" panose="02040503050406030204" pitchFamily="18" charset="0"/>
                  </a:rPr>
                  <a:t>$p^n\le50$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$p=2$</a:t>
                </a:r>
                <a:r>
                  <a:rPr sz="2400" b="0">
                    <a:solidFill>
                      <a:srgbClr val="111827"/>
                    </a:solidFill>
                    <a:latin typeface="Arial"/>
                  </a:rPr>
                  <a:t>: </a:t>
                </a:r>
                <a:r>
                  <a:rPr lang="en-IN" sz="2400">
                    <a:solidFill>
                      <a:srgbClr val="111827"/>
                    </a:solidFill>
                    <a:latin typeface="Cambria Math" panose="02040503050406030204" pitchFamily="18" charset="0"/>
                  </a:rPr>
                  <a:t>$4,8,16,32$</a:t>
                </a:r>
                <a:r>
                  <a:rPr sz="2400" b="0">
                    <a:solidFill>
                      <a:srgbClr val="111827"/>
                    </a:solidFill>
                    <a:latin typeface="Arial"/>
                  </a:rPr>
                  <a:t> (</a:t>
                </a:r>
                <a:r>
                  <a:rPr lang="en-IN" sz="2400">
                    <a:solidFill>
                      <a:srgbClr val="111827"/>
                    </a:solidFill>
                    <a:latin typeface="Cambria Math" panose="02040503050406030204" pitchFamily="18" charset="0"/>
                  </a:rPr>
                  <a:t>$n=2,\dots,5$</a:t>
                </a:r>
                <a:r>
                  <a:rPr sz="2400" b="0">
                    <a:solidFill>
                      <a:srgbClr val="111827"/>
                    </a:solidFill>
                    <a:latin typeface="Arial"/>
                  </a:rPr>
                  <a:t>): </a:t>
                </a:r>
                <a:r>
                  <a:rPr lang="en-IN" sz="2400">
                    <a:solidFill>
                      <a:srgbClr val="111827"/>
                    </a:solidFill>
                    <a:latin typeface="Cambria Math" panose="02040503050406030204" pitchFamily="18" charset="0"/>
                  </a:rPr>
                  <a:t>$4$</a:t>
                </a:r>
                <a:r>
                  <a:rPr sz="2400" b="0">
                    <a:solidFill>
                      <a:srgbClr val="111827"/>
                    </a:solidFill>
                    <a:latin typeface="Arial"/>
                  </a:rPr>
                  <a:t> pairs.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$p=3$</a:t>
                </a:r>
                <a:r>
                  <a:rPr sz="2400" b="0">
                    <a:solidFill>
                      <a:srgbClr val="111827"/>
                    </a:solidFill>
                    <a:latin typeface="Arial"/>
                  </a:rPr>
                  <a:t>: </a:t>
                </a:r>
                <a:r>
                  <a:rPr lang="en-IN" sz="2400">
                    <a:solidFill>
                      <a:srgbClr val="111827"/>
                    </a:solidFill>
                    <a:latin typeface="Cambria Math" panose="02040503050406030204" pitchFamily="18" charset="0"/>
                  </a:rPr>
                  <a:t>$9,27$</a:t>
                </a:r>
                <a:r>
                  <a:rPr sz="2400" b="0">
                    <a:solidFill>
                      <a:srgbClr val="111827"/>
                    </a:solidFill>
                    <a:latin typeface="Arial"/>
                  </a:rPr>
                  <a:t>: </a:t>
                </a:r>
                <a:r>
                  <a:rPr lang="en-IN" sz="2400">
                    <a:solidFill>
                      <a:srgbClr val="111827"/>
                    </a:solidFill>
                    <a:latin typeface="Cambria Math" panose="02040503050406030204" pitchFamily="18" charset="0"/>
                  </a:rPr>
                  <a:t>$2$</a:t>
                </a:r>
                <a:r>
                  <a:rPr sz="2400" b="0">
                    <a:solidFill>
                      <a:srgbClr val="111827"/>
                    </a:solidFill>
                    <a:latin typeface="Arial"/>
                  </a:rPr>
                  <a:t> pairs. </a:t>
                </a:r>
                <a:r>
                  <a:rPr lang="en-IN" sz="2400">
                    <a:solidFill>
                      <a:srgbClr val="111827"/>
                    </a:solidFill>
                    <a:latin typeface="Cambria Math" panose="02040503050406030204" pitchFamily="18" charset="0"/>
                  </a:rPr>
                  <a:t>$p=5$</a:t>
                </a:r>
                <a:r>
                  <a:rPr sz="2400" b="0">
                    <a:solidFill>
                      <a:srgbClr val="111827"/>
                    </a:solidFill>
                    <a:latin typeface="Arial"/>
                  </a:rPr>
                  <a:t>: </a:t>
                </a:r>
                <a:r>
                  <a:rPr lang="en-IN" sz="2400">
                    <a:solidFill>
                      <a:srgbClr val="111827"/>
                    </a:solidFill>
                    <a:latin typeface="Cambria Math" panose="02040503050406030204" pitchFamily="18" charset="0"/>
                  </a:rPr>
                  <a:t>$25$</a:t>
                </a:r>
                <a:r>
                  <a:rPr sz="2400" b="0">
                    <a:solidFill>
                      <a:srgbClr val="111827"/>
                    </a:solidFill>
                    <a:latin typeface="Arial"/>
                  </a:rPr>
                  <a:t>: </a:t>
                </a:r>
                <a:r>
                  <a:rPr lang="en-IN" sz="2400">
                    <a:solidFill>
                      <a:srgbClr val="111827"/>
                    </a:solidFill>
                    <a:latin typeface="Cambria Math" panose="02040503050406030204" pitchFamily="18" charset="0"/>
                  </a:rPr>
                  <a:t>$1$</a:t>
                </a:r>
                <a:r>
                  <a:rPr sz="2400" b="0">
                    <a:solidFill>
                      <a:srgbClr val="111827"/>
                    </a:solidFill>
                    <a:latin typeface="Arial"/>
                  </a:rPr>
                  <a:t> pair. </a:t>
                </a:r>
                <a:r>
                  <a:rPr lang="en-IN" sz="2400">
                    <a:solidFill>
                      <a:srgbClr val="111827"/>
                    </a:solidFill>
                    <a:latin typeface="Cambria Math" panose="02040503050406030204" pitchFamily="18" charset="0"/>
                  </a:rPr>
                  <a:t>$p=7$</a:t>
                </a:r>
                <a:r>
                  <a:rPr sz="2400" b="0">
                    <a:solidFill>
                      <a:srgbClr val="111827"/>
                    </a:solidFill>
                    <a:latin typeface="Arial"/>
                  </a:rPr>
                  <a:t>: </a:t>
                </a:r>
                <a:r>
                  <a:rPr lang="en-IN" sz="2400">
                    <a:solidFill>
                      <a:srgbClr val="111827"/>
                    </a:solidFill>
                    <a:latin typeface="Cambria Math" panose="02040503050406030204" pitchFamily="18" charset="0"/>
                  </a:rPr>
                  <a:t>$49$</a:t>
                </a:r>
                <a:r>
                  <a:rPr sz="2400" b="0">
                    <a:solidFill>
                      <a:srgbClr val="111827"/>
                    </a:solidFill>
                    <a:latin typeface="Arial"/>
                  </a:rPr>
                  <a:t>: </a:t>
                </a:r>
                <a:r>
                  <a:rPr lang="en-IN" sz="2400">
                    <a:solidFill>
                      <a:srgbClr val="111827"/>
                    </a:solidFill>
                    <a:latin typeface="Cambria Math" panose="02040503050406030204" pitchFamily="18" charset="0"/>
                  </a:rPr>
                  <a:t>$1$</a:t>
                </a:r>
                <a:r>
                  <a:rPr sz="2400" b="0">
                    <a:solidFill>
                      <a:srgbClr val="111827"/>
                    </a:solidFill>
                    <a:latin typeface="Arial"/>
                  </a:rPr>
                  <a:t> pair.</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$p\ge11$</a:t>
                </a:r>
                <a:r>
                  <a:rPr sz="2400" b="0">
                    <a:solidFill>
                      <a:srgbClr val="111827"/>
                    </a:solidFill>
                    <a:latin typeface="Arial"/>
                  </a:rPr>
                  <a:t> has </a:t>
                </a:r>
                <a:r>
                  <a:rPr lang="en-IN" sz="2400">
                    <a:solidFill>
                      <a:srgbClr val="111827"/>
                    </a:solidFill>
                    <a:latin typeface="Cambria Math" panose="02040503050406030204" pitchFamily="18" charset="0"/>
                  </a:rPr>
                  <a:t>$p^2\ge121&gt;50$</a:t>
                </a:r>
                <a:r>
                  <a:rPr sz="2400" b="0">
                    <a:solidFill>
                      <a:srgbClr val="111827"/>
                    </a:solidFill>
                    <a:latin typeface="Arial"/>
                  </a:rPr>
                  <a:t>: none.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$4+2+1+1=8$</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8</a:t>
            </a:r>
            <a:endParaRPr sz="2800">
              <a:solidFill>
                <a:srgbClr val="15803D"/>
              </a:solidFill>
            </a:endParaRP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Prime powers </a:t>
                </a:r>
                <a14:m>
                  <m:oMath xmlns:m="http://schemas.openxmlformats.org/officeDocument/2006/math">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number </a:t>
                </a:r>
                <a14:m>
                  <m:oMath xmlns:m="http://schemas.openxmlformats.org/officeDocument/2006/math">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𝑁</m:t>
                            </m:r>
                          </m:e>
                        </m:rad>
                      </m:sub>
                      <m:sup>
                        <m:r>
                          <a:rPr lang="en-IN" sz="2400" i="1">
                            <a:solidFill>
                              <a:srgbClr val="111827"/>
                            </a:solidFill>
                            <a:latin typeface="Cambria Math" panose="02040503050406030204" pitchFamily="18" charset="0"/>
                          </a:rPr>
                          <m:t>​</m:t>
                        </m:r>
                      </m:sup>
                      <m:e>
                        <m:r>
                          <m:rPr>
                            <m:sty m:val="p"/>
                          </m:rPr>
                          <a:rPr lang="en-IN" sz="2400">
                            <a:solidFill>
                              <a:srgbClr val="111827"/>
                            </a:solidFill>
                            <a:latin typeface="Cambria Math" panose="02040503050406030204" pitchFamily="18" charset="0"/>
                          </a:rPr>
                          <m:t>(</m:t>
                        </m:r>
                      </m:e>
                    </m:nary>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log</m:t>
                        </m:r>
                      </m:e>
                      <m:sub>
                        <m:r>
                          <a:rPr lang="en-IN" sz="2400" i="1">
                            <a:solidFill>
                              <a:srgbClr val="111827"/>
                            </a:solidFill>
                            <a:latin typeface="Cambria Math" panose="02040503050406030204" pitchFamily="18" charset="0"/>
                          </a:rPr>
                          <m:t>𝑝</m:t>
                        </m:r>
                      </m:sub>
                    </m:sSub>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primes up to </a:t>
                </a:r>
                <a14:m>
                  <m:oMath xmlns:m="http://schemas.openxmlformats.org/officeDocument/2006/math">
                    <m:r>
                      <a:rPr lang="en-IN" sz="2400" i="1">
                        <a:solidFill>
                          <a:srgbClr val="111827"/>
                        </a:solidFill>
                        <a:latin typeface="Cambria Math" panose="02040503050406030204" pitchFamily="18" charset="0"/>
                      </a:rPr>
                      <m:t>50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 prime </a:t>
                </a:r>
                <a14:m>
                  <m:oMath xmlns:m="http://schemas.openxmlformats.org/officeDocument/2006/math">
                    <m:r>
                      <a:rPr lang="en-IN" sz="2400" i="1">
                        <a:solidFill>
                          <a:srgbClr val="111827"/>
                        </a:solidFill>
                        <a:latin typeface="Cambria Math" panose="02040503050406030204" pitchFamily="18" charset="0"/>
                      </a:rPr>
                      <m:t>𝑝</m:t>
                    </m:r>
                  </m:oMath>
                </a14:m>
                <a:r>
                  <a:rPr sz="2400" b="0">
                    <a:solidFill>
                      <a:srgbClr val="111827"/>
                    </a:solidFill>
                    <a:latin typeface="Arial"/>
                  </a:rPr>
                  <a:t> has </a:t>
                </a:r>
                <a14:m>
                  <m:oMath xmlns:m="http://schemas.openxmlformats.org/officeDocument/2006/math">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oMath>
                </a14:m>
                <a:r>
                  <a:rPr sz="2400" b="0">
                    <a:solidFill>
                      <a:srgbClr val="111827"/>
                    </a:solidFill>
                    <a:latin typeface="Arial"/>
                  </a:rPr>
                  <a:t> only for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counting the difference directly avoids the large totals.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Prime powers </a:t>
                </a:r>
                <a:r>
                  <a:rPr lang="en-IN" sz="2400">
                    <a:solidFill>
                      <a:srgbClr val="111827"/>
                    </a:solidFill>
                    <a:latin typeface="Cambria Math" panose="02040503050406030204" pitchFamily="18" charset="0"/>
                  </a:rPr>
                  <a:t>$p^n\le N$</a:t>
                </a:r>
                <a:r>
                  <a:rPr sz="2400" b="0">
                    <a:solidFill>
                      <a:srgbClr val="111827"/>
                    </a:solidFill>
                    <a:latin typeface="Arial"/>
                  </a:rPr>
                  <a:t> with </a:t>
                </a:r>
                <a:r>
                  <a:rPr lang="en-IN" sz="2400">
                    <a:solidFill>
                      <a:srgbClr val="111827"/>
                    </a:solidFill>
                    <a:latin typeface="Cambria Math" panose="02040503050406030204" pitchFamily="18" charset="0"/>
                  </a:rPr>
                  <a:t>$n\ge2$</a:t>
                </a:r>
                <a:r>
                  <a:rPr sz="2400" b="0">
                    <a:solidFill>
                      <a:srgbClr val="111827"/>
                    </a:solidFill>
                    <a:latin typeface="Arial"/>
                  </a:rPr>
                  <a:t> number </a:t>
                </a:r>
                <a:r>
                  <a:rPr lang="en-IN" sz="2400">
                    <a:solidFill>
                      <a:srgbClr val="111827"/>
                    </a:solidFill>
                    <a:latin typeface="Cambria Math" panose="02040503050406030204" pitchFamily="18" charset="0"/>
                  </a:rPr>
                  <a:t>$\sum_{p\le\sqrt N}(\lfloor\log_pN\rfloor-1)$</a:t>
                </a:r>
                <a:r>
                  <a:rPr sz="2400" b="0">
                    <a:solidFill>
                      <a:srgbClr val="111827"/>
                    </a:solidFill>
                    <a:latin typeface="Arial"/>
                  </a:rPr>
                  <a:t>; for </a:t>
                </a:r>
                <a:r>
                  <a:rPr lang="en-IN" sz="2400">
                    <a:solidFill>
                      <a:srgbClr val="111827"/>
                    </a:solidFill>
                    <a:latin typeface="Cambria Math" panose="02040503050406030204" pitchFamily="18" charset="0"/>
                  </a:rPr>
                  <a:t>$N=50$</a:t>
                </a:r>
                <a:r>
                  <a:rPr sz="2400" b="0">
                    <a:solidFill>
                      <a:srgbClr val="111827"/>
                    </a:solidFill>
                    <a:latin typeface="Arial"/>
                  </a:rPr>
                  <a:t>: </a:t>
                </a:r>
                <a:r>
                  <a:rPr lang="en-IN" sz="2400">
                    <a:solidFill>
                      <a:srgbClr val="111827"/>
                    </a:solidFill>
                    <a:latin typeface="Cambria Math" panose="02040503050406030204" pitchFamily="18" charset="0"/>
                  </a:rPr>
                  <a:t>$4+2+1+1=8$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$\pi(50)=15$</a:t>
                </a:r>
                <a:r>
                  <a:rPr sz="2400" b="0">
                    <a:solidFill>
                      <a:srgbClr val="111827"/>
                    </a:solidFill>
                    <a:latin typeface="Arial"/>
                  </a:rPr>
                  <a:t> primes up to </a:t>
                </a:r>
                <a:r>
                  <a:rPr lang="en-IN" sz="2400">
                    <a:solidFill>
                      <a:srgbClr val="111827"/>
                    </a:solidFill>
                    <a:latin typeface="Cambria Math" panose="02040503050406030204" pitchFamily="18" charset="0"/>
                  </a:rPr>
                  <a:t>$50$</a:t>
                </a:r>
                <a:r>
                  <a:rPr sz="2400" b="0">
                    <a:solidFill>
                      <a:srgbClr val="111827"/>
                    </a:solidFill>
                    <a:latin typeface="Arial"/>
                  </a:rPr>
                  <a:t>, and </a:t>
                </a:r>
                <a:r>
                  <a:rPr lang="en-IN" sz="2400">
                    <a:solidFill>
                      <a:srgbClr val="111827"/>
                    </a:solidFill>
                    <a:latin typeface="Cambria Math" panose="02040503050406030204" pitchFamily="18" charset="0"/>
                  </a:rPr>
                  <a:t>$\pi(10)=4$</a:t>
                </a:r>
                <a:r>
                  <a:rPr sz="2400" b="0">
                    <a:solidFill>
                      <a:srgbClr val="111827"/>
                    </a:solidFill>
                    <a:latin typeface="Arial"/>
                  </a:rPr>
                  <a:t>; a prime </a:t>
                </a:r>
                <a:r>
                  <a:rPr lang="en-IN" sz="2400">
                    <a:solidFill>
                      <a:srgbClr val="111827"/>
                    </a:solidFill>
                    <a:latin typeface="Cambria Math" panose="02040503050406030204" pitchFamily="18" charset="0"/>
                  </a:rPr>
                  <a:t>$p$</a:t>
                </a:r>
                <a:r>
                  <a:rPr sz="2400" b="0">
                    <a:solidFill>
                      <a:srgbClr val="111827"/>
                    </a:solidFill>
                    <a:latin typeface="Arial"/>
                  </a:rPr>
                  <a:t> has </a:t>
                </a:r>
                <a:r>
                  <a:rPr lang="en-IN" sz="2400">
                    <a:solidFill>
                      <a:srgbClr val="111827"/>
                    </a:solidFill>
                    <a:latin typeface="Cambria Math" panose="02040503050406030204" pitchFamily="18" charset="0"/>
                  </a:rPr>
                  <a:t>$p^2\le50$</a:t>
                </a:r>
                <a:r>
                  <a:rPr sz="2400" b="0">
                    <a:solidFill>
                      <a:srgbClr val="111827"/>
                    </a:solidFill>
                    <a:latin typeface="Arial"/>
                  </a:rPr>
                  <a:t> only for </a:t>
                </a:r>
                <a:r>
                  <a:rPr lang="en-IN" sz="2400">
                    <a:solidFill>
                      <a:srgbClr val="111827"/>
                    </a:solidFill>
                    <a:latin typeface="Cambria Math" panose="02040503050406030204" pitchFamily="18" charset="0"/>
                  </a:rPr>
                  <a:t>$p\le7$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$R_2\subseteq R_1$</a:t>
                </a:r>
                <a:r>
                  <a:rPr sz="2400" b="0">
                    <a:solidFill>
                      <a:srgbClr val="111827"/>
                    </a:solidFill>
                    <a:latin typeface="Arial"/>
                  </a:rPr>
                  <a:t> then </a:t>
                </a:r>
                <a:r>
                  <a:rPr lang="en-IN" sz="2400">
                    <a:solidFill>
                      <a:srgbClr val="111827"/>
                    </a:solidFill>
                    <a:latin typeface="Cambria Math" panose="02040503050406030204" pitchFamily="18" charset="0"/>
                  </a:rPr>
                  <a:t>$n(R_1-R_2)=n(R_1)-n(R_2)$</a:t>
                </a:r>
                <a:r>
                  <a:rPr sz="2400" b="0">
                    <a:solidFill>
                      <a:srgbClr val="111827"/>
                    </a:solidFill>
                    <a:latin typeface="Arial"/>
                  </a:rPr>
                  <a:t>; counting the difference directly avoids the large totals.</a:t>
                </a:r>
                <a:endParaRPr sz="2400">
                  <a:solidFill>
                    <a:srgbClr val="111827"/>
                  </a:solidFill>
                </a:endParaRPr>
              </a:p>
            </p:txBody>
          </p:sp>
        </mc:Fallback>
      </mc:AlternateContent>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9</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Single Correct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Q28 – Q30</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Marks not printed in the paper: +4 assumed (JEE Advanced default)</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Questions are from AIEEE / JEE Main papers</a:t>
            </a:r>
            <a:endParaRPr sz="2800">
              <a:solidFill>
                <a:srgbClr val="FFFFFF"/>
              </a:solidFill>
            </a:endParaRP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005836"/>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be two relations defined on </a:t>
                </a:r>
                <a14:m>
                  <m:oMath xmlns:m="http://schemas.openxmlformats.org/officeDocument/2006/math">
                    <m:r>
                      <m:rPr>
                        <m:scr m:val="double-struck"/>
                        <m:sty m:val="p"/>
                      </m:rPr>
                      <a:rPr lang="en-IN" sz="2400">
                        <a:solidFill>
                          <a:srgbClr val="111827"/>
                        </a:solidFill>
                        <a:latin typeface="Cambria Math" panose="02040503050406030204" pitchFamily="18" charset="0"/>
                      </a:rPr>
                      <m:t>R</m:t>
                    </m:r>
                  </m:oMath>
                </a14:m>
                <a:r>
                  <a:rPr sz="2400" b="0">
                    <a:solidFill>
                      <a:srgbClr val="111827"/>
                    </a:solidFill>
                    <a:latin typeface="Arial"/>
                  </a:rPr>
                  <a:t> by </a:t>
                </a:r>
                <a14:m>
                  <m:oMath xmlns:m="http://schemas.openxmlformats.org/officeDocument/2006/math">
                    <m:r>
                      <a:rPr lang="en-IN" sz="2400" i="1">
                        <a:solidFill>
                          <a:srgbClr val="111827"/>
                        </a:solidFill>
                        <a:latin typeface="Cambria Math" panose="02040503050406030204" pitchFamily="18" charset="0"/>
                      </a:rPr>
                      <m:t>𝑎</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𝑎</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Then: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is an equivalence relation but not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is an equivalence relation but not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(C) Both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are equivalence relations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Neither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nor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is an equivalence relation</a:t>
                </a:r>
                <a:endParaRPr sz="2400">
                  <a:solidFill>
                    <a:srgbClr val="111827"/>
                  </a:solidFill>
                </a:endParaRPr>
              </a:p>
            </p:txBody>
          </p:sp>
        </mc:Choice>
        <mc:Fallback>
          <p:sp>
            <p:nvSpPr>
              <p:cNvPr id="4" name="Rounded Rectangle 3"/>
              <p:cNvSpPr/>
              <p:nvPr/>
            </p:nvSpPr>
            <p:spPr>
              <a:xfrm>
                <a:off x="731520" y="1280160"/>
                <a:ext cx="10725912" cy="3005836"/>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$R_1$</a:t>
                </a:r>
                <a:r>
                  <a:rPr sz="2400" b="0">
                    <a:solidFill>
                      <a:srgbClr val="111827"/>
                    </a:solidFill>
                    <a:latin typeface="Arial"/>
                  </a:rPr>
                  <a:t> and </a:t>
                </a:r>
                <a:r>
                  <a:rPr lang="en-IN" sz="2400">
                    <a:solidFill>
                      <a:srgbClr val="111827"/>
                    </a:solidFill>
                    <a:latin typeface="Cambria Math" panose="02040503050406030204" pitchFamily="18" charset="0"/>
                  </a:rPr>
                  <a:t>$R_2$</a:t>
                </a:r>
                <a:r>
                  <a:rPr sz="2400" b="0">
                    <a:solidFill>
                      <a:srgbClr val="111827"/>
                    </a:solidFill>
                    <a:latin typeface="Arial"/>
                  </a:rPr>
                  <a:t> be two relations defined on </a:t>
                </a:r>
                <a:r>
                  <a:rPr lang="en-IN" sz="2400">
                    <a:solidFill>
                      <a:srgbClr val="111827"/>
                    </a:solidFill>
                    <a:latin typeface="Cambria Math" panose="02040503050406030204" pitchFamily="18" charset="0"/>
                  </a:rPr>
                  <a:t>$\mathbb{R}$</a:t>
                </a:r>
                <a:r>
                  <a:rPr sz="2400" b="0">
                    <a:solidFill>
                      <a:srgbClr val="111827"/>
                    </a:solidFill>
                    <a:latin typeface="Arial"/>
                  </a:rPr>
                  <a:t> by </a:t>
                </a:r>
                <a:r>
                  <a:rPr lang="en-IN" sz="2400">
                    <a:solidFill>
                      <a:srgbClr val="111827"/>
                    </a:solidFill>
                    <a:latin typeface="Cambria Math" panose="02040503050406030204" pitchFamily="18" charset="0"/>
                  </a:rPr>
                  <a:t>$aR_1b\iff ab\ge0$</a:t>
                </a:r>
                <a:r>
                  <a:rPr sz="2400" b="0">
                    <a:solidFill>
                      <a:srgbClr val="111827"/>
                    </a:solidFill>
                    <a:latin typeface="Arial"/>
                  </a:rPr>
                  <a:t> and </a:t>
                </a:r>
                <a:r>
                  <a:rPr lang="en-IN" sz="2400">
                    <a:solidFill>
                      <a:srgbClr val="111827"/>
                    </a:solidFill>
                    <a:latin typeface="Cambria Math" panose="02040503050406030204" pitchFamily="18" charset="0"/>
                  </a:rPr>
                  <a:t>$aR_2b\iff a\ge b$</a:t>
                </a:r>
                <a:r>
                  <a:rPr sz="2400" b="0">
                    <a:solidFill>
                      <a:srgbClr val="111827"/>
                    </a:solidFill>
                    <a:latin typeface="Arial"/>
                  </a:rPr>
                  <a:t>. Then: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$R_1$</a:t>
                </a:r>
                <a:r>
                  <a:rPr sz="2400" b="0">
                    <a:solidFill>
                      <a:srgbClr val="111827"/>
                    </a:solidFill>
                    <a:latin typeface="Arial"/>
                  </a:rPr>
                  <a:t> is an equivalence relation but not </a:t>
                </a:r>
                <a:r>
                  <a:rPr lang="en-IN" sz="2400">
                    <a:solidFill>
                      <a:srgbClr val="111827"/>
                    </a:solidFill>
                    <a:latin typeface="Cambria Math" panose="02040503050406030204" pitchFamily="18" charset="0"/>
                  </a:rPr>
                  <a:t>$R_2$</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$R_2$</a:t>
                </a:r>
                <a:r>
                  <a:rPr sz="2400" b="0">
                    <a:solidFill>
                      <a:srgbClr val="111827"/>
                    </a:solidFill>
                    <a:latin typeface="Arial"/>
                  </a:rPr>
                  <a:t> is an equivalence relation but not </a:t>
                </a:r>
                <a:r>
                  <a:rPr lang="en-IN" sz="2400">
                    <a:solidFill>
                      <a:srgbClr val="111827"/>
                    </a:solidFill>
                    <a:latin typeface="Cambria Math" panose="02040503050406030204" pitchFamily="18" charset="0"/>
                  </a:rPr>
                  <a:t>$R_1$</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Both </a:t>
                </a:r>
                <a:r>
                  <a:rPr lang="en-IN" sz="2400">
                    <a:solidFill>
                      <a:srgbClr val="111827"/>
                    </a:solidFill>
                    <a:latin typeface="Cambria Math" panose="02040503050406030204" pitchFamily="18" charset="0"/>
                  </a:rPr>
                  <a:t>$R_1$</a:t>
                </a:r>
                <a:r>
                  <a:rPr sz="2400" b="0">
                    <a:solidFill>
                      <a:srgbClr val="111827"/>
                    </a:solidFill>
                    <a:latin typeface="Arial"/>
                  </a:rPr>
                  <a:t> and </a:t>
                </a:r>
                <a:r>
                  <a:rPr lang="en-IN" sz="2400">
                    <a:solidFill>
                      <a:srgbClr val="111827"/>
                    </a:solidFill>
                    <a:latin typeface="Cambria Math" panose="02040503050406030204" pitchFamily="18" charset="0"/>
                  </a:rPr>
                  <a:t>$R_2$</a:t>
                </a:r>
                <a:r>
                  <a:rPr sz="2400" b="0">
                    <a:solidFill>
                      <a:srgbClr val="111827"/>
                    </a:solidFill>
                    <a:latin typeface="Arial"/>
                  </a:rPr>
                  <a:t> are equivalence relations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Neither </a:t>
                </a:r>
                <a:r>
                  <a:rPr lang="en-IN" sz="2400">
                    <a:solidFill>
                      <a:srgbClr val="111827"/>
                    </a:solidFill>
                    <a:latin typeface="Cambria Math" panose="02040503050406030204" pitchFamily="18" charset="0"/>
                  </a:rPr>
                  <a:t>$R_1$</a:t>
                </a:r>
                <a:r>
                  <a:rPr sz="2400" b="0">
                    <a:solidFill>
                      <a:srgbClr val="111827"/>
                    </a:solidFill>
                    <a:latin typeface="Arial"/>
                  </a:rPr>
                  <a:t> nor </a:t>
                </a:r>
                <a:r>
                  <a:rPr lang="en-IN" sz="2400">
                    <a:solidFill>
                      <a:srgbClr val="111827"/>
                    </a:solidFill>
                    <a:latin typeface="Cambria Math" panose="02040503050406030204" pitchFamily="18" charset="0"/>
                  </a:rPr>
                  <a:t>$R_2$</a:t>
                </a:r>
                <a:r>
                  <a:rPr sz="2400" b="0">
                    <a:solidFill>
                      <a:srgbClr val="111827"/>
                    </a:solidFill>
                    <a:latin typeface="Arial"/>
                  </a:rPr>
                  <a:t> is an equivalence relation</a:t>
                </a:r>
                <a:endParaRPr sz="2400">
                  <a:solidFill>
                    <a:srgbClr val="111827"/>
                  </a:solidFill>
                </a:endParaRPr>
              </a:p>
            </p:txBody>
          </p:sp>
        </mc:Fallback>
      </mc:AlternateContent>
      <p:sp>
        <p:nvSpPr>
          <p:cNvPr id="5" name="Rectangle 4"/>
          <p:cNvSpPr/>
          <p:nvPr/>
        </p:nvSpPr>
        <p:spPr>
          <a:xfrm>
            <a:off x="731520" y="4514596"/>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Equivalence relation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2.5(A little easier than Average JEE Advanced Level)</a:t>
            </a:r>
            <a:endParaRPr sz="2400">
              <a:solidFill>
                <a:srgbClr val="111827"/>
              </a:solidFill>
            </a:endParaRP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a:rPr lang="en-IN" sz="2400" i="1">
                        <a:solidFill>
                          <a:srgbClr val="78350F"/>
                        </a:solidFill>
                        <a:latin typeface="Cambria Math" panose="02040503050406030204" pitchFamily="18" charset="0"/>
                      </a:rPr>
                      <m:t>0</m:t>
                    </m:r>
                  </m:oMath>
                </a14:m>
                <a:r>
                  <a:rPr sz="2400" b="0">
                    <a:solidFill>
                      <a:srgbClr val="78350F"/>
                    </a:solidFill>
                    <a:latin typeface="Arial"/>
                  </a:rPr>
                  <a:t> is related to everything under </a:t>
                </a:r>
                <a14:m>
                  <m:oMath xmlns:m="http://schemas.openxmlformats.org/officeDocument/2006/math">
                    <m:sSub>
                      <m:e>
                        <m:r>
                          <a:rPr lang="en-IN" sz="2400" i="1">
                            <a:solidFill>
                              <a:srgbClr val="78350F"/>
                            </a:solidFill>
                            <a:latin typeface="Cambria Math" panose="02040503050406030204" pitchFamily="18" charset="0"/>
                          </a:rPr>
                          <m:t>𝑅</m:t>
                        </m:r>
                      </m:e>
                      <m:sub>
                        <m:r>
                          <a:rPr lang="en-IN" sz="2400" i="1">
                            <a:solidFill>
                              <a:srgbClr val="78350F"/>
                            </a:solidFill>
                            <a:latin typeface="Cambria Math" panose="02040503050406030204" pitchFamily="18" charset="0"/>
                          </a:rPr>
                          <m:t>1</m:t>
                        </m:r>
                      </m:sub>
                    </m:sSub>
                  </m:oMath>
                </a14:m>
                <a:r>
                  <a:rPr sz="2400" b="0">
                    <a:solidFill>
                      <a:srgbClr val="78350F"/>
                    </a:solidFill>
                    <a:latin typeface="Arial"/>
                  </a:rPr>
                  <a:t>, which links positive and negative numbers; </a:t>
                </a:r>
                <a14:m>
                  <m:oMath xmlns:m="http://schemas.openxmlformats.org/officeDocument/2006/math">
                    <m:sSub>
                      <m:e>
                        <m:r>
                          <a:rPr lang="en-IN" sz="2400" i="1">
                            <a:solidFill>
                              <a:srgbClr val="78350F"/>
                            </a:solidFill>
                            <a:latin typeface="Cambria Math" panose="02040503050406030204" pitchFamily="18" charset="0"/>
                          </a:rPr>
                          <m:t>𝑅</m:t>
                        </m:r>
                      </m:e>
                      <m:sub>
                        <m:r>
                          <a:rPr lang="en-IN" sz="2400" i="1">
                            <a:solidFill>
                              <a:srgbClr val="78350F"/>
                            </a:solidFill>
                            <a:latin typeface="Cambria Math" panose="02040503050406030204" pitchFamily="18" charset="0"/>
                          </a:rPr>
                          <m:t>2</m:t>
                        </m:r>
                      </m:sub>
                    </m:sSub>
                  </m:oMath>
                </a14:m>
                <a:r>
                  <a:rPr sz="2400" b="0">
                    <a:solidFill>
                      <a:srgbClr val="78350F"/>
                    </a:solidFill>
                    <a:latin typeface="Arial"/>
                  </a:rPr>
                  <a:t> is not symmetric.</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$0$</a:t>
                </a:r>
                <a:r>
                  <a:rPr sz="2400" b="0">
                    <a:solidFill>
                      <a:srgbClr val="78350F"/>
                    </a:solidFill>
                    <a:latin typeface="Arial"/>
                  </a:rPr>
                  <a:t> is related to everything under </a:t>
                </a:r>
                <a:r>
                  <a:rPr lang="en-IN" sz="2400">
                    <a:solidFill>
                      <a:srgbClr val="78350F"/>
                    </a:solidFill>
                    <a:latin typeface="Cambria Math" panose="02040503050406030204" pitchFamily="18" charset="0"/>
                  </a:rPr>
                  <a:t>$R_1$</a:t>
                </a:r>
                <a:r>
                  <a:rPr sz="2400" b="0">
                    <a:solidFill>
                      <a:srgbClr val="78350F"/>
                    </a:solidFill>
                    <a:latin typeface="Arial"/>
                  </a:rPr>
                  <a:t>, which links positive and negative numbers; </a:t>
                </a:r>
                <a:r>
                  <a:rPr lang="en-IN" sz="2400">
                    <a:solidFill>
                      <a:srgbClr val="78350F"/>
                    </a:solidFill>
                    <a:latin typeface="Cambria Math" panose="02040503050406030204" pitchFamily="18" charset="0"/>
                  </a:rPr>
                  <a:t>$R_2$</a:t>
                </a:r>
                <a:r>
                  <a:rPr sz="2400" b="0">
                    <a:solidFill>
                      <a:srgbClr val="78350F"/>
                    </a:solidFill>
                    <a:latin typeface="Arial"/>
                  </a:rPr>
                  <a:t> is not symmetric.</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reflexive: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symmetric: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not transitive: take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but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$R_1$</a:t>
                </a:r>
                <a:r>
                  <a:rPr sz="2400" b="0">
                    <a:solidFill>
                      <a:srgbClr val="111827"/>
                    </a:solidFill>
                    <a:latin typeface="Arial"/>
                  </a:rPr>
                  <a:t> reflexive: </a:t>
                </a:r>
                <a:r>
                  <a:rPr lang="en-IN" sz="2400">
                    <a:solidFill>
                      <a:srgbClr val="111827"/>
                    </a:solidFill>
                    <a:latin typeface="Cambria Math" panose="02040503050406030204" pitchFamily="18" charset="0"/>
                  </a:rPr>
                  <a:t>$a\cdot a=a^2\ge0$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$R_1$</a:t>
                </a:r>
                <a:r>
                  <a:rPr sz="2400" b="0">
                    <a:solidFill>
                      <a:srgbClr val="111827"/>
                    </a:solidFill>
                    <a:latin typeface="Arial"/>
                  </a:rPr>
                  <a:t> symmetric: </a:t>
                </a:r>
                <a:r>
                  <a:rPr lang="en-IN" sz="2400">
                    <a:solidFill>
                      <a:srgbClr val="111827"/>
                    </a:solidFill>
                    <a:latin typeface="Cambria Math" panose="02040503050406030204" pitchFamily="18" charset="0"/>
                  </a:rPr>
                  <a:t>$ab\ge0\Rightarrow ba\ge0$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$R_1$</a:t>
                </a:r>
                <a:r>
                  <a:rPr sz="2400" b="0">
                    <a:solidFill>
                      <a:srgbClr val="111827"/>
                    </a:solidFill>
                    <a:latin typeface="Arial"/>
                  </a:rPr>
                  <a:t> not transitive: take </a:t>
                </a:r>
                <a:r>
                  <a:rPr lang="en-IN" sz="2400">
                    <a:solidFill>
                      <a:srgbClr val="111827"/>
                    </a:solidFill>
                    <a:latin typeface="Cambria Math" panose="02040503050406030204" pitchFamily="18" charset="0"/>
                  </a:rPr>
                  <a:t>$a=2,b=0,c=-2$</a:t>
                </a:r>
                <a:r>
                  <a:rPr sz="2400" b="0">
                    <a:solidFill>
                      <a:srgbClr val="111827"/>
                    </a:solidFill>
                    <a:latin typeface="Arial"/>
                  </a:rPr>
                  <a:t>. Then </a:t>
                </a:r>
                <a:r>
                  <a:rPr lang="en-IN" sz="2400">
                    <a:solidFill>
                      <a:srgbClr val="111827"/>
                    </a:solidFill>
                    <a:latin typeface="Cambria Math" panose="02040503050406030204" pitchFamily="18" charset="0"/>
                  </a:rPr>
                  <a:t>$ab=0\ge0$</a:t>
                </a:r>
                <a:r>
                  <a:rPr sz="2400" b="0">
                    <a:solidFill>
                      <a:srgbClr val="111827"/>
                    </a:solidFill>
                    <a:latin typeface="Arial"/>
                  </a:rPr>
                  <a:t> and </a:t>
                </a:r>
                <a:r>
                  <a:rPr lang="en-IN" sz="2400">
                    <a:solidFill>
                      <a:srgbClr val="111827"/>
                    </a:solidFill>
                    <a:latin typeface="Cambria Math" panose="02040503050406030204" pitchFamily="18" charset="0"/>
                  </a:rPr>
                  <a:t>$bc=0\ge0$</a:t>
                </a:r>
                <a:r>
                  <a:rPr sz="2400" b="0">
                    <a:solidFill>
                      <a:srgbClr val="111827"/>
                    </a:solidFill>
                    <a:latin typeface="Arial"/>
                  </a:rPr>
                  <a:t>, but </a:t>
                </a:r>
                <a:r>
                  <a:rPr lang="en-IN" sz="2400">
                    <a:solidFill>
                      <a:srgbClr val="111827"/>
                    </a:solidFill>
                    <a:latin typeface="Cambria Math" panose="02040503050406030204" pitchFamily="18" charset="0"/>
                  </a:rPr>
                  <a:t>$ac=-4&lt;0$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is not an equivalence relation.</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does not imply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(for example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but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so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is not symmetric.</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is not an equivalence relation. Neither is an equivalence relation: option (D).</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$R_1$</a:t>
                </a:r>
                <a:r>
                  <a:rPr sz="2400" b="0">
                    <a:solidFill>
                      <a:srgbClr val="111827"/>
                    </a:solidFill>
                    <a:latin typeface="Arial"/>
                  </a:rPr>
                  <a:t> is not an equivalence relation.</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$R_2$</a:t>
                </a:r>
                <a:r>
                  <a:rPr sz="2400" b="0">
                    <a:solidFill>
                      <a:srgbClr val="111827"/>
                    </a:solidFill>
                    <a:latin typeface="Arial"/>
                  </a:rPr>
                  <a:t>: </a:t>
                </a:r>
                <a:r>
                  <a:rPr lang="en-IN" sz="2400">
                    <a:solidFill>
                      <a:srgbClr val="111827"/>
                    </a:solidFill>
                    <a:latin typeface="Cambria Math" panose="02040503050406030204" pitchFamily="18" charset="0"/>
                  </a:rPr>
                  <a:t>$a\ge b$</a:t>
                </a:r>
                <a:r>
                  <a:rPr sz="2400" b="0">
                    <a:solidFill>
                      <a:srgbClr val="111827"/>
                    </a:solidFill>
                    <a:latin typeface="Arial"/>
                  </a:rPr>
                  <a:t> does not imply </a:t>
                </a:r>
                <a:r>
                  <a:rPr lang="en-IN" sz="2400">
                    <a:solidFill>
                      <a:srgbClr val="111827"/>
                    </a:solidFill>
                    <a:latin typeface="Cambria Math" panose="02040503050406030204" pitchFamily="18" charset="0"/>
                  </a:rPr>
                  <a:t>$b\ge a$</a:t>
                </a:r>
                <a:r>
                  <a:rPr sz="2400" b="0">
                    <a:solidFill>
                      <a:srgbClr val="111827"/>
                    </a:solidFill>
                    <a:latin typeface="Arial"/>
                  </a:rPr>
                  <a:t> (for example </a:t>
                </a:r>
                <a:r>
                  <a:rPr lang="en-IN" sz="2400">
                    <a:solidFill>
                      <a:srgbClr val="111827"/>
                    </a:solidFill>
                    <a:latin typeface="Cambria Math" panose="02040503050406030204" pitchFamily="18" charset="0"/>
                  </a:rPr>
                  <a:t>$2\ge1$</a:t>
                </a:r>
                <a:r>
                  <a:rPr sz="2400" b="0">
                    <a:solidFill>
                      <a:srgbClr val="111827"/>
                    </a:solidFill>
                    <a:latin typeface="Arial"/>
                  </a:rPr>
                  <a:t> but </a:t>
                </a:r>
                <a:r>
                  <a:rPr lang="en-IN" sz="2400">
                    <a:solidFill>
                      <a:srgbClr val="111827"/>
                    </a:solidFill>
                    <a:latin typeface="Cambria Math" panose="02040503050406030204" pitchFamily="18" charset="0"/>
                  </a:rPr>
                  <a:t>$1\not\ge2$</a:t>
                </a:r>
                <a:r>
                  <a:rPr sz="2400" b="0">
                    <a:solidFill>
                      <a:srgbClr val="111827"/>
                    </a:solidFill>
                    <a:latin typeface="Arial"/>
                  </a:rPr>
                  <a:t>), so </a:t>
                </a:r>
                <a:r>
                  <a:rPr lang="en-IN" sz="2400">
                    <a:solidFill>
                      <a:srgbClr val="111827"/>
                    </a:solidFill>
                    <a:latin typeface="Cambria Math" panose="02040503050406030204" pitchFamily="18" charset="0"/>
                  </a:rPr>
                  <a:t>$R_2$</a:t>
                </a:r>
                <a:r>
                  <a:rPr sz="2400" b="0">
                    <a:solidFill>
                      <a:srgbClr val="111827"/>
                    </a:solidFill>
                    <a:latin typeface="Arial"/>
                  </a:rPr>
                  <a:t> is not symmetric.</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$R_2$</a:t>
                </a:r>
                <a:r>
                  <a:rPr sz="2400" b="0">
                    <a:solidFill>
                      <a:srgbClr val="111827"/>
                    </a:solidFill>
                    <a:latin typeface="Arial"/>
                  </a:rPr>
                  <a:t> is not an equivalence relation. Neither is an equivalence relation: option (D).</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Neither </a:t>
                </a:r>
                <a14:m>
                  <m:oMath xmlns:m="http://schemas.openxmlformats.org/officeDocument/2006/math">
                    <m:sSub>
                      <m:e>
                        <m:r>
                          <a:rPr lang="en-IN" sz="2800" i="1">
                            <a:solidFill>
                              <a:srgbClr val="15803D"/>
                            </a:solidFill>
                            <a:latin typeface="Cambria Math" panose="02040503050406030204" pitchFamily="18" charset="0"/>
                          </a:rPr>
                          <m:t>𝑅</m:t>
                        </m:r>
                      </m:e>
                      <m:sub>
                        <m:r>
                          <a:rPr lang="en-IN" sz="2800" i="1">
                            <a:solidFill>
                              <a:srgbClr val="15803D"/>
                            </a:solidFill>
                            <a:latin typeface="Cambria Math" panose="02040503050406030204" pitchFamily="18" charset="0"/>
                          </a:rPr>
                          <m:t>1</m:t>
                        </m:r>
                      </m:sub>
                    </m:sSub>
                  </m:oMath>
                </a14:m>
                <a:r>
                  <a:rPr sz="2800" b="1">
                    <a:solidFill>
                      <a:srgbClr val="15803D"/>
                    </a:solidFill>
                    <a:latin typeface="Arial"/>
                  </a:rPr>
                  <a:t> nor </a:t>
                </a:r>
                <a14:m>
                  <m:oMath xmlns:m="http://schemas.openxmlformats.org/officeDocument/2006/math">
                    <m:sSub>
                      <m:e>
                        <m:r>
                          <a:rPr lang="en-IN" sz="2800" i="1">
                            <a:solidFill>
                              <a:srgbClr val="15803D"/>
                            </a:solidFill>
                            <a:latin typeface="Cambria Math" panose="02040503050406030204" pitchFamily="18" charset="0"/>
                          </a:rPr>
                          <m:t>𝑅</m:t>
                        </m:r>
                      </m:e>
                      <m:sub>
                        <m:r>
                          <a:rPr lang="en-IN" sz="2800" i="1">
                            <a:solidFill>
                              <a:srgbClr val="15803D"/>
                            </a:solidFill>
                            <a:latin typeface="Cambria Math" panose="02040503050406030204" pitchFamily="18" charset="0"/>
                          </a:rPr>
                          <m:t>2</m:t>
                        </m:r>
                      </m:sub>
                    </m:sSub>
                  </m:oMath>
                </a14:m>
                <a:r>
                  <a:rPr sz="2800" b="1">
                    <a:solidFill>
                      <a:srgbClr val="15803D"/>
                    </a:solidFill>
                    <a:latin typeface="Arial"/>
                  </a:rPr>
                  <a:t> is an equivalence relation</a:t>
                </a:r>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Neither </a:t>
                </a:r>
                <a:r>
                  <a:rPr lang="en-IN" sz="2800">
                    <a:solidFill>
                      <a:srgbClr val="15803D"/>
                    </a:solidFill>
                    <a:latin typeface="Cambria Math" panose="02040503050406030204" pitchFamily="18" charset="0"/>
                  </a:rPr>
                  <a:t>$R_1$</a:t>
                </a:r>
                <a:r>
                  <a:rPr sz="2800" b="1">
                    <a:solidFill>
                      <a:srgbClr val="15803D"/>
                    </a:solidFill>
                    <a:latin typeface="Arial"/>
                  </a:rPr>
                  <a:t> nor </a:t>
                </a:r>
                <a:r>
                  <a:rPr lang="en-IN" sz="2800">
                    <a:solidFill>
                      <a:srgbClr val="15803D"/>
                    </a:solidFill>
                    <a:latin typeface="Cambria Math" panose="02040503050406030204" pitchFamily="18" charset="0"/>
                  </a:rPr>
                  <a:t>$R_2$</a:t>
                </a:r>
                <a:r>
                  <a:rPr sz="2800" b="1">
                    <a:solidFill>
                      <a:srgbClr val="15803D"/>
                    </a:solidFill>
                    <a:latin typeface="Arial"/>
                  </a:rPr>
                  <a:t> is an equivalence relation</a:t>
                </a:r>
                <a:endParaRPr sz="2800">
                  <a:solidFill>
                    <a:srgbClr val="15803D"/>
                  </a:solidFill>
                </a:endParaRPr>
              </a:p>
            </p:txBody>
          </p:sp>
        </mc:Fallback>
      </mc:AlternateContent>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In an equivalence relation an element related to everything forces one single class; under </a:t>
                </a:r>
                <a14:m>
                  <m:oMath xmlns:m="http://schemas.openxmlformats.org/officeDocument/2006/math">
                    <m:sSub>
                      <m:e>
                        <m:r>
                          <a:rPr lang="en-IN" sz="2400" i="1">
                            <a:solidFill>
                              <a:srgbClr val="78350F"/>
                            </a:solidFill>
                            <a:latin typeface="Cambria Math" panose="02040503050406030204" pitchFamily="18" charset="0"/>
                          </a:rPr>
                          <m:t>𝑅</m:t>
                        </m:r>
                      </m:e>
                      <m:sub>
                        <m:r>
                          <a:rPr lang="en-IN" sz="2400" i="1">
                            <a:solidFill>
                              <a:srgbClr val="78350F"/>
                            </a:solidFill>
                            <a:latin typeface="Cambria Math" panose="02040503050406030204" pitchFamily="18" charset="0"/>
                          </a:rPr>
                          <m:t>1</m:t>
                        </m:r>
                      </m:sub>
                    </m:sSub>
                  </m:oMath>
                </a14:m>
                <a:r>
                  <a:rPr sz="2400" b="0">
                    <a:solidFill>
                      <a:srgbClr val="78350F"/>
                    </a:solidFill>
                    <a:latin typeface="Arial"/>
                  </a:rPr>
                  <a:t> the number </a:t>
                </a:r>
                <a14:m>
                  <m:oMath xmlns:m="http://schemas.openxmlformats.org/officeDocument/2006/math">
                    <m:r>
                      <a:rPr lang="en-IN" sz="2400" i="1">
                        <a:solidFill>
                          <a:srgbClr val="78350F"/>
                        </a:solidFill>
                        <a:latin typeface="Cambria Math" panose="02040503050406030204" pitchFamily="18" charset="0"/>
                      </a:rPr>
                      <m:t>0</m:t>
                    </m:r>
                  </m:oMath>
                </a14:m>
                <a:r>
                  <a:rPr sz="2400" b="0">
                    <a:solidFill>
                      <a:srgbClr val="78350F"/>
                    </a:solidFill>
                    <a:latin typeface="Arial"/>
                  </a:rPr>
                  <a:t> is related to every real.</a:t>
                </a:r>
                <a:endParaRPr sz="2400">
                  <a:solidFill>
                    <a:srgbClr val="78350F"/>
                  </a:solidFill>
                </a:endParaRPr>
              </a:p>
            </p:txBody>
          </p:sp>
        </mc:Choice>
        <mc:Fallback>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In an equivalence relation an element related to everything forces one single class; under </a:t>
                </a:r>
                <a:r>
                  <a:rPr lang="en-IN" sz="2400">
                    <a:solidFill>
                      <a:srgbClr val="78350F"/>
                    </a:solidFill>
                    <a:latin typeface="Cambria Math" panose="02040503050406030204" pitchFamily="18" charset="0"/>
                  </a:rPr>
                  <a:t>$R_1$</a:t>
                </a:r>
                <a:r>
                  <a:rPr sz="2400" b="0">
                    <a:solidFill>
                      <a:srgbClr val="78350F"/>
                    </a:solidFill>
                    <a:latin typeface="Arial"/>
                  </a:rPr>
                  <a:t> the number </a:t>
                </a:r>
                <a:r>
                  <a:rPr lang="en-IN" sz="2400">
                    <a:solidFill>
                      <a:srgbClr val="78350F"/>
                    </a:solidFill>
                    <a:latin typeface="Cambria Math" panose="02040503050406030204" pitchFamily="18" charset="0"/>
                  </a:rPr>
                  <a:t>$0$</a:t>
                </a:r>
                <a:r>
                  <a:rPr sz="2400" b="0">
                    <a:solidFill>
                      <a:srgbClr val="78350F"/>
                    </a:solidFill>
                    <a:latin typeface="Arial"/>
                  </a:rPr>
                  <a:t> is related to every real.</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for every </a:t>
                </a:r>
                <a14:m>
                  <m:oMath xmlns:m="http://schemas.openxmlformats.org/officeDocument/2006/math">
                    <m:r>
                      <a:rPr lang="en-IN" sz="2400" i="1">
                        <a:solidFill>
                          <a:srgbClr val="111827"/>
                        </a:solidFill>
                        <a:latin typeface="Cambria Math" panose="02040503050406030204" pitchFamily="18" charset="0"/>
                      </a:rPr>
                      <m:t>𝑏</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is related to every real number under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were an equivalence relation, every real would lie in the class of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so any two reals would be related.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But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are not related. Contradiction: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is not an equivalence relation.</a:t>
                </a:r>
                <a:endParaRPr sz="2400">
                  <a:solidFill>
                    <a:srgbClr val="111827"/>
                  </a:solidFill>
                </a:endParaRPr>
              </a:p>
            </p:txBody>
          </p:sp>
        </mc:Choice>
        <mc:Fallback>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$0\cdot b=0\ge0$</a:t>
                </a:r>
                <a:r>
                  <a:rPr sz="2400" b="0">
                    <a:solidFill>
                      <a:srgbClr val="111827"/>
                    </a:solidFill>
                    <a:latin typeface="Arial"/>
                  </a:rPr>
                  <a:t> for every </a:t>
                </a:r>
                <a:r>
                  <a:rPr lang="en-IN" sz="2400">
                    <a:solidFill>
                      <a:srgbClr val="111827"/>
                    </a:solidFill>
                    <a:latin typeface="Cambria Math" panose="02040503050406030204" pitchFamily="18" charset="0"/>
                  </a:rPr>
                  <a:t>$b$</a:t>
                </a:r>
                <a:r>
                  <a:rPr sz="2400" b="0">
                    <a:solidFill>
                      <a:srgbClr val="111827"/>
                    </a:solidFill>
                    <a:latin typeface="Arial"/>
                  </a:rPr>
                  <a:t>, so </a:t>
                </a:r>
                <a:r>
                  <a:rPr lang="en-IN" sz="2400">
                    <a:solidFill>
                      <a:srgbClr val="111827"/>
                    </a:solidFill>
                    <a:latin typeface="Cambria Math" panose="02040503050406030204" pitchFamily="18" charset="0"/>
                  </a:rPr>
                  <a:t>$0$</a:t>
                </a:r>
                <a:r>
                  <a:rPr sz="2400" b="0">
                    <a:solidFill>
                      <a:srgbClr val="111827"/>
                    </a:solidFill>
                    <a:latin typeface="Arial"/>
                  </a:rPr>
                  <a:t> is related to every real number under </a:t>
                </a:r>
                <a:r>
                  <a:rPr lang="en-IN" sz="2400">
                    <a:solidFill>
                      <a:srgbClr val="111827"/>
                    </a:solidFill>
                    <a:latin typeface="Cambria Math" panose="02040503050406030204" pitchFamily="18" charset="0"/>
                  </a:rPr>
                  <a:t>$R_1$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$R_1$</a:t>
                </a:r>
                <a:r>
                  <a:rPr sz="2400" b="0">
                    <a:solidFill>
                      <a:srgbClr val="111827"/>
                    </a:solidFill>
                    <a:latin typeface="Arial"/>
                  </a:rPr>
                  <a:t> were an equivalence relation, every real would lie in the class of </a:t>
                </a:r>
                <a:r>
                  <a:rPr lang="en-IN" sz="2400">
                    <a:solidFill>
                      <a:srgbClr val="111827"/>
                    </a:solidFill>
                    <a:latin typeface="Cambria Math" panose="02040503050406030204" pitchFamily="18" charset="0"/>
                  </a:rPr>
                  <a:t>$0$</a:t>
                </a:r>
                <a:r>
                  <a:rPr sz="2400" b="0">
                    <a:solidFill>
                      <a:srgbClr val="111827"/>
                    </a:solidFill>
                    <a:latin typeface="Arial"/>
                  </a:rPr>
                  <a:t>, so any two reals would be related.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But </a:t>
                </a:r>
                <a:r>
                  <a:rPr lang="en-IN" sz="2400">
                    <a:solidFill>
                      <a:srgbClr val="111827"/>
                    </a:solidFill>
                    <a:latin typeface="Cambria Math" panose="02040503050406030204" pitchFamily="18" charset="0"/>
                  </a:rPr>
                  <a:t>$1\cdot(-1)=-1&lt;0$</a:t>
                </a:r>
                <a:r>
                  <a:rPr sz="2400" b="0">
                    <a:solidFill>
                      <a:srgbClr val="111827"/>
                    </a:solidFill>
                    <a:latin typeface="Arial"/>
                  </a:rPr>
                  <a:t>, so </a:t>
                </a:r>
                <a:r>
                  <a:rPr lang="en-IN" sz="2400">
                    <a:solidFill>
                      <a:srgbClr val="111827"/>
                    </a:solidFill>
                    <a:latin typeface="Cambria Math" panose="02040503050406030204" pitchFamily="18" charset="0"/>
                  </a:rPr>
                  <a:t>$1$</a:t>
                </a:r>
                <a:r>
                  <a:rPr sz="2400" b="0">
                    <a:solidFill>
                      <a:srgbClr val="111827"/>
                    </a:solidFill>
                    <a:latin typeface="Arial"/>
                  </a:rPr>
                  <a:t> and </a:t>
                </a:r>
                <a:r>
                  <a:rPr lang="en-IN" sz="2400">
                    <a:solidFill>
                      <a:srgbClr val="111827"/>
                    </a:solidFill>
                    <a:latin typeface="Cambria Math" panose="02040503050406030204" pitchFamily="18" charset="0"/>
                  </a:rPr>
                  <a:t>$-1$</a:t>
                </a:r>
                <a:r>
                  <a:rPr sz="2400" b="0">
                    <a:solidFill>
                      <a:srgbClr val="111827"/>
                    </a:solidFill>
                    <a:latin typeface="Arial"/>
                  </a:rPr>
                  <a:t> are not related. Contradiction: </a:t>
                </a:r>
                <a:r>
                  <a:rPr lang="en-IN" sz="2400">
                    <a:solidFill>
                      <a:srgbClr val="111827"/>
                    </a:solidFill>
                    <a:latin typeface="Cambria Math" panose="02040503050406030204" pitchFamily="18" charset="0"/>
                  </a:rPr>
                  <a:t>$R_1$</a:t>
                </a:r>
                <a:r>
                  <a:rPr sz="2400" b="0">
                    <a:solidFill>
                      <a:srgbClr val="111827"/>
                    </a:solidFill>
                    <a:latin typeface="Arial"/>
                  </a:rPr>
                  <a:t> is not an equivalence relation.</a:t>
                </a:r>
                <a:endParaRPr sz="2400">
                  <a:solidFill>
                    <a:srgbClr val="111827"/>
                  </a:solidFill>
                </a:endParaRPr>
              </a:p>
            </p:txBody>
          </p:sp>
        </mc:Fallback>
      </mc:AlternateContent>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is a total order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exactly one of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holds, so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is never symmetric on distinct elements.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Neither is an equivalence relation: option (D).</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$R_2$</a:t>
                </a:r>
                <a:r>
                  <a:rPr sz="2400" b="0">
                    <a:solidFill>
                      <a:srgbClr val="111827"/>
                    </a:solidFill>
                    <a:latin typeface="Arial"/>
                  </a:rPr>
                  <a:t> is a total order (</a:t>
                </a:r>
                <a:r>
                  <a:rPr lang="en-IN" sz="2400">
                    <a:solidFill>
                      <a:srgbClr val="111827"/>
                    </a:solidFill>
                    <a:latin typeface="Cambria Math" panose="02040503050406030204" pitchFamily="18" charset="0"/>
                  </a:rPr>
                  <a:t>$\ge$</a:t>
                </a:r>
                <a:r>
                  <a:rPr sz="2400" b="0">
                    <a:solidFill>
                      <a:srgbClr val="111827"/>
                    </a:solidFill>
                    <a:latin typeface="Arial"/>
                  </a:rPr>
                  <a:t>): for </a:t>
                </a:r>
                <a:r>
                  <a:rPr lang="en-IN" sz="2400">
                    <a:solidFill>
                      <a:srgbClr val="111827"/>
                    </a:solidFill>
                    <a:latin typeface="Cambria Math" panose="02040503050406030204" pitchFamily="18" charset="0"/>
                  </a:rPr>
                  <a:t>$a\neq b$</a:t>
                </a:r>
                <a:r>
                  <a:rPr sz="2400" b="0">
                    <a:solidFill>
                      <a:srgbClr val="111827"/>
                    </a:solidFill>
                    <a:latin typeface="Arial"/>
                  </a:rPr>
                  <a:t> exactly one of </a:t>
                </a:r>
                <a:r>
                  <a:rPr lang="en-IN" sz="2400">
                    <a:solidFill>
                      <a:srgbClr val="111827"/>
                    </a:solidFill>
                    <a:latin typeface="Cambria Math" panose="02040503050406030204" pitchFamily="18" charset="0"/>
                  </a:rPr>
                  <a:t>$a\ge b$</a:t>
                </a:r>
                <a:r>
                  <a:rPr sz="2400" b="0">
                    <a:solidFill>
                      <a:srgbClr val="111827"/>
                    </a:solidFill>
                    <a:latin typeface="Arial"/>
                  </a:rPr>
                  <a:t>, </a:t>
                </a:r>
                <a:r>
                  <a:rPr lang="en-IN" sz="2400">
                    <a:solidFill>
                      <a:srgbClr val="111827"/>
                    </a:solidFill>
                    <a:latin typeface="Cambria Math" panose="02040503050406030204" pitchFamily="18" charset="0"/>
                  </a:rPr>
                  <a:t>$b\ge a$</a:t>
                </a:r>
                <a:r>
                  <a:rPr sz="2400" b="0">
                    <a:solidFill>
                      <a:srgbClr val="111827"/>
                    </a:solidFill>
                    <a:latin typeface="Arial"/>
                  </a:rPr>
                  <a:t> holds, so </a:t>
                </a:r>
                <a:r>
                  <a:rPr lang="en-IN" sz="2400">
                    <a:solidFill>
                      <a:srgbClr val="111827"/>
                    </a:solidFill>
                    <a:latin typeface="Cambria Math" panose="02040503050406030204" pitchFamily="18" charset="0"/>
                  </a:rPr>
                  <a:t>$R_2$</a:t>
                </a:r>
                <a:r>
                  <a:rPr sz="2400" b="0">
                    <a:solidFill>
                      <a:srgbClr val="111827"/>
                    </a:solidFill>
                    <a:latin typeface="Arial"/>
                  </a:rPr>
                  <a:t> is never symmetric on distinct elements.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Neither is an equivalence relation: option (D).</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Neither </a:t>
                </a:r>
                <a14:m>
                  <m:oMath xmlns:m="http://schemas.openxmlformats.org/officeDocument/2006/math">
                    <m:sSub>
                      <m:e>
                        <m:r>
                          <a:rPr lang="en-IN" sz="2800" i="1">
                            <a:solidFill>
                              <a:srgbClr val="15803D"/>
                            </a:solidFill>
                            <a:latin typeface="Cambria Math" panose="02040503050406030204" pitchFamily="18" charset="0"/>
                          </a:rPr>
                          <m:t>𝑅</m:t>
                        </m:r>
                      </m:e>
                      <m:sub>
                        <m:r>
                          <a:rPr lang="en-IN" sz="2800" i="1">
                            <a:solidFill>
                              <a:srgbClr val="15803D"/>
                            </a:solidFill>
                            <a:latin typeface="Cambria Math" panose="02040503050406030204" pitchFamily="18" charset="0"/>
                          </a:rPr>
                          <m:t>1</m:t>
                        </m:r>
                      </m:sub>
                    </m:sSub>
                  </m:oMath>
                </a14:m>
                <a:r>
                  <a:rPr sz="2800" b="1">
                    <a:solidFill>
                      <a:srgbClr val="15803D"/>
                    </a:solidFill>
                    <a:latin typeface="Arial"/>
                  </a:rPr>
                  <a:t> nor </a:t>
                </a:r>
                <a14:m>
                  <m:oMath xmlns:m="http://schemas.openxmlformats.org/officeDocument/2006/math">
                    <m:sSub>
                      <m:e>
                        <m:r>
                          <a:rPr lang="en-IN" sz="2800" i="1">
                            <a:solidFill>
                              <a:srgbClr val="15803D"/>
                            </a:solidFill>
                            <a:latin typeface="Cambria Math" panose="02040503050406030204" pitchFamily="18" charset="0"/>
                          </a:rPr>
                          <m:t>𝑅</m:t>
                        </m:r>
                      </m:e>
                      <m:sub>
                        <m:r>
                          <a:rPr lang="en-IN" sz="2800" i="1">
                            <a:solidFill>
                              <a:srgbClr val="15803D"/>
                            </a:solidFill>
                            <a:latin typeface="Cambria Math" panose="02040503050406030204" pitchFamily="18" charset="0"/>
                          </a:rPr>
                          <m:t>2</m:t>
                        </m:r>
                      </m:sub>
                    </m:sSub>
                  </m:oMath>
                </a14:m>
                <a:r>
                  <a:rPr sz="2800" b="1">
                    <a:solidFill>
                      <a:srgbClr val="15803D"/>
                    </a:solidFill>
                    <a:latin typeface="Arial"/>
                  </a:rPr>
                  <a:t> is an equivalence relation</a:t>
                </a:r>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Neither </a:t>
                </a:r>
                <a:r>
                  <a:rPr lang="en-IN" sz="2800">
                    <a:solidFill>
                      <a:srgbClr val="15803D"/>
                    </a:solidFill>
                    <a:latin typeface="Cambria Math" panose="02040503050406030204" pitchFamily="18" charset="0"/>
                  </a:rPr>
                  <a:t>$R_1$</a:t>
                </a:r>
                <a:r>
                  <a:rPr sz="2800" b="1">
                    <a:solidFill>
                      <a:srgbClr val="15803D"/>
                    </a:solidFill>
                    <a:latin typeface="Arial"/>
                  </a:rPr>
                  <a:t> nor </a:t>
                </a:r>
                <a:r>
                  <a:rPr lang="en-IN" sz="2800">
                    <a:solidFill>
                      <a:srgbClr val="15803D"/>
                    </a:solidFill>
                    <a:latin typeface="Cambria Math" panose="02040503050406030204" pitchFamily="18" charset="0"/>
                  </a:rPr>
                  <a:t>$R_2$</a:t>
                </a:r>
                <a:r>
                  <a:rPr sz="2800" b="1">
                    <a:solidFill>
                      <a:srgbClr val="15803D"/>
                    </a:solidFill>
                    <a:latin typeface="Arial"/>
                  </a:rPr>
                  <a:t> is an equivalence relation</a:t>
                </a:r>
                <a:endParaRPr sz="2800">
                  <a:solidFill>
                    <a:srgbClr val="15803D"/>
                  </a:solidFill>
                </a:endParaRPr>
              </a:p>
            </p:txBody>
          </p:sp>
        </mc:Fallback>
      </mc:AlternateContent>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2.5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is 'same sign, or one of them zero';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would be an equivalence relation on </a:t>
                </a:r>
                <a14:m>
                  <m:oMath xmlns:m="http://schemas.openxmlformats.org/officeDocument/2006/math">
                    <m:r>
                      <m:rPr>
                        <m:scr m:val="double-struck"/>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two classes.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some element is related to every element, an equivalence relation must be the universal relation.</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are reflexive and transitive but antisymmetric (partial orders), never equivalence relations on more than one element.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$ab\ge0$</a:t>
                </a:r>
                <a:r>
                  <a:rPr sz="2400" b="0">
                    <a:solidFill>
                      <a:srgbClr val="111827"/>
                    </a:solidFill>
                    <a:latin typeface="Arial"/>
                  </a:rPr>
                  <a:t> is 'same sign, or one of them zero'; </a:t>
                </a:r>
                <a:r>
                  <a:rPr lang="en-IN" sz="2400">
                    <a:solidFill>
                      <a:srgbClr val="111827"/>
                    </a:solidFill>
                    <a:latin typeface="Cambria Math" panose="02040503050406030204" pitchFamily="18" charset="0"/>
                  </a:rPr>
                  <a:t>$ab&gt;0$</a:t>
                </a:r>
                <a:r>
                  <a:rPr sz="2400" b="0">
                    <a:solidFill>
                      <a:srgbClr val="111827"/>
                    </a:solidFill>
                    <a:latin typeface="Arial"/>
                  </a:rPr>
                  <a:t> would be an equivalence relation on </a:t>
                </a:r>
                <a:r>
                  <a:rPr lang="en-IN" sz="2400">
                    <a:solidFill>
                      <a:srgbClr val="111827"/>
                    </a:solidFill>
                    <a:latin typeface="Cambria Math" panose="02040503050406030204" pitchFamily="18" charset="0"/>
                  </a:rPr>
                  <a:t>$\mathbb{R}\setminus\{0\}$</a:t>
                </a:r>
                <a:r>
                  <a:rPr sz="2400" b="0">
                    <a:solidFill>
                      <a:srgbClr val="111827"/>
                    </a:solidFill>
                    <a:latin typeface="Arial"/>
                  </a:rPr>
                  <a:t> with two classes.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some element is related to every element, an equivalence relation must be the universal relation.</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$\ge$</a:t>
                </a:r>
                <a:r>
                  <a:rPr sz="2400" b="0">
                    <a:solidFill>
                      <a:srgbClr val="111827"/>
                    </a:solidFill>
                    <a:latin typeface="Arial"/>
                  </a:rPr>
                  <a:t> and </a:t>
                </a:r>
                <a:r>
                  <a:rPr lang="en-IN" sz="2400">
                    <a:solidFill>
                      <a:srgbClr val="111827"/>
                    </a:solidFill>
                    <a:latin typeface="Cambria Math" panose="02040503050406030204" pitchFamily="18" charset="0"/>
                  </a:rPr>
                  <a:t>$\le$</a:t>
                </a:r>
                <a:r>
                  <a:rPr sz="2400" b="0">
                    <a:solidFill>
                      <a:srgbClr val="111827"/>
                    </a:solidFill>
                    <a:latin typeface="Arial"/>
                  </a:rPr>
                  <a:t> are reflexive and transitive but antisymmetric (partial orders), never equivalence relations on more than one element.</a:t>
                </a:r>
                <a:endParaRPr sz="2400">
                  <a:solidFill>
                    <a:srgbClr val="111827"/>
                  </a:solidFill>
                </a:endParaRPr>
              </a:p>
            </p:txBody>
          </p:sp>
        </mc:Fallback>
      </mc:AlternateContent>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3.5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3776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oMath>
                </a14:m>
                <a:r>
                  <a:rPr sz="2400" b="0">
                    <a:solidFill>
                      <a:srgbClr val="111827"/>
                    </a:solidFill>
                    <a:latin typeface="Arial"/>
                  </a:rPr>
                  <a:t>, consider a relation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on </a:t>
                </a:r>
                <a14:m>
                  <m:oMath xmlns:m="http://schemas.openxmlformats.org/officeDocument/2006/math">
                    <m:r>
                      <m:rPr>
                        <m:scr m:val="double-struck"/>
                        <m:sty m:val="p"/>
                      </m:rPr>
                      <a:rPr lang="en-IN" sz="2400">
                        <a:solidFill>
                          <a:srgbClr val="111827"/>
                        </a:solidFill>
                        <a:latin typeface="Cambria Math" panose="02040503050406030204" pitchFamily="18" charset="0"/>
                      </a:rPr>
                      <m:t>N</m:t>
                    </m:r>
                  </m:oMath>
                </a14:m>
                <a:r>
                  <a:rPr sz="2400" b="0">
                    <a:solidFill>
                      <a:srgbClr val="111827"/>
                    </a:solidFill>
                    <a:latin typeface="Arial"/>
                  </a:rPr>
                  <a:t> given by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𝑦</m:t>
                    </m:r>
                    <m:r>
                      <m:rPr>
                        <m:nor/>
                      </m:rPr>
                      <a:rPr lang="en-IN" sz="2400" i="1">
                        <a:solidFill>
                          <a:srgbClr val="111827"/>
                        </a:solidFill>
                        <a:latin typeface="Cambria Math" panose="02040503050406030204" pitchFamily="18" charset="0"/>
                      </a:rPr>
                      <m:t> 𝑖𝑠 𝑎 𝑚𝑢𝑙𝑡𝑖𝑝𝑙𝑒 𝑜𝑓 </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relation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an equivalence relation if and only if:</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14:m>
                  <m:oMath xmlns:m="http://schemas.openxmlformats.org/officeDocument/2006/math">
                    <m:r>
                      <a:rPr lang="en-IN" sz="2400" i="1">
                        <a:solidFill>
                          <a:srgbClr val="111827"/>
                        </a:solidFill>
                        <a:latin typeface="Cambria Math" panose="02040503050406030204" pitchFamily="18" charset="0"/>
                      </a:rPr>
                      <m:t>α</m:t>
                    </m:r>
                  </m:oMath>
                </a14:m>
                <a:r>
                  <a:rPr sz="2400" b="0">
                    <a:solidFill>
                      <a:srgbClr val="111827"/>
                    </a:solidFill>
                    <a:latin typeface="Arial"/>
                  </a:rPr>
                  <a:t> is a multiple of </a:t>
                </a:r>
                <a14:m>
                  <m:oMath xmlns:m="http://schemas.openxmlformats.org/officeDocument/2006/math">
                    <m:r>
                      <a:rPr lang="en-IN" sz="2400" i="1">
                        <a:solidFill>
                          <a:srgbClr val="111827"/>
                        </a:solidFill>
                        <a:latin typeface="Cambria Math" panose="02040503050406030204" pitchFamily="18" charset="0"/>
                      </a:rPr>
                      <m:t>4</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is the remainder when </a:t>
                </a:r>
                <a14:m>
                  <m:oMath xmlns:m="http://schemas.openxmlformats.org/officeDocument/2006/math">
                    <m:r>
                      <a:rPr lang="en-IN" sz="2400" i="1">
                        <a:solidFill>
                          <a:srgbClr val="111827"/>
                        </a:solidFill>
                        <a:latin typeface="Cambria Math" panose="02040503050406030204" pitchFamily="18" charset="0"/>
                      </a:rPr>
                      <m:t>α</m:t>
                    </m:r>
                  </m:oMath>
                </a14:m>
                <a:r>
                  <a:rPr sz="2400" b="0">
                    <a:solidFill>
                      <a:srgbClr val="111827"/>
                    </a:solidFill>
                    <a:latin typeface="Arial"/>
                  </a:rPr>
                  <a:t> is divided by </a:t>
                </a:r>
                <a14:m>
                  <m:oMath xmlns:m="http://schemas.openxmlformats.org/officeDocument/2006/math">
                    <m:r>
                      <a:rPr lang="en-IN" sz="2400" i="1">
                        <a:solidFill>
                          <a:srgbClr val="111827"/>
                        </a:solidFill>
                        <a:latin typeface="Cambria Math" panose="02040503050406030204" pitchFamily="18" charset="0"/>
                      </a:rPr>
                      <m:t>10</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is the remainder when </a:t>
                </a:r>
                <a14:m>
                  <m:oMath xmlns:m="http://schemas.openxmlformats.org/officeDocument/2006/math">
                    <m:r>
                      <a:rPr lang="en-IN" sz="2400" i="1">
                        <a:solidFill>
                          <a:srgbClr val="111827"/>
                        </a:solidFill>
                        <a:latin typeface="Cambria Math" panose="02040503050406030204" pitchFamily="18" charset="0"/>
                      </a:rPr>
                      <m:t>α</m:t>
                    </m:r>
                  </m:oMath>
                </a14:m>
                <a:r>
                  <a:rPr sz="2400" b="0">
                    <a:solidFill>
                      <a:srgbClr val="111827"/>
                    </a:solidFill>
                    <a:latin typeface="Arial"/>
                  </a:rPr>
                  <a:t> is divided by </a:t>
                </a:r>
                <a14:m>
                  <m:oMath xmlns:m="http://schemas.openxmlformats.org/officeDocument/2006/math">
                    <m:r>
                      <a:rPr lang="en-IN" sz="2400" i="1">
                        <a:solidFill>
                          <a:srgbClr val="111827"/>
                        </a:solidFill>
                        <a:latin typeface="Cambria Math" panose="02040503050406030204" pitchFamily="18" charset="0"/>
                      </a:rPr>
                      <m:t>7</m:t>
                    </m:r>
                  </m:oMath>
                </a14:m>
                <a:endParaRPr sz="2400">
                  <a:solidFill>
                    <a:srgbClr val="111827"/>
                  </a:solidFill>
                </a:endParaRPr>
              </a:p>
            </p:txBody>
          </p:sp>
        </mc:Choice>
        <mc:Fallback>
          <p:sp>
            <p:nvSpPr>
              <p:cNvPr id="4" name="Rounded Rectangle 3"/>
              <p:cNvSpPr/>
              <p:nvPr/>
            </p:nvSpPr>
            <p:spPr>
              <a:xfrm>
                <a:off x="731520" y="1280160"/>
                <a:ext cx="10725912" cy="33776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$\alpha\in\mathbb{N}$</a:t>
                </a:r>
                <a:r>
                  <a:rPr sz="2400" b="0">
                    <a:solidFill>
                      <a:srgbClr val="111827"/>
                    </a:solidFill>
                    <a:latin typeface="Arial"/>
                  </a:rPr>
                  <a:t>, consider a relation </a:t>
                </a:r>
                <a:r>
                  <a:rPr lang="en-IN" sz="2400">
                    <a:solidFill>
                      <a:srgbClr val="111827"/>
                    </a:solidFill>
                    <a:latin typeface="Cambria Math" panose="02040503050406030204" pitchFamily="18" charset="0"/>
                  </a:rPr>
                  <a:t>$R$</a:t>
                </a:r>
                <a:r>
                  <a:rPr sz="2400" b="0">
                    <a:solidFill>
                      <a:srgbClr val="111827"/>
                    </a:solidFill>
                    <a:latin typeface="Arial"/>
                  </a:rPr>
                  <a:t> on </a:t>
                </a:r>
                <a:r>
                  <a:rPr lang="en-IN" sz="2400">
                    <a:solidFill>
                      <a:srgbClr val="111827"/>
                    </a:solidFill>
                    <a:latin typeface="Cambria Math" panose="02040503050406030204" pitchFamily="18" charset="0"/>
                  </a:rPr>
                  <a:t>$\mathbb{N}$</a:t>
                </a:r>
                <a:r>
                  <a:rPr sz="2400" b="0">
                    <a:solidFill>
                      <a:srgbClr val="111827"/>
                    </a:solidFill>
                    <a:latin typeface="Arial"/>
                  </a:rPr>
                  <a:t> given by </a:t>
                </a:r>
                <a:r>
                  <a:rPr lang="en-IN" sz="2400">
                    <a:solidFill>
                      <a:srgbClr val="111827"/>
                    </a:solidFill>
                    <a:latin typeface="Cambria Math" panose="02040503050406030204" pitchFamily="18" charset="0"/>
                  </a:rPr>
                  <a:t>$R=\{(x,y):3x+\alpha y \text{ is a multiple of } 7\}$</a:t>
                </a:r>
                <a:r>
                  <a:rPr sz="2400" b="0">
                    <a:solidFill>
                      <a:srgbClr val="111827"/>
                    </a:solidFill>
                    <a:latin typeface="Arial"/>
                  </a:rPr>
                  <a:t>. The relation </a:t>
                </a:r>
                <a:r>
                  <a:rPr lang="en-IN" sz="2400">
                    <a:solidFill>
                      <a:srgbClr val="111827"/>
                    </a:solidFill>
                    <a:latin typeface="Cambria Math" panose="02040503050406030204" pitchFamily="18" charset="0"/>
                  </a:rPr>
                  <a:t>$R$</a:t>
                </a:r>
                <a:r>
                  <a:rPr sz="2400" b="0">
                    <a:solidFill>
                      <a:srgbClr val="111827"/>
                    </a:solidFill>
                    <a:latin typeface="Arial"/>
                  </a:rPr>
                  <a:t> is an equivalence relation if and only if:</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$\alpha=14$</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$\alpha$</a:t>
                </a:r>
                <a:r>
                  <a:rPr sz="2400" b="0">
                    <a:solidFill>
                      <a:srgbClr val="111827"/>
                    </a:solidFill>
                    <a:latin typeface="Arial"/>
                  </a:rPr>
                  <a:t> is a multiple of </a:t>
                </a:r>
                <a:r>
                  <a:rPr lang="en-IN" sz="2400">
                    <a:solidFill>
                      <a:srgbClr val="111827"/>
                    </a:solidFill>
                    <a:latin typeface="Cambria Math" panose="02040503050406030204" pitchFamily="18" charset="0"/>
                  </a:rPr>
                  <a:t>$4$</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$4$</a:t>
                </a:r>
                <a:r>
                  <a:rPr sz="2400" b="0">
                    <a:solidFill>
                      <a:srgbClr val="111827"/>
                    </a:solidFill>
                    <a:latin typeface="Arial"/>
                  </a:rPr>
                  <a:t> is the remainder when </a:t>
                </a:r>
                <a:r>
                  <a:rPr lang="en-IN" sz="2400">
                    <a:solidFill>
                      <a:srgbClr val="111827"/>
                    </a:solidFill>
                    <a:latin typeface="Cambria Math" panose="02040503050406030204" pitchFamily="18" charset="0"/>
                  </a:rPr>
                  <a:t>$\alpha$</a:t>
                </a:r>
                <a:r>
                  <a:rPr sz="2400" b="0">
                    <a:solidFill>
                      <a:srgbClr val="111827"/>
                    </a:solidFill>
                    <a:latin typeface="Arial"/>
                  </a:rPr>
                  <a:t> is divided by </a:t>
                </a:r>
                <a:r>
                  <a:rPr lang="en-IN" sz="2400">
                    <a:solidFill>
                      <a:srgbClr val="111827"/>
                    </a:solidFill>
                    <a:latin typeface="Cambria Math" panose="02040503050406030204" pitchFamily="18" charset="0"/>
                  </a:rPr>
                  <a:t>$10$</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$4$</a:t>
                </a:r>
                <a:r>
                  <a:rPr sz="2400" b="0">
                    <a:solidFill>
                      <a:srgbClr val="111827"/>
                    </a:solidFill>
                    <a:latin typeface="Arial"/>
                  </a:rPr>
                  <a:t> is the remainder when </a:t>
                </a:r>
                <a:r>
                  <a:rPr lang="en-IN" sz="2400">
                    <a:solidFill>
                      <a:srgbClr val="111827"/>
                    </a:solidFill>
                    <a:latin typeface="Cambria Math" panose="02040503050406030204" pitchFamily="18" charset="0"/>
                  </a:rPr>
                  <a:t>$\alpha$</a:t>
                </a:r>
                <a:r>
                  <a:rPr sz="2400" b="0">
                    <a:solidFill>
                      <a:srgbClr val="111827"/>
                    </a:solidFill>
                    <a:latin typeface="Arial"/>
                  </a:rPr>
                  <a:t> is divided by </a:t>
                </a:r>
                <a:r>
                  <a:rPr lang="en-IN" sz="2400">
                    <a:solidFill>
                      <a:srgbClr val="111827"/>
                    </a:solidFill>
                    <a:latin typeface="Cambria Math" panose="02040503050406030204" pitchFamily="18" charset="0"/>
                  </a:rPr>
                  <a:t>$7$</a:t>
                </a:r>
                <a:endParaRPr sz="2400">
                  <a:solidFill>
                    <a:srgbClr val="111827"/>
                  </a:solidFill>
                </a:endParaRPr>
              </a:p>
            </p:txBody>
          </p:sp>
        </mc:Fallback>
      </mc:AlternateContent>
      <p:sp>
        <p:nvSpPr>
          <p:cNvPr id="5" name="Rectangle 4"/>
          <p:cNvSpPr/>
          <p:nvPr/>
        </p:nvSpPr>
        <p:spPr>
          <a:xfrm>
            <a:off x="731520" y="4886452"/>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Equivalence relation, Divisibility and remainders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3.5(Average JEE Advanced Level)</a:t>
            </a:r>
            <a:endParaRPr sz="2400">
              <a:solidFill>
                <a:srgbClr val="111827"/>
              </a:solidFill>
            </a:endParaRP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3.5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Reflexivity at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forces </a:t>
                </a:r>
                <a14:m>
                  <m:oMath xmlns:m="http://schemas.openxmlformats.org/officeDocument/2006/math">
                    <m:r>
                      <a:rPr lang="en-IN" sz="2400" i="1">
                        <a:solidFill>
                          <a:srgbClr val="78350F"/>
                        </a:solidFill>
                        <a:latin typeface="Cambria Math" panose="02040503050406030204" pitchFamily="18" charset="0"/>
                      </a:rPr>
                      <m:t>7</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α</m:t>
                    </m:r>
                  </m:oMath>
                </a14:m>
                <a:r>
                  <a:rPr sz="2400" b="0">
                    <a:solidFill>
                      <a:srgbClr val="78350F"/>
                    </a:solidFill>
                    <a:latin typeface="Arial"/>
                  </a:rPr>
                  <a:t>; conversely that single condition gives symmetry and transitivity.</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Reflexivity at </a:t>
                </a:r>
                <a:r>
                  <a:rPr lang="en-IN" sz="2400">
                    <a:solidFill>
                      <a:srgbClr val="78350F"/>
                    </a:solidFill>
                    <a:latin typeface="Cambria Math" panose="02040503050406030204" pitchFamily="18" charset="0"/>
                  </a:rPr>
                  <a:t>$x=1$</a:t>
                </a:r>
                <a:r>
                  <a:rPr sz="2400" b="0">
                    <a:solidFill>
                      <a:srgbClr val="78350F"/>
                    </a:solidFill>
                    <a:latin typeface="Arial"/>
                  </a:rPr>
                  <a:t> forces </a:t>
                </a:r>
                <a:r>
                  <a:rPr lang="en-IN" sz="2400">
                    <a:solidFill>
                      <a:srgbClr val="78350F"/>
                    </a:solidFill>
                    <a:latin typeface="Cambria Math" panose="02040503050406030204" pitchFamily="18" charset="0"/>
                  </a:rPr>
                  <a:t>$7\mid3+\alpha$</a:t>
                </a:r>
                <a:r>
                  <a:rPr sz="2400" b="0">
                    <a:solidFill>
                      <a:srgbClr val="78350F"/>
                    </a:solidFill>
                    <a:latin typeface="Arial"/>
                  </a:rPr>
                  <a:t>; conversely that single condition gives symmetry and transitivity.</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Reflexive: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for all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means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is a multiple of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for every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Taking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α</m:t>
                    </m:r>
                  </m:oMath>
                </a14:m>
                <a:r>
                  <a:rPr sz="2400" b="0">
                    <a:solidFill>
                      <a:srgbClr val="111827"/>
                    </a:solidFill>
                    <a:latin typeface="Arial"/>
                  </a:rPr>
                  <a:t> leaves remainder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when divided by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Symmetric: let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Adding gives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when </a:t>
                </a:r>
                <a14:m>
                  <m:oMath xmlns:m="http://schemas.openxmlformats.org/officeDocument/2006/math">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one is a multiple of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exactly when the other is: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symmetric.</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Reflexive: </a:t>
                </a:r>
                <a:r>
                  <a:rPr lang="en-IN" sz="2400">
                    <a:solidFill>
                      <a:srgbClr val="111827"/>
                    </a:solidFill>
                    <a:latin typeface="Cambria Math" panose="02040503050406030204" pitchFamily="18" charset="0"/>
                  </a:rPr>
                  <a:t>$(x,x)\in R$</a:t>
                </a:r>
                <a:r>
                  <a:rPr sz="2400" b="0">
                    <a:solidFill>
                      <a:srgbClr val="111827"/>
                    </a:solidFill>
                    <a:latin typeface="Arial"/>
                  </a:rPr>
                  <a:t> for all </a:t>
                </a:r>
                <a:r>
                  <a:rPr lang="en-IN" sz="2400">
                    <a:solidFill>
                      <a:srgbClr val="111827"/>
                    </a:solidFill>
                    <a:latin typeface="Cambria Math" panose="02040503050406030204" pitchFamily="18" charset="0"/>
                  </a:rPr>
                  <a:t>$x$</a:t>
                </a:r>
                <a:r>
                  <a:rPr sz="2400" b="0">
                    <a:solidFill>
                      <a:srgbClr val="111827"/>
                    </a:solidFill>
                    <a:latin typeface="Arial"/>
                  </a:rPr>
                  <a:t> means </a:t>
                </a:r>
                <a:r>
                  <a:rPr lang="en-IN" sz="2400">
                    <a:solidFill>
                      <a:srgbClr val="111827"/>
                    </a:solidFill>
                    <a:latin typeface="Cambria Math" panose="02040503050406030204" pitchFamily="18" charset="0"/>
                  </a:rPr>
                  <a:t>$3x+\alpha x=(3+\alpha)x$</a:t>
                </a:r>
                <a:r>
                  <a:rPr sz="2400" b="0">
                    <a:solidFill>
                      <a:srgbClr val="111827"/>
                    </a:solidFill>
                    <a:latin typeface="Arial"/>
                  </a:rPr>
                  <a:t> is a multiple of </a:t>
                </a:r>
                <a:r>
                  <a:rPr lang="en-IN" sz="2400">
                    <a:solidFill>
                      <a:srgbClr val="111827"/>
                    </a:solidFill>
                    <a:latin typeface="Cambria Math" panose="02040503050406030204" pitchFamily="18" charset="0"/>
                  </a:rPr>
                  <a:t>$7$</a:t>
                </a:r>
                <a:r>
                  <a:rPr sz="2400" b="0">
                    <a:solidFill>
                      <a:srgbClr val="111827"/>
                    </a:solidFill>
                    <a:latin typeface="Arial"/>
                  </a:rPr>
                  <a:t> for every </a:t>
                </a:r>
                <a:r>
                  <a:rPr lang="en-IN" sz="2400">
                    <a:solidFill>
                      <a:srgbClr val="111827"/>
                    </a:solidFill>
                    <a:latin typeface="Cambria Math" panose="02040503050406030204" pitchFamily="18" charset="0"/>
                  </a:rPr>
                  <a:t>$x\in\mathbb{N}$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Taking </a:t>
                </a:r>
                <a:r>
                  <a:rPr lang="en-IN" sz="2400">
                    <a:solidFill>
                      <a:srgbClr val="111827"/>
                    </a:solidFill>
                    <a:latin typeface="Cambria Math" panose="02040503050406030204" pitchFamily="18" charset="0"/>
                  </a:rPr>
                  <a:t>$x=1$</a:t>
                </a:r>
                <a:r>
                  <a:rPr sz="2400" b="0">
                    <a:solidFill>
                      <a:srgbClr val="111827"/>
                    </a:solidFill>
                    <a:latin typeface="Arial"/>
                  </a:rPr>
                  <a:t>: </a:t>
                </a:r>
                <a:r>
                  <a:rPr lang="en-IN" sz="2400">
                    <a:solidFill>
                      <a:srgbClr val="111827"/>
                    </a:solidFill>
                    <a:latin typeface="Cambria Math" panose="02040503050406030204" pitchFamily="18" charset="0"/>
                  </a:rPr>
                  <a:t>$7\mid3+\alpha$</a:t>
                </a:r>
                <a:r>
                  <a:rPr sz="2400" b="0">
                    <a:solidFill>
                      <a:srgbClr val="111827"/>
                    </a:solidFill>
                    <a:latin typeface="Arial"/>
                  </a:rPr>
                  <a:t>, so </a:t>
                </a:r>
                <a:r>
                  <a:rPr lang="en-IN" sz="2400">
                    <a:solidFill>
                      <a:srgbClr val="111827"/>
                    </a:solidFill>
                    <a:latin typeface="Cambria Math" panose="02040503050406030204" pitchFamily="18" charset="0"/>
                  </a:rPr>
                  <a:t>$\alpha=7\lambda-3=7(\lambda-1)+4$</a:t>
                </a:r>
                <a:r>
                  <a:rPr sz="2400" b="0">
                    <a:solidFill>
                      <a:srgbClr val="111827"/>
                    </a:solidFill>
                    <a:latin typeface="Arial"/>
                  </a:rPr>
                  <a:t>. So </a:t>
                </a:r>
                <a:r>
                  <a:rPr lang="en-IN" sz="2400">
                    <a:solidFill>
                      <a:srgbClr val="111827"/>
                    </a:solidFill>
                    <a:latin typeface="Cambria Math" panose="02040503050406030204" pitchFamily="18" charset="0"/>
                  </a:rPr>
                  <a:t>$\alpha$</a:t>
                </a:r>
                <a:r>
                  <a:rPr sz="2400" b="0">
                    <a:solidFill>
                      <a:srgbClr val="111827"/>
                    </a:solidFill>
                    <a:latin typeface="Arial"/>
                  </a:rPr>
                  <a:t> leaves remainder </a:t>
                </a:r>
                <a:r>
                  <a:rPr lang="en-IN" sz="2400">
                    <a:solidFill>
                      <a:srgbClr val="111827"/>
                    </a:solidFill>
                    <a:latin typeface="Cambria Math" panose="02040503050406030204" pitchFamily="18" charset="0"/>
                  </a:rPr>
                  <a:t>$4$</a:t>
                </a:r>
                <a:r>
                  <a:rPr sz="2400" b="0">
                    <a:solidFill>
                      <a:srgbClr val="111827"/>
                    </a:solidFill>
                    <a:latin typeface="Arial"/>
                  </a:rPr>
                  <a:t> when divided by </a:t>
                </a:r>
                <a:r>
                  <a:rPr lang="en-IN" sz="2400">
                    <a:solidFill>
                      <a:srgbClr val="111827"/>
                    </a:solidFill>
                    <a:latin typeface="Cambria Math" panose="02040503050406030204" pitchFamily="18" charset="0"/>
                  </a:rPr>
                  <a:t>$7$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Symmetric: let </a:t>
                </a:r>
                <a:r>
                  <a:rPr lang="en-IN" sz="2400">
                    <a:solidFill>
                      <a:srgbClr val="111827"/>
                    </a:solidFill>
                    <a:latin typeface="Cambria Math" panose="02040503050406030204" pitchFamily="18" charset="0"/>
                  </a:rPr>
                  <a:t>$3x+\alpha y=7N_1$</a:t>
                </a:r>
                <a:r>
                  <a:rPr sz="2400" b="0">
                    <a:solidFill>
                      <a:srgbClr val="111827"/>
                    </a:solidFill>
                    <a:latin typeface="Arial"/>
                  </a:rPr>
                  <a:t> and </a:t>
                </a:r>
                <a:r>
                  <a:rPr lang="en-IN" sz="2400">
                    <a:solidFill>
                      <a:srgbClr val="111827"/>
                    </a:solidFill>
                    <a:latin typeface="Cambria Math" panose="02040503050406030204" pitchFamily="18" charset="0"/>
                  </a:rPr>
                  <a:t>$3y+\alpha x=7N_2$</a:t>
                </a:r>
                <a:r>
                  <a:rPr sz="2400" b="0">
                    <a:solidFill>
                      <a:srgbClr val="111827"/>
                    </a:solidFill>
                    <a:latin typeface="Arial"/>
                  </a:rPr>
                  <a:t>. Adding gives </a:t>
                </a:r>
                <a:r>
                  <a:rPr lang="en-IN" sz="2400">
                    <a:solidFill>
                      <a:srgbClr val="111827"/>
                    </a:solidFill>
                    <a:latin typeface="Cambria Math" panose="02040503050406030204" pitchFamily="18" charset="0"/>
                  </a:rPr>
                  <a:t>$(3+\alpha)(x+y)=7(N_1+N_2)$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when </a:t>
                </a:r>
                <a:r>
                  <a:rPr lang="en-IN" sz="2400">
                    <a:solidFill>
                      <a:srgbClr val="111827"/>
                    </a:solidFill>
                    <a:latin typeface="Cambria Math" panose="02040503050406030204" pitchFamily="18" charset="0"/>
                  </a:rPr>
                  <a:t>$7\mid3+\alpha$</a:t>
                </a:r>
                <a:r>
                  <a:rPr sz="2400" b="0">
                    <a:solidFill>
                      <a:srgbClr val="111827"/>
                    </a:solidFill>
                    <a:latin typeface="Arial"/>
                  </a:rPr>
                  <a:t> (i.e. </a:t>
                </a:r>
                <a:r>
                  <a:rPr lang="en-IN" sz="2400">
                    <a:solidFill>
                      <a:srgbClr val="111827"/>
                    </a:solidFill>
                    <a:latin typeface="Cambria Math" panose="02040503050406030204" pitchFamily="18" charset="0"/>
                  </a:rPr>
                  <a:t>$\alpha\equiv4\pmod7$</a:t>
                </a:r>
                <a:r>
                  <a:rPr sz="2400" b="0">
                    <a:solidFill>
                      <a:srgbClr val="111827"/>
                    </a:solidFill>
                    <a:latin typeface="Arial"/>
                  </a:rPr>
                  <a:t>): </a:t>
                </a:r>
                <a:r>
                  <a:rPr lang="en-IN" sz="2400">
                    <a:solidFill>
                      <a:srgbClr val="111827"/>
                    </a:solidFill>
                    <a:latin typeface="Cambria Math" panose="02040503050406030204" pitchFamily="18" charset="0"/>
                  </a:rPr>
                  <a:t>$3x+\alpha y\equiv3(x-y)$</a:t>
                </a:r>
                <a:r>
                  <a:rPr sz="2400" b="0">
                    <a:solidFill>
                      <a:srgbClr val="111827"/>
                    </a:solidFill>
                    <a:latin typeface="Arial"/>
                  </a:rPr>
                  <a:t> and </a:t>
                </a:r>
                <a:r>
                  <a:rPr lang="en-IN" sz="2400">
                    <a:solidFill>
                      <a:srgbClr val="111827"/>
                    </a:solidFill>
                    <a:latin typeface="Cambria Math" panose="02040503050406030204" pitchFamily="18" charset="0"/>
                  </a:rPr>
                  <a:t>$3y+\alpha x\equiv-3(x-y)\pmod7$</a:t>
                </a:r>
                <a:r>
                  <a:rPr sz="2400" b="0">
                    <a:solidFill>
                      <a:srgbClr val="111827"/>
                    </a:solidFill>
                    <a:latin typeface="Arial"/>
                  </a:rPr>
                  <a:t>, so one is a multiple of </a:t>
                </a:r>
                <a:r>
                  <a:rPr lang="en-IN" sz="2400">
                    <a:solidFill>
                      <a:srgbClr val="111827"/>
                    </a:solidFill>
                    <a:latin typeface="Cambria Math" panose="02040503050406030204" pitchFamily="18" charset="0"/>
                  </a:rPr>
                  <a:t>$7$</a:t>
                </a:r>
                <a:r>
                  <a:rPr sz="2400" b="0">
                    <a:solidFill>
                      <a:srgbClr val="111827"/>
                    </a:solidFill>
                    <a:latin typeface="Arial"/>
                  </a:rPr>
                  <a:t> exactly when the other is: </a:t>
                </a:r>
                <a:r>
                  <a:rPr lang="en-IN" sz="2400">
                    <a:solidFill>
                      <a:srgbClr val="111827"/>
                    </a:solidFill>
                    <a:latin typeface="Cambria Math" panose="02040503050406030204" pitchFamily="18" charset="0"/>
                  </a:rPr>
                  <a:t>$R$</a:t>
                </a:r>
                <a:r>
                  <a:rPr sz="2400" b="0">
                    <a:solidFill>
                      <a:srgbClr val="111827"/>
                    </a:solidFill>
                    <a:latin typeface="Arial"/>
                  </a:rPr>
                  <a:t> is symmetric.</a:t>
                </a:r>
                <a:endParaRPr sz="2400">
                  <a:solidFill>
                    <a:srgbClr val="111827"/>
                  </a:solidFill>
                </a:endParaRPr>
              </a:p>
            </p:txBody>
          </p:sp>
        </mc:Fallback>
      </mc:AlternateContent>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3.5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Transitive: let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𝑁</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is a multiple of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exactly when </a:t>
                </a:r>
                <a14:m>
                  <m:oMath xmlns:m="http://schemas.openxmlformats.org/officeDocument/2006/math">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which holds for all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if </a:t>
                </a:r>
                <a14:m>
                  <m:oMath xmlns:m="http://schemas.openxmlformats.org/officeDocument/2006/math">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an equivalence relation iff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Option (D).</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Transitive: let </a:t>
                </a:r>
                <a:r>
                  <a:rPr lang="en-IN" sz="2400">
                    <a:solidFill>
                      <a:srgbClr val="111827"/>
                    </a:solidFill>
                    <a:latin typeface="Cambria Math" panose="02040503050406030204" pitchFamily="18" charset="0"/>
                  </a:rPr>
                  <a:t>$3x+\alpha y=7N_1$</a:t>
                </a:r>
                <a:r>
                  <a:rPr sz="2400" b="0">
                    <a:solidFill>
                      <a:srgbClr val="111827"/>
                    </a:solidFill>
                    <a:latin typeface="Arial"/>
                  </a:rPr>
                  <a:t> and </a:t>
                </a:r>
                <a:r>
                  <a:rPr lang="en-IN" sz="2400">
                    <a:solidFill>
                      <a:srgbClr val="111827"/>
                    </a:solidFill>
                    <a:latin typeface="Cambria Math" panose="02040503050406030204" pitchFamily="18" charset="0"/>
                  </a:rPr>
                  <a:t>$3y+\alpha z=7N_2$</a:t>
                </a:r>
                <a:r>
                  <a:rPr sz="2400" b="0">
                    <a:solidFill>
                      <a:srgbClr val="111827"/>
                    </a:solidFill>
                    <a:latin typeface="Arial"/>
                  </a:rPr>
                  <a:t>. Then </a:t>
                </a:r>
                <a:r>
                  <a:rPr lang="en-IN" sz="2400">
                    <a:solidFill>
                      <a:srgbClr val="111827"/>
                    </a:solidFill>
                    <a:latin typeface="Cambria Math" panose="02040503050406030204" pitchFamily="18" charset="0"/>
                  </a:rPr>
                  <a:t>$3x+\alpha z=(7N_1-\alpha y)+(7N_2-3y)=7(N_1+N_2)-(3+\alpha)y$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is a multiple of </a:t>
                </a:r>
                <a:r>
                  <a:rPr lang="en-IN" sz="2400">
                    <a:solidFill>
                      <a:srgbClr val="111827"/>
                    </a:solidFill>
                    <a:latin typeface="Cambria Math" panose="02040503050406030204" pitchFamily="18" charset="0"/>
                  </a:rPr>
                  <a:t>$7$</a:t>
                </a:r>
                <a:r>
                  <a:rPr sz="2400" b="0">
                    <a:solidFill>
                      <a:srgbClr val="111827"/>
                    </a:solidFill>
                    <a:latin typeface="Arial"/>
                  </a:rPr>
                  <a:t> exactly when </a:t>
                </a:r>
                <a:r>
                  <a:rPr lang="en-IN" sz="2400">
                    <a:solidFill>
                      <a:srgbClr val="111827"/>
                    </a:solidFill>
                    <a:latin typeface="Cambria Math" panose="02040503050406030204" pitchFamily="18" charset="0"/>
                  </a:rPr>
                  <a:t>$7\mid(3+\alpha)y$</a:t>
                </a:r>
                <a:r>
                  <a:rPr sz="2400" b="0">
                    <a:solidFill>
                      <a:srgbClr val="111827"/>
                    </a:solidFill>
                    <a:latin typeface="Arial"/>
                  </a:rPr>
                  <a:t>, which holds for all </a:t>
                </a:r>
                <a:r>
                  <a:rPr lang="en-IN" sz="2400">
                    <a:solidFill>
                      <a:srgbClr val="111827"/>
                    </a:solidFill>
                    <a:latin typeface="Cambria Math" panose="02040503050406030204" pitchFamily="18" charset="0"/>
                  </a:rPr>
                  <a:t>$y$</a:t>
                </a:r>
                <a:r>
                  <a:rPr sz="2400" b="0">
                    <a:solidFill>
                      <a:srgbClr val="111827"/>
                    </a:solidFill>
                    <a:latin typeface="Arial"/>
                  </a:rPr>
                  <a:t> if </a:t>
                </a:r>
                <a:r>
                  <a:rPr lang="en-IN" sz="2400">
                    <a:solidFill>
                      <a:srgbClr val="111827"/>
                    </a:solidFill>
                    <a:latin typeface="Cambria Math" panose="02040503050406030204" pitchFamily="18" charset="0"/>
                  </a:rPr>
                  <a:t>$7\mid3+\alpha$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$R$</a:t>
                </a:r>
                <a:r>
                  <a:rPr sz="2400" b="0">
                    <a:solidFill>
                      <a:srgbClr val="111827"/>
                    </a:solidFill>
                    <a:latin typeface="Arial"/>
                  </a:rPr>
                  <a:t> is an equivalence relation iff </a:t>
                </a:r>
                <a:r>
                  <a:rPr lang="en-IN" sz="2400">
                    <a:solidFill>
                      <a:srgbClr val="111827"/>
                    </a:solidFill>
                    <a:latin typeface="Cambria Math" panose="02040503050406030204" pitchFamily="18" charset="0"/>
                  </a:rPr>
                  <a:t>$\alpha\equiv4\pmod7$</a:t>
                </a:r>
                <a:r>
                  <a:rPr sz="2400" b="0">
                    <a:solidFill>
                      <a:srgbClr val="111827"/>
                    </a:solidFill>
                    <a:latin typeface="Arial"/>
                  </a:rPr>
                  <a:t>. Option (D).</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14:m>
                  <m:oMath xmlns:m="http://schemas.openxmlformats.org/officeDocument/2006/math">
                    <m:r>
                      <a:rPr lang="en-IN" sz="2800" i="1">
                        <a:solidFill>
                          <a:srgbClr val="15803D"/>
                        </a:solidFill>
                        <a:latin typeface="Cambria Math" panose="02040503050406030204" pitchFamily="18" charset="0"/>
                      </a:rPr>
                      <m:t>4</m:t>
                    </m:r>
                  </m:oMath>
                </a14:m>
                <a:r>
                  <a:rPr sz="2800" b="1">
                    <a:solidFill>
                      <a:srgbClr val="15803D"/>
                    </a:solidFill>
                    <a:latin typeface="Arial"/>
                  </a:rPr>
                  <a:t> is the remainder when </a:t>
                </a:r>
                <a14:m>
                  <m:oMath xmlns:m="http://schemas.openxmlformats.org/officeDocument/2006/math">
                    <m:r>
                      <a:rPr lang="en-IN" sz="2800" i="1">
                        <a:solidFill>
                          <a:srgbClr val="15803D"/>
                        </a:solidFill>
                        <a:latin typeface="Cambria Math" panose="02040503050406030204" pitchFamily="18" charset="0"/>
                      </a:rPr>
                      <m:t>α</m:t>
                    </m:r>
                  </m:oMath>
                </a14:m>
                <a:r>
                  <a:rPr sz="2800" b="1">
                    <a:solidFill>
                      <a:srgbClr val="15803D"/>
                    </a:solidFill>
                    <a:latin typeface="Arial"/>
                  </a:rPr>
                  <a:t> is divided by </a:t>
                </a:r>
                <a14:m>
                  <m:oMath xmlns:m="http://schemas.openxmlformats.org/officeDocument/2006/math">
                    <m:r>
                      <a:rPr lang="en-IN" sz="2800" i="1">
                        <a:solidFill>
                          <a:srgbClr val="15803D"/>
                        </a:solidFill>
                        <a:latin typeface="Cambria Math" panose="02040503050406030204" pitchFamily="18" charset="0"/>
                      </a:rPr>
                      <m:t>7</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r>
                  <a:rPr lang="en-IN" sz="2800">
                    <a:solidFill>
                      <a:srgbClr val="15803D"/>
                    </a:solidFill>
                    <a:latin typeface="Cambria Math" panose="02040503050406030204" pitchFamily="18" charset="0"/>
                  </a:rPr>
                  <a:t>$4$</a:t>
                </a:r>
                <a:r>
                  <a:rPr sz="2800" b="1">
                    <a:solidFill>
                      <a:srgbClr val="15803D"/>
                    </a:solidFill>
                    <a:latin typeface="Arial"/>
                  </a:rPr>
                  <a:t> is the remainder when </a:t>
                </a:r>
                <a:r>
                  <a:rPr lang="en-IN" sz="2800">
                    <a:solidFill>
                      <a:srgbClr val="15803D"/>
                    </a:solidFill>
                    <a:latin typeface="Cambria Math" panose="02040503050406030204" pitchFamily="18" charset="0"/>
                  </a:rPr>
                  <a:t>$\alpha$</a:t>
                </a:r>
                <a:r>
                  <a:rPr sz="2800" b="1">
                    <a:solidFill>
                      <a:srgbClr val="15803D"/>
                    </a:solidFill>
                    <a:latin typeface="Arial"/>
                  </a:rPr>
                  <a:t> is divided by </a:t>
                </a:r>
                <a:r>
                  <a:rPr lang="en-IN" sz="2800">
                    <a:solidFill>
                      <a:srgbClr val="15803D"/>
                    </a:solidFill>
                    <a:latin typeface="Cambria Math" panose="02040503050406030204" pitchFamily="18" charset="0"/>
                  </a:rPr>
                  <a:t>$7$</a:t>
                </a:r>
                <a:endParaRPr sz="2800">
                  <a:solidFill>
                    <a:srgbClr val="15803D"/>
                  </a:solidFill>
                </a:endParaRPr>
              </a:p>
            </p:txBody>
          </p:sp>
        </mc:Fallback>
      </mc:AlternateContent>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3.5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Reduce modulo </a:t>
                </a:r>
                <a14:m>
                  <m:oMath xmlns:m="http://schemas.openxmlformats.org/officeDocument/2006/math">
                    <m:r>
                      <a:rPr lang="en-IN" sz="2400" i="1">
                        <a:solidFill>
                          <a:srgbClr val="78350F"/>
                        </a:solidFill>
                        <a:latin typeface="Cambria Math" panose="02040503050406030204" pitchFamily="18" charset="0"/>
                      </a:rPr>
                      <m:t>7</m:t>
                    </m:r>
                  </m:oMath>
                </a14:m>
                <a:r>
                  <a:rPr sz="2400" b="0">
                    <a:solidFill>
                      <a:srgbClr val="78350F"/>
                    </a:solidFill>
                    <a:latin typeface="Arial"/>
                  </a:rPr>
                  <a:t>: if </a:t>
                </a:r>
                <a14:m>
                  <m:oMath xmlns:m="http://schemas.openxmlformats.org/officeDocument/2006/math">
                    <m:r>
                      <a:rPr lang="en-IN" sz="2400" i="1">
                        <a:solidFill>
                          <a:srgbClr val="78350F"/>
                        </a:solidFill>
                        <a:latin typeface="Cambria Math" panose="02040503050406030204" pitchFamily="18" charset="0"/>
                      </a:rPr>
                      <m:t>α</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oMath>
                </a14:m>
                <a:r>
                  <a:rPr sz="2400" b="0">
                    <a:solidFill>
                      <a:srgbClr val="78350F"/>
                    </a:solidFill>
                    <a:latin typeface="Arial"/>
                  </a:rPr>
                  <a:t> then </a:t>
                </a:r>
                <a14:m>
                  <m:oMath xmlns:m="http://schemas.openxmlformats.org/officeDocument/2006/math">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α</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and since </a:t>
                </a:r>
                <a14:m>
                  <m:oMath xmlns:m="http://schemas.openxmlformats.org/officeDocument/2006/math">
                    <m:r>
                      <m:rPr>
                        <m:sty m:val="p"/>
                      </m:rPr>
                      <a:rPr lang="en-IN" sz="2400">
                        <a:solidFill>
                          <a:srgbClr val="78350F"/>
                        </a:solidFill>
                        <a:latin typeface="Cambria Math" panose="02040503050406030204" pitchFamily="18" charset="0"/>
                      </a:rPr>
                      <m:t>gcd</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7</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the relation is just congruence modulo </a:t>
                </a:r>
                <a14:m>
                  <m:oMath xmlns:m="http://schemas.openxmlformats.org/officeDocument/2006/math">
                    <m:r>
                      <a:rPr lang="en-IN" sz="2400" i="1">
                        <a:solidFill>
                          <a:srgbClr val="78350F"/>
                        </a:solidFill>
                        <a:latin typeface="Cambria Math" panose="02040503050406030204" pitchFamily="18" charset="0"/>
                      </a:rPr>
                      <m:t>7</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Reduce modulo </a:t>
                </a:r>
                <a:r>
                  <a:rPr lang="en-IN" sz="2400">
                    <a:solidFill>
                      <a:srgbClr val="78350F"/>
                    </a:solidFill>
                    <a:latin typeface="Cambria Math" panose="02040503050406030204" pitchFamily="18" charset="0"/>
                  </a:rPr>
                  <a:t>$7$</a:t>
                </a:r>
                <a:r>
                  <a:rPr sz="2400" b="0">
                    <a:solidFill>
                      <a:srgbClr val="78350F"/>
                    </a:solidFill>
                    <a:latin typeface="Arial"/>
                  </a:rPr>
                  <a:t>: if </a:t>
                </a:r>
                <a:r>
                  <a:rPr lang="en-IN" sz="2400">
                    <a:solidFill>
                      <a:srgbClr val="78350F"/>
                    </a:solidFill>
                    <a:latin typeface="Cambria Math" panose="02040503050406030204" pitchFamily="18" charset="0"/>
                  </a:rPr>
                  <a:t>$\alpha\equiv4$</a:t>
                </a:r>
                <a:r>
                  <a:rPr sz="2400" b="0">
                    <a:solidFill>
                      <a:srgbClr val="78350F"/>
                    </a:solidFill>
                    <a:latin typeface="Arial"/>
                  </a:rPr>
                  <a:t> then </a:t>
                </a:r>
                <a:r>
                  <a:rPr lang="en-IN" sz="2400">
                    <a:solidFill>
                      <a:srgbClr val="78350F"/>
                    </a:solidFill>
                    <a:latin typeface="Cambria Math" panose="02040503050406030204" pitchFamily="18" charset="0"/>
                  </a:rPr>
                  <a:t>$3x+\alpha y\equiv3(x-y)$</a:t>
                </a:r>
                <a:r>
                  <a:rPr sz="2400" b="0">
                    <a:solidFill>
                      <a:srgbClr val="78350F"/>
                    </a:solidFill>
                    <a:latin typeface="Arial"/>
                  </a:rPr>
                  <a:t>, and since </a:t>
                </a:r>
                <a:r>
                  <a:rPr lang="en-IN" sz="2400">
                    <a:solidFill>
                      <a:srgbClr val="78350F"/>
                    </a:solidFill>
                    <a:latin typeface="Cambria Math" panose="02040503050406030204" pitchFamily="18" charset="0"/>
                  </a:rPr>
                  <a:t>$\gcd(3,7)=1$</a:t>
                </a:r>
                <a:r>
                  <a:rPr sz="2400" b="0">
                    <a:solidFill>
                      <a:srgbClr val="78350F"/>
                    </a:solidFill>
                    <a:latin typeface="Arial"/>
                  </a:rPr>
                  <a:t> the relation is just congruence modulo </a:t>
                </a:r>
                <a:r>
                  <a:rPr lang="en-IN" sz="2400">
                    <a:solidFill>
                      <a:srgbClr val="78350F"/>
                    </a:solidFill>
                    <a:latin typeface="Cambria Math" panose="02040503050406030204" pitchFamily="18" charset="0"/>
                  </a:rPr>
                  <a:t>$7$</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Necessity: reflexivity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forces </a:t>
                </a:r>
                <a14:m>
                  <m:oMath xmlns:m="http://schemas.openxmlformats.org/officeDocument/2006/math">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Sufficiency: if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r>
                      <m:rPr>
                        <m:sty m:val="p"/>
                      </m:rPr>
                      <a:rPr lang="en-IN" sz="2400">
                        <a:solidFill>
                          <a:srgbClr val="111827"/>
                        </a:solidFill>
                        <a:latin typeface="Cambria Math" panose="02040503050406030204" pitchFamily="18" charset="0"/>
                      </a:rPr>
                      <m:t>gcd</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exactly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Necessity: reflexivity at </a:t>
                </a:r>
                <a:r>
                  <a:rPr lang="en-IN" sz="2400">
                    <a:solidFill>
                      <a:srgbClr val="111827"/>
                    </a:solidFill>
                    <a:latin typeface="Cambria Math" panose="02040503050406030204" pitchFamily="18" charset="0"/>
                  </a:rPr>
                  <a:t>$x=1$</a:t>
                </a:r>
                <a:r>
                  <a:rPr sz="2400" b="0">
                    <a:solidFill>
                      <a:srgbClr val="111827"/>
                    </a:solidFill>
                    <a:latin typeface="Arial"/>
                  </a:rPr>
                  <a:t> forces </a:t>
                </a:r>
                <a:r>
                  <a:rPr lang="en-IN" sz="2400">
                    <a:solidFill>
                      <a:srgbClr val="111827"/>
                    </a:solidFill>
                    <a:latin typeface="Cambria Math" panose="02040503050406030204" pitchFamily="18" charset="0"/>
                  </a:rPr>
                  <a:t>$7\mid3+\alpha$</a:t>
                </a:r>
                <a:r>
                  <a:rPr sz="2400" b="0">
                    <a:solidFill>
                      <a:srgbClr val="111827"/>
                    </a:solidFill>
                    <a:latin typeface="Arial"/>
                  </a:rPr>
                  <a:t>, i.e. </a:t>
                </a:r>
                <a:r>
                  <a:rPr lang="en-IN" sz="2400">
                    <a:solidFill>
                      <a:srgbClr val="111827"/>
                    </a:solidFill>
                    <a:latin typeface="Cambria Math" panose="02040503050406030204" pitchFamily="18" charset="0"/>
                  </a:rPr>
                  <a:t>$\alpha\equiv-3\equiv4\pmod7$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Sufficiency: if </a:t>
                </a:r>
                <a:r>
                  <a:rPr lang="en-IN" sz="2400">
                    <a:solidFill>
                      <a:srgbClr val="111827"/>
                    </a:solidFill>
                    <a:latin typeface="Cambria Math" panose="02040503050406030204" pitchFamily="18" charset="0"/>
                  </a:rPr>
                  <a:t>$\alpha\equiv4\pmod7$</a:t>
                </a:r>
                <a:r>
                  <a:rPr sz="2400" b="0">
                    <a:solidFill>
                      <a:srgbClr val="111827"/>
                    </a:solidFill>
                    <a:latin typeface="Arial"/>
                  </a:rPr>
                  <a:t> then </a:t>
                </a:r>
                <a:r>
                  <a:rPr lang="en-IN" sz="2400">
                    <a:solidFill>
                      <a:srgbClr val="111827"/>
                    </a:solidFill>
                    <a:latin typeface="Cambria Math" panose="02040503050406030204" pitchFamily="18" charset="0"/>
                  </a:rPr>
                  <a:t>$3x+\alpha y\equiv3x+4y\equiv3x-3y=3(x-y)\pmod7$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$\gcd(3,7)=1$</a:t>
                </a:r>
                <a:r>
                  <a:rPr sz="2400" b="0">
                    <a:solidFill>
                      <a:srgbClr val="111827"/>
                    </a:solidFill>
                    <a:latin typeface="Arial"/>
                  </a:rPr>
                  <a:t>, </a:t>
                </a:r>
                <a:r>
                  <a:rPr lang="en-IN" sz="2400">
                    <a:solidFill>
                      <a:srgbClr val="111827"/>
                    </a:solidFill>
                    <a:latin typeface="Cambria Math" panose="02040503050406030204" pitchFamily="18" charset="0"/>
                  </a:rPr>
                  <a:t>$7\mid3(x-y)\iff7\mid x-y$</a:t>
                </a:r>
                <a:r>
                  <a:rPr sz="2400" b="0">
                    <a:solidFill>
                      <a:srgbClr val="111827"/>
                    </a:solidFill>
                    <a:latin typeface="Arial"/>
                  </a:rPr>
                  <a:t>. So </a:t>
                </a:r>
                <a:r>
                  <a:rPr lang="en-IN" sz="2400">
                    <a:solidFill>
                      <a:srgbClr val="111827"/>
                    </a:solidFill>
                    <a:latin typeface="Cambria Math" panose="02040503050406030204" pitchFamily="18" charset="0"/>
                  </a:rPr>
                  <a:t>$R$</a:t>
                </a:r>
                <a:r>
                  <a:rPr sz="2400" b="0">
                    <a:solidFill>
                      <a:srgbClr val="111827"/>
                    </a:solidFill>
                    <a:latin typeface="Arial"/>
                  </a:rPr>
                  <a:t> is exactly '</a:t>
                </a:r>
                <a:r>
                  <a:rPr lang="en-IN" sz="2400">
                    <a:solidFill>
                      <a:srgbClr val="111827"/>
                    </a:solidFill>
                    <a:latin typeface="Cambria Math" panose="02040503050406030204" pitchFamily="18" charset="0"/>
                  </a:rPr>
                  <a:t>$x\equiv y\pmod7$</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3.5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Congruence modulo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is reflexive, symmetric and transitive. So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an equivalence relation iff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option (D).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oMath>
                </a14:m>
                <a:r>
                  <a:rPr sz="2400" b="0">
                    <a:solidFill>
                      <a:srgbClr val="111827"/>
                    </a:solidFill>
                    <a:latin typeface="Arial"/>
                  </a:rPr>
                  <a:t> all give equivalence relations and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oMath>
                </a14:m>
                <a:r>
                  <a:rPr sz="2400" b="0">
                    <a:solidFill>
                      <a:srgbClr val="111827"/>
                    </a:solidFill>
                    <a:latin typeface="Arial"/>
                  </a:rPr>
                  <a:t> does not.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Congruence modulo </a:t>
                </a:r>
                <a:r>
                  <a:rPr lang="en-IN" sz="2400">
                    <a:solidFill>
                      <a:srgbClr val="111827"/>
                    </a:solidFill>
                    <a:latin typeface="Cambria Math" panose="02040503050406030204" pitchFamily="18" charset="0"/>
                  </a:rPr>
                  <a:t>$7$</a:t>
                </a:r>
                <a:r>
                  <a:rPr sz="2400" b="0">
                    <a:solidFill>
                      <a:srgbClr val="111827"/>
                    </a:solidFill>
                    <a:latin typeface="Arial"/>
                  </a:rPr>
                  <a:t> is reflexive, symmetric and transitive. So </a:t>
                </a:r>
                <a:r>
                  <a:rPr lang="en-IN" sz="2400">
                    <a:solidFill>
                      <a:srgbClr val="111827"/>
                    </a:solidFill>
                    <a:latin typeface="Cambria Math" panose="02040503050406030204" pitchFamily="18" charset="0"/>
                  </a:rPr>
                  <a:t>$R$</a:t>
                </a:r>
                <a:r>
                  <a:rPr sz="2400" b="0">
                    <a:solidFill>
                      <a:srgbClr val="111827"/>
                    </a:solidFill>
                    <a:latin typeface="Arial"/>
                  </a:rPr>
                  <a:t> is an equivalence relation iff </a:t>
                </a:r>
                <a:r>
                  <a:rPr lang="en-IN" sz="2400">
                    <a:solidFill>
                      <a:srgbClr val="111827"/>
                    </a:solidFill>
                    <a:latin typeface="Cambria Math" panose="02040503050406030204" pitchFamily="18" charset="0"/>
                  </a:rPr>
                  <a:t>$\alpha\equiv4\pmod7$</a:t>
                </a:r>
                <a:r>
                  <a:rPr sz="2400" b="0">
                    <a:solidFill>
                      <a:srgbClr val="111827"/>
                    </a:solidFill>
                    <a:latin typeface="Arial"/>
                  </a:rPr>
                  <a:t>: option (D).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$\alpha=4,11,18,25$</a:t>
                </a:r>
                <a:r>
                  <a:rPr sz="2400" b="0">
                    <a:solidFill>
                      <a:srgbClr val="111827"/>
                    </a:solidFill>
                    <a:latin typeface="Arial"/>
                  </a:rPr>
                  <a:t> all give equivalence relations and </a:t>
                </a:r>
                <a:r>
                  <a:rPr lang="en-IN" sz="2400">
                    <a:solidFill>
                      <a:srgbClr val="111827"/>
                    </a:solidFill>
                    <a:latin typeface="Cambria Math" panose="02040503050406030204" pitchFamily="18" charset="0"/>
                  </a:rPr>
                  <a:t>$\alpha=14$</a:t>
                </a:r>
                <a:r>
                  <a:rPr sz="2400" b="0">
                    <a:solidFill>
                      <a:srgbClr val="111827"/>
                    </a:solidFill>
                    <a:latin typeface="Arial"/>
                  </a:rPr>
                  <a:t> does not.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14:m>
                  <m:oMath xmlns:m="http://schemas.openxmlformats.org/officeDocument/2006/math">
                    <m:r>
                      <a:rPr lang="en-IN" sz="2800" i="1">
                        <a:solidFill>
                          <a:srgbClr val="15803D"/>
                        </a:solidFill>
                        <a:latin typeface="Cambria Math" panose="02040503050406030204" pitchFamily="18" charset="0"/>
                      </a:rPr>
                      <m:t>4</m:t>
                    </m:r>
                  </m:oMath>
                </a14:m>
                <a:r>
                  <a:rPr sz="2800" b="1">
                    <a:solidFill>
                      <a:srgbClr val="15803D"/>
                    </a:solidFill>
                    <a:latin typeface="Arial"/>
                  </a:rPr>
                  <a:t> is the remainder when </a:t>
                </a:r>
                <a14:m>
                  <m:oMath xmlns:m="http://schemas.openxmlformats.org/officeDocument/2006/math">
                    <m:r>
                      <a:rPr lang="en-IN" sz="2800" i="1">
                        <a:solidFill>
                          <a:srgbClr val="15803D"/>
                        </a:solidFill>
                        <a:latin typeface="Cambria Math" panose="02040503050406030204" pitchFamily="18" charset="0"/>
                      </a:rPr>
                      <m:t>α</m:t>
                    </m:r>
                  </m:oMath>
                </a14:m>
                <a:r>
                  <a:rPr sz="2800" b="1">
                    <a:solidFill>
                      <a:srgbClr val="15803D"/>
                    </a:solidFill>
                    <a:latin typeface="Arial"/>
                  </a:rPr>
                  <a:t> is divided by </a:t>
                </a:r>
                <a14:m>
                  <m:oMath xmlns:m="http://schemas.openxmlformats.org/officeDocument/2006/math">
                    <m:r>
                      <a:rPr lang="en-IN" sz="2800" i="1">
                        <a:solidFill>
                          <a:srgbClr val="15803D"/>
                        </a:solidFill>
                        <a:latin typeface="Cambria Math" panose="02040503050406030204" pitchFamily="18" charset="0"/>
                      </a:rPr>
                      <m:t>7</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r>
                  <a:rPr lang="en-IN" sz="2800">
                    <a:solidFill>
                      <a:srgbClr val="15803D"/>
                    </a:solidFill>
                    <a:latin typeface="Cambria Math" panose="02040503050406030204" pitchFamily="18" charset="0"/>
                  </a:rPr>
                  <a:t>$4$</a:t>
                </a:r>
                <a:r>
                  <a:rPr sz="2800" b="1">
                    <a:solidFill>
                      <a:srgbClr val="15803D"/>
                    </a:solidFill>
                    <a:latin typeface="Arial"/>
                  </a:rPr>
                  <a:t> is the remainder when </a:t>
                </a:r>
                <a:r>
                  <a:rPr lang="en-IN" sz="2800">
                    <a:solidFill>
                      <a:srgbClr val="15803D"/>
                    </a:solidFill>
                    <a:latin typeface="Cambria Math" panose="02040503050406030204" pitchFamily="18" charset="0"/>
                  </a:rPr>
                  <a:t>$\alpha$</a:t>
                </a:r>
                <a:r>
                  <a:rPr sz="2800" b="1">
                    <a:solidFill>
                      <a:srgbClr val="15803D"/>
                    </a:solidFill>
                    <a:latin typeface="Arial"/>
                  </a:rPr>
                  <a:t> is divided by </a:t>
                </a:r>
                <a:r>
                  <a:rPr lang="en-IN" sz="2800">
                    <a:solidFill>
                      <a:srgbClr val="15803D"/>
                    </a:solidFill>
                    <a:latin typeface="Cambria Math" panose="02040503050406030204" pitchFamily="18" charset="0"/>
                  </a:rPr>
                  <a:t>$7$</a:t>
                </a:r>
                <a:endParaRPr sz="2800">
                  <a:solidFill>
                    <a:srgbClr val="15803D"/>
                  </a:solidFill>
                </a:endParaRPr>
              </a:p>
            </p:txBody>
          </p:sp>
        </mc:Fallback>
      </mc:AlternateContent>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3.5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prime </a:t>
                </a:r>
                <a14:m>
                  <m:oMath xmlns:m="http://schemas.openxmlformats.org/officeDocument/2006/math">
                    <m:r>
                      <a:rPr lang="en-IN" sz="2400" i="1">
                        <a:solidFill>
                          <a:srgbClr val="111827"/>
                        </a:solidFill>
                        <a:latin typeface="Cambria Math" panose="02040503050406030204" pitchFamily="18" charset="0"/>
                      </a:rPr>
                      <m:t>𝑝</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 relation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an equivalence relation iff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it is then congruence modulo </a:t>
                </a:r>
                <a14:m>
                  <m:oMath xmlns:m="http://schemas.openxmlformats.org/officeDocument/2006/math">
                    <m:r>
                      <a:rPr lang="en-IN" sz="2400" i="1">
                        <a:solidFill>
                          <a:srgbClr val="111827"/>
                        </a:solidFill>
                        <a:latin typeface="Cambria Math" panose="02040503050406030204" pitchFamily="18" charset="0"/>
                      </a:rPr>
                      <m:t>𝑝</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Reflexivity at one well-chosen element often gives the necessary condition; then verify sufficiency.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with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m:t>
                    </m:r>
                  </m:oMath>
                </a14:m>
                <a:r>
                  <a:rPr sz="2400" b="0">
                    <a:solidFill>
                      <a:srgbClr val="111827"/>
                    </a:solidFill>
                    <a:latin typeface="Arial"/>
                  </a:rPr>
                  <a:t> is a multiple of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prime </a:t>
                </a:r>
                <a:r>
                  <a:rPr lang="en-IN" sz="2400">
                    <a:solidFill>
                      <a:srgbClr val="111827"/>
                    </a:solidFill>
                    <a:latin typeface="Cambria Math" panose="02040503050406030204" pitchFamily="18" charset="0"/>
                  </a:rPr>
                  <a:t>$p$</a:t>
                </a:r>
                <a:r>
                  <a:rPr sz="2400" b="0">
                    <a:solidFill>
                      <a:srgbClr val="111827"/>
                    </a:solidFill>
                    <a:latin typeface="Arial"/>
                  </a:rPr>
                  <a:t> and </a:t>
                </a:r>
                <a:r>
                  <a:rPr lang="en-IN" sz="2400">
                    <a:solidFill>
                      <a:srgbClr val="111827"/>
                    </a:solidFill>
                    <a:latin typeface="Cambria Math" panose="02040503050406030204" pitchFamily="18" charset="0"/>
                  </a:rPr>
                  <a:t>$a\not\equiv0$</a:t>
                </a:r>
                <a:r>
                  <a:rPr sz="2400" b="0">
                    <a:solidFill>
                      <a:srgbClr val="111827"/>
                    </a:solidFill>
                    <a:latin typeface="Arial"/>
                  </a:rPr>
                  <a:t>, the relation </a:t>
                </a:r>
                <a:r>
                  <a:rPr lang="en-IN" sz="2400">
                    <a:solidFill>
                      <a:srgbClr val="111827"/>
                    </a:solidFill>
                    <a:latin typeface="Cambria Math" panose="02040503050406030204" pitchFamily="18" charset="0"/>
                  </a:rPr>
                  <a:t>$ax+by\equiv0\pmod p$</a:t>
                </a:r>
                <a:r>
                  <a:rPr sz="2400" b="0">
                    <a:solidFill>
                      <a:srgbClr val="111827"/>
                    </a:solidFill>
                    <a:latin typeface="Arial"/>
                  </a:rPr>
                  <a:t> is an equivalence relation iff </a:t>
                </a:r>
                <a:r>
                  <a:rPr lang="en-IN" sz="2400">
                    <a:solidFill>
                      <a:srgbClr val="111827"/>
                    </a:solidFill>
                    <a:latin typeface="Cambria Math" panose="02040503050406030204" pitchFamily="18" charset="0"/>
                  </a:rPr>
                  <a:t>$b\equiv-a\pmod p$</a:t>
                </a:r>
                <a:r>
                  <a:rPr sz="2400" b="0">
                    <a:solidFill>
                      <a:srgbClr val="111827"/>
                    </a:solidFill>
                    <a:latin typeface="Arial"/>
                  </a:rPr>
                  <a:t>; it is then congruence modulo </a:t>
                </a:r>
                <a:r>
                  <a:rPr lang="en-IN" sz="2400">
                    <a:solidFill>
                      <a:srgbClr val="111827"/>
                    </a:solidFill>
                    <a:latin typeface="Cambria Math" panose="02040503050406030204" pitchFamily="18" charset="0"/>
                  </a:rPr>
                  <a:t>$p$</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Reflexivity at one well-chosen element often gives the necessary condition; then verify sufficiency.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with </a:t>
                </a:r>
                <a:r>
                  <a:rPr lang="en-IN" sz="2400">
                    <a:solidFill>
                      <a:srgbClr val="111827"/>
                    </a:solidFill>
                    <a:latin typeface="Cambria Math" panose="02040503050406030204" pitchFamily="18" charset="0"/>
                  </a:rPr>
                  <a:t>$\alpha=4$</a:t>
                </a:r>
                <a:r>
                  <a:rPr sz="2400" b="0">
                    <a:solidFill>
                      <a:srgbClr val="111827"/>
                    </a:solidFill>
                    <a:latin typeface="Arial"/>
                  </a:rPr>
                  <a:t>, </a:t>
                </a:r>
                <a:r>
                  <a:rPr lang="en-IN" sz="2400">
                    <a:solidFill>
                      <a:srgbClr val="111827"/>
                    </a:solidFill>
                    <a:latin typeface="Cambria Math" panose="02040503050406030204" pitchFamily="18" charset="0"/>
                  </a:rPr>
                  <a:t>$(8,1)$</a:t>
                </a:r>
                <a:r>
                  <a:rPr sz="2400" b="0">
                    <a:solidFill>
                      <a:srgbClr val="111827"/>
                    </a:solidFill>
                    <a:latin typeface="Arial"/>
                  </a:rPr>
                  <a:t>: </a:t>
                </a:r>
                <a:r>
                  <a:rPr lang="en-IN" sz="2400">
                    <a:solidFill>
                      <a:srgbClr val="111827"/>
                    </a:solidFill>
                    <a:latin typeface="Cambria Math" panose="02040503050406030204" pitchFamily="18" charset="0"/>
                  </a:rPr>
                  <a:t>$24+4=28$</a:t>
                </a:r>
                <a:r>
                  <a:rPr sz="2400" b="0">
                    <a:solidFill>
                      <a:srgbClr val="111827"/>
                    </a:solidFill>
                    <a:latin typeface="Arial"/>
                  </a:rPr>
                  <a:t> is a multiple of </a:t>
                </a:r>
                <a:r>
                  <a:rPr lang="en-IN" sz="2400">
                    <a:solidFill>
                      <a:srgbClr val="111827"/>
                    </a:solidFill>
                    <a:latin typeface="Cambria Math" panose="02040503050406030204" pitchFamily="18" charset="0"/>
                  </a:rPr>
                  <a:t>$7$</a:t>
                </a:r>
                <a:r>
                  <a:rPr sz="2400" b="0">
                    <a:solidFill>
                      <a:srgbClr val="111827"/>
                    </a:solidFill>
                    <a:latin typeface="Arial"/>
                  </a:rPr>
                  <a:t> and </a:t>
                </a:r>
                <a:r>
                  <a:rPr lang="en-IN" sz="2400">
                    <a:solidFill>
                      <a:srgbClr val="111827"/>
                    </a:solidFill>
                    <a:latin typeface="Cambria Math" panose="02040503050406030204" pitchFamily="18" charset="0"/>
                  </a:rPr>
                  <a:t>$8\equiv1\pmod7$</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be a relation from the set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to itself such that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 𝑤ℎ𝑒𝑟𝑒 </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nor/>
                      </m:rPr>
                      <a:rPr lang="en-IN" sz="2400" i="1">
                        <a:solidFill>
                          <a:srgbClr val="111827"/>
                        </a:solidFill>
                        <a:latin typeface="Cambria Math" panose="02040503050406030204" pitchFamily="18" charset="0"/>
                      </a:rPr>
                      <m:t> 𝑎𝑟𝑒 𝑝𝑟𝑖𝑚𝑒 𝑛𝑢𝑚𝑏𝑒𝑟𝑠</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the number of elements in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600   (B) 660   (C) 540   (D) 720</a:t>
                </a:r>
                <a:endParaRPr sz="2400">
                  <a:solidFill>
                    <a:srgbClr val="111827"/>
                  </a:solidFill>
                </a:endParaRPr>
              </a:p>
            </p:txBody>
          </p:sp>
        </mc:Choice>
        <mc:Fallback>
          <p:sp>
            <p:nvSpPr>
              <p:cNvPr id="4" name="Rounded Rectangle 3"/>
              <p:cNvSpPr/>
              <p:nvPr/>
            </p:nvSpPr>
            <p:spPr>
              <a:xfrm>
                <a:off x="731520" y="1280160"/>
                <a:ext cx="10725912" cy="207162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$R$</a:t>
                </a:r>
                <a:r>
                  <a:rPr sz="2400" b="0">
                    <a:solidFill>
                      <a:srgbClr val="111827"/>
                    </a:solidFill>
                    <a:latin typeface="Arial"/>
                  </a:rPr>
                  <a:t> be a relation from the set </a:t>
                </a:r>
                <a:r>
                  <a:rPr lang="en-IN" sz="2400">
                    <a:solidFill>
                      <a:srgbClr val="111827"/>
                    </a:solidFill>
                    <a:latin typeface="Cambria Math" panose="02040503050406030204" pitchFamily="18" charset="0"/>
                  </a:rPr>
                  <a:t>$\{1,2,3,\dots,60\}$</a:t>
                </a:r>
                <a:r>
                  <a:rPr sz="2400" b="0">
                    <a:solidFill>
                      <a:srgbClr val="111827"/>
                    </a:solidFill>
                    <a:latin typeface="Arial"/>
                  </a:rPr>
                  <a:t> to itself such that </a:t>
                </a:r>
                <a:r>
                  <a:rPr lang="en-IN" sz="2400">
                    <a:solidFill>
                      <a:srgbClr val="111827"/>
                    </a:solidFill>
                    <a:latin typeface="Cambria Math" panose="02040503050406030204" pitchFamily="18" charset="0"/>
                  </a:rPr>
                  <a:t>$R=\{(a,b):b=pq,\text{ where } p,q\ge3 \text{ are prime numbers}\}$</a:t>
                </a:r>
                <a:r>
                  <a:rPr sz="2400" b="0">
                    <a:solidFill>
                      <a:srgbClr val="111827"/>
                    </a:solidFill>
                    <a:latin typeface="Arial"/>
                  </a:rPr>
                  <a:t>. Then the number of elements in </a:t>
                </a:r>
                <a:r>
                  <a:rPr lang="en-IN" sz="2400">
                    <a:solidFill>
                      <a:srgbClr val="111827"/>
                    </a:solidFill>
                    <a:latin typeface="Cambria Math" panose="02040503050406030204" pitchFamily="18" charset="0"/>
                  </a:rPr>
                  <a:t>$R$</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600   (B) 660   (C) 540   (D) 720</a:t>
                </a:r>
                <a:endParaRPr sz="2400">
                  <a:solidFill>
                    <a:srgbClr val="111827"/>
                  </a:solidFill>
                </a:endParaRPr>
              </a:p>
            </p:txBody>
          </p:sp>
        </mc:Fallback>
      </mc:AlternateContent>
      <p:sp>
        <p:nvSpPr>
          <p:cNvPr id="5" name="Rectangle 4"/>
          <p:cNvSpPr/>
          <p:nvPr/>
        </p:nvSpPr>
        <p:spPr>
          <a:xfrm>
            <a:off x="731520" y="3580383"/>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Single Correct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Number of elements of a relation, Prime numbers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Count the distinct values of </a:t>
                </a:r>
                <a14:m>
                  <m:oMath xmlns:m="http://schemas.openxmlformats.org/officeDocument/2006/math">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𝑝</m:t>
                    </m:r>
                    <m:r>
                      <a:rPr lang="en-IN" sz="2400" i="1">
                        <a:solidFill>
                          <a:srgbClr val="78350F"/>
                        </a:solidFill>
                        <a:latin typeface="Cambria Math" panose="02040503050406030204" pitchFamily="18" charset="0"/>
                      </a:rPr>
                      <m:t>𝑞</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60</m:t>
                    </m:r>
                  </m:oMath>
                </a14:m>
                <a:r>
                  <a:rPr sz="2400" b="0">
                    <a:solidFill>
                      <a:srgbClr val="78350F"/>
                    </a:solidFill>
                    <a:latin typeface="Arial"/>
                  </a:rPr>
                  <a:t> with odd primes </a:t>
                </a:r>
                <a14:m>
                  <m:oMath xmlns:m="http://schemas.openxmlformats.org/officeDocument/2006/math">
                    <m:r>
                      <a:rPr lang="en-IN" sz="2400" i="1">
                        <a:solidFill>
                          <a:srgbClr val="78350F"/>
                        </a:solidFill>
                        <a:latin typeface="Cambria Math" panose="02040503050406030204" pitchFamily="18" charset="0"/>
                      </a:rPr>
                      <m:t>𝑝</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𝑞</m:t>
                    </m:r>
                  </m:oMath>
                </a14:m>
                <a:r>
                  <a:rPr sz="2400" b="0">
                    <a:solidFill>
                      <a:srgbClr val="78350F"/>
                    </a:solidFill>
                    <a:latin typeface="Arial"/>
                  </a:rPr>
                  <a:t>, then pair each with all </a:t>
                </a:r>
                <a14:m>
                  <m:oMath xmlns:m="http://schemas.openxmlformats.org/officeDocument/2006/math">
                    <m:r>
                      <a:rPr lang="en-IN" sz="2400" i="1">
                        <a:solidFill>
                          <a:srgbClr val="78350F"/>
                        </a:solidFill>
                        <a:latin typeface="Cambria Math" panose="02040503050406030204" pitchFamily="18" charset="0"/>
                      </a:rPr>
                      <m:t>60</m:t>
                    </m:r>
                  </m:oMath>
                </a14:m>
                <a:r>
                  <a:rPr sz="2400" b="0">
                    <a:solidFill>
                      <a:srgbClr val="78350F"/>
                    </a:solidFill>
                    <a:latin typeface="Arial"/>
                  </a:rPr>
                  <a:t> values of </a:t>
                </a:r>
                <a14:m>
                  <m:oMath xmlns:m="http://schemas.openxmlformats.org/officeDocument/2006/math">
                    <m:r>
                      <a:rPr lang="en-IN" sz="2400" i="1">
                        <a:solidFill>
                          <a:srgbClr val="78350F"/>
                        </a:solidFill>
                        <a:latin typeface="Cambria Math" panose="02040503050406030204" pitchFamily="18" charset="0"/>
                      </a:rPr>
                      <m:t>𝑎</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Count the distinct values of </a:t>
                </a:r>
                <a:r>
                  <a:rPr lang="en-IN" sz="2400">
                    <a:solidFill>
                      <a:srgbClr val="78350F"/>
                    </a:solidFill>
                    <a:latin typeface="Cambria Math" panose="02040503050406030204" pitchFamily="18" charset="0"/>
                  </a:rPr>
                  <a:t>$b=pq\le60$</a:t>
                </a:r>
                <a:r>
                  <a:rPr sz="2400" b="0">
                    <a:solidFill>
                      <a:srgbClr val="78350F"/>
                    </a:solidFill>
                    <a:latin typeface="Arial"/>
                  </a:rPr>
                  <a:t> with odd primes </a:t>
                </a:r>
                <a:r>
                  <a:rPr lang="en-IN" sz="2400">
                    <a:solidFill>
                      <a:srgbClr val="78350F"/>
                    </a:solidFill>
                    <a:latin typeface="Cambria Math" panose="02040503050406030204" pitchFamily="18" charset="0"/>
                  </a:rPr>
                  <a:t>$p,q$</a:t>
                </a:r>
                <a:r>
                  <a:rPr sz="2400" b="0">
                    <a:solidFill>
                      <a:srgbClr val="78350F"/>
                    </a:solidFill>
                    <a:latin typeface="Arial"/>
                  </a:rPr>
                  <a:t>, then pair each with all </a:t>
                </a:r>
                <a:r>
                  <a:rPr lang="en-IN" sz="2400">
                    <a:solidFill>
                      <a:srgbClr val="78350F"/>
                    </a:solidFill>
                    <a:latin typeface="Cambria Math" panose="02040503050406030204" pitchFamily="18" charset="0"/>
                  </a:rPr>
                  <a:t>$60$</a:t>
                </a:r>
                <a:r>
                  <a:rPr sz="2400" b="0">
                    <a:solidFill>
                      <a:srgbClr val="78350F"/>
                    </a:solidFill>
                    <a:latin typeface="Arial"/>
                  </a:rPr>
                  <a:t> values of </a:t>
                </a:r>
                <a:r>
                  <a:rPr lang="en-IN" sz="2400">
                    <a:solidFill>
                      <a:srgbClr val="78350F"/>
                    </a:solidFill>
                    <a:latin typeface="Cambria Math" panose="02040503050406030204" pitchFamily="18" charset="0"/>
                  </a:rPr>
                  <a:t>$a$</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can be any element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60</m:t>
                    </m:r>
                  </m:oMath>
                </a14:m>
                <a:r>
                  <a:rPr sz="2400" b="0">
                    <a:solidFill>
                      <a:srgbClr val="111827"/>
                    </a:solidFill>
                    <a:latin typeface="Arial"/>
                  </a:rPr>
                  <a:t> choices, independent of </a:t>
                </a:r>
                <a14:m>
                  <m:oMath xmlns:m="http://schemas.openxmlformats.org/officeDocument/2006/math">
                    <m:r>
                      <a:rPr lang="en-IN" sz="2400" i="1">
                        <a:solidFill>
                          <a:srgbClr val="111827"/>
                        </a:solidFill>
                        <a:latin typeface="Cambria Math" panose="02040503050406030204" pitchFamily="18" charset="0"/>
                      </a:rPr>
                      <m:t>𝑏</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oMath>
                </a14:m>
                <a:r>
                  <a:rPr sz="2400" b="0">
                    <a:solidFill>
                      <a:srgbClr val="111827"/>
                    </a:solidFill>
                    <a:latin typeface="Arial"/>
                  </a:rPr>
                  <a:t> with primes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giving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57</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values.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giving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values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is already counted as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a:t>
                </a:r>
                <a:r>
                  <a:rPr sz="2400" b="0">
                    <a:solidFill>
                      <a:srgbClr val="111827"/>
                    </a:solidFill>
                    <a:latin typeface="Arial"/>
                  </a:rPr>
                  <a:t> can be any element of </a:t>
                </a:r>
                <a:r>
                  <a:rPr lang="en-IN" sz="2400">
                    <a:solidFill>
                      <a:srgbClr val="111827"/>
                    </a:solidFill>
                    <a:latin typeface="Cambria Math" panose="02040503050406030204" pitchFamily="18" charset="0"/>
                  </a:rPr>
                  <a:t>$\{1,\dots,60\}$</a:t>
                </a:r>
                <a:r>
                  <a:rPr sz="2400" b="0">
                    <a:solidFill>
                      <a:srgbClr val="111827"/>
                    </a:solidFill>
                    <a:latin typeface="Arial"/>
                  </a:rPr>
                  <a:t>: </a:t>
                </a:r>
                <a:r>
                  <a:rPr lang="en-IN" sz="2400">
                    <a:solidFill>
                      <a:srgbClr val="111827"/>
                    </a:solidFill>
                    <a:latin typeface="Cambria Math" panose="02040503050406030204" pitchFamily="18" charset="0"/>
                  </a:rPr>
                  <a:t>$60$</a:t>
                </a:r>
                <a:r>
                  <a:rPr sz="2400" b="0">
                    <a:solidFill>
                      <a:srgbClr val="111827"/>
                    </a:solidFill>
                    <a:latin typeface="Arial"/>
                  </a:rPr>
                  <a:t> choices, independent of </a:t>
                </a:r>
                <a:r>
                  <a:rPr lang="en-IN" sz="2400">
                    <a:solidFill>
                      <a:srgbClr val="111827"/>
                    </a:solidFill>
                    <a:latin typeface="Cambria Math" panose="02040503050406030204" pitchFamily="18" charset="0"/>
                  </a:rPr>
                  <a:t>$b$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$b=pq\le60$</a:t>
                </a:r>
                <a:r>
                  <a:rPr sz="2400" b="0">
                    <a:solidFill>
                      <a:srgbClr val="111827"/>
                    </a:solidFill>
                    <a:latin typeface="Arial"/>
                  </a:rPr>
                  <a:t> with primes </a:t>
                </a:r>
                <a:r>
                  <a:rPr lang="en-IN" sz="2400">
                    <a:solidFill>
                      <a:srgbClr val="111827"/>
                    </a:solidFill>
                    <a:latin typeface="Cambria Math" panose="02040503050406030204" pitchFamily="18" charset="0"/>
                  </a:rPr>
                  <a:t>$p,q\ge3$</a:t>
                </a:r>
                <a:r>
                  <a:rPr sz="2400" b="0">
                    <a:solidFill>
                      <a:srgbClr val="111827"/>
                    </a:solidFill>
                    <a:latin typeface="Arial"/>
                  </a:rPr>
                  <a:t>. For </a:t>
                </a:r>
                <a:r>
                  <a:rPr lang="en-IN" sz="2400">
                    <a:solidFill>
                      <a:srgbClr val="111827"/>
                    </a:solidFill>
                    <a:latin typeface="Cambria Math" panose="02040503050406030204" pitchFamily="18" charset="0"/>
                  </a:rPr>
                  <a:t>$p=3$</a:t>
                </a:r>
                <a:r>
                  <a:rPr sz="2400" b="0">
                    <a:solidFill>
                      <a:srgbClr val="111827"/>
                    </a:solidFill>
                    <a:latin typeface="Arial"/>
                  </a:rPr>
                  <a:t>: </a:t>
                </a:r>
                <a:r>
                  <a:rPr lang="en-IN" sz="2400">
                    <a:solidFill>
                      <a:srgbClr val="111827"/>
                    </a:solidFill>
                    <a:latin typeface="Cambria Math" panose="02040503050406030204" pitchFamily="18" charset="0"/>
                  </a:rPr>
                  <a:t>$q\in\{3,5,7,11,13,17,19\}$</a:t>
                </a:r>
                <a:r>
                  <a:rPr sz="2400" b="0">
                    <a:solidFill>
                      <a:srgbClr val="111827"/>
                    </a:solidFill>
                    <a:latin typeface="Arial"/>
                  </a:rPr>
                  <a:t>, giving </a:t>
                </a:r>
                <a:r>
                  <a:rPr lang="en-IN" sz="2400">
                    <a:solidFill>
                      <a:srgbClr val="111827"/>
                    </a:solidFill>
                    <a:latin typeface="Cambria Math" panose="02040503050406030204" pitchFamily="18" charset="0"/>
                  </a:rPr>
                  <a:t>$b=9,15,21,33,39,51,57$</a:t>
                </a:r>
                <a:r>
                  <a:rPr sz="2400" b="0">
                    <a:solidFill>
                      <a:srgbClr val="111827"/>
                    </a:solidFill>
                    <a:latin typeface="Arial"/>
                  </a:rPr>
                  <a:t>: </a:t>
                </a:r>
                <a:r>
                  <a:rPr lang="en-IN" sz="2400">
                    <a:solidFill>
                      <a:srgbClr val="111827"/>
                    </a:solidFill>
                    <a:latin typeface="Cambria Math" panose="02040503050406030204" pitchFamily="18" charset="0"/>
                  </a:rPr>
                  <a:t>$7$</a:t>
                </a:r>
                <a:r>
                  <a:rPr sz="2400" b="0">
                    <a:solidFill>
                      <a:srgbClr val="111827"/>
                    </a:solidFill>
                    <a:latin typeface="Arial"/>
                  </a:rPr>
                  <a:t> values.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$p=5$</a:t>
                </a:r>
                <a:r>
                  <a:rPr sz="2400" b="0">
                    <a:solidFill>
                      <a:srgbClr val="111827"/>
                    </a:solidFill>
                    <a:latin typeface="Arial"/>
                  </a:rPr>
                  <a:t>: </a:t>
                </a:r>
                <a:r>
                  <a:rPr lang="en-IN" sz="2400">
                    <a:solidFill>
                      <a:srgbClr val="111827"/>
                    </a:solidFill>
                    <a:latin typeface="Cambria Math" panose="02040503050406030204" pitchFamily="18" charset="0"/>
                  </a:rPr>
                  <a:t>$q\in\{5,7,11\}$</a:t>
                </a:r>
                <a:r>
                  <a:rPr sz="2400" b="0">
                    <a:solidFill>
                      <a:srgbClr val="111827"/>
                    </a:solidFill>
                    <a:latin typeface="Arial"/>
                  </a:rPr>
                  <a:t>, giving </a:t>
                </a:r>
                <a:r>
                  <a:rPr lang="en-IN" sz="2400">
                    <a:solidFill>
                      <a:srgbClr val="111827"/>
                    </a:solidFill>
                    <a:latin typeface="Cambria Math" panose="02040503050406030204" pitchFamily="18" charset="0"/>
                  </a:rPr>
                  <a:t>$b=25,35,55$</a:t>
                </a:r>
                <a:r>
                  <a:rPr sz="2400" b="0">
                    <a:solidFill>
                      <a:srgbClr val="111827"/>
                    </a:solidFill>
                    <a:latin typeface="Arial"/>
                  </a:rPr>
                  <a:t>: </a:t>
                </a:r>
                <a:r>
                  <a:rPr lang="en-IN" sz="2400">
                    <a:solidFill>
                      <a:srgbClr val="111827"/>
                    </a:solidFill>
                    <a:latin typeface="Cambria Math" panose="02040503050406030204" pitchFamily="18" charset="0"/>
                  </a:rPr>
                  <a:t>$3$</a:t>
                </a:r>
                <a:r>
                  <a:rPr sz="2400" b="0">
                    <a:solidFill>
                      <a:srgbClr val="111827"/>
                    </a:solidFill>
                    <a:latin typeface="Arial"/>
                  </a:rPr>
                  <a:t> values (</a:t>
                </a:r>
                <a:r>
                  <a:rPr lang="en-IN" sz="2400">
                    <a:solidFill>
                      <a:srgbClr val="111827"/>
                    </a:solidFill>
                    <a:latin typeface="Cambria Math" panose="02040503050406030204" pitchFamily="18" charset="0"/>
                  </a:rPr>
                  <a:t>$q=3$</a:t>
                </a:r>
                <a:r>
                  <a:rPr sz="2400" b="0">
                    <a:solidFill>
                      <a:srgbClr val="111827"/>
                    </a:solidFill>
                    <a:latin typeface="Arial"/>
                  </a:rPr>
                  <a:t> is already counted as </a:t>
                </a:r>
                <a:r>
                  <a:rPr lang="en-IN" sz="2400">
                    <a:solidFill>
                      <a:srgbClr val="111827"/>
                    </a:solidFill>
                    <a:latin typeface="Cambria Math" panose="02040503050406030204" pitchFamily="18" charset="0"/>
                  </a:rPr>
                  <a:t>$3\cdot5$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giving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value.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distinct </a:t>
                </a:r>
                <a14:m>
                  <m:oMath xmlns:m="http://schemas.openxmlformats.org/officeDocument/2006/math">
                    <m:r>
                      <a:rPr lang="en-IN" sz="2400" i="1">
                        <a:solidFill>
                          <a:srgbClr val="111827"/>
                        </a:solidFill>
                        <a:latin typeface="Cambria Math" panose="02040503050406030204" pitchFamily="18" charset="0"/>
                      </a:rPr>
                      <m:t>𝑏</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660</m:t>
                    </m:r>
                  </m:oMath>
                </a14:m>
                <a:r>
                  <a:rPr sz="2400" b="0">
                    <a:solidFill>
                      <a:srgbClr val="111827"/>
                    </a:solidFill>
                    <a:latin typeface="Arial"/>
                  </a:rPr>
                  <a:t>. Option (B).</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$p=7$</a:t>
                </a:r>
                <a:r>
                  <a:rPr sz="2400" b="0">
                    <a:solidFill>
                      <a:srgbClr val="111827"/>
                    </a:solidFill>
                    <a:latin typeface="Arial"/>
                  </a:rPr>
                  <a:t>: </a:t>
                </a:r>
                <a:r>
                  <a:rPr lang="en-IN" sz="2400">
                    <a:solidFill>
                      <a:srgbClr val="111827"/>
                    </a:solidFill>
                    <a:latin typeface="Cambria Math" panose="02040503050406030204" pitchFamily="18" charset="0"/>
                  </a:rPr>
                  <a:t>$q=7$</a:t>
                </a:r>
                <a:r>
                  <a:rPr sz="2400" b="0">
                    <a:solidFill>
                      <a:srgbClr val="111827"/>
                    </a:solidFill>
                    <a:latin typeface="Arial"/>
                  </a:rPr>
                  <a:t>, giving </a:t>
                </a:r>
                <a:r>
                  <a:rPr lang="en-IN" sz="2400">
                    <a:solidFill>
                      <a:srgbClr val="111827"/>
                    </a:solidFill>
                    <a:latin typeface="Cambria Math" panose="02040503050406030204" pitchFamily="18" charset="0"/>
                  </a:rPr>
                  <a:t>$b=49$</a:t>
                </a:r>
                <a:r>
                  <a:rPr sz="2400" b="0">
                    <a:solidFill>
                      <a:srgbClr val="111827"/>
                    </a:solidFill>
                    <a:latin typeface="Arial"/>
                  </a:rPr>
                  <a:t>: </a:t>
                </a:r>
                <a:r>
                  <a:rPr lang="en-IN" sz="2400">
                    <a:solidFill>
                      <a:srgbClr val="111827"/>
                    </a:solidFill>
                    <a:latin typeface="Cambria Math" panose="02040503050406030204" pitchFamily="18" charset="0"/>
                  </a:rPr>
                  <a:t>$1$</a:t>
                </a:r>
                <a:r>
                  <a:rPr sz="2400" b="0">
                    <a:solidFill>
                      <a:srgbClr val="111827"/>
                    </a:solidFill>
                    <a:latin typeface="Arial"/>
                  </a:rPr>
                  <a:t> value.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distinct </a:t>
                </a:r>
                <a:r>
                  <a:rPr lang="en-IN" sz="2400">
                    <a:solidFill>
                      <a:srgbClr val="111827"/>
                    </a:solidFill>
                    <a:latin typeface="Cambria Math" panose="02040503050406030204" pitchFamily="18" charset="0"/>
                  </a:rPr>
                  <a:t>$b$</a:t>
                </a:r>
                <a:r>
                  <a:rPr sz="2400" b="0">
                    <a:solidFill>
                      <a:srgbClr val="111827"/>
                    </a:solidFill>
                    <a:latin typeface="Arial"/>
                  </a:rPr>
                  <a:t>: </a:t>
                </a:r>
                <a:r>
                  <a:rPr lang="en-IN" sz="2400">
                    <a:solidFill>
                      <a:srgbClr val="111827"/>
                    </a:solidFill>
                    <a:latin typeface="Cambria Math" panose="02040503050406030204" pitchFamily="18" charset="0"/>
                  </a:rPr>
                  <a:t>$7+3+1=11$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$n(R)=60\times11=660$</a:t>
                </a:r>
                <a:r>
                  <a:rPr sz="2400" b="0">
                    <a:solidFill>
                      <a:srgbClr val="111827"/>
                    </a:solidFill>
                    <a:latin typeface="Arial"/>
                  </a:rPr>
                  <a:t>. Option (B).</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660</a:t>
            </a:r>
            <a:endParaRPr sz="2800">
              <a:solidFill>
                <a:srgbClr val="15803D"/>
              </a:solidFill>
            </a:endParaRP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Count distinct products </a:t>
                </a:r>
                <a14:m>
                  <m:oMath xmlns:m="http://schemas.openxmlformats.org/officeDocument/2006/math">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𝑞</m:t>
                    </m:r>
                  </m:oMath>
                </a14:m>
                <a:r>
                  <a:rPr sz="2400" b="0">
                    <a:solidFill>
                      <a:srgbClr val="111827"/>
                    </a:solidFill>
                    <a:latin typeface="Arial"/>
                  </a:rPr>
                  <a:t> (not ordered pairs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give the same </a:t>
                </a:r>
                <a14:m>
                  <m:oMath xmlns:m="http://schemas.openxmlformats.org/officeDocument/2006/math">
                    <m:r>
                      <a:rPr lang="en-IN" sz="2400" i="1">
                        <a:solidFill>
                          <a:srgbClr val="111827"/>
                        </a:solidFill>
                        <a:latin typeface="Cambria Math" panose="02040503050406030204" pitchFamily="18" charset="0"/>
                      </a:rPr>
                      <m:t>𝑏</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Odd semiprimes up to </a:t>
                </a:r>
                <a14:m>
                  <m:oMath xmlns:m="http://schemas.openxmlformats.org/officeDocument/2006/math">
                    <m:r>
                      <a:rPr lang="en-IN" sz="2400" i="1">
                        <a:solidFill>
                          <a:srgbClr val="111827"/>
                        </a:solidFill>
                        <a:latin typeface="Cambria Math" panose="02040503050406030204" pitchFamily="18" charset="0"/>
                      </a:rPr>
                      <m:t>60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57</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11</m:t>
                    </m:r>
                  </m:oMath>
                </a14:m>
                <a:r>
                  <a:rPr sz="2400" b="0">
                    <a:solidFill>
                      <a:srgbClr val="111827"/>
                    </a:solidFill>
                    <a:latin typeface="Arial"/>
                  </a:rPr>
                  <a:t> numbers).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relation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free has (number of allowed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elements.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Count distinct products </a:t>
                </a:r>
                <a:r>
                  <a:rPr lang="en-IN" sz="2400">
                    <a:solidFill>
                      <a:srgbClr val="111827"/>
                    </a:solidFill>
                    <a:latin typeface="Cambria Math" panose="02040503050406030204" pitchFamily="18" charset="0"/>
                  </a:rPr>
                  <a:t>$pq$</a:t>
                </a:r>
                <a:r>
                  <a:rPr sz="2400" b="0">
                    <a:solidFill>
                      <a:srgbClr val="111827"/>
                    </a:solidFill>
                    <a:latin typeface="Arial"/>
                  </a:rPr>
                  <a:t> (not ordered pairs </a:t>
                </a:r>
                <a:r>
                  <a:rPr lang="en-IN" sz="2400">
                    <a:solidFill>
                      <a:srgbClr val="111827"/>
                    </a:solidFill>
                    <a:latin typeface="Cambria Math" panose="02040503050406030204" pitchFamily="18" charset="0"/>
                  </a:rPr>
                  <a:t>$(p,q)$</a:t>
                </a:r>
                <a:r>
                  <a:rPr sz="2400" b="0">
                    <a:solidFill>
                      <a:srgbClr val="111827"/>
                    </a:solidFill>
                    <a:latin typeface="Arial"/>
                  </a:rPr>
                  <a:t>): </a:t>
                </a:r>
                <a:r>
                  <a:rPr lang="en-IN" sz="2400">
                    <a:solidFill>
                      <a:srgbClr val="111827"/>
                    </a:solidFill>
                    <a:latin typeface="Cambria Math" panose="02040503050406030204" pitchFamily="18" charset="0"/>
                  </a:rPr>
                  <a:t>$3\cdot5$</a:t>
                </a:r>
                <a:r>
                  <a:rPr sz="2400" b="0">
                    <a:solidFill>
                      <a:srgbClr val="111827"/>
                    </a:solidFill>
                    <a:latin typeface="Arial"/>
                  </a:rPr>
                  <a:t> and </a:t>
                </a:r>
                <a:r>
                  <a:rPr lang="en-IN" sz="2400">
                    <a:solidFill>
                      <a:srgbClr val="111827"/>
                    </a:solidFill>
                    <a:latin typeface="Cambria Math" panose="02040503050406030204" pitchFamily="18" charset="0"/>
                  </a:rPr>
                  <a:t>$5\cdot3$</a:t>
                </a:r>
                <a:r>
                  <a:rPr sz="2400" b="0">
                    <a:solidFill>
                      <a:srgbClr val="111827"/>
                    </a:solidFill>
                    <a:latin typeface="Arial"/>
                  </a:rPr>
                  <a:t> give the same </a:t>
                </a:r>
                <a:r>
                  <a:rPr lang="en-IN" sz="2400">
                    <a:solidFill>
                      <a:srgbClr val="111827"/>
                    </a:solidFill>
                    <a:latin typeface="Cambria Math" panose="02040503050406030204" pitchFamily="18" charset="0"/>
                  </a:rPr>
                  <a:t>$b$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Odd semiprimes up to </a:t>
                </a:r>
                <a:r>
                  <a:rPr lang="en-IN" sz="2400">
                    <a:solidFill>
                      <a:srgbClr val="111827"/>
                    </a:solidFill>
                    <a:latin typeface="Cambria Math" panose="02040503050406030204" pitchFamily="18" charset="0"/>
                  </a:rPr>
                  <a:t>$60$</a:t>
                </a:r>
                <a:r>
                  <a:rPr sz="2400" b="0">
                    <a:solidFill>
                      <a:srgbClr val="111827"/>
                    </a:solidFill>
                    <a:latin typeface="Arial"/>
                  </a:rPr>
                  <a:t>: </a:t>
                </a:r>
                <a:r>
                  <a:rPr lang="en-IN" sz="2400">
                    <a:solidFill>
                      <a:srgbClr val="111827"/>
                    </a:solidFill>
                    <a:latin typeface="Cambria Math" panose="02040503050406030204" pitchFamily="18" charset="0"/>
                  </a:rPr>
                  <a:t>$9,15,21,25,33,35,39,49,51,55,57$</a:t>
                </a:r>
                <a:r>
                  <a:rPr sz="2400" b="0">
                    <a:solidFill>
                      <a:srgbClr val="111827"/>
                    </a:solidFill>
                    <a:latin typeface="Arial"/>
                  </a:rPr>
                  <a:t> (</a:t>
                </a:r>
                <a:r>
                  <a:rPr lang="en-IN" sz="2400">
                    <a:solidFill>
                      <a:srgbClr val="111827"/>
                    </a:solidFill>
                    <a:latin typeface="Cambria Math" panose="02040503050406030204" pitchFamily="18" charset="0"/>
                  </a:rPr>
                  <a:t>$11$</a:t>
                </a:r>
                <a:r>
                  <a:rPr sz="2400" b="0">
                    <a:solidFill>
                      <a:srgbClr val="111827"/>
                    </a:solidFill>
                    <a:latin typeface="Arial"/>
                  </a:rPr>
                  <a:t> numbers).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relation </a:t>
                </a:r>
                <a:r>
                  <a:rPr lang="en-IN" sz="2400">
                    <a:solidFill>
                      <a:srgbClr val="111827"/>
                    </a:solidFill>
                    <a:latin typeface="Cambria Math" panose="02040503050406030204" pitchFamily="18" charset="0"/>
                  </a:rPr>
                  <a:t>$\{(a,b):b\in S\}$</a:t>
                </a:r>
                <a:r>
                  <a:rPr sz="2400" b="0">
                    <a:solidFill>
                      <a:srgbClr val="111827"/>
                    </a:solidFill>
                    <a:latin typeface="Arial"/>
                  </a:rPr>
                  <a:t> with </a:t>
                </a:r>
                <a:r>
                  <a:rPr lang="en-IN" sz="2400">
                    <a:solidFill>
                      <a:srgbClr val="111827"/>
                    </a:solidFill>
                    <a:latin typeface="Cambria Math" panose="02040503050406030204" pitchFamily="18" charset="0"/>
                  </a:rPr>
                  <a:t>$a$</a:t>
                </a:r>
                <a:r>
                  <a:rPr sz="2400" b="0">
                    <a:solidFill>
                      <a:srgbClr val="111827"/>
                    </a:solidFill>
                    <a:latin typeface="Arial"/>
                  </a:rPr>
                  <a:t> free has (number of allowed </a:t>
                </a:r>
                <a:r>
                  <a:rPr lang="en-IN" sz="2400">
                    <a:solidFill>
                      <a:srgbClr val="111827"/>
                    </a:solidFill>
                    <a:latin typeface="Cambria Math" panose="02040503050406030204" pitchFamily="18" charset="0"/>
                  </a:rPr>
                  <a:t>$a$</a:t>
                </a:r>
                <a:r>
                  <a:rPr sz="2400" b="0">
                    <a:solidFill>
                      <a:srgbClr val="111827"/>
                    </a:solidFill>
                    <a:latin typeface="Arial"/>
                  </a:rPr>
                  <a:t>) </a:t>
                </a:r>
                <a:r>
                  <a:rPr lang="en-IN" sz="2400">
                    <a:solidFill>
                      <a:srgbClr val="111827"/>
                    </a:solidFill>
                    <a:latin typeface="Cambria Math" panose="02040503050406030204" pitchFamily="18" charset="0"/>
                  </a:rPr>
                  <a:t>$\times\,|S|$</a:t>
                </a:r>
                <a:r>
                  <a:rPr sz="2400" b="0">
                    <a:solidFill>
                      <a:srgbClr val="111827"/>
                    </a:solidFill>
                    <a:latin typeface="Arial"/>
                  </a:rPr>
                  <a:t> elements.</a:t>
                </a:r>
                <a:endParaRPr sz="2400">
                  <a:solidFill>
                    <a:srgbClr val="111827"/>
                  </a:solidFill>
                </a:endParaRPr>
              </a:p>
            </p:txBody>
          </p:sp>
        </mc:Fallback>
      </mc:AlternateContent>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10</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Numerical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Q31</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Marks not printed in the paper: +4 assumed (JEE Advanced default)</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Questions are from AIEEE / JEE Main papers</a:t>
            </a:r>
            <a:endParaRPr sz="2800">
              <a:solidFill>
                <a:srgbClr val="FFFFFF"/>
              </a:solidFill>
            </a:endParaRP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Define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𝑒𝑖𝑡ℎ𝑒𝑟 </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𝑇</m:t>
                    </m:r>
                    <m:r>
                      <m:rPr>
                        <m:nor/>
                      </m:rPr>
                      <a:rPr lang="en-IN" sz="2400" i="1">
                        <a:solidFill>
                          <a:srgbClr val="111827"/>
                        </a:solidFill>
                        <a:latin typeface="Cambria Math" panose="02040503050406030204" pitchFamily="18" charset="0"/>
                      </a:rPr>
                      <m:t> 𝑜𝑟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𝑡ℎ𝑒 𝑠𝑢𝑚 𝑜𝑓 𝑎𝑙𝑙 𝑡ℎ𝑒 𝑒𝑙𝑒𝑚𝑒𝑛𝑡𝑠 𝑜𝑓 </m:t>
                    </m:r>
                    <m:r>
                      <a:rPr lang="en-IN" sz="2400" i="1">
                        <a:solidFill>
                          <a:srgbClr val="111827"/>
                        </a:solidFill>
                        <a:latin typeface="Cambria Math" panose="02040503050406030204" pitchFamily="18" charset="0"/>
                      </a:rPr>
                      <m:t>𝑇</m:t>
                    </m:r>
                    <m:r>
                      <m:rPr>
                        <m:nor/>
                      </m:rPr>
                      <a:rPr lang="en-IN" sz="2400" i="1">
                        <a:solidFill>
                          <a:srgbClr val="111827"/>
                        </a:solidFill>
                        <a:latin typeface="Cambria Math" panose="02040503050406030204" pitchFamily="18" charset="0"/>
                      </a:rPr>
                      <m:t> 𝑖𝑠 𝑎 𝑝𝑟𝑖𝑚𝑒 𝑛𝑢𝑚𝑏𝑒𝑟</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the number of elements in the set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is ________.</a:t>
                </a:r>
                <a:endParaRPr sz="2400">
                  <a:solidFill>
                    <a:srgbClr val="111827"/>
                  </a:solidFill>
                </a:endParaRPr>
              </a:p>
            </p:txBody>
          </p:sp>
        </mc:Choice>
        <mc:Fallback>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$A=\{1,2,3,4,5,6,7\}$</a:t>
                </a:r>
                <a:r>
                  <a:rPr sz="2400" b="0">
                    <a:solidFill>
                      <a:srgbClr val="111827"/>
                    </a:solidFill>
                    <a:latin typeface="Arial"/>
                  </a:rPr>
                  <a:t>. Define </a:t>
                </a:r>
                <a:r>
                  <a:rPr lang="en-IN" sz="2400">
                    <a:solidFill>
                      <a:srgbClr val="111827"/>
                    </a:solidFill>
                    <a:latin typeface="Cambria Math" panose="02040503050406030204" pitchFamily="18" charset="0"/>
                  </a:rPr>
                  <a:t>$B=\{T\subseteq A:\text{either }1\notin T\text{ or }2\in T\}$</a:t>
                </a:r>
                <a:r>
                  <a:rPr sz="2400" b="0">
                    <a:solidFill>
                      <a:srgbClr val="111827"/>
                    </a:solidFill>
                    <a:latin typeface="Arial"/>
                  </a:rPr>
                  <a:t> and </a:t>
                </a:r>
                <a:r>
                  <a:rPr lang="en-IN" sz="2400">
                    <a:solidFill>
                      <a:srgbClr val="111827"/>
                    </a:solidFill>
                    <a:latin typeface="Cambria Math" panose="02040503050406030204" pitchFamily="18" charset="0"/>
                  </a:rPr>
                  <a:t>$C=\{T\subseteq A:\text{the sum of all the elements of }T\text{ is a prime number}\}$</a:t>
                </a:r>
                <a:r>
                  <a:rPr sz="2400" b="0">
                    <a:solidFill>
                      <a:srgbClr val="111827"/>
                    </a:solidFill>
                    <a:latin typeface="Arial"/>
                  </a:rPr>
                  <a:t>. Then the number of elements in the set </a:t>
                </a:r>
                <a:r>
                  <a:rPr lang="en-IN" sz="2400">
                    <a:solidFill>
                      <a:srgbClr val="111827"/>
                    </a:solidFill>
                    <a:latin typeface="Cambria Math" panose="02040503050406030204" pitchFamily="18" charset="0"/>
                  </a:rPr>
                  <a:t>$B\cup C$</a:t>
                </a:r>
                <a:r>
                  <a:rPr sz="2400" b="0">
                    <a:solidFill>
                      <a:srgbClr val="111827"/>
                    </a:solidFill>
                    <a:latin typeface="Arial"/>
                  </a:rPr>
                  <a:t> is ________.</a:t>
                </a:r>
                <a:endParaRPr sz="2400">
                  <a:solidFill>
                    <a:srgbClr val="111827"/>
                  </a:solidFill>
                </a:endParaRPr>
              </a:p>
            </p:txBody>
          </p:sp>
        </mc:Fallback>
      </mc:AlternateContent>
      <p:sp>
        <p:nvSpPr>
          <p:cNvPr id="5" name="Rectangle 4"/>
          <p:cNvSpPr/>
          <p:nvPr/>
        </p:nvSpPr>
        <p:spPr>
          <a:xfrm>
            <a:off x="731520" y="3516884"/>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Subsets and their counting, Prime numbers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4(A level above Average JEE Advanced Level)</a:t>
            </a:r>
            <a:endParaRPr sz="2400">
              <a:solidFill>
                <a:srgbClr val="111827"/>
              </a:solidFill>
            </a:endParaRP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Count the complement: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𝐶</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𝑐</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𝐵</m:t>
                        </m:r>
                      </m:e>
                      <m:sup>
                        <m:r>
                          <a:rPr lang="en-IN" sz="2400" i="1">
                            <a:solidFill>
                              <a:srgbClr val="78350F"/>
                            </a:solidFill>
                            <a:latin typeface="Cambria Math" panose="02040503050406030204" pitchFamily="18" charset="0"/>
                          </a:rPr>
                          <m:t>𝑐</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𝐶</m:t>
                        </m:r>
                      </m:e>
                      <m:sup>
                        <m:r>
                          <a:rPr lang="en-IN" sz="2400" i="1">
                            <a:solidFill>
                              <a:srgbClr val="78350F"/>
                            </a:solidFill>
                            <a:latin typeface="Cambria Math" panose="02040503050406030204" pitchFamily="18" charset="0"/>
                          </a:rPr>
                          <m:t>𝑐</m:t>
                        </m:r>
                      </m:sup>
                    </m:sSup>
                  </m:oMath>
                </a14:m>
                <a:r>
                  <a:rPr sz="2400" b="0">
                    <a:solidFill>
                      <a:srgbClr val="78350F"/>
                    </a:solidFill>
                    <a:latin typeface="Arial"/>
                  </a:rPr>
                  <a:t> is small and reduces to subsets of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7</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Count the complement: </a:t>
                </a:r>
                <a:r>
                  <a:rPr lang="en-IN" sz="2400">
                    <a:solidFill>
                      <a:srgbClr val="78350F"/>
                    </a:solidFill>
                    <a:latin typeface="Cambria Math" panose="02040503050406030204" pitchFamily="18" charset="0"/>
                  </a:rPr>
                  <a:t>$(B\cup C)^c=B^c\cap C^c$</a:t>
                </a:r>
                <a:r>
                  <a:rPr sz="2400" b="0">
                    <a:solidFill>
                      <a:srgbClr val="78350F"/>
                    </a:solidFill>
                    <a:latin typeface="Arial"/>
                  </a:rPr>
                  <a:t> is small and reduces to subsets of </a:t>
                </a:r>
                <a:r>
                  <a:rPr lang="en-IN" sz="2400">
                    <a:solidFill>
                      <a:srgbClr val="78350F"/>
                    </a:solidFill>
                    <a:latin typeface="Cambria Math" panose="02040503050406030204" pitchFamily="18" charset="0"/>
                  </a:rPr>
                  <a:t>$\{3,\dots,7\}$</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has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7</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128</m:t>
                    </m:r>
                  </m:oMath>
                </a14:m>
                <a:r>
                  <a:rPr sz="2400" b="0">
                    <a:solidFill>
                      <a:srgbClr val="111827"/>
                    </a:solidFill>
                    <a:latin typeface="Arial"/>
                  </a:rPr>
                  <a:t> subsets.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𝑐</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𝐵</m:t>
                        </m:r>
                      </m:e>
                      <m:sup>
                        <m:r>
                          <a:rPr lang="en-IN" sz="2400" i="1">
                            <a:solidFill>
                              <a:srgbClr val="111827"/>
                            </a:solidFill>
                            <a:latin typeface="Cambria Math" panose="02040503050406030204" pitchFamily="18" charset="0"/>
                          </a:rPr>
                          <m:t>𝑐</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𝐶</m:t>
                        </m:r>
                      </m:e>
                      <m:sup>
                        <m:r>
                          <a:rPr lang="en-IN" sz="2400" i="1">
                            <a:solidFill>
                              <a:srgbClr val="111827"/>
                            </a:solidFill>
                            <a:latin typeface="Cambria Math" panose="02040503050406030204" pitchFamily="18" charset="0"/>
                          </a:rPr>
                          <m:t>𝑐</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𝐵</m:t>
                        </m:r>
                      </m:e>
                      <m:sup>
                        <m:r>
                          <a:rPr lang="en-IN" sz="2400" i="1">
                            <a:solidFill>
                              <a:srgbClr val="111827"/>
                            </a:solidFill>
                            <a:latin typeface="Cambria Math" panose="02040503050406030204" pitchFamily="18" charset="0"/>
                          </a:rPr>
                          <m:t>𝑐</m:t>
                        </m:r>
                      </m:sup>
                    </m:sSup>
                  </m:oMath>
                </a14:m>
                <a:r>
                  <a:rPr sz="2400" b="0">
                    <a:solidFill>
                      <a:srgbClr val="111827"/>
                    </a:solidFill>
                    <a:latin typeface="Arial"/>
                  </a:rPr>
                  <a:t>: subsets containing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but not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𝐶</m:t>
                        </m:r>
                      </m:e>
                      <m:sup>
                        <m:r>
                          <a:rPr lang="en-IN" sz="2400" i="1">
                            <a:solidFill>
                              <a:srgbClr val="111827"/>
                            </a:solidFill>
                            <a:latin typeface="Cambria Math" panose="02040503050406030204" pitchFamily="18" charset="0"/>
                          </a:rPr>
                          <m:t>𝑐</m:t>
                        </m:r>
                      </m:sup>
                    </m:sSup>
                  </m:oMath>
                </a14:m>
                <a:r>
                  <a:rPr sz="2400" b="0">
                    <a:solidFill>
                      <a:srgbClr val="111827"/>
                    </a:solidFill>
                    <a:latin typeface="Arial"/>
                  </a:rPr>
                  <a:t>: subsets whose sum is not prime (the sum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which is not prime).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𝑇</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with </a:t>
                </a:r>
                <a14:m>
                  <m:oMath xmlns:m="http://schemas.openxmlformats.org/officeDocument/2006/math">
                    <m:sSup>
                      <m:e>
                        <m:r>
                          <a:rPr lang="en-IN" sz="2400" i="1">
                            <a:solidFill>
                              <a:srgbClr val="111827"/>
                            </a:solidFill>
                            <a:latin typeface="Cambria Math" panose="02040503050406030204" pitchFamily="18" charset="0"/>
                          </a:rPr>
                          <m:t>𝑇</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we need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𝑠𝑢𝑚</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𝑇</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 not prime.</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𝑇</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sum </a:t>
                </a:r>
                <a14:m>
                  <m:oMath xmlns:m="http://schemas.openxmlformats.org/officeDocument/2006/math">
                    <m:r>
                      <a:rPr lang="en-IN" sz="2400" i="1">
                        <a:solidFill>
                          <a:srgbClr val="111827"/>
                        </a:solidFill>
                        <a:latin typeface="Cambria Math" panose="02040503050406030204" pitchFamily="18" charset="0"/>
                      </a:rPr>
                      <m:t>25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m:t>
                    </m:r>
                  </m:oMath>
                </a14:m>
                <a:r>
                  <a:rPr sz="2400" b="0">
                    <a:solidFill>
                      <a:srgbClr val="111827"/>
                    </a:solidFill>
                    <a:latin typeface="Arial"/>
                  </a:rPr>
                  <a:t> composite: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subset.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𝑇</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exclude those missing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(sums </a:t>
                </a:r>
                <a14:m>
                  <m:oMath xmlns:m="http://schemas.openxmlformats.org/officeDocument/2006/math">
                    <m:r>
                      <a:rPr lang="en-IN" sz="2400" i="1">
                        <a:solidFill>
                          <a:srgbClr val="111827"/>
                        </a:solidFill>
                        <a:latin typeface="Cambria Math" panose="02040503050406030204" pitchFamily="18" charset="0"/>
                      </a:rPr>
                      <m:t>23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subsets.</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a:t>
                </a:r>
                <a:r>
                  <a:rPr sz="2400" b="0">
                    <a:solidFill>
                      <a:srgbClr val="111827"/>
                    </a:solidFill>
                    <a:latin typeface="Arial"/>
                  </a:rPr>
                  <a:t> has </a:t>
                </a:r>
                <a:r>
                  <a:rPr lang="en-IN" sz="2400">
                    <a:solidFill>
                      <a:srgbClr val="111827"/>
                    </a:solidFill>
                    <a:latin typeface="Cambria Math" panose="02040503050406030204" pitchFamily="18" charset="0"/>
                  </a:rPr>
                  <a:t>$2^7=128$</a:t>
                </a:r>
                <a:r>
                  <a:rPr sz="2400" b="0">
                    <a:solidFill>
                      <a:srgbClr val="111827"/>
                    </a:solidFill>
                    <a:latin typeface="Arial"/>
                  </a:rPr>
                  <a:t> subsets. </a:t>
                </a:r>
                <a:r>
                  <a:rPr lang="en-IN" sz="2400">
                    <a:solidFill>
                      <a:srgbClr val="111827"/>
                    </a:solidFill>
                    <a:latin typeface="Cambria Math" panose="02040503050406030204" pitchFamily="18" charset="0"/>
                  </a:rPr>
                  <a:t>$(B\cup C)^c=B^c\cap C^c$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$B^c$</a:t>
                </a:r>
                <a:r>
                  <a:rPr sz="2400" b="0">
                    <a:solidFill>
                      <a:srgbClr val="111827"/>
                    </a:solidFill>
                    <a:latin typeface="Arial"/>
                  </a:rPr>
                  <a:t>: subsets containing </a:t>
                </a:r>
                <a:r>
                  <a:rPr lang="en-IN" sz="2400">
                    <a:solidFill>
                      <a:srgbClr val="111827"/>
                    </a:solidFill>
                    <a:latin typeface="Cambria Math" panose="02040503050406030204" pitchFamily="18" charset="0"/>
                  </a:rPr>
                  <a:t>$1$</a:t>
                </a:r>
                <a:r>
                  <a:rPr sz="2400" b="0">
                    <a:solidFill>
                      <a:srgbClr val="111827"/>
                    </a:solidFill>
                    <a:latin typeface="Arial"/>
                  </a:rPr>
                  <a:t> but not </a:t>
                </a:r>
                <a:r>
                  <a:rPr lang="en-IN" sz="2400">
                    <a:solidFill>
                      <a:srgbClr val="111827"/>
                    </a:solidFill>
                    <a:latin typeface="Cambria Math" panose="02040503050406030204" pitchFamily="18" charset="0"/>
                  </a:rPr>
                  <a:t>$2$</a:t>
                </a:r>
                <a:r>
                  <a:rPr sz="2400" b="0">
                    <a:solidFill>
                      <a:srgbClr val="111827"/>
                    </a:solidFill>
                    <a:latin typeface="Arial"/>
                  </a:rPr>
                  <a:t>. </a:t>
                </a:r>
                <a:r>
                  <a:rPr lang="en-IN" sz="2400">
                    <a:solidFill>
                      <a:srgbClr val="111827"/>
                    </a:solidFill>
                    <a:latin typeface="Cambria Math" panose="02040503050406030204" pitchFamily="18" charset="0"/>
                  </a:rPr>
                  <a:t>$C^c$</a:t>
                </a:r>
                <a:r>
                  <a:rPr sz="2400" b="0">
                    <a:solidFill>
                      <a:srgbClr val="111827"/>
                    </a:solidFill>
                    <a:latin typeface="Arial"/>
                  </a:rPr>
                  <a:t>: subsets whose sum is not prime (the sum of </a:t>
                </a:r>
                <a:r>
                  <a:rPr lang="en-IN" sz="2400">
                    <a:solidFill>
                      <a:srgbClr val="111827"/>
                    </a:solidFill>
                    <a:latin typeface="Cambria Math" panose="02040503050406030204" pitchFamily="18" charset="0"/>
                  </a:rPr>
                  <a:t>$\{1\}$</a:t>
                </a:r>
                <a:r>
                  <a:rPr sz="2400" b="0">
                    <a:solidFill>
                      <a:srgbClr val="111827"/>
                    </a:solidFill>
                    <a:latin typeface="Arial"/>
                  </a:rPr>
                  <a:t> is </a:t>
                </a:r>
                <a:r>
                  <a:rPr lang="en-IN" sz="2400">
                    <a:solidFill>
                      <a:srgbClr val="111827"/>
                    </a:solidFill>
                    <a:latin typeface="Cambria Math" panose="02040503050406030204" pitchFamily="18" charset="0"/>
                  </a:rPr>
                  <a:t>$1$</a:t>
                </a:r>
                <a:r>
                  <a:rPr sz="2400" b="0">
                    <a:solidFill>
                      <a:srgbClr val="111827"/>
                    </a:solidFill>
                    <a:latin typeface="Arial"/>
                  </a:rPr>
                  <a:t>, which is not prime).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$T=\{1\}\cup T'$</a:t>
                </a:r>
                <a:r>
                  <a:rPr sz="2400" b="0">
                    <a:solidFill>
                      <a:srgbClr val="111827"/>
                    </a:solidFill>
                    <a:latin typeface="Arial"/>
                  </a:rPr>
                  <a:t> with </a:t>
                </a:r>
                <a:r>
                  <a:rPr lang="en-IN" sz="2400">
                    <a:solidFill>
                      <a:srgbClr val="111827"/>
                    </a:solidFill>
                    <a:latin typeface="Cambria Math" panose="02040503050406030204" pitchFamily="18" charset="0"/>
                  </a:rPr>
                  <a:t>$T'\subseteq\{3,4,5,6,7\}$</a:t>
                </a:r>
                <a:r>
                  <a:rPr sz="2400" b="0">
                    <a:solidFill>
                      <a:srgbClr val="111827"/>
                    </a:solidFill>
                    <a:latin typeface="Arial"/>
                  </a:rPr>
                  <a:t>, and we need </a:t>
                </a:r>
                <a:r>
                  <a:rPr lang="en-IN" sz="2400">
                    <a:solidFill>
                      <a:srgbClr val="111827"/>
                    </a:solidFill>
                    <a:latin typeface="Cambria Math" panose="02040503050406030204" pitchFamily="18" charset="0"/>
                  </a:rPr>
                  <a:t>$1+\text{sum}(T')$</a:t>
                </a:r>
                <a:r>
                  <a:rPr sz="2400" b="0">
                    <a:solidFill>
                      <a:srgbClr val="111827"/>
                    </a:solidFill>
                    <a:latin typeface="Arial"/>
                  </a:rPr>
                  <a:t> not prime.</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$|T'|=5$</a:t>
                </a:r>
                <a:r>
                  <a:rPr sz="2400" b="0">
                    <a:solidFill>
                      <a:srgbClr val="111827"/>
                    </a:solidFill>
                    <a:latin typeface="Arial"/>
                  </a:rPr>
                  <a:t>: sum </a:t>
                </a:r>
                <a:r>
                  <a:rPr lang="en-IN" sz="2400">
                    <a:solidFill>
                      <a:srgbClr val="111827"/>
                    </a:solidFill>
                    <a:latin typeface="Cambria Math" panose="02040503050406030204" pitchFamily="18" charset="0"/>
                  </a:rPr>
                  <a:t>$25$</a:t>
                </a:r>
                <a:r>
                  <a:rPr sz="2400" b="0">
                    <a:solidFill>
                      <a:srgbClr val="111827"/>
                    </a:solidFill>
                    <a:latin typeface="Arial"/>
                  </a:rPr>
                  <a:t>, </a:t>
                </a:r>
                <a:r>
                  <a:rPr lang="en-IN" sz="2400">
                    <a:solidFill>
                      <a:srgbClr val="111827"/>
                    </a:solidFill>
                    <a:latin typeface="Cambria Math" panose="02040503050406030204" pitchFamily="18" charset="0"/>
                  </a:rPr>
                  <a:t>$1+25=26$</a:t>
                </a:r>
                <a:r>
                  <a:rPr sz="2400" b="0">
                    <a:solidFill>
                      <a:srgbClr val="111827"/>
                    </a:solidFill>
                    <a:latin typeface="Arial"/>
                  </a:rPr>
                  <a:t> composite: </a:t>
                </a:r>
                <a:r>
                  <a:rPr lang="en-IN" sz="2400">
                    <a:solidFill>
                      <a:srgbClr val="111827"/>
                    </a:solidFill>
                    <a:latin typeface="Cambria Math" panose="02040503050406030204" pitchFamily="18" charset="0"/>
                  </a:rPr>
                  <a:t>$1$</a:t>
                </a:r>
                <a:r>
                  <a:rPr sz="2400" b="0">
                    <a:solidFill>
                      <a:srgbClr val="111827"/>
                    </a:solidFill>
                    <a:latin typeface="Arial"/>
                  </a:rPr>
                  <a:t> subset. </a:t>
                </a:r>
                <a:r>
                  <a:rPr lang="en-IN" sz="2400">
                    <a:solidFill>
                      <a:srgbClr val="111827"/>
                    </a:solidFill>
                    <a:latin typeface="Cambria Math" panose="02040503050406030204" pitchFamily="18" charset="0"/>
                  </a:rPr>
                  <a:t>$|T'|=4$</a:t>
                </a:r>
                <a:r>
                  <a:rPr sz="2400" b="0">
                    <a:solidFill>
                      <a:srgbClr val="111827"/>
                    </a:solidFill>
                    <a:latin typeface="Arial"/>
                  </a:rPr>
                  <a:t>: exclude those missing </a:t>
                </a:r>
                <a:r>
                  <a:rPr lang="en-IN" sz="2400">
                    <a:solidFill>
                      <a:srgbClr val="111827"/>
                    </a:solidFill>
                    <a:latin typeface="Cambria Math" panose="02040503050406030204" pitchFamily="18" charset="0"/>
                  </a:rPr>
                  <a:t>$3$</a:t>
                </a:r>
                <a:r>
                  <a:rPr sz="2400" b="0">
                    <a:solidFill>
                      <a:srgbClr val="111827"/>
                    </a:solidFill>
                    <a:latin typeface="Arial"/>
                  </a:rPr>
                  <a:t> or </a:t>
                </a:r>
                <a:r>
                  <a:rPr lang="en-IN" sz="2400">
                    <a:solidFill>
                      <a:srgbClr val="111827"/>
                    </a:solidFill>
                    <a:latin typeface="Cambria Math" panose="02040503050406030204" pitchFamily="18" charset="0"/>
                  </a:rPr>
                  <a:t>$7$</a:t>
                </a:r>
                <a:r>
                  <a:rPr sz="2400" b="0">
                    <a:solidFill>
                      <a:srgbClr val="111827"/>
                    </a:solidFill>
                    <a:latin typeface="Arial"/>
                  </a:rPr>
                  <a:t> (sums </a:t>
                </a:r>
                <a:r>
                  <a:rPr lang="en-IN" sz="2400">
                    <a:solidFill>
                      <a:srgbClr val="111827"/>
                    </a:solidFill>
                    <a:latin typeface="Cambria Math" panose="02040503050406030204" pitchFamily="18" charset="0"/>
                  </a:rPr>
                  <a:t>$23,19$</a:t>
                </a:r>
                <a:r>
                  <a:rPr sz="2400" b="0">
                    <a:solidFill>
                      <a:srgbClr val="111827"/>
                    </a:solidFill>
                    <a:latin typeface="Arial"/>
                  </a:rPr>
                  <a:t>): </a:t>
                </a:r>
                <a:r>
                  <a:rPr lang="en-IN" sz="2400">
                    <a:solidFill>
                      <a:srgbClr val="111827"/>
                    </a:solidFill>
                    <a:latin typeface="Cambria Math" panose="02040503050406030204" pitchFamily="18" charset="0"/>
                  </a:rPr>
                  <a:t>$5-2=3$</a:t>
                </a:r>
                <a:r>
                  <a:rPr sz="2400" b="0">
                    <a:solidFill>
                      <a:srgbClr val="111827"/>
                    </a:solidFill>
                    <a:latin typeface="Arial"/>
                  </a:rPr>
                  <a:t> subsets.</a:t>
                </a:r>
                <a:endParaRPr sz="2400">
                  <a:solidFill>
                    <a:srgbClr val="111827"/>
                  </a:solidFill>
                </a:endParaRPr>
              </a:p>
            </p:txBody>
          </p:sp>
        </mc:Fallback>
      </mc:AlternateContent>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𝑇</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exclude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(sums </a:t>
                </a:r>
                <a14:m>
                  <m:oMath xmlns:m="http://schemas.openxmlformats.org/officeDocument/2006/math">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subsets.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𝑇</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exclude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(sums </a:t>
                </a:r>
                <a14:m>
                  <m:oMath xmlns:m="http://schemas.openxmlformats.org/officeDocument/2006/math">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subsets.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𝑇</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exclude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(sums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subsets.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𝑇</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sum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subset.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𝐵</m:t>
                        </m:r>
                      </m:e>
                      <m:sup>
                        <m:r>
                          <a:rPr lang="en-IN" sz="2400" i="1">
                            <a:solidFill>
                              <a:srgbClr val="111827"/>
                            </a:solidFill>
                            <a:latin typeface="Cambria Math" panose="02040503050406030204" pitchFamily="18" charset="0"/>
                          </a:rPr>
                          <m:t>𝑐</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𝐶</m:t>
                        </m:r>
                      </m:e>
                      <m:sup>
                        <m:r>
                          <a:rPr lang="en-IN" sz="2400" i="1">
                            <a:solidFill>
                              <a:srgbClr val="111827"/>
                            </a:solidFill>
                            <a:latin typeface="Cambria Math" panose="02040503050406030204" pitchFamily="18" charset="0"/>
                          </a:rPr>
                          <m:t>𝑐</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107</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$|T'|=3$</a:t>
                </a:r>
                <a:r>
                  <a:rPr sz="2400" b="0">
                    <a:solidFill>
                      <a:srgbClr val="111827"/>
                    </a:solidFill>
                    <a:latin typeface="Arial"/>
                  </a:rPr>
                  <a:t>: exclude </a:t>
                </a:r>
                <a:r>
                  <a:rPr lang="en-IN" sz="2400">
                    <a:solidFill>
                      <a:srgbClr val="111827"/>
                    </a:solidFill>
                    <a:latin typeface="Cambria Math" panose="02040503050406030204" pitchFamily="18" charset="0"/>
                  </a:rPr>
                  <a:t>$\{3,4,5\},\{3,6,7\},\{4,5,7\},\{5,6,7\}$</a:t>
                </a:r>
                <a:r>
                  <a:rPr sz="2400" b="0">
                    <a:solidFill>
                      <a:srgbClr val="111827"/>
                    </a:solidFill>
                    <a:latin typeface="Arial"/>
                  </a:rPr>
                  <a:t> (sums </a:t>
                </a:r>
                <a:r>
                  <a:rPr lang="en-IN" sz="2400">
                    <a:solidFill>
                      <a:srgbClr val="111827"/>
                    </a:solidFill>
                    <a:latin typeface="Cambria Math" panose="02040503050406030204" pitchFamily="18" charset="0"/>
                  </a:rPr>
                  <a:t>$13,17,17,19$</a:t>
                </a:r>
                <a:r>
                  <a:rPr sz="2400" b="0">
                    <a:solidFill>
                      <a:srgbClr val="111827"/>
                    </a:solidFill>
                    <a:latin typeface="Arial"/>
                  </a:rPr>
                  <a:t>): </a:t>
                </a:r>
                <a:r>
                  <a:rPr lang="en-IN" sz="2400">
                    <a:solidFill>
                      <a:srgbClr val="111827"/>
                    </a:solidFill>
                    <a:latin typeface="Cambria Math" panose="02040503050406030204" pitchFamily="18" charset="0"/>
                  </a:rPr>
                  <a:t>$10-4=6$</a:t>
                </a:r>
                <a:r>
                  <a:rPr sz="2400" b="0">
                    <a:solidFill>
                      <a:srgbClr val="111827"/>
                    </a:solidFill>
                    <a:latin typeface="Arial"/>
                  </a:rPr>
                  <a:t> subsets.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$|T'|=2$</a:t>
                </a:r>
                <a:r>
                  <a:rPr sz="2400" b="0">
                    <a:solidFill>
                      <a:srgbClr val="111827"/>
                    </a:solidFill>
                    <a:latin typeface="Arial"/>
                  </a:rPr>
                  <a:t>: exclude </a:t>
                </a:r>
                <a:r>
                  <a:rPr lang="en-IN" sz="2400">
                    <a:solidFill>
                      <a:srgbClr val="111827"/>
                    </a:solidFill>
                    <a:latin typeface="Cambria Math" panose="02040503050406030204" pitchFamily="18" charset="0"/>
                  </a:rPr>
                  <a:t>$\{3,7\},\{4,6\},\{5,7\}$</a:t>
                </a:r>
                <a:r>
                  <a:rPr sz="2400" b="0">
                    <a:solidFill>
                      <a:srgbClr val="111827"/>
                    </a:solidFill>
                    <a:latin typeface="Arial"/>
                  </a:rPr>
                  <a:t> (sums </a:t>
                </a:r>
                <a:r>
                  <a:rPr lang="en-IN" sz="2400">
                    <a:solidFill>
                      <a:srgbClr val="111827"/>
                    </a:solidFill>
                    <a:latin typeface="Cambria Math" panose="02040503050406030204" pitchFamily="18" charset="0"/>
                  </a:rPr>
                  <a:t>$11,11,13$</a:t>
                </a:r>
                <a:r>
                  <a:rPr sz="2400" b="0">
                    <a:solidFill>
                      <a:srgbClr val="111827"/>
                    </a:solidFill>
                    <a:latin typeface="Arial"/>
                  </a:rPr>
                  <a:t>): </a:t>
                </a:r>
                <a:r>
                  <a:rPr lang="en-IN" sz="2400">
                    <a:solidFill>
                      <a:srgbClr val="111827"/>
                    </a:solidFill>
                    <a:latin typeface="Cambria Math" panose="02040503050406030204" pitchFamily="18" charset="0"/>
                  </a:rPr>
                  <a:t>$10-3=7$</a:t>
                </a:r>
                <a:r>
                  <a:rPr sz="2400" b="0">
                    <a:solidFill>
                      <a:srgbClr val="111827"/>
                    </a:solidFill>
                    <a:latin typeface="Arial"/>
                  </a:rPr>
                  <a:t> subsets. </a:t>
                </a:r>
                <a:r>
                  <a:rPr lang="en-IN" sz="2400">
                    <a:solidFill>
                      <a:srgbClr val="111827"/>
                    </a:solidFill>
                    <a:latin typeface="Cambria Math" panose="02040503050406030204" pitchFamily="18" charset="0"/>
                  </a:rPr>
                  <a:t>$|T'|=1$</a:t>
                </a:r>
                <a:r>
                  <a:rPr sz="2400" b="0">
                    <a:solidFill>
                      <a:srgbClr val="111827"/>
                    </a:solidFill>
                    <a:latin typeface="Arial"/>
                  </a:rPr>
                  <a:t>: exclude </a:t>
                </a:r>
                <a:r>
                  <a:rPr lang="en-IN" sz="2400">
                    <a:solidFill>
                      <a:srgbClr val="111827"/>
                    </a:solidFill>
                    <a:latin typeface="Cambria Math" panose="02040503050406030204" pitchFamily="18" charset="0"/>
                  </a:rPr>
                  <a:t>$\{4\},\{6\}$</a:t>
                </a:r>
                <a:r>
                  <a:rPr sz="2400" b="0">
                    <a:solidFill>
                      <a:srgbClr val="111827"/>
                    </a:solidFill>
                    <a:latin typeface="Arial"/>
                  </a:rPr>
                  <a:t> (sums </a:t>
                </a:r>
                <a:r>
                  <a:rPr lang="en-IN" sz="2400">
                    <a:solidFill>
                      <a:srgbClr val="111827"/>
                    </a:solidFill>
                    <a:latin typeface="Cambria Math" panose="02040503050406030204" pitchFamily="18" charset="0"/>
                  </a:rPr>
                  <a:t>$5,7$</a:t>
                </a:r>
                <a:r>
                  <a:rPr sz="2400" b="0">
                    <a:solidFill>
                      <a:srgbClr val="111827"/>
                    </a:solidFill>
                    <a:latin typeface="Arial"/>
                  </a:rPr>
                  <a:t>): </a:t>
                </a:r>
                <a:r>
                  <a:rPr lang="en-IN" sz="2400">
                    <a:solidFill>
                      <a:srgbClr val="111827"/>
                    </a:solidFill>
                    <a:latin typeface="Cambria Math" panose="02040503050406030204" pitchFamily="18" charset="0"/>
                  </a:rPr>
                  <a:t>$5-2=3$</a:t>
                </a:r>
                <a:r>
                  <a:rPr sz="2400" b="0">
                    <a:solidFill>
                      <a:srgbClr val="111827"/>
                    </a:solidFill>
                    <a:latin typeface="Arial"/>
                  </a:rPr>
                  <a:t> subsets. </a:t>
                </a:r>
                <a:r>
                  <a:rPr lang="en-IN" sz="2400">
                    <a:solidFill>
                      <a:srgbClr val="111827"/>
                    </a:solidFill>
                    <a:latin typeface="Cambria Math" panose="02040503050406030204" pitchFamily="18" charset="0"/>
                  </a:rPr>
                  <a:t>$|T'|=0$</a:t>
                </a:r>
                <a:r>
                  <a:rPr sz="2400" b="0">
                    <a:solidFill>
                      <a:srgbClr val="111827"/>
                    </a:solidFill>
                    <a:latin typeface="Arial"/>
                  </a:rPr>
                  <a:t>: sum </a:t>
                </a:r>
                <a:r>
                  <a:rPr lang="en-IN" sz="2400">
                    <a:solidFill>
                      <a:srgbClr val="111827"/>
                    </a:solidFill>
                    <a:latin typeface="Cambria Math" panose="02040503050406030204" pitchFamily="18" charset="0"/>
                  </a:rPr>
                  <a:t>$1$</a:t>
                </a:r>
                <a:r>
                  <a:rPr sz="2400" b="0">
                    <a:solidFill>
                      <a:srgbClr val="111827"/>
                    </a:solidFill>
                    <a:latin typeface="Arial"/>
                  </a:rPr>
                  <a:t>: </a:t>
                </a:r>
                <a:r>
                  <a:rPr lang="en-IN" sz="2400">
                    <a:solidFill>
                      <a:srgbClr val="111827"/>
                    </a:solidFill>
                    <a:latin typeface="Cambria Math" panose="02040503050406030204" pitchFamily="18" charset="0"/>
                  </a:rPr>
                  <a:t>$1$</a:t>
                </a:r>
                <a:r>
                  <a:rPr sz="2400" b="0">
                    <a:solidFill>
                      <a:srgbClr val="111827"/>
                    </a:solidFill>
                    <a:latin typeface="Arial"/>
                  </a:rPr>
                  <a:t> subset.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$n(B^c\cap C^c)=1+3+6+7+3+1=21$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$n(B\cup C)=128-21=107$</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107</a:t>
            </a:r>
            <a:endParaRPr sz="2800">
              <a:solidFill>
                <a:srgbClr val="15803D"/>
              </a:solidFill>
            </a:endParaRP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Count </a:t>
                </a:r>
                <a14:m>
                  <m:oMath xmlns:m="http://schemas.openxmlformats.org/officeDocument/2006/math">
                    <m:r>
                      <a:rPr lang="en-IN" sz="2400" i="1">
                        <a:solidFill>
                          <a:srgbClr val="78350F"/>
                        </a:solidFill>
                        <a:latin typeface="Cambria Math" panose="02040503050406030204" pitchFamily="18" charset="0"/>
                      </a:rPr>
                      <m:t>𝐵</m:t>
                    </m:r>
                  </m:oMath>
                </a14:m>
                <a:r>
                  <a:rPr sz="2400" b="0">
                    <a:solidFill>
                      <a:srgbClr val="78350F"/>
                    </a:solidFill>
                    <a:latin typeface="Arial"/>
                  </a:rPr>
                  <a:t> directly and add the part of </a:t>
                </a:r>
                <a14:m>
                  <m:oMath xmlns:m="http://schemas.openxmlformats.org/officeDocument/2006/math">
                    <m:r>
                      <a:rPr lang="en-IN" sz="2400" i="1">
                        <a:solidFill>
                          <a:srgbClr val="78350F"/>
                        </a:solidFill>
                        <a:latin typeface="Cambria Math" panose="02040503050406030204" pitchFamily="18" charset="0"/>
                      </a:rPr>
                      <m:t>𝐶</m:t>
                    </m:r>
                  </m:oMath>
                </a14:m>
                <a:r>
                  <a:rPr sz="2400" b="0">
                    <a:solidFill>
                      <a:srgbClr val="78350F"/>
                    </a:solidFill>
                    <a:latin typeface="Arial"/>
                  </a:rPr>
                  <a:t> outside </a:t>
                </a:r>
                <a14:m>
                  <m:oMath xmlns:m="http://schemas.openxmlformats.org/officeDocument/2006/math">
                    <m:r>
                      <a:rPr lang="en-IN" sz="2400" i="1">
                        <a:solidFill>
                          <a:srgbClr val="78350F"/>
                        </a:solidFill>
                        <a:latin typeface="Cambria Math" panose="02040503050406030204" pitchFamily="18" charset="0"/>
                      </a:rPr>
                      <m:t>𝐵</m:t>
                    </m:r>
                  </m:oMath>
                </a14:m>
                <a:r>
                  <a:rPr sz="2400" b="0">
                    <a:solidFill>
                      <a:srgbClr val="78350F"/>
                    </a:solidFill>
                    <a:latin typeface="Arial"/>
                  </a:rPr>
                  <a:t>: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𝐶</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𝐶</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Count </a:t>
                </a:r>
                <a:r>
                  <a:rPr lang="en-IN" sz="2400">
                    <a:solidFill>
                      <a:srgbClr val="78350F"/>
                    </a:solidFill>
                    <a:latin typeface="Cambria Math" panose="02040503050406030204" pitchFamily="18" charset="0"/>
                  </a:rPr>
                  <a:t>$B$</a:t>
                </a:r>
                <a:r>
                  <a:rPr sz="2400" b="0">
                    <a:solidFill>
                      <a:srgbClr val="78350F"/>
                    </a:solidFill>
                    <a:latin typeface="Arial"/>
                  </a:rPr>
                  <a:t> directly and add the part of </a:t>
                </a:r>
                <a:r>
                  <a:rPr lang="en-IN" sz="2400">
                    <a:solidFill>
                      <a:srgbClr val="78350F"/>
                    </a:solidFill>
                    <a:latin typeface="Cambria Math" panose="02040503050406030204" pitchFamily="18" charset="0"/>
                  </a:rPr>
                  <a:t>$C$</a:t>
                </a:r>
                <a:r>
                  <a:rPr sz="2400" b="0">
                    <a:solidFill>
                      <a:srgbClr val="78350F"/>
                    </a:solidFill>
                    <a:latin typeface="Arial"/>
                  </a:rPr>
                  <a:t> outside </a:t>
                </a:r>
                <a:r>
                  <a:rPr lang="en-IN" sz="2400">
                    <a:solidFill>
                      <a:srgbClr val="78350F"/>
                    </a:solidFill>
                    <a:latin typeface="Cambria Math" panose="02040503050406030204" pitchFamily="18" charset="0"/>
                  </a:rPr>
                  <a:t>$B$</a:t>
                </a:r>
                <a:r>
                  <a:rPr sz="2400" b="0">
                    <a:solidFill>
                      <a:srgbClr val="78350F"/>
                    </a:solidFill>
                    <a:latin typeface="Arial"/>
                  </a:rPr>
                  <a:t>: </a:t>
                </a:r>
                <a:r>
                  <a:rPr lang="en-IN" sz="2400">
                    <a:solidFill>
                      <a:srgbClr val="78350F"/>
                    </a:solidFill>
                    <a:latin typeface="Cambria Math" panose="02040503050406030204" pitchFamily="18" charset="0"/>
                  </a:rPr>
                  <a:t>$|B\cup C|=|B|+|C\setminus B|$</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𝐵</m:t>
                        </m:r>
                      </m:e>
                      <m:sup>
                        <m:r>
                          <a:rPr lang="en-IN" sz="2400" i="1">
                            <a:solidFill>
                              <a:srgbClr val="111827"/>
                            </a:solidFill>
                            <a:latin typeface="Cambria Math" panose="02040503050406030204" pitchFamily="18" charset="0"/>
                          </a:rPr>
                          <m:t>𝑐</m:t>
                        </m:r>
                      </m:sup>
                    </m:sSup>
                  </m:oMath>
                </a14:m>
                <a:r>
                  <a:rPr sz="2400" b="0">
                    <a:solidFill>
                      <a:srgbClr val="111827"/>
                    </a:solidFill>
                    <a:latin typeface="Arial"/>
                  </a:rPr>
                  <a:t> has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5</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oMath>
                </a14:m>
                <a:r>
                  <a:rPr sz="2400" b="0">
                    <a:solidFill>
                      <a:srgbClr val="111827"/>
                    </a:solidFill>
                    <a:latin typeface="Arial"/>
                  </a:rPr>
                  <a:t> subsets (contain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avoid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free on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consists of subsets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𝑇</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𝑇</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prime sum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𝑠𝑢𝑚</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𝑇</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$B^c$</a:t>
                </a:r>
                <a:r>
                  <a:rPr sz="2400" b="0">
                    <a:solidFill>
                      <a:srgbClr val="111827"/>
                    </a:solidFill>
                    <a:latin typeface="Arial"/>
                  </a:rPr>
                  <a:t> has </a:t>
                </a:r>
                <a:r>
                  <a:rPr lang="en-IN" sz="2400">
                    <a:solidFill>
                      <a:srgbClr val="111827"/>
                    </a:solidFill>
                    <a:latin typeface="Cambria Math" panose="02040503050406030204" pitchFamily="18" charset="0"/>
                  </a:rPr>
                  <a:t>$2^5=32$</a:t>
                </a:r>
                <a:r>
                  <a:rPr sz="2400" b="0">
                    <a:solidFill>
                      <a:srgbClr val="111827"/>
                    </a:solidFill>
                    <a:latin typeface="Arial"/>
                  </a:rPr>
                  <a:t> subsets (contain </a:t>
                </a:r>
                <a:r>
                  <a:rPr lang="en-IN" sz="2400">
                    <a:solidFill>
                      <a:srgbClr val="111827"/>
                    </a:solidFill>
                    <a:latin typeface="Cambria Math" panose="02040503050406030204" pitchFamily="18" charset="0"/>
                  </a:rPr>
                  <a:t>$1$</a:t>
                </a:r>
                <a:r>
                  <a:rPr sz="2400" b="0">
                    <a:solidFill>
                      <a:srgbClr val="111827"/>
                    </a:solidFill>
                    <a:latin typeface="Arial"/>
                  </a:rPr>
                  <a:t>, avoid </a:t>
                </a:r>
                <a:r>
                  <a:rPr lang="en-IN" sz="2400">
                    <a:solidFill>
                      <a:srgbClr val="111827"/>
                    </a:solidFill>
                    <a:latin typeface="Cambria Math" panose="02040503050406030204" pitchFamily="18" charset="0"/>
                  </a:rPr>
                  <a:t>$2$</a:t>
                </a:r>
                <a:r>
                  <a:rPr sz="2400" b="0">
                    <a:solidFill>
                      <a:srgbClr val="111827"/>
                    </a:solidFill>
                    <a:latin typeface="Arial"/>
                  </a:rPr>
                  <a:t>, free on </a:t>
                </a:r>
                <a:r>
                  <a:rPr lang="en-IN" sz="2400">
                    <a:solidFill>
                      <a:srgbClr val="111827"/>
                    </a:solidFill>
                    <a:latin typeface="Cambria Math" panose="02040503050406030204" pitchFamily="18" charset="0"/>
                  </a:rPr>
                  <a:t>$3,\dots,7$</a:t>
                </a:r>
                <a:r>
                  <a:rPr sz="2400" b="0">
                    <a:solidFill>
                      <a:srgbClr val="111827"/>
                    </a:solidFill>
                    <a:latin typeface="Arial"/>
                  </a:rPr>
                  <a:t>), so </a:t>
                </a:r>
                <a:r>
                  <a:rPr lang="en-IN" sz="2400">
                    <a:solidFill>
                      <a:srgbClr val="111827"/>
                    </a:solidFill>
                    <a:latin typeface="Cambria Math" panose="02040503050406030204" pitchFamily="18" charset="0"/>
                  </a:rPr>
                  <a:t>$|B|=128-32=96$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$C\setminus B$</a:t>
                </a:r>
                <a:r>
                  <a:rPr sz="2400" b="0">
                    <a:solidFill>
                      <a:srgbClr val="111827"/>
                    </a:solidFill>
                    <a:latin typeface="Arial"/>
                  </a:rPr>
                  <a:t> consists of subsets </a:t>
                </a:r>
                <a:r>
                  <a:rPr lang="en-IN" sz="2400">
                    <a:solidFill>
                      <a:srgbClr val="111827"/>
                    </a:solidFill>
                    <a:latin typeface="Cambria Math" panose="02040503050406030204" pitchFamily="18" charset="0"/>
                  </a:rPr>
                  <a:t>$\{1\}\cup T'$</a:t>
                </a:r>
                <a:r>
                  <a:rPr sz="2400" b="0">
                    <a:solidFill>
                      <a:srgbClr val="111827"/>
                    </a:solidFill>
                    <a:latin typeface="Arial"/>
                  </a:rPr>
                  <a:t> (</a:t>
                </a:r>
                <a:r>
                  <a:rPr lang="en-IN" sz="2400">
                    <a:solidFill>
                      <a:srgbClr val="111827"/>
                    </a:solidFill>
                    <a:latin typeface="Cambria Math" panose="02040503050406030204" pitchFamily="18" charset="0"/>
                  </a:rPr>
                  <a:t>$T'\subseteq\{3,4,5,6,7\}$</a:t>
                </a:r>
                <a:r>
                  <a:rPr sz="2400" b="0">
                    <a:solidFill>
                      <a:srgbClr val="111827"/>
                    </a:solidFill>
                    <a:latin typeface="Arial"/>
                  </a:rPr>
                  <a:t>) with prime sum </a:t>
                </a:r>
                <a:r>
                  <a:rPr lang="en-IN" sz="2400">
                    <a:solidFill>
                      <a:srgbClr val="111827"/>
                    </a:solidFill>
                    <a:latin typeface="Cambria Math" panose="02040503050406030204" pitchFamily="18" charset="0"/>
                  </a:rPr>
                  <a:t>$1+\text{sum}(T')$</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List them: </a:t>
                </a:r>
                <a14:m>
                  <m:oMath xmlns:m="http://schemas.openxmlformats.org/officeDocument/2006/math">
                    <m:sSup>
                      <m:e>
                        <m:r>
                          <a:rPr lang="en-IN" sz="2400" i="1">
                            <a:solidFill>
                              <a:srgbClr val="111827"/>
                            </a:solidFill>
                            <a:latin typeface="Cambria Math" panose="02040503050406030204" pitchFamily="18" charset="0"/>
                          </a:rPr>
                          <m:t>𝑇</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(5),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(7),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(11),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(11),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(13),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(13),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(17),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(17),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(19),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(19),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(23).</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That is </a:t>
                </a:r>
                <a14:m>
                  <m:oMath xmlns:m="http://schemas.openxmlformats.org/officeDocument/2006/math">
                    <m:r>
                      <a:rPr lang="en-IN" sz="2400" i="1">
                        <a:solidFill>
                          <a:srgbClr val="111827"/>
                        </a:solidFill>
                        <a:latin typeface="Cambria Math" panose="02040503050406030204" pitchFamily="18" charset="0"/>
                      </a:rPr>
                      <m:t>11</m:t>
                    </m:r>
                  </m:oMath>
                </a14:m>
                <a:r>
                  <a:rPr sz="2400" b="0">
                    <a:solidFill>
                      <a:srgbClr val="111827"/>
                    </a:solidFill>
                    <a:latin typeface="Arial"/>
                  </a:rPr>
                  <a:t> subsets,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107</m:t>
                    </m:r>
                  </m:oMath>
                </a14:m>
                <a:r>
                  <a:rPr sz="2400" b="0">
                    <a:solidFill>
                      <a:srgbClr val="111827"/>
                    </a:solidFill>
                    <a:latin typeface="Arial"/>
                  </a:rPr>
                  <a:t> (consistent with </a:t>
                </a:r>
                <a14:m>
                  <m:oMath xmlns:m="http://schemas.openxmlformats.org/officeDocument/2006/math">
                    <m:r>
                      <a:rPr lang="en-IN" sz="2400" i="1">
                        <a:solidFill>
                          <a:srgbClr val="111827"/>
                        </a:solidFill>
                        <a:latin typeface="Cambria Math" panose="02040503050406030204" pitchFamily="18" charset="0"/>
                      </a:rPr>
                      <m:t>32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List them: </a:t>
                </a:r>
                <a:r>
                  <a:rPr lang="en-IN" sz="2400">
                    <a:solidFill>
                      <a:srgbClr val="111827"/>
                    </a:solidFill>
                    <a:latin typeface="Cambria Math" panose="02040503050406030204" pitchFamily="18" charset="0"/>
                  </a:rPr>
                  <a:t>$T'=\{4\}$</a:t>
                </a:r>
                <a:r>
                  <a:rPr sz="2400" b="0">
                    <a:solidFill>
                      <a:srgbClr val="111827"/>
                    </a:solidFill>
                    <a:latin typeface="Arial"/>
                  </a:rPr>
                  <a:t> (5), </a:t>
                </a:r>
                <a:r>
                  <a:rPr lang="en-IN" sz="2400">
                    <a:solidFill>
                      <a:srgbClr val="111827"/>
                    </a:solidFill>
                    <a:latin typeface="Cambria Math" panose="02040503050406030204" pitchFamily="18" charset="0"/>
                  </a:rPr>
                  <a:t>$\{6\}$</a:t>
                </a:r>
                <a:r>
                  <a:rPr sz="2400" b="0">
                    <a:solidFill>
                      <a:srgbClr val="111827"/>
                    </a:solidFill>
                    <a:latin typeface="Arial"/>
                  </a:rPr>
                  <a:t> (7), </a:t>
                </a:r>
                <a:r>
                  <a:rPr lang="en-IN" sz="2400">
                    <a:solidFill>
                      <a:srgbClr val="111827"/>
                    </a:solidFill>
                    <a:latin typeface="Cambria Math" panose="02040503050406030204" pitchFamily="18" charset="0"/>
                  </a:rPr>
                  <a:t>$\{3,7\}$</a:t>
                </a:r>
                <a:r>
                  <a:rPr sz="2400" b="0">
                    <a:solidFill>
                      <a:srgbClr val="111827"/>
                    </a:solidFill>
                    <a:latin typeface="Arial"/>
                  </a:rPr>
                  <a:t> (11), </a:t>
                </a:r>
                <a:r>
                  <a:rPr lang="en-IN" sz="2400">
                    <a:solidFill>
                      <a:srgbClr val="111827"/>
                    </a:solidFill>
                    <a:latin typeface="Cambria Math" panose="02040503050406030204" pitchFamily="18" charset="0"/>
                  </a:rPr>
                  <a:t>$\{4,6\}$</a:t>
                </a:r>
                <a:r>
                  <a:rPr sz="2400" b="0">
                    <a:solidFill>
                      <a:srgbClr val="111827"/>
                    </a:solidFill>
                    <a:latin typeface="Arial"/>
                  </a:rPr>
                  <a:t> (11), </a:t>
                </a:r>
                <a:r>
                  <a:rPr lang="en-IN" sz="2400">
                    <a:solidFill>
                      <a:srgbClr val="111827"/>
                    </a:solidFill>
                    <a:latin typeface="Cambria Math" panose="02040503050406030204" pitchFamily="18" charset="0"/>
                  </a:rPr>
                  <a:t>$\{5,7\}$</a:t>
                </a:r>
                <a:r>
                  <a:rPr sz="2400" b="0">
                    <a:solidFill>
                      <a:srgbClr val="111827"/>
                    </a:solidFill>
                    <a:latin typeface="Arial"/>
                  </a:rPr>
                  <a:t> (13), </a:t>
                </a:r>
                <a:r>
                  <a:rPr lang="en-IN" sz="2400">
                    <a:solidFill>
                      <a:srgbClr val="111827"/>
                    </a:solidFill>
                    <a:latin typeface="Cambria Math" panose="02040503050406030204" pitchFamily="18" charset="0"/>
                  </a:rPr>
                  <a:t>$\{3,4,5\}$</a:t>
                </a:r>
                <a:r>
                  <a:rPr sz="2400" b="0">
                    <a:solidFill>
                      <a:srgbClr val="111827"/>
                    </a:solidFill>
                    <a:latin typeface="Arial"/>
                  </a:rPr>
                  <a:t> (13), </a:t>
                </a:r>
                <a:r>
                  <a:rPr lang="en-IN" sz="2400">
                    <a:solidFill>
                      <a:srgbClr val="111827"/>
                    </a:solidFill>
                    <a:latin typeface="Cambria Math" panose="02040503050406030204" pitchFamily="18" charset="0"/>
                  </a:rPr>
                  <a:t>$\{3,6,7\}$</a:t>
                </a:r>
                <a:r>
                  <a:rPr sz="2400" b="0">
                    <a:solidFill>
                      <a:srgbClr val="111827"/>
                    </a:solidFill>
                    <a:latin typeface="Arial"/>
                  </a:rPr>
                  <a:t> (17), </a:t>
                </a:r>
                <a:r>
                  <a:rPr lang="en-IN" sz="2400">
                    <a:solidFill>
                      <a:srgbClr val="111827"/>
                    </a:solidFill>
                    <a:latin typeface="Cambria Math" panose="02040503050406030204" pitchFamily="18" charset="0"/>
                  </a:rPr>
                  <a:t>$\{4,5,7\}$</a:t>
                </a:r>
                <a:r>
                  <a:rPr sz="2400" b="0">
                    <a:solidFill>
                      <a:srgbClr val="111827"/>
                    </a:solidFill>
                    <a:latin typeface="Arial"/>
                  </a:rPr>
                  <a:t> (17), </a:t>
                </a:r>
                <a:r>
                  <a:rPr lang="en-IN" sz="2400">
                    <a:solidFill>
                      <a:srgbClr val="111827"/>
                    </a:solidFill>
                    <a:latin typeface="Cambria Math" panose="02040503050406030204" pitchFamily="18" charset="0"/>
                  </a:rPr>
                  <a:t>$\{5,6,7\}$</a:t>
                </a:r>
                <a:r>
                  <a:rPr sz="2400" b="0">
                    <a:solidFill>
                      <a:srgbClr val="111827"/>
                    </a:solidFill>
                    <a:latin typeface="Arial"/>
                  </a:rPr>
                  <a:t> (19), </a:t>
                </a:r>
                <a:r>
                  <a:rPr lang="en-IN" sz="2400">
                    <a:solidFill>
                      <a:srgbClr val="111827"/>
                    </a:solidFill>
                    <a:latin typeface="Cambria Math" panose="02040503050406030204" pitchFamily="18" charset="0"/>
                  </a:rPr>
                  <a:t>$\{3,4,5,6\}$</a:t>
                </a:r>
                <a:r>
                  <a:rPr sz="2400" b="0">
                    <a:solidFill>
                      <a:srgbClr val="111827"/>
                    </a:solidFill>
                    <a:latin typeface="Arial"/>
                  </a:rPr>
                  <a:t> (19), </a:t>
                </a:r>
                <a:r>
                  <a:rPr lang="en-IN" sz="2400">
                    <a:solidFill>
                      <a:srgbClr val="111827"/>
                    </a:solidFill>
                    <a:latin typeface="Cambria Math" panose="02040503050406030204" pitchFamily="18" charset="0"/>
                  </a:rPr>
                  <a:t>$\{4,5,6,7\}$</a:t>
                </a:r>
                <a:r>
                  <a:rPr sz="2400" b="0">
                    <a:solidFill>
                      <a:srgbClr val="111827"/>
                    </a:solidFill>
                    <a:latin typeface="Arial"/>
                  </a:rPr>
                  <a:t> (23).</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That is </a:t>
                </a:r>
                <a:r>
                  <a:rPr lang="en-IN" sz="2400">
                    <a:solidFill>
                      <a:srgbClr val="111827"/>
                    </a:solidFill>
                    <a:latin typeface="Cambria Math" panose="02040503050406030204" pitchFamily="18" charset="0"/>
                  </a:rPr>
                  <a:t>$11$</a:t>
                </a:r>
                <a:r>
                  <a:rPr sz="2400" b="0">
                    <a:solidFill>
                      <a:srgbClr val="111827"/>
                    </a:solidFill>
                    <a:latin typeface="Arial"/>
                  </a:rPr>
                  <a:t> subsets, so </a:t>
                </a:r>
                <a:r>
                  <a:rPr lang="en-IN" sz="2400">
                    <a:solidFill>
                      <a:srgbClr val="111827"/>
                    </a:solidFill>
                    <a:latin typeface="Cambria Math" panose="02040503050406030204" pitchFamily="18" charset="0"/>
                  </a:rPr>
                  <a:t>$|B\cup C|=96+11=107$</a:t>
                </a:r>
                <a:r>
                  <a:rPr sz="2400" b="0">
                    <a:solidFill>
                      <a:srgbClr val="111827"/>
                    </a:solidFill>
                    <a:latin typeface="Arial"/>
                  </a:rPr>
                  <a:t> (consistent with </a:t>
                </a:r>
                <a:r>
                  <a:rPr lang="en-IN" sz="2400">
                    <a:solidFill>
                      <a:srgbClr val="111827"/>
                    </a:solidFill>
                    <a:latin typeface="Cambria Math" panose="02040503050406030204" pitchFamily="18" charset="0"/>
                  </a:rPr>
                  <a:t>$32-21=11$</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107</a:t>
            </a:r>
            <a:endParaRPr sz="2800">
              <a:solidFill>
                <a:srgbClr val="15803D"/>
              </a:solidFill>
            </a:endParaRP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When a union condition is awkward, count its complement </a:t>
                </a:r>
                <a14:m>
                  <m:oMath xmlns:m="http://schemas.openxmlformats.org/officeDocument/2006/math">
                    <m:sSup>
                      <m:e>
                        <m:r>
                          <a:rPr lang="en-IN" sz="2400" i="1">
                            <a:solidFill>
                              <a:srgbClr val="111827"/>
                            </a:solidFill>
                            <a:latin typeface="Cambria Math" panose="02040503050406030204" pitchFamily="18" charset="0"/>
                          </a:rPr>
                          <m:t>𝐵</m:t>
                        </m:r>
                      </m:e>
                      <m:sup>
                        <m:r>
                          <a:rPr lang="en-IN" sz="2400" i="1">
                            <a:solidFill>
                              <a:srgbClr val="111827"/>
                            </a:solidFill>
                            <a:latin typeface="Cambria Math" panose="02040503050406030204" pitchFamily="18" charset="0"/>
                          </a:rPr>
                          <m:t>𝑐</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𝐶</m:t>
                        </m:r>
                      </m:e>
                      <m:sup>
                        <m:r>
                          <a:rPr lang="en-IN" sz="2400" i="1">
                            <a:solidFill>
                              <a:srgbClr val="111827"/>
                            </a:solidFill>
                            <a:latin typeface="Cambria Math" panose="02040503050406030204" pitchFamily="18" charset="0"/>
                          </a:rPr>
                          <m:t>𝑐</m:t>
                        </m:r>
                      </m:sup>
                    </m:sSup>
                  </m:oMath>
                </a14:m>
                <a:r>
                  <a:rPr sz="2400" b="0">
                    <a:solidFill>
                      <a:srgbClr val="111827"/>
                    </a:solidFill>
                    <a:latin typeface="Arial"/>
                  </a:rPr>
                  <a:t> (De Morgan) and subtract from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sup>
                    </m:sSup>
                  </m:oMath>
                </a14:m>
                <a:r>
                  <a:rPr sz="2400" b="0">
                    <a:solidFill>
                      <a:srgbClr val="111827"/>
                    </a:solidFill>
                    <a:latin typeface="Arial"/>
                  </a:rPr>
                  <a:t>; fixing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in,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out' cuts the problem to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5</m:t>
                        </m:r>
                      </m:sup>
                    </m:sSup>
                  </m:oMath>
                </a14:m>
                <a:r>
                  <a:rPr sz="2400" b="0">
                    <a:solidFill>
                      <a:srgbClr val="111827"/>
                    </a:solidFill>
                    <a:latin typeface="Arial"/>
                  </a:rPr>
                  <a:t> subsets.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Remember that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is not prime and the empty sum is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which is not prime either.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Primes to remember when checking sums up to </a:t>
                </a:r>
                <a14:m>
                  <m:oMath xmlns:m="http://schemas.openxmlformats.org/officeDocument/2006/math">
                    <m:r>
                      <a:rPr lang="en-IN" sz="2400" i="1">
                        <a:solidFill>
                          <a:srgbClr val="111827"/>
                        </a:solidFill>
                        <a:latin typeface="Cambria Math" panose="02040503050406030204" pitchFamily="18" charset="0"/>
                      </a:rPr>
                      <m:t>28</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When a union condition is awkward, count its complement </a:t>
                </a:r>
                <a:r>
                  <a:rPr lang="en-IN" sz="2400">
                    <a:solidFill>
                      <a:srgbClr val="111827"/>
                    </a:solidFill>
                    <a:latin typeface="Cambria Math" panose="02040503050406030204" pitchFamily="18" charset="0"/>
                  </a:rPr>
                  <a:t>$B^c\cap C^c$</a:t>
                </a:r>
                <a:r>
                  <a:rPr sz="2400" b="0">
                    <a:solidFill>
                      <a:srgbClr val="111827"/>
                    </a:solidFill>
                    <a:latin typeface="Arial"/>
                  </a:rPr>
                  <a:t> (De Morgan) and subtract from </a:t>
                </a:r>
                <a:r>
                  <a:rPr lang="en-IN" sz="2400">
                    <a:solidFill>
                      <a:srgbClr val="111827"/>
                    </a:solidFill>
                    <a:latin typeface="Cambria Math" panose="02040503050406030204" pitchFamily="18" charset="0"/>
                  </a:rPr>
                  <a:t>$2^n$</a:t>
                </a:r>
                <a:r>
                  <a:rPr sz="2400" b="0">
                    <a:solidFill>
                      <a:srgbClr val="111827"/>
                    </a:solidFill>
                    <a:latin typeface="Arial"/>
                  </a:rPr>
                  <a:t>; fixing '</a:t>
                </a:r>
                <a:r>
                  <a:rPr lang="en-IN" sz="2400">
                    <a:solidFill>
                      <a:srgbClr val="111827"/>
                    </a:solidFill>
                    <a:latin typeface="Cambria Math" panose="02040503050406030204" pitchFamily="18" charset="0"/>
                  </a:rPr>
                  <a:t>$1$</a:t>
                </a:r>
                <a:r>
                  <a:rPr sz="2400" b="0">
                    <a:solidFill>
                      <a:srgbClr val="111827"/>
                    </a:solidFill>
                    <a:latin typeface="Arial"/>
                  </a:rPr>
                  <a:t> in, </a:t>
                </a:r>
                <a:r>
                  <a:rPr lang="en-IN" sz="2400">
                    <a:solidFill>
                      <a:srgbClr val="111827"/>
                    </a:solidFill>
                    <a:latin typeface="Cambria Math" panose="02040503050406030204" pitchFamily="18" charset="0"/>
                  </a:rPr>
                  <a:t>$2$</a:t>
                </a:r>
                <a:r>
                  <a:rPr sz="2400" b="0">
                    <a:solidFill>
                      <a:srgbClr val="111827"/>
                    </a:solidFill>
                    <a:latin typeface="Arial"/>
                  </a:rPr>
                  <a:t> out' cuts the problem to </a:t>
                </a:r>
                <a:r>
                  <a:rPr lang="en-IN" sz="2400">
                    <a:solidFill>
                      <a:srgbClr val="111827"/>
                    </a:solidFill>
                    <a:latin typeface="Cambria Math" panose="02040503050406030204" pitchFamily="18" charset="0"/>
                  </a:rPr>
                  <a:t>$2^5$</a:t>
                </a:r>
                <a:r>
                  <a:rPr sz="2400" b="0">
                    <a:solidFill>
                      <a:srgbClr val="111827"/>
                    </a:solidFill>
                    <a:latin typeface="Arial"/>
                  </a:rPr>
                  <a:t> subsets.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Remember that </a:t>
                </a:r>
                <a:r>
                  <a:rPr lang="en-IN" sz="2400">
                    <a:solidFill>
                      <a:srgbClr val="111827"/>
                    </a:solidFill>
                    <a:latin typeface="Cambria Math" panose="02040503050406030204" pitchFamily="18" charset="0"/>
                  </a:rPr>
                  <a:t>$1$</a:t>
                </a:r>
                <a:r>
                  <a:rPr sz="2400" b="0">
                    <a:solidFill>
                      <a:srgbClr val="111827"/>
                    </a:solidFill>
                    <a:latin typeface="Arial"/>
                  </a:rPr>
                  <a:t> is not prime and the empty sum is </a:t>
                </a:r>
                <a:r>
                  <a:rPr lang="en-IN" sz="2400">
                    <a:solidFill>
                      <a:srgbClr val="111827"/>
                    </a:solidFill>
                    <a:latin typeface="Cambria Math" panose="02040503050406030204" pitchFamily="18" charset="0"/>
                  </a:rPr>
                  <a:t>$0$</a:t>
                </a:r>
                <a:r>
                  <a:rPr sz="2400" b="0">
                    <a:solidFill>
                      <a:srgbClr val="111827"/>
                    </a:solidFill>
                    <a:latin typeface="Arial"/>
                  </a:rPr>
                  <a:t>, which is not prime either.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Primes to remember when checking sums up to </a:t>
                </a:r>
                <a:r>
                  <a:rPr lang="en-IN" sz="2400">
                    <a:solidFill>
                      <a:srgbClr val="111827"/>
                    </a:solidFill>
                    <a:latin typeface="Cambria Math" panose="02040503050406030204" pitchFamily="18" charset="0"/>
                  </a:rPr>
                  <a:t>$28$</a:t>
                </a:r>
                <a:r>
                  <a:rPr sz="2400" b="0">
                    <a:solidFill>
                      <a:srgbClr val="111827"/>
                    </a:solidFill>
                    <a:latin typeface="Arial"/>
                  </a:rPr>
                  <a:t>: </a:t>
                </a:r>
                <a:r>
                  <a:rPr lang="en-IN" sz="2400">
                    <a:solidFill>
                      <a:srgbClr val="111827"/>
                    </a:solidFill>
                    <a:latin typeface="Cambria Math" panose="02040503050406030204" pitchFamily="18" charset="0"/>
                  </a:rPr>
                  <a:t>$2,3,5,7,11,13,17,19,23$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11</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Single Correct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Q32</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Marks not printed in the paper: +4 assumed (JEE Advanced default)</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Questions are from AIEEE / JEE Main papers</a:t>
            </a:r>
            <a:endParaRPr sz="2800">
              <a:solidFill>
                <a:srgbClr val="FFFFFF"/>
              </a:solidFill>
            </a:endParaRP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the number of elements in the set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ϕ</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________.</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$A=\{1,2,3,4,5,6,7\}$</a:t>
                </a:r>
                <a:r>
                  <a:rPr sz="2400" b="0">
                    <a:solidFill>
                      <a:srgbClr val="111827"/>
                    </a:solidFill>
                    <a:latin typeface="Arial"/>
                  </a:rPr>
                  <a:t> and </a:t>
                </a:r>
                <a:r>
                  <a:rPr lang="en-IN" sz="2400">
                    <a:solidFill>
                      <a:srgbClr val="111827"/>
                    </a:solidFill>
                    <a:latin typeface="Cambria Math" panose="02040503050406030204" pitchFamily="18" charset="0"/>
                  </a:rPr>
                  <a:t>$B=\{3,6,7,9\}$</a:t>
                </a:r>
                <a:r>
                  <a:rPr sz="2400" b="0">
                    <a:solidFill>
                      <a:srgbClr val="111827"/>
                    </a:solidFill>
                    <a:latin typeface="Arial"/>
                  </a:rPr>
                  <a:t>. Then the number of elements in the set </a:t>
                </a:r>
                <a:r>
                  <a:rPr lang="en-IN" sz="2400">
                    <a:solidFill>
                      <a:srgbClr val="111827"/>
                    </a:solidFill>
                    <a:latin typeface="Cambria Math" panose="02040503050406030204" pitchFamily="18" charset="0"/>
                  </a:rPr>
                  <a:t>$\{C\subseteq A:C\cap B\neq\phi\}$</a:t>
                </a:r>
                <a:r>
                  <a:rPr sz="2400" b="0">
                    <a:solidFill>
                      <a:srgbClr val="111827"/>
                    </a:solidFill>
                    <a:latin typeface="Arial"/>
                  </a:rPr>
                  <a:t> is ________.</a:t>
                </a:r>
                <a:endParaRPr sz="2400">
                  <a:solidFill>
                    <a:srgbClr val="111827"/>
                  </a:solidFill>
                </a:endParaRPr>
              </a:p>
            </p:txBody>
          </p:sp>
        </mc:Fallback>
      </mc:AlternateContent>
      <p:sp>
        <p:nvSpPr>
          <p:cNvPr id="5" name="Rectangle 4"/>
          <p:cNvSpPr/>
          <p:nvPr/>
        </p:nvSpPr>
        <p:spPr>
          <a:xfrm>
            <a:off x="731520" y="3246120"/>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Counting of subsets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a:rPr lang="en-IN" sz="2400" i="1">
                        <a:solidFill>
                          <a:srgbClr val="78350F"/>
                        </a:solidFill>
                        <a:latin typeface="Cambria Math" panose="02040503050406030204" pitchFamily="18" charset="0"/>
                      </a:rPr>
                      <m:t>𝐶</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ϕ</m:t>
                    </m:r>
                  </m:oMath>
                </a14:m>
                <a:r>
                  <a:rPr sz="2400" b="0">
                    <a:solidFill>
                      <a:srgbClr val="78350F"/>
                    </a:solidFill>
                    <a:latin typeface="Arial"/>
                  </a:rPr>
                  <a:t> exactly when </a:t>
                </a:r>
                <a14:m>
                  <m:oMath xmlns:m="http://schemas.openxmlformats.org/officeDocument/2006/math">
                    <m:r>
                      <a:rPr lang="en-IN" sz="2400" i="1">
                        <a:solidFill>
                          <a:srgbClr val="78350F"/>
                        </a:solidFill>
                        <a:latin typeface="Cambria Math" panose="02040503050406030204" pitchFamily="18" charset="0"/>
                      </a:rPr>
                      <m:t>𝐶</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subtract those </a:t>
                </a:r>
                <a14:m>
                  <m:oMath xmlns:m="http://schemas.openxmlformats.org/officeDocument/2006/math">
                    <m:sSup>
                      <m:e>
                        <m:r>
                          <a:rPr lang="en-IN" sz="2400" i="1">
                            <a:solidFill>
                              <a:srgbClr val="78350F"/>
                            </a:solidFill>
                            <a:latin typeface="Cambria Math" panose="02040503050406030204" pitchFamily="18" charset="0"/>
                          </a:rPr>
                          <m:t>2</m:t>
                        </m:r>
                      </m:e>
                      <m:sup>
                        <m:r>
                          <a:rPr lang="en-IN" sz="2400" i="1">
                            <a:solidFill>
                              <a:srgbClr val="78350F"/>
                            </a:solidFill>
                            <a:latin typeface="Cambria Math" panose="02040503050406030204" pitchFamily="18" charset="0"/>
                          </a:rPr>
                          <m:t>4</m:t>
                        </m:r>
                      </m:sup>
                    </m:sSup>
                  </m:oMath>
                </a14:m>
                <a:r>
                  <a:rPr sz="2400" b="0">
                    <a:solidFill>
                      <a:srgbClr val="78350F"/>
                    </a:solidFill>
                    <a:latin typeface="Arial"/>
                  </a:rPr>
                  <a:t> subsets from all </a:t>
                </a:r>
                <a14:m>
                  <m:oMath xmlns:m="http://schemas.openxmlformats.org/officeDocument/2006/math">
                    <m:sSup>
                      <m:e>
                        <m:r>
                          <a:rPr lang="en-IN" sz="2400" i="1">
                            <a:solidFill>
                              <a:srgbClr val="78350F"/>
                            </a:solidFill>
                            <a:latin typeface="Cambria Math" panose="02040503050406030204" pitchFamily="18" charset="0"/>
                          </a:rPr>
                          <m:t>2</m:t>
                        </m:r>
                      </m:e>
                      <m:sup>
                        <m:r>
                          <a:rPr lang="en-IN" sz="2400" i="1">
                            <a:solidFill>
                              <a:srgbClr val="78350F"/>
                            </a:solidFill>
                            <a:latin typeface="Cambria Math" panose="02040503050406030204" pitchFamily="18" charset="0"/>
                          </a:rPr>
                          <m:t>7</m:t>
                        </m:r>
                      </m:sup>
                    </m:sSup>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$C\cap B=\phi$</a:t>
                </a:r>
                <a:r>
                  <a:rPr sz="2400" b="0">
                    <a:solidFill>
                      <a:srgbClr val="78350F"/>
                    </a:solidFill>
                    <a:latin typeface="Arial"/>
                  </a:rPr>
                  <a:t> exactly when </a:t>
                </a:r>
                <a:r>
                  <a:rPr lang="en-IN" sz="2400">
                    <a:solidFill>
                      <a:srgbClr val="78350F"/>
                    </a:solidFill>
                    <a:latin typeface="Cambria Math" panose="02040503050406030204" pitchFamily="18" charset="0"/>
                  </a:rPr>
                  <a:t>$C\subseteq A-B=\{1,2,4,5\}$</a:t>
                </a:r>
                <a:r>
                  <a:rPr sz="2400" b="0">
                    <a:solidFill>
                      <a:srgbClr val="78350F"/>
                    </a:solidFill>
                    <a:latin typeface="Arial"/>
                  </a:rPr>
                  <a:t>: subtract those </a:t>
                </a:r>
                <a:r>
                  <a:rPr lang="en-IN" sz="2400">
                    <a:solidFill>
                      <a:srgbClr val="78350F"/>
                    </a:solidFill>
                    <a:latin typeface="Cambria Math" panose="02040503050406030204" pitchFamily="18" charset="0"/>
                  </a:rPr>
                  <a:t>$2^4$</a:t>
                </a:r>
                <a:r>
                  <a:rPr sz="2400" b="0">
                    <a:solidFill>
                      <a:srgbClr val="78350F"/>
                    </a:solidFill>
                    <a:latin typeface="Arial"/>
                  </a:rPr>
                  <a:t> subsets from all </a:t>
                </a:r>
                <a:r>
                  <a:rPr lang="en-IN" sz="2400">
                    <a:solidFill>
                      <a:srgbClr val="78350F"/>
                    </a:solidFill>
                    <a:latin typeface="Cambria Math" panose="02040503050406030204" pitchFamily="18" charset="0"/>
                  </a:rPr>
                  <a:t>$2^7$</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total number of subsets of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is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7</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ϕ</m:t>
                    </m:r>
                  </m:oMath>
                </a14:m>
                <a:r>
                  <a:rPr sz="2400" b="0">
                    <a:solidFill>
                      <a:srgbClr val="111827"/>
                    </a:solidFill>
                    <a:latin typeface="Arial"/>
                  </a:rPr>
                  <a:t> happens exactly when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avoids the elements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(the element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is not in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is a subset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there are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 such subsets.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Required number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112</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total number of subsets of </a:t>
                </a:r>
                <a:r>
                  <a:rPr lang="en-IN" sz="2400">
                    <a:solidFill>
                      <a:srgbClr val="111827"/>
                    </a:solidFill>
                    <a:latin typeface="Cambria Math" panose="02040503050406030204" pitchFamily="18" charset="0"/>
                  </a:rPr>
                  <a:t>$A$</a:t>
                </a:r>
                <a:r>
                  <a:rPr sz="2400" b="0">
                    <a:solidFill>
                      <a:srgbClr val="111827"/>
                    </a:solidFill>
                    <a:latin typeface="Arial"/>
                  </a:rPr>
                  <a:t> is </a:t>
                </a:r>
                <a:r>
                  <a:rPr lang="en-IN" sz="2400">
                    <a:solidFill>
                      <a:srgbClr val="111827"/>
                    </a:solidFill>
                    <a:latin typeface="Cambria Math" panose="02040503050406030204" pitchFamily="18" charset="0"/>
                  </a:rPr>
                  <a:t>$2^7=128$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$C\cap B=\phi$</a:t>
                </a:r>
                <a:r>
                  <a:rPr sz="2400" b="0">
                    <a:solidFill>
                      <a:srgbClr val="111827"/>
                    </a:solidFill>
                    <a:latin typeface="Arial"/>
                  </a:rPr>
                  <a:t> happens exactly when </a:t>
                </a:r>
                <a:r>
                  <a:rPr lang="en-IN" sz="2400">
                    <a:solidFill>
                      <a:srgbClr val="111827"/>
                    </a:solidFill>
                    <a:latin typeface="Cambria Math" panose="02040503050406030204" pitchFamily="18" charset="0"/>
                  </a:rPr>
                  <a:t>$C$</a:t>
                </a:r>
                <a:r>
                  <a:rPr sz="2400" b="0">
                    <a:solidFill>
                      <a:srgbClr val="111827"/>
                    </a:solidFill>
                    <a:latin typeface="Arial"/>
                  </a:rPr>
                  <a:t> avoids the elements </a:t>
                </a:r>
                <a:r>
                  <a:rPr lang="en-IN" sz="2400">
                    <a:solidFill>
                      <a:srgbClr val="111827"/>
                    </a:solidFill>
                    <a:latin typeface="Cambria Math" panose="02040503050406030204" pitchFamily="18" charset="0"/>
                  </a:rPr>
                  <a:t>$3,6,7$</a:t>
                </a:r>
                <a:r>
                  <a:rPr sz="2400" b="0">
                    <a:solidFill>
                      <a:srgbClr val="111827"/>
                    </a:solidFill>
                    <a:latin typeface="Arial"/>
                  </a:rPr>
                  <a:t> (the element </a:t>
                </a:r>
                <a:r>
                  <a:rPr lang="en-IN" sz="2400">
                    <a:solidFill>
                      <a:srgbClr val="111827"/>
                    </a:solidFill>
                    <a:latin typeface="Cambria Math" panose="02040503050406030204" pitchFamily="18" charset="0"/>
                  </a:rPr>
                  <a:t>$9$</a:t>
                </a:r>
                <a:r>
                  <a:rPr sz="2400" b="0">
                    <a:solidFill>
                      <a:srgbClr val="111827"/>
                    </a:solidFill>
                    <a:latin typeface="Arial"/>
                  </a:rPr>
                  <a:t> is not in </a:t>
                </a:r>
                <a:r>
                  <a:rPr lang="en-IN" sz="2400">
                    <a:solidFill>
                      <a:srgbClr val="111827"/>
                    </a:solidFill>
                    <a:latin typeface="Cambria Math" panose="02040503050406030204" pitchFamily="18" charset="0"/>
                  </a:rPr>
                  <a: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$C$</a:t>
                </a:r>
                <a:r>
                  <a:rPr sz="2400" b="0">
                    <a:solidFill>
                      <a:srgbClr val="111827"/>
                    </a:solidFill>
                    <a:latin typeface="Arial"/>
                  </a:rPr>
                  <a:t> is a subset of </a:t>
                </a:r>
                <a:r>
                  <a:rPr lang="en-IN" sz="2400">
                    <a:solidFill>
                      <a:srgbClr val="111827"/>
                    </a:solidFill>
                    <a:latin typeface="Cambria Math" panose="02040503050406030204" pitchFamily="18" charset="0"/>
                  </a:rPr>
                  <a:t>$\{1,2,4,5\}$</a:t>
                </a:r>
                <a:r>
                  <a:rPr sz="2400" b="0">
                    <a:solidFill>
                      <a:srgbClr val="111827"/>
                    </a:solidFill>
                    <a:latin typeface="Arial"/>
                  </a:rPr>
                  <a:t>: there are </a:t>
                </a:r>
                <a:r>
                  <a:rPr lang="en-IN" sz="2400">
                    <a:solidFill>
                      <a:srgbClr val="111827"/>
                    </a:solidFill>
                    <a:latin typeface="Cambria Math" panose="02040503050406030204" pitchFamily="18" charset="0"/>
                  </a:rPr>
                  <a:t>$2^4=16$</a:t>
                </a:r>
                <a:r>
                  <a:rPr sz="2400" b="0">
                    <a:solidFill>
                      <a:srgbClr val="111827"/>
                    </a:solidFill>
                    <a:latin typeface="Arial"/>
                  </a:rPr>
                  <a:t> such subsets.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Required number </a:t>
                </a:r>
                <a:r>
                  <a:rPr lang="en-IN" sz="2400">
                    <a:solidFill>
                      <a:srgbClr val="111827"/>
                    </a:solidFill>
                    <a:latin typeface="Cambria Math" panose="02040503050406030204" pitchFamily="18" charset="0"/>
                  </a:rPr>
                  <a:t>$=128-16=112$</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112</a:t>
            </a:r>
            <a:endParaRPr sz="2800">
              <a:solidFill>
                <a:srgbClr val="15803D"/>
              </a:solidFill>
            </a:endParaRP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Choose the part of </a:t>
                </a:r>
                <a14:m>
                  <m:oMath xmlns:m="http://schemas.openxmlformats.org/officeDocument/2006/math">
                    <m:r>
                      <a:rPr lang="en-IN" sz="2400" i="1">
                        <a:solidFill>
                          <a:srgbClr val="78350F"/>
                        </a:solidFill>
                        <a:latin typeface="Cambria Math" panose="02040503050406030204" pitchFamily="18" charset="0"/>
                      </a:rPr>
                      <m:t>𝐶</m:t>
                    </m:r>
                  </m:oMath>
                </a14:m>
                <a:r>
                  <a:rPr sz="2400" b="0">
                    <a:solidFill>
                      <a:srgbClr val="78350F"/>
                    </a:solidFill>
                    <a:latin typeface="Arial"/>
                  </a:rPr>
                  <a:t> inside </a:t>
                </a:r>
                <a14:m>
                  <m:oMath xmlns:m="http://schemas.openxmlformats.org/officeDocument/2006/math">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7</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(non-empty) and the part outside it (arbitrary), and multiply.</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Choose the part of </a:t>
                </a:r>
                <a:r>
                  <a:rPr lang="en-IN" sz="2400">
                    <a:solidFill>
                      <a:srgbClr val="78350F"/>
                    </a:solidFill>
                    <a:latin typeface="Cambria Math" panose="02040503050406030204" pitchFamily="18" charset="0"/>
                  </a:rPr>
                  <a:t>$C$</a:t>
                </a:r>
                <a:r>
                  <a:rPr sz="2400" b="0">
                    <a:solidFill>
                      <a:srgbClr val="78350F"/>
                    </a:solidFill>
                    <a:latin typeface="Arial"/>
                  </a:rPr>
                  <a:t> inside </a:t>
                </a:r>
                <a:r>
                  <a:rPr lang="en-IN" sz="2400">
                    <a:solidFill>
                      <a:srgbClr val="78350F"/>
                    </a:solidFill>
                    <a:latin typeface="Cambria Math" panose="02040503050406030204" pitchFamily="18" charset="0"/>
                  </a:rPr>
                  <a:t>$A\cap B=\{3,6,7\}$</a:t>
                </a:r>
                <a:r>
                  <a:rPr sz="2400" b="0">
                    <a:solidFill>
                      <a:srgbClr val="78350F"/>
                    </a:solidFill>
                    <a:latin typeface="Arial"/>
                  </a:rPr>
                  <a:t> (non-empty) and the part outside it (arbitrary), and multiply.</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because </a:t>
                </a:r>
                <a14:m>
                  <m:oMath xmlns:m="http://schemas.openxmlformats.org/officeDocument/2006/math">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part must be non-empty: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choices.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remaining elements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can be in or out freely: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 choices.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the multiplication rule the count is </a:t>
                </a:r>
                <a14:m>
                  <m:oMath xmlns:m="http://schemas.openxmlformats.org/officeDocument/2006/math">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112</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$C\cap B=C\cap\{3,6,7\}$</a:t>
                </a:r>
                <a:r>
                  <a:rPr sz="2400" b="0">
                    <a:solidFill>
                      <a:srgbClr val="111827"/>
                    </a:solidFill>
                    <a:latin typeface="Arial"/>
                  </a:rPr>
                  <a:t> because </a:t>
                </a:r>
                <a:r>
                  <a:rPr lang="en-IN" sz="2400">
                    <a:solidFill>
                      <a:srgbClr val="111827"/>
                    </a:solidFill>
                    <a:latin typeface="Cambria Math" panose="02040503050406030204" pitchFamily="18" charset="0"/>
                  </a:rPr>
                  <a:t>$9\notin 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part must be non-empty: </a:t>
                </a:r>
                <a:r>
                  <a:rPr lang="en-IN" sz="2400">
                    <a:solidFill>
                      <a:srgbClr val="111827"/>
                    </a:solidFill>
                    <a:latin typeface="Cambria Math" panose="02040503050406030204" pitchFamily="18" charset="0"/>
                  </a:rPr>
                  <a:t>$2^3-1=7$</a:t>
                </a:r>
                <a:r>
                  <a:rPr sz="2400" b="0">
                    <a:solidFill>
                      <a:srgbClr val="111827"/>
                    </a:solidFill>
                    <a:latin typeface="Arial"/>
                  </a:rPr>
                  <a:t> choices.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remaining elements </a:t>
                </a:r>
                <a:r>
                  <a:rPr lang="en-IN" sz="2400">
                    <a:solidFill>
                      <a:srgbClr val="111827"/>
                    </a:solidFill>
                    <a:latin typeface="Cambria Math" panose="02040503050406030204" pitchFamily="18" charset="0"/>
                  </a:rPr>
                  <a:t>$1,2,4,5$</a:t>
                </a:r>
                <a:r>
                  <a:rPr sz="2400" b="0">
                    <a:solidFill>
                      <a:srgbClr val="111827"/>
                    </a:solidFill>
                    <a:latin typeface="Arial"/>
                  </a:rPr>
                  <a:t> can be in or out freely: </a:t>
                </a:r>
                <a:r>
                  <a:rPr lang="en-IN" sz="2400">
                    <a:solidFill>
                      <a:srgbClr val="111827"/>
                    </a:solidFill>
                    <a:latin typeface="Cambria Math" panose="02040503050406030204" pitchFamily="18" charset="0"/>
                  </a:rPr>
                  <a:t>$2^4=16$</a:t>
                </a:r>
                <a:r>
                  <a:rPr sz="2400" b="0">
                    <a:solidFill>
                      <a:srgbClr val="111827"/>
                    </a:solidFill>
                    <a:latin typeface="Arial"/>
                  </a:rPr>
                  <a:t> choices.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the multiplication rule the count is </a:t>
                </a:r>
                <a:r>
                  <a:rPr lang="en-IN" sz="2400">
                    <a:solidFill>
                      <a:srgbClr val="111827"/>
                    </a:solidFill>
                    <a:latin typeface="Cambria Math" panose="02040503050406030204" pitchFamily="18" charset="0"/>
                  </a:rPr>
                  <a:t>$7\times16=112$</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112</a:t>
            </a:r>
            <a:endParaRPr sz="2800">
              <a:solidFill>
                <a:srgbClr val="15803D"/>
              </a:solidFill>
            </a:endParaRP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Subsets of an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-set that meet a given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-subset: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𝑘</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here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7</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Elements of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outside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do not matter: use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subsets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containing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Subsets of an </a:t>
                </a:r>
                <a:r>
                  <a:rPr lang="en-IN" sz="2400">
                    <a:solidFill>
                      <a:srgbClr val="111827"/>
                    </a:solidFill>
                    <a:latin typeface="Cambria Math" panose="02040503050406030204" pitchFamily="18" charset="0"/>
                  </a:rPr>
                  <a:t>$n$</a:t>
                </a:r>
                <a:r>
                  <a:rPr sz="2400" b="0">
                    <a:solidFill>
                      <a:srgbClr val="111827"/>
                    </a:solidFill>
                    <a:latin typeface="Arial"/>
                  </a:rPr>
                  <a:t>-set that meet a given </a:t>
                </a:r>
                <a:r>
                  <a:rPr lang="en-IN" sz="2400">
                    <a:solidFill>
                      <a:srgbClr val="111827"/>
                    </a:solidFill>
                    <a:latin typeface="Cambria Math" panose="02040503050406030204" pitchFamily="18" charset="0"/>
                  </a:rPr>
                  <a:t>$k$</a:t>
                </a:r>
                <a:r>
                  <a:rPr sz="2400" b="0">
                    <a:solidFill>
                      <a:srgbClr val="111827"/>
                    </a:solidFill>
                    <a:latin typeface="Arial"/>
                  </a:rPr>
                  <a:t>-subset: </a:t>
                </a:r>
                <a:r>
                  <a:rPr lang="en-IN" sz="2400">
                    <a:solidFill>
                      <a:srgbClr val="111827"/>
                    </a:solidFill>
                    <a:latin typeface="Cambria Math" panose="02040503050406030204" pitchFamily="18" charset="0"/>
                  </a:rPr>
                  <a:t>$2^n-2^{n-k}=2^{n-k}(2^k-1)$</a:t>
                </a:r>
                <a:r>
                  <a:rPr sz="2400" b="0">
                    <a:solidFill>
                      <a:srgbClr val="111827"/>
                    </a:solidFill>
                    <a:latin typeface="Arial"/>
                  </a:rPr>
                  <a:t>; here </a:t>
                </a:r>
                <a:r>
                  <a:rPr lang="en-IN" sz="2400">
                    <a:solidFill>
                      <a:srgbClr val="111827"/>
                    </a:solidFill>
                    <a:latin typeface="Cambria Math" panose="02040503050406030204" pitchFamily="18" charset="0"/>
                  </a:rPr>
                  <a:t>$2^7-2^4=7\cdot16=112$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Elements of </a:t>
                </a:r>
                <a:r>
                  <a:rPr lang="en-IN" sz="2400">
                    <a:solidFill>
                      <a:srgbClr val="111827"/>
                    </a:solidFill>
                    <a:latin typeface="Cambria Math" panose="02040503050406030204" pitchFamily="18" charset="0"/>
                  </a:rPr>
                  <a:t>$B$</a:t>
                </a:r>
                <a:r>
                  <a:rPr sz="2400" b="0">
                    <a:solidFill>
                      <a:srgbClr val="111827"/>
                    </a:solidFill>
                    <a:latin typeface="Arial"/>
                  </a:rPr>
                  <a:t> outside </a:t>
                </a:r>
                <a:r>
                  <a:rPr lang="en-IN" sz="2400">
                    <a:solidFill>
                      <a:srgbClr val="111827"/>
                    </a:solidFill>
                    <a:latin typeface="Cambria Math" panose="02040503050406030204" pitchFamily="18" charset="0"/>
                  </a:rPr>
                  <a:t>$A$</a:t>
                </a:r>
                <a:r>
                  <a:rPr sz="2400" b="0">
                    <a:solidFill>
                      <a:srgbClr val="111827"/>
                    </a:solidFill>
                    <a:latin typeface="Arial"/>
                  </a:rPr>
                  <a:t> (here </a:t>
                </a:r>
                <a:r>
                  <a:rPr lang="en-IN" sz="2400">
                    <a:solidFill>
                      <a:srgbClr val="111827"/>
                    </a:solidFill>
                    <a:latin typeface="Cambria Math" panose="02040503050406030204" pitchFamily="18" charset="0"/>
                  </a:rPr>
                  <a:t>$9$</a:t>
                </a:r>
                <a:r>
                  <a:rPr sz="2400" b="0">
                    <a:solidFill>
                      <a:srgbClr val="111827"/>
                    </a:solidFill>
                    <a:latin typeface="Arial"/>
                  </a:rPr>
                  <a:t>) do not matter: use </a:t>
                </a:r>
                <a:r>
                  <a:rPr lang="en-IN" sz="2400">
                    <a:solidFill>
                      <a:srgbClr val="111827"/>
                    </a:solidFill>
                    <a:latin typeface="Cambria Math" panose="02040503050406030204" pitchFamily="18" charset="0"/>
                  </a:rPr>
                  <a:t>$A\cap 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$n=2$</a:t>
                </a:r>
                <a:r>
                  <a:rPr sz="2400" b="0">
                    <a:solidFill>
                      <a:srgbClr val="111827"/>
                    </a:solidFill>
                    <a:latin typeface="Arial"/>
                  </a:rPr>
                  <a:t>, </a:t>
                </a:r>
                <a:r>
                  <a:rPr lang="en-IN" sz="2400">
                    <a:solidFill>
                      <a:srgbClr val="111827"/>
                    </a:solidFill>
                    <a:latin typeface="Cambria Math" panose="02040503050406030204" pitchFamily="18" charset="0"/>
                  </a:rPr>
                  <a:t>$k=1$</a:t>
                </a:r>
                <a:r>
                  <a:rPr sz="2400" b="0">
                    <a:solidFill>
                      <a:srgbClr val="111827"/>
                    </a:solidFill>
                    <a:latin typeface="Arial"/>
                  </a:rPr>
                  <a:t>: subsets of </a:t>
                </a:r>
                <a:r>
                  <a:rPr lang="en-IN" sz="2400">
                    <a:solidFill>
                      <a:srgbClr val="111827"/>
                    </a:solidFill>
                    <a:latin typeface="Cambria Math" panose="02040503050406030204" pitchFamily="18" charset="0"/>
                  </a:rPr>
                  <a:t>$\{1,2\}$</a:t>
                </a:r>
                <a:r>
                  <a:rPr sz="2400" b="0">
                    <a:solidFill>
                      <a:srgbClr val="111827"/>
                    </a:solidFill>
                    <a:latin typeface="Arial"/>
                  </a:rPr>
                  <a:t> containing </a:t>
                </a:r>
                <a:r>
                  <a:rPr lang="en-IN" sz="2400">
                    <a:solidFill>
                      <a:srgbClr val="111827"/>
                    </a:solidFill>
                    <a:latin typeface="Cambria Math" panose="02040503050406030204" pitchFamily="18" charset="0"/>
                  </a:rPr>
                  <a:t>$1$</a:t>
                </a:r>
                <a:r>
                  <a:rPr sz="2400" b="0">
                    <a:solidFill>
                      <a:srgbClr val="111827"/>
                    </a:solidFill>
                    <a:latin typeface="Arial"/>
                  </a:rPr>
                  <a:t>: </a:t>
                </a:r>
                <a:r>
                  <a:rPr lang="en-IN" sz="2400">
                    <a:solidFill>
                      <a:srgbClr val="111827"/>
                    </a:solidFill>
                    <a:latin typeface="Cambria Math" panose="02040503050406030204" pitchFamily="18" charset="0"/>
                  </a:rPr>
                  <a:t>$\{1\},\{1,2\}$</a:t>
                </a:r>
                <a:r>
                  <a:rPr sz="2400" b="0">
                    <a:solidFill>
                      <a:srgbClr val="111827"/>
                    </a:solidFill>
                    <a:latin typeface="Arial"/>
                  </a:rPr>
                  <a:t>, and </a:t>
                </a:r>
                <a:r>
                  <a:rPr lang="en-IN" sz="2400">
                    <a:solidFill>
                      <a:srgbClr val="111827"/>
                    </a:solidFill>
                    <a:latin typeface="Cambria Math" panose="02040503050406030204" pitchFamily="18" charset="0"/>
                  </a:rPr>
                  <a:t>$2^2-2^1=2$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12</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Numerical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Q33 – Q34</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Marks not printed in the paper: +4 assumed (JEE Advanced default)</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Questions are from AIEEE / JEE Main papers</a:t>
            </a:r>
            <a:endParaRPr sz="2800">
              <a:solidFill>
                <a:srgbClr val="FFFFFF"/>
              </a:solidFill>
            </a:endParaRP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If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𝑘</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𝑘</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the sum of all the elements in the set </a:t>
                </a:r>
                <a14:m>
                  <m:oMath xmlns:m="http://schemas.openxmlformats.org/officeDocument/2006/math">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oMath>
                </a14:m>
                <a:r>
                  <a:rPr sz="2400" b="0">
                    <a:solidFill>
                      <a:srgbClr val="111827"/>
                    </a:solidFill>
                    <a:latin typeface="Arial"/>
                  </a:rPr>
                  <a:t> is equal to ________.</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$S=\{4,6,9\}$</a:t>
                </a:r>
                <a:r>
                  <a:rPr sz="2400" b="0">
                    <a:solidFill>
                      <a:srgbClr val="111827"/>
                    </a:solidFill>
                    <a:latin typeface="Arial"/>
                  </a:rPr>
                  <a:t> and </a:t>
                </a:r>
                <a:r>
                  <a:rPr lang="en-IN" sz="2400">
                    <a:solidFill>
                      <a:srgbClr val="111827"/>
                    </a:solidFill>
                    <a:latin typeface="Cambria Math" panose="02040503050406030204" pitchFamily="18" charset="0"/>
                  </a:rPr>
                  <a:t>$T=\{9,10,11,\dots,1000\}$</a:t>
                </a:r>
                <a:r>
                  <a:rPr sz="2400" b="0">
                    <a:solidFill>
                      <a:srgbClr val="111827"/>
                    </a:solidFill>
                    <a:latin typeface="Arial"/>
                  </a:rPr>
                  <a:t>. If </a:t>
                </a:r>
                <a:r>
                  <a:rPr lang="en-IN" sz="2400">
                    <a:solidFill>
                      <a:srgbClr val="111827"/>
                    </a:solidFill>
                    <a:latin typeface="Cambria Math" panose="02040503050406030204" pitchFamily="18" charset="0"/>
                  </a:rPr>
                  <a:t>$A=\{a_1+a_2+\dots+a_k:k\in\mathbb{N},\ a_1,a_2,\dots,a_k\in S\}$</a:t>
                </a:r>
                <a:r>
                  <a:rPr sz="2400" b="0">
                    <a:solidFill>
                      <a:srgbClr val="111827"/>
                    </a:solidFill>
                    <a:latin typeface="Arial"/>
                  </a:rPr>
                  <a:t>, then the sum of all the elements in the set </a:t>
                </a:r>
                <a:r>
                  <a:rPr lang="en-IN" sz="2400">
                    <a:solidFill>
                      <a:srgbClr val="111827"/>
                    </a:solidFill>
                    <a:latin typeface="Cambria Math" panose="02040503050406030204" pitchFamily="18" charset="0"/>
                  </a:rPr>
                  <a:t>$T-A$</a:t>
                </a:r>
                <a:r>
                  <a:rPr sz="2400" b="0">
                    <a:solidFill>
                      <a:srgbClr val="111827"/>
                    </a:solidFill>
                    <a:latin typeface="Arial"/>
                  </a:rPr>
                  <a:t> is equal to ________.</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Difference of sets, Representable integers (number theory)</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a:rPr lang="en-IN" sz="2400" i="1">
                        <a:solidFill>
                          <a:srgbClr val="78350F"/>
                        </a:solidFill>
                        <a:latin typeface="Cambria Math" panose="02040503050406030204" pitchFamily="18" charset="0"/>
                      </a:rPr>
                      <m:t>𝐴</m:t>
                    </m:r>
                  </m:oMath>
                </a14:m>
                <a:r>
                  <a:rPr sz="2400" b="0">
                    <a:solidFill>
                      <a:srgbClr val="78350F"/>
                    </a:solidFill>
                    <a:latin typeface="Arial"/>
                  </a:rPr>
                  <a:t> is the set of sums </a:t>
                </a:r>
                <a14:m>
                  <m:oMath xmlns:m="http://schemas.openxmlformats.org/officeDocument/2006/math">
                    <m:r>
                      <a:rPr lang="en-IN" sz="2400" i="1">
                        <a:solidFill>
                          <a:srgbClr val="78350F"/>
                        </a:solidFill>
                        <a:latin typeface="Cambria Math" panose="02040503050406030204" pitchFamily="18" charset="0"/>
                      </a:rPr>
                      <m:t>4</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9</m:t>
                    </m:r>
                    <m:r>
                      <a:rPr lang="en-IN" sz="2400" i="1">
                        <a:solidFill>
                          <a:srgbClr val="78350F"/>
                        </a:solidFill>
                        <a:latin typeface="Cambria Math" panose="02040503050406030204" pitchFamily="18" charset="0"/>
                      </a:rPr>
                      <m:t>𝑧</m:t>
                    </m:r>
                  </m:oMath>
                </a14:m>
                <a:r>
                  <a:rPr sz="2400" b="0">
                    <a:solidFill>
                      <a:srgbClr val="78350F"/>
                    </a:solidFill>
                    <a:latin typeface="Arial"/>
                  </a:rPr>
                  <a:t> (not all zero): even numbers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oMath>
                </a14:m>
                <a:r>
                  <a:rPr sz="2400" b="0">
                    <a:solidFill>
                      <a:srgbClr val="78350F"/>
                    </a:solidFill>
                    <a:latin typeface="Arial"/>
                  </a:rPr>
                  <a:t> come from </a:t>
                </a:r>
                <a14:m>
                  <m:oMath xmlns:m="http://schemas.openxmlformats.org/officeDocument/2006/math">
                    <m:r>
                      <a:rPr lang="en-IN" sz="2400" i="1">
                        <a:solidFill>
                          <a:srgbClr val="78350F"/>
                        </a:solidFill>
                        <a:latin typeface="Cambria Math" panose="02040503050406030204" pitchFamily="18" charset="0"/>
                      </a:rPr>
                      <m:t>4</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m:t>
                    </m:r>
                  </m:oMath>
                </a14:m>
                <a:r>
                  <a:rPr sz="2400" b="0">
                    <a:solidFill>
                      <a:srgbClr val="78350F"/>
                    </a:solidFill>
                    <a:latin typeface="Arial"/>
                  </a:rPr>
                  <a:t>; adding one </a:t>
                </a:r>
                <a14:m>
                  <m:oMath xmlns:m="http://schemas.openxmlformats.org/officeDocument/2006/math">
                    <m:r>
                      <a:rPr lang="en-IN" sz="2400" i="1">
                        <a:solidFill>
                          <a:srgbClr val="78350F"/>
                        </a:solidFill>
                        <a:latin typeface="Cambria Math" panose="02040503050406030204" pitchFamily="18" charset="0"/>
                      </a:rPr>
                      <m:t>9</m:t>
                    </m:r>
                  </m:oMath>
                </a14:m>
                <a:r>
                  <a:rPr sz="2400" b="0">
                    <a:solidFill>
                      <a:srgbClr val="78350F"/>
                    </a:solidFill>
                    <a:latin typeface="Arial"/>
                  </a:rPr>
                  <a:t> gives odds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13</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$A$</a:t>
                </a:r>
                <a:r>
                  <a:rPr sz="2400" b="0">
                    <a:solidFill>
                      <a:srgbClr val="78350F"/>
                    </a:solidFill>
                    <a:latin typeface="Arial"/>
                  </a:rPr>
                  <a:t> is the set of sums </a:t>
                </a:r>
                <a:r>
                  <a:rPr lang="en-IN" sz="2400">
                    <a:solidFill>
                      <a:srgbClr val="78350F"/>
                    </a:solidFill>
                    <a:latin typeface="Cambria Math" panose="02040503050406030204" pitchFamily="18" charset="0"/>
                  </a:rPr>
                  <a:t>$4x+6y+9z$</a:t>
                </a:r>
                <a:r>
                  <a:rPr sz="2400" b="0">
                    <a:solidFill>
                      <a:srgbClr val="78350F"/>
                    </a:solidFill>
                    <a:latin typeface="Arial"/>
                  </a:rPr>
                  <a:t> (not all zero): even numbers </a:t>
                </a:r>
                <a:r>
                  <a:rPr lang="en-IN" sz="2400">
                    <a:solidFill>
                      <a:srgbClr val="78350F"/>
                    </a:solidFill>
                    <a:latin typeface="Cambria Math" panose="02040503050406030204" pitchFamily="18" charset="0"/>
                  </a:rPr>
                  <a:t>$\ge4$</a:t>
                </a:r>
                <a:r>
                  <a:rPr sz="2400" b="0">
                    <a:solidFill>
                      <a:srgbClr val="78350F"/>
                    </a:solidFill>
                    <a:latin typeface="Arial"/>
                  </a:rPr>
                  <a:t> come from </a:t>
                </a:r>
                <a:r>
                  <a:rPr lang="en-IN" sz="2400">
                    <a:solidFill>
                      <a:srgbClr val="78350F"/>
                    </a:solidFill>
                    <a:latin typeface="Cambria Math" panose="02040503050406030204" pitchFamily="18" charset="0"/>
                  </a:rPr>
                  <a:t>$4,6$</a:t>
                </a:r>
                <a:r>
                  <a:rPr sz="2400" b="0">
                    <a:solidFill>
                      <a:srgbClr val="78350F"/>
                    </a:solidFill>
                    <a:latin typeface="Arial"/>
                  </a:rPr>
                  <a:t>; adding one </a:t>
                </a:r>
                <a:r>
                  <a:rPr lang="en-IN" sz="2400">
                    <a:solidFill>
                      <a:srgbClr val="78350F"/>
                    </a:solidFill>
                    <a:latin typeface="Cambria Math" panose="02040503050406030204" pitchFamily="18" charset="0"/>
                  </a:rPr>
                  <a:t>$9$</a:t>
                </a:r>
                <a:r>
                  <a:rPr sz="2400" b="0">
                    <a:solidFill>
                      <a:srgbClr val="78350F"/>
                    </a:solidFill>
                    <a:latin typeface="Arial"/>
                  </a:rPr>
                  <a:t> gives odds </a:t>
                </a:r>
                <a:r>
                  <a:rPr lang="en-IN" sz="2400">
                    <a:solidFill>
                      <a:srgbClr val="78350F"/>
                    </a:solidFill>
                    <a:latin typeface="Cambria Math" panose="02040503050406030204" pitchFamily="18" charset="0"/>
                  </a:rPr>
                  <a:t>$\ge13$</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By definition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nor/>
                      </m:rPr>
                      <a:rPr lang="en-IN" sz="2400" i="1">
                        <a:solidFill>
                          <a:srgbClr val="111827"/>
                        </a:solidFill>
                        <a:latin typeface="Cambria Math" panose="02040503050406030204" pitchFamily="18" charset="0"/>
                      </a:rPr>
                      <m:t> 𝑖𝑛𝑡𝑒𝑔𝑒𝑟𝑠, 𝑛𝑜𝑡 𝑎𝑙𝑙 𝑧𝑒𝑟𝑜</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Even numbers: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oMath>
                </a14:m>
                <a:r>
                  <a:rPr sz="2400" b="0">
                    <a:solidFill>
                      <a:srgbClr val="111827"/>
                    </a:solidFill>
                    <a:latin typeface="Arial"/>
                  </a:rPr>
                  <a:t> takes every integer value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So every even number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is in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Odd numbers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even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oMath>
                </a14:m>
                <a:r>
                  <a:rPr sz="2400" b="0">
                    <a:solidFill>
                      <a:srgbClr val="111827"/>
                    </a:solidFill>
                    <a:latin typeface="Arial"/>
                  </a:rPr>
                  <a:t>. Also </a:t>
                </a:r>
                <a14:m>
                  <m:oMath xmlns:m="http://schemas.openxmlformats.org/officeDocument/2006/math">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By definition </a:t>
                </a:r>
                <a:r>
                  <a:rPr lang="en-IN" sz="2400">
                    <a:solidFill>
                      <a:srgbClr val="111827"/>
                    </a:solidFill>
                    <a:latin typeface="Cambria Math" panose="02040503050406030204" pitchFamily="18" charset="0"/>
                  </a:rPr>
                  <a:t>$A=\{4x+6y+9z:\ x,y,z\ge0\text{ integers, not all zero}\}$</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Even numbers: </a:t>
                </a:r>
                <a:r>
                  <a:rPr lang="en-IN" sz="2400">
                    <a:solidFill>
                      <a:srgbClr val="111827"/>
                    </a:solidFill>
                    <a:latin typeface="Cambria Math" panose="02040503050406030204" pitchFamily="18" charset="0"/>
                  </a:rPr>
                  <a:t>$4x+6y=2(2x+3y)$</a:t>
                </a:r>
                <a:r>
                  <a:rPr sz="2400" b="0">
                    <a:solidFill>
                      <a:srgbClr val="111827"/>
                    </a:solidFill>
                    <a:latin typeface="Arial"/>
                  </a:rPr>
                  <a:t>, and </a:t>
                </a:r>
                <a:r>
                  <a:rPr lang="en-IN" sz="2400">
                    <a:solidFill>
                      <a:srgbClr val="111827"/>
                    </a:solidFill>
                    <a:latin typeface="Cambria Math" panose="02040503050406030204" pitchFamily="18" charset="0"/>
                  </a:rPr>
                  <a:t>$2x+3y$</a:t>
                </a:r>
                <a:r>
                  <a:rPr sz="2400" b="0">
                    <a:solidFill>
                      <a:srgbClr val="111827"/>
                    </a:solidFill>
                    <a:latin typeface="Arial"/>
                  </a:rPr>
                  <a:t> takes every integer value </a:t>
                </a:r>
                <a:r>
                  <a:rPr lang="en-IN" sz="2400">
                    <a:solidFill>
                      <a:srgbClr val="111827"/>
                    </a:solidFill>
                    <a:latin typeface="Cambria Math" panose="02040503050406030204" pitchFamily="18" charset="0"/>
                  </a:rPr>
                  <a:t>$\ge2$</a:t>
                </a:r>
                <a:r>
                  <a:rPr sz="2400" b="0">
                    <a:solidFill>
                      <a:srgbClr val="111827"/>
                    </a:solidFill>
                    <a:latin typeface="Arial"/>
                  </a:rPr>
                  <a:t>. So every even number </a:t>
                </a:r>
                <a:r>
                  <a:rPr lang="en-IN" sz="2400">
                    <a:solidFill>
                      <a:srgbClr val="111827"/>
                    </a:solidFill>
                    <a:latin typeface="Cambria Math" panose="02040503050406030204" pitchFamily="18" charset="0"/>
                  </a:rPr>
                  <a:t>$\ge4$</a:t>
                </a:r>
                <a:r>
                  <a:rPr sz="2400" b="0">
                    <a:solidFill>
                      <a:srgbClr val="111827"/>
                    </a:solidFill>
                    <a:latin typeface="Arial"/>
                  </a:rPr>
                  <a:t> is in </a:t>
                </a:r>
                <a:r>
                  <a:rPr lang="en-IN" sz="2400">
                    <a:solidFill>
                      <a:srgbClr val="111827"/>
                    </a:solidFill>
                    <a:latin typeface="Cambria Math" panose="02040503050406030204" pitchFamily="18" charset="0"/>
                  </a:rPr>
                  <a: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Odd numbers </a:t>
                </a:r>
                <a:r>
                  <a:rPr lang="en-IN" sz="2400">
                    <a:solidFill>
                      <a:srgbClr val="111827"/>
                    </a:solidFill>
                    <a:latin typeface="Cambria Math" panose="02040503050406030204" pitchFamily="18" charset="0"/>
                  </a:rPr>
                  <a:t>$\ge13$</a:t>
                </a:r>
                <a:r>
                  <a:rPr sz="2400" b="0">
                    <a:solidFill>
                      <a:srgbClr val="111827"/>
                    </a:solidFill>
                    <a:latin typeface="Arial"/>
                  </a:rPr>
                  <a:t>: </a:t>
                </a:r>
                <a:r>
                  <a:rPr lang="en-IN" sz="2400">
                    <a:solidFill>
                      <a:srgbClr val="111827"/>
                    </a:solidFill>
                    <a:latin typeface="Cambria Math" panose="02040503050406030204" pitchFamily="18" charset="0"/>
                  </a:rPr>
                  <a:t>$n=9+(n-9)$</a:t>
                </a:r>
                <a:r>
                  <a:rPr sz="2400" b="0">
                    <a:solidFill>
                      <a:srgbClr val="111827"/>
                    </a:solidFill>
                    <a:latin typeface="Arial"/>
                  </a:rPr>
                  <a:t> with </a:t>
                </a:r>
                <a:r>
                  <a:rPr lang="en-IN" sz="2400">
                    <a:solidFill>
                      <a:srgbClr val="111827"/>
                    </a:solidFill>
                    <a:latin typeface="Cambria Math" panose="02040503050406030204" pitchFamily="18" charset="0"/>
                  </a:rPr>
                  <a:t>$n-9$</a:t>
                </a:r>
                <a:r>
                  <a:rPr sz="2400" b="0">
                    <a:solidFill>
                      <a:srgbClr val="111827"/>
                    </a:solidFill>
                    <a:latin typeface="Arial"/>
                  </a:rPr>
                  <a:t> even and </a:t>
                </a:r>
                <a:r>
                  <a:rPr lang="en-IN" sz="2400">
                    <a:solidFill>
                      <a:srgbClr val="111827"/>
                    </a:solidFill>
                    <a:latin typeface="Cambria Math" panose="02040503050406030204" pitchFamily="18" charset="0"/>
                  </a:rPr>
                  <a:t>$\ge4$</a:t>
                </a:r>
                <a:r>
                  <a:rPr sz="2400" b="0">
                    <a:solidFill>
                      <a:srgbClr val="111827"/>
                    </a:solidFill>
                    <a:latin typeface="Arial"/>
                  </a:rPr>
                  <a:t>, so </a:t>
                </a:r>
                <a:r>
                  <a:rPr lang="en-IN" sz="2400">
                    <a:solidFill>
                      <a:srgbClr val="111827"/>
                    </a:solidFill>
                    <a:latin typeface="Cambria Math" panose="02040503050406030204" pitchFamily="18" charset="0"/>
                  </a:rPr>
                  <a:t>$n\in A$</a:t>
                </a:r>
                <a:r>
                  <a:rPr sz="2400" b="0">
                    <a:solidFill>
                      <a:srgbClr val="111827"/>
                    </a:solidFill>
                    <a:latin typeface="Arial"/>
                  </a:rPr>
                  <a:t>. Also </a:t>
                </a:r>
                <a:r>
                  <a:rPr lang="en-IN" sz="2400">
                    <a:solidFill>
                      <a:srgbClr val="111827"/>
                    </a:solidFill>
                    <a:latin typeface="Cambria Math" panose="02040503050406030204" pitchFamily="18" charset="0"/>
                  </a:rPr>
                  <a:t>$9\in A$</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every element of </a:t>
                </a:r>
                <a14:m>
                  <m:oMath xmlns:m="http://schemas.openxmlformats.org/officeDocument/2006/math">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in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except possibly </a:t>
                </a:r>
                <a14:m>
                  <m:oMath xmlns:m="http://schemas.openxmlformats.org/officeDocument/2006/math">
                    <m:r>
                      <a:rPr lang="en-IN" sz="2400" i="1">
                        <a:solidFill>
                          <a:srgbClr val="111827"/>
                        </a:solidFill>
                        <a:latin typeface="Cambria Math" panose="02040503050406030204" pitchFamily="18" charset="0"/>
                      </a:rPr>
                      <m:t>11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11</m:t>
                    </m:r>
                  </m:oMath>
                </a14:m>
                <a:r>
                  <a:rPr sz="2400" b="0">
                    <a:solidFill>
                      <a:srgbClr val="111827"/>
                    </a:solidFill>
                    <a:latin typeface="Arial"/>
                  </a:rPr>
                  <a:t> is odd, so a representation needs an odd number of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's: </a:t>
                </a:r>
                <a14:m>
                  <m:oMath xmlns:m="http://schemas.openxmlformats.org/officeDocument/2006/math">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but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is not a sum of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's and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's. So </a:t>
                </a:r>
                <a14:m>
                  <m:oMath xmlns:m="http://schemas.openxmlformats.org/officeDocument/2006/math">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Thus </a:t>
                </a:r>
                <a14:m>
                  <m:oMath xmlns:m="http://schemas.openxmlformats.org/officeDocument/2006/math">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the sum of its elements is </a:t>
                </a:r>
                <a14:m>
                  <m:oMath xmlns:m="http://schemas.openxmlformats.org/officeDocument/2006/math">
                    <m:r>
                      <a:rPr lang="en-IN" sz="2400" i="1">
                        <a:solidFill>
                          <a:srgbClr val="111827"/>
                        </a:solidFill>
                        <a:latin typeface="Cambria Math" panose="02040503050406030204" pitchFamily="18" charset="0"/>
                      </a:rPr>
                      <m:t>11</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every element of </a:t>
                </a:r>
                <a:r>
                  <a:rPr lang="en-IN" sz="2400">
                    <a:solidFill>
                      <a:srgbClr val="111827"/>
                    </a:solidFill>
                    <a:latin typeface="Cambria Math" panose="02040503050406030204" pitchFamily="18" charset="0"/>
                  </a:rPr>
                  <a:t>$T=\{9,10,\dots,1000\}$</a:t>
                </a:r>
                <a:r>
                  <a:rPr sz="2400" b="0">
                    <a:solidFill>
                      <a:srgbClr val="111827"/>
                    </a:solidFill>
                    <a:latin typeface="Arial"/>
                  </a:rPr>
                  <a:t> is in </a:t>
                </a:r>
                <a:r>
                  <a:rPr lang="en-IN" sz="2400">
                    <a:solidFill>
                      <a:srgbClr val="111827"/>
                    </a:solidFill>
                    <a:latin typeface="Cambria Math" panose="02040503050406030204" pitchFamily="18" charset="0"/>
                  </a:rPr>
                  <a:t>$A$</a:t>
                </a:r>
                <a:r>
                  <a:rPr sz="2400" b="0">
                    <a:solidFill>
                      <a:srgbClr val="111827"/>
                    </a:solidFill>
                    <a:latin typeface="Arial"/>
                  </a:rPr>
                  <a:t>, except possibly </a:t>
                </a:r>
                <a:r>
                  <a:rPr lang="en-IN" sz="2400">
                    <a:solidFill>
                      <a:srgbClr val="111827"/>
                    </a:solidFill>
                    <a:latin typeface="Cambria Math" panose="02040503050406030204" pitchFamily="18" charset="0"/>
                  </a:rPr>
                  <a:t>$11$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$11$</a:t>
                </a:r>
                <a:r>
                  <a:rPr sz="2400" b="0">
                    <a:solidFill>
                      <a:srgbClr val="111827"/>
                    </a:solidFill>
                    <a:latin typeface="Arial"/>
                  </a:rPr>
                  <a:t> is odd, so a representation needs an odd number of </a:t>
                </a:r>
                <a:r>
                  <a:rPr lang="en-IN" sz="2400">
                    <a:solidFill>
                      <a:srgbClr val="111827"/>
                    </a:solidFill>
                    <a:latin typeface="Cambria Math" panose="02040503050406030204" pitchFamily="18" charset="0"/>
                  </a:rPr>
                  <a:t>$9$</a:t>
                </a:r>
                <a:r>
                  <a:rPr sz="2400" b="0">
                    <a:solidFill>
                      <a:srgbClr val="111827"/>
                    </a:solidFill>
                    <a:latin typeface="Arial"/>
                  </a:rPr>
                  <a:t>'s: </a:t>
                </a:r>
                <a:r>
                  <a:rPr lang="en-IN" sz="2400">
                    <a:solidFill>
                      <a:srgbClr val="111827"/>
                    </a:solidFill>
                    <a:latin typeface="Cambria Math" panose="02040503050406030204" pitchFamily="18" charset="0"/>
                  </a:rPr>
                  <a:t>$11=9+2$</a:t>
                </a:r>
                <a:r>
                  <a:rPr sz="2400" b="0">
                    <a:solidFill>
                      <a:srgbClr val="111827"/>
                    </a:solidFill>
                    <a:latin typeface="Arial"/>
                  </a:rPr>
                  <a:t>, but </a:t>
                </a:r>
                <a:r>
                  <a:rPr lang="en-IN" sz="2400">
                    <a:solidFill>
                      <a:srgbClr val="111827"/>
                    </a:solidFill>
                    <a:latin typeface="Cambria Math" panose="02040503050406030204" pitchFamily="18" charset="0"/>
                  </a:rPr>
                  <a:t>$2$</a:t>
                </a:r>
                <a:r>
                  <a:rPr sz="2400" b="0">
                    <a:solidFill>
                      <a:srgbClr val="111827"/>
                    </a:solidFill>
                    <a:latin typeface="Arial"/>
                  </a:rPr>
                  <a:t> is not a sum of </a:t>
                </a:r>
                <a:r>
                  <a:rPr lang="en-IN" sz="2400">
                    <a:solidFill>
                      <a:srgbClr val="111827"/>
                    </a:solidFill>
                    <a:latin typeface="Cambria Math" panose="02040503050406030204" pitchFamily="18" charset="0"/>
                  </a:rPr>
                  <a:t>$4$</a:t>
                </a:r>
                <a:r>
                  <a:rPr sz="2400" b="0">
                    <a:solidFill>
                      <a:srgbClr val="111827"/>
                    </a:solidFill>
                    <a:latin typeface="Arial"/>
                  </a:rPr>
                  <a:t>'s and </a:t>
                </a:r>
                <a:r>
                  <a:rPr lang="en-IN" sz="2400">
                    <a:solidFill>
                      <a:srgbClr val="111827"/>
                    </a:solidFill>
                    <a:latin typeface="Cambria Math" panose="02040503050406030204" pitchFamily="18" charset="0"/>
                  </a:rPr>
                  <a:t>$6$</a:t>
                </a:r>
                <a:r>
                  <a:rPr sz="2400" b="0">
                    <a:solidFill>
                      <a:srgbClr val="111827"/>
                    </a:solidFill>
                    <a:latin typeface="Arial"/>
                  </a:rPr>
                  <a:t>'s. So </a:t>
                </a:r>
                <a:r>
                  <a:rPr lang="en-IN" sz="2400">
                    <a:solidFill>
                      <a:srgbClr val="111827"/>
                    </a:solidFill>
                    <a:latin typeface="Cambria Math" panose="02040503050406030204" pitchFamily="18" charset="0"/>
                  </a:rPr>
                  <a:t>$11\notin 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Thus </a:t>
                </a:r>
                <a:r>
                  <a:rPr lang="en-IN" sz="2400">
                    <a:solidFill>
                      <a:srgbClr val="111827"/>
                    </a:solidFill>
                    <a:latin typeface="Cambria Math" panose="02040503050406030204" pitchFamily="18" charset="0"/>
                  </a:rPr>
                  <a:t>$T-A=\{11\}$</a:t>
                </a:r>
                <a:r>
                  <a:rPr sz="2400" b="0">
                    <a:solidFill>
                      <a:srgbClr val="111827"/>
                    </a:solidFill>
                    <a:latin typeface="Arial"/>
                  </a:rPr>
                  <a:t>, and the sum of its elements is </a:t>
                </a:r>
                <a:r>
                  <a:rPr lang="en-IN" sz="2400">
                    <a:solidFill>
                      <a:srgbClr val="111827"/>
                    </a:solidFill>
                    <a:latin typeface="Cambria Math" panose="02040503050406030204" pitchFamily="18" charset="0"/>
                  </a:rPr>
                  <a:t>$11$</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11</a:t>
            </a:r>
            <a:endParaRPr sz="2800">
              <a:solidFill>
                <a:srgbClr val="15803D"/>
              </a:solidFill>
            </a:endParaRP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Smallest representable number in each residue class modulo </a:t>
                </a:r>
                <a14:m>
                  <m:oMath xmlns:m="http://schemas.openxmlformats.org/officeDocument/2006/math">
                    <m:r>
                      <a:rPr lang="en-IN" sz="2400" i="1">
                        <a:solidFill>
                          <a:srgbClr val="78350F"/>
                        </a:solidFill>
                        <a:latin typeface="Cambria Math" panose="02040503050406030204" pitchFamily="18" charset="0"/>
                      </a:rPr>
                      <m:t>4</m:t>
                    </m:r>
                  </m:oMath>
                </a14:m>
                <a:r>
                  <a:rPr sz="2400" b="0">
                    <a:solidFill>
                      <a:srgbClr val="78350F"/>
                    </a:solidFill>
                    <a:latin typeface="Arial"/>
                  </a:rPr>
                  <a:t> (Apéry set): classes </a:t>
                </a:r>
                <a14:m>
                  <m:oMath xmlns:m="http://schemas.openxmlformats.org/officeDocument/2006/math">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oMath>
                </a14:m>
                <a:r>
                  <a:rPr sz="2400" b="0">
                    <a:solidFill>
                      <a:srgbClr val="78350F"/>
                    </a:solidFill>
                    <a:latin typeface="Arial"/>
                  </a:rPr>
                  <a:t> start at </a:t>
                </a:r>
                <a14:m>
                  <m:oMath xmlns:m="http://schemas.openxmlformats.org/officeDocument/2006/math">
                    <m:r>
                      <a:rPr lang="en-IN" sz="2400" i="1">
                        <a:solidFill>
                          <a:srgbClr val="78350F"/>
                        </a:solidFill>
                        <a:latin typeface="Cambria Math" panose="02040503050406030204" pitchFamily="18" charset="0"/>
                      </a:rPr>
                      <m:t>4</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9</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15</m:t>
                    </m:r>
                  </m:oMath>
                </a14:m>
                <a:r>
                  <a:rPr sz="2400" b="0">
                    <a:solidFill>
                      <a:srgbClr val="78350F"/>
                    </a:solidFill>
                    <a:latin typeface="Arial"/>
                  </a:rPr>
                  <a:t>, so the only non-members of </a:t>
                </a:r>
                <a14:m>
                  <m:oMath xmlns:m="http://schemas.openxmlformats.org/officeDocument/2006/math">
                    <m:r>
                      <a:rPr lang="en-IN" sz="2400" i="1">
                        <a:solidFill>
                          <a:srgbClr val="78350F"/>
                        </a:solidFill>
                        <a:latin typeface="Cambria Math" panose="02040503050406030204" pitchFamily="18" charset="0"/>
                      </a:rPr>
                      <m:t>𝑇</m:t>
                    </m:r>
                  </m:oMath>
                </a14:m>
                <a:r>
                  <a:rPr sz="2400" b="0">
                    <a:solidFill>
                      <a:srgbClr val="78350F"/>
                    </a:solidFill>
                    <a:latin typeface="Arial"/>
                  </a:rPr>
                  <a:t> are in class </a:t>
                </a:r>
                <a14:m>
                  <m:oMath xmlns:m="http://schemas.openxmlformats.org/officeDocument/2006/math">
                    <m:r>
                      <a:rPr lang="en-IN" sz="2400" i="1">
                        <a:solidFill>
                          <a:srgbClr val="78350F"/>
                        </a:solidFill>
                        <a:latin typeface="Cambria Math" panose="02040503050406030204" pitchFamily="18" charset="0"/>
                      </a:rPr>
                      <m:t>3</m:t>
                    </m:r>
                  </m:oMath>
                </a14:m>
                <a:r>
                  <a:rPr sz="2400" b="0">
                    <a:solidFill>
                      <a:srgbClr val="78350F"/>
                    </a:solidFill>
                    <a:latin typeface="Arial"/>
                  </a:rPr>
                  <a:t> below </a:t>
                </a:r>
                <a14:m>
                  <m:oMath xmlns:m="http://schemas.openxmlformats.org/officeDocument/2006/math">
                    <m:r>
                      <a:rPr lang="en-IN" sz="2400" i="1">
                        <a:solidFill>
                          <a:srgbClr val="78350F"/>
                        </a:solidFill>
                        <a:latin typeface="Cambria Math" panose="02040503050406030204" pitchFamily="18" charset="0"/>
                      </a:rPr>
                      <m:t>15</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Smallest representable number in each residue class modulo </a:t>
                </a:r>
                <a:r>
                  <a:rPr lang="en-IN" sz="2400">
                    <a:solidFill>
                      <a:srgbClr val="78350F"/>
                    </a:solidFill>
                    <a:latin typeface="Cambria Math" panose="02040503050406030204" pitchFamily="18" charset="0"/>
                  </a:rPr>
                  <a:t>$4$</a:t>
                </a:r>
                <a:r>
                  <a:rPr sz="2400" b="0">
                    <a:solidFill>
                      <a:srgbClr val="78350F"/>
                    </a:solidFill>
                    <a:latin typeface="Arial"/>
                  </a:rPr>
                  <a:t> (Apéry set): classes </a:t>
                </a:r>
                <a:r>
                  <a:rPr lang="en-IN" sz="2400">
                    <a:solidFill>
                      <a:srgbClr val="78350F"/>
                    </a:solidFill>
                    <a:latin typeface="Cambria Math" panose="02040503050406030204" pitchFamily="18" charset="0"/>
                  </a:rPr>
                  <a:t>$0,1,2,3$</a:t>
                </a:r>
                <a:r>
                  <a:rPr sz="2400" b="0">
                    <a:solidFill>
                      <a:srgbClr val="78350F"/>
                    </a:solidFill>
                    <a:latin typeface="Arial"/>
                  </a:rPr>
                  <a:t> start at </a:t>
                </a:r>
                <a:r>
                  <a:rPr lang="en-IN" sz="2400">
                    <a:solidFill>
                      <a:srgbClr val="78350F"/>
                    </a:solidFill>
                    <a:latin typeface="Cambria Math" panose="02040503050406030204" pitchFamily="18" charset="0"/>
                  </a:rPr>
                  <a:t>$4,9,6,15$</a:t>
                </a:r>
                <a:r>
                  <a:rPr sz="2400" b="0">
                    <a:solidFill>
                      <a:srgbClr val="78350F"/>
                    </a:solidFill>
                    <a:latin typeface="Arial"/>
                  </a:rPr>
                  <a:t>, so the only non-members of </a:t>
                </a:r>
                <a:r>
                  <a:rPr lang="en-IN" sz="2400">
                    <a:solidFill>
                      <a:srgbClr val="78350F"/>
                    </a:solidFill>
                    <a:latin typeface="Cambria Math" panose="02040503050406030204" pitchFamily="18" charset="0"/>
                  </a:rPr>
                  <a:t>$T$</a:t>
                </a:r>
                <a:r>
                  <a:rPr sz="2400" b="0">
                    <a:solidFill>
                      <a:srgbClr val="78350F"/>
                    </a:solidFill>
                    <a:latin typeface="Arial"/>
                  </a:rPr>
                  <a:t> are in class </a:t>
                </a:r>
                <a:r>
                  <a:rPr lang="en-IN" sz="2400">
                    <a:solidFill>
                      <a:srgbClr val="78350F"/>
                    </a:solidFill>
                    <a:latin typeface="Cambria Math" panose="02040503050406030204" pitchFamily="18" charset="0"/>
                  </a:rPr>
                  <a:t>$3$</a:t>
                </a:r>
                <a:r>
                  <a:rPr sz="2400" b="0">
                    <a:solidFill>
                      <a:srgbClr val="78350F"/>
                    </a:solidFill>
                    <a:latin typeface="Arial"/>
                  </a:rPr>
                  <a:t> below </a:t>
                </a:r>
                <a:r>
                  <a:rPr lang="en-IN" sz="2400">
                    <a:solidFill>
                      <a:srgbClr val="78350F"/>
                    </a:solidFill>
                    <a:latin typeface="Cambria Math" panose="02040503050406030204" pitchFamily="18" charset="0"/>
                  </a:rPr>
                  <a:t>$15$</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Every number of the form </a:t>
                </a:r>
                <a14:m>
                  <m:oMath xmlns:m="http://schemas.openxmlformats.org/officeDocument/2006/math">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𝑚</m:t>
                    </m:r>
                  </m:oMath>
                </a14:m>
                <a:r>
                  <a:rPr sz="2400" b="0">
                    <a:solidFill>
                      <a:srgbClr val="111827"/>
                    </a:solidFill>
                    <a:latin typeface="Arial"/>
                  </a:rPr>
                  <a:t> is representable, so for each residue class modulo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it is enough to find the smallest member of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in that class.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Class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Class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(since </a:t>
                </a:r>
                <a14:m>
                  <m:oMath xmlns:m="http://schemas.openxmlformats.org/officeDocument/2006/math">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Class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Class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(the smallest, as </a:t>
                </a:r>
                <a14:m>
                  <m:oMath xmlns:m="http://schemas.openxmlformats.org/officeDocument/2006/math">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alone do not give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mod</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Adding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's, class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contains every number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its smallest member and congruent to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Every number of the form </a:t>
                </a:r>
                <a:r>
                  <a:rPr lang="en-IN" sz="2400">
                    <a:solidFill>
                      <a:srgbClr val="111827"/>
                    </a:solidFill>
                    <a:latin typeface="Cambria Math" panose="02040503050406030204" pitchFamily="18" charset="0"/>
                  </a:rPr>
                  <a:t>$4m$</a:t>
                </a:r>
                <a:r>
                  <a:rPr sz="2400" b="0">
                    <a:solidFill>
                      <a:srgbClr val="111827"/>
                    </a:solidFill>
                    <a:latin typeface="Arial"/>
                  </a:rPr>
                  <a:t> is representable, so for each residue class modulo </a:t>
                </a:r>
                <a:r>
                  <a:rPr lang="en-IN" sz="2400">
                    <a:solidFill>
                      <a:srgbClr val="111827"/>
                    </a:solidFill>
                    <a:latin typeface="Cambria Math" panose="02040503050406030204" pitchFamily="18" charset="0"/>
                  </a:rPr>
                  <a:t>$4$</a:t>
                </a:r>
                <a:r>
                  <a:rPr sz="2400" b="0">
                    <a:solidFill>
                      <a:srgbClr val="111827"/>
                    </a:solidFill>
                    <a:latin typeface="Arial"/>
                  </a:rPr>
                  <a:t> it is enough to find the smallest member of </a:t>
                </a:r>
                <a:r>
                  <a:rPr lang="en-IN" sz="2400">
                    <a:solidFill>
                      <a:srgbClr val="111827"/>
                    </a:solidFill>
                    <a:latin typeface="Cambria Math" panose="02040503050406030204" pitchFamily="18" charset="0"/>
                  </a:rPr>
                  <a:t>$A$</a:t>
                </a:r>
                <a:r>
                  <a:rPr sz="2400" b="0">
                    <a:solidFill>
                      <a:srgbClr val="111827"/>
                    </a:solidFill>
                    <a:latin typeface="Arial"/>
                  </a:rPr>
                  <a:t> in that class.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Class </a:t>
                </a:r>
                <a:r>
                  <a:rPr lang="en-IN" sz="2400">
                    <a:solidFill>
                      <a:srgbClr val="111827"/>
                    </a:solidFill>
                    <a:latin typeface="Cambria Math" panose="02040503050406030204" pitchFamily="18" charset="0"/>
                  </a:rPr>
                  <a:t>$0$</a:t>
                </a:r>
                <a:r>
                  <a:rPr sz="2400" b="0">
                    <a:solidFill>
                      <a:srgbClr val="111827"/>
                    </a:solidFill>
                    <a:latin typeface="Arial"/>
                  </a:rPr>
                  <a:t>: </a:t>
                </a:r>
                <a:r>
                  <a:rPr lang="en-IN" sz="2400">
                    <a:solidFill>
                      <a:srgbClr val="111827"/>
                    </a:solidFill>
                    <a:latin typeface="Cambria Math" panose="02040503050406030204" pitchFamily="18" charset="0"/>
                  </a:rPr>
                  <a:t>$4$</a:t>
                </a:r>
                <a:r>
                  <a:rPr sz="2400" b="0">
                    <a:solidFill>
                      <a:srgbClr val="111827"/>
                    </a:solidFill>
                    <a:latin typeface="Arial"/>
                  </a:rPr>
                  <a:t>. Class </a:t>
                </a:r>
                <a:r>
                  <a:rPr lang="en-IN" sz="2400">
                    <a:solidFill>
                      <a:srgbClr val="111827"/>
                    </a:solidFill>
                    <a:latin typeface="Cambria Math" panose="02040503050406030204" pitchFamily="18" charset="0"/>
                  </a:rPr>
                  <a:t>$1$</a:t>
                </a:r>
                <a:r>
                  <a:rPr sz="2400" b="0">
                    <a:solidFill>
                      <a:srgbClr val="111827"/>
                    </a:solidFill>
                    <a:latin typeface="Arial"/>
                  </a:rPr>
                  <a:t>: </a:t>
                </a:r>
                <a:r>
                  <a:rPr lang="en-IN" sz="2400">
                    <a:solidFill>
                      <a:srgbClr val="111827"/>
                    </a:solidFill>
                    <a:latin typeface="Cambria Math" panose="02040503050406030204" pitchFamily="18" charset="0"/>
                  </a:rPr>
                  <a:t>$9$</a:t>
                </a:r>
                <a:r>
                  <a:rPr sz="2400" b="0">
                    <a:solidFill>
                      <a:srgbClr val="111827"/>
                    </a:solidFill>
                    <a:latin typeface="Arial"/>
                  </a:rPr>
                  <a:t> (since </a:t>
                </a:r>
                <a:r>
                  <a:rPr lang="en-IN" sz="2400">
                    <a:solidFill>
                      <a:srgbClr val="111827"/>
                    </a:solidFill>
                    <a:latin typeface="Cambria Math" panose="02040503050406030204" pitchFamily="18" charset="0"/>
                  </a:rPr>
                  <a:t>$9\equiv1$</a:t>
                </a:r>
                <a:r>
                  <a:rPr sz="2400" b="0">
                    <a:solidFill>
                      <a:srgbClr val="111827"/>
                    </a:solidFill>
                    <a:latin typeface="Arial"/>
                  </a:rPr>
                  <a:t>). Class </a:t>
                </a:r>
                <a:r>
                  <a:rPr lang="en-IN" sz="2400">
                    <a:solidFill>
                      <a:srgbClr val="111827"/>
                    </a:solidFill>
                    <a:latin typeface="Cambria Math" panose="02040503050406030204" pitchFamily="18" charset="0"/>
                  </a:rPr>
                  <a:t>$2$</a:t>
                </a:r>
                <a:r>
                  <a:rPr sz="2400" b="0">
                    <a:solidFill>
                      <a:srgbClr val="111827"/>
                    </a:solidFill>
                    <a:latin typeface="Arial"/>
                  </a:rPr>
                  <a:t>: </a:t>
                </a:r>
                <a:r>
                  <a:rPr lang="en-IN" sz="2400">
                    <a:solidFill>
                      <a:srgbClr val="111827"/>
                    </a:solidFill>
                    <a:latin typeface="Cambria Math" panose="02040503050406030204" pitchFamily="18" charset="0"/>
                  </a:rPr>
                  <a:t>$6$</a:t>
                </a:r>
                <a:r>
                  <a:rPr sz="2400" b="0">
                    <a:solidFill>
                      <a:srgbClr val="111827"/>
                    </a:solidFill>
                    <a:latin typeface="Arial"/>
                  </a:rPr>
                  <a:t>. Class </a:t>
                </a:r>
                <a:r>
                  <a:rPr lang="en-IN" sz="2400">
                    <a:solidFill>
                      <a:srgbClr val="111827"/>
                    </a:solidFill>
                    <a:latin typeface="Cambria Math" panose="02040503050406030204" pitchFamily="18" charset="0"/>
                  </a:rPr>
                  <a:t>$3$</a:t>
                </a:r>
                <a:r>
                  <a:rPr sz="2400" b="0">
                    <a:solidFill>
                      <a:srgbClr val="111827"/>
                    </a:solidFill>
                    <a:latin typeface="Arial"/>
                  </a:rPr>
                  <a:t>: </a:t>
                </a:r>
                <a:r>
                  <a:rPr lang="en-IN" sz="2400">
                    <a:solidFill>
                      <a:srgbClr val="111827"/>
                    </a:solidFill>
                    <a:latin typeface="Cambria Math" panose="02040503050406030204" pitchFamily="18" charset="0"/>
                  </a:rPr>
                  <a:t>$6+9=15$</a:t>
                </a:r>
                <a:r>
                  <a:rPr sz="2400" b="0">
                    <a:solidFill>
                      <a:srgbClr val="111827"/>
                    </a:solidFill>
                    <a:latin typeface="Arial"/>
                  </a:rPr>
                  <a:t> (the smallest, as </a:t>
                </a:r>
                <a:r>
                  <a:rPr lang="en-IN" sz="2400">
                    <a:solidFill>
                      <a:srgbClr val="111827"/>
                    </a:solidFill>
                    <a:latin typeface="Cambria Math" panose="02040503050406030204" pitchFamily="18" charset="0"/>
                  </a:rPr>
                  <a:t>$9+9=18\equiv2$</a:t>
                </a:r>
                <a:r>
                  <a:rPr sz="2400" b="0">
                    <a:solidFill>
                      <a:srgbClr val="111827"/>
                    </a:solidFill>
                    <a:latin typeface="Arial"/>
                  </a:rPr>
                  <a:t> and </a:t>
                </a:r>
                <a:r>
                  <a:rPr lang="en-IN" sz="2400">
                    <a:solidFill>
                      <a:srgbClr val="111827"/>
                    </a:solidFill>
                    <a:latin typeface="Cambria Math" panose="02040503050406030204" pitchFamily="18" charset="0"/>
                  </a:rPr>
                  <a:t>$4,6,9$</a:t>
                </a:r>
                <a:r>
                  <a:rPr sz="2400" b="0">
                    <a:solidFill>
                      <a:srgbClr val="111827"/>
                    </a:solidFill>
                    <a:latin typeface="Arial"/>
                  </a:rPr>
                  <a:t> alone do not give </a:t>
                </a:r>
                <a:r>
                  <a:rPr lang="en-IN" sz="2400">
                    <a:solidFill>
                      <a:srgbClr val="111827"/>
                    </a:solidFill>
                    <a:latin typeface="Cambria Math" panose="02040503050406030204" pitchFamily="18" charset="0"/>
                  </a:rPr>
                  <a:t>$3\bmod4$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Adding </a:t>
                </a:r>
                <a:r>
                  <a:rPr lang="en-IN" sz="2400">
                    <a:solidFill>
                      <a:srgbClr val="111827"/>
                    </a:solidFill>
                    <a:latin typeface="Cambria Math" panose="02040503050406030204" pitchFamily="18" charset="0"/>
                  </a:rPr>
                  <a:t>$4$</a:t>
                </a:r>
                <a:r>
                  <a:rPr sz="2400" b="0">
                    <a:solidFill>
                      <a:srgbClr val="111827"/>
                    </a:solidFill>
                    <a:latin typeface="Arial"/>
                  </a:rPr>
                  <a:t>'s, class </a:t>
                </a:r>
                <a:r>
                  <a:rPr lang="en-IN" sz="2400">
                    <a:solidFill>
                      <a:srgbClr val="111827"/>
                    </a:solidFill>
                    <a:latin typeface="Cambria Math" panose="02040503050406030204" pitchFamily="18" charset="0"/>
                  </a:rPr>
                  <a:t>$r$</a:t>
                </a:r>
                <a:r>
                  <a:rPr sz="2400" b="0">
                    <a:solidFill>
                      <a:srgbClr val="111827"/>
                    </a:solidFill>
                    <a:latin typeface="Arial"/>
                  </a:rPr>
                  <a:t> contains every number </a:t>
                </a:r>
                <a:r>
                  <a:rPr lang="en-IN" sz="2400">
                    <a:solidFill>
                      <a:srgbClr val="111827"/>
                    </a:solidFill>
                    <a:latin typeface="Cambria Math" panose="02040503050406030204" pitchFamily="18" charset="0"/>
                  </a:rPr>
                  <a:t>$\ge$</a:t>
                </a:r>
                <a:r>
                  <a:rPr sz="2400" b="0">
                    <a:solidFill>
                      <a:srgbClr val="111827"/>
                    </a:solidFill>
                    <a:latin typeface="Arial"/>
                  </a:rPr>
                  <a:t> its smallest member and congruent to </a:t>
                </a:r>
                <a:r>
                  <a:rPr lang="en-IN" sz="2400">
                    <a:solidFill>
                      <a:srgbClr val="111827"/>
                    </a:solidFill>
                    <a:latin typeface="Cambria Math" panose="02040503050406030204" pitchFamily="18" charset="0"/>
                  </a:rPr>
                  <a:t>$r$</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the non-members of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that are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lie in class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and are below </a:t>
                </a:r>
                <a14:m>
                  <m:oMath xmlns:m="http://schemas.openxmlformats.org/officeDocument/2006/math">
                    <m:r>
                      <a:rPr lang="en-IN" sz="2400" i="1">
                        <a:solidFill>
                          <a:srgbClr val="111827"/>
                        </a:solidFill>
                        <a:latin typeface="Cambria Math" panose="02040503050406030204" pitchFamily="18" charset="0"/>
                      </a:rPr>
                      <m:t>15</m:t>
                    </m:r>
                  </m:oMath>
                </a14:m>
                <a:r>
                  <a:rPr sz="2400" b="0">
                    <a:solidFill>
                      <a:srgbClr val="111827"/>
                    </a:solidFill>
                    <a:latin typeface="Arial"/>
                  </a:rPr>
                  <a:t>: only </a:t>
                </a:r>
                <a14:m>
                  <m:oMath xmlns:m="http://schemas.openxmlformats.org/officeDocument/2006/math">
                    <m:r>
                      <a:rPr lang="en-IN" sz="2400" i="1">
                        <a:solidFill>
                          <a:srgbClr val="111827"/>
                        </a:solidFill>
                        <a:latin typeface="Cambria Math" panose="02040503050406030204" pitchFamily="18" charset="0"/>
                      </a:rPr>
                      <m:t>11</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the sum is </a:t>
                </a:r>
                <a14:m>
                  <m:oMath xmlns:m="http://schemas.openxmlformats.org/officeDocument/2006/math">
                    <m:r>
                      <a:rPr lang="en-IN" sz="2400" i="1">
                        <a:solidFill>
                          <a:srgbClr val="111827"/>
                        </a:solidFill>
                        <a:latin typeface="Cambria Math" panose="02040503050406030204" pitchFamily="18" charset="0"/>
                      </a:rPr>
                      <m:t>11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the non-members of </a:t>
                </a:r>
                <a:r>
                  <a:rPr lang="en-IN" sz="2400">
                    <a:solidFill>
                      <a:srgbClr val="111827"/>
                    </a:solidFill>
                    <a:latin typeface="Cambria Math" panose="02040503050406030204" pitchFamily="18" charset="0"/>
                  </a:rPr>
                  <a:t>$A$</a:t>
                </a:r>
                <a:r>
                  <a:rPr sz="2400" b="0">
                    <a:solidFill>
                      <a:srgbClr val="111827"/>
                    </a:solidFill>
                    <a:latin typeface="Arial"/>
                  </a:rPr>
                  <a:t> that are </a:t>
                </a:r>
                <a:r>
                  <a:rPr lang="en-IN" sz="2400">
                    <a:solidFill>
                      <a:srgbClr val="111827"/>
                    </a:solidFill>
                    <a:latin typeface="Cambria Math" panose="02040503050406030204" pitchFamily="18" charset="0"/>
                  </a:rPr>
                  <a:t>$\ge9$</a:t>
                </a:r>
                <a:r>
                  <a:rPr sz="2400" b="0">
                    <a:solidFill>
                      <a:srgbClr val="111827"/>
                    </a:solidFill>
                    <a:latin typeface="Arial"/>
                  </a:rPr>
                  <a:t> lie in class </a:t>
                </a:r>
                <a:r>
                  <a:rPr lang="en-IN" sz="2400">
                    <a:solidFill>
                      <a:srgbClr val="111827"/>
                    </a:solidFill>
                    <a:latin typeface="Cambria Math" panose="02040503050406030204" pitchFamily="18" charset="0"/>
                  </a:rPr>
                  <a:t>$3$</a:t>
                </a:r>
                <a:r>
                  <a:rPr sz="2400" b="0">
                    <a:solidFill>
                      <a:srgbClr val="111827"/>
                    </a:solidFill>
                    <a:latin typeface="Arial"/>
                  </a:rPr>
                  <a:t> and are below </a:t>
                </a:r>
                <a:r>
                  <a:rPr lang="en-IN" sz="2400">
                    <a:solidFill>
                      <a:srgbClr val="111827"/>
                    </a:solidFill>
                    <a:latin typeface="Cambria Math" panose="02040503050406030204" pitchFamily="18" charset="0"/>
                  </a:rPr>
                  <a:t>$15$</a:t>
                </a:r>
                <a:r>
                  <a:rPr sz="2400" b="0">
                    <a:solidFill>
                      <a:srgbClr val="111827"/>
                    </a:solidFill>
                    <a:latin typeface="Arial"/>
                  </a:rPr>
                  <a:t>: only </a:t>
                </a:r>
                <a:r>
                  <a:rPr lang="en-IN" sz="2400">
                    <a:solidFill>
                      <a:srgbClr val="111827"/>
                    </a:solidFill>
                    <a:latin typeface="Cambria Math" panose="02040503050406030204" pitchFamily="18" charset="0"/>
                  </a:rPr>
                  <a:t>$11$</a:t>
                </a:r>
                <a:r>
                  <a:rPr sz="2400" b="0">
                    <a:solidFill>
                      <a:srgbClr val="111827"/>
                    </a:solidFill>
                    <a:latin typeface="Arial"/>
                  </a:rPr>
                  <a:t> (as </a:t>
                </a:r>
                <a:r>
                  <a:rPr lang="en-IN" sz="2400">
                    <a:solidFill>
                      <a:srgbClr val="111827"/>
                    </a:solidFill>
                    <a:latin typeface="Cambria Math" panose="02040503050406030204" pitchFamily="18" charset="0"/>
                  </a:rPr>
                  <a:t>$7&lt;9$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$T-A=\{11\}$</a:t>
                </a:r>
                <a:r>
                  <a:rPr sz="2400" b="0">
                    <a:solidFill>
                      <a:srgbClr val="111827"/>
                    </a:solidFill>
                    <a:latin typeface="Arial"/>
                  </a:rPr>
                  <a:t> and the sum is </a:t>
                </a:r>
                <a:r>
                  <a:rPr lang="en-IN" sz="2400">
                    <a:solidFill>
                      <a:srgbClr val="111827"/>
                    </a:solidFill>
                    <a:latin typeface="Cambria Math" panose="02040503050406030204" pitchFamily="18" charset="0"/>
                  </a:rPr>
                  <a:t>$11$</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11</a:t>
            </a:r>
            <a:endParaRPr sz="2800">
              <a:solidFill>
                <a:srgbClr val="15803D"/>
              </a:solidFill>
            </a:endParaRP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numerical semigroup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non-representable positive integers are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 the Frobenius number is </a:t>
                </a:r>
                <a14:m>
                  <m:oMath xmlns:m="http://schemas.openxmlformats.org/officeDocument/2006/math">
                    <m:r>
                      <a:rPr lang="en-IN" sz="2400" i="1">
                        <a:solidFill>
                          <a:srgbClr val="111827"/>
                        </a:solidFill>
                        <a:latin typeface="Cambria Math" panose="02040503050406030204" pitchFamily="18" charset="0"/>
                      </a:rPr>
                      <m:t>11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Apéry set method: with the generator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record the smallest representable number in each class mod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every larger number in that class is representable.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two coprime generators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the largest non-representable number is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(e.g.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23</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numerical semigroup </a:t>
                </a:r>
                <a:r>
                  <a:rPr lang="en-IN" sz="2400">
                    <a:solidFill>
                      <a:srgbClr val="111827"/>
                    </a:solidFill>
                    <a:latin typeface="Cambria Math" panose="02040503050406030204" pitchFamily="18" charset="0"/>
                  </a:rPr>
                  <a:t>$\langle4,6,9\rangle$</a:t>
                </a:r>
                <a:r>
                  <a:rPr sz="2400" b="0">
                    <a:solidFill>
                      <a:srgbClr val="111827"/>
                    </a:solidFill>
                    <a:latin typeface="Arial"/>
                  </a:rPr>
                  <a:t> the non-representable positive integers are </a:t>
                </a:r>
                <a:r>
                  <a:rPr lang="en-IN" sz="2400">
                    <a:solidFill>
                      <a:srgbClr val="111827"/>
                    </a:solidFill>
                    <a:latin typeface="Cambria Math" panose="02040503050406030204" pitchFamily="18" charset="0"/>
                  </a:rPr>
                  <a:t>$1,2,3,5,7,11$</a:t>
                </a:r>
                <a:r>
                  <a:rPr sz="2400" b="0">
                    <a:solidFill>
                      <a:srgbClr val="111827"/>
                    </a:solidFill>
                    <a:latin typeface="Arial"/>
                  </a:rPr>
                  <a:t>; the Frobenius number is </a:t>
                </a:r>
                <a:r>
                  <a:rPr lang="en-IN" sz="2400">
                    <a:solidFill>
                      <a:srgbClr val="111827"/>
                    </a:solidFill>
                    <a:latin typeface="Cambria Math" panose="02040503050406030204" pitchFamily="18" charset="0"/>
                  </a:rPr>
                  <a:t>$11$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Apéry set method: with the generator </a:t>
                </a:r>
                <a:r>
                  <a:rPr lang="en-IN" sz="2400">
                    <a:solidFill>
                      <a:srgbClr val="111827"/>
                    </a:solidFill>
                    <a:latin typeface="Cambria Math" panose="02040503050406030204" pitchFamily="18" charset="0"/>
                  </a:rPr>
                  <a:t>$4$</a:t>
                </a:r>
                <a:r>
                  <a:rPr sz="2400" b="0">
                    <a:solidFill>
                      <a:srgbClr val="111827"/>
                    </a:solidFill>
                    <a:latin typeface="Arial"/>
                  </a:rPr>
                  <a:t>, record the smallest representable number in each class mod </a:t>
                </a:r>
                <a:r>
                  <a:rPr lang="en-IN" sz="2400">
                    <a:solidFill>
                      <a:srgbClr val="111827"/>
                    </a:solidFill>
                    <a:latin typeface="Cambria Math" panose="02040503050406030204" pitchFamily="18" charset="0"/>
                  </a:rPr>
                  <a:t>$4$</a:t>
                </a:r>
                <a:r>
                  <a:rPr sz="2400" b="0">
                    <a:solidFill>
                      <a:srgbClr val="111827"/>
                    </a:solidFill>
                    <a:latin typeface="Arial"/>
                  </a:rPr>
                  <a:t>; every larger number in that class is representable.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two coprime generators </a:t>
                </a:r>
                <a:r>
                  <a:rPr lang="en-IN" sz="2400">
                    <a:solidFill>
                      <a:srgbClr val="111827"/>
                    </a:solidFill>
                    <a:latin typeface="Cambria Math" panose="02040503050406030204" pitchFamily="18" charset="0"/>
                  </a:rPr>
                  <a:t>$a,b$</a:t>
                </a:r>
                <a:r>
                  <a:rPr sz="2400" b="0">
                    <a:solidFill>
                      <a:srgbClr val="111827"/>
                    </a:solidFill>
                    <a:latin typeface="Arial"/>
                  </a:rPr>
                  <a:t> the largest non-representable number is </a:t>
                </a:r>
                <a:r>
                  <a:rPr lang="en-IN" sz="2400">
                    <a:solidFill>
                      <a:srgbClr val="111827"/>
                    </a:solidFill>
                    <a:latin typeface="Cambria Math" panose="02040503050406030204" pitchFamily="18" charset="0"/>
                  </a:rPr>
                  <a:t>$ab-a-b$</a:t>
                </a:r>
                <a:r>
                  <a:rPr sz="2400" b="0">
                    <a:solidFill>
                      <a:srgbClr val="111827"/>
                    </a:solidFill>
                    <a:latin typeface="Arial"/>
                  </a:rPr>
                  <a:t> (e.g. </a:t>
                </a:r>
                <a:r>
                  <a:rPr lang="en-IN" sz="2400">
                    <a:solidFill>
                      <a:srgbClr val="111827"/>
                    </a:solidFill>
                    <a:latin typeface="Cambria Math" panose="02040503050406030204" pitchFamily="18" charset="0"/>
                  </a:rPr>
                  <a:t>$4,9$</a:t>
                </a:r>
                <a:r>
                  <a:rPr sz="2400" b="0">
                    <a:solidFill>
                      <a:srgbClr val="111827"/>
                    </a:solidFill>
                    <a:latin typeface="Arial"/>
                  </a:rPr>
                  <a:t>: </a:t>
                </a:r>
                <a:r>
                  <a:rPr lang="en-IN" sz="2400">
                    <a:solidFill>
                      <a:srgbClr val="111827"/>
                    </a:solidFill>
                    <a:latin typeface="Cambria Math" panose="02040503050406030204" pitchFamily="18" charset="0"/>
                  </a:rPr>
                  <a:t>$23$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R</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equal to ________.</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$S=\{(x,y)\in\mathbb{N}\times\mathbb{N}:9(x-3)^2+16(y-4)^2\le144\}$</a:t>
                </a:r>
                <a:r>
                  <a:rPr sz="2400" b="0">
                    <a:solidFill>
                      <a:srgbClr val="111827"/>
                    </a:solidFill>
                    <a:latin typeface="Arial"/>
                  </a:rPr>
                  <a:t> and </a:t>
                </a:r>
                <a:r>
                  <a:rPr lang="en-IN" sz="2400">
                    <a:solidFill>
                      <a:srgbClr val="111827"/>
                    </a:solidFill>
                    <a:latin typeface="Cambria Math" panose="02040503050406030204" pitchFamily="18" charset="0"/>
                  </a:rPr>
                  <a:t>$T=\{(x,y)\in\mathbb{R}\times\mathbb{R}:(x-7)^2+(y-4)^2\le36\}$</a:t>
                </a:r>
                <a:r>
                  <a:rPr sz="2400" b="0">
                    <a:solidFill>
                      <a:srgbClr val="111827"/>
                    </a:solidFill>
                    <a:latin typeface="Arial"/>
                  </a:rPr>
                  <a:t>. Then </a:t>
                </a:r>
                <a:r>
                  <a:rPr lang="en-IN" sz="2400">
                    <a:solidFill>
                      <a:srgbClr val="111827"/>
                    </a:solidFill>
                    <a:latin typeface="Cambria Math" panose="02040503050406030204" pitchFamily="18" charset="0"/>
                  </a:rPr>
                  <a:t>$n(S\cap T)$</a:t>
                </a:r>
                <a:r>
                  <a:rPr sz="2400" b="0">
                    <a:solidFill>
                      <a:srgbClr val="111827"/>
                    </a:solidFill>
                    <a:latin typeface="Arial"/>
                  </a:rPr>
                  <a:t> is equal to ________.</a:t>
                </a:r>
                <a:endParaRPr sz="2400">
                  <a:solidFill>
                    <a:srgbClr val="111827"/>
                  </a:solidFill>
                </a:endParaRPr>
              </a:p>
            </p:txBody>
          </p:sp>
        </mc:Fallback>
      </mc:AlternateContent>
      <p:sp>
        <p:nvSpPr>
          <p:cNvPr id="5" name="Rectangle 4"/>
          <p:cNvSpPr/>
          <p:nvPr/>
        </p:nvSpPr>
        <p:spPr>
          <a:xfrm>
            <a:off x="731520" y="324612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Intersection of sets of lattice points, Ellipse and circle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4(A level above Average JEE Advanced Level)</a:t>
            </a:r>
            <a:endParaRPr sz="2400">
              <a:solidFill>
                <a:srgbClr val="111827"/>
              </a:solidFill>
            </a:endParaRP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Shift the origin to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and count lattice points row by row, using the ellipse bound and the circle bound together.</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Shift the origin to </a:t>
                </a:r>
                <a:r>
                  <a:rPr lang="en-IN" sz="2400">
                    <a:solidFill>
                      <a:srgbClr val="78350F"/>
                    </a:solidFill>
                    <a:latin typeface="Cambria Math" panose="02040503050406030204" pitchFamily="18" charset="0"/>
                  </a:rPr>
                  <a:t>$(3,4)$</a:t>
                </a:r>
                <a:r>
                  <a:rPr sz="2400" b="0">
                    <a:solidFill>
                      <a:srgbClr val="78350F"/>
                    </a:solidFill>
                    <a:latin typeface="Arial"/>
                  </a:rPr>
                  <a:t> and count lattice points row by row, using the ellipse bound and the circle bound together.</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Put </a:t>
                </a: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𝑋</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16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𝑌</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𝑇</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𝑌</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𝑋</m:t>
                    </m:r>
                  </m:oMath>
                </a14:m>
                <a:r>
                  <a:rPr sz="2400" b="0">
                    <a:solidFill>
                      <a:srgbClr val="111827"/>
                    </a:solidFill>
                    <a:latin typeface="Arial"/>
                  </a:rPr>
                  <a:t> from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satisfies both (at </a:t>
                </a: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oMath>
                </a14:m>
                <a:r>
                  <a:rPr sz="2400" b="0">
                    <a:solidFill>
                      <a:srgbClr val="111827"/>
                    </a:solidFill>
                    <a:latin typeface="Arial"/>
                  </a:rPr>
                  <a:t>). Points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ellipse needs </a:t>
                </a:r>
                <a14:m>
                  <m:oMath xmlns:m="http://schemas.openxmlformats.org/officeDocument/2006/math">
                    <m:sSup>
                      <m:e>
                        <m:r>
                          <a:rPr lang="en-IN" sz="2400" i="1">
                            <a:solidFill>
                              <a:srgbClr val="111827"/>
                            </a:solidFill>
                            <a:latin typeface="Cambria Math" panose="02040503050406030204" pitchFamily="18" charset="0"/>
                          </a:rPr>
                          <m:t>𝑋</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14.2</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circle needs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points each,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in all.</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Put </a:t>
                </a:r>
                <a:r>
                  <a:rPr lang="en-IN" sz="2400">
                    <a:solidFill>
                      <a:srgbClr val="111827"/>
                    </a:solidFill>
                    <a:latin typeface="Cambria Math" panose="02040503050406030204" pitchFamily="18" charset="0"/>
                  </a:rPr>
                  <a:t>$X=x-3$</a:t>
                </a:r>
                <a:r>
                  <a:rPr sz="2400" b="0">
                    <a:solidFill>
                      <a:srgbClr val="111827"/>
                    </a:solidFill>
                    <a:latin typeface="Arial"/>
                  </a:rPr>
                  <a:t>, </a:t>
                </a:r>
                <a:r>
                  <a:rPr lang="en-IN" sz="2400">
                    <a:solidFill>
                      <a:srgbClr val="111827"/>
                    </a:solidFill>
                    <a:latin typeface="Cambria Math" panose="02040503050406030204" pitchFamily="18" charset="0"/>
                  </a:rPr>
                  <a:t>$Y=y-4$</a:t>
                </a:r>
                <a:r>
                  <a:rPr sz="2400" b="0">
                    <a:solidFill>
                      <a:srgbClr val="111827"/>
                    </a:solidFill>
                    <a:latin typeface="Arial"/>
                  </a:rPr>
                  <a:t>. </a:t>
                </a:r>
                <a:r>
                  <a:rPr lang="en-IN" sz="2400">
                    <a:solidFill>
                      <a:srgbClr val="111827"/>
                    </a:solidFill>
                    <a:latin typeface="Cambria Math" panose="02040503050406030204" pitchFamily="18" charset="0"/>
                  </a:rPr>
                  <a:t>$S$</a:t>
                </a:r>
                <a:r>
                  <a:rPr sz="2400" b="0">
                    <a:solidFill>
                      <a:srgbClr val="111827"/>
                    </a:solidFill>
                    <a:latin typeface="Arial"/>
                  </a:rPr>
                  <a:t>: </a:t>
                </a:r>
                <a:r>
                  <a:rPr lang="en-IN" sz="2400">
                    <a:solidFill>
                      <a:srgbClr val="111827"/>
                    </a:solidFill>
                    <a:latin typeface="Cambria Math" panose="02040503050406030204" pitchFamily="18" charset="0"/>
                  </a:rPr>
                  <a:t>$\frac{X^2}{16}+\frac{Y^2}{9}\le1$</a:t>
                </a:r>
                <a:r>
                  <a:rPr sz="2400" b="0">
                    <a:solidFill>
                      <a:srgbClr val="111827"/>
                    </a:solidFill>
                    <a:latin typeface="Arial"/>
                  </a:rPr>
                  <a:t> with </a:t>
                </a:r>
                <a:r>
                  <a:rPr lang="en-IN" sz="2400">
                    <a:solidFill>
                      <a:srgbClr val="111827"/>
                    </a:solidFill>
                    <a:latin typeface="Cambria Math" panose="02040503050406030204" pitchFamily="18" charset="0"/>
                  </a:rPr>
                  <a:t>$X\ge-2$</a:t>
                </a:r>
                <a:r>
                  <a:rPr sz="2400" b="0">
                    <a:solidFill>
                      <a:srgbClr val="111827"/>
                    </a:solidFill>
                    <a:latin typeface="Arial"/>
                  </a:rPr>
                  <a:t>, </a:t>
                </a:r>
                <a:r>
                  <a:rPr lang="en-IN" sz="2400">
                    <a:solidFill>
                      <a:srgbClr val="111827"/>
                    </a:solidFill>
                    <a:latin typeface="Cambria Math" panose="02040503050406030204" pitchFamily="18" charset="0"/>
                  </a:rPr>
                  <a:t>$Y\ge-3$</a:t>
                </a:r>
                <a:r>
                  <a:rPr sz="2400" b="0">
                    <a:solidFill>
                      <a:srgbClr val="111827"/>
                    </a:solidFill>
                    <a:latin typeface="Arial"/>
                  </a:rPr>
                  <a:t> (</a:t>
                </a:r>
                <a:r>
                  <a:rPr lang="en-IN" sz="2400">
                    <a:solidFill>
                      <a:srgbClr val="111827"/>
                    </a:solidFill>
                    <a:latin typeface="Cambria Math" panose="02040503050406030204" pitchFamily="18" charset="0"/>
                  </a:rPr>
                  <a:t>$x,y\ge1$</a:t>
                </a:r>
                <a:r>
                  <a:rPr sz="2400" b="0">
                    <a:solidFill>
                      <a:srgbClr val="111827"/>
                    </a:solidFill>
                    <a:latin typeface="Arial"/>
                  </a:rPr>
                  <a:t>). </a:t>
                </a:r>
                <a:r>
                  <a:rPr lang="en-IN" sz="2400">
                    <a:solidFill>
                      <a:srgbClr val="111827"/>
                    </a:solidFill>
                    <a:latin typeface="Cambria Math" panose="02040503050406030204" pitchFamily="18" charset="0"/>
                  </a:rPr>
                  <a:t>$T$</a:t>
                </a:r>
                <a:r>
                  <a:rPr sz="2400" b="0">
                    <a:solidFill>
                      <a:srgbClr val="111827"/>
                    </a:solidFill>
                    <a:latin typeface="Arial"/>
                  </a:rPr>
                  <a:t>: </a:t>
                </a:r>
                <a:r>
                  <a:rPr lang="en-IN" sz="2400">
                    <a:solidFill>
                      <a:srgbClr val="111827"/>
                    </a:solidFill>
                    <a:latin typeface="Cambria Math" panose="02040503050406030204" pitchFamily="18" charset="0"/>
                  </a:rPr>
                  <a:t>$(X-4)^2+Y^2\le36$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$Y=0$</a:t>
                </a:r>
                <a:r>
                  <a:rPr sz="2400" b="0">
                    <a:solidFill>
                      <a:srgbClr val="111827"/>
                    </a:solidFill>
                    <a:latin typeface="Arial"/>
                  </a:rPr>
                  <a:t>: </a:t>
                </a:r>
                <a:r>
                  <a:rPr lang="en-IN" sz="2400">
                    <a:solidFill>
                      <a:srgbClr val="111827"/>
                    </a:solidFill>
                    <a:latin typeface="Cambria Math" panose="02040503050406030204" pitchFamily="18" charset="0"/>
                  </a:rPr>
                  <a:t>$X$</a:t>
                </a:r>
                <a:r>
                  <a:rPr sz="2400" b="0">
                    <a:solidFill>
                      <a:srgbClr val="111827"/>
                    </a:solidFill>
                    <a:latin typeface="Arial"/>
                  </a:rPr>
                  <a:t> from </a:t>
                </a:r>
                <a:r>
                  <a:rPr lang="en-IN" sz="2400">
                    <a:solidFill>
                      <a:srgbClr val="111827"/>
                    </a:solidFill>
                    <a:latin typeface="Cambria Math" panose="02040503050406030204" pitchFamily="18" charset="0"/>
                  </a:rPr>
                  <a:t>$-2$</a:t>
                </a:r>
                <a:r>
                  <a:rPr sz="2400" b="0">
                    <a:solidFill>
                      <a:srgbClr val="111827"/>
                    </a:solidFill>
                    <a:latin typeface="Arial"/>
                  </a:rPr>
                  <a:t> to </a:t>
                </a:r>
                <a:r>
                  <a:rPr lang="en-IN" sz="2400">
                    <a:solidFill>
                      <a:srgbClr val="111827"/>
                    </a:solidFill>
                    <a:latin typeface="Cambria Math" panose="02040503050406030204" pitchFamily="18" charset="0"/>
                  </a:rPr>
                  <a:t>$4$</a:t>
                </a:r>
                <a:r>
                  <a:rPr sz="2400" b="0">
                    <a:solidFill>
                      <a:srgbClr val="111827"/>
                    </a:solidFill>
                    <a:latin typeface="Arial"/>
                  </a:rPr>
                  <a:t> satisfies both (at </a:t>
                </a:r>
                <a:r>
                  <a:rPr lang="en-IN" sz="2400">
                    <a:solidFill>
                      <a:srgbClr val="111827"/>
                    </a:solidFill>
                    <a:latin typeface="Cambria Math" panose="02040503050406030204" pitchFamily="18" charset="0"/>
                  </a:rPr>
                  <a:t>$X=-2$</a:t>
                </a:r>
                <a:r>
                  <a:rPr sz="2400" b="0">
                    <a:solidFill>
                      <a:srgbClr val="111827"/>
                    </a:solidFill>
                    <a:latin typeface="Arial"/>
                  </a:rPr>
                  <a:t>: </a:t>
                </a:r>
                <a:r>
                  <a:rPr lang="en-IN" sz="2400">
                    <a:solidFill>
                      <a:srgbClr val="111827"/>
                    </a:solidFill>
                    <a:latin typeface="Cambria Math" panose="02040503050406030204" pitchFamily="18" charset="0"/>
                  </a:rPr>
                  <a:t>$36+0\le36$</a:t>
                </a:r>
                <a:r>
                  <a:rPr sz="2400" b="0">
                    <a:solidFill>
                      <a:srgbClr val="111827"/>
                    </a:solidFill>
                    <a:latin typeface="Arial"/>
                  </a:rPr>
                  <a:t>). Points </a:t>
                </a:r>
                <a:r>
                  <a:rPr lang="en-IN" sz="2400">
                    <a:solidFill>
                      <a:srgbClr val="111827"/>
                    </a:solidFill>
                    <a:latin typeface="Cambria Math" panose="02040503050406030204" pitchFamily="18" charset="0"/>
                  </a:rPr>
                  <a:t>$(-2,0),\dots,(4,0)$</a:t>
                </a:r>
                <a:r>
                  <a:rPr sz="2400" b="0">
                    <a:solidFill>
                      <a:srgbClr val="111827"/>
                    </a:solidFill>
                    <a:latin typeface="Arial"/>
                  </a:rPr>
                  <a:t>: </a:t>
                </a:r>
                <a:r>
                  <a:rPr lang="en-IN" sz="2400">
                    <a:solidFill>
                      <a:srgbClr val="111827"/>
                    </a:solidFill>
                    <a:latin typeface="Cambria Math" panose="02040503050406030204" pitchFamily="18" charset="0"/>
                  </a:rPr>
                  <a:t>$7$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$Y=\pm1$</a:t>
                </a:r>
                <a:r>
                  <a:rPr sz="2400" b="0">
                    <a:solidFill>
                      <a:srgbClr val="111827"/>
                    </a:solidFill>
                    <a:latin typeface="Arial"/>
                  </a:rPr>
                  <a:t>: ellipse needs </a:t>
                </a:r>
                <a:r>
                  <a:rPr lang="en-IN" sz="2400">
                    <a:solidFill>
                      <a:srgbClr val="111827"/>
                    </a:solidFill>
                    <a:latin typeface="Cambria Math" panose="02040503050406030204" pitchFamily="18" charset="0"/>
                  </a:rPr>
                  <a:t>$X^2\le14.2$</a:t>
                </a:r>
                <a:r>
                  <a:rPr sz="2400" b="0">
                    <a:solidFill>
                      <a:srgbClr val="111827"/>
                    </a:solidFill>
                    <a:latin typeface="Arial"/>
                  </a:rPr>
                  <a:t>, so </a:t>
                </a:r>
                <a:r>
                  <a:rPr lang="en-IN" sz="2400">
                    <a:solidFill>
                      <a:srgbClr val="111827"/>
                    </a:solidFill>
                    <a:latin typeface="Cambria Math" panose="02040503050406030204" pitchFamily="18" charset="0"/>
                  </a:rPr>
                  <a:t>$|X|\le3$</a:t>
                </a:r>
                <a:r>
                  <a:rPr sz="2400" b="0">
                    <a:solidFill>
                      <a:srgbClr val="111827"/>
                    </a:solidFill>
                    <a:latin typeface="Arial"/>
                  </a:rPr>
                  <a:t>; circle needs </a:t>
                </a:r>
                <a:r>
                  <a:rPr lang="en-IN" sz="2400">
                    <a:solidFill>
                      <a:srgbClr val="111827"/>
                    </a:solidFill>
                    <a:latin typeface="Cambria Math" panose="02040503050406030204" pitchFamily="18" charset="0"/>
                  </a:rPr>
                  <a:t>$(X-4)^2\le35$</a:t>
                </a:r>
                <a:r>
                  <a:rPr sz="2400" b="0">
                    <a:solidFill>
                      <a:srgbClr val="111827"/>
                    </a:solidFill>
                    <a:latin typeface="Arial"/>
                  </a:rPr>
                  <a:t>, so </a:t>
                </a:r>
                <a:r>
                  <a:rPr lang="en-IN" sz="2400">
                    <a:solidFill>
                      <a:srgbClr val="111827"/>
                    </a:solidFill>
                    <a:latin typeface="Cambria Math" panose="02040503050406030204" pitchFamily="18" charset="0"/>
                  </a:rPr>
                  <a:t>$X\ge-1$</a:t>
                </a:r>
                <a:r>
                  <a:rPr sz="2400" b="0">
                    <a:solidFill>
                      <a:srgbClr val="111827"/>
                    </a:solidFill>
                    <a:latin typeface="Arial"/>
                  </a:rPr>
                  <a:t>. </a:t>
                </a:r>
                <a:r>
                  <a:rPr lang="en-IN" sz="2400">
                    <a:solidFill>
                      <a:srgbClr val="111827"/>
                    </a:solidFill>
                    <a:latin typeface="Cambria Math" panose="02040503050406030204" pitchFamily="18" charset="0"/>
                  </a:rPr>
                  <a:t>$X=-1,\dots,3$</a:t>
                </a:r>
                <a:r>
                  <a:rPr sz="2400" b="0">
                    <a:solidFill>
                      <a:srgbClr val="111827"/>
                    </a:solidFill>
                    <a:latin typeface="Arial"/>
                  </a:rPr>
                  <a:t>: </a:t>
                </a:r>
                <a:r>
                  <a:rPr lang="en-IN" sz="2400">
                    <a:solidFill>
                      <a:srgbClr val="111827"/>
                    </a:solidFill>
                    <a:latin typeface="Cambria Math" panose="02040503050406030204" pitchFamily="18" charset="0"/>
                  </a:rPr>
                  <a:t>$5$</a:t>
                </a:r>
                <a:r>
                  <a:rPr sz="2400" b="0">
                    <a:solidFill>
                      <a:srgbClr val="111827"/>
                    </a:solidFill>
                    <a:latin typeface="Arial"/>
                  </a:rPr>
                  <a:t> points each, </a:t>
                </a:r>
                <a:r>
                  <a:rPr lang="en-IN" sz="2400">
                    <a:solidFill>
                      <a:srgbClr val="111827"/>
                    </a:solidFill>
                    <a:latin typeface="Cambria Math" panose="02040503050406030204" pitchFamily="18" charset="0"/>
                  </a:rPr>
                  <a:t>$10$</a:t>
                </a:r>
                <a:r>
                  <a:rPr sz="2400" b="0">
                    <a:solidFill>
                      <a:srgbClr val="111827"/>
                    </a:solidFill>
                    <a:latin typeface="Arial"/>
                  </a:rPr>
                  <a:t> in all.</a:t>
                </a:r>
                <a:endParaRPr sz="2400">
                  <a:solidFill>
                    <a:srgbClr val="111827"/>
                  </a:solidFill>
                </a:endParaRPr>
              </a:p>
            </p:txBody>
          </p:sp>
        </mc:Fallback>
      </mc:AlternateContent>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ellipse needs </a:t>
                </a:r>
                <a14:m>
                  <m:oMath xmlns:m="http://schemas.openxmlformats.org/officeDocument/2006/math">
                    <m:sSup>
                      <m:e>
                        <m:r>
                          <a:rPr lang="en-IN" sz="2400" i="1">
                            <a:solidFill>
                              <a:srgbClr val="111827"/>
                            </a:solidFill>
                            <a:latin typeface="Cambria Math" panose="02040503050406030204" pitchFamily="18" charset="0"/>
                          </a:rPr>
                          <m:t>𝑋</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8.9</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circle needs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points each,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in all.</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ellipse needs </a:t>
                </a: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the circle holds (</a:t>
                </a:r>
                <a14:m>
                  <m:oMath xmlns:m="http://schemas.openxmlformats.org/officeDocument/2006/math">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points.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14:m>
                  <m:oMath xmlns:m="http://schemas.openxmlformats.org/officeDocument/2006/math">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$Y=\pm2$</a:t>
                </a:r>
                <a:r>
                  <a:rPr sz="2400" b="0">
                    <a:solidFill>
                      <a:srgbClr val="111827"/>
                    </a:solidFill>
                    <a:latin typeface="Arial"/>
                  </a:rPr>
                  <a:t>: ellipse needs </a:t>
                </a:r>
                <a:r>
                  <a:rPr lang="en-IN" sz="2400">
                    <a:solidFill>
                      <a:srgbClr val="111827"/>
                    </a:solidFill>
                    <a:latin typeface="Cambria Math" panose="02040503050406030204" pitchFamily="18" charset="0"/>
                  </a:rPr>
                  <a:t>$X^2\le8.9$</a:t>
                </a:r>
                <a:r>
                  <a:rPr sz="2400" b="0">
                    <a:solidFill>
                      <a:srgbClr val="111827"/>
                    </a:solidFill>
                    <a:latin typeface="Arial"/>
                  </a:rPr>
                  <a:t>, so </a:t>
                </a:r>
                <a:r>
                  <a:rPr lang="en-IN" sz="2400">
                    <a:solidFill>
                      <a:srgbClr val="111827"/>
                    </a:solidFill>
                    <a:latin typeface="Cambria Math" panose="02040503050406030204" pitchFamily="18" charset="0"/>
                  </a:rPr>
                  <a:t>$|X|\le2$</a:t>
                </a:r>
                <a:r>
                  <a:rPr sz="2400" b="0">
                    <a:solidFill>
                      <a:srgbClr val="111827"/>
                    </a:solidFill>
                    <a:latin typeface="Arial"/>
                  </a:rPr>
                  <a:t>; circle needs </a:t>
                </a:r>
                <a:r>
                  <a:rPr lang="en-IN" sz="2400">
                    <a:solidFill>
                      <a:srgbClr val="111827"/>
                    </a:solidFill>
                    <a:latin typeface="Cambria Math" panose="02040503050406030204" pitchFamily="18" charset="0"/>
                  </a:rPr>
                  <a:t>$(X-4)^2\le32$</a:t>
                </a:r>
                <a:r>
                  <a:rPr sz="2400" b="0">
                    <a:solidFill>
                      <a:srgbClr val="111827"/>
                    </a:solidFill>
                    <a:latin typeface="Arial"/>
                  </a:rPr>
                  <a:t>, so </a:t>
                </a:r>
                <a:r>
                  <a:rPr lang="en-IN" sz="2400">
                    <a:solidFill>
                      <a:srgbClr val="111827"/>
                    </a:solidFill>
                    <a:latin typeface="Cambria Math" panose="02040503050406030204" pitchFamily="18" charset="0"/>
                  </a:rPr>
                  <a:t>$X\ge-1$</a:t>
                </a:r>
                <a:r>
                  <a:rPr sz="2400" b="0">
                    <a:solidFill>
                      <a:srgbClr val="111827"/>
                    </a:solidFill>
                    <a:latin typeface="Arial"/>
                  </a:rPr>
                  <a:t>. </a:t>
                </a:r>
                <a:r>
                  <a:rPr lang="en-IN" sz="2400">
                    <a:solidFill>
                      <a:srgbClr val="111827"/>
                    </a:solidFill>
                    <a:latin typeface="Cambria Math" panose="02040503050406030204" pitchFamily="18" charset="0"/>
                  </a:rPr>
                  <a:t>$X=-1,\dots,2$</a:t>
                </a:r>
                <a:r>
                  <a:rPr sz="2400" b="0">
                    <a:solidFill>
                      <a:srgbClr val="111827"/>
                    </a:solidFill>
                    <a:latin typeface="Arial"/>
                  </a:rPr>
                  <a:t>: </a:t>
                </a:r>
                <a:r>
                  <a:rPr lang="en-IN" sz="2400">
                    <a:solidFill>
                      <a:srgbClr val="111827"/>
                    </a:solidFill>
                    <a:latin typeface="Cambria Math" panose="02040503050406030204" pitchFamily="18" charset="0"/>
                  </a:rPr>
                  <a:t>$4$</a:t>
                </a:r>
                <a:r>
                  <a:rPr sz="2400" b="0">
                    <a:solidFill>
                      <a:srgbClr val="111827"/>
                    </a:solidFill>
                    <a:latin typeface="Arial"/>
                  </a:rPr>
                  <a:t> points each, </a:t>
                </a:r>
                <a:r>
                  <a:rPr lang="en-IN" sz="2400">
                    <a:solidFill>
                      <a:srgbClr val="111827"/>
                    </a:solidFill>
                    <a:latin typeface="Cambria Math" panose="02040503050406030204" pitchFamily="18" charset="0"/>
                  </a:rPr>
                  <a:t>$8$</a:t>
                </a:r>
                <a:r>
                  <a:rPr sz="2400" b="0">
                    <a:solidFill>
                      <a:srgbClr val="111827"/>
                    </a:solidFill>
                    <a:latin typeface="Arial"/>
                  </a:rPr>
                  <a:t> in all.</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$Y=\pm3$</a:t>
                </a:r>
                <a:r>
                  <a:rPr sz="2400" b="0">
                    <a:solidFill>
                      <a:srgbClr val="111827"/>
                    </a:solidFill>
                    <a:latin typeface="Arial"/>
                  </a:rPr>
                  <a:t>: ellipse needs </a:t>
                </a:r>
                <a:r>
                  <a:rPr lang="en-IN" sz="2400">
                    <a:solidFill>
                      <a:srgbClr val="111827"/>
                    </a:solidFill>
                    <a:latin typeface="Cambria Math" panose="02040503050406030204" pitchFamily="18" charset="0"/>
                  </a:rPr>
                  <a:t>$X=0$</a:t>
                </a:r>
                <a:r>
                  <a:rPr sz="2400" b="0">
                    <a:solidFill>
                      <a:srgbClr val="111827"/>
                    </a:solidFill>
                    <a:latin typeface="Arial"/>
                  </a:rPr>
                  <a:t>, and the circle holds (</a:t>
                </a:r>
                <a:r>
                  <a:rPr lang="en-IN" sz="2400">
                    <a:solidFill>
                      <a:srgbClr val="111827"/>
                    </a:solidFill>
                    <a:latin typeface="Cambria Math" panose="02040503050406030204" pitchFamily="18" charset="0"/>
                  </a:rPr>
                  <a:t>$16+9\le36$</a:t>
                </a:r>
                <a:r>
                  <a:rPr sz="2400" b="0">
                    <a:solidFill>
                      <a:srgbClr val="111827"/>
                    </a:solidFill>
                    <a:latin typeface="Arial"/>
                  </a:rPr>
                  <a:t>): </a:t>
                </a:r>
                <a:r>
                  <a:rPr lang="en-IN" sz="2400">
                    <a:solidFill>
                      <a:srgbClr val="111827"/>
                    </a:solidFill>
                    <a:latin typeface="Cambria Math" panose="02040503050406030204" pitchFamily="18" charset="0"/>
                  </a:rPr>
                  <a:t>$2$</a:t>
                </a:r>
                <a:r>
                  <a:rPr sz="2400" b="0">
                    <a:solidFill>
                      <a:srgbClr val="111827"/>
                    </a:solidFill>
                    <a:latin typeface="Arial"/>
                  </a:rPr>
                  <a:t> points.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a:t>
                </a:r>
                <a:r>
                  <a:rPr lang="en-IN" sz="2400">
                    <a:solidFill>
                      <a:srgbClr val="111827"/>
                    </a:solidFill>
                    <a:latin typeface="Cambria Math" panose="02040503050406030204" pitchFamily="18" charset="0"/>
                  </a:rPr>
                  <a:t>$7+10+8+2=27$</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27</a:t>
            </a:r>
            <a:endParaRPr sz="2800">
              <a:solidFill>
                <a:srgbClr val="15803D"/>
              </a:solidFill>
            </a:endParaRP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Count the lattice points of the ellipse with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first (the circle only cuts a few), then subtract those outside the circle.</a:t>
                </a:r>
                <a:endParaRPr sz="2400">
                  <a:solidFill>
                    <a:srgbClr val="78350F"/>
                  </a:solidFill>
                </a:endParaRPr>
              </a:p>
            </p:txBody>
          </p:sp>
        </mc:Choice>
        <mc:Fallback>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Count the lattice points of the ellipse with </a:t>
                </a:r>
                <a:r>
                  <a:rPr lang="en-IN" sz="2400">
                    <a:solidFill>
                      <a:srgbClr val="78350F"/>
                    </a:solidFill>
                    <a:latin typeface="Cambria Math" panose="02040503050406030204" pitchFamily="18" charset="0"/>
                  </a:rPr>
                  <a:t>$x\ge1$</a:t>
                </a:r>
                <a:r>
                  <a:rPr sz="2400" b="0">
                    <a:solidFill>
                      <a:srgbClr val="78350F"/>
                    </a:solidFill>
                    <a:latin typeface="Arial"/>
                  </a:rPr>
                  <a:t> first (the circle only cuts a few), then subtract those outside the circle.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Count the lattice points of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𝑋</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16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𝑌</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column by column: </a:t>
                </a: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in the ellipse: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circle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𝑌</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oMath>
                </a14:m>
                <a:r>
                  <a:rPr sz="2400" b="0">
                    <a:solidFill>
                      <a:srgbClr val="111827"/>
                    </a:solidFill>
                    <a:latin typeface="Arial"/>
                  </a:rPr>
                  <a:t> excludes a point only if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𝑌</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36</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𝑌</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36</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points excluded.</a:t>
                </a:r>
                <a:endParaRPr sz="2400">
                  <a:solidFill>
                    <a:srgbClr val="111827"/>
                  </a:solidFill>
                </a:endParaRPr>
              </a:p>
            </p:txBody>
          </p:sp>
        </mc:Choice>
        <mc:Fallback>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Count the lattice points of </a:t>
                </a:r>
                <a:r>
                  <a:rPr lang="en-IN" sz="2400">
                    <a:solidFill>
                      <a:srgbClr val="111827"/>
                    </a:solidFill>
                    <a:latin typeface="Cambria Math" panose="02040503050406030204" pitchFamily="18" charset="0"/>
                  </a:rPr>
                  <a:t>$\frac{X^2}{16}+\frac{Y^2}{9}\le1$</a:t>
                </a:r>
                <a:r>
                  <a:rPr sz="2400" b="0">
                    <a:solidFill>
                      <a:srgbClr val="111827"/>
                    </a:solidFill>
                    <a:latin typeface="Arial"/>
                  </a:rPr>
                  <a:t> with </a:t>
                </a:r>
                <a:r>
                  <a:rPr lang="en-IN" sz="2400">
                    <a:solidFill>
                      <a:srgbClr val="111827"/>
                    </a:solidFill>
                    <a:latin typeface="Cambria Math" panose="02040503050406030204" pitchFamily="18" charset="0"/>
                  </a:rPr>
                  <a:t>$X\ge-2$</a:t>
                </a:r>
                <a:r>
                  <a:rPr sz="2400" b="0">
                    <a:solidFill>
                      <a:srgbClr val="111827"/>
                    </a:solidFill>
                    <a:latin typeface="Arial"/>
                  </a:rPr>
                  <a:t> column by column: </a:t>
                </a:r>
                <a:r>
                  <a:rPr lang="en-IN" sz="2400">
                    <a:solidFill>
                      <a:srgbClr val="111827"/>
                    </a:solidFill>
                    <a:latin typeface="Cambria Math" panose="02040503050406030204" pitchFamily="18" charset="0"/>
                  </a:rPr>
                  <a:t>$X=-2:|Y|\le2$</a:t>
                </a:r>
                <a:r>
                  <a:rPr sz="2400" b="0">
                    <a:solidFill>
                      <a:srgbClr val="111827"/>
                    </a:solidFill>
                    <a:latin typeface="Arial"/>
                  </a:rPr>
                  <a:t> (</a:t>
                </a:r>
                <a:r>
                  <a:rPr lang="en-IN" sz="2400">
                    <a:solidFill>
                      <a:srgbClr val="111827"/>
                    </a:solidFill>
                    <a:latin typeface="Cambria Math" panose="02040503050406030204" pitchFamily="18" charset="0"/>
                  </a:rPr>
                  <a:t>$5$</a:t>
                </a:r>
                <a:r>
                  <a:rPr sz="2400" b="0">
                    <a:solidFill>
                      <a:srgbClr val="111827"/>
                    </a:solidFill>
                    <a:latin typeface="Arial"/>
                  </a:rPr>
                  <a:t>); </a:t>
                </a:r>
                <a:r>
                  <a:rPr lang="en-IN" sz="2400">
                    <a:solidFill>
                      <a:srgbClr val="111827"/>
                    </a:solidFill>
                    <a:latin typeface="Cambria Math" panose="02040503050406030204" pitchFamily="18" charset="0"/>
                  </a:rPr>
                  <a:t>$X=-1:5$</a:t>
                </a:r>
                <a:r>
                  <a:rPr sz="2400" b="0">
                    <a:solidFill>
                      <a:srgbClr val="111827"/>
                    </a:solidFill>
                    <a:latin typeface="Arial"/>
                  </a:rPr>
                  <a:t>; </a:t>
                </a:r>
                <a:r>
                  <a:rPr lang="en-IN" sz="2400">
                    <a:solidFill>
                      <a:srgbClr val="111827"/>
                    </a:solidFill>
                    <a:latin typeface="Cambria Math" panose="02040503050406030204" pitchFamily="18" charset="0"/>
                  </a:rPr>
                  <a:t>$X=0:7$</a:t>
                </a:r>
                <a:r>
                  <a:rPr sz="2400" b="0">
                    <a:solidFill>
                      <a:srgbClr val="111827"/>
                    </a:solidFill>
                    <a:latin typeface="Arial"/>
                  </a:rPr>
                  <a:t>; </a:t>
                </a:r>
                <a:r>
                  <a:rPr lang="en-IN" sz="2400">
                    <a:solidFill>
                      <a:srgbClr val="111827"/>
                    </a:solidFill>
                    <a:latin typeface="Cambria Math" panose="02040503050406030204" pitchFamily="18" charset="0"/>
                  </a:rPr>
                  <a:t>$X=1:5$</a:t>
                </a:r>
                <a:r>
                  <a:rPr sz="2400" b="0">
                    <a:solidFill>
                      <a:srgbClr val="111827"/>
                    </a:solidFill>
                    <a:latin typeface="Arial"/>
                  </a:rPr>
                  <a:t>; </a:t>
                </a:r>
                <a:r>
                  <a:rPr lang="en-IN" sz="2400">
                    <a:solidFill>
                      <a:srgbClr val="111827"/>
                    </a:solidFill>
                    <a:latin typeface="Cambria Math" panose="02040503050406030204" pitchFamily="18" charset="0"/>
                  </a:rPr>
                  <a:t>$X=2:5$</a:t>
                </a:r>
                <a:r>
                  <a:rPr sz="2400" b="0">
                    <a:solidFill>
                      <a:srgbClr val="111827"/>
                    </a:solidFill>
                    <a:latin typeface="Arial"/>
                  </a:rPr>
                  <a:t>; </a:t>
                </a:r>
                <a:r>
                  <a:rPr lang="en-IN" sz="2400">
                    <a:solidFill>
                      <a:srgbClr val="111827"/>
                    </a:solidFill>
                    <a:latin typeface="Cambria Math" panose="02040503050406030204" pitchFamily="18" charset="0"/>
                  </a:rPr>
                  <a:t>$X=3:|Y|\le1$</a:t>
                </a:r>
                <a:r>
                  <a:rPr sz="2400" b="0">
                    <a:solidFill>
                      <a:srgbClr val="111827"/>
                    </a:solidFill>
                    <a:latin typeface="Arial"/>
                  </a:rPr>
                  <a:t> (</a:t>
                </a:r>
                <a:r>
                  <a:rPr lang="en-IN" sz="2400">
                    <a:solidFill>
                      <a:srgbClr val="111827"/>
                    </a:solidFill>
                    <a:latin typeface="Cambria Math" panose="02040503050406030204" pitchFamily="18" charset="0"/>
                  </a:rPr>
                  <a:t>$3$</a:t>
                </a:r>
                <a:r>
                  <a:rPr sz="2400" b="0">
                    <a:solidFill>
                      <a:srgbClr val="111827"/>
                    </a:solidFill>
                    <a:latin typeface="Arial"/>
                  </a:rPr>
                  <a:t>); </a:t>
                </a:r>
                <a:r>
                  <a:rPr lang="en-IN" sz="2400">
                    <a:solidFill>
                      <a:srgbClr val="111827"/>
                    </a:solidFill>
                    <a:latin typeface="Cambria Math" panose="02040503050406030204" pitchFamily="18" charset="0"/>
                  </a:rPr>
                  <a:t>$X=4:1$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Total in the ellipse: </a:t>
                </a:r>
                <a:r>
                  <a:rPr lang="en-IN" sz="2400">
                    <a:solidFill>
                      <a:srgbClr val="111827"/>
                    </a:solidFill>
                    <a:latin typeface="Cambria Math" panose="02040503050406030204" pitchFamily="18" charset="0"/>
                  </a:rPr>
                  <a:t>$5+5+7+5+5+3+1=31$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circle </a:t>
                </a:r>
                <a:r>
                  <a:rPr lang="en-IN" sz="2400">
                    <a:solidFill>
                      <a:srgbClr val="111827"/>
                    </a:solidFill>
                    <a:latin typeface="Cambria Math" panose="02040503050406030204" pitchFamily="18" charset="0"/>
                  </a:rPr>
                  <a:t>$(X-4)^2+Y^2\le36$</a:t>
                </a:r>
                <a:r>
                  <a:rPr sz="2400" b="0">
                    <a:solidFill>
                      <a:srgbClr val="111827"/>
                    </a:solidFill>
                    <a:latin typeface="Arial"/>
                  </a:rPr>
                  <a:t> excludes a point only if </a:t>
                </a:r>
                <a:r>
                  <a:rPr lang="en-IN" sz="2400">
                    <a:solidFill>
                      <a:srgbClr val="111827"/>
                    </a:solidFill>
                    <a:latin typeface="Cambria Math" panose="02040503050406030204" pitchFamily="18" charset="0"/>
                  </a:rPr>
                  <a:t>$(X-4)^2+Y^2&gt;36$</a:t>
                </a:r>
                <a:r>
                  <a:rPr sz="2400" b="0">
                    <a:solidFill>
                      <a:srgbClr val="111827"/>
                    </a:solidFill>
                    <a:latin typeface="Arial"/>
                  </a:rPr>
                  <a:t>. At </a:t>
                </a:r>
                <a:r>
                  <a:rPr lang="en-IN" sz="2400">
                    <a:solidFill>
                      <a:srgbClr val="111827"/>
                    </a:solidFill>
                    <a:latin typeface="Cambria Math" panose="02040503050406030204" pitchFamily="18" charset="0"/>
                  </a:rPr>
                  <a:t>$X=-2$</a:t>
                </a:r>
                <a:r>
                  <a:rPr sz="2400" b="0">
                    <a:solidFill>
                      <a:srgbClr val="111827"/>
                    </a:solidFill>
                    <a:latin typeface="Arial"/>
                  </a:rPr>
                  <a:t>: </a:t>
                </a:r>
                <a:r>
                  <a:rPr lang="en-IN" sz="2400">
                    <a:solidFill>
                      <a:srgbClr val="111827"/>
                    </a:solidFill>
                    <a:latin typeface="Cambria Math" panose="02040503050406030204" pitchFamily="18" charset="0"/>
                  </a:rPr>
                  <a:t>$36+Y^2&gt;36$</a:t>
                </a:r>
                <a:r>
                  <a:rPr sz="2400" b="0">
                    <a:solidFill>
                      <a:srgbClr val="111827"/>
                    </a:solidFill>
                    <a:latin typeface="Arial"/>
                  </a:rPr>
                  <a:t> for </a:t>
                </a:r>
                <a:r>
                  <a:rPr lang="en-IN" sz="2400">
                    <a:solidFill>
                      <a:srgbClr val="111827"/>
                    </a:solidFill>
                    <a:latin typeface="Cambria Math" panose="02040503050406030204" pitchFamily="18" charset="0"/>
                  </a:rPr>
                  <a:t>$Y=\pm1,\pm2$</a:t>
                </a:r>
                <a:r>
                  <a:rPr sz="2400" b="0">
                    <a:solidFill>
                      <a:srgbClr val="111827"/>
                    </a:solidFill>
                    <a:latin typeface="Arial"/>
                  </a:rPr>
                  <a:t>: </a:t>
                </a:r>
                <a:r>
                  <a:rPr lang="en-IN" sz="2400">
                    <a:solidFill>
                      <a:srgbClr val="111827"/>
                    </a:solidFill>
                    <a:latin typeface="Cambria Math" panose="02040503050406030204" pitchFamily="18" charset="0"/>
                  </a:rPr>
                  <a:t>$4$</a:t>
                </a:r>
                <a:r>
                  <a:rPr sz="2400" b="0">
                    <a:solidFill>
                      <a:srgbClr val="111827"/>
                    </a:solidFill>
                    <a:latin typeface="Arial"/>
                  </a:rPr>
                  <a:t> points excluded.</a:t>
                </a:r>
                <a:endParaRPr sz="2400">
                  <a:solidFill>
                    <a:srgbClr val="111827"/>
                  </a:solidFill>
                </a:endParaRPr>
              </a:p>
            </p:txBody>
          </p:sp>
        </mc:Fallback>
      </mc:AlternateContent>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At </a:t>
                </a: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𝑌</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36</m:t>
                    </m:r>
                  </m:oMath>
                </a14:m>
                <a:r>
                  <a:rPr sz="2400" b="0">
                    <a:solidFill>
                      <a:srgbClr val="111827"/>
                    </a:solidFill>
                    <a:latin typeface="Arial"/>
                  </a:rPr>
                  <a:t>, nothing excluded; for </a:t>
                </a: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𝑌</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give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36</m:t>
                    </m:r>
                  </m:oMath>
                </a14:m>
                <a:r>
                  <a:rPr sz="2400" b="0">
                    <a:solidFill>
                      <a:srgbClr val="111827"/>
                    </a:solidFill>
                    <a:latin typeface="Arial"/>
                  </a:rPr>
                  <a:t>, nothing excluded.</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𝑇</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At </a:t>
                </a:r>
                <a:r>
                  <a:rPr lang="en-IN" sz="2400">
                    <a:solidFill>
                      <a:srgbClr val="111827"/>
                    </a:solidFill>
                    <a:latin typeface="Cambria Math" panose="02040503050406030204" pitchFamily="18" charset="0"/>
                  </a:rPr>
                  <a:t>$X=-1$</a:t>
                </a:r>
                <a:r>
                  <a:rPr sz="2400" b="0">
                    <a:solidFill>
                      <a:srgbClr val="111827"/>
                    </a:solidFill>
                    <a:latin typeface="Arial"/>
                  </a:rPr>
                  <a:t>: </a:t>
                </a:r>
                <a:r>
                  <a:rPr lang="en-IN" sz="2400">
                    <a:solidFill>
                      <a:srgbClr val="111827"/>
                    </a:solidFill>
                    <a:latin typeface="Cambria Math" panose="02040503050406030204" pitchFamily="18" charset="0"/>
                  </a:rPr>
                  <a:t>$25+Y^2\le25+4&lt;36$</a:t>
                </a:r>
                <a:r>
                  <a:rPr sz="2400" b="0">
                    <a:solidFill>
                      <a:srgbClr val="111827"/>
                    </a:solidFill>
                    <a:latin typeface="Arial"/>
                  </a:rPr>
                  <a:t>, nothing excluded; for </a:t>
                </a:r>
                <a:r>
                  <a:rPr lang="en-IN" sz="2400">
                    <a:solidFill>
                      <a:srgbClr val="111827"/>
                    </a:solidFill>
                    <a:latin typeface="Cambria Math" panose="02040503050406030204" pitchFamily="18" charset="0"/>
                  </a:rPr>
                  <a:t>$X\ge0$</a:t>
                </a:r>
                <a:r>
                  <a:rPr sz="2400" b="0">
                    <a:solidFill>
                      <a:srgbClr val="111827"/>
                    </a:solidFill>
                    <a:latin typeface="Arial"/>
                  </a:rPr>
                  <a:t>, </a:t>
                </a:r>
                <a:r>
                  <a:rPr lang="en-IN" sz="2400">
                    <a:solidFill>
                      <a:srgbClr val="111827"/>
                    </a:solidFill>
                    <a:latin typeface="Cambria Math" panose="02040503050406030204" pitchFamily="18" charset="0"/>
                  </a:rPr>
                  <a:t>$(X-4)^2\le16$</a:t>
                </a:r>
                <a:r>
                  <a:rPr sz="2400" b="0">
                    <a:solidFill>
                      <a:srgbClr val="111827"/>
                    </a:solidFill>
                    <a:latin typeface="Arial"/>
                  </a:rPr>
                  <a:t> and </a:t>
                </a:r>
                <a:r>
                  <a:rPr lang="en-IN" sz="2400">
                    <a:solidFill>
                      <a:srgbClr val="111827"/>
                    </a:solidFill>
                    <a:latin typeface="Cambria Math" panose="02040503050406030204" pitchFamily="18" charset="0"/>
                  </a:rPr>
                  <a:t>$Y^2\le9$</a:t>
                </a:r>
                <a:r>
                  <a:rPr sz="2400" b="0">
                    <a:solidFill>
                      <a:srgbClr val="111827"/>
                    </a:solidFill>
                    <a:latin typeface="Arial"/>
                  </a:rPr>
                  <a:t> give </a:t>
                </a:r>
                <a:r>
                  <a:rPr lang="en-IN" sz="2400">
                    <a:solidFill>
                      <a:srgbClr val="111827"/>
                    </a:solidFill>
                    <a:latin typeface="Cambria Math" panose="02040503050406030204" pitchFamily="18" charset="0"/>
                  </a:rPr>
                  <a:t>$\le25&lt;36$</a:t>
                </a:r>
                <a:r>
                  <a:rPr sz="2400" b="0">
                    <a:solidFill>
                      <a:srgbClr val="111827"/>
                    </a:solidFill>
                    <a:latin typeface="Arial"/>
                  </a:rPr>
                  <a:t>, nothing excluded.</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$n(S\cap T)=31-4=27$</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27</a:t>
            </a:r>
            <a:endParaRPr sz="2800">
              <a:solidFill>
                <a:srgbClr val="15803D"/>
              </a:solidFill>
            </a:endParaRP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Shift the origin to the centre of the conic; the lattice then becomes </a:t>
                </a: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m:rPr>
                            <m:sty m:val="p"/>
                          </m:rPr>
                          <a:rPr lang="en-IN" sz="2400">
                            <a:solidFill>
                              <a:srgbClr val="111827"/>
                            </a:solidFill>
                            <a:latin typeface="Cambria Math" panose="02040503050406030204" pitchFamily="18" charset="0"/>
                          </a:rPr>
                          <m:t>min</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which makes row/column counts easy.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the circle (centre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radius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touches the lattice line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removes only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ellipse points, so count the ellipse and subtract the exceptions.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𝑋</m:t>
                            </m:r>
                          </m:e>
                          <m:sup>
                            <m:r>
                              <a:rPr lang="en-IN" sz="2400" i="1">
                                <a:solidFill>
                                  <a:srgbClr val="111827"/>
                                </a:solidFill>
                                <a:latin typeface="Cambria Math" panose="02040503050406030204" pitchFamily="18" charset="0"/>
                              </a:rPr>
                              <m:t>2</m:t>
                            </m:r>
                          </m:sup>
                        </m:sSup>
                      </m:num>
                      <m:den>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𝑌</m:t>
                            </m:r>
                          </m:e>
                          <m:sup>
                            <m:r>
                              <a:rPr lang="en-IN" sz="2400" i="1">
                                <a:solidFill>
                                  <a:srgbClr val="111827"/>
                                </a:solidFill>
                                <a:latin typeface="Cambria Math" panose="02040503050406030204" pitchFamily="18" charset="0"/>
                              </a:rPr>
                              <m:t>2</m:t>
                            </m:r>
                          </m:sup>
                        </m:sSup>
                      </m:num>
                      <m:den>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 column </a:t>
                </a: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has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e>
                    </m:ra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lattice points.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Shift the origin to the centre of the conic; the lattice then becomes </a:t>
                </a:r>
                <a:r>
                  <a:rPr lang="en-IN" sz="2400">
                    <a:solidFill>
                      <a:srgbClr val="111827"/>
                    </a:solidFill>
                    <a:latin typeface="Cambria Math" panose="02040503050406030204" pitchFamily="18" charset="0"/>
                  </a:rPr>
                  <a:t>$X\ge x_{\min}-3$</a:t>
                </a:r>
                <a:r>
                  <a:rPr sz="2400" b="0">
                    <a:solidFill>
                      <a:srgbClr val="111827"/>
                    </a:solidFill>
                    <a:latin typeface="Arial"/>
                  </a:rPr>
                  <a:t>, which makes row/column counts easy.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the circle (centre </a:t>
                </a:r>
                <a:r>
                  <a:rPr lang="en-IN" sz="2400">
                    <a:solidFill>
                      <a:srgbClr val="111827"/>
                    </a:solidFill>
                    <a:latin typeface="Cambria Math" panose="02040503050406030204" pitchFamily="18" charset="0"/>
                  </a:rPr>
                  <a:t>$(7,4)$</a:t>
                </a:r>
                <a:r>
                  <a:rPr sz="2400" b="0">
                    <a:solidFill>
                      <a:srgbClr val="111827"/>
                    </a:solidFill>
                    <a:latin typeface="Arial"/>
                  </a:rPr>
                  <a:t>, radius </a:t>
                </a:r>
                <a:r>
                  <a:rPr lang="en-IN" sz="2400">
                    <a:solidFill>
                      <a:srgbClr val="111827"/>
                    </a:solidFill>
                    <a:latin typeface="Cambria Math" panose="02040503050406030204" pitchFamily="18" charset="0"/>
                  </a:rPr>
                  <a:t>$6$</a:t>
                </a:r>
                <a:r>
                  <a:rPr sz="2400" b="0">
                    <a:solidFill>
                      <a:srgbClr val="111827"/>
                    </a:solidFill>
                    <a:latin typeface="Arial"/>
                  </a:rPr>
                  <a:t>) touches the lattice line </a:t>
                </a:r>
                <a:r>
                  <a:rPr lang="en-IN" sz="2400">
                    <a:solidFill>
                      <a:srgbClr val="111827"/>
                    </a:solidFill>
                    <a:latin typeface="Cambria Math" panose="02040503050406030204" pitchFamily="18" charset="0"/>
                  </a:rPr>
                  <a:t>$x=1$</a:t>
                </a:r>
                <a:r>
                  <a:rPr sz="2400" b="0">
                    <a:solidFill>
                      <a:srgbClr val="111827"/>
                    </a:solidFill>
                    <a:latin typeface="Arial"/>
                  </a:rPr>
                  <a:t> at </a:t>
                </a:r>
                <a:r>
                  <a:rPr lang="en-IN" sz="2400">
                    <a:solidFill>
                      <a:srgbClr val="111827"/>
                    </a:solidFill>
                    <a:latin typeface="Cambria Math" panose="02040503050406030204" pitchFamily="18" charset="0"/>
                  </a:rPr>
                  <a:t>$(1,4)$</a:t>
                </a:r>
                <a:r>
                  <a:rPr sz="2400" b="0">
                    <a:solidFill>
                      <a:srgbClr val="111827"/>
                    </a:solidFill>
                    <a:latin typeface="Arial"/>
                  </a:rPr>
                  <a:t> and removes only </a:t>
                </a:r>
                <a:r>
                  <a:rPr lang="en-IN" sz="2400">
                    <a:solidFill>
                      <a:srgbClr val="111827"/>
                    </a:solidFill>
                    <a:latin typeface="Cambria Math" panose="02040503050406030204" pitchFamily="18" charset="0"/>
                  </a:rPr>
                  <a:t>$4$</a:t>
                </a:r>
                <a:r>
                  <a:rPr sz="2400" b="0">
                    <a:solidFill>
                      <a:srgbClr val="111827"/>
                    </a:solidFill>
                    <a:latin typeface="Arial"/>
                  </a:rPr>
                  <a:t> ellipse points, so count the ellipse and subtract the exceptions.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$\frac{X^2}{a^2}+\frac{Y^2}{b^2}\le1$</a:t>
                </a:r>
                <a:r>
                  <a:rPr sz="2400" b="0">
                    <a:solidFill>
                      <a:srgbClr val="111827"/>
                    </a:solidFill>
                    <a:latin typeface="Arial"/>
                  </a:rPr>
                  <a:t> the column </a:t>
                </a:r>
                <a:r>
                  <a:rPr lang="en-IN" sz="2400">
                    <a:solidFill>
                      <a:srgbClr val="111827"/>
                    </a:solidFill>
                    <a:latin typeface="Cambria Math" panose="02040503050406030204" pitchFamily="18" charset="0"/>
                  </a:rPr>
                  <a:t>$X=k$</a:t>
                </a:r>
                <a:r>
                  <a:rPr sz="2400" b="0">
                    <a:solidFill>
                      <a:srgbClr val="111827"/>
                    </a:solidFill>
                    <a:latin typeface="Arial"/>
                  </a:rPr>
                  <a:t> has </a:t>
                </a:r>
                <a:r>
                  <a:rPr lang="en-IN" sz="2400">
                    <a:solidFill>
                      <a:srgbClr val="111827"/>
                    </a:solidFill>
                    <a:latin typeface="Cambria Math" panose="02040503050406030204" pitchFamily="18" charset="0"/>
                  </a:rPr>
                  <a:t>$2\lfloor b\sqrt{1-k^2/a^2}\rfloor+1$</a:t>
                </a:r>
                <a:r>
                  <a:rPr sz="2400" b="0">
                    <a:solidFill>
                      <a:srgbClr val="111827"/>
                    </a:solidFill>
                    <a:latin typeface="Arial"/>
                  </a:rPr>
                  <a:t> lattice points.</a:t>
                </a:r>
                <a:endParaRPr sz="2400">
                  <a:solidFill>
                    <a:srgbClr val="111827"/>
                  </a:solidFill>
                </a:endParaRPr>
              </a:p>
            </p:txBody>
          </p:sp>
        </mc:Fallback>
      </mc:AlternateContent>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(1/7)</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01</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02</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03</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04</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1.5</a:t>
                      </a:r>
                    </a:p>
                  </a:txBody>
                  <a:tcPr anchor="ctr" marL="91440" marR="91440">
                    <a:solidFill>
                      <a:srgbClr val="B6D7A8"/>
                    </a:solidFill>
                  </a:tcPr>
                </a:tc>
                <a:tc>
                  <a:txBody>
                    <a:bodyPr/>
                    <a:lstStyle/>
                    <a:p>
                      <a:pPr algn="l"/>
                      <a:r>
                        <a:rPr sz="2400" b="0">
                          <a:solidFill>
                            <a:srgbClr val="111827"/>
                          </a:solidFill>
                          <a:latin typeface="Arial"/>
                        </a:rPr>
                        <a:t>A little above JEE Main Level</a:t>
                      </a:r>
                    </a:p>
                  </a:txBody>
                  <a:tcPr anchor="ctr" marL="91440" marR="91440">
                    <a:solidFill>
                      <a:srgbClr val="B6D7A8"/>
                    </a:solidFill>
                  </a:tcPr>
                </a:tc>
              </a:tr>
              <a:tr h="868680">
                <a:tc>
                  <a:txBody>
                    <a:bodyPr/>
                    <a:lstStyle/>
                    <a:p>
                      <a:pPr algn="ctr"/>
                      <a:r>
                        <a:rPr sz="2400" b="1">
                          <a:solidFill>
                            <a:srgbClr val="111827"/>
                          </a:solidFill>
                          <a:latin typeface="Arial"/>
                        </a:rPr>
                        <a:t>05</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bl>
          </a:graphicData>
        </a:graphic>
      </p:graphicFrame>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(2/7)</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06</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2.5</a:t>
                      </a:r>
                    </a:p>
                  </a:txBody>
                  <a:tcPr anchor="ctr" marL="91440" marR="91440">
                    <a:solidFill>
                      <a:srgbClr val="FFD966"/>
                    </a:solidFill>
                  </a:tcPr>
                </a:tc>
                <a:tc>
                  <a:txBody>
                    <a:bodyPr/>
                    <a:lstStyle/>
                    <a:p>
                      <a:pPr algn="l"/>
                      <a:r>
                        <a:rPr sz="2400" b="0">
                          <a:solidFill>
                            <a:srgbClr val="111827"/>
                          </a:solidFill>
                          <a:latin typeface="Arial"/>
                        </a:rPr>
                        <a:t>A little easier than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07</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2.5</a:t>
                      </a:r>
                    </a:p>
                  </a:txBody>
                  <a:tcPr anchor="ctr" marL="91440" marR="91440">
                    <a:solidFill>
                      <a:srgbClr val="FFD966"/>
                    </a:solidFill>
                  </a:tcPr>
                </a:tc>
                <a:tc>
                  <a:txBody>
                    <a:bodyPr/>
                    <a:lstStyle/>
                    <a:p>
                      <a:pPr algn="l"/>
                      <a:r>
                        <a:rPr sz="2400" b="0">
                          <a:solidFill>
                            <a:srgbClr val="111827"/>
                          </a:solidFill>
                          <a:latin typeface="Arial"/>
                        </a:rPr>
                        <a:t>A little easier than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08</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2.5</a:t>
                      </a:r>
                    </a:p>
                  </a:txBody>
                  <a:tcPr anchor="ctr" marL="91440" marR="91440">
                    <a:solidFill>
                      <a:srgbClr val="FFD966"/>
                    </a:solidFill>
                  </a:tcPr>
                </a:tc>
                <a:tc>
                  <a:txBody>
                    <a:bodyPr/>
                    <a:lstStyle/>
                    <a:p>
                      <a:pPr algn="l"/>
                      <a:r>
                        <a:rPr sz="2400" b="0">
                          <a:solidFill>
                            <a:srgbClr val="111827"/>
                          </a:solidFill>
                          <a:latin typeface="Arial"/>
                        </a:rPr>
                        <a:t>A little easier than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09</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10</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bl>
          </a:graphicData>
        </a:graphic>
      </p:graphicFrame>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(3/7)</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11</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12</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13</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1.5</a:t>
                      </a:r>
                    </a:p>
                  </a:txBody>
                  <a:tcPr anchor="ctr" marL="91440" marR="91440">
                    <a:solidFill>
                      <a:srgbClr val="B6D7A8"/>
                    </a:solidFill>
                  </a:tcPr>
                </a:tc>
                <a:tc>
                  <a:txBody>
                    <a:bodyPr/>
                    <a:lstStyle/>
                    <a:p>
                      <a:pPr algn="l"/>
                      <a:r>
                        <a:rPr sz="2400" b="0">
                          <a:solidFill>
                            <a:srgbClr val="111827"/>
                          </a:solidFill>
                          <a:latin typeface="Arial"/>
                        </a:rPr>
                        <a:t>A little above JEE Main Level</a:t>
                      </a:r>
                    </a:p>
                  </a:txBody>
                  <a:tcPr anchor="ctr" marL="91440" marR="91440">
                    <a:solidFill>
                      <a:srgbClr val="B6D7A8"/>
                    </a:solidFill>
                  </a:tcPr>
                </a:tc>
              </a:tr>
              <a:tr h="868680">
                <a:tc>
                  <a:txBody>
                    <a:bodyPr/>
                    <a:lstStyle/>
                    <a:p>
                      <a:pPr algn="ctr"/>
                      <a:r>
                        <a:rPr sz="2400" b="1">
                          <a:solidFill>
                            <a:srgbClr val="111827"/>
                          </a:solidFill>
                          <a:latin typeface="Arial"/>
                        </a:rPr>
                        <a:t>14</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1.5</a:t>
                      </a:r>
                    </a:p>
                  </a:txBody>
                  <a:tcPr anchor="ctr" marL="91440" marR="91440">
                    <a:solidFill>
                      <a:srgbClr val="B6D7A8"/>
                    </a:solidFill>
                  </a:tcPr>
                </a:tc>
                <a:tc>
                  <a:txBody>
                    <a:bodyPr/>
                    <a:lstStyle/>
                    <a:p>
                      <a:pPr algn="l"/>
                      <a:r>
                        <a:rPr sz="2400" b="0">
                          <a:solidFill>
                            <a:srgbClr val="111827"/>
                          </a:solidFill>
                          <a:latin typeface="Arial"/>
                        </a:rPr>
                        <a:t>A little above JEE Main Level</a:t>
                      </a:r>
                    </a:p>
                  </a:txBody>
                  <a:tcPr anchor="ctr" marL="91440" marR="91440">
                    <a:solidFill>
                      <a:srgbClr val="B6D7A8"/>
                    </a:solidFill>
                  </a:tcPr>
                </a:tc>
              </a:tr>
              <a:tr h="868680">
                <a:tc>
                  <a:txBody>
                    <a:bodyPr/>
                    <a:lstStyle/>
                    <a:p>
                      <a:pPr algn="ctr"/>
                      <a:r>
                        <a:rPr sz="2400" b="1">
                          <a:solidFill>
                            <a:srgbClr val="111827"/>
                          </a:solidFill>
                          <a:latin typeface="Arial"/>
                        </a:rPr>
                        <a:t>15</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(4/7)</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16</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1.5</a:t>
                      </a:r>
                    </a:p>
                  </a:txBody>
                  <a:tcPr anchor="ctr" marL="91440" marR="91440">
                    <a:solidFill>
                      <a:srgbClr val="B6D7A8"/>
                    </a:solidFill>
                  </a:tcPr>
                </a:tc>
                <a:tc>
                  <a:txBody>
                    <a:bodyPr/>
                    <a:lstStyle/>
                    <a:p>
                      <a:pPr algn="l"/>
                      <a:r>
                        <a:rPr sz="2400" b="0">
                          <a:solidFill>
                            <a:srgbClr val="111827"/>
                          </a:solidFill>
                          <a:latin typeface="Arial"/>
                        </a:rPr>
                        <a:t>A little above JEE Main Level</a:t>
                      </a:r>
                    </a:p>
                  </a:txBody>
                  <a:tcPr anchor="ctr" marL="91440" marR="91440">
                    <a:solidFill>
                      <a:srgbClr val="B6D7A8"/>
                    </a:solidFill>
                  </a:tcPr>
                </a:tc>
              </a:tr>
              <a:tr h="868680">
                <a:tc>
                  <a:txBody>
                    <a:bodyPr/>
                    <a:lstStyle/>
                    <a:p>
                      <a:pPr algn="ctr"/>
                      <a:r>
                        <a:rPr sz="2400" b="1">
                          <a:solidFill>
                            <a:srgbClr val="111827"/>
                          </a:solidFill>
                          <a:latin typeface="Arial"/>
                        </a:rPr>
                        <a:t>17</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18</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2.5</a:t>
                      </a:r>
                    </a:p>
                  </a:txBody>
                  <a:tcPr anchor="ctr" marL="91440" marR="91440">
                    <a:solidFill>
                      <a:srgbClr val="FFD966"/>
                    </a:solidFill>
                  </a:tcPr>
                </a:tc>
                <a:tc>
                  <a:txBody>
                    <a:bodyPr/>
                    <a:lstStyle/>
                    <a:p>
                      <a:pPr algn="l"/>
                      <a:r>
                        <a:rPr sz="2400" b="0">
                          <a:solidFill>
                            <a:srgbClr val="111827"/>
                          </a:solidFill>
                          <a:latin typeface="Arial"/>
                        </a:rPr>
                        <a:t>A little easier than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19</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20</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(5/7)</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21</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22</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23</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24</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2.5</a:t>
                      </a:r>
                    </a:p>
                  </a:txBody>
                  <a:tcPr anchor="ctr" marL="91440" marR="91440">
                    <a:solidFill>
                      <a:srgbClr val="FFD966"/>
                    </a:solidFill>
                  </a:tcPr>
                </a:tc>
                <a:tc>
                  <a:txBody>
                    <a:bodyPr/>
                    <a:lstStyle/>
                    <a:p>
                      <a:pPr algn="l"/>
                      <a:r>
                        <a:rPr sz="2400" b="0">
                          <a:solidFill>
                            <a:srgbClr val="111827"/>
                          </a:solidFill>
                          <a:latin typeface="Arial"/>
                        </a:rPr>
                        <a:t>A little easier than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25</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2.5</a:t>
                      </a:r>
                    </a:p>
                  </a:txBody>
                  <a:tcPr anchor="ctr" marL="91440" marR="91440">
                    <a:solidFill>
                      <a:srgbClr val="FFD966"/>
                    </a:solidFill>
                  </a:tcPr>
                </a:tc>
                <a:tc>
                  <a:txBody>
                    <a:bodyPr/>
                    <a:lstStyle/>
                    <a:p>
                      <a:pPr algn="l"/>
                      <a:r>
                        <a:rPr sz="2400" b="0">
                          <a:solidFill>
                            <a:srgbClr val="111827"/>
                          </a:solidFill>
                          <a:latin typeface="Arial"/>
                        </a:rPr>
                        <a:t>A little easier than Average JEE Advanced Level</a:t>
                      </a:r>
                    </a:p>
                  </a:txBody>
                  <a:tcPr anchor="ctr" marL="91440" marR="91440">
                    <a:solidFill>
                      <a:srgbClr val="FFD966"/>
                    </a:solidFill>
                  </a:tcPr>
                </a:tc>
              </a:tr>
            </a:tbl>
          </a:graphicData>
        </a:graphic>
      </p:graphicFrame>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(6/7)</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26</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27</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28</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2.5</a:t>
                      </a:r>
                    </a:p>
                  </a:txBody>
                  <a:tcPr anchor="ctr" marL="91440" marR="91440">
                    <a:solidFill>
                      <a:srgbClr val="FFD966"/>
                    </a:solidFill>
                  </a:tcPr>
                </a:tc>
                <a:tc>
                  <a:txBody>
                    <a:bodyPr/>
                    <a:lstStyle/>
                    <a:p>
                      <a:pPr algn="l"/>
                      <a:r>
                        <a:rPr sz="2400" b="0">
                          <a:solidFill>
                            <a:srgbClr val="111827"/>
                          </a:solidFill>
                          <a:latin typeface="Arial"/>
                        </a:rPr>
                        <a:t>A little easier than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29</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3.5</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30</a:t>
                      </a:r>
                    </a:p>
                  </a:txBody>
                  <a:tcPr anchor="ctr" marL="91440" marR="91440">
                    <a:solidFill>
                      <a:srgbClr val="FFFFFF"/>
                    </a:solidFill>
                  </a:tcPr>
                </a:tc>
                <a:tc>
                  <a:txBody>
                    <a:bodyPr/>
                    <a:lstStyle/>
                    <a:p>
                      <a:pPr algn="l"/>
                      <a:r>
                        <a:rPr sz="2400" b="0">
                          <a:solidFill>
                            <a:srgbClr val="111827"/>
                          </a:solidFill>
                          <a:latin typeface="Arial"/>
                        </a:rPr>
                        <a:t>Single Correct</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(7/7)</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416052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31</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4</a:t>
                      </a:r>
                    </a:p>
                  </a:txBody>
                  <a:tcPr anchor="ctr" marL="91440" marR="91440">
                    <a:solidFill>
                      <a:srgbClr val="E88080"/>
                    </a:solidFill>
                  </a:tcPr>
                </a:tc>
                <a:tc>
                  <a:txBody>
                    <a:bodyPr/>
                    <a:lstStyle/>
                    <a:p>
                      <a:pPr algn="l"/>
                      <a:r>
                        <a:rPr sz="2400" b="0">
                          <a:solidFill>
                            <a:srgbClr val="111827"/>
                          </a:solidFill>
                          <a:latin typeface="Arial"/>
                        </a:rPr>
                        <a:t>A level above Average JEE Advanced Level</a:t>
                      </a:r>
                    </a:p>
                  </a:txBody>
                  <a:tcPr anchor="ctr" marL="91440" marR="91440">
                    <a:solidFill>
                      <a:srgbClr val="E88080"/>
                    </a:solidFill>
                  </a:tcPr>
                </a:tc>
              </a:tr>
              <a:tr h="868680">
                <a:tc>
                  <a:txBody>
                    <a:bodyPr/>
                    <a:lstStyle/>
                    <a:p>
                      <a:pPr algn="ctr"/>
                      <a:r>
                        <a:rPr sz="2400" b="1">
                          <a:solidFill>
                            <a:srgbClr val="111827"/>
                          </a:solidFill>
                          <a:latin typeface="Arial"/>
                        </a:rPr>
                        <a:t>32</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33</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34</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4</a:t>
                      </a:r>
                    </a:p>
                  </a:txBody>
                  <a:tcPr anchor="ctr" marL="91440" marR="91440">
                    <a:solidFill>
                      <a:srgbClr val="E88080"/>
                    </a:solidFill>
                  </a:tcPr>
                </a:tc>
                <a:tc>
                  <a:txBody>
                    <a:bodyPr/>
                    <a:lstStyle/>
                    <a:p>
                      <a:pPr algn="l"/>
                      <a:r>
                        <a:rPr sz="2400" b="0">
                          <a:solidFill>
                            <a:srgbClr val="111827"/>
                          </a:solidFill>
                          <a:latin typeface="Arial"/>
                        </a:rPr>
                        <a:t>A level above Average JEE Advanced Level</a:t>
                      </a:r>
                    </a:p>
                  </a:txBody>
                  <a:tcPr anchor="ctr" marL="91440" marR="91440">
                    <a:solidFill>
                      <a:srgbClr val="E88080"/>
                    </a:solidFill>
                  </a:tcPr>
                </a:tc>
              </a:tr>
            </a:tbl>
          </a:graphicData>
        </a:graphic>
      </p:graphicFrame>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a:t>
            </a:r>
            <a:endParaRPr sz="3200">
              <a:solidFill>
                <a:srgbClr val="FFFFFF"/>
              </a:solidFill>
            </a:endParaRPr>
          </a:p>
        </p:txBody>
      </p:sp>
      <p:sp>
        <p:nvSpPr>
          <p:cNvPr id="3" name="Rounded Rectangle 2"/>
          <p:cNvSpPr/>
          <p:nvPr/>
        </p:nvSpPr>
        <p:spPr>
          <a:xfrm>
            <a:off x="731520" y="1417320"/>
            <a:ext cx="4754880" cy="329184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37160" bIns="73152"/>
          <a:lstStyle>
            <a:lvl1pPr>
              <a:defRPr sz="3000">
                <a:solidFill>
                  <a:srgbClr val="0B1F3A"/>
                </a:solidFill>
              </a:defRPr>
            </a:lvl1pPr>
          </a:lstStyle>
          <a:p>
            <a:pPr algn="ctr">
              <a:defRPr sz="3000">
                <a:solidFill>
                  <a:srgbClr val="0B1F3A"/>
                </a:solidFill>
              </a:defRPr>
            </a:pPr>
            <a:r>
              <a:rPr sz="3000" b="1">
                <a:solidFill>
                  <a:srgbClr val="0B1F3A"/>
                </a:solidFill>
                <a:latin typeface="Arial"/>
              </a:rPr>
              <a:t>Difficulty Index</a:t>
            </a:r>
            <a:endParaRPr sz="3000">
              <a:solidFill>
                <a:srgbClr val="0B1F3A"/>
              </a:solidFill>
            </a:endParaRPr>
          </a:p>
          <a:p>
            <a:pPr algn="ctr">
              <a:defRPr sz="3000">
                <a:solidFill>
                  <a:srgbClr val="0B1F3A"/>
                </a:solidFill>
              </a:defRPr>
            </a:pPr>
            <a:r>
              <a:rPr sz="8800" b="1">
                <a:solidFill>
                  <a:srgbClr val="0B1F3A"/>
                </a:solidFill>
                <a:latin typeface="Arial"/>
              </a:rPr>
              <a:t>2.15</a:t>
            </a:r>
            <a:endParaRPr sz="3000">
              <a:solidFill>
                <a:srgbClr val="0B1F3A"/>
              </a:solidFill>
            </a:endParaRPr>
          </a:p>
          <a:p>
            <a:pPr algn="ctr">
              <a:defRPr sz="3000">
                <a:solidFill>
                  <a:srgbClr val="0B1F3A"/>
                </a:solidFill>
              </a:defRPr>
            </a:pPr>
            <a:r>
              <a:rPr sz="2400" b="0">
                <a:solidFill>
                  <a:srgbClr val="0B1F3A"/>
                </a:solidFill>
                <a:latin typeface="Arial"/>
              </a:rPr>
              <a:t>out of 5</a:t>
            </a:r>
            <a:endParaRPr sz="3000">
              <a:solidFill>
                <a:srgbClr val="0B1F3A"/>
              </a:solidFill>
            </a:endParaRPr>
          </a:p>
        </p:txBody>
      </p:sp>
      <p:sp>
        <p:nvSpPr>
          <p:cNvPr id="4" name="Rectangle 3"/>
          <p:cNvSpPr/>
          <p:nvPr/>
        </p:nvSpPr>
        <p:spPr>
          <a:xfrm>
            <a:off x="5852160" y="1417320"/>
            <a:ext cx="5605272" cy="603504"/>
          </a:xfrm>
          <a:prstGeom prst="rect">
            <a:avLst/>
          </a:prstGeom>
          <a:solidFill>
            <a:srgbClr val="93C47D"/>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JEE Main or easier:  11 questions</a:t>
            </a:r>
            <a:endParaRPr sz="2400">
              <a:solidFill>
                <a:srgbClr val="111827"/>
              </a:solidFill>
            </a:endParaRPr>
          </a:p>
        </p:txBody>
      </p:sp>
      <p:sp>
        <p:nvSpPr>
          <p:cNvPr id="5" name="Rectangle 4"/>
          <p:cNvSpPr/>
          <p:nvPr/>
        </p:nvSpPr>
        <p:spPr>
          <a:xfrm>
            <a:off x="5852160" y="2093976"/>
            <a:ext cx="5605272" cy="603504"/>
          </a:xfrm>
          <a:prstGeom prst="rect">
            <a:avLst/>
          </a:prstGeom>
          <a:solidFill>
            <a:srgbClr val="FFD966"/>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Below average:  15 questions</a:t>
            </a:r>
            <a:endParaRPr sz="2400">
              <a:solidFill>
                <a:srgbClr val="111827"/>
              </a:solidFill>
            </a:endParaRPr>
          </a:p>
        </p:txBody>
      </p:sp>
      <p:sp>
        <p:nvSpPr>
          <p:cNvPr id="6" name="Rectangle 5"/>
          <p:cNvSpPr/>
          <p:nvPr/>
        </p:nvSpPr>
        <p:spPr>
          <a:xfrm>
            <a:off x="5852160" y="2770632"/>
            <a:ext cx="5605272" cy="603504"/>
          </a:xfrm>
          <a:prstGeom prst="rect">
            <a:avLst/>
          </a:prstGeom>
          <a:solidFill>
            <a:srgbClr val="F6B26B"/>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Average Advanced:  6 questions</a:t>
            </a:r>
            <a:endParaRPr sz="2400">
              <a:solidFill>
                <a:srgbClr val="111827"/>
              </a:solidFill>
            </a:endParaRPr>
          </a:p>
        </p:txBody>
      </p:sp>
      <p:sp>
        <p:nvSpPr>
          <p:cNvPr id="7" name="Rectangle 6"/>
          <p:cNvSpPr/>
          <p:nvPr/>
        </p:nvSpPr>
        <p:spPr>
          <a:xfrm>
            <a:off x="5852160" y="3447288"/>
            <a:ext cx="5605272" cy="603504"/>
          </a:xfrm>
          <a:prstGeom prst="rect">
            <a:avLst/>
          </a:prstGeom>
          <a:solidFill>
            <a:srgbClr val="E88080"/>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Above average:  2 questions</a:t>
            </a:r>
            <a:endParaRPr sz="2400">
              <a:solidFill>
                <a:srgbClr val="111827"/>
              </a:solidFill>
            </a:endParaRPr>
          </a:p>
        </p:txBody>
      </p:sp>
      <p:sp>
        <p:nvSpPr>
          <p:cNvPr id="8" name="Rectangle 7"/>
          <p:cNvSpPr/>
          <p:nvPr/>
        </p:nvSpPr>
        <p:spPr>
          <a:xfrm>
            <a:off x="5852160" y="4123944"/>
            <a:ext cx="5605272" cy="603504"/>
          </a:xfrm>
          <a:prstGeom prst="rect">
            <a:avLst/>
          </a:prstGeom>
          <a:solidFill>
            <a:srgbClr val="CC4125"/>
          </a:solidFill>
          <a:ln w="19050">
            <a:solidFill>
              <a:srgbClr val="6B7280"/>
            </a:solidFill>
          </a:ln>
          <a:effectLst/>
        </p:spPr>
        <p:style>
          <a:lnRef idx="1">
            <a:schemeClr val="accent1"/>
          </a:lnRef>
          <a:fillRef idx="3">
            <a:schemeClr val="accent1"/>
          </a:fillRef>
          <a:effectRef idx="2">
            <a:schemeClr val="accent1"/>
          </a:effectRef>
          <a:fontRef idx="minor">
            <a:srgbClr val="FFFFFF"/>
          </a:fontRef>
        </p:style>
        <p:txBody>
          <a:bodyPr rtlCol="0" anchor="ctr" wrap="square" lIns="228600" rIns="228600" tIns="18288" bIns="73152"/>
          <a:lstStyle>
            <a:lvl1pPr>
              <a:defRPr sz="2400">
                <a:solidFill>
                  <a:srgbClr val="FFFFFF"/>
                </a:solidFill>
              </a:defRPr>
            </a:lvl1pPr>
          </a:lstStyle>
          <a:p>
            <a:pPr algn="l">
              <a:defRPr sz="2400">
                <a:solidFill>
                  <a:srgbClr val="FFFFFF"/>
                </a:solidFill>
              </a:defRPr>
            </a:pPr>
            <a:r>
              <a:rPr sz="2400" b="1">
                <a:solidFill>
                  <a:srgbClr val="FFFFFF"/>
                </a:solidFill>
                <a:latin typeface="Arial"/>
              </a:rPr>
              <a:t>Very difficult:  0 questions</a:t>
            </a:r>
            <a:endParaRPr sz="2400">
              <a:solidFill>
                <a:srgbClr val="FFFFFF"/>
              </a:solidFill>
            </a:endParaRPr>
          </a:p>
        </p:txBody>
      </p:sp>
      <p:sp>
        <p:nvSpPr>
          <p:cNvPr id="9" name="Rectangle 8"/>
          <p:cNvSpPr/>
          <p:nvPr/>
        </p:nvSpPr>
        <p:spPr>
          <a:xfrm>
            <a:off x="731520" y="5029200"/>
            <a:ext cx="10725912" cy="1097280"/>
          </a:xfrm>
          <a:prstGeom prst="rect">
            <a:avLst/>
          </a:prstGeom>
          <a:solidFill>
            <a:srgbClr val="FFFFFF"/>
          </a:solidFill>
          <a:ln w="19050">
            <a:no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ctr">
              <a:defRPr sz="2400">
                <a:solidFill>
                  <a:srgbClr val="111827"/>
                </a:solidFill>
              </a:defRPr>
            </a:pPr>
            <a:r>
              <a:rPr sz="2400" b="0">
                <a:solidFill>
                  <a:srgbClr val="111827"/>
                </a:solidFill>
                <a:latin typeface="Arial"/>
              </a:rPr>
              <a:t>Total: 34 questions, 136 marks.  Index = Σ(marks × level) ÷ Σ marks, on the 0-5 scale.</a:t>
            </a:r>
            <a:endParaRPr sz="2400">
              <a:solidFill>
                <a:srgbClr val="111827"/>
              </a:solidFill>
            </a:endParaRP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Difficulty Profile of the Paper</a:t>
            </a:r>
            <a:endParaRPr sz="3200">
              <a:solidFill>
                <a:srgbClr val="FFFFFF"/>
              </a:solidFill>
            </a:endParaRPr>
          </a:p>
        </p:txBody>
      </p:sp>
      <p:graphicFrame>
        <p:nvGraphicFramePr>
          <p:cNvPr id="3" name="Chart 2"/>
          <p:cNvGraphicFramePr>
            <a:graphicFrameLocks noGrp="1"/>
          </p:cNvGraphicFramePr>
          <p:nvPr/>
        </p:nvGraphicFramePr>
        <p:xfrm>
          <a:off x="457200" y="1280160"/>
          <a:ext cx="11274552" cy="5349240"/>
        </p:xfrm>
        <a:graphic>
          <a:graphicData uri="http://schemas.openxmlformats.org/drawingml/2006/chart">
            <c:chart xmlns:c="http://schemas.openxmlformats.org/drawingml/2006/chart" r:id="rId2"/>
          </a:graphicData>
        </a:graphic>
      </p:graphicFrame>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Comparison with JEE Advanced Papers</a:t>
            </a:r>
            <a:endParaRPr sz="3200">
              <a:solidFill>
                <a:srgbClr val="FFFFFF"/>
              </a:solidFill>
            </a:endParaRPr>
          </a:p>
        </p:txBody>
      </p:sp>
      <p:graphicFrame>
        <p:nvGraphicFramePr>
          <p:cNvPr id="3" name="Table 2"/>
          <p:cNvGraphicFramePr>
            <a:graphicFrameLocks noGrp="1"/>
          </p:cNvGraphicFramePr>
          <p:nvPr/>
        </p:nvGraphicFramePr>
        <p:xfrm>
          <a:off x="1661007" y="1371600"/>
          <a:ext cx="8869680" cy="4526280"/>
        </p:xfrm>
        <a:graphic>
          <a:graphicData uri="http://schemas.openxmlformats.org/drawingml/2006/table">
            <a:tbl>
              <a:tblPr firstRow="1" bandRow="1">
                <a:tableStyleId>{5C22544A-7EE6-4342-B048-85BDC9FD1C3A}</a:tableStyleId>
              </a:tblPr>
              <a:tblGrid>
                <a:gridCol w="5760720"/>
                <a:gridCol w="3108960"/>
              </a:tblGrid>
              <a:tr h="685800">
                <a:tc>
                  <a:txBody>
                    <a:bodyPr/>
                    <a:lstStyle/>
                    <a:p>
                      <a:pPr algn="ctr"/>
                      <a:r>
                        <a:rPr sz="2600" b="1">
                          <a:solidFill>
                            <a:srgbClr val="FFFFFF"/>
                          </a:solidFill>
                          <a:latin typeface="Arial"/>
                        </a:rPr>
                        <a:t>Paper</a:t>
                      </a:r>
                    </a:p>
                  </a:txBody>
                  <a:tcPr anchor="ctr" marL="137160" marR="137160">
                    <a:solidFill>
                      <a:srgbClr val="0B1F3A"/>
                    </a:solidFill>
                  </a:tcPr>
                </a:tc>
                <a:tc>
                  <a:txBody>
                    <a:bodyPr/>
                    <a:lstStyle/>
                    <a:p>
                      <a:pPr algn="ctr"/>
                      <a:r>
                        <a:rPr sz="2600" b="1">
                          <a:solidFill>
                            <a:srgbClr val="FFFFFF"/>
                          </a:solidFill>
                          <a:latin typeface="Arial"/>
                        </a:rPr>
                        <a:t>Difficulty Index</a:t>
                      </a:r>
                    </a:p>
                  </a:txBody>
                  <a:tcPr anchor="ctr" marL="137160" marR="137160">
                    <a:solidFill>
                      <a:srgbClr val="0B1F3A"/>
                    </a:solidFill>
                  </a:tcPr>
                </a:tc>
              </a:tr>
              <a:tr h="640080">
                <a:tc>
                  <a:txBody>
                    <a:bodyPr/>
                    <a:lstStyle/>
                    <a:p>
                      <a:pPr algn="l"/>
                      <a:r>
                        <a:rPr sz="2600" b="0">
                          <a:solidFill>
                            <a:srgbClr val="111827"/>
                          </a:solidFill>
                          <a:latin typeface="Arial"/>
                        </a:rPr>
                        <a:t>JEE Advanced 2021</a:t>
                      </a:r>
                    </a:p>
                  </a:txBody>
                  <a:tcPr anchor="ctr" marL="137160" marR="137160">
                    <a:solidFill>
                      <a:srgbClr val="FFFFFF"/>
                    </a:solidFill>
                  </a:tcPr>
                </a:tc>
                <a:tc>
                  <a:txBody>
                    <a:bodyPr/>
                    <a:lstStyle/>
                    <a:p>
                      <a:pPr algn="ctr"/>
                      <a:r>
                        <a:rPr sz="2600" b="1">
                          <a:solidFill>
                            <a:srgbClr val="111827"/>
                          </a:solidFill>
                          <a:latin typeface="Arial"/>
                        </a:rPr>
                        <a:t>2.76</a:t>
                      </a:r>
                    </a:p>
                  </a:txBody>
                  <a:tcPr anchor="ctr" marL="137160" marR="137160">
                    <a:solidFill>
                      <a:srgbClr val="FFFFFF"/>
                    </a:solidFill>
                  </a:tcPr>
                </a:tc>
              </a:tr>
              <a:tr h="640080">
                <a:tc>
                  <a:txBody>
                    <a:bodyPr/>
                    <a:lstStyle/>
                    <a:p>
                      <a:pPr algn="l"/>
                      <a:r>
                        <a:rPr sz="2600" b="0">
                          <a:solidFill>
                            <a:srgbClr val="111827"/>
                          </a:solidFill>
                          <a:latin typeface="Arial"/>
                        </a:rPr>
                        <a:t>JEE Advanced 2023</a:t>
                      </a:r>
                    </a:p>
                  </a:txBody>
                  <a:tcPr anchor="ctr" marL="137160" marR="137160">
                    <a:solidFill>
                      <a:srgbClr val="FFFFFF"/>
                    </a:solidFill>
                  </a:tcPr>
                </a:tc>
                <a:tc>
                  <a:txBody>
                    <a:bodyPr/>
                    <a:lstStyle/>
                    <a:p>
                      <a:pPr algn="ctr"/>
                      <a:r>
                        <a:rPr sz="2600" b="1">
                          <a:solidFill>
                            <a:srgbClr val="111827"/>
                          </a:solidFill>
                          <a:latin typeface="Arial"/>
                        </a:rPr>
                        <a:t>3.19</a:t>
                      </a:r>
                    </a:p>
                  </a:txBody>
                  <a:tcPr anchor="ctr" marL="137160" marR="137160">
                    <a:solidFill>
                      <a:srgbClr val="FFFFFF"/>
                    </a:solidFill>
                  </a:tcPr>
                </a:tc>
              </a:tr>
              <a:tr h="640080">
                <a:tc>
                  <a:txBody>
                    <a:bodyPr/>
                    <a:lstStyle/>
                    <a:p>
                      <a:pPr algn="l"/>
                      <a:r>
                        <a:rPr sz="2600" b="0">
                          <a:solidFill>
                            <a:srgbClr val="111827"/>
                          </a:solidFill>
                          <a:latin typeface="Arial"/>
                        </a:rPr>
                        <a:t>JEE Advanced 2024</a:t>
                      </a:r>
                    </a:p>
                  </a:txBody>
                  <a:tcPr anchor="ctr" marL="137160" marR="137160">
                    <a:solidFill>
                      <a:srgbClr val="FFFFFF"/>
                    </a:solidFill>
                  </a:tcPr>
                </a:tc>
                <a:tc>
                  <a:txBody>
                    <a:bodyPr/>
                    <a:lstStyle/>
                    <a:p>
                      <a:pPr algn="ctr"/>
                      <a:r>
                        <a:rPr sz="2600" b="1">
                          <a:solidFill>
                            <a:srgbClr val="111827"/>
                          </a:solidFill>
                          <a:latin typeface="Arial"/>
                        </a:rPr>
                        <a:t>2.59</a:t>
                      </a:r>
                    </a:p>
                  </a:txBody>
                  <a:tcPr anchor="ctr" marL="137160" marR="137160">
                    <a:solidFill>
                      <a:srgbClr val="FFFFFF"/>
                    </a:solidFill>
                  </a:tcPr>
                </a:tc>
              </a:tr>
              <a:tr h="640080">
                <a:tc>
                  <a:txBody>
                    <a:bodyPr/>
                    <a:lstStyle/>
                    <a:p>
                      <a:pPr algn="l"/>
                      <a:r>
                        <a:rPr sz="2600" b="0">
                          <a:solidFill>
                            <a:srgbClr val="111827"/>
                          </a:solidFill>
                          <a:latin typeface="Arial"/>
                        </a:rPr>
                        <a:t>JEE Advanced 2025</a:t>
                      </a:r>
                    </a:p>
                  </a:txBody>
                  <a:tcPr anchor="ctr" marL="137160" marR="137160">
                    <a:solidFill>
                      <a:srgbClr val="FFFFFF"/>
                    </a:solidFill>
                  </a:tcPr>
                </a:tc>
                <a:tc>
                  <a:txBody>
                    <a:bodyPr/>
                    <a:lstStyle/>
                    <a:p>
                      <a:pPr algn="ctr"/>
                      <a:r>
                        <a:rPr sz="2600" b="1">
                          <a:solidFill>
                            <a:srgbClr val="111827"/>
                          </a:solidFill>
                          <a:latin typeface="Arial"/>
                        </a:rPr>
                        <a:t>3.21</a:t>
                      </a:r>
                    </a:p>
                  </a:txBody>
                  <a:tcPr anchor="ctr" marL="137160" marR="137160">
                    <a:solidFill>
                      <a:srgbClr val="FFFFFF"/>
                    </a:solidFill>
                  </a:tcPr>
                </a:tc>
              </a:tr>
              <a:tr h="640080">
                <a:tc>
                  <a:txBody>
                    <a:bodyPr/>
                    <a:lstStyle/>
                    <a:p>
                      <a:pPr algn="l"/>
                      <a:r>
                        <a:rPr sz="2600" b="0">
                          <a:solidFill>
                            <a:srgbClr val="111827"/>
                          </a:solidFill>
                          <a:latin typeface="Arial"/>
                        </a:rPr>
                        <a:t>JEE Advanced 2026</a:t>
                      </a:r>
                    </a:p>
                  </a:txBody>
                  <a:tcPr anchor="ctr" marL="137160" marR="137160">
                    <a:solidFill>
                      <a:srgbClr val="FFFFFF"/>
                    </a:solidFill>
                  </a:tcPr>
                </a:tc>
                <a:tc>
                  <a:txBody>
                    <a:bodyPr/>
                    <a:lstStyle/>
                    <a:p>
                      <a:pPr algn="ctr"/>
                      <a:r>
                        <a:rPr sz="2600" b="1">
                          <a:solidFill>
                            <a:srgbClr val="111827"/>
                          </a:solidFill>
                          <a:latin typeface="Arial"/>
                        </a:rPr>
                        <a:t>3.02</a:t>
                      </a:r>
                    </a:p>
                  </a:txBody>
                  <a:tcPr anchor="ctr" marL="137160" marR="137160">
                    <a:solidFill>
                      <a:srgbClr val="FFFFFF"/>
                    </a:solidFill>
                  </a:tcPr>
                </a:tc>
              </a:tr>
              <a:tr h="640080">
                <a:tc>
                  <a:txBody>
                    <a:bodyPr/>
                    <a:lstStyle/>
                    <a:p>
                      <a:pPr algn="l"/>
                      <a:r>
                        <a:rPr sz="2600" b="1">
                          <a:solidFill>
                            <a:srgbClr val="0B1F3A"/>
                          </a:solidFill>
                          <a:latin typeface="Arial"/>
                        </a:rPr>
                        <a:t>Sets &amp; Relations XII Sheet · Set &amp; Relation (FCopy JM) · detailed solutions</a:t>
                      </a:r>
                    </a:p>
                  </a:txBody>
                  <a:tcPr anchor="ctr" marL="137160" marR="137160">
                    <a:solidFill>
                      <a:srgbClr val="E0ECFF"/>
                    </a:solidFill>
                  </a:tcPr>
                </a:tc>
                <a:tc>
                  <a:txBody>
                    <a:bodyPr/>
                    <a:lstStyle/>
                    <a:p>
                      <a:pPr algn="ctr"/>
                      <a:r>
                        <a:rPr sz="2600" b="1">
                          <a:solidFill>
                            <a:srgbClr val="0B1F3A"/>
                          </a:solidFill>
                          <a:latin typeface="Arial"/>
                        </a:rPr>
                        <a:t>2.15</a:t>
                      </a:r>
                    </a:p>
                  </a:txBody>
                  <a:tcPr anchor="ctr" marL="137160" marR="137160">
                    <a:solidFill>
                      <a:srgbClr val="E0ECFF"/>
                    </a:solidFill>
                  </a:tcPr>
                </a:tc>
              </a:tr>
            </a:tbl>
          </a:graphicData>
        </a:graphic>
      </p:graphicFrame>
      <p:sp>
        <p:nvSpPr>
          <p:cNvPr id="4" name="TextBox 3"/>
          <p:cNvSpPr txBox="1"/>
          <p:nvPr/>
        </p:nvSpPr>
        <p:spPr>
          <a:xfrm>
            <a:off x="731520" y="6080759"/>
            <a:ext cx="10725912" cy="457200"/>
          </a:xfrm>
          <a:prstGeom prst="rect">
            <a:avLst/>
          </a:prstGeom>
          <a:noFill/>
        </p:spPr>
        <p:txBody>
          <a:bodyPr wrap="none">
            <a:spAutoFit/>
          </a:bodyPr>
          <a:lstStyle>
            <a:lvl1pPr>
              <a:defRPr sz="2000">
                <a:solidFill>
                  <a:srgbClr val="111827"/>
                </a:solidFill>
              </a:defRPr>
            </a:lvl1pPr>
          </a:lstStyle>
          <a:p>
            <a:pPr algn="ctr">
              <a:defRPr sz="2000">
                <a:solidFill>
                  <a:srgbClr val="111827"/>
                </a:solidFill>
              </a:defRPr>
            </a:pPr>
            <a:r>
              <a:rPr sz="2000" b="0">
                <a:solidFill>
                  <a:srgbClr val="111827"/>
                </a:solidFill>
                <a:latin typeface="Arial"/>
              </a:rPr>
              <a:t>Marks-weighted difficulty index on the 0-5 scale</a:t>
            </a:r>
            <a:endParaRPr sz="2000">
              <a:solidFill>
                <a:srgbClr val="111827"/>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