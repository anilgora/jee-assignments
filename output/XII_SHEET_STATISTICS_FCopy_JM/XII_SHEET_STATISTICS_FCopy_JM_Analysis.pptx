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 id="443" r:id="rId195"/>
    <p:sldId id="444" r:id="rId196"/>
    <p:sldId id="445" r:id="rId197"/>
    <p:sldId id="446" r:id="rId198"/>
    <p:sldId id="447" r:id="rId199"/>
    <p:sldId id="448" r:id="rId200"/>
    <p:sldId id="449" r:id="rId201"/>
    <p:sldId id="450" r:id="rId202"/>
    <p:sldId id="451" r:id="rId203"/>
    <p:sldId id="452" r:id="rId204"/>
    <p:sldId id="453" r:id="rId205"/>
    <p:sldId id="454" r:id="rId206"/>
    <p:sldId id="455" r:id="rId207"/>
    <p:sldId id="456" r:id="rId208"/>
    <p:sldId id="457" r:id="rId209"/>
    <p:sldId id="458" r:id="rId210"/>
    <p:sldId id="459" r:id="rId211"/>
    <p:sldId id="460" r:id="rId212"/>
    <p:sldId id="461" r:id="rId213"/>
    <p:sldId id="462" r:id="rId214"/>
    <p:sldId id="463" r:id="rId215"/>
    <p:sldId id="464" r:id="rId216"/>
    <p:sldId id="465" r:id="rId217"/>
    <p:sldId id="466" r:id="rId218"/>
    <p:sldId id="467" r:id="rId219"/>
    <p:sldId id="468" r:id="rId220"/>
    <p:sldId id="469" r:id="rId221"/>
    <p:sldId id="470" r:id="rId222"/>
    <p:sldId id="471" r:id="rId223"/>
    <p:sldId id="472" r:id="rId224"/>
    <p:sldId id="473" r:id="rId225"/>
    <p:sldId id="474" r:id="rId226"/>
    <p:sldId id="475" r:id="rId227"/>
    <p:sldId id="476" r:id="rId228"/>
    <p:sldId id="477" r:id="rId229"/>
    <p:sldId id="478" r:id="rId230"/>
    <p:sldId id="479" r:id="rId231"/>
    <p:sldId id="480" r:id="rId232"/>
    <p:sldId id="481" r:id="rId233"/>
    <p:sldId id="482" r:id="rId234"/>
    <p:sldId id="483" r:id="rId235"/>
    <p:sldId id="484" r:id="rId236"/>
    <p:sldId id="485" r:id="rId237"/>
    <p:sldId id="486" r:id="rId238"/>
    <p:sldId id="487" r:id="rId239"/>
    <p:sldId id="488" r:id="rId240"/>
    <p:sldId id="489" r:id="rId241"/>
    <p:sldId id="490" r:id="rId242"/>
    <p:sldId id="491" r:id="rId243"/>
    <p:sldId id="492" r:id="rId244"/>
    <p:sldId id="493" r:id="rId245"/>
    <p:sldId id="494" r:id="rId246"/>
    <p:sldId id="495" r:id="rId247"/>
    <p:sldId id="496" r:id="rId248"/>
    <p:sldId id="497" r:id="rId249"/>
    <p:sldId id="498" r:id="rId250"/>
    <p:sldId id="499" r:id="rId251"/>
    <p:sldId id="500" r:id="rId252"/>
    <p:sldId id="501" r:id="rId253"/>
    <p:sldId id="502" r:id="rId254"/>
    <p:sldId id="503" r:id="rId255"/>
    <p:sldId id="504" r:id="rId256"/>
    <p:sldId id="505" r:id="rId257"/>
    <p:sldId id="506" r:id="rId258"/>
    <p:sldId id="507" r:id="rId259"/>
    <p:sldId id="508" r:id="rId260"/>
    <p:sldId id="509" r:id="rId261"/>
    <p:sldId id="510" r:id="rId262"/>
    <p:sldId id="511" r:id="rId263"/>
    <p:sldId id="512" r:id="rId264"/>
    <p:sldId id="513" r:id="rId265"/>
    <p:sldId id="514" r:id="rId266"/>
    <p:sldId id="515" r:id="rId267"/>
    <p:sldId id="516" r:id="rId268"/>
    <p:sldId id="517" r:id="rId269"/>
    <p:sldId id="518" r:id="rId270"/>
    <p:sldId id="519" r:id="rId271"/>
    <p:sldId id="520" r:id="rId272"/>
    <p:sldId id="521" r:id="rId273"/>
    <p:sldId id="522" r:id="rId274"/>
    <p:sldId id="523" r:id="rId275"/>
    <p:sldId id="524" r:id="rId276"/>
    <p:sldId id="525" r:id="rId277"/>
    <p:sldId id="526" r:id="rId278"/>
    <p:sldId id="527" r:id="rId279"/>
    <p:sldId id="528" r:id="rId280"/>
    <p:sldId id="529" r:id="rId281"/>
    <p:sldId id="530" r:id="rId282"/>
    <p:sldId id="531" r:id="rId283"/>
    <p:sldId id="532" r:id="rId284"/>
    <p:sldId id="533" r:id="rId285"/>
    <p:sldId id="534" r:id="rId286"/>
    <p:sldId id="535" r:id="rId287"/>
    <p:sldId id="536" r:id="rId288"/>
    <p:sldId id="537" r:id="rId289"/>
    <p:sldId id="538" r:id="rId290"/>
    <p:sldId id="539" r:id="rId291"/>
    <p:sldId id="540" r:id="rId292"/>
    <p:sldId id="541" r:id="rId293"/>
    <p:sldId id="542" r:id="rId294"/>
    <p:sldId id="543" r:id="rId295"/>
    <p:sldId id="544" r:id="rId296"/>
    <p:sldId id="545" r:id="rId297"/>
    <p:sldId id="546" r:id="rId298"/>
    <p:sldId id="547" r:id="rId299"/>
    <p:sldId id="548" r:id="rId300"/>
    <p:sldId id="549" r:id="rId301"/>
    <p:sldId id="550" r:id="rId302"/>
    <p:sldId id="551" r:id="rId303"/>
    <p:sldId id="552" r:id="rId304"/>
    <p:sldId id="553" r:id="rId305"/>
    <p:sldId id="554" r:id="rId306"/>
    <p:sldId id="555" r:id="rId307"/>
    <p:sldId id="556" r:id="rId308"/>
    <p:sldId id="557" r:id="rId309"/>
    <p:sldId id="558" r:id="rId310"/>
    <p:sldId id="559" r:id="rId311"/>
    <p:sldId id="560" r:id="rId312"/>
    <p:sldId id="561" r:id="rId313"/>
    <p:sldId id="562" r:id="rId314"/>
    <p:sldId id="563" r:id="rId315"/>
    <p:sldId id="564" r:id="rId316"/>
    <p:sldId id="565" r:id="rId317"/>
    <p:sldId id="566" r:id="rId318"/>
    <p:sldId id="567" r:id="rId319"/>
    <p:sldId id="568" r:id="rId320"/>
    <p:sldId id="569" r:id="rId321"/>
    <p:sldId id="570" r:id="rId322"/>
    <p:sldId id="571" r:id="rId323"/>
    <p:sldId id="572" r:id="rId324"/>
    <p:sldId id="573" r:id="rId325"/>
    <p:sldId id="574" r:id="rId326"/>
    <p:sldId id="575" r:id="rId327"/>
    <p:sldId id="576" r:id="rId328"/>
    <p:sldId id="577" r:id="rId329"/>
    <p:sldId id="578" r:id="rId330"/>
    <p:sldId id="579" r:id="rId331"/>
    <p:sldId id="580" r:id="rId332"/>
    <p:sldId id="581" r:id="rId333"/>
    <p:sldId id="582" r:id="rId334"/>
    <p:sldId id="583" r:id="rId335"/>
    <p:sldId id="584" r:id="rId336"/>
    <p:sldId id="585" r:id="rId337"/>
    <p:sldId id="586" r:id="rId338"/>
    <p:sldId id="587" r:id="rId339"/>
    <p:sldId id="588" r:id="rId340"/>
    <p:sldId id="589" r:id="rId341"/>
    <p:sldId id="590" r:id="rId342"/>
    <p:sldId id="591" r:id="rId343"/>
    <p:sldId id="592" r:id="rId344"/>
    <p:sldId id="593" r:id="rId345"/>
    <p:sldId id="594" r:id="rId346"/>
    <p:sldId id="595" r:id="rId347"/>
    <p:sldId id="596" r:id="rId348"/>
    <p:sldId id="597" r:id="rId349"/>
    <p:sldId id="598" r:id="rId350"/>
    <p:sldId id="599" r:id="rId351"/>
    <p:sldId id="600" r:id="rId352"/>
    <p:sldId id="601" r:id="rId353"/>
    <p:sldId id="602" r:id="rId354"/>
    <p:sldId id="603" r:id="rId355"/>
    <p:sldId id="604" r:id="rId356"/>
    <p:sldId id="605" r:id="rId357"/>
    <p:sldId id="606" r:id="rId35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 Id="rId183" Type="http://schemas.openxmlformats.org/officeDocument/2006/relationships/slide" Target="slides/slide176.xml"/><Relationship Id="rId184" Type="http://schemas.openxmlformats.org/officeDocument/2006/relationships/slide" Target="slides/slide177.xml"/><Relationship Id="rId185" Type="http://schemas.openxmlformats.org/officeDocument/2006/relationships/slide" Target="slides/slide178.xml"/><Relationship Id="rId186" Type="http://schemas.openxmlformats.org/officeDocument/2006/relationships/slide" Target="slides/slide179.xml"/><Relationship Id="rId187" Type="http://schemas.openxmlformats.org/officeDocument/2006/relationships/slide" Target="slides/slide180.xml"/><Relationship Id="rId188" Type="http://schemas.openxmlformats.org/officeDocument/2006/relationships/slide" Target="slides/slide181.xml"/><Relationship Id="rId189" Type="http://schemas.openxmlformats.org/officeDocument/2006/relationships/slide" Target="slides/slide182.xml"/><Relationship Id="rId190" Type="http://schemas.openxmlformats.org/officeDocument/2006/relationships/slide" Target="slides/slide183.xml"/><Relationship Id="rId191" Type="http://schemas.openxmlformats.org/officeDocument/2006/relationships/slide" Target="slides/slide184.xml"/><Relationship Id="rId192" Type="http://schemas.openxmlformats.org/officeDocument/2006/relationships/slide" Target="slides/slide185.xml"/><Relationship Id="rId193" Type="http://schemas.openxmlformats.org/officeDocument/2006/relationships/slide" Target="slides/slide186.xml"/><Relationship Id="rId194" Type="http://schemas.openxmlformats.org/officeDocument/2006/relationships/slide" Target="slides/slide187.xml"/><Relationship Id="rId195" Type="http://schemas.openxmlformats.org/officeDocument/2006/relationships/slide" Target="slides/slide188.xml"/><Relationship Id="rId196" Type="http://schemas.openxmlformats.org/officeDocument/2006/relationships/slide" Target="slides/slide189.xml"/><Relationship Id="rId197" Type="http://schemas.openxmlformats.org/officeDocument/2006/relationships/slide" Target="slides/slide190.xml"/><Relationship Id="rId198" Type="http://schemas.openxmlformats.org/officeDocument/2006/relationships/slide" Target="slides/slide191.xml"/><Relationship Id="rId199" Type="http://schemas.openxmlformats.org/officeDocument/2006/relationships/slide" Target="slides/slide192.xml"/><Relationship Id="rId200" Type="http://schemas.openxmlformats.org/officeDocument/2006/relationships/slide" Target="slides/slide193.xml"/><Relationship Id="rId201" Type="http://schemas.openxmlformats.org/officeDocument/2006/relationships/slide" Target="slides/slide194.xml"/><Relationship Id="rId202" Type="http://schemas.openxmlformats.org/officeDocument/2006/relationships/slide" Target="slides/slide195.xml"/><Relationship Id="rId203" Type="http://schemas.openxmlformats.org/officeDocument/2006/relationships/slide" Target="slides/slide196.xml"/><Relationship Id="rId204" Type="http://schemas.openxmlformats.org/officeDocument/2006/relationships/slide" Target="slides/slide197.xml"/><Relationship Id="rId205" Type="http://schemas.openxmlformats.org/officeDocument/2006/relationships/slide" Target="slides/slide198.xml"/><Relationship Id="rId206" Type="http://schemas.openxmlformats.org/officeDocument/2006/relationships/slide" Target="slides/slide199.xml"/><Relationship Id="rId207" Type="http://schemas.openxmlformats.org/officeDocument/2006/relationships/slide" Target="slides/slide200.xml"/><Relationship Id="rId208" Type="http://schemas.openxmlformats.org/officeDocument/2006/relationships/slide" Target="slides/slide201.xml"/><Relationship Id="rId209" Type="http://schemas.openxmlformats.org/officeDocument/2006/relationships/slide" Target="slides/slide202.xml"/><Relationship Id="rId210" Type="http://schemas.openxmlformats.org/officeDocument/2006/relationships/slide" Target="slides/slide203.xml"/><Relationship Id="rId211" Type="http://schemas.openxmlformats.org/officeDocument/2006/relationships/slide" Target="slides/slide204.xml"/><Relationship Id="rId212" Type="http://schemas.openxmlformats.org/officeDocument/2006/relationships/slide" Target="slides/slide205.xml"/><Relationship Id="rId213" Type="http://schemas.openxmlformats.org/officeDocument/2006/relationships/slide" Target="slides/slide206.xml"/><Relationship Id="rId214" Type="http://schemas.openxmlformats.org/officeDocument/2006/relationships/slide" Target="slides/slide207.xml"/><Relationship Id="rId215" Type="http://schemas.openxmlformats.org/officeDocument/2006/relationships/slide" Target="slides/slide208.xml"/><Relationship Id="rId216" Type="http://schemas.openxmlformats.org/officeDocument/2006/relationships/slide" Target="slides/slide209.xml"/><Relationship Id="rId217" Type="http://schemas.openxmlformats.org/officeDocument/2006/relationships/slide" Target="slides/slide210.xml"/><Relationship Id="rId218" Type="http://schemas.openxmlformats.org/officeDocument/2006/relationships/slide" Target="slides/slide211.xml"/><Relationship Id="rId219" Type="http://schemas.openxmlformats.org/officeDocument/2006/relationships/slide" Target="slides/slide212.xml"/><Relationship Id="rId220" Type="http://schemas.openxmlformats.org/officeDocument/2006/relationships/slide" Target="slides/slide213.xml"/><Relationship Id="rId221" Type="http://schemas.openxmlformats.org/officeDocument/2006/relationships/slide" Target="slides/slide214.xml"/><Relationship Id="rId222" Type="http://schemas.openxmlformats.org/officeDocument/2006/relationships/slide" Target="slides/slide215.xml"/><Relationship Id="rId223" Type="http://schemas.openxmlformats.org/officeDocument/2006/relationships/slide" Target="slides/slide216.xml"/><Relationship Id="rId224" Type="http://schemas.openxmlformats.org/officeDocument/2006/relationships/slide" Target="slides/slide217.xml"/><Relationship Id="rId225" Type="http://schemas.openxmlformats.org/officeDocument/2006/relationships/slide" Target="slides/slide218.xml"/><Relationship Id="rId226" Type="http://schemas.openxmlformats.org/officeDocument/2006/relationships/slide" Target="slides/slide219.xml"/><Relationship Id="rId227" Type="http://schemas.openxmlformats.org/officeDocument/2006/relationships/slide" Target="slides/slide220.xml"/><Relationship Id="rId228" Type="http://schemas.openxmlformats.org/officeDocument/2006/relationships/slide" Target="slides/slide221.xml"/><Relationship Id="rId229" Type="http://schemas.openxmlformats.org/officeDocument/2006/relationships/slide" Target="slides/slide222.xml"/><Relationship Id="rId230" Type="http://schemas.openxmlformats.org/officeDocument/2006/relationships/slide" Target="slides/slide223.xml"/><Relationship Id="rId231" Type="http://schemas.openxmlformats.org/officeDocument/2006/relationships/slide" Target="slides/slide224.xml"/><Relationship Id="rId232" Type="http://schemas.openxmlformats.org/officeDocument/2006/relationships/slide" Target="slides/slide225.xml"/><Relationship Id="rId233" Type="http://schemas.openxmlformats.org/officeDocument/2006/relationships/slide" Target="slides/slide226.xml"/><Relationship Id="rId234" Type="http://schemas.openxmlformats.org/officeDocument/2006/relationships/slide" Target="slides/slide227.xml"/><Relationship Id="rId235" Type="http://schemas.openxmlformats.org/officeDocument/2006/relationships/slide" Target="slides/slide228.xml"/><Relationship Id="rId236" Type="http://schemas.openxmlformats.org/officeDocument/2006/relationships/slide" Target="slides/slide229.xml"/><Relationship Id="rId237" Type="http://schemas.openxmlformats.org/officeDocument/2006/relationships/slide" Target="slides/slide230.xml"/><Relationship Id="rId238" Type="http://schemas.openxmlformats.org/officeDocument/2006/relationships/slide" Target="slides/slide231.xml"/><Relationship Id="rId239" Type="http://schemas.openxmlformats.org/officeDocument/2006/relationships/slide" Target="slides/slide232.xml"/><Relationship Id="rId240" Type="http://schemas.openxmlformats.org/officeDocument/2006/relationships/slide" Target="slides/slide233.xml"/><Relationship Id="rId241" Type="http://schemas.openxmlformats.org/officeDocument/2006/relationships/slide" Target="slides/slide234.xml"/><Relationship Id="rId242" Type="http://schemas.openxmlformats.org/officeDocument/2006/relationships/slide" Target="slides/slide235.xml"/><Relationship Id="rId243" Type="http://schemas.openxmlformats.org/officeDocument/2006/relationships/slide" Target="slides/slide236.xml"/><Relationship Id="rId244" Type="http://schemas.openxmlformats.org/officeDocument/2006/relationships/slide" Target="slides/slide237.xml"/><Relationship Id="rId245" Type="http://schemas.openxmlformats.org/officeDocument/2006/relationships/slide" Target="slides/slide238.xml"/><Relationship Id="rId246" Type="http://schemas.openxmlformats.org/officeDocument/2006/relationships/slide" Target="slides/slide239.xml"/><Relationship Id="rId247" Type="http://schemas.openxmlformats.org/officeDocument/2006/relationships/slide" Target="slides/slide240.xml"/><Relationship Id="rId248" Type="http://schemas.openxmlformats.org/officeDocument/2006/relationships/slide" Target="slides/slide241.xml"/><Relationship Id="rId249" Type="http://schemas.openxmlformats.org/officeDocument/2006/relationships/slide" Target="slides/slide242.xml"/><Relationship Id="rId250" Type="http://schemas.openxmlformats.org/officeDocument/2006/relationships/slide" Target="slides/slide243.xml"/><Relationship Id="rId251" Type="http://schemas.openxmlformats.org/officeDocument/2006/relationships/slide" Target="slides/slide244.xml"/><Relationship Id="rId252" Type="http://schemas.openxmlformats.org/officeDocument/2006/relationships/slide" Target="slides/slide245.xml"/><Relationship Id="rId253" Type="http://schemas.openxmlformats.org/officeDocument/2006/relationships/slide" Target="slides/slide246.xml"/><Relationship Id="rId254" Type="http://schemas.openxmlformats.org/officeDocument/2006/relationships/slide" Target="slides/slide247.xml"/><Relationship Id="rId255" Type="http://schemas.openxmlformats.org/officeDocument/2006/relationships/slide" Target="slides/slide248.xml"/><Relationship Id="rId256" Type="http://schemas.openxmlformats.org/officeDocument/2006/relationships/slide" Target="slides/slide249.xml"/><Relationship Id="rId257" Type="http://schemas.openxmlformats.org/officeDocument/2006/relationships/slide" Target="slides/slide250.xml"/><Relationship Id="rId258" Type="http://schemas.openxmlformats.org/officeDocument/2006/relationships/slide" Target="slides/slide251.xml"/><Relationship Id="rId259" Type="http://schemas.openxmlformats.org/officeDocument/2006/relationships/slide" Target="slides/slide252.xml"/><Relationship Id="rId260" Type="http://schemas.openxmlformats.org/officeDocument/2006/relationships/slide" Target="slides/slide253.xml"/><Relationship Id="rId261" Type="http://schemas.openxmlformats.org/officeDocument/2006/relationships/slide" Target="slides/slide254.xml"/><Relationship Id="rId262" Type="http://schemas.openxmlformats.org/officeDocument/2006/relationships/slide" Target="slides/slide255.xml"/><Relationship Id="rId263" Type="http://schemas.openxmlformats.org/officeDocument/2006/relationships/slide" Target="slides/slide256.xml"/><Relationship Id="rId264" Type="http://schemas.openxmlformats.org/officeDocument/2006/relationships/slide" Target="slides/slide257.xml"/><Relationship Id="rId265" Type="http://schemas.openxmlformats.org/officeDocument/2006/relationships/slide" Target="slides/slide258.xml"/><Relationship Id="rId266" Type="http://schemas.openxmlformats.org/officeDocument/2006/relationships/slide" Target="slides/slide259.xml"/><Relationship Id="rId267" Type="http://schemas.openxmlformats.org/officeDocument/2006/relationships/slide" Target="slides/slide260.xml"/><Relationship Id="rId268" Type="http://schemas.openxmlformats.org/officeDocument/2006/relationships/slide" Target="slides/slide261.xml"/><Relationship Id="rId269" Type="http://schemas.openxmlformats.org/officeDocument/2006/relationships/slide" Target="slides/slide262.xml"/><Relationship Id="rId270" Type="http://schemas.openxmlformats.org/officeDocument/2006/relationships/slide" Target="slides/slide263.xml"/><Relationship Id="rId271" Type="http://schemas.openxmlformats.org/officeDocument/2006/relationships/slide" Target="slides/slide264.xml"/><Relationship Id="rId272" Type="http://schemas.openxmlformats.org/officeDocument/2006/relationships/slide" Target="slides/slide265.xml"/><Relationship Id="rId273" Type="http://schemas.openxmlformats.org/officeDocument/2006/relationships/slide" Target="slides/slide266.xml"/><Relationship Id="rId274" Type="http://schemas.openxmlformats.org/officeDocument/2006/relationships/slide" Target="slides/slide267.xml"/><Relationship Id="rId275" Type="http://schemas.openxmlformats.org/officeDocument/2006/relationships/slide" Target="slides/slide268.xml"/><Relationship Id="rId276" Type="http://schemas.openxmlformats.org/officeDocument/2006/relationships/slide" Target="slides/slide269.xml"/><Relationship Id="rId277" Type="http://schemas.openxmlformats.org/officeDocument/2006/relationships/slide" Target="slides/slide270.xml"/><Relationship Id="rId278" Type="http://schemas.openxmlformats.org/officeDocument/2006/relationships/slide" Target="slides/slide271.xml"/><Relationship Id="rId279" Type="http://schemas.openxmlformats.org/officeDocument/2006/relationships/slide" Target="slides/slide272.xml"/><Relationship Id="rId280" Type="http://schemas.openxmlformats.org/officeDocument/2006/relationships/slide" Target="slides/slide273.xml"/><Relationship Id="rId281" Type="http://schemas.openxmlformats.org/officeDocument/2006/relationships/slide" Target="slides/slide274.xml"/><Relationship Id="rId282" Type="http://schemas.openxmlformats.org/officeDocument/2006/relationships/slide" Target="slides/slide275.xml"/><Relationship Id="rId283" Type="http://schemas.openxmlformats.org/officeDocument/2006/relationships/slide" Target="slides/slide276.xml"/><Relationship Id="rId284" Type="http://schemas.openxmlformats.org/officeDocument/2006/relationships/slide" Target="slides/slide277.xml"/><Relationship Id="rId285" Type="http://schemas.openxmlformats.org/officeDocument/2006/relationships/slide" Target="slides/slide278.xml"/><Relationship Id="rId286" Type="http://schemas.openxmlformats.org/officeDocument/2006/relationships/slide" Target="slides/slide279.xml"/><Relationship Id="rId287" Type="http://schemas.openxmlformats.org/officeDocument/2006/relationships/slide" Target="slides/slide280.xml"/><Relationship Id="rId288" Type="http://schemas.openxmlformats.org/officeDocument/2006/relationships/slide" Target="slides/slide281.xml"/><Relationship Id="rId289" Type="http://schemas.openxmlformats.org/officeDocument/2006/relationships/slide" Target="slides/slide282.xml"/><Relationship Id="rId290" Type="http://schemas.openxmlformats.org/officeDocument/2006/relationships/slide" Target="slides/slide283.xml"/><Relationship Id="rId291" Type="http://schemas.openxmlformats.org/officeDocument/2006/relationships/slide" Target="slides/slide284.xml"/><Relationship Id="rId292" Type="http://schemas.openxmlformats.org/officeDocument/2006/relationships/slide" Target="slides/slide285.xml"/><Relationship Id="rId293" Type="http://schemas.openxmlformats.org/officeDocument/2006/relationships/slide" Target="slides/slide286.xml"/><Relationship Id="rId294" Type="http://schemas.openxmlformats.org/officeDocument/2006/relationships/slide" Target="slides/slide287.xml"/><Relationship Id="rId295" Type="http://schemas.openxmlformats.org/officeDocument/2006/relationships/slide" Target="slides/slide288.xml"/><Relationship Id="rId296" Type="http://schemas.openxmlformats.org/officeDocument/2006/relationships/slide" Target="slides/slide289.xml"/><Relationship Id="rId297" Type="http://schemas.openxmlformats.org/officeDocument/2006/relationships/slide" Target="slides/slide290.xml"/><Relationship Id="rId298" Type="http://schemas.openxmlformats.org/officeDocument/2006/relationships/slide" Target="slides/slide291.xml"/><Relationship Id="rId299" Type="http://schemas.openxmlformats.org/officeDocument/2006/relationships/slide" Target="slides/slide292.xml"/><Relationship Id="rId300" Type="http://schemas.openxmlformats.org/officeDocument/2006/relationships/slide" Target="slides/slide293.xml"/><Relationship Id="rId301" Type="http://schemas.openxmlformats.org/officeDocument/2006/relationships/slide" Target="slides/slide294.xml"/><Relationship Id="rId302" Type="http://schemas.openxmlformats.org/officeDocument/2006/relationships/slide" Target="slides/slide295.xml"/><Relationship Id="rId303" Type="http://schemas.openxmlformats.org/officeDocument/2006/relationships/slide" Target="slides/slide296.xml"/><Relationship Id="rId304" Type="http://schemas.openxmlformats.org/officeDocument/2006/relationships/slide" Target="slides/slide297.xml"/><Relationship Id="rId305" Type="http://schemas.openxmlformats.org/officeDocument/2006/relationships/slide" Target="slides/slide298.xml"/><Relationship Id="rId306" Type="http://schemas.openxmlformats.org/officeDocument/2006/relationships/slide" Target="slides/slide299.xml"/><Relationship Id="rId307" Type="http://schemas.openxmlformats.org/officeDocument/2006/relationships/slide" Target="slides/slide300.xml"/><Relationship Id="rId308" Type="http://schemas.openxmlformats.org/officeDocument/2006/relationships/slide" Target="slides/slide301.xml"/><Relationship Id="rId309" Type="http://schemas.openxmlformats.org/officeDocument/2006/relationships/slide" Target="slides/slide302.xml"/><Relationship Id="rId310" Type="http://schemas.openxmlformats.org/officeDocument/2006/relationships/slide" Target="slides/slide303.xml"/><Relationship Id="rId311" Type="http://schemas.openxmlformats.org/officeDocument/2006/relationships/slide" Target="slides/slide304.xml"/><Relationship Id="rId312" Type="http://schemas.openxmlformats.org/officeDocument/2006/relationships/slide" Target="slides/slide305.xml"/><Relationship Id="rId313" Type="http://schemas.openxmlformats.org/officeDocument/2006/relationships/slide" Target="slides/slide306.xml"/><Relationship Id="rId314" Type="http://schemas.openxmlformats.org/officeDocument/2006/relationships/slide" Target="slides/slide307.xml"/><Relationship Id="rId315" Type="http://schemas.openxmlformats.org/officeDocument/2006/relationships/slide" Target="slides/slide308.xml"/><Relationship Id="rId316" Type="http://schemas.openxmlformats.org/officeDocument/2006/relationships/slide" Target="slides/slide309.xml"/><Relationship Id="rId317" Type="http://schemas.openxmlformats.org/officeDocument/2006/relationships/slide" Target="slides/slide310.xml"/><Relationship Id="rId318" Type="http://schemas.openxmlformats.org/officeDocument/2006/relationships/slide" Target="slides/slide311.xml"/><Relationship Id="rId319" Type="http://schemas.openxmlformats.org/officeDocument/2006/relationships/slide" Target="slides/slide312.xml"/><Relationship Id="rId320" Type="http://schemas.openxmlformats.org/officeDocument/2006/relationships/slide" Target="slides/slide313.xml"/><Relationship Id="rId321" Type="http://schemas.openxmlformats.org/officeDocument/2006/relationships/slide" Target="slides/slide314.xml"/><Relationship Id="rId322" Type="http://schemas.openxmlformats.org/officeDocument/2006/relationships/slide" Target="slides/slide315.xml"/><Relationship Id="rId323" Type="http://schemas.openxmlformats.org/officeDocument/2006/relationships/slide" Target="slides/slide316.xml"/><Relationship Id="rId324" Type="http://schemas.openxmlformats.org/officeDocument/2006/relationships/slide" Target="slides/slide317.xml"/><Relationship Id="rId325" Type="http://schemas.openxmlformats.org/officeDocument/2006/relationships/slide" Target="slides/slide318.xml"/><Relationship Id="rId326" Type="http://schemas.openxmlformats.org/officeDocument/2006/relationships/slide" Target="slides/slide319.xml"/><Relationship Id="rId327" Type="http://schemas.openxmlformats.org/officeDocument/2006/relationships/slide" Target="slides/slide320.xml"/><Relationship Id="rId328" Type="http://schemas.openxmlformats.org/officeDocument/2006/relationships/slide" Target="slides/slide321.xml"/><Relationship Id="rId329" Type="http://schemas.openxmlformats.org/officeDocument/2006/relationships/slide" Target="slides/slide322.xml"/><Relationship Id="rId330" Type="http://schemas.openxmlformats.org/officeDocument/2006/relationships/slide" Target="slides/slide323.xml"/><Relationship Id="rId331" Type="http://schemas.openxmlformats.org/officeDocument/2006/relationships/slide" Target="slides/slide324.xml"/><Relationship Id="rId332" Type="http://schemas.openxmlformats.org/officeDocument/2006/relationships/slide" Target="slides/slide325.xml"/><Relationship Id="rId333" Type="http://schemas.openxmlformats.org/officeDocument/2006/relationships/slide" Target="slides/slide326.xml"/><Relationship Id="rId334" Type="http://schemas.openxmlformats.org/officeDocument/2006/relationships/slide" Target="slides/slide327.xml"/><Relationship Id="rId335" Type="http://schemas.openxmlformats.org/officeDocument/2006/relationships/slide" Target="slides/slide328.xml"/><Relationship Id="rId336" Type="http://schemas.openxmlformats.org/officeDocument/2006/relationships/slide" Target="slides/slide329.xml"/><Relationship Id="rId337" Type="http://schemas.openxmlformats.org/officeDocument/2006/relationships/slide" Target="slides/slide330.xml"/><Relationship Id="rId338" Type="http://schemas.openxmlformats.org/officeDocument/2006/relationships/slide" Target="slides/slide331.xml"/><Relationship Id="rId339" Type="http://schemas.openxmlformats.org/officeDocument/2006/relationships/slide" Target="slides/slide332.xml"/><Relationship Id="rId340" Type="http://schemas.openxmlformats.org/officeDocument/2006/relationships/slide" Target="slides/slide333.xml"/><Relationship Id="rId341" Type="http://schemas.openxmlformats.org/officeDocument/2006/relationships/slide" Target="slides/slide334.xml"/><Relationship Id="rId342" Type="http://schemas.openxmlformats.org/officeDocument/2006/relationships/slide" Target="slides/slide335.xml"/><Relationship Id="rId343" Type="http://schemas.openxmlformats.org/officeDocument/2006/relationships/slide" Target="slides/slide336.xml"/><Relationship Id="rId344" Type="http://schemas.openxmlformats.org/officeDocument/2006/relationships/slide" Target="slides/slide337.xml"/><Relationship Id="rId345" Type="http://schemas.openxmlformats.org/officeDocument/2006/relationships/slide" Target="slides/slide338.xml"/><Relationship Id="rId346" Type="http://schemas.openxmlformats.org/officeDocument/2006/relationships/slide" Target="slides/slide339.xml"/><Relationship Id="rId347" Type="http://schemas.openxmlformats.org/officeDocument/2006/relationships/slide" Target="slides/slide340.xml"/><Relationship Id="rId348" Type="http://schemas.openxmlformats.org/officeDocument/2006/relationships/slide" Target="slides/slide341.xml"/><Relationship Id="rId349" Type="http://schemas.openxmlformats.org/officeDocument/2006/relationships/slide" Target="slides/slide342.xml"/><Relationship Id="rId350" Type="http://schemas.openxmlformats.org/officeDocument/2006/relationships/slide" Target="slides/slide343.xml"/><Relationship Id="rId351" Type="http://schemas.openxmlformats.org/officeDocument/2006/relationships/slide" Target="slides/slide344.xml"/><Relationship Id="rId352" Type="http://schemas.openxmlformats.org/officeDocument/2006/relationships/slide" Target="slides/slide345.xml"/><Relationship Id="rId353" Type="http://schemas.openxmlformats.org/officeDocument/2006/relationships/slide" Target="slides/slide346.xml"/><Relationship Id="rId354" Type="http://schemas.openxmlformats.org/officeDocument/2006/relationships/slide" Target="slides/slide347.xml"/><Relationship Id="rId355" Type="http://schemas.openxmlformats.org/officeDocument/2006/relationships/slide" Target="slides/slide348.xml"/><Relationship Id="rId356" Type="http://schemas.openxmlformats.org/officeDocument/2006/relationships/slide" Target="slides/slide349.xml"/><Relationship Id="rId357" Type="http://schemas.openxmlformats.org/officeDocument/2006/relationships/slide" Target="slides/slide350.xml"/><Relationship Id="rId358" Type="http://schemas.openxmlformats.org/officeDocument/2006/relationships/slide" Target="slides/slide35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Level</c:v>
                </c:pt>
              </c:strCache>
            </c:strRef>
          </c:tx>
          <c:dPt>
            <c:idx val="0"/>
            <c:spPr>
              <a:solidFill>
                <a:srgbClr val="B6D7A8"/>
              </a:solidFill>
              <a:ln w="9525">
                <a:solidFill>
                  <a:srgbClr val="111827"/>
                </a:solidFill>
              </a:ln>
            </c:spPr>
          </c:dPt>
          <c:dPt>
            <c:idx val="1"/>
            <c:spPr>
              <a:solidFill>
                <a:srgbClr val="B6D7A8"/>
              </a:solidFill>
              <a:ln w="9525">
                <a:solidFill>
                  <a:srgbClr val="111827"/>
                </a:solidFill>
              </a:ln>
            </c:spPr>
          </c:dPt>
          <c:dPt>
            <c:idx val="2"/>
            <c:spPr>
              <a:solidFill>
                <a:srgbClr val="FFD966"/>
              </a:solidFill>
              <a:ln w="9525">
                <a:solidFill>
                  <a:srgbClr val="111827"/>
                </a:solidFill>
              </a:ln>
            </c:spPr>
          </c:dPt>
          <c:dPt>
            <c:idx val="3"/>
            <c:spPr>
              <a:solidFill>
                <a:srgbClr val="FFD966"/>
              </a:solidFill>
              <a:ln w="9525">
                <a:solidFill>
                  <a:srgbClr val="111827"/>
                </a:solidFill>
              </a:ln>
            </c:spPr>
          </c:dPt>
          <c:dPt>
            <c:idx val="4"/>
            <c:spPr>
              <a:solidFill>
                <a:srgbClr val="B6D7A8"/>
              </a:solidFill>
              <a:ln w="9525">
                <a:solidFill>
                  <a:srgbClr val="111827"/>
                </a:solidFill>
              </a:ln>
            </c:spPr>
          </c:dPt>
          <c:dPt>
            <c:idx val="5"/>
            <c:spPr>
              <a:solidFill>
                <a:srgbClr val="B6D7A8"/>
              </a:solidFill>
              <a:ln w="9525">
                <a:solidFill>
                  <a:srgbClr val="111827"/>
                </a:solidFill>
              </a:ln>
            </c:spPr>
          </c:dPt>
          <c:dPt>
            <c:idx val="6"/>
            <c:spPr>
              <a:solidFill>
                <a:srgbClr val="FFD966"/>
              </a:solidFill>
              <a:ln w="9525">
                <a:solidFill>
                  <a:srgbClr val="111827"/>
                </a:solidFill>
              </a:ln>
            </c:spPr>
          </c:dPt>
          <c:dPt>
            <c:idx val="7"/>
            <c:spPr>
              <a:solidFill>
                <a:srgbClr val="B6D7A8"/>
              </a:solidFill>
              <a:ln w="9525">
                <a:solidFill>
                  <a:srgbClr val="111827"/>
                </a:solidFill>
              </a:ln>
            </c:spPr>
          </c:dPt>
          <c:dPt>
            <c:idx val="8"/>
            <c:spPr>
              <a:solidFill>
                <a:srgbClr val="B6D7A8"/>
              </a:solidFill>
              <a:ln w="9525">
                <a:solidFill>
                  <a:srgbClr val="111827"/>
                </a:solidFill>
              </a:ln>
            </c:spPr>
          </c:dPt>
          <c:dPt>
            <c:idx val="9"/>
            <c:spPr>
              <a:solidFill>
                <a:srgbClr val="FFD966"/>
              </a:solidFill>
              <a:ln w="9525">
                <a:solidFill>
                  <a:srgbClr val="111827"/>
                </a:solidFill>
              </a:ln>
            </c:spPr>
          </c:dPt>
          <c:dPt>
            <c:idx val="10"/>
            <c:spPr>
              <a:solidFill>
                <a:srgbClr val="FFD966"/>
              </a:solidFill>
              <a:ln w="9525">
                <a:solidFill>
                  <a:srgbClr val="111827"/>
                </a:solidFill>
              </a:ln>
            </c:spPr>
          </c:dPt>
          <c:dPt>
            <c:idx val="11"/>
            <c:spPr>
              <a:solidFill>
                <a:srgbClr val="FFD966"/>
              </a:solidFill>
              <a:ln w="9525">
                <a:solidFill>
                  <a:srgbClr val="111827"/>
                </a:solidFill>
              </a:ln>
            </c:spPr>
          </c:dPt>
          <c:dPt>
            <c:idx val="12"/>
            <c:spPr>
              <a:solidFill>
                <a:srgbClr val="FFD966"/>
              </a:solidFill>
              <a:ln w="9525">
                <a:solidFill>
                  <a:srgbClr val="111827"/>
                </a:solidFill>
              </a:ln>
            </c:spPr>
          </c:dPt>
          <c:dPt>
            <c:idx val="13"/>
            <c:spPr>
              <a:solidFill>
                <a:srgbClr val="FFD966"/>
              </a:solidFill>
              <a:ln w="9525">
                <a:solidFill>
                  <a:srgbClr val="111827"/>
                </a:solidFill>
              </a:ln>
            </c:spPr>
          </c:dPt>
          <c:dPt>
            <c:idx val="14"/>
            <c:spPr>
              <a:solidFill>
                <a:srgbClr val="B6D7A8"/>
              </a:solidFill>
              <a:ln w="9525">
                <a:solidFill>
                  <a:srgbClr val="111827"/>
                </a:solidFill>
              </a:ln>
            </c:spPr>
          </c:dPt>
          <c:dPt>
            <c:idx val="15"/>
            <c:spPr>
              <a:solidFill>
                <a:srgbClr val="B6D7A8"/>
              </a:solidFill>
              <a:ln w="9525">
                <a:solidFill>
                  <a:srgbClr val="111827"/>
                </a:solidFill>
              </a:ln>
            </c:spPr>
          </c:dPt>
          <c:dPt>
            <c:idx val="16"/>
            <c:spPr>
              <a:solidFill>
                <a:srgbClr val="B6D7A8"/>
              </a:solidFill>
              <a:ln w="9525">
                <a:solidFill>
                  <a:srgbClr val="111827"/>
                </a:solidFill>
              </a:ln>
            </c:spPr>
          </c:dPt>
          <c:dPt>
            <c:idx val="17"/>
            <c:spPr>
              <a:solidFill>
                <a:srgbClr val="B6D7A8"/>
              </a:solidFill>
              <a:ln w="9525">
                <a:solidFill>
                  <a:srgbClr val="111827"/>
                </a:solidFill>
              </a:ln>
            </c:spPr>
          </c:dPt>
          <c:dPt>
            <c:idx val="18"/>
            <c:spPr>
              <a:solidFill>
                <a:srgbClr val="B6D7A8"/>
              </a:solidFill>
              <a:ln w="9525">
                <a:solidFill>
                  <a:srgbClr val="111827"/>
                </a:solidFill>
              </a:ln>
            </c:spPr>
          </c:dPt>
          <c:dPt>
            <c:idx val="19"/>
            <c:spPr>
              <a:solidFill>
                <a:srgbClr val="FFD966"/>
              </a:solidFill>
              <a:ln w="9525">
                <a:solidFill>
                  <a:srgbClr val="111827"/>
                </a:solidFill>
              </a:ln>
            </c:spPr>
          </c:dPt>
          <c:dPt>
            <c:idx val="20"/>
            <c:spPr>
              <a:solidFill>
                <a:srgbClr val="B6D7A8"/>
              </a:solidFill>
              <a:ln w="9525">
                <a:solidFill>
                  <a:srgbClr val="111827"/>
                </a:solidFill>
              </a:ln>
            </c:spPr>
          </c:dPt>
          <c:dPt>
            <c:idx val="21"/>
            <c:spPr>
              <a:solidFill>
                <a:srgbClr val="FFD966"/>
              </a:solidFill>
              <a:ln w="9525">
                <a:solidFill>
                  <a:srgbClr val="111827"/>
                </a:solidFill>
              </a:ln>
            </c:spPr>
          </c:dPt>
          <c:dPt>
            <c:idx val="22"/>
            <c:spPr>
              <a:solidFill>
                <a:srgbClr val="FFD966"/>
              </a:solidFill>
              <a:ln w="9525">
                <a:solidFill>
                  <a:srgbClr val="111827"/>
                </a:solidFill>
              </a:ln>
            </c:spPr>
          </c:dPt>
          <c:dPt>
            <c:idx val="23"/>
            <c:spPr>
              <a:solidFill>
                <a:srgbClr val="B6D7A8"/>
              </a:solidFill>
              <a:ln w="9525">
                <a:solidFill>
                  <a:srgbClr val="111827"/>
                </a:solidFill>
              </a:ln>
            </c:spPr>
          </c:dPt>
          <c:dPt>
            <c:idx val="24"/>
            <c:spPr>
              <a:solidFill>
                <a:srgbClr val="FFD966"/>
              </a:solidFill>
              <a:ln w="9525">
                <a:solidFill>
                  <a:srgbClr val="111827"/>
                </a:solidFill>
              </a:ln>
            </c:spPr>
          </c:dPt>
          <c:dPt>
            <c:idx val="25"/>
            <c:spPr>
              <a:solidFill>
                <a:srgbClr val="FFD966"/>
              </a:solidFill>
              <a:ln w="9525">
                <a:solidFill>
                  <a:srgbClr val="111827"/>
                </a:solidFill>
              </a:ln>
            </c:spPr>
          </c:dPt>
          <c:dPt>
            <c:idx val="26"/>
            <c:spPr>
              <a:solidFill>
                <a:srgbClr val="FFD966"/>
              </a:solidFill>
              <a:ln w="9525">
                <a:solidFill>
                  <a:srgbClr val="111827"/>
                </a:solidFill>
              </a:ln>
            </c:spPr>
          </c:dPt>
          <c:dPt>
            <c:idx val="27"/>
            <c:spPr>
              <a:solidFill>
                <a:srgbClr val="FFD966"/>
              </a:solidFill>
              <a:ln w="9525">
                <a:solidFill>
                  <a:srgbClr val="111827"/>
                </a:solidFill>
              </a:ln>
            </c:spPr>
          </c:dPt>
          <c:dPt>
            <c:idx val="28"/>
            <c:spPr>
              <a:solidFill>
                <a:srgbClr val="F6B26B"/>
              </a:solidFill>
              <a:ln w="9525">
                <a:solidFill>
                  <a:srgbClr val="111827"/>
                </a:solidFill>
              </a:ln>
            </c:spPr>
          </c:dPt>
          <c:dPt>
            <c:idx val="29"/>
            <c:spPr>
              <a:solidFill>
                <a:srgbClr val="FFD966"/>
              </a:solidFill>
              <a:ln w="9525">
                <a:solidFill>
                  <a:srgbClr val="111827"/>
                </a:solidFill>
              </a:ln>
            </c:spPr>
          </c:dPt>
          <c:dPt>
            <c:idx val="30"/>
            <c:spPr>
              <a:solidFill>
                <a:srgbClr val="FFD966"/>
              </a:solidFill>
              <a:ln w="9525">
                <a:solidFill>
                  <a:srgbClr val="111827"/>
                </a:solidFill>
              </a:ln>
            </c:spPr>
          </c:dPt>
          <c:dPt>
            <c:idx val="31"/>
            <c:spPr>
              <a:solidFill>
                <a:srgbClr val="FFD966"/>
              </a:solidFill>
              <a:ln w="9525">
                <a:solidFill>
                  <a:srgbClr val="111827"/>
                </a:solidFill>
              </a:ln>
            </c:spPr>
          </c:dPt>
          <c:dPt>
            <c:idx val="32"/>
            <c:spPr>
              <a:solidFill>
                <a:srgbClr val="FFD966"/>
              </a:solidFill>
              <a:ln w="9525">
                <a:solidFill>
                  <a:srgbClr val="111827"/>
                </a:solidFill>
              </a:ln>
            </c:spPr>
          </c:dPt>
          <c:dPt>
            <c:idx val="33"/>
            <c:spPr>
              <a:solidFill>
                <a:srgbClr val="FFD966"/>
              </a:solidFill>
              <a:ln w="9525">
                <a:solidFill>
                  <a:srgbClr val="111827"/>
                </a:solidFill>
              </a:ln>
            </c:spPr>
          </c:dPt>
          <c:dPt>
            <c:idx val="34"/>
            <c:spPr>
              <a:solidFill>
                <a:srgbClr val="FFD966"/>
              </a:solidFill>
              <a:ln w="9525">
                <a:solidFill>
                  <a:srgbClr val="111827"/>
                </a:solidFill>
              </a:ln>
            </c:spPr>
          </c:dPt>
          <c:dPt>
            <c:idx val="35"/>
            <c:spPr>
              <a:solidFill>
                <a:srgbClr val="FFD966"/>
              </a:solidFill>
              <a:ln w="9525">
                <a:solidFill>
                  <a:srgbClr val="111827"/>
                </a:solidFill>
              </a:ln>
            </c:spPr>
          </c:dPt>
          <c:dPt>
            <c:idx val="36"/>
            <c:spPr>
              <a:solidFill>
                <a:srgbClr val="FFD966"/>
              </a:solidFill>
              <a:ln w="9525">
                <a:solidFill>
                  <a:srgbClr val="111827"/>
                </a:solidFill>
              </a:ln>
            </c:spPr>
          </c:dPt>
          <c:dPt>
            <c:idx val="37"/>
            <c:spPr>
              <a:solidFill>
                <a:srgbClr val="F6B26B"/>
              </a:solidFill>
              <a:ln w="9525">
                <a:solidFill>
                  <a:srgbClr val="111827"/>
                </a:solidFill>
              </a:ln>
            </c:spPr>
          </c:dPt>
          <c:dPt>
            <c:idx val="38"/>
            <c:spPr>
              <a:solidFill>
                <a:srgbClr val="FFD966"/>
              </a:solidFill>
              <a:ln w="9525">
                <a:solidFill>
                  <a:srgbClr val="111827"/>
                </a:solidFill>
              </a:ln>
            </c:spPr>
          </c:dPt>
          <c:dPt>
            <c:idx val="39"/>
            <c:spPr>
              <a:solidFill>
                <a:srgbClr val="B6D7A8"/>
              </a:solidFill>
              <a:ln w="9525">
                <a:solidFill>
                  <a:srgbClr val="111827"/>
                </a:solidFill>
              </a:ln>
            </c:spPr>
          </c:dPt>
          <c:dPt>
            <c:idx val="40"/>
            <c:spPr>
              <a:solidFill>
                <a:srgbClr val="F6B26B"/>
              </a:solidFill>
              <a:ln w="9525">
                <a:solidFill>
                  <a:srgbClr val="111827"/>
                </a:solidFill>
              </a:ln>
            </c:spPr>
          </c:dPt>
          <c:dPt>
            <c:idx val="41"/>
            <c:spPr>
              <a:solidFill>
                <a:srgbClr val="FFD966"/>
              </a:solidFill>
              <a:ln w="9525">
                <a:solidFill>
                  <a:srgbClr val="111827"/>
                </a:solidFill>
              </a:ln>
            </c:spPr>
          </c:dPt>
          <c:dPt>
            <c:idx val="42"/>
            <c:spPr>
              <a:solidFill>
                <a:srgbClr val="FFD966"/>
              </a:solidFill>
              <a:ln w="9525">
                <a:solidFill>
                  <a:srgbClr val="111827"/>
                </a:solidFill>
              </a:ln>
            </c:spPr>
          </c:dPt>
          <c:dPt>
            <c:idx val="43"/>
            <c:spPr>
              <a:solidFill>
                <a:srgbClr val="FFD966"/>
              </a:solidFill>
              <a:ln w="9525">
                <a:solidFill>
                  <a:srgbClr val="111827"/>
                </a:solidFill>
              </a:ln>
            </c:spPr>
          </c:dPt>
          <c:dPt>
            <c:idx val="44"/>
            <c:spPr>
              <a:solidFill>
                <a:srgbClr val="FFD966"/>
              </a:solidFill>
              <a:ln w="9525">
                <a:solidFill>
                  <a:srgbClr val="111827"/>
                </a:solidFill>
              </a:ln>
            </c:spPr>
          </c:dPt>
          <c:dPt>
            <c:idx val="45"/>
            <c:spPr>
              <a:solidFill>
                <a:srgbClr val="FFD966"/>
              </a:solidFill>
              <a:ln w="9525">
                <a:solidFill>
                  <a:srgbClr val="111827"/>
                </a:solidFill>
              </a:ln>
            </c:spPr>
          </c:dPt>
          <c:dPt>
            <c:idx val="46"/>
            <c:spPr>
              <a:solidFill>
                <a:srgbClr val="FFD966"/>
              </a:solidFill>
              <a:ln w="9525">
                <a:solidFill>
                  <a:srgbClr val="111827"/>
                </a:solidFill>
              </a:ln>
            </c:spPr>
          </c:dPt>
          <c:dPt>
            <c:idx val="47"/>
            <c:spPr>
              <a:solidFill>
                <a:srgbClr val="FFD966"/>
              </a:solidFill>
              <a:ln w="9525">
                <a:solidFill>
                  <a:srgbClr val="111827"/>
                </a:solidFill>
              </a:ln>
            </c:spPr>
          </c:dPt>
          <c:dPt>
            <c:idx val="48"/>
            <c:spPr>
              <a:solidFill>
                <a:srgbClr val="FFD966"/>
              </a:solidFill>
              <a:ln w="9525">
                <a:solidFill>
                  <a:srgbClr val="111827"/>
                </a:solidFill>
              </a:ln>
            </c:spPr>
          </c:dPt>
          <c:dPt>
            <c:idx val="49"/>
            <c:spPr>
              <a:solidFill>
                <a:srgbClr val="FFD966"/>
              </a:solidFill>
              <a:ln w="9525">
                <a:solidFill>
                  <a:srgbClr val="111827"/>
                </a:solidFill>
              </a:ln>
            </c:spPr>
          </c:dPt>
          <c:dPt>
            <c:idx val="50"/>
            <c:spPr>
              <a:solidFill>
                <a:srgbClr val="FFD966"/>
              </a:solidFill>
              <a:ln w="9525">
                <a:solidFill>
                  <a:srgbClr val="111827"/>
                </a:solidFill>
              </a:ln>
            </c:spPr>
          </c:dPt>
          <c:dPt>
            <c:idx val="51"/>
            <c:spPr>
              <a:solidFill>
                <a:srgbClr val="FFD966"/>
              </a:solidFill>
              <a:ln w="9525">
                <a:solidFill>
                  <a:srgbClr val="111827"/>
                </a:solidFill>
              </a:ln>
            </c:spPr>
          </c:dPt>
          <c:dPt>
            <c:idx val="52"/>
            <c:spPr>
              <a:solidFill>
                <a:srgbClr val="FFD966"/>
              </a:solidFill>
              <a:ln w="9525">
                <a:solidFill>
                  <a:srgbClr val="111827"/>
                </a:solidFill>
              </a:ln>
            </c:spPr>
          </c:dPt>
          <c:dPt>
            <c:idx val="53"/>
            <c:spPr>
              <a:solidFill>
                <a:srgbClr val="B6D7A8"/>
              </a:solidFill>
              <a:ln w="9525">
                <a:solidFill>
                  <a:srgbClr val="111827"/>
                </a:solidFill>
              </a:ln>
            </c:spPr>
          </c:dPt>
          <c:dPt>
            <c:idx val="54"/>
            <c:spPr>
              <a:solidFill>
                <a:srgbClr val="FFD966"/>
              </a:solidFill>
              <a:ln w="9525">
                <a:solidFill>
                  <a:srgbClr val="111827"/>
                </a:solidFill>
              </a:ln>
            </c:spPr>
          </c:dPt>
          <c:dPt>
            <c:idx val="55"/>
            <c:spPr>
              <a:solidFill>
                <a:srgbClr val="FFD966"/>
              </a:solidFill>
              <a:ln w="9525">
                <a:solidFill>
                  <a:srgbClr val="111827"/>
                </a:solidFill>
              </a:ln>
            </c:spPr>
          </c:dPt>
          <c:dPt>
            <c:idx val="56"/>
            <c:spPr>
              <a:solidFill>
                <a:srgbClr val="FFD966"/>
              </a:solidFill>
              <a:ln w="9525">
                <a:solidFill>
                  <a:srgbClr val="111827"/>
                </a:solidFill>
              </a:ln>
            </c:spPr>
          </c:dPt>
          <c:dPt>
            <c:idx val="57"/>
            <c:spPr>
              <a:solidFill>
                <a:srgbClr val="FFD966"/>
              </a:solidFill>
              <a:ln w="9525">
                <a:solidFill>
                  <a:srgbClr val="111827"/>
                </a:solidFill>
              </a:ln>
            </c:spPr>
          </c:dPt>
          <c:dPt>
            <c:idx val="58"/>
            <c:spPr>
              <a:solidFill>
                <a:srgbClr val="FFD966"/>
              </a:solidFill>
              <a:ln w="9525">
                <a:solidFill>
                  <a:srgbClr val="111827"/>
                </a:solidFill>
              </a:ln>
            </c:spPr>
          </c:dPt>
          <c:dPt>
            <c:idx val="59"/>
            <c:spPr>
              <a:solidFill>
                <a:srgbClr val="FFD966"/>
              </a:solidFill>
              <a:ln w="9525">
                <a:solidFill>
                  <a:srgbClr val="111827"/>
                </a:solidFill>
              </a:ln>
            </c:spPr>
          </c:dPt>
          <c:dPt>
            <c:idx val="60"/>
            <c:spPr>
              <a:solidFill>
                <a:srgbClr val="FFD966"/>
              </a:solidFill>
              <a:ln w="9525">
                <a:solidFill>
                  <a:srgbClr val="111827"/>
                </a:solidFill>
              </a:ln>
            </c:spPr>
          </c:dPt>
          <c:dPt>
            <c:idx val="61"/>
            <c:spPr>
              <a:solidFill>
                <a:srgbClr val="F6B26B"/>
              </a:solidFill>
              <a:ln w="9525">
                <a:solidFill>
                  <a:srgbClr val="111827"/>
                </a:solidFill>
              </a:ln>
            </c:spPr>
          </c:dPt>
          <c:dPt>
            <c:idx val="62"/>
            <c:spPr>
              <a:solidFill>
                <a:srgbClr val="FFD966"/>
              </a:solidFill>
              <a:ln w="9525">
                <a:solidFill>
                  <a:srgbClr val="111827"/>
                </a:solidFill>
              </a:ln>
            </c:spPr>
          </c:dPt>
          <c:dPt>
            <c:idx val="63"/>
            <c:spPr>
              <a:solidFill>
                <a:srgbClr val="FFD966"/>
              </a:solidFill>
              <a:ln w="9525">
                <a:solidFill>
                  <a:srgbClr val="111827"/>
                </a:solidFill>
              </a:ln>
            </c:spPr>
          </c:dPt>
          <c:dPt>
            <c:idx val="64"/>
            <c:spPr>
              <a:solidFill>
                <a:srgbClr val="F6B26B"/>
              </a:solidFill>
              <a:ln w="9525">
                <a:solidFill>
                  <a:srgbClr val="111827"/>
                </a:solidFill>
              </a:ln>
            </c:spPr>
          </c:dPt>
          <c:dPt>
            <c:idx val="65"/>
            <c:spPr>
              <a:solidFill>
                <a:srgbClr val="FFD966"/>
              </a:solidFill>
              <a:ln w="9525">
                <a:solidFill>
                  <a:srgbClr val="111827"/>
                </a:solidFill>
              </a:ln>
            </c:spPr>
          </c:dPt>
          <c:dPt>
            <c:idx val="66"/>
            <c:spPr>
              <a:solidFill>
                <a:srgbClr val="FFD966"/>
              </a:solidFill>
              <a:ln w="9525">
                <a:solidFill>
                  <a:srgbClr val="111827"/>
                </a:solidFill>
              </a:ln>
            </c:spPr>
          </c:dPt>
          <c:dPt>
            <c:idx val="67"/>
            <c:spPr>
              <a:solidFill>
                <a:srgbClr val="FFD966"/>
              </a:solidFill>
              <a:ln w="9525">
                <a:solidFill>
                  <a:srgbClr val="111827"/>
                </a:solidFill>
              </a:ln>
            </c:spPr>
          </c:dPt>
          <c:dPt>
            <c:idx val="68"/>
            <c:spPr>
              <a:solidFill>
                <a:srgbClr val="FFD966"/>
              </a:solidFill>
              <a:ln w="9525">
                <a:solidFill>
                  <a:srgbClr val="111827"/>
                </a:solidFill>
              </a:ln>
            </c:spPr>
          </c:dPt>
          <c:dPt>
            <c:idx val="69"/>
            <c:spPr>
              <a:solidFill>
                <a:srgbClr val="F6B26B"/>
              </a:solidFill>
              <a:ln w="9525">
                <a:solidFill>
                  <a:srgbClr val="111827"/>
                </a:solidFill>
              </a:ln>
            </c:spPr>
          </c:dPt>
          <c:dPt>
            <c:idx val="70"/>
            <c:spPr>
              <a:solidFill>
                <a:srgbClr val="FFD966"/>
              </a:solidFill>
              <a:ln w="9525">
                <a:solidFill>
                  <a:srgbClr val="111827"/>
                </a:solidFill>
              </a:ln>
            </c:spPr>
          </c:dPt>
          <c:dPt>
            <c:idx val="71"/>
            <c:spPr>
              <a:solidFill>
                <a:srgbClr val="FFD966"/>
              </a:solidFill>
              <a:ln w="9525">
                <a:solidFill>
                  <a:srgbClr val="111827"/>
                </a:solidFill>
              </a:ln>
            </c:spPr>
          </c:dPt>
          <c:cat>
            <c:strRef>
              <c:f>Sheet1!$A$2:$A$73</c:f>
              <c:strCache>
                <c:ptCount val="72"/>
                <c:pt idx="0">
                  <c:v>Q1</c:v>
                </c:pt>
                <c:pt idx="1">
                  <c:v>Q2</c:v>
                </c:pt>
                <c:pt idx="2">
                  <c:v>Q3</c:v>
                </c:pt>
                <c:pt idx="3">
                  <c:v>Q4</c:v>
                </c:pt>
                <c:pt idx="4">
                  <c:v>Q5</c:v>
                </c:pt>
                <c:pt idx="5">
                  <c:v>Q6</c:v>
                </c:pt>
                <c:pt idx="6">
                  <c:v>Q7</c:v>
                </c:pt>
                <c:pt idx="7">
                  <c:v>Q8</c:v>
                </c:pt>
                <c:pt idx="8">
                  <c:v>Q9</c:v>
                </c:pt>
                <c:pt idx="9">
                  <c:v>Q10</c:v>
                </c:pt>
                <c:pt idx="10">
                  <c:v>Q11</c:v>
                </c:pt>
                <c:pt idx="11">
                  <c:v>Q12</c:v>
                </c:pt>
                <c:pt idx="12">
                  <c:v>Q13</c:v>
                </c:pt>
                <c:pt idx="13">
                  <c:v>Q14</c:v>
                </c:pt>
                <c:pt idx="14">
                  <c:v>Q15</c:v>
                </c:pt>
                <c:pt idx="15">
                  <c:v>Q16</c:v>
                </c:pt>
                <c:pt idx="16">
                  <c:v>Q17</c:v>
                </c:pt>
                <c:pt idx="17">
                  <c:v>Q18</c:v>
                </c:pt>
                <c:pt idx="18">
                  <c:v>Q19</c:v>
                </c:pt>
                <c:pt idx="19">
                  <c:v>Q20</c:v>
                </c:pt>
                <c:pt idx="20">
                  <c:v>Q21</c:v>
                </c:pt>
                <c:pt idx="21">
                  <c:v>Q22</c:v>
                </c:pt>
                <c:pt idx="22">
                  <c:v>Q23</c:v>
                </c:pt>
                <c:pt idx="23">
                  <c:v>Q24</c:v>
                </c:pt>
                <c:pt idx="24">
                  <c:v>Q25</c:v>
                </c:pt>
                <c:pt idx="25">
                  <c:v>Q26</c:v>
                </c:pt>
                <c:pt idx="26">
                  <c:v>Q27</c:v>
                </c:pt>
                <c:pt idx="27">
                  <c:v>Q28</c:v>
                </c:pt>
                <c:pt idx="28">
                  <c:v>Q29</c:v>
                </c:pt>
                <c:pt idx="29">
                  <c:v>Q30</c:v>
                </c:pt>
                <c:pt idx="30">
                  <c:v>Q31</c:v>
                </c:pt>
                <c:pt idx="31">
                  <c:v>Q32</c:v>
                </c:pt>
                <c:pt idx="32">
                  <c:v>Q33</c:v>
                </c:pt>
                <c:pt idx="33">
                  <c:v>Q34</c:v>
                </c:pt>
                <c:pt idx="34">
                  <c:v>Q35</c:v>
                </c:pt>
                <c:pt idx="35">
                  <c:v>Q36</c:v>
                </c:pt>
                <c:pt idx="36">
                  <c:v>Q37</c:v>
                </c:pt>
                <c:pt idx="37">
                  <c:v>Q38</c:v>
                </c:pt>
                <c:pt idx="38">
                  <c:v>Q39</c:v>
                </c:pt>
                <c:pt idx="39">
                  <c:v>Q40</c:v>
                </c:pt>
                <c:pt idx="40">
                  <c:v>Q41</c:v>
                </c:pt>
                <c:pt idx="41">
                  <c:v>Q42</c:v>
                </c:pt>
                <c:pt idx="42">
                  <c:v>Q43</c:v>
                </c:pt>
                <c:pt idx="43">
                  <c:v>Q44</c:v>
                </c:pt>
                <c:pt idx="44">
                  <c:v>Q45</c:v>
                </c:pt>
                <c:pt idx="45">
                  <c:v>Q46</c:v>
                </c:pt>
                <c:pt idx="46">
                  <c:v>Q47</c:v>
                </c:pt>
                <c:pt idx="47">
                  <c:v>Q48</c:v>
                </c:pt>
                <c:pt idx="48">
                  <c:v>Q49</c:v>
                </c:pt>
                <c:pt idx="49">
                  <c:v>Q50</c:v>
                </c:pt>
                <c:pt idx="50">
                  <c:v>Q51</c:v>
                </c:pt>
                <c:pt idx="51">
                  <c:v>Q52</c:v>
                </c:pt>
                <c:pt idx="52">
                  <c:v>Q53</c:v>
                </c:pt>
                <c:pt idx="53">
                  <c:v>Q54</c:v>
                </c:pt>
                <c:pt idx="54">
                  <c:v>Q55</c:v>
                </c:pt>
                <c:pt idx="55">
                  <c:v>Q56</c:v>
                </c:pt>
                <c:pt idx="56">
                  <c:v>Q57</c:v>
                </c:pt>
                <c:pt idx="57">
                  <c:v>Q58</c:v>
                </c:pt>
                <c:pt idx="58">
                  <c:v>Q59</c:v>
                </c:pt>
                <c:pt idx="59">
                  <c:v>Q60</c:v>
                </c:pt>
                <c:pt idx="60">
                  <c:v>Q61</c:v>
                </c:pt>
                <c:pt idx="61">
                  <c:v>Q62</c:v>
                </c:pt>
                <c:pt idx="62">
                  <c:v>Q63</c:v>
                </c:pt>
                <c:pt idx="63">
                  <c:v>Q64</c:v>
                </c:pt>
                <c:pt idx="64">
                  <c:v>Q65</c:v>
                </c:pt>
                <c:pt idx="65">
                  <c:v>Q66</c:v>
                </c:pt>
                <c:pt idx="66">
                  <c:v>Q67</c:v>
                </c:pt>
                <c:pt idx="67">
                  <c:v>Q68</c:v>
                </c:pt>
                <c:pt idx="68">
                  <c:v>Q69</c:v>
                </c:pt>
                <c:pt idx="69">
                  <c:v>Q70</c:v>
                </c:pt>
                <c:pt idx="70">
                  <c:v>Q71</c:v>
                </c:pt>
                <c:pt idx="71">
                  <c:v>Q72</c:v>
                </c:pt>
              </c:strCache>
            </c:strRef>
          </c:cat>
          <c:val>
            <c:numRef>
              <c:f>Sheet1!$B$2:$B$73</c:f>
              <c:numCache>
                <c:formatCode>General</c:formatCode>
                <c:ptCount val="72"/>
                <c:pt idx="0">
                  <c:v>1.0</c:v>
                </c:pt>
                <c:pt idx="1">
                  <c:v>1.0</c:v>
                </c:pt>
                <c:pt idx="2">
                  <c:v>2.0</c:v>
                </c:pt>
                <c:pt idx="3">
                  <c:v>2.0</c:v>
                </c:pt>
                <c:pt idx="4">
                  <c:v>1.0</c:v>
                </c:pt>
                <c:pt idx="5">
                  <c:v>1.0</c:v>
                </c:pt>
                <c:pt idx="6">
                  <c:v>2.0</c:v>
                </c:pt>
                <c:pt idx="7">
                  <c:v>1.0</c:v>
                </c:pt>
                <c:pt idx="8">
                  <c:v>1.0</c:v>
                </c:pt>
                <c:pt idx="9">
                  <c:v>2.0</c:v>
                </c:pt>
                <c:pt idx="10">
                  <c:v>2.0</c:v>
                </c:pt>
                <c:pt idx="11">
                  <c:v>2.0</c:v>
                </c:pt>
                <c:pt idx="12">
                  <c:v>2.0</c:v>
                </c:pt>
                <c:pt idx="13">
                  <c:v>2.0</c:v>
                </c:pt>
                <c:pt idx="14">
                  <c:v>1.0</c:v>
                </c:pt>
                <c:pt idx="15">
                  <c:v>1.0</c:v>
                </c:pt>
                <c:pt idx="16">
                  <c:v>1.0</c:v>
                </c:pt>
                <c:pt idx="17">
                  <c:v>1.0</c:v>
                </c:pt>
                <c:pt idx="18">
                  <c:v>1.0</c:v>
                </c:pt>
                <c:pt idx="19">
                  <c:v>2.0</c:v>
                </c:pt>
                <c:pt idx="20">
                  <c:v>1.0</c:v>
                </c:pt>
                <c:pt idx="21">
                  <c:v>2.0</c:v>
                </c:pt>
                <c:pt idx="22">
                  <c:v>2.0</c:v>
                </c:pt>
                <c:pt idx="23">
                  <c:v>1.0</c:v>
                </c:pt>
                <c:pt idx="24">
                  <c:v>2.0</c:v>
                </c:pt>
                <c:pt idx="25">
                  <c:v>2.0</c:v>
                </c:pt>
                <c:pt idx="26">
                  <c:v>2.0</c:v>
                </c:pt>
                <c:pt idx="27">
                  <c:v>2.0</c:v>
                </c:pt>
                <c:pt idx="28">
                  <c:v>3.0</c:v>
                </c:pt>
                <c:pt idx="29">
                  <c:v>2.0</c:v>
                </c:pt>
                <c:pt idx="30">
                  <c:v>2.0</c:v>
                </c:pt>
                <c:pt idx="31">
                  <c:v>2.0</c:v>
                </c:pt>
                <c:pt idx="32">
                  <c:v>2.0</c:v>
                </c:pt>
                <c:pt idx="33">
                  <c:v>2.0</c:v>
                </c:pt>
                <c:pt idx="34">
                  <c:v>2.0</c:v>
                </c:pt>
                <c:pt idx="35">
                  <c:v>2.0</c:v>
                </c:pt>
                <c:pt idx="36">
                  <c:v>2.0</c:v>
                </c:pt>
                <c:pt idx="37">
                  <c:v>3.0</c:v>
                </c:pt>
                <c:pt idx="38">
                  <c:v>2.0</c:v>
                </c:pt>
                <c:pt idx="39">
                  <c:v>1.0</c:v>
                </c:pt>
                <c:pt idx="40">
                  <c:v>3.0</c:v>
                </c:pt>
                <c:pt idx="41">
                  <c:v>2.0</c:v>
                </c:pt>
                <c:pt idx="42">
                  <c:v>2.0</c:v>
                </c:pt>
                <c:pt idx="43">
                  <c:v>2.0</c:v>
                </c:pt>
                <c:pt idx="44">
                  <c:v>2.0</c:v>
                </c:pt>
                <c:pt idx="45">
                  <c:v>2.0</c:v>
                </c:pt>
                <c:pt idx="46">
                  <c:v>2.0</c:v>
                </c:pt>
                <c:pt idx="47">
                  <c:v>2.0</c:v>
                </c:pt>
                <c:pt idx="48">
                  <c:v>2.0</c:v>
                </c:pt>
                <c:pt idx="49">
                  <c:v>2.0</c:v>
                </c:pt>
                <c:pt idx="50">
                  <c:v>2.0</c:v>
                </c:pt>
                <c:pt idx="51">
                  <c:v>2.0</c:v>
                </c:pt>
                <c:pt idx="52">
                  <c:v>2.0</c:v>
                </c:pt>
                <c:pt idx="53">
                  <c:v>1.0</c:v>
                </c:pt>
                <c:pt idx="54">
                  <c:v>2.0</c:v>
                </c:pt>
                <c:pt idx="55">
                  <c:v>2.0</c:v>
                </c:pt>
                <c:pt idx="56">
                  <c:v>2.0</c:v>
                </c:pt>
                <c:pt idx="57">
                  <c:v>2.0</c:v>
                </c:pt>
                <c:pt idx="58">
                  <c:v>2.0</c:v>
                </c:pt>
                <c:pt idx="59">
                  <c:v>2.0</c:v>
                </c:pt>
                <c:pt idx="60">
                  <c:v>2.0</c:v>
                </c:pt>
                <c:pt idx="61">
                  <c:v>3.0</c:v>
                </c:pt>
                <c:pt idx="62">
                  <c:v>2.0</c:v>
                </c:pt>
                <c:pt idx="63">
                  <c:v>2.0</c:v>
                </c:pt>
                <c:pt idx="64">
                  <c:v>3.0</c:v>
                </c:pt>
                <c:pt idx="65">
                  <c:v>2.0</c:v>
                </c:pt>
                <c:pt idx="66">
                  <c:v>2.0</c:v>
                </c:pt>
                <c:pt idx="67">
                  <c:v>2.0</c:v>
                </c:pt>
                <c:pt idx="68">
                  <c:v>2.0</c:v>
                </c:pt>
                <c:pt idx="69">
                  <c:v>3.0</c:v>
                </c:pt>
                <c:pt idx="70">
                  <c:v>2.0</c:v>
                </c:pt>
                <c:pt idx="71">
                  <c:v>2.0</c:v>
                </c:pt>
              </c:numCache>
            </c:numRef>
          </c:val>
        </c:ser>
        <c:dLbls>
          <c:numFmt formatCode="0.0#" sourceLinked="0"/>
          <c:txPr>
            <a:bodyPr/>
            <a:lstStyle/>
            <a:p>
              <a:pPr>
                <a:defRPr sz="2000" b="1">
                  <a:solidFill>
                    <a:srgbClr val="111827"/>
                  </a:solidFill>
                  <a:latin typeface="Arial"/>
                </a:defRPr>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inMax"/>
        </c:scaling>
        <c:delete val="0"/>
        <c:axPos val="b"/>
        <c:majorTickMark val="out"/>
        <c:minorTickMark val="none"/>
        <c:tickLblPos val="nextTo"/>
        <c:txPr>
          <a:bodyPr/>
          <a:lstStyle/>
          <a:p>
            <a:pPr>
              <a:defRPr sz="2000" b="1">
                <a:latin typeface="Arial"/>
              </a:defRPr>
            </a:pPr>
          </a:p>
        </c:txPr>
        <c:crossAx val="-2113994440"/>
        <c:crosses val="autoZero"/>
        <c:auto val="1"/>
        <c:lblAlgn val="ctr"/>
        <c:lblOffset val="100"/>
        <c:noMultiLvlLbl val="0"/>
      </c:catAx>
      <c:valAx>
        <c:axId val="-2113994440"/>
        <c:scaling>
          <c:max val="5.5"/>
          <c:min val="0.0"/>
        </c:scaling>
        <c:delete val="0"/>
        <c:axPos val="l"/>
        <c:majorGridlines>
          <c:spPr>
            <a:ln>
              <a:solidFill>
                <a:srgbClr val="D1D5DB"/>
              </a:solidFill>
            </a:ln>
          </c:spPr>
        </c:majorGridlines>
        <c:title>
          <c:tx>
            <c:rich>
              <a:bodyPr/>
              <a:lstStyle/>
              <a:p>
                <a:r>
                  <a:rPr sz="2000"/>
                  <a:t>Level</a:t>
                </a:r>
              </a:p>
            </c:rich>
          </c:tx>
          <c:layout/>
          <c:overlay val="0"/>
        </c:title>
        <c:majorTickMark val="out"/>
        <c:minorTickMark val="none"/>
        <c:tickLblPos val="nextTo"/>
        <c:txPr>
          <a:bodyPr/>
          <a:lstStyle/>
          <a:p>
            <a:pPr>
              <a:defRPr sz="2000">
                <a:latin typeface="Arial"/>
              </a:defRPr>
            </a:pPr>
          </a:p>
        </c:txPr>
        <c:crossAx val="-2068027336"/>
        <c:crosses val="autoZero"/>
        <c:majorUnit val="1.0"/>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9.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3.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8.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2.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5.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6.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2.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7.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0.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4.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8.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4.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8.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3.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8.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3.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9.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8.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3.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8.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3.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7.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5.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PDF has no usable solution for this question; the solution was written by Claude.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PDF's first relation is printed '$2\alpha+8\beta=16$'. From $32+8\alpha+9\beta=48+6\alpha+6\beta$ the correct relation is $2\alpha+3\beta=16$ (the 8 should be 3); the rest of its working ($14\alpha-11\beta=48$, $\alpha=5,\beta=2$, new mean $\frac{17}{3}$) is right.</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PDF's equation (1) is printed '$18a+37b=1018$'; expanding $22(3a+9b+504)=309(a+b+26)$ gives $81a+37b=1018$ (digits transposed). The PDF's $a=8,b=10$ satisfy $81a+37b=1018$ (not $18a+37b$), so the final answer $(a-b)^2=4$ is right. The answer key line reads 'D' for this numerical question; the answer is 4.</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PDF's median formula is cut off after '$\times 4$' and its next line '$45=40+\left[\frac{292-(\alpha+164)}{30}\right]$' omits the class width. With width 10 the equation is $40+\frac{128-\alpha}{30}\times10=45$, giving $\alpha=113$ (the PDF's printed $\times4$ would not give 113). The values $\alpha=113$, $\beta=277$ and the answer 164 in the PDF are right.</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 writes the variance as $\frac{2a^2-a+1}{5}$ (dropping the $-86a$ and the constant: the true variance is $\frac{2a^2-86a+1206}{5}$) and then argues with the discriminant $\sqrt{40N-7}$, which does not prove the claim ($40N-7\equiv1\pmod 8$ can be a perfect square). The answer 0 is right: $5\mid2a^2-86a+1206$ is equivalent to $5\mid2a^2-a+1$, and this has no solution modulo 5.</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a:lstStyle>
            <a:lvl1pPr>
              <a:defRPr sz="4000">
                <a:solidFill>
                  <a:srgbClr val="FFFFFF"/>
                </a:solidFill>
              </a:defRPr>
            </a:lvl1pPr>
          </a:lstStyle>
          <a:p>
            <a:pPr algn="ctr">
              <a:defRPr sz="4000">
                <a:solidFill>
                  <a:srgbClr val="FFFFFF"/>
                </a:solidFill>
              </a:defRPr>
            </a:pPr>
            <a:r>
              <a:rPr sz="4000" b="1">
                <a:solidFill>
                  <a:srgbClr val="FFFFFF"/>
                </a:solidFill>
                <a:latin typeface="Arial"/>
              </a:rPr>
              <a:t>Statistics (Exercise III, JEE Main) — Paper Analysis</a:t>
            </a:r>
            <a:endParaRPr sz="4000">
              <a:solidFill>
                <a:srgbClr val="FFFFFF"/>
              </a:solidFill>
            </a:endParaRPr>
          </a:p>
          <a:p>
            <a:pPr algn="ctr"/>
            <a:r>
              <a:rPr sz="2200">
                <a:solidFill>
                  <a:srgbClr val="FFFFFF"/>
                </a:solidFill>
                <a:latin typeface="Arial"/>
              </a:rPr>
              <a:t>XII SHEET STATISTICS · Exercise III (JEE Main) · detailed solutions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1</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Single Correct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Q01 – Q24</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4 marks each (no marks printed in the sheet - JEE Advanced default of 4 assumed)</a:t>
            </a:r>
            <a:endParaRPr sz="2800">
              <a:solidFill>
                <a:srgbClr val="FFFFFF"/>
              </a:solidFill>
            </a:endParaR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6629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14:m>
                  <m:oMath xmlns:m="http://schemas.openxmlformats.org/officeDocument/2006/math">
                    <m:sSub>
                      <m:e>
                        <m:r>
                          <a:rPr lang="en-IN" sz="2400" i="1">
                            <a:solidFill>
                              <a:srgbClr val="111827"/>
                            </a:solidFill>
                            <a:latin typeface="Cambria Math" panose="02040503050406030204" pitchFamily="18" charset="0"/>
                          </a:rPr>
                          <m:t>𝐺</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𝐺</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are the geometric means of two series of observations and </a:t>
                </a:r>
                <a14:m>
                  <m:oMath xmlns:m="http://schemas.openxmlformats.org/officeDocument/2006/math">
                    <m:r>
                      <a:rPr lang="en-IN" sz="2400" i="1">
                        <a:solidFill>
                          <a:srgbClr val="111827"/>
                        </a:solidFill>
                        <a:latin typeface="Cambria Math" panose="02040503050406030204" pitchFamily="18" charset="0"/>
                      </a:rPr>
                      <m:t>𝐺</m:t>
                    </m:r>
                  </m:oMath>
                </a14:m>
                <a:r>
                  <a:rPr sz="2400" b="0">
                    <a:solidFill>
                      <a:srgbClr val="111827"/>
                    </a:solidFill>
                    <a:latin typeface="Arial"/>
                  </a:rPr>
                  <a:t> is the geometric mean of the ratios of the corresponding observations, then the value of </a:t>
                </a:r>
                <a14:m>
                  <m:oMath xmlns:m="http://schemas.openxmlformats.org/officeDocument/2006/math">
                    <m:r>
                      <a:rPr lang="en-IN" sz="2400" i="1">
                        <a:solidFill>
                          <a:srgbClr val="111827"/>
                        </a:solidFill>
                        <a:latin typeface="Cambria Math" panose="02040503050406030204" pitchFamily="18" charset="0"/>
                      </a:rPr>
                      <m:t>𝐺</m:t>
                    </m:r>
                  </m:oMath>
                </a14:m>
                <a:r>
                  <a:rPr sz="2400" b="0">
                    <a:solidFill>
                      <a:srgbClr val="111827"/>
                    </a:solidFill>
                    <a:latin typeface="Arial"/>
                  </a:rPr>
                  <a:t> is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𝐺</m:t>
                            </m:r>
                          </m:e>
                          <m:sub>
                            <m:r>
                              <a:rPr lang="en-IN" sz="2400" i="1">
                                <a:solidFill>
                                  <a:srgbClr val="111827"/>
                                </a:solidFill>
                                <a:latin typeface="Cambria Math" panose="02040503050406030204" pitchFamily="18" charset="0"/>
                              </a:rPr>
                              <m:t>1</m:t>
                            </m:r>
                          </m:sub>
                        </m:sSub>
                      </m:num>
                      <m:den>
                        <m:sSub>
                          <m:e>
                            <m:r>
                              <a:rPr lang="en-IN" sz="2400" i="1">
                                <a:solidFill>
                                  <a:srgbClr val="111827"/>
                                </a:solidFill>
                                <a:latin typeface="Cambria Math" panose="02040503050406030204" pitchFamily="18" charset="0"/>
                              </a:rPr>
                              <m:t>𝐺</m:t>
                            </m:r>
                          </m:e>
                          <m:sub>
                            <m:r>
                              <a:rPr lang="en-IN" sz="2400" i="1">
                                <a:solidFill>
                                  <a:srgbClr val="111827"/>
                                </a:solidFill>
                                <a:latin typeface="Cambria Math" panose="02040503050406030204" pitchFamily="18" charset="0"/>
                              </a:rPr>
                              <m:t>2</m:t>
                            </m:r>
                          </m:sub>
                        </m:sSub>
                      </m:den>
                    </m:f>
                  </m:oMath>
                </a14:m>
                <a:r>
                  <a:rPr sz="2400" b="0">
                    <a:solidFill>
                      <a:srgbClr val="111827"/>
                    </a:solidFill>
                    <a:latin typeface="Arial"/>
                  </a:rPr>
                  <a:t>   (B)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log</m:t>
                        </m:r>
                        <m:sSub>
                          <m:e>
                            <m:r>
                              <a:rPr lang="en-IN" sz="2400" i="1">
                                <a:solidFill>
                                  <a:srgbClr val="111827"/>
                                </a:solidFill>
                                <a:latin typeface="Cambria Math" panose="02040503050406030204" pitchFamily="18" charset="0"/>
                              </a:rPr>
                              <m:t>𝐺</m:t>
                            </m:r>
                          </m:e>
                          <m:sub>
                            <m:r>
                              <a:rPr lang="en-IN" sz="2400" i="1">
                                <a:solidFill>
                                  <a:srgbClr val="111827"/>
                                </a:solidFill>
                                <a:latin typeface="Cambria Math" panose="02040503050406030204" pitchFamily="18" charset="0"/>
                              </a:rPr>
                              <m:t>1</m:t>
                            </m:r>
                          </m:sub>
                        </m:sSub>
                      </m:num>
                      <m:den>
                        <m:r>
                          <m:rPr>
                            <m:sty m:val="p"/>
                          </m:rPr>
                          <a:rPr lang="en-IN" sz="2400">
                            <a:solidFill>
                              <a:srgbClr val="111827"/>
                            </a:solidFill>
                            <a:latin typeface="Cambria Math" panose="02040503050406030204" pitchFamily="18" charset="0"/>
                          </a:rPr>
                          <m:t>log</m:t>
                        </m:r>
                        <m:sSub>
                          <m:e>
                            <m:r>
                              <a:rPr lang="en-IN" sz="2400" i="1">
                                <a:solidFill>
                                  <a:srgbClr val="111827"/>
                                </a:solidFill>
                                <a:latin typeface="Cambria Math" panose="02040503050406030204" pitchFamily="18" charset="0"/>
                              </a:rPr>
                              <m:t>𝐺</m:t>
                            </m:r>
                          </m:e>
                          <m:sub>
                            <m:r>
                              <a:rPr lang="en-IN" sz="2400" i="1">
                                <a:solidFill>
                                  <a:srgbClr val="111827"/>
                                </a:solidFill>
                                <a:latin typeface="Cambria Math" panose="02040503050406030204" pitchFamily="18" charset="0"/>
                              </a:rPr>
                              <m:t>2</m:t>
                            </m:r>
                          </m:sub>
                        </m:sSub>
                      </m:den>
                    </m:f>
                  </m:oMath>
                </a14:m>
                <a:r>
                  <a:rPr sz="2400" b="0">
                    <a:solidFill>
                      <a:srgbClr val="111827"/>
                    </a:solidFill>
                    <a:latin typeface="Arial"/>
                  </a:rPr>
                  <a:t>   (C) </a:t>
                </a:r>
                <a14:m>
                  <m:oMath xmlns:m="http://schemas.openxmlformats.org/officeDocument/2006/math">
                    <m:r>
                      <m:rPr>
                        <m:sty m:val="p"/>
                      </m:rPr>
                      <a:rPr lang="en-IN" sz="2400">
                        <a:solidFill>
                          <a:srgbClr val="111827"/>
                        </a:solidFill>
                        <a:latin typeface="Cambria Math" panose="02040503050406030204" pitchFamily="18" charset="0"/>
                      </a:rPr>
                      <m:t>log</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𝐺</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𝐺</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(D) </a:t>
                </a:r>
                <a14:m>
                  <m:oMath xmlns:m="http://schemas.openxmlformats.org/officeDocument/2006/math">
                    <m:r>
                      <m:rPr>
                        <m:sty m:val="p"/>
                      </m:rPr>
                      <a:rPr lang="en-IN" sz="2400">
                        <a:solidFill>
                          <a:srgbClr val="111827"/>
                        </a:solidFill>
                        <a:latin typeface="Cambria Math" panose="02040503050406030204" pitchFamily="18" charset="0"/>
                      </a:rPr>
                      <m:t>log</m:t>
                    </m:r>
                    <m:sSub>
                      <m:e>
                        <m:r>
                          <a:rPr lang="en-IN" sz="2400" i="1">
                            <a:solidFill>
                              <a:srgbClr val="111827"/>
                            </a:solidFill>
                            <a:latin typeface="Cambria Math" panose="02040503050406030204" pitchFamily="18" charset="0"/>
                          </a:rPr>
                          <m:t>𝐺</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log</m:t>
                    </m:r>
                    <m:sSub>
                      <m:e>
                        <m:r>
                          <a:rPr lang="en-IN" sz="2400" i="1">
                            <a:solidFill>
                              <a:srgbClr val="111827"/>
                            </a:solidFill>
                            <a:latin typeface="Cambria Math" panose="02040503050406030204" pitchFamily="18" charset="0"/>
                          </a:rPr>
                          <m:t>𝐺</m:t>
                        </m:r>
                      </m:e>
                      <m:sub>
                        <m:r>
                          <a:rPr lang="en-IN" sz="2400" i="1">
                            <a:solidFill>
                              <a:srgbClr val="111827"/>
                            </a:solidFill>
                            <a:latin typeface="Cambria Math" panose="02040503050406030204" pitchFamily="18" charset="0"/>
                          </a:rPr>
                          <m:t>2</m:t>
                        </m:r>
                      </m:sub>
                    </m:sSub>
                  </m:oMath>
                </a14:m>
                <a:endParaRPr sz="2400">
                  <a:solidFill>
                    <a:srgbClr val="111827"/>
                  </a:solidFill>
                </a:endParaRPr>
              </a:p>
            </p:txBody>
          </p:sp>
        </mc:Choice>
        <mc:Fallback>
          <p:sp>
            <p:nvSpPr>
              <p:cNvPr id="4" name="Rounded Rectangle 3"/>
              <p:cNvSpPr/>
              <p:nvPr/>
            </p:nvSpPr>
            <p:spPr>
              <a:xfrm>
                <a:off x="731520" y="1280160"/>
                <a:ext cx="10725912" cy="26629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$G_1, G_2$</a:t>
                </a:r>
                <a:r>
                  <a:rPr sz="2400" b="0">
                    <a:solidFill>
                      <a:srgbClr val="111827"/>
                    </a:solidFill>
                    <a:latin typeface="Arial"/>
                  </a:rPr>
                  <a:t> are the geometric means of two series of observations and </a:t>
                </a:r>
                <a:r>
                  <a:rPr lang="en-IN" sz="2400">
                    <a:solidFill>
                      <a:srgbClr val="111827"/>
                    </a:solidFill>
                    <a:latin typeface="Cambria Math" panose="02040503050406030204" pitchFamily="18" charset="0"/>
                  </a:rPr>
                  <a:t>$G$</a:t>
                </a:r>
                <a:r>
                  <a:rPr sz="2400" b="0">
                    <a:solidFill>
                      <a:srgbClr val="111827"/>
                    </a:solidFill>
                    <a:latin typeface="Arial"/>
                  </a:rPr>
                  <a:t> is the geometric mean of the ratios of the corresponding observations, then the value of </a:t>
                </a:r>
                <a:r>
                  <a:rPr lang="en-IN" sz="2400">
                    <a:solidFill>
                      <a:srgbClr val="111827"/>
                    </a:solidFill>
                    <a:latin typeface="Cambria Math" panose="02040503050406030204" pitchFamily="18" charset="0"/>
                  </a:rPr>
                  <a:t>$G$</a:t>
                </a:r>
                <a:r>
                  <a:rPr sz="2400" b="0">
                    <a:solidFill>
                      <a:srgbClr val="111827"/>
                    </a:solidFill>
                    <a:latin typeface="Arial"/>
                  </a:rPr>
                  <a:t> is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$\frac{G_1}{G_2}$</a:t>
                </a:r>
                <a:r>
                  <a:rPr sz="2400" b="0">
                    <a:solidFill>
                      <a:srgbClr val="111827"/>
                    </a:solidFill>
                    <a:latin typeface="Arial"/>
                  </a:rPr>
                  <a:t>   (B) </a:t>
                </a:r>
                <a:r>
                  <a:rPr lang="en-IN" sz="2400">
                    <a:solidFill>
                      <a:srgbClr val="111827"/>
                    </a:solidFill>
                    <a:latin typeface="Cambria Math" panose="02040503050406030204" pitchFamily="18" charset="0"/>
                  </a:rPr>
                  <a:t>$\frac{\log G_1}{\log G_2}$</a:t>
                </a:r>
                <a:r>
                  <a:rPr sz="2400" b="0">
                    <a:solidFill>
                      <a:srgbClr val="111827"/>
                    </a:solidFill>
                    <a:latin typeface="Arial"/>
                  </a:rPr>
                  <a:t>   (C) </a:t>
                </a:r>
                <a:r>
                  <a:rPr lang="en-IN" sz="2400">
                    <a:solidFill>
                      <a:srgbClr val="111827"/>
                    </a:solidFill>
                    <a:latin typeface="Cambria Math" panose="02040503050406030204" pitchFamily="18" charset="0"/>
                  </a:rPr>
                  <a:t>$\log (G_1 G_2)$</a:t>
                </a:r>
                <a:r>
                  <a:rPr sz="2400" b="0">
                    <a:solidFill>
                      <a:srgbClr val="111827"/>
                    </a:solidFill>
                    <a:latin typeface="Arial"/>
                  </a:rPr>
                  <a:t>   (D) </a:t>
                </a:r>
                <a:r>
                  <a:rPr lang="en-IN" sz="2400">
                    <a:solidFill>
                      <a:srgbClr val="111827"/>
                    </a:solidFill>
                    <a:latin typeface="Cambria Math" panose="02040503050406030204" pitchFamily="18" charset="0"/>
                  </a:rPr>
                  <a:t>$\log G_1-\log G_2$</a:t>
                </a:r>
                <a:endParaRPr sz="2400">
                  <a:solidFill>
                    <a:srgbClr val="111827"/>
                  </a:solidFill>
                </a:endParaRPr>
              </a:p>
            </p:txBody>
          </p:sp>
        </mc:Fallback>
      </mc:AlternateContent>
      <p:sp>
        <p:nvSpPr>
          <p:cNvPr id="5" name="Rectangle 4"/>
          <p:cNvSpPr/>
          <p:nvPr/>
        </p:nvSpPr>
        <p:spPr>
          <a:xfrm>
            <a:off x="731520" y="4171695"/>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Geometric mean of observations and of their ratios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a:t>
                </a:r>
                <a14:m>
                  <m:oMath xmlns:m="http://schemas.openxmlformats.org/officeDocument/2006/math">
                    <m:r>
                      <a:rPr lang="en-IN" sz="2400" i="1">
                        <a:solidFill>
                          <a:srgbClr val="78350F"/>
                        </a:solidFill>
                        <a:latin typeface="Cambria Math" panose="02040503050406030204" pitchFamily="18" charset="0"/>
                      </a:rPr>
                      <m:t>𝑛</m:t>
                    </m:r>
                  </m:oMath>
                </a14:m>
                <a:r>
                  <a:rPr sz="2400" b="0">
                    <a:solidFill>
                      <a:srgbClr val="78350F"/>
                    </a:solidFill>
                    <a:latin typeface="Arial"/>
                  </a:rPr>
                  <a:t>-th roots of the products separate, so the GM of ratios is the ratio of the GMs.</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a:t>
                </a:r>
                <a:r>
                  <a:rPr lang="en-IN" sz="2400">
                    <a:solidFill>
                      <a:srgbClr val="78350F"/>
                    </a:solidFill>
                    <a:latin typeface="Cambria Math" panose="02040503050406030204" pitchFamily="18" charset="0"/>
                  </a:rPr>
                  <a:t>$n$</a:t>
                </a:r>
                <a:r>
                  <a:rPr sz="2400" b="0">
                    <a:solidFill>
                      <a:srgbClr val="78350F"/>
                    </a:solidFill>
                    <a:latin typeface="Arial"/>
                  </a:rPr>
                  <a:t>-th roots of the products separate, so the GM of ratios is the ratio of the GMs.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𝑛</m:t>
                        </m:r>
                      </m:sub>
                    </m:sSub>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𝑛</m:t>
                        </m:r>
                      </m:sub>
                    </m:sSub>
                  </m:oMath>
                </a14:m>
                <a:r>
                  <a:rPr sz="2400" b="0">
                    <a:solidFill>
                      <a:srgbClr val="111827"/>
                    </a:solidFill>
                    <a:latin typeface="Arial"/>
                  </a:rPr>
                  <a:t> be the two series (corresponding observations).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𝐺</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𝑛</m:t>
                        </m:r>
                      </m:sub>
                    </m:sSub>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sup>
                    </m:sSup>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𝐺</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𝑛</m:t>
                        </m:r>
                      </m:sub>
                    </m:sSub>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GM of the ratios </a:t>
                </a:r>
                <a14:m>
                  <m:oMath xmlns:m="http://schemas.openxmlformats.org/officeDocument/2006/math">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num>
                      <m:den>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2</m:t>
                            </m:r>
                          </m:sub>
                        </m:sSub>
                      </m:num>
                      <m:den>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2</m:t>
                            </m:r>
                          </m:sub>
                        </m:sSub>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𝑛</m:t>
                            </m:r>
                          </m:sub>
                        </m:sSub>
                      </m:num>
                      <m:den>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𝑛</m:t>
                            </m:r>
                          </m:sub>
                        </m:sSub>
                      </m:den>
                    </m:f>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𝐺</m:t>
                    </m:r>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num>
                              <m:den>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2</m:t>
                                    </m:r>
                                  </m:sub>
                                </m:sSub>
                              </m:num>
                              <m:den>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2</m:t>
                                    </m:r>
                                  </m:sub>
                                </m:sSub>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𝑛</m:t>
                                    </m:r>
                                  </m:sub>
                                </m:sSub>
                              </m:num>
                              <m:den>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𝑛</m:t>
                                    </m:r>
                                  </m:sub>
                                </m:sSub>
                              </m:den>
                            </m:f>
                          </m:e>
                        </m:d>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sup>
                    </m:sSup>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$x_1,\dots,x_n$</a:t>
                </a:r>
                <a:r>
                  <a:rPr sz="2400" b="0">
                    <a:solidFill>
                      <a:srgbClr val="111827"/>
                    </a:solidFill>
                    <a:latin typeface="Arial"/>
                  </a:rPr>
                  <a:t> and </a:t>
                </a:r>
                <a:r>
                  <a:rPr lang="en-IN" sz="2400">
                    <a:solidFill>
                      <a:srgbClr val="111827"/>
                    </a:solidFill>
                    <a:latin typeface="Cambria Math" panose="02040503050406030204" pitchFamily="18" charset="0"/>
                  </a:rPr>
                  <a:t>$y_1,\dots,y_n$</a:t>
                </a:r>
                <a:r>
                  <a:rPr sz="2400" b="0">
                    <a:solidFill>
                      <a:srgbClr val="111827"/>
                    </a:solidFill>
                    <a:latin typeface="Arial"/>
                  </a:rPr>
                  <a:t> be the two series (corresponding observations).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$G_1=(x_1x_2\cdots x_n)^{1/n}$</a:t>
                </a:r>
                <a:r>
                  <a:rPr sz="2400" b="0">
                    <a:solidFill>
                      <a:srgbClr val="111827"/>
                    </a:solidFill>
                    <a:latin typeface="Arial"/>
                  </a:rPr>
                  <a:t> and </a:t>
                </a:r>
                <a:r>
                  <a:rPr lang="en-IN" sz="2400">
                    <a:solidFill>
                      <a:srgbClr val="111827"/>
                    </a:solidFill>
                    <a:latin typeface="Cambria Math" panose="02040503050406030204" pitchFamily="18" charset="0"/>
                  </a:rPr>
                  <a:t>$G_2=(y_1y_2\cdots y_n)^{1/n}$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GM of the ratios </a:t>
                </a:r>
                <a:r>
                  <a:rPr lang="en-IN" sz="2400">
                    <a:solidFill>
                      <a:srgbClr val="111827"/>
                    </a:solidFill>
                    <a:latin typeface="Cambria Math" panose="02040503050406030204" pitchFamily="18" charset="0"/>
                  </a:rPr>
                  <a:t>$\frac{x_1}{y_1},\frac{x_2}{y_2},\dots,\frac{x_n}{y_n}$</a:t>
                </a:r>
                <a:r>
                  <a:rPr sz="2400" b="0">
                    <a:solidFill>
                      <a:srgbClr val="111827"/>
                    </a:solidFill>
                    <a:latin typeface="Arial"/>
                  </a:rPr>
                  <a:t> is </a:t>
                </a:r>
                <a:r>
                  <a:rPr lang="en-IN" sz="2400">
                    <a:solidFill>
                      <a:srgbClr val="111827"/>
                    </a:solidFill>
                    <a:latin typeface="Cambria Math" panose="02040503050406030204" pitchFamily="18" charset="0"/>
                  </a:rPr>
                  <a:t>$G=\left(\frac{x_1}{y_1}\cdot\frac{x_2}{y_2}\cdots\frac{x_n}{y_n}\right)^{1/n}$</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𝐺</m:t>
                    </m:r>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𝑛</m:t>
                                    </m:r>
                                  </m:sub>
                                </m:sSub>
                              </m:num>
                              <m:den>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𝑛</m:t>
                                    </m:r>
                                  </m:sub>
                                </m:sSub>
                              </m:den>
                            </m:f>
                          </m:e>
                        </m:d>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𝑛</m:t>
                            </m:r>
                          </m:sub>
                        </m:sSub>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sup>
                        </m:sSup>
                      </m:num>
                      <m:den>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𝑛</m:t>
                            </m:r>
                          </m:sub>
                        </m:sSub>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𝐺</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𝐺</m:t>
                            </m:r>
                          </m:e>
                          <m:sub>
                            <m:r>
                              <a:rPr lang="en-IN" sz="2400" i="1">
                                <a:solidFill>
                                  <a:srgbClr val="111827"/>
                                </a:solidFill>
                                <a:latin typeface="Cambria Math" panose="02040503050406030204" pitchFamily="18" charset="0"/>
                              </a:rPr>
                              <m:t>1</m:t>
                            </m:r>
                          </m:sub>
                        </m:sSub>
                      </m:num>
                      <m:den>
                        <m:sSub>
                          <m:e>
                            <m:r>
                              <a:rPr lang="en-IN" sz="2400" i="1">
                                <a:solidFill>
                                  <a:srgbClr val="111827"/>
                                </a:solidFill>
                                <a:latin typeface="Cambria Math" panose="02040503050406030204" pitchFamily="18" charset="0"/>
                              </a:rPr>
                              <m:t>𝐺</m:t>
                            </m:r>
                          </m:e>
                          <m:sub>
                            <m:r>
                              <a:rPr lang="en-IN" sz="2400" i="1">
                                <a:solidFill>
                                  <a:srgbClr val="111827"/>
                                </a:solidFill>
                                <a:latin typeface="Cambria Math" panose="02040503050406030204" pitchFamily="18" charset="0"/>
                              </a:rPr>
                              <m:t>2</m:t>
                            </m:r>
                          </m:sub>
                        </m:sSub>
                      </m:den>
                    </m:f>
                  </m:oMath>
                </a14:m>
                <a:r>
                  <a:rPr sz="2400" b="0">
                    <a:solidFill>
                      <a:srgbClr val="111827"/>
                    </a:solidFill>
                    <a:latin typeface="Arial"/>
                  </a:rPr>
                  <a:t>, option (A).</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$G=\left(\frac{x_1x_2\cdots x_n}{y_1y_2\cdots y_n}\right)^{1/n}=\frac{(x_1\cdots x_n)^{1/n}}{(y_1\cdots y_n)^{1/n}}$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$G=\frac{G_1}{G_2}$</a:t>
                </a:r>
                <a:r>
                  <a:rPr sz="2400" b="0">
                    <a:solidFill>
                      <a:srgbClr val="111827"/>
                    </a:solidFill>
                    <a:latin typeface="Arial"/>
                  </a:rPr>
                  <a:t>, option (A).</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14:m>
                  <m:oMath xmlns:m="http://schemas.openxmlformats.org/officeDocument/2006/math">
                    <m:f>
                      <m:fPr>
                        <m:type m:val="bar"/>
                        <m:ctrlPr>
                          <a:rPr lang="en-IN" sz="2800" i="1">
                            <a:solidFill>
                              <a:srgbClr val="15803D"/>
                            </a:solidFill>
                            <a:latin typeface="Cambria Math" panose="02040503050406030204" pitchFamily="18" charset="0"/>
                          </a:rPr>
                        </m:ctrlPr>
                      </m:fPr>
                      <m:num>
                        <m:sSub>
                          <m:e>
                            <m:r>
                              <a:rPr lang="en-IN" sz="2800" i="1">
                                <a:solidFill>
                                  <a:srgbClr val="15803D"/>
                                </a:solidFill>
                                <a:latin typeface="Cambria Math" panose="02040503050406030204" pitchFamily="18" charset="0"/>
                              </a:rPr>
                              <m:t>𝐺</m:t>
                            </m:r>
                          </m:e>
                          <m:sub>
                            <m:r>
                              <a:rPr lang="en-IN" sz="2800" i="1">
                                <a:solidFill>
                                  <a:srgbClr val="15803D"/>
                                </a:solidFill>
                                <a:latin typeface="Cambria Math" panose="02040503050406030204" pitchFamily="18" charset="0"/>
                              </a:rPr>
                              <m:t>1</m:t>
                            </m:r>
                          </m:sub>
                        </m:sSub>
                      </m:num>
                      <m:den>
                        <m:sSub>
                          <m:e>
                            <m:r>
                              <a:rPr lang="en-IN" sz="2800" i="1">
                                <a:solidFill>
                                  <a:srgbClr val="15803D"/>
                                </a:solidFill>
                                <a:latin typeface="Cambria Math" panose="02040503050406030204" pitchFamily="18" charset="0"/>
                              </a:rPr>
                              <m:t>𝐺</m:t>
                            </m:r>
                          </m:e>
                          <m:sub>
                            <m:r>
                              <a:rPr lang="en-IN" sz="2800" i="1">
                                <a:solidFill>
                                  <a:srgbClr val="15803D"/>
                                </a:solidFill>
                                <a:latin typeface="Cambria Math" panose="02040503050406030204" pitchFamily="18" charset="0"/>
                              </a:rPr>
                              <m:t>2</m:t>
                            </m:r>
                          </m:sub>
                        </m:sSub>
                      </m:den>
                    </m:f>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r>
                  <a:rPr lang="en-IN" sz="2800">
                    <a:solidFill>
                      <a:srgbClr val="15803D"/>
                    </a:solidFill>
                    <a:latin typeface="Cambria Math" panose="02040503050406030204" pitchFamily="18" charset="0"/>
                  </a:rPr>
                  <a:t>$\frac{G_1}{G_2}$</a:t>
                </a:r>
                <a:endParaRPr sz="2800">
                  <a:solidFill>
                    <a:srgbClr val="15803D"/>
                  </a:solidFill>
                </a:endParaRPr>
              </a:p>
            </p:txBody>
          </p:sp>
        </mc:Fallback>
      </mc:AlternateContent>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Take logarithms: the log of a geometric mean is the arithmetic mean of the logs.</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log</m:t>
                    </m:r>
                    <m:sSub>
                      <m:e>
                        <m:r>
                          <a:rPr lang="en-IN" sz="2400" i="1">
                            <a:solidFill>
                              <a:srgbClr val="111827"/>
                            </a:solidFill>
                            <a:latin typeface="Cambria Math" panose="02040503050406030204" pitchFamily="18" charset="0"/>
                          </a:rPr>
                          <m:t>𝐺</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𝑛</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log</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log</m:t>
                    </m:r>
                    <m:sSub>
                      <m:e>
                        <m:r>
                          <a:rPr lang="en-IN" sz="2400" i="1">
                            <a:solidFill>
                              <a:srgbClr val="111827"/>
                            </a:solidFill>
                            <a:latin typeface="Cambria Math" panose="02040503050406030204" pitchFamily="18" charset="0"/>
                          </a:rPr>
                          <m:t>𝐺</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𝑛</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log</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𝑖</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log</m:t>
                    </m:r>
                    <m:r>
                      <a:rPr lang="en-IN" sz="2400" i="1">
                        <a:solidFill>
                          <a:srgbClr val="111827"/>
                        </a:solidFill>
                        <a:latin typeface="Cambria Math" panose="02040503050406030204" pitchFamily="18" charset="0"/>
                      </a:rPr>
                      <m:t>𝐺</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𝑛</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log</m:t>
                    </m:r>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num>
                      <m:den>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𝑖</m:t>
                            </m:r>
                          </m:sub>
                        </m:sSub>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𝑛</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log</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log</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log</m:t>
                    </m:r>
                    <m:sSub>
                      <m:e>
                        <m:r>
                          <a:rPr lang="en-IN" sz="2400" i="1">
                            <a:solidFill>
                              <a:srgbClr val="111827"/>
                            </a:solidFill>
                            <a:latin typeface="Cambria Math" panose="02040503050406030204" pitchFamily="18" charset="0"/>
                          </a:rPr>
                          <m:t>𝐺</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log</m:t>
                    </m:r>
                    <m:sSub>
                      <m:e>
                        <m:r>
                          <a:rPr lang="en-IN" sz="2400" i="1">
                            <a:solidFill>
                              <a:srgbClr val="111827"/>
                            </a:solidFill>
                            <a:latin typeface="Cambria Math" panose="02040503050406030204" pitchFamily="18" charset="0"/>
                          </a:rPr>
                          <m:t>𝐺</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m:rPr>
                        <m:sty m:val="p"/>
                      </m:rPr>
                      <a:rPr lang="en-IN" sz="2400">
                        <a:solidFill>
                          <a:srgbClr val="111827"/>
                        </a:solidFill>
                        <a:latin typeface="Cambria Math" panose="02040503050406030204" pitchFamily="18" charset="0"/>
                      </a:rPr>
                      <m:t>log</m:t>
                    </m:r>
                    <m:r>
                      <a:rPr lang="en-IN" sz="2400" i="1">
                        <a:solidFill>
                          <a:srgbClr val="111827"/>
                        </a:solidFill>
                        <a:latin typeface="Cambria Math" panose="02040503050406030204" pitchFamily="18" charset="0"/>
                      </a:rPr>
                      <m:t>𝐺</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log</m:t>
                    </m:r>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𝐺</m:t>
                            </m:r>
                          </m:e>
                          <m:sub>
                            <m:r>
                              <a:rPr lang="en-IN" sz="2400" i="1">
                                <a:solidFill>
                                  <a:srgbClr val="111827"/>
                                </a:solidFill>
                                <a:latin typeface="Cambria Math" panose="02040503050406030204" pitchFamily="18" charset="0"/>
                              </a:rPr>
                              <m:t>1</m:t>
                            </m:r>
                          </m:sub>
                        </m:sSub>
                      </m:num>
                      <m:den>
                        <m:sSub>
                          <m:e>
                            <m:r>
                              <a:rPr lang="en-IN" sz="2400" i="1">
                                <a:solidFill>
                                  <a:srgbClr val="111827"/>
                                </a:solidFill>
                                <a:latin typeface="Cambria Math" panose="02040503050406030204" pitchFamily="18" charset="0"/>
                              </a:rPr>
                              <m:t>𝐺</m:t>
                            </m:r>
                          </m:e>
                          <m:sub>
                            <m:r>
                              <a:rPr lang="en-IN" sz="2400" i="1">
                                <a:solidFill>
                                  <a:srgbClr val="111827"/>
                                </a:solidFill>
                                <a:latin typeface="Cambria Math" panose="02040503050406030204" pitchFamily="18" charset="0"/>
                              </a:rPr>
                              <m:t>2</m:t>
                            </m:r>
                          </m:sub>
                        </m:sSub>
                      </m:den>
                    </m:f>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𝐺</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𝐺</m:t>
                            </m:r>
                          </m:e>
                          <m:sub>
                            <m:r>
                              <a:rPr lang="en-IN" sz="2400" i="1">
                                <a:solidFill>
                                  <a:srgbClr val="111827"/>
                                </a:solidFill>
                                <a:latin typeface="Cambria Math" panose="02040503050406030204" pitchFamily="18" charset="0"/>
                              </a:rPr>
                              <m:t>1</m:t>
                            </m:r>
                          </m:sub>
                        </m:sSub>
                      </m:num>
                      <m:den>
                        <m:sSub>
                          <m:e>
                            <m:r>
                              <a:rPr lang="en-IN" sz="2400" i="1">
                                <a:solidFill>
                                  <a:srgbClr val="111827"/>
                                </a:solidFill>
                                <a:latin typeface="Cambria Math" panose="02040503050406030204" pitchFamily="18" charset="0"/>
                              </a:rPr>
                              <m:t>𝐺</m:t>
                            </m:r>
                          </m:e>
                          <m:sub>
                            <m:r>
                              <a:rPr lang="en-IN" sz="2400" i="1">
                                <a:solidFill>
                                  <a:srgbClr val="111827"/>
                                </a:solidFill>
                                <a:latin typeface="Cambria Math" panose="02040503050406030204" pitchFamily="18" charset="0"/>
                              </a:rPr>
                              <m:t>2</m:t>
                            </m:r>
                          </m:sub>
                        </m:sSub>
                      </m:den>
                    </m:f>
                  </m:oMath>
                </a14:m>
                <a:r>
                  <a:rPr sz="2400" b="0">
                    <a:solidFill>
                      <a:srgbClr val="111827"/>
                    </a:solidFill>
                    <a:latin typeface="Arial"/>
                  </a:rPr>
                  <a:t>, the same answer.</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$\log G_1=\frac{1}{n}\sum \log x_i$</a:t>
                </a:r>
                <a:r>
                  <a:rPr sz="2400" b="0">
                    <a:solidFill>
                      <a:srgbClr val="111827"/>
                    </a:solidFill>
                    <a:latin typeface="Arial"/>
                  </a:rPr>
                  <a:t> and </a:t>
                </a:r>
                <a:r>
                  <a:rPr lang="en-IN" sz="2400">
                    <a:solidFill>
                      <a:srgbClr val="111827"/>
                    </a:solidFill>
                    <a:latin typeface="Cambria Math" panose="02040503050406030204" pitchFamily="18" charset="0"/>
                  </a:rPr>
                  <a:t>$\log G_2=\frac{1}{n}\sum \log y_i$</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$\log G=\frac{1}{n}\sum \log\frac{x_i}{y_i}=\frac{1}{n}\sum(\log x_i-\log y_i)=\log G_1-\log G_2$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$\log G=\log\frac{G_1}{G_2}$</a:t>
                </a:r>
                <a:r>
                  <a:rPr sz="2400" b="0">
                    <a:solidFill>
                      <a:srgbClr val="111827"/>
                    </a:solidFill>
                    <a:latin typeface="Arial"/>
                  </a:rPr>
                  <a:t>, i.e. </a:t>
                </a:r>
                <a:r>
                  <a:rPr lang="en-IN" sz="2400">
                    <a:solidFill>
                      <a:srgbClr val="111827"/>
                    </a:solidFill>
                    <a:latin typeface="Cambria Math" panose="02040503050406030204" pitchFamily="18" charset="0"/>
                  </a:rPr>
                  <a:t>$G=\frac{G_1}{G_2}$</a:t>
                </a:r>
                <a:r>
                  <a:rPr sz="2400" b="0">
                    <a:solidFill>
                      <a:srgbClr val="111827"/>
                    </a:solidFill>
                    <a:latin typeface="Arial"/>
                  </a:rPr>
                  <a:t>, the same answer.</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a:t>
                </a:r>
                <a14:m>
                  <m:oMath xmlns:m="http://schemas.openxmlformats.org/officeDocument/2006/math">
                    <m:f>
                      <m:fPr>
                        <m:type m:val="bar"/>
                        <m:ctrlPr>
                          <a:rPr lang="en-IN" sz="2800" i="1">
                            <a:solidFill>
                              <a:srgbClr val="15803D"/>
                            </a:solidFill>
                            <a:latin typeface="Cambria Math" panose="02040503050406030204" pitchFamily="18" charset="0"/>
                          </a:rPr>
                        </m:ctrlPr>
                      </m:fPr>
                      <m:num>
                        <m:sSub>
                          <m:e>
                            <m:r>
                              <a:rPr lang="en-IN" sz="2800" i="1">
                                <a:solidFill>
                                  <a:srgbClr val="15803D"/>
                                </a:solidFill>
                                <a:latin typeface="Cambria Math" panose="02040503050406030204" pitchFamily="18" charset="0"/>
                              </a:rPr>
                              <m:t>𝐺</m:t>
                            </m:r>
                          </m:e>
                          <m:sub>
                            <m:r>
                              <a:rPr lang="en-IN" sz="2800" i="1">
                                <a:solidFill>
                                  <a:srgbClr val="15803D"/>
                                </a:solidFill>
                                <a:latin typeface="Cambria Math" panose="02040503050406030204" pitchFamily="18" charset="0"/>
                              </a:rPr>
                              <m:t>1</m:t>
                            </m:r>
                          </m:sub>
                        </m:sSub>
                      </m:num>
                      <m:den>
                        <m:sSub>
                          <m:e>
                            <m:r>
                              <a:rPr lang="en-IN" sz="2800" i="1">
                                <a:solidFill>
                                  <a:srgbClr val="15803D"/>
                                </a:solidFill>
                                <a:latin typeface="Cambria Math" panose="02040503050406030204" pitchFamily="18" charset="0"/>
                              </a:rPr>
                              <m:t>𝐺</m:t>
                            </m:r>
                          </m:e>
                          <m:sub>
                            <m:r>
                              <a:rPr lang="en-IN" sz="2800" i="1">
                                <a:solidFill>
                                  <a:srgbClr val="15803D"/>
                                </a:solidFill>
                                <a:latin typeface="Cambria Math" panose="02040503050406030204" pitchFamily="18" charset="0"/>
                              </a:rPr>
                              <m:t>2</m:t>
                            </m:r>
                          </m:sub>
                        </m:sSub>
                      </m:den>
                    </m:f>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a:t>
                </a:r>
                <a:r>
                  <a:rPr lang="en-IN" sz="2800">
                    <a:solidFill>
                      <a:srgbClr val="15803D"/>
                    </a:solidFill>
                    <a:latin typeface="Cambria Math" panose="02040503050406030204" pitchFamily="18" charset="0"/>
                  </a:rPr>
                  <a:t>$\frac{G_1}{G_2}$</a:t>
                </a:r>
                <a:endParaRPr sz="2800">
                  <a:solidFill>
                    <a:srgbClr val="15803D"/>
                  </a:solidFill>
                </a:endParaRPr>
              </a:p>
            </p:txBody>
          </p:sp>
        </mc:Fallback>
      </mc:AlternateContent>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GM of products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product of GMs, and GM of ratios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ratio of GMs (for positive data).</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log</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m:t>
                    </m:r>
                    <m:r>
                      <m:rPr>
                        <m:sty m:val="p"/>
                      </m:rPr>
                      <a:rPr lang="en-IN" sz="2400">
                        <a:solidFill>
                          <a:srgbClr val="111827"/>
                        </a:solidFill>
                        <a:latin typeface="Cambria Math" panose="02040503050406030204" pitchFamily="18" charset="0"/>
                      </a:rPr>
                      <m:t>M</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A</m:t>
                    </m:r>
                    <m:r>
                      <m:rPr>
                        <m:sty m:val="p"/>
                      </m:rPr>
                      <a:rPr lang="en-IN" sz="2400">
                        <a:solidFill>
                          <a:srgbClr val="111827"/>
                        </a:solidFill>
                        <a:latin typeface="Cambria Math" panose="02040503050406030204" pitchFamily="18" charset="0"/>
                      </a:rPr>
                      <m:t>M</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log</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a GM problem becomes an AM problem after taking logs.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same pattern for AM holds only for sums and differences: </a:t>
                </a:r>
                <a14:m>
                  <m:oMath xmlns:m="http://schemas.openxmlformats.org/officeDocument/2006/math">
                    <m:r>
                      <m:rPr>
                        <m:sty m:val="p"/>
                      </m:rPr>
                      <a:rPr lang="en-IN" sz="2400">
                        <a:solidFill>
                          <a:srgbClr val="111827"/>
                        </a:solidFill>
                        <a:latin typeface="Cambria Math" panose="02040503050406030204" pitchFamily="18" charset="0"/>
                      </a:rPr>
                      <m:t>A</m:t>
                    </m:r>
                    <m:r>
                      <m:rPr>
                        <m:sty m:val="p"/>
                      </m:rPr>
                      <a:rPr lang="en-IN" sz="2400">
                        <a:solidFill>
                          <a:srgbClr val="111827"/>
                        </a:solidFill>
                        <a:latin typeface="Cambria Math" panose="02040503050406030204" pitchFamily="18" charset="0"/>
                      </a:rPr>
                      <m:t>M</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𝑦</m:t>
                        </m:r>
                      </m:e>
                    </m:acc>
                  </m:oMath>
                </a14:m>
                <a:r>
                  <a:rPr sz="2400" b="0">
                    <a:solidFill>
                      <a:srgbClr val="111827"/>
                    </a:solidFill>
                    <a:latin typeface="Arial"/>
                  </a:rPr>
                  <a:t>, but </a:t>
                </a:r>
                <a14:m>
                  <m:oMath xmlns:m="http://schemas.openxmlformats.org/officeDocument/2006/math">
                    <m:r>
                      <m:rPr>
                        <m:sty m:val="p"/>
                      </m:rPr>
                      <a:rPr lang="en-IN" sz="2400">
                        <a:solidFill>
                          <a:srgbClr val="111827"/>
                        </a:solidFill>
                        <a:latin typeface="Cambria Math" panose="02040503050406030204" pitchFamily="18" charset="0"/>
                      </a:rPr>
                      <m:t>A</m:t>
                    </m:r>
                    <m:r>
                      <m:rPr>
                        <m:sty m:val="p"/>
                      </m:rPr>
                      <a:rPr lang="en-IN" sz="2400">
                        <a:solidFill>
                          <a:srgbClr val="111827"/>
                        </a:solidFill>
                        <a:latin typeface="Cambria Math" panose="02040503050406030204" pitchFamily="18" charset="0"/>
                      </a:rPr>
                      <m:t>M</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num>
                          <m:den>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𝑖</m:t>
                                </m:r>
                              </m:sub>
                            </m:sSub>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num>
                      <m:den>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𝑦</m:t>
                            </m:r>
                          </m:e>
                        </m:acc>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GM of products </a:t>
                </a:r>
                <a:r>
                  <a:rPr lang="en-IN" sz="2400">
                    <a:solidFill>
                      <a:srgbClr val="111827"/>
                    </a:solidFill>
                    <a:latin typeface="Cambria Math" panose="02040503050406030204" pitchFamily="18" charset="0"/>
                  </a:rPr>
                  <a:t>$=$</a:t>
                </a:r>
                <a:r>
                  <a:rPr sz="2400" b="0">
                    <a:solidFill>
                      <a:srgbClr val="111827"/>
                    </a:solidFill>
                    <a:latin typeface="Arial"/>
                  </a:rPr>
                  <a:t> product of GMs, and GM of ratios </a:t>
                </a:r>
                <a:r>
                  <a:rPr lang="en-IN" sz="2400">
                    <a:solidFill>
                      <a:srgbClr val="111827"/>
                    </a:solidFill>
                    <a:latin typeface="Cambria Math" panose="02040503050406030204" pitchFamily="18" charset="0"/>
                  </a:rPr>
                  <a:t>$=$</a:t>
                </a:r>
                <a:r>
                  <a:rPr sz="2400" b="0">
                    <a:solidFill>
                      <a:srgbClr val="111827"/>
                    </a:solidFill>
                    <a:latin typeface="Arial"/>
                  </a:rPr>
                  <a:t> ratio of GMs (for positive data).</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$\log(\mathrm{GM})=\mathrm{AM}(\log x_i)$</a:t>
                </a:r>
                <a:r>
                  <a:rPr sz="2400" b="0">
                    <a:solidFill>
                      <a:srgbClr val="111827"/>
                    </a:solidFill>
                    <a:latin typeface="Arial"/>
                  </a:rPr>
                  <a:t>: a GM problem becomes an AM problem after taking logs.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same pattern for AM holds only for sums and differences: </a:t>
                </a:r>
                <a:r>
                  <a:rPr lang="en-IN" sz="2400">
                    <a:solidFill>
                      <a:srgbClr val="111827"/>
                    </a:solidFill>
                    <a:latin typeface="Cambria Math" panose="02040503050406030204" pitchFamily="18" charset="0"/>
                  </a:rPr>
                  <a:t>$\mathrm{AM}(x_i-y_i)=\bar{x}-\bar{y}$</a:t>
                </a:r>
                <a:r>
                  <a:rPr sz="2400" b="0">
                    <a:solidFill>
                      <a:srgbClr val="111827"/>
                    </a:solidFill>
                    <a:latin typeface="Arial"/>
                  </a:rPr>
                  <a:t>, but </a:t>
                </a:r>
                <a:r>
                  <a:rPr lang="en-IN" sz="2400">
                    <a:solidFill>
                      <a:srgbClr val="111827"/>
                    </a:solidFill>
                    <a:latin typeface="Cambria Math" panose="02040503050406030204" pitchFamily="18" charset="0"/>
                  </a:rPr>
                  <a:t>$\mathrm{AM}\left(\frac{x_i}{y_i}\right)\neq\frac{\bar{x}}{\bar{y}}$</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3776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median of a set of 9 distinct observations is </a:t>
                </a:r>
                <a14:m>
                  <m:oMath xmlns:m="http://schemas.openxmlformats.org/officeDocument/2006/math">
                    <m:r>
                      <a:rPr lang="en-IN" sz="2400" i="1">
                        <a:solidFill>
                          <a:srgbClr val="111827"/>
                        </a:solidFill>
                        <a:latin typeface="Cambria Math" panose="02040503050406030204" pitchFamily="18" charset="0"/>
                      </a:rPr>
                      <m:t>20.5</m:t>
                    </m:r>
                  </m:oMath>
                </a14:m>
                <a:r>
                  <a:rPr sz="2400" b="0">
                    <a:solidFill>
                      <a:srgbClr val="111827"/>
                    </a:solidFill>
                    <a:latin typeface="Arial"/>
                  </a:rPr>
                  <a:t>. If each of the largest 4 observations of the set is increased by 2, then the median of the new set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remains the same as that of the original set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is increased by 2</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is decreased by 2</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is two times the original median</a:t>
                </a:r>
                <a:endParaRPr sz="2400">
                  <a:solidFill>
                    <a:srgbClr val="111827"/>
                  </a:solidFill>
                </a:endParaRPr>
              </a:p>
            </p:txBody>
          </p:sp>
        </mc:Choice>
        <mc:Fallback>
          <p:sp>
            <p:nvSpPr>
              <p:cNvPr id="4" name="Rounded Rectangle 3"/>
              <p:cNvSpPr/>
              <p:nvPr/>
            </p:nvSpPr>
            <p:spPr>
              <a:xfrm>
                <a:off x="731520" y="1280160"/>
                <a:ext cx="10725912" cy="33776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median of a set of 9 distinct observations is </a:t>
                </a:r>
                <a:r>
                  <a:rPr lang="en-IN" sz="2400">
                    <a:solidFill>
                      <a:srgbClr val="111827"/>
                    </a:solidFill>
                    <a:latin typeface="Cambria Math" panose="02040503050406030204" pitchFamily="18" charset="0"/>
                  </a:rPr>
                  <a:t>$20.5$</a:t>
                </a:r>
                <a:r>
                  <a:rPr sz="2400" b="0">
                    <a:solidFill>
                      <a:srgbClr val="111827"/>
                    </a:solidFill>
                    <a:latin typeface="Arial"/>
                  </a:rPr>
                  <a:t>. If each of the largest 4 observations of the set is increased by 2, then the median of the new set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remains the same as that of the original set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is increased by 2</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is decreased by 2</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is two times the original median</a:t>
                </a:r>
                <a:endParaRPr sz="2400">
                  <a:solidFill>
                    <a:srgbClr val="111827"/>
                  </a:solidFill>
                </a:endParaRPr>
              </a:p>
            </p:txBody>
          </p:sp>
        </mc:Fallback>
      </mc:AlternateContent>
      <p:sp>
        <p:nvSpPr>
          <p:cNvPr id="5" name="Rectangle 4"/>
          <p:cNvSpPr/>
          <p:nvPr/>
        </p:nvSpPr>
        <p:spPr>
          <a:xfrm>
            <a:off x="731520" y="4886452"/>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Median of a set of observations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median of 9 ordered values is the 5th, and only values above it change.</a:t>
            </a:r>
            <a:endParaRPr sz="24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the median is the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th value of the ordered data.</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Increasing the largest four observations (6th to 9th) by 2 keeps them larger than the 5th value, so the order is unchanged.</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$n=9$</a:t>
                </a:r>
                <a:r>
                  <a:rPr sz="2400" b="0">
                    <a:solidFill>
                      <a:srgbClr val="111827"/>
                    </a:solidFill>
                    <a:latin typeface="Arial"/>
                  </a:rPr>
                  <a:t> the median is the </a:t>
                </a:r>
                <a:r>
                  <a:rPr lang="en-IN" sz="2400">
                    <a:solidFill>
                      <a:srgbClr val="111827"/>
                    </a:solidFill>
                    <a:latin typeface="Cambria Math" panose="02040503050406030204" pitchFamily="18" charset="0"/>
                  </a:rPr>
                  <a:t>$\frac{n+1}{2}=5$</a:t>
                </a:r>
                <a:r>
                  <a:rPr sz="2400" b="0">
                    <a:solidFill>
                      <a:srgbClr val="111827"/>
                    </a:solidFill>
                    <a:latin typeface="Arial"/>
                  </a:rPr>
                  <a:t>th value of the ordered data.</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Increasing the largest four observations (6th to 9th) by 2 keeps them larger than the 5th value, so the order is unchanged.</a:t>
                </a:r>
                <a:endParaRPr sz="2400">
                  <a:solidFill>
                    <a:srgbClr val="111827"/>
                  </a:solidFill>
                </a:endParaRPr>
              </a:p>
            </p:txBody>
          </p:sp>
        </mc:Fallback>
      </mc:AlternateContent>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5th observation itself is not changed, so the median of the new set is the same.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the median remains the same, option (A).</a:t>
            </a:r>
            <a:endParaRPr sz="2400">
              <a:solidFill>
                <a:srgbClr val="111827"/>
              </a:solidFill>
            </a:endParaRPr>
          </a:p>
        </p:txBody>
      </p:sp>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remains the same</a:t>
            </a:r>
            <a:endParaRPr sz="2800">
              <a:solidFill>
                <a:srgbClr val="15803D"/>
              </a:solidFill>
            </a:endParaRP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Test a concrete set: options (B), (C), (D) claim a change for every set, so one example that shows no change eliminates them.</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2898648"/>
                <a:ext cx="10725912" cy="288950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Take the 9 distinct values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33</m:t>
                    </m:r>
                  </m:oMath>
                </a14:m>
                <a:r>
                  <a:rPr sz="2400" b="0">
                    <a:solidFill>
                      <a:srgbClr val="111827"/>
                    </a:solidFill>
                    <a:latin typeface="Arial"/>
                  </a:rPr>
                  <a:t> (median </a:t>
                </a:r>
                <a14:m>
                  <m:oMath xmlns:m="http://schemas.openxmlformats.org/officeDocument/2006/math">
                    <m:r>
                      <a:rPr lang="en-IN" sz="2400" i="1">
                        <a:solidFill>
                          <a:srgbClr val="111827"/>
                        </a:solidFill>
                        <a:latin typeface="Cambria Math" panose="02040503050406030204" pitchFamily="18" charset="0"/>
                      </a:rPr>
                      <m:t>20.5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Add 2 to the largest four: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oMath>
                </a14:m>
                <a:r>
                  <a:rPr sz="2400" b="0">
                    <a:solidFill>
                      <a:srgbClr val="111827"/>
                    </a:solidFill>
                    <a:latin typeface="Arial"/>
                  </a:rPr>
                  <a:t>. The median is still </a:t>
                </a:r>
                <a14:m>
                  <m:oMath xmlns:m="http://schemas.openxmlformats.org/officeDocument/2006/math">
                    <m:r>
                      <a:rPr lang="en-IN" sz="2400" i="1">
                        <a:solidFill>
                          <a:srgbClr val="111827"/>
                        </a:solidFill>
                        <a:latin typeface="Cambria Math" panose="02040503050406030204" pitchFamily="18" charset="0"/>
                      </a:rPr>
                      <m:t>20.5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(B), (C) and (D), which each assert a change, are false; only (A) is left.</a:t>
                </a:r>
                <a:endParaRPr sz="2400">
                  <a:solidFill>
                    <a:srgbClr val="111827"/>
                  </a:solidFill>
                </a:endParaRPr>
              </a:p>
            </p:txBody>
          </p:sp>
        </mc:Choice>
        <mc:Fallback>
          <p:sp>
            <p:nvSpPr>
              <p:cNvPr id="6" name="Rectangle 5"/>
              <p:cNvSpPr/>
              <p:nvPr/>
            </p:nvSpPr>
            <p:spPr>
              <a:xfrm>
                <a:off x="731520" y="2898648"/>
                <a:ext cx="10725912" cy="288950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Take the 9 distinct values </a:t>
                </a:r>
                <a:r>
                  <a:rPr lang="en-IN" sz="2400">
                    <a:solidFill>
                      <a:srgbClr val="111827"/>
                    </a:solidFill>
                    <a:latin typeface="Cambria Math" panose="02040503050406030204" pitchFamily="18" charset="0"/>
                  </a:rPr>
                  <a:t>$1,2,3,4,20.5,30,31,32,33$</a:t>
                </a:r>
                <a:r>
                  <a:rPr sz="2400" b="0">
                    <a:solidFill>
                      <a:srgbClr val="111827"/>
                    </a:solidFill>
                    <a:latin typeface="Arial"/>
                  </a:rPr>
                  <a:t> (median </a:t>
                </a:r>
                <a:r>
                  <a:rPr lang="en-IN" sz="2400">
                    <a:solidFill>
                      <a:srgbClr val="111827"/>
                    </a:solidFill>
                    <a:latin typeface="Cambria Math" panose="02040503050406030204" pitchFamily="18" charset="0"/>
                  </a:rPr>
                  <a:t>$20.5$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Add 2 to the largest four: </a:t>
                </a:r>
                <a:r>
                  <a:rPr lang="en-IN" sz="2400">
                    <a:solidFill>
                      <a:srgbClr val="111827"/>
                    </a:solidFill>
                    <a:latin typeface="Cambria Math" panose="02040503050406030204" pitchFamily="18" charset="0"/>
                  </a:rPr>
                  <a:t>$1,2,3,4,20.5,32,33,34,35$</a:t>
                </a:r>
                <a:r>
                  <a:rPr sz="2400" b="0">
                    <a:solidFill>
                      <a:srgbClr val="111827"/>
                    </a:solidFill>
                    <a:latin typeface="Arial"/>
                  </a:rPr>
                  <a:t>. The median is still </a:t>
                </a:r>
                <a:r>
                  <a:rPr lang="en-IN" sz="2400">
                    <a:solidFill>
                      <a:srgbClr val="111827"/>
                    </a:solidFill>
                    <a:latin typeface="Cambria Math" panose="02040503050406030204" pitchFamily="18" charset="0"/>
                  </a:rPr>
                  <a:t>$20.5$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(B), (C) and (D), which each assert a change, are false; only (A) is left.</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remains the same</a:t>
            </a:r>
            <a:endParaRPr sz="2800">
              <a:solidFill>
                <a:srgbClr val="15803D"/>
              </a:solidFill>
            </a:endParaRP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median depends only on the middle order statistic(s); changing values far above (or far below) the middle, without crossing it, leaves the median unchanged.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mean, in contrast, would change here (by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9</m:t>
                        </m:r>
                      </m:den>
                    </m:f>
                  </m:oMath>
                </a14:m>
                <a:r>
                  <a:rPr sz="2400" b="0">
                    <a:solidFill>
                      <a:srgbClr val="111827"/>
                    </a:solidFill>
                    <a:latin typeface="Arial"/>
                  </a:rPr>
                  <a:t>): the median is resistant to extreme values.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an even number of observations the median uses the two middle values; the same resistance holds.</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median depends only on the middle order statistic(s); changing values far above (or far below) the middle, without crossing it, leaves the median unchanged.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mean, in contrast, would change here (by </a:t>
                </a:r>
                <a:r>
                  <a:rPr lang="en-IN" sz="2400">
                    <a:solidFill>
                      <a:srgbClr val="111827"/>
                    </a:solidFill>
                    <a:latin typeface="Cambria Math" panose="02040503050406030204" pitchFamily="18" charset="0"/>
                  </a:rPr>
                  <a:t>$\frac{4\times2}{9}$</a:t>
                </a:r>
                <a:r>
                  <a:rPr sz="2400" b="0">
                    <a:solidFill>
                      <a:srgbClr val="111827"/>
                    </a:solidFill>
                    <a:latin typeface="Arial"/>
                  </a:rPr>
                  <a:t>): the median is resistant to extreme values.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an even number of observations the median uses the two middle values; the same resistance holds.</a:t>
                </a:r>
                <a:endParaRPr sz="2400">
                  <a:solidFill>
                    <a:srgbClr val="111827"/>
                  </a:solidFill>
                </a:endParaRPr>
              </a:p>
            </p:txBody>
          </p:sp>
        </mc:Fallback>
      </mc:AlternateContent>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44348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In an experiment with 15 observations on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the following results were available: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2830</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170</m:t>
                    </m:r>
                  </m:oMath>
                </a14:m>
                <a:r>
                  <a:rPr sz="2400" b="0">
                    <a:solidFill>
                      <a:srgbClr val="111827"/>
                    </a:solidFill>
                    <a:latin typeface="Arial"/>
                  </a:rPr>
                  <a:t>. One observation that was 20 was found to be wrong and was replaced by the correct value 30. Then the corrected variance is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8.33   (B) 78.00   (C) 188.66   (D) 177.33</a:t>
                </a:r>
                <a:endParaRPr sz="2400">
                  <a:solidFill>
                    <a:srgbClr val="111827"/>
                  </a:solidFill>
                </a:endParaRPr>
              </a:p>
            </p:txBody>
          </p:sp>
        </mc:Choice>
        <mc:Fallback>
          <p:sp>
            <p:nvSpPr>
              <p:cNvPr id="4" name="Rounded Rectangle 3"/>
              <p:cNvSpPr/>
              <p:nvPr/>
            </p:nvSpPr>
            <p:spPr>
              <a:xfrm>
                <a:off x="731520" y="1280160"/>
                <a:ext cx="10725912" cy="244348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In an experiment with 15 observations on </a:t>
                </a:r>
                <a:r>
                  <a:rPr lang="en-IN" sz="2400">
                    <a:solidFill>
                      <a:srgbClr val="111827"/>
                    </a:solidFill>
                    <a:latin typeface="Cambria Math" panose="02040503050406030204" pitchFamily="18" charset="0"/>
                  </a:rPr>
                  <a:t>$x$</a:t>
                </a:r>
                <a:r>
                  <a:rPr sz="2400" b="0">
                    <a:solidFill>
                      <a:srgbClr val="111827"/>
                    </a:solidFill>
                    <a:latin typeface="Arial"/>
                  </a:rPr>
                  <a:t>, the following results were available: </a:t>
                </a:r>
                <a:r>
                  <a:rPr lang="en-IN" sz="2400">
                    <a:solidFill>
                      <a:srgbClr val="111827"/>
                    </a:solidFill>
                    <a:latin typeface="Cambria Math" panose="02040503050406030204" pitchFamily="18" charset="0"/>
                  </a:rPr>
                  <a:t>$\sum x^2=2830$</a:t>
                </a:r>
                <a:r>
                  <a:rPr sz="2400" b="0">
                    <a:solidFill>
                      <a:srgbClr val="111827"/>
                    </a:solidFill>
                    <a:latin typeface="Arial"/>
                  </a:rPr>
                  <a:t>, </a:t>
                </a:r>
                <a:r>
                  <a:rPr lang="en-IN" sz="2400">
                    <a:solidFill>
                      <a:srgbClr val="111827"/>
                    </a:solidFill>
                    <a:latin typeface="Cambria Math" panose="02040503050406030204" pitchFamily="18" charset="0"/>
                  </a:rPr>
                  <a:t>$\sum x=170$</a:t>
                </a:r>
                <a:r>
                  <a:rPr sz="2400" b="0">
                    <a:solidFill>
                      <a:srgbClr val="111827"/>
                    </a:solidFill>
                    <a:latin typeface="Arial"/>
                  </a:rPr>
                  <a:t>. One observation that was 20 was found to be wrong and was replaced by the correct value 30. Then the corrected variance is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8.33   (B) 78.00   (C) 188.66   (D) 177.33</a:t>
                </a:r>
                <a:endParaRPr sz="2400">
                  <a:solidFill>
                    <a:srgbClr val="111827"/>
                  </a:solidFill>
                </a:endParaRPr>
              </a:p>
            </p:txBody>
          </p:sp>
        </mc:Fallback>
      </mc:AlternateContent>
      <p:sp>
        <p:nvSpPr>
          <p:cNvPr id="5" name="Rectangle 4"/>
          <p:cNvSpPr/>
          <p:nvPr/>
        </p:nvSpPr>
        <p:spPr>
          <a:xfrm>
            <a:off x="731520" y="3952239"/>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Measures of central tendency and dispersion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Correct both sums first, then use variance </a:t>
                </a:r>
                <a14:m>
                  <m:oMath xmlns:m="http://schemas.openxmlformats.org/officeDocument/2006/math">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num>
                      <m:den>
                        <m:r>
                          <a:rPr lang="en-IN" sz="2400" i="1">
                            <a:solidFill>
                              <a:srgbClr val="78350F"/>
                            </a:solidFill>
                            <a:latin typeface="Cambria Math" panose="02040503050406030204" pitchFamily="18" charset="0"/>
                          </a:rPr>
                          <m:t>𝑛</m:t>
                        </m:r>
                      </m:den>
                    </m:f>
                    <m:r>
                      <m:rPr>
                        <m:sty m:val="p"/>
                      </m:rPr>
                      <a:rPr lang="en-IN" sz="2400">
                        <a:solidFill>
                          <a:srgbClr val="78350F"/>
                        </a:solidFill>
                        <a:latin typeface="Cambria Math" panose="02040503050406030204" pitchFamily="18" charset="0"/>
                      </a:rPr>
                      <m:t>−</m:t>
                    </m:r>
                    <m:sSup>
                      <m:e>
                        <m:d>
                          <m:dPr>
                            <m:begChr m:val="("/>
                            <m:sepChr m:val=""/>
                            <m:endChr m:val=")"/>
                            <m:grow/>
                            <m:ctrlPr>
                              <a:rPr lang="en-IN" sz="2400" i="1">
                                <a:solidFill>
                                  <a:srgbClr val="78350F"/>
                                </a:solidFill>
                                <a:latin typeface="Cambria Math" panose="02040503050406030204" pitchFamily="18" charset="0"/>
                              </a:rPr>
                            </m:ctrlPr>
                          </m:dPr>
                          <m:e>
                            <m:f>
                              <m:fPr>
                                <m:type m:val="bar"/>
                                <m:ctrlPr>
                                  <a:rPr lang="en-IN" sz="2400" i="1">
                                    <a:solidFill>
                                      <a:srgbClr val="78350F"/>
                                    </a:solidFill>
                                    <a:latin typeface="Cambria Math" panose="02040503050406030204" pitchFamily="18" charset="0"/>
                                  </a:rPr>
                                </m:ctrlPr>
                              </m:fPr>
                              <m:num>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num>
                              <m:den>
                                <m:r>
                                  <a:rPr lang="en-IN" sz="2400" i="1">
                                    <a:solidFill>
                                      <a:srgbClr val="78350F"/>
                                    </a:solidFill>
                                    <a:latin typeface="Cambria Math" panose="02040503050406030204" pitchFamily="18" charset="0"/>
                                  </a:rPr>
                                  <m:t>𝑛</m:t>
                                </m:r>
                              </m:den>
                            </m:f>
                          </m:e>
                        </m:d>
                      </m:e>
                      <m:sup>
                        <m:r>
                          <a:rPr lang="en-IN" sz="2400" i="1">
                            <a:solidFill>
                              <a:srgbClr val="78350F"/>
                            </a:solidFill>
                            <a:latin typeface="Cambria Math" panose="02040503050406030204" pitchFamily="18" charset="0"/>
                          </a:rPr>
                          <m:t>2</m:t>
                        </m:r>
                      </m:sup>
                    </m:sSup>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Correct both sums first, then use variance </a:t>
                </a:r>
                <a:r>
                  <a:rPr lang="en-IN" sz="2400">
                    <a:solidFill>
                      <a:srgbClr val="78350F"/>
                    </a:solidFill>
                    <a:latin typeface="Cambria Math" panose="02040503050406030204" pitchFamily="18" charset="0"/>
                  </a:rPr>
                  <a:t>$=\frac{\sum x^2}{n}-\left(\frac{\sum x}{n}\right)^2$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746248"/>
                <a:ext cx="10725912" cy="304190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170</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2830</m:t>
                    </m:r>
                  </m:oMath>
                </a14:m>
                <a:r>
                  <a:rPr sz="2400" b="0">
                    <a:solidFill>
                      <a:srgbClr val="111827"/>
                    </a:solidFill>
                    <a:latin typeface="Arial"/>
                  </a:rPr>
                  <a:t>; the wrong value 20 is replaced by 30.</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Corrected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Corrected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2830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20</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30</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3330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Variance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𝑛</m:t>
                        </m:r>
                      </m:den>
                    </m:f>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𝑛</m:t>
                                </m:r>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3330</m:t>
                        </m:r>
                      </m:num>
                      <m:den>
                        <m:r>
                          <a:rPr lang="en-IN" sz="2400" i="1">
                            <a:solidFill>
                              <a:srgbClr val="111827"/>
                            </a:solidFill>
                            <a:latin typeface="Cambria Math" panose="02040503050406030204" pitchFamily="18" charset="0"/>
                          </a:rPr>
                          <m:t>15</m:t>
                        </m:r>
                      </m:den>
                    </m:f>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180</m:t>
                                </m:r>
                              </m:num>
                              <m:den>
                                <m:r>
                                  <a:rPr lang="en-IN" sz="2400" i="1">
                                    <a:solidFill>
                                      <a:srgbClr val="111827"/>
                                    </a:solidFill>
                                    <a:latin typeface="Cambria Math" panose="02040503050406030204" pitchFamily="18" charset="0"/>
                                  </a:rPr>
                                  <m:t>15</m:t>
                                </m:r>
                              </m:den>
                            </m:f>
                          </m:e>
                        </m:d>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78</m:t>
                    </m:r>
                  </m:oMath>
                </a14:m>
                <a:r>
                  <a:rPr sz="2400" b="0">
                    <a:solidFill>
                      <a:srgbClr val="111827"/>
                    </a:solidFill>
                    <a:latin typeface="Arial"/>
                  </a:rPr>
                  <a:t>, option (B).</a:t>
                </a:r>
                <a:endParaRPr sz="2400">
                  <a:solidFill>
                    <a:srgbClr val="111827"/>
                  </a:solidFill>
                </a:endParaRPr>
              </a:p>
            </p:txBody>
          </p:sp>
        </mc:Choice>
        <mc:Fallback>
          <p:sp>
            <p:nvSpPr>
              <p:cNvPr id="5" name="Rectangle 4"/>
              <p:cNvSpPr/>
              <p:nvPr/>
            </p:nvSpPr>
            <p:spPr>
              <a:xfrm>
                <a:off x="731520" y="2746248"/>
                <a:ext cx="10725912" cy="304190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$n=15$</a:t>
                </a:r>
                <a:r>
                  <a:rPr sz="2400" b="0">
                    <a:solidFill>
                      <a:srgbClr val="111827"/>
                    </a:solidFill>
                    <a:latin typeface="Arial"/>
                  </a:rPr>
                  <a:t>, </a:t>
                </a:r>
                <a:r>
                  <a:rPr lang="en-IN" sz="2400">
                    <a:solidFill>
                      <a:srgbClr val="111827"/>
                    </a:solidFill>
                    <a:latin typeface="Cambria Math" panose="02040503050406030204" pitchFamily="18" charset="0"/>
                  </a:rPr>
                  <a:t>$\sum x=170$</a:t>
                </a:r>
                <a:r>
                  <a:rPr sz="2400" b="0">
                    <a:solidFill>
                      <a:srgbClr val="111827"/>
                    </a:solidFill>
                    <a:latin typeface="Arial"/>
                  </a:rPr>
                  <a:t>, </a:t>
                </a:r>
                <a:r>
                  <a:rPr lang="en-IN" sz="2400">
                    <a:solidFill>
                      <a:srgbClr val="111827"/>
                    </a:solidFill>
                    <a:latin typeface="Cambria Math" panose="02040503050406030204" pitchFamily="18" charset="0"/>
                  </a:rPr>
                  <a:t>$\sum x^2=2830$</a:t>
                </a:r>
                <a:r>
                  <a:rPr sz="2400" b="0">
                    <a:solidFill>
                      <a:srgbClr val="111827"/>
                    </a:solidFill>
                    <a:latin typeface="Arial"/>
                  </a:rPr>
                  <a:t>; the wrong value 20 is replaced by 30.</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Corrected </a:t>
                </a:r>
                <a:r>
                  <a:rPr lang="en-IN" sz="2400">
                    <a:solidFill>
                      <a:srgbClr val="111827"/>
                    </a:solidFill>
                    <a:latin typeface="Cambria Math" panose="02040503050406030204" pitchFamily="18" charset="0"/>
                  </a:rPr>
                  <a:t>$\sum x=170-20+30=180$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Corrected </a:t>
                </a:r>
                <a:r>
                  <a:rPr lang="en-IN" sz="2400">
                    <a:solidFill>
                      <a:srgbClr val="111827"/>
                    </a:solidFill>
                    <a:latin typeface="Cambria Math" panose="02040503050406030204" pitchFamily="18" charset="0"/>
                  </a:rPr>
                  <a:t>$\sum x^2=2830-20^2+30^2=3330$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Variance </a:t>
                </a:r>
                <a:r>
                  <a:rPr lang="en-IN" sz="2400">
                    <a:solidFill>
                      <a:srgbClr val="111827"/>
                    </a:solidFill>
                    <a:latin typeface="Cambria Math" panose="02040503050406030204" pitchFamily="18" charset="0"/>
                  </a:rPr>
                  <a:t>$=\frac{\sum x^2}{n}-\left(\frac{\sum x}{n}\right)^2=\frac{3330}{15}-\left(\frac{180}{15}\right)^2$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$=222-144=78$</a:t>
                </a:r>
                <a:r>
                  <a:rPr sz="2400" b="0">
                    <a:solidFill>
                      <a:srgbClr val="111827"/>
                    </a:solidFill>
                    <a:latin typeface="Arial"/>
                  </a:rPr>
                  <a:t>, option (B).</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78.00</a:t>
            </a:r>
            <a:endParaRPr sz="2800">
              <a:solidFill>
                <a:srgbClr val="15803D"/>
              </a:solidFill>
            </a:endParaRP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Update formula: when one observation changes, correct the old variance rather than recompute the sums.</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Old mean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170</m:t>
                        </m:r>
                      </m:num>
                      <m:den>
                        <m:r>
                          <a:rPr lang="en-IN" sz="2400" i="1">
                            <a:solidFill>
                              <a:srgbClr val="111827"/>
                            </a:solidFill>
                            <a:latin typeface="Cambria Math" panose="02040503050406030204" pitchFamily="18" charset="0"/>
                          </a:rPr>
                          <m:t>15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34</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old variance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2830</m:t>
                        </m:r>
                      </m:num>
                      <m:den>
                        <m:r>
                          <a:rPr lang="en-IN" sz="2400" i="1">
                            <a:solidFill>
                              <a:srgbClr val="111827"/>
                            </a:solidFill>
                            <a:latin typeface="Cambria Math" panose="02040503050406030204" pitchFamily="18" charset="0"/>
                          </a:rPr>
                          <m:t>15</m:t>
                        </m:r>
                      </m:den>
                    </m:f>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34</m:t>
                                </m:r>
                              </m:num>
                              <m:den>
                                <m:r>
                                  <a:rPr lang="en-IN" sz="2400" i="1">
                                    <a:solidFill>
                                      <a:srgbClr val="111827"/>
                                    </a:solidFill>
                                    <a:latin typeface="Cambria Math" panose="02040503050406030204" pitchFamily="18" charset="0"/>
                                  </a:rPr>
                                  <m:t>3</m:t>
                                </m:r>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542</m:t>
                        </m:r>
                      </m:num>
                      <m:den>
                        <m:r>
                          <a:rPr lang="en-IN" sz="2400" i="1">
                            <a:solidFill>
                              <a:srgbClr val="111827"/>
                            </a:solidFill>
                            <a:latin typeface="Cambria Math" panose="02040503050406030204" pitchFamily="18" charset="0"/>
                          </a:rPr>
                          <m:t>9</m:t>
                        </m:r>
                      </m:den>
                    </m:f>
                  </m:oMath>
                </a14:m>
                <a:r>
                  <a:rPr sz="2400" b="0">
                    <a:solidFill>
                      <a:srgbClr val="111827"/>
                    </a:solidFill>
                    <a:latin typeface="Arial"/>
                  </a:rPr>
                  <a:t>. New mean </a:t>
                </a:r>
                <a14:m>
                  <m:oMath xmlns:m="http://schemas.openxmlformats.org/officeDocument/2006/math">
                    <m:sSup>
                      <m:e>
                        <m:r>
                          <a:rPr lang="en-IN" sz="2400" i="1">
                            <a:solidFill>
                              <a:srgbClr val="111827"/>
                            </a:solidFill>
                            <a:latin typeface="Cambria Math" panose="02040503050406030204" pitchFamily="18" charset="0"/>
                          </a:rPr>
                          <m:t>𝑚</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180</m:t>
                        </m:r>
                      </m:num>
                      <m:den>
                        <m:r>
                          <a:rPr lang="en-IN" sz="2400" i="1">
                            <a:solidFill>
                              <a:srgbClr val="111827"/>
                            </a:solidFill>
                            <a:latin typeface="Cambria Math" panose="02040503050406030204" pitchFamily="18" charset="0"/>
                          </a:rPr>
                          <m:t>15</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Replacing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oMath>
                </a14:m>
                <a:r>
                  <a:rPr sz="2400" b="0">
                    <a:solidFill>
                      <a:srgbClr val="111827"/>
                    </a:solidFill>
                    <a:latin typeface="Arial"/>
                  </a:rPr>
                  <a:t> by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σ</m:t>
                        </m:r>
                      </m:e>
                      <m:sup>
                        <m:r>
                          <m:rPr>
                            <m:sty m:val="p"/>
                          </m:rPr>
                          <a:rPr lang="en-IN" sz="2400">
                            <a:solidFill>
                              <a:srgbClr val="111827"/>
                            </a:solidFill>
                            <a:latin typeface="Cambria Math" panose="02040503050406030204" pitchFamily="18" charset="0"/>
                          </a:rPr>
                          <m:t>′</m:t>
                        </m:r>
                      </m:sup>
                    </m:sSup>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𝑛</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𝑚</m:t>
                        </m:r>
                      </m:e>
                      <m:sup>
                        <m:r>
                          <m:rPr>
                            <m:sty m:val="p"/>
                          </m:rPr>
                          <a:rPr lang="en-IN" sz="2400">
                            <a:solidFill>
                              <a:srgbClr val="111827"/>
                            </a:solidFill>
                            <a:latin typeface="Cambria Math" panose="02040503050406030204" pitchFamily="18" charset="0"/>
                          </a:rPr>
                          <m:t>′</m:t>
                        </m:r>
                      </m:sup>
                    </m:sSup>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σ</m:t>
                        </m:r>
                      </m:e>
                      <m:sup>
                        <m:r>
                          <m:rPr>
                            <m:sty m:val="p"/>
                          </m:rPr>
                          <a:rPr lang="en-IN" sz="2400">
                            <a:solidFill>
                              <a:srgbClr val="111827"/>
                            </a:solidFill>
                            <a:latin typeface="Cambria Math" panose="02040503050406030204" pitchFamily="18" charset="0"/>
                          </a:rPr>
                          <m:t>′</m:t>
                        </m:r>
                      </m:sup>
                    </m:sSup>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542</m:t>
                        </m:r>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500</m:t>
                        </m:r>
                      </m:num>
                      <m:den>
                        <m:r>
                          <a:rPr lang="en-IN" sz="2400" i="1">
                            <a:solidFill>
                              <a:srgbClr val="111827"/>
                            </a:solidFill>
                            <a:latin typeface="Cambria Math" panose="02040503050406030204" pitchFamily="18" charset="0"/>
                          </a:rPr>
                          <m:t>15</m:t>
                        </m:r>
                      </m:den>
                    </m:f>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144</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1156</m:t>
                            </m:r>
                          </m:num>
                          <m:den>
                            <m:r>
                              <a:rPr lang="en-IN" sz="2400" i="1">
                                <a:solidFill>
                                  <a:srgbClr val="111827"/>
                                </a:solidFill>
                                <a:latin typeface="Cambria Math" panose="02040503050406030204" pitchFamily="18" charset="0"/>
                              </a:rPr>
                              <m:t>9</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542</m:t>
                        </m:r>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300</m:t>
                        </m:r>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140</m:t>
                        </m:r>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702</m:t>
                        </m:r>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78</m:t>
                    </m:r>
                  </m:oMath>
                </a14:m>
                <a:r>
                  <a:rPr sz="2400" b="0">
                    <a:solidFill>
                      <a:srgbClr val="111827"/>
                    </a:solidFill>
                    <a:latin typeface="Arial"/>
                  </a:rPr>
                  <a:t>, the same answer.</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Old mean </a:t>
                </a:r>
                <a:r>
                  <a:rPr lang="en-IN" sz="2400">
                    <a:solidFill>
                      <a:srgbClr val="111827"/>
                    </a:solidFill>
                    <a:latin typeface="Cambria Math" panose="02040503050406030204" pitchFamily="18" charset="0"/>
                  </a:rPr>
                  <a:t>$m=\frac{170}{15}=\frac{34}{3}$</a:t>
                </a:r>
                <a:r>
                  <a:rPr sz="2400" b="0">
                    <a:solidFill>
                      <a:srgbClr val="111827"/>
                    </a:solidFill>
                    <a:latin typeface="Arial"/>
                  </a:rPr>
                  <a:t>; old variance </a:t>
                </a:r>
                <a:r>
                  <a:rPr lang="en-IN" sz="2400">
                    <a:solidFill>
                      <a:srgbClr val="111827"/>
                    </a:solidFill>
                    <a:latin typeface="Cambria Math" panose="02040503050406030204" pitchFamily="18" charset="0"/>
                  </a:rPr>
                  <a:t>$=\frac{2830}{15}-\left(\frac{34}{3}\right)^2=\frac{542}{9}$</a:t>
                </a:r>
                <a:r>
                  <a:rPr sz="2400" b="0">
                    <a:solidFill>
                      <a:srgbClr val="111827"/>
                    </a:solidFill>
                    <a:latin typeface="Arial"/>
                  </a:rPr>
                  <a:t>. New mean </a:t>
                </a:r>
                <a:r>
                  <a:rPr lang="en-IN" sz="2400">
                    <a:solidFill>
                      <a:srgbClr val="111827"/>
                    </a:solidFill>
                    <a:latin typeface="Cambria Math" panose="02040503050406030204" pitchFamily="18" charset="0"/>
                  </a:rPr>
                  <a:t>$m'=\frac{180}{15}=12$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Replacing </a:t>
                </a:r>
                <a:r>
                  <a:rPr lang="en-IN" sz="2400">
                    <a:solidFill>
                      <a:srgbClr val="111827"/>
                    </a:solidFill>
                    <a:latin typeface="Cambria Math" panose="02040503050406030204" pitchFamily="18" charset="0"/>
                  </a:rPr>
                  <a:t>$b=20$</a:t>
                </a:r>
                <a:r>
                  <a:rPr sz="2400" b="0">
                    <a:solidFill>
                      <a:srgbClr val="111827"/>
                    </a:solidFill>
                    <a:latin typeface="Arial"/>
                  </a:rPr>
                  <a:t> by </a:t>
                </a:r>
                <a:r>
                  <a:rPr lang="en-IN" sz="2400">
                    <a:solidFill>
                      <a:srgbClr val="111827"/>
                    </a:solidFill>
                    <a:latin typeface="Cambria Math" panose="02040503050406030204" pitchFamily="18" charset="0"/>
                  </a:rPr>
                  <a:t>$a=30$</a:t>
                </a:r>
                <a:r>
                  <a:rPr sz="2400" b="0">
                    <a:solidFill>
                      <a:srgbClr val="111827"/>
                    </a:solidFill>
                    <a:latin typeface="Arial"/>
                  </a:rPr>
                  <a:t>: </a:t>
                </a:r>
                <a:r>
                  <a:rPr lang="en-IN" sz="2400">
                    <a:solidFill>
                      <a:srgbClr val="111827"/>
                    </a:solidFill>
                    <a:latin typeface="Cambria Math" panose="02040503050406030204" pitchFamily="18" charset="0"/>
                  </a:rPr>
                  <a:t>$\sigma'^2=\sigma^2+\frac{a^2-b^2}{n}-(m'^2-m^2)$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$\sigma'^2=\frac{542}{9}+\frac{500}{15}-\left(144-\frac{1156}{9}\right)=\frac{542}{9}+\frac{300}{9}-\frac{140}{9}=\frac{702}{9}=78$</a:t>
                </a:r>
                <a:r>
                  <a:rPr sz="2400" b="0">
                    <a:solidFill>
                      <a:srgbClr val="111827"/>
                    </a:solidFill>
                    <a:latin typeface="Arial"/>
                  </a:rPr>
                  <a:t>, the same answer.</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78.00</a:t>
            </a:r>
            <a:endParaRPr sz="2800">
              <a:solidFill>
                <a:srgbClr val="15803D"/>
              </a:solidFill>
            </a:endParaRP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When one observation </a:t>
                </a:r>
                <a14:m>
                  <m:oMath xmlns:m="http://schemas.openxmlformats.org/officeDocument/2006/math">
                    <m:r>
                      <a:rPr lang="en-IN" sz="2400" i="1">
                        <a:solidFill>
                          <a:srgbClr val="111827"/>
                        </a:solidFill>
                        <a:latin typeface="Cambria Math" panose="02040503050406030204" pitchFamily="18" charset="0"/>
                      </a:rPr>
                      <m:t>𝑏</m:t>
                    </m:r>
                  </m:oMath>
                </a14:m>
                <a:r>
                  <a:rPr sz="2400" b="0">
                    <a:solidFill>
                      <a:srgbClr val="111827"/>
                    </a:solidFill>
                    <a:latin typeface="Arial"/>
                  </a:rPr>
                  <a:t> is replaced by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 always recompute both sums, never reuse the old mean.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quick check: the old variance here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2830</m:t>
                        </m:r>
                      </m:num>
                      <m:den>
                        <m:r>
                          <a:rPr lang="en-IN" sz="2400" i="1">
                            <a:solidFill>
                              <a:srgbClr val="111827"/>
                            </a:solidFill>
                            <a:latin typeface="Cambria Math" panose="02040503050406030204" pitchFamily="18" charset="0"/>
                          </a:rPr>
                          <m:t>15</m:t>
                        </m:r>
                      </m:den>
                    </m:f>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170</m:t>
                                </m:r>
                              </m:num>
                              <m:den>
                                <m:r>
                                  <a:rPr lang="en-IN" sz="2400" i="1">
                                    <a:solidFill>
                                      <a:srgbClr val="111827"/>
                                    </a:solidFill>
                                    <a:latin typeface="Cambria Math" panose="02040503050406030204" pitchFamily="18" charset="0"/>
                                  </a:rPr>
                                  <m:t>15</m:t>
                                </m:r>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60.2</m:t>
                    </m:r>
                  </m:oMath>
                </a14:m>
                <a:r>
                  <a:rPr sz="2400" b="0">
                    <a:solidFill>
                      <a:srgbClr val="111827"/>
                    </a:solidFill>
                    <a:latin typeface="Arial"/>
                  </a:rPr>
                  <a:t>; replacing 20 by the larger 30 moves a value away from the mean, so the variance must rise, and </a:t>
                </a:r>
                <a14:m>
                  <m:oMath xmlns:m="http://schemas.openxmlformats.org/officeDocument/2006/math">
                    <m:r>
                      <a:rPr lang="en-IN" sz="2400" i="1">
                        <a:solidFill>
                          <a:srgbClr val="111827"/>
                        </a:solidFill>
                        <a:latin typeface="Cambria Math" panose="02040503050406030204" pitchFamily="18" charset="0"/>
                      </a:rPr>
                      <m:t>78</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60.2</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When one observation </a:t>
                </a:r>
                <a:r>
                  <a:rPr lang="en-IN" sz="2400">
                    <a:solidFill>
                      <a:srgbClr val="111827"/>
                    </a:solidFill>
                    <a:latin typeface="Cambria Math" panose="02040503050406030204" pitchFamily="18" charset="0"/>
                  </a:rPr>
                  <a:t>$b$</a:t>
                </a:r>
                <a:r>
                  <a:rPr sz="2400" b="0">
                    <a:solidFill>
                      <a:srgbClr val="111827"/>
                    </a:solidFill>
                    <a:latin typeface="Arial"/>
                  </a:rPr>
                  <a:t> is replaced by </a:t>
                </a:r>
                <a:r>
                  <a:rPr lang="en-IN" sz="2400">
                    <a:solidFill>
                      <a:srgbClr val="111827"/>
                    </a:solidFill>
                    <a:latin typeface="Cambria Math" panose="02040503050406030204" pitchFamily="18" charset="0"/>
                  </a:rPr>
                  <a:t>$a$</a:t>
                </a:r>
                <a:r>
                  <a:rPr sz="2400" b="0">
                    <a:solidFill>
                      <a:srgbClr val="111827"/>
                    </a:solidFill>
                    <a:latin typeface="Arial"/>
                  </a:rPr>
                  <a:t>: </a:t>
                </a:r>
                <a:r>
                  <a:rPr lang="en-IN" sz="2400">
                    <a:solidFill>
                      <a:srgbClr val="111827"/>
                    </a:solidFill>
                    <a:latin typeface="Cambria Math" panose="02040503050406030204" pitchFamily="18" charset="0"/>
                  </a:rPr>
                  <a:t>$\sum x\to\sum x+(a-b)$</a:t>
                </a:r>
                <a:r>
                  <a:rPr sz="2400" b="0">
                    <a:solidFill>
                      <a:srgbClr val="111827"/>
                    </a:solidFill>
                    <a:latin typeface="Arial"/>
                  </a:rPr>
                  <a:t> and </a:t>
                </a:r>
                <a:r>
                  <a:rPr lang="en-IN" sz="2400">
                    <a:solidFill>
                      <a:srgbClr val="111827"/>
                    </a:solidFill>
                    <a:latin typeface="Cambria Math" panose="02040503050406030204" pitchFamily="18" charset="0"/>
                  </a:rPr>
                  <a:t>$\sum x^2\to\sum x^2+(a^2-b^2)$</a:t>
                </a:r>
                <a:r>
                  <a:rPr sz="2400" b="0">
                    <a:solidFill>
                      <a:srgbClr val="111827"/>
                    </a:solidFill>
                    <a:latin typeface="Arial"/>
                  </a:rPr>
                  <a:t>; always recompute both sums, never reuse the old mean.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quick check: the old variance here is </a:t>
                </a:r>
                <a:r>
                  <a:rPr lang="en-IN" sz="2400">
                    <a:solidFill>
                      <a:srgbClr val="111827"/>
                    </a:solidFill>
                    <a:latin typeface="Cambria Math" panose="02040503050406030204" pitchFamily="18" charset="0"/>
                  </a:rPr>
                  <a:t>$\frac{2830}{15}-\left(\frac{170}{15}\right)^2\approx60.2$</a:t>
                </a:r>
                <a:r>
                  <a:rPr sz="2400" b="0">
                    <a:solidFill>
                      <a:srgbClr val="111827"/>
                    </a:solidFill>
                    <a:latin typeface="Arial"/>
                  </a:rPr>
                  <a:t>; replacing 20 by the larger 30 moves a value away from the mean, so the variance must rise, and </a:t>
                </a:r>
                <a:r>
                  <a:rPr lang="en-IN" sz="2400">
                    <a:solidFill>
                      <a:srgbClr val="111827"/>
                    </a:solidFill>
                    <a:latin typeface="Cambria Math" panose="02040503050406030204" pitchFamily="18" charset="0"/>
                  </a:rPr>
                  <a:t>$78&gt;60.2$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731520" y="1280160"/>
            <a:ext cx="10725912" cy="28153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Consider the following statements : (a) Mode can be computed from histogram. (b) Median is not independent of change of scale. (c) Variance is independent of change of origin and scale. Which of these is/are correct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only (a)   (B) only (b)   (C) only (a) and (b)   (D) (a), (b) and (c)</a:t>
            </a:r>
            <a:endParaRPr sz="2400">
              <a:solidFill>
                <a:srgbClr val="111827"/>
              </a:solidFill>
            </a:endParaRPr>
          </a:p>
        </p:txBody>
      </p:sp>
      <p:sp>
        <p:nvSpPr>
          <p:cNvPr id="5" name="Rectangle 4"/>
          <p:cNvSpPr/>
          <p:nvPr/>
        </p:nvSpPr>
        <p:spPr>
          <a:xfrm>
            <a:off x="731520" y="4324095"/>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Properties of mean, median, mode and variance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Variance is unaffected by a change of origin but is multiplied by </a:t>
                </a:r>
                <a14:m>
                  <m:oMath xmlns:m="http://schemas.openxmlformats.org/officeDocument/2006/math">
                    <m:sSup>
                      <m:e>
                        <m:r>
                          <a:rPr lang="en-IN" sz="2400" i="1">
                            <a:solidFill>
                              <a:srgbClr val="78350F"/>
                            </a:solidFill>
                            <a:latin typeface="Cambria Math" panose="02040503050406030204" pitchFamily="18" charset="0"/>
                          </a:rPr>
                          <m:t>𝑘</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under a change of scale.</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Variance is unaffected by a change of origin but is multiplied by </a:t>
                </a:r>
                <a:r>
                  <a:rPr lang="en-IN" sz="2400">
                    <a:solidFill>
                      <a:srgbClr val="78350F"/>
                    </a:solidFill>
                    <a:latin typeface="Cambria Math" panose="02040503050406030204" pitchFamily="18" charset="0"/>
                  </a:rPr>
                  <a:t>$k^2$</a:t>
                </a:r>
                <a:r>
                  <a:rPr sz="2400" b="0">
                    <a:solidFill>
                      <a:srgbClr val="78350F"/>
                    </a:solidFill>
                    <a:latin typeface="Arial"/>
                  </a:rPr>
                  <a:t> under a change of scale.</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The mode can be read from a histogram: it lies in the tallest bar and is found by the graphical (interpolation) method.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If every observation is multiplied by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the median is also multiplied by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so the median depends on the scale. The statement 'median is not independent of change of scale' is true.</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The mode can be read from a histogram: it lies in the tallest bar and is found by the graphical (interpolation) method.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If every observation is multiplied by </a:t>
                </a:r>
                <a:r>
                  <a:rPr lang="en-IN" sz="2400">
                    <a:solidFill>
                      <a:srgbClr val="111827"/>
                    </a:solidFill>
                    <a:latin typeface="Cambria Math" panose="02040503050406030204" pitchFamily="18" charset="0"/>
                  </a:rPr>
                  <a:t>$k$</a:t>
                </a:r>
                <a:r>
                  <a:rPr sz="2400" b="0">
                    <a:solidFill>
                      <a:srgbClr val="111827"/>
                    </a:solidFill>
                    <a:latin typeface="Arial"/>
                  </a:rPr>
                  <a:t>, the median is also multiplied by </a:t>
                </a:r>
                <a:r>
                  <a:rPr lang="en-IN" sz="2400">
                    <a:solidFill>
                      <a:srgbClr val="111827"/>
                    </a:solidFill>
                    <a:latin typeface="Cambria Math" panose="02040503050406030204" pitchFamily="18" charset="0"/>
                  </a:rPr>
                  <a:t>$k$</a:t>
                </a:r>
                <a:r>
                  <a:rPr sz="2400" b="0">
                    <a:solidFill>
                      <a:srgbClr val="111827"/>
                    </a:solidFill>
                    <a:latin typeface="Arial"/>
                  </a:rPr>
                  <a:t>; so the median depends on the scale. The statement 'median is not independent of change of scale' is true.</a:t>
                </a:r>
                <a:endParaRPr sz="2400">
                  <a:solidFill>
                    <a:srgbClr val="111827"/>
                  </a:solidFill>
                </a:endParaRPr>
              </a:p>
            </p:txBody>
          </p:sp>
        </mc:Fallback>
      </mc:AlternateContent>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 Variance is independent of a change of origin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oMath>
                </a14:m>
                <a:r>
                  <a:rPr sz="2400" b="0">
                    <a:solidFill>
                      <a:srgbClr val="111827"/>
                    </a:solidFill>
                    <a:latin typeface="Arial"/>
                  </a:rPr>
                  <a:t>) but not of scale: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𝑥</m:t>
                    </m:r>
                  </m:oMath>
                </a14:m>
                <a:r>
                  <a:rPr sz="2400" b="0">
                    <a:solidFill>
                      <a:srgbClr val="111827"/>
                    </a:solidFill>
                    <a:latin typeface="Arial"/>
                  </a:rPr>
                  <a:t> gives variance </a:t>
                </a:r>
                <a14:m>
                  <m:oMath xmlns:m="http://schemas.openxmlformats.org/officeDocument/2006/math">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So (c) is false.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Correct statements: (a) and (b), option (C).</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 Variance is independent of a change of origin (</a:t>
                </a:r>
                <a:r>
                  <a:rPr lang="en-IN" sz="2400">
                    <a:solidFill>
                      <a:srgbClr val="111827"/>
                    </a:solidFill>
                    <a:latin typeface="Cambria Math" panose="02040503050406030204" pitchFamily="18" charset="0"/>
                  </a:rPr>
                  <a:t>$x\to x+h$</a:t>
                </a:r>
                <a:r>
                  <a:rPr sz="2400" b="0">
                    <a:solidFill>
                      <a:srgbClr val="111827"/>
                    </a:solidFill>
                    <a:latin typeface="Arial"/>
                  </a:rPr>
                  <a:t>) but not of scale: </a:t>
                </a:r>
                <a:r>
                  <a:rPr lang="en-IN" sz="2400">
                    <a:solidFill>
                      <a:srgbClr val="111827"/>
                    </a:solidFill>
                    <a:latin typeface="Cambria Math" panose="02040503050406030204" pitchFamily="18" charset="0"/>
                  </a:rPr>
                  <a:t>$x\to kx$</a:t>
                </a:r>
                <a:r>
                  <a:rPr sz="2400" b="0">
                    <a:solidFill>
                      <a:srgbClr val="111827"/>
                    </a:solidFill>
                    <a:latin typeface="Arial"/>
                  </a:rPr>
                  <a:t> gives variance </a:t>
                </a:r>
                <a:r>
                  <a:rPr lang="en-IN" sz="2400">
                    <a:solidFill>
                      <a:srgbClr val="111827"/>
                    </a:solidFill>
                    <a:latin typeface="Cambria Math" panose="02040503050406030204" pitchFamily="18" charset="0"/>
                  </a:rPr>
                  <a:t>$k^2\sigma^2$</a:t>
                </a:r>
                <a:r>
                  <a:rPr sz="2400" b="0">
                    <a:solidFill>
                      <a:srgbClr val="111827"/>
                    </a:solidFill>
                    <a:latin typeface="Arial"/>
                  </a:rPr>
                  <a:t>. So (c) is false.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Correct statements: (a) and (b), option (C).</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only (a) and (b)</a:t>
            </a:r>
            <a:endParaRPr sz="2800">
              <a:solidFill>
                <a:srgbClr val="15803D"/>
              </a:solidFill>
            </a:endParaRP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𝑦</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oMath>
                </a14:m>
                <a:r>
                  <a:rPr sz="2400" b="0">
                    <a:solidFill>
                      <a:srgbClr val="111827"/>
                    </a:solidFill>
                    <a:latin typeface="Arial"/>
                  </a:rPr>
                  <a:t>, median</a:t>
                </a:r>
                <a14:m>
                  <m:oMath xmlns:m="http://schemas.openxmlformats.org/officeDocument/2006/math">
                    <m:sSub>
                      <m:e>
                        <m:r>
                          <a:rPr lang="en-IN" sz="2400" i="1">
                            <a:solidFill>
                              <a:srgbClr val="111827"/>
                            </a:solidFill>
                            <a:latin typeface="Cambria Math" panose="02040503050406030204" pitchFamily="18" charset="0"/>
                          </a:rPr>
                          <m:t>​</m:t>
                        </m:r>
                      </m:e>
                      <m:sub>
                        <m:r>
                          <a:rPr lang="en-IN" sz="2400" i="1">
                            <a:solidFill>
                              <a:srgbClr val="111827"/>
                            </a:solidFill>
                            <a:latin typeface="Cambria Math" panose="02040503050406030204" pitchFamily="18" charset="0"/>
                          </a:rPr>
                          <m:t>𝑦</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median</a:t>
                </a:r>
                <a14:m>
                  <m:oMath xmlns:m="http://schemas.openxmlformats.org/officeDocument/2006/math">
                    <m:sSub>
                      <m:e>
                        <m:r>
                          <a:rPr lang="en-IN" sz="2400" i="1">
                            <a:solidFill>
                              <a:srgbClr val="111827"/>
                            </a:solidFill>
                            <a:latin typeface="Cambria Math" panose="02040503050406030204" pitchFamily="18" charset="0"/>
                          </a:rPr>
                          <m:t>​</m:t>
                        </m:r>
                      </m:e>
                      <m:sub>
                        <m:r>
                          <a:rPr lang="en-IN" sz="2400" i="1">
                            <a:solidFill>
                              <a:srgbClr val="111827"/>
                            </a:solidFill>
                            <a:latin typeface="Cambria Math" panose="02040503050406030204" pitchFamily="18" charset="0"/>
                          </a:rPr>
                          <m:t>𝑥</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oMath>
                </a14:m>
                <a:r>
                  <a:rPr sz="2400" b="0">
                    <a:solidFill>
                      <a:srgbClr val="111827"/>
                    </a:solidFill>
                    <a:latin typeface="Arial"/>
                  </a:rPr>
                  <a:t>, mode</a:t>
                </a:r>
                <a14:m>
                  <m:oMath xmlns:m="http://schemas.openxmlformats.org/officeDocument/2006/math">
                    <m:sSub>
                      <m:e>
                        <m:r>
                          <a:rPr lang="en-IN" sz="2400" i="1">
                            <a:solidFill>
                              <a:srgbClr val="111827"/>
                            </a:solidFill>
                            <a:latin typeface="Cambria Math" panose="02040503050406030204" pitchFamily="18" charset="0"/>
                          </a:rPr>
                          <m:t>​</m:t>
                        </m:r>
                      </m:e>
                      <m:sub>
                        <m:r>
                          <a:rPr lang="en-IN" sz="2400" i="1">
                            <a:solidFill>
                              <a:srgbClr val="111827"/>
                            </a:solidFill>
                            <a:latin typeface="Cambria Math" panose="02040503050406030204" pitchFamily="18" charset="0"/>
                          </a:rPr>
                          <m:t>𝑦</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mode</a:t>
                </a:r>
                <a14:m>
                  <m:oMath xmlns:m="http://schemas.openxmlformats.org/officeDocument/2006/math">
                    <m:sSub>
                      <m:e>
                        <m:r>
                          <a:rPr lang="en-IN" sz="2400" i="1">
                            <a:solidFill>
                              <a:srgbClr val="111827"/>
                            </a:solidFill>
                            <a:latin typeface="Cambria Math" panose="02040503050406030204" pitchFamily="18" charset="0"/>
                          </a:rPr>
                          <m:t>​</m:t>
                        </m:r>
                      </m:e>
                      <m:sub>
                        <m:r>
                          <a:rPr lang="en-IN" sz="2400" i="1">
                            <a:solidFill>
                              <a:srgbClr val="111827"/>
                            </a:solidFill>
                            <a:latin typeface="Cambria Math" panose="02040503050406030204" pitchFamily="18" charset="0"/>
                          </a:rPr>
                          <m:t>𝑥</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σ</m:t>
                        </m:r>
                      </m:e>
                      <m:sub>
                        <m:r>
                          <a:rPr lang="en-IN" sz="2400" i="1">
                            <a:solidFill>
                              <a:srgbClr val="111827"/>
                            </a:solidFill>
                            <a:latin typeface="Cambria Math" panose="02040503050406030204" pitchFamily="18" charset="0"/>
                          </a:rPr>
                          <m:t>𝑦</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σ</m:t>
                        </m:r>
                      </m:e>
                      <m:sub>
                        <m:r>
                          <a:rPr lang="en-IN" sz="2400" i="1">
                            <a:solidFill>
                              <a:srgbClr val="111827"/>
                            </a:solidFill>
                            <a:latin typeface="Cambria Math" panose="02040503050406030204" pitchFamily="18" charset="0"/>
                          </a:rPr>
                          <m:t>𝑥</m:t>
                        </m:r>
                      </m:sub>
                    </m:sSub>
                  </m:oMath>
                </a14:m>
                <a:r>
                  <a:rPr sz="2400" b="0">
                    <a:solidFill>
                      <a:srgbClr val="111827"/>
                    </a:solidFill>
                    <a:latin typeface="Arial"/>
                  </a:rPr>
                  <a:t>, variance</a:t>
                </a:r>
                <a14:m>
                  <m:oMath xmlns:m="http://schemas.openxmlformats.org/officeDocument/2006/math">
                    <m:sSub>
                      <m:e>
                        <m:r>
                          <a:rPr lang="en-IN" sz="2400" i="1">
                            <a:solidFill>
                              <a:srgbClr val="111827"/>
                            </a:solidFill>
                            <a:latin typeface="Cambria Math" panose="02040503050406030204" pitchFamily="18" charset="0"/>
                          </a:rPr>
                          <m:t>​</m:t>
                        </m:r>
                      </m:e>
                      <m:sub>
                        <m:r>
                          <a:rPr lang="en-IN" sz="2400" i="1">
                            <a:solidFill>
                              <a:srgbClr val="111827"/>
                            </a:solidFill>
                            <a:latin typeface="Cambria Math" panose="02040503050406030204" pitchFamily="18" charset="0"/>
                          </a:rPr>
                          <m:t>𝑦</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sSubSup>
                      <m:e>
                        <m:r>
                          <a:rPr lang="en-IN" sz="2400" i="1">
                            <a:solidFill>
                              <a:srgbClr val="111827"/>
                            </a:solidFill>
                            <a:latin typeface="Cambria Math" panose="02040503050406030204" pitchFamily="18" charset="0"/>
                          </a:rPr>
                          <m:t>σ</m:t>
                        </m:r>
                      </m:e>
                      <m:sub>
                        <m:r>
                          <a:rPr lang="en-IN" sz="2400" i="1">
                            <a:solidFill>
                              <a:srgbClr val="111827"/>
                            </a:solidFill>
                            <a:latin typeface="Cambria Math" panose="02040503050406030204" pitchFamily="18" charset="0"/>
                          </a:rPr>
                          <m:t>𝑥</m:t>
                        </m:r>
                      </m:sub>
                      <m:sup>
                        <m:r>
                          <a:rPr lang="en-IN" sz="2400" i="1">
                            <a:solidFill>
                              <a:srgbClr val="111827"/>
                            </a:solidFill>
                            <a:latin typeface="Cambria Math" panose="02040503050406030204" pitchFamily="18" charset="0"/>
                          </a:rPr>
                          <m:t>2</m:t>
                        </m:r>
                      </m:sup>
                    </m:sSubSup>
                  </m:oMath>
                </a14:m>
                <a:r>
                  <a:rPr sz="2400" b="0">
                    <a:solidFill>
                      <a:srgbClr val="111827"/>
                    </a:solidFill>
                    <a:latin typeface="Arial"/>
                  </a:rPr>
                  <a:t>, mean deviation</a:t>
                </a:r>
                <a14:m>
                  <m:oMath xmlns:m="http://schemas.openxmlformats.org/officeDocument/2006/math">
                    <m:sSub>
                      <m:e>
                        <m:r>
                          <a:rPr lang="en-IN" sz="2400" i="1">
                            <a:solidFill>
                              <a:srgbClr val="111827"/>
                            </a:solidFill>
                            <a:latin typeface="Cambria Math" panose="02040503050406030204" pitchFamily="18" charset="0"/>
                          </a:rPr>
                          <m:t>​</m:t>
                        </m:r>
                      </m:e>
                      <m:sub>
                        <m:r>
                          <a:rPr lang="en-IN" sz="2400" i="1">
                            <a:solidFill>
                              <a:srgbClr val="111827"/>
                            </a:solidFill>
                            <a:latin typeface="Cambria Math" panose="02040503050406030204" pitchFamily="18" charset="0"/>
                          </a:rPr>
                          <m:t>𝑦</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MD</a:t>
                </a:r>
                <a14:m>
                  <m:oMath xmlns:m="http://schemas.openxmlformats.org/officeDocument/2006/math">
                    <m:sSub>
                      <m:e>
                        <m:r>
                          <a:rPr lang="en-IN" sz="2400" i="1">
                            <a:solidFill>
                              <a:srgbClr val="111827"/>
                            </a:solidFill>
                            <a:latin typeface="Cambria Math" panose="02040503050406030204" pitchFamily="18" charset="0"/>
                          </a:rPr>
                          <m:t>​</m:t>
                        </m:r>
                      </m:e>
                      <m:sub>
                        <m:r>
                          <a:rPr lang="en-IN" sz="2400" i="1">
                            <a:solidFill>
                              <a:srgbClr val="111827"/>
                            </a:solidFill>
                            <a:latin typeface="Cambria Math" panose="02040503050406030204" pitchFamily="18" charset="0"/>
                          </a:rPr>
                          <m:t>𝑥</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Only the measures of location (mean, median, mode) feel the origin shift; the measures of dispersion do not.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$y=kx+h$</a:t>
                </a:r>
                <a:r>
                  <a:rPr sz="2400" b="0">
                    <a:solidFill>
                      <a:srgbClr val="111827"/>
                    </a:solidFill>
                    <a:latin typeface="Arial"/>
                  </a:rPr>
                  <a:t>: </a:t>
                </a:r>
                <a:r>
                  <a:rPr lang="en-IN" sz="2400">
                    <a:solidFill>
                      <a:srgbClr val="111827"/>
                    </a:solidFill>
                    <a:latin typeface="Cambria Math" panose="02040503050406030204" pitchFamily="18" charset="0"/>
                  </a:rPr>
                  <a:t>$\bar{y}=k\bar{x}+h$</a:t>
                </a:r>
                <a:r>
                  <a:rPr sz="2400" b="0">
                    <a:solidFill>
                      <a:srgbClr val="111827"/>
                    </a:solidFill>
                    <a:latin typeface="Arial"/>
                  </a:rPr>
                  <a:t>, median</a:t>
                </a:r>
                <a:r>
                  <a:rPr lang="en-IN" sz="2400">
                    <a:solidFill>
                      <a:srgbClr val="111827"/>
                    </a:solidFill>
                    <a:latin typeface="Cambria Math" panose="02040503050406030204" pitchFamily="18" charset="0"/>
                  </a:rPr>
                  <a:t>$_y=k\cdot$</a:t>
                </a:r>
                <a:r>
                  <a:rPr sz="2400" b="0">
                    <a:solidFill>
                      <a:srgbClr val="111827"/>
                    </a:solidFill>
                    <a:latin typeface="Arial"/>
                  </a:rPr>
                  <a:t>median</a:t>
                </a:r>
                <a:r>
                  <a:rPr lang="en-IN" sz="2400">
                    <a:solidFill>
                      <a:srgbClr val="111827"/>
                    </a:solidFill>
                    <a:latin typeface="Cambria Math" panose="02040503050406030204" pitchFamily="18" charset="0"/>
                  </a:rPr>
                  <a:t>$_x+h$</a:t>
                </a:r>
                <a:r>
                  <a:rPr sz="2400" b="0">
                    <a:solidFill>
                      <a:srgbClr val="111827"/>
                    </a:solidFill>
                    <a:latin typeface="Arial"/>
                  </a:rPr>
                  <a:t>, mode</a:t>
                </a:r>
                <a:r>
                  <a:rPr lang="en-IN" sz="2400">
                    <a:solidFill>
                      <a:srgbClr val="111827"/>
                    </a:solidFill>
                    <a:latin typeface="Cambria Math" panose="02040503050406030204" pitchFamily="18" charset="0"/>
                  </a:rPr>
                  <a:t>$_y=k\cdot$</a:t>
                </a:r>
                <a:r>
                  <a:rPr sz="2400" b="0">
                    <a:solidFill>
                      <a:srgbClr val="111827"/>
                    </a:solidFill>
                    <a:latin typeface="Arial"/>
                  </a:rPr>
                  <a:t>mode</a:t>
                </a:r>
                <a:r>
                  <a:rPr lang="en-IN" sz="2400">
                    <a:solidFill>
                      <a:srgbClr val="111827"/>
                    </a:solidFill>
                    <a:latin typeface="Cambria Math" panose="02040503050406030204" pitchFamily="18" charset="0"/>
                  </a:rPr>
                  <a:t>$_x+h$</a:t>
                </a:r>
                <a:r>
                  <a:rPr sz="2400" b="0">
                    <a:solidFill>
                      <a:srgbClr val="111827"/>
                    </a:solidFill>
                    <a:latin typeface="Arial"/>
                  </a:rPr>
                  <a:t>, </a:t>
                </a:r>
                <a:r>
                  <a:rPr lang="en-IN" sz="2400">
                    <a:solidFill>
                      <a:srgbClr val="111827"/>
                    </a:solidFill>
                    <a:latin typeface="Cambria Math" panose="02040503050406030204" pitchFamily="18" charset="0"/>
                  </a:rPr>
                  <a:t>$\sigma_y=|k|\sigma_x$</a:t>
                </a:r>
                <a:r>
                  <a:rPr sz="2400" b="0">
                    <a:solidFill>
                      <a:srgbClr val="111827"/>
                    </a:solidFill>
                    <a:latin typeface="Arial"/>
                  </a:rPr>
                  <a:t>, variance</a:t>
                </a:r>
                <a:r>
                  <a:rPr lang="en-IN" sz="2400">
                    <a:solidFill>
                      <a:srgbClr val="111827"/>
                    </a:solidFill>
                    <a:latin typeface="Cambria Math" panose="02040503050406030204" pitchFamily="18" charset="0"/>
                  </a:rPr>
                  <a:t>$_y=k^2\sigma_x^2$</a:t>
                </a:r>
                <a:r>
                  <a:rPr sz="2400" b="0">
                    <a:solidFill>
                      <a:srgbClr val="111827"/>
                    </a:solidFill>
                    <a:latin typeface="Arial"/>
                  </a:rPr>
                  <a:t>, mean deviation</a:t>
                </a:r>
                <a:r>
                  <a:rPr lang="en-IN" sz="2400">
                    <a:solidFill>
                      <a:srgbClr val="111827"/>
                    </a:solidFill>
                    <a:latin typeface="Cambria Math" panose="02040503050406030204" pitchFamily="18" charset="0"/>
                  </a:rPr>
                  <a:t>$_y=|k|\cdot$</a:t>
                </a:r>
                <a:r>
                  <a:rPr sz="2400" b="0">
                    <a:solidFill>
                      <a:srgbClr val="111827"/>
                    </a:solidFill>
                    <a:latin typeface="Arial"/>
                  </a:rPr>
                  <a:t>MD</a:t>
                </a:r>
                <a:r>
                  <a:rPr lang="en-IN" sz="2400">
                    <a:solidFill>
                      <a:srgbClr val="111827"/>
                    </a:solidFill>
                    <a:latin typeface="Cambria Math" panose="02040503050406030204" pitchFamily="18" charset="0"/>
                  </a:rPr>
                  <a:t>$_x$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Only the measures of location (mean, median, mode) feel the origin shift; the measures of dispersion do not.</a:t>
                </a:r>
                <a:endParaRPr sz="2400">
                  <a:solidFill>
                    <a:srgbClr val="111827"/>
                  </a:solidFill>
                </a:endParaRPr>
              </a:p>
            </p:txBody>
          </p:sp>
        </mc:Fallback>
      </mc:AlternateContent>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6629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In a series of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oMath>
                </a14:m>
                <a:r>
                  <a:rPr sz="2400" b="0">
                    <a:solidFill>
                      <a:srgbClr val="111827"/>
                    </a:solidFill>
                    <a:latin typeface="Arial"/>
                  </a:rPr>
                  <a:t> observations, half of them equal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and the remaining half equal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oMath>
                </a14:m>
                <a:r>
                  <a:rPr sz="2400" b="0">
                    <a:solidFill>
                      <a:srgbClr val="111827"/>
                    </a:solidFill>
                    <a:latin typeface="Arial"/>
                  </a:rPr>
                  <a:t>. If the standard deviation of the observations is 2, then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equals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𝑛</m:t>
                        </m:r>
                      </m:den>
                    </m:f>
                  </m:oMath>
                </a14:m>
                <a:r>
                  <a:rPr sz="2400" b="0">
                    <a:solidFill>
                      <a:srgbClr val="111827"/>
                    </a:solidFill>
                    <a:latin typeface="Arial"/>
                  </a:rPr>
                  <a:t>   (B)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r>
                  <a:rPr sz="2400" b="0">
                    <a:solidFill>
                      <a:srgbClr val="111827"/>
                    </a:solidFill>
                    <a:latin typeface="Arial"/>
                  </a:rPr>
                  <a:t>   (C) 2   (D) </a:t>
                </a:r>
                <a14:m>
                  <m:oMath xmlns:m="http://schemas.openxmlformats.org/officeDocument/2006/math">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num>
                      <m:den>
                        <m:r>
                          <a:rPr lang="en-IN" sz="2400" i="1">
                            <a:solidFill>
                              <a:srgbClr val="111827"/>
                            </a:solidFill>
                            <a:latin typeface="Cambria Math" panose="02040503050406030204" pitchFamily="18" charset="0"/>
                          </a:rPr>
                          <m:t>𝑛</m:t>
                        </m:r>
                      </m:den>
                    </m:f>
                  </m:oMath>
                </a14:m>
                <a:endParaRPr sz="2400">
                  <a:solidFill>
                    <a:srgbClr val="111827"/>
                  </a:solidFill>
                </a:endParaRPr>
              </a:p>
            </p:txBody>
          </p:sp>
        </mc:Choice>
        <mc:Fallback>
          <p:sp>
            <p:nvSpPr>
              <p:cNvPr id="4" name="Rounded Rectangle 3"/>
              <p:cNvSpPr/>
              <p:nvPr/>
            </p:nvSpPr>
            <p:spPr>
              <a:xfrm>
                <a:off x="731520" y="1280160"/>
                <a:ext cx="10725912" cy="26629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In a series of </a:t>
                </a:r>
                <a:r>
                  <a:rPr lang="en-IN" sz="2400">
                    <a:solidFill>
                      <a:srgbClr val="111827"/>
                    </a:solidFill>
                    <a:latin typeface="Cambria Math" panose="02040503050406030204" pitchFamily="18" charset="0"/>
                  </a:rPr>
                  <a:t>$2n$</a:t>
                </a:r>
                <a:r>
                  <a:rPr sz="2400" b="0">
                    <a:solidFill>
                      <a:srgbClr val="111827"/>
                    </a:solidFill>
                    <a:latin typeface="Arial"/>
                  </a:rPr>
                  <a:t> observations, half of them equal </a:t>
                </a:r>
                <a:r>
                  <a:rPr lang="en-IN" sz="2400">
                    <a:solidFill>
                      <a:srgbClr val="111827"/>
                    </a:solidFill>
                    <a:latin typeface="Cambria Math" panose="02040503050406030204" pitchFamily="18" charset="0"/>
                  </a:rPr>
                  <a:t>$a$</a:t>
                </a:r>
                <a:r>
                  <a:rPr sz="2400" b="0">
                    <a:solidFill>
                      <a:srgbClr val="111827"/>
                    </a:solidFill>
                    <a:latin typeface="Arial"/>
                  </a:rPr>
                  <a:t> and the remaining half equal </a:t>
                </a:r>
                <a:r>
                  <a:rPr lang="en-IN" sz="2400">
                    <a:solidFill>
                      <a:srgbClr val="111827"/>
                    </a:solidFill>
                    <a:latin typeface="Cambria Math" panose="02040503050406030204" pitchFamily="18" charset="0"/>
                  </a:rPr>
                  <a:t>$-a$</a:t>
                </a:r>
                <a:r>
                  <a:rPr sz="2400" b="0">
                    <a:solidFill>
                      <a:srgbClr val="111827"/>
                    </a:solidFill>
                    <a:latin typeface="Arial"/>
                  </a:rPr>
                  <a:t>. If the standard deviation of the observations is 2, then </a:t>
                </a:r>
                <a:r>
                  <a:rPr lang="en-IN" sz="2400">
                    <a:solidFill>
                      <a:srgbClr val="111827"/>
                    </a:solidFill>
                    <a:latin typeface="Cambria Math" panose="02040503050406030204" pitchFamily="18" charset="0"/>
                  </a:rPr>
                  <a:t>$|a|$</a:t>
                </a:r>
                <a:r>
                  <a:rPr sz="2400" b="0">
                    <a:solidFill>
                      <a:srgbClr val="111827"/>
                    </a:solidFill>
                    <a:latin typeface="Arial"/>
                  </a:rPr>
                  <a:t> equals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$\frac{1}{n}$</a:t>
                </a:r>
                <a:r>
                  <a:rPr sz="2400" b="0">
                    <a:solidFill>
                      <a:srgbClr val="111827"/>
                    </a:solidFill>
                    <a:latin typeface="Arial"/>
                  </a:rPr>
                  <a:t>   (B) </a:t>
                </a:r>
                <a:r>
                  <a:rPr lang="en-IN" sz="2400">
                    <a:solidFill>
                      <a:srgbClr val="111827"/>
                    </a:solidFill>
                    <a:latin typeface="Cambria Math" panose="02040503050406030204" pitchFamily="18" charset="0"/>
                  </a:rPr>
                  <a:t>$\sqrt{2}$</a:t>
                </a:r>
                <a:r>
                  <a:rPr sz="2400" b="0">
                    <a:solidFill>
                      <a:srgbClr val="111827"/>
                    </a:solidFill>
                    <a:latin typeface="Arial"/>
                  </a:rPr>
                  <a:t>   (C) 2   (D) </a:t>
                </a:r>
                <a:r>
                  <a:rPr lang="en-IN" sz="2400">
                    <a:solidFill>
                      <a:srgbClr val="111827"/>
                    </a:solidFill>
                    <a:latin typeface="Cambria Math" panose="02040503050406030204" pitchFamily="18" charset="0"/>
                  </a:rPr>
                  <a:t>$\frac{\sqrt{2}}{n}$</a:t>
                </a:r>
                <a:endParaRPr sz="2400">
                  <a:solidFill>
                    <a:srgbClr val="111827"/>
                  </a:solidFill>
                </a:endParaRPr>
              </a:p>
            </p:txBody>
          </p:sp>
        </mc:Fallback>
      </mc:AlternateContent>
      <p:sp>
        <p:nvSpPr>
          <p:cNvPr id="5" name="Rectangle 4"/>
          <p:cNvSpPr/>
          <p:nvPr/>
        </p:nvSpPr>
        <p:spPr>
          <a:xfrm>
            <a:off x="731520" y="4171695"/>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Standard deviation of a symmetric two-valued data set</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mean is 0, so every deviation has size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mean is 0, so every deviation has size </a:t>
                </a:r>
                <a:r>
                  <a:rPr lang="en-IN" sz="2400">
                    <a:solidFill>
                      <a:srgbClr val="78350F"/>
                    </a:solidFill>
                    <a:latin typeface="Cambria Math" panose="02040503050406030204" pitchFamily="18" charset="0"/>
                  </a:rPr>
                  <a:t>$|a|$</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There are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oMath>
                </a14:m>
                <a:r>
                  <a:rPr sz="2400" b="0">
                    <a:solidFill>
                      <a:srgbClr val="111827"/>
                    </a:solidFill>
                    <a:latin typeface="Arial"/>
                  </a:rPr>
                  <a:t> observations,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equal to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equal to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oMath>
                </a14:m>
                <a:r>
                  <a:rPr sz="2400" b="0">
                    <a:solidFill>
                      <a:srgbClr val="111827"/>
                    </a:solidFill>
                    <a:latin typeface="Arial"/>
                  </a:rPr>
                  <a:t>, so the mean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σ</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den>
                        </m:f>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den>
                        </m:f>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σ</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option (C).</a:t>
                </a:r>
                <a:endParaRPr sz="2400">
                  <a:solidFill>
                    <a:srgbClr val="111827"/>
                  </a:solidFill>
                </a:endParaRPr>
              </a:p>
            </p:txBody>
          </p:sp>
        </mc:Choice>
        <mc:Fallback>
          <p:sp>
            <p:nvSpPr>
              <p:cNvPr id="5" name="Rectangle 4"/>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There are </a:t>
                </a:r>
                <a:r>
                  <a:rPr lang="en-IN" sz="2400">
                    <a:solidFill>
                      <a:srgbClr val="111827"/>
                    </a:solidFill>
                    <a:latin typeface="Cambria Math" panose="02040503050406030204" pitchFamily="18" charset="0"/>
                  </a:rPr>
                  <a:t>$2n$</a:t>
                </a:r>
                <a:r>
                  <a:rPr sz="2400" b="0">
                    <a:solidFill>
                      <a:srgbClr val="111827"/>
                    </a:solidFill>
                    <a:latin typeface="Arial"/>
                  </a:rPr>
                  <a:t> observations, </a:t>
                </a:r>
                <a:r>
                  <a:rPr lang="en-IN" sz="2400">
                    <a:solidFill>
                      <a:srgbClr val="111827"/>
                    </a:solidFill>
                    <a:latin typeface="Cambria Math" panose="02040503050406030204" pitchFamily="18" charset="0"/>
                  </a:rPr>
                  <a:t>$n$</a:t>
                </a:r>
                <a:r>
                  <a:rPr sz="2400" b="0">
                    <a:solidFill>
                      <a:srgbClr val="111827"/>
                    </a:solidFill>
                    <a:latin typeface="Arial"/>
                  </a:rPr>
                  <a:t> equal to </a:t>
                </a:r>
                <a:r>
                  <a:rPr lang="en-IN" sz="2400">
                    <a:solidFill>
                      <a:srgbClr val="111827"/>
                    </a:solidFill>
                    <a:latin typeface="Cambria Math" panose="02040503050406030204" pitchFamily="18" charset="0"/>
                  </a:rPr>
                  <a:t>$a$</a:t>
                </a:r>
                <a:r>
                  <a:rPr sz="2400" b="0">
                    <a:solidFill>
                      <a:srgbClr val="111827"/>
                    </a:solidFill>
                    <a:latin typeface="Arial"/>
                  </a:rPr>
                  <a:t> and </a:t>
                </a:r>
                <a:r>
                  <a:rPr lang="en-IN" sz="2400">
                    <a:solidFill>
                      <a:srgbClr val="111827"/>
                    </a:solidFill>
                    <a:latin typeface="Cambria Math" panose="02040503050406030204" pitchFamily="18" charset="0"/>
                  </a:rPr>
                  <a:t>$n$</a:t>
                </a:r>
                <a:r>
                  <a:rPr sz="2400" b="0">
                    <a:solidFill>
                      <a:srgbClr val="111827"/>
                    </a:solidFill>
                    <a:latin typeface="Arial"/>
                  </a:rPr>
                  <a:t> equal to </a:t>
                </a:r>
                <a:r>
                  <a:rPr lang="en-IN" sz="2400">
                    <a:solidFill>
                      <a:srgbClr val="111827"/>
                    </a:solidFill>
                    <a:latin typeface="Cambria Math" panose="02040503050406030204" pitchFamily="18" charset="0"/>
                  </a:rPr>
                  <a:t>$-a$</a:t>
                </a:r>
                <a:r>
                  <a:rPr sz="2400" b="0">
                    <a:solidFill>
                      <a:srgbClr val="111827"/>
                    </a:solidFill>
                    <a:latin typeface="Arial"/>
                  </a:rPr>
                  <a:t>, so the mean </a:t>
                </a:r>
                <a:r>
                  <a:rPr lang="en-IN" sz="2400">
                    <a:solidFill>
                      <a:srgbClr val="111827"/>
                    </a:solidFill>
                    <a:latin typeface="Cambria Math" panose="02040503050406030204" pitchFamily="18" charset="0"/>
                  </a:rPr>
                  <a:t>$\bar{x}=0$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$\sigma=\sqrt{\frac{\sum(x_i-\bar{x})^2}{2n}}=\sqrt{\frac{2n\,a^2}{2n}}$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$\sigma=|a|$</a:t>
                </a:r>
                <a:r>
                  <a:rPr sz="2400" b="0">
                    <a:solidFill>
                      <a:srgbClr val="111827"/>
                    </a:solidFill>
                    <a:latin typeface="Arial"/>
                  </a:rPr>
                  <a:t>, so </a:t>
                </a:r>
                <a:r>
                  <a:rPr lang="en-IN" sz="2400">
                    <a:solidFill>
                      <a:srgbClr val="111827"/>
                    </a:solidFill>
                    <a:latin typeface="Cambria Math" panose="02040503050406030204" pitchFamily="18" charset="0"/>
                  </a:rPr>
                  <a:t>$2=|a|$</a:t>
                </a:r>
                <a:r>
                  <a:rPr sz="2400" b="0">
                    <a:solidFill>
                      <a:srgbClr val="111827"/>
                    </a:solidFill>
                    <a:latin typeface="Arial"/>
                  </a:rPr>
                  <a:t>, option (C).</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2</a:t>
            </a:r>
            <a:endParaRPr sz="2800">
              <a:solidFill>
                <a:srgbClr val="15803D"/>
              </a:solidFill>
            </a:endParaRP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data that take only the values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oMath>
                </a14:m>
                <a:r>
                  <a:rPr sz="2400" b="0">
                    <a:solidFill>
                      <a:srgbClr val="111827"/>
                    </a:solidFill>
                    <a:latin typeface="Arial"/>
                  </a:rPr>
                  <a:t> equally often, the mean is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σ</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the two values occur with proportions </a:t>
                </a:r>
                <a14:m>
                  <m:oMath xmlns:m="http://schemas.openxmlformats.org/officeDocument/2006/math">
                    <m:r>
                      <a:rPr lang="en-IN" sz="2400" i="1">
                        <a:solidFill>
                          <a:srgbClr val="111827"/>
                        </a:solidFill>
                        <a:latin typeface="Cambria Math" panose="02040503050406030204" pitchFamily="18" charset="0"/>
                      </a:rPr>
                      <m:t>𝑝</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σ</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e>
                    </m:rad>
                  </m:oMath>
                </a14:m>
                <a:r>
                  <a:rPr sz="2400" b="0">
                    <a:solidFill>
                      <a:srgbClr val="111827"/>
                    </a:solidFill>
                    <a:latin typeface="Arial"/>
                  </a:rPr>
                  <a:t>, where </a:t>
                </a:r>
                <a14:m>
                  <m:oMath xmlns:m="http://schemas.openxmlformats.org/officeDocument/2006/math">
                    <m:r>
                      <a:rPr lang="en-IN" sz="2400" i="1">
                        <a:solidFill>
                          <a:srgbClr val="111827"/>
                        </a:solidFill>
                        <a:latin typeface="Cambria Math" panose="02040503050406030204" pitchFamily="18" charset="0"/>
                      </a:rPr>
                      <m:t>𝑑</m:t>
                    </m:r>
                  </m:oMath>
                </a14:m>
                <a:r>
                  <a:rPr sz="2400" b="0">
                    <a:solidFill>
                      <a:srgbClr val="111827"/>
                    </a:solidFill>
                    <a:latin typeface="Arial"/>
                  </a:rPr>
                  <a:t> is the gap between the two values (two-point distribution).</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data that take only the values </a:t>
                </a:r>
                <a:r>
                  <a:rPr lang="en-IN" sz="2400">
                    <a:solidFill>
                      <a:srgbClr val="111827"/>
                    </a:solidFill>
                    <a:latin typeface="Cambria Math" panose="02040503050406030204" pitchFamily="18" charset="0"/>
                  </a:rPr>
                  <a:t>$m+d$</a:t>
                </a:r>
                <a:r>
                  <a:rPr sz="2400" b="0">
                    <a:solidFill>
                      <a:srgbClr val="111827"/>
                    </a:solidFill>
                    <a:latin typeface="Arial"/>
                  </a:rPr>
                  <a:t> and </a:t>
                </a:r>
                <a:r>
                  <a:rPr lang="en-IN" sz="2400">
                    <a:solidFill>
                      <a:srgbClr val="111827"/>
                    </a:solidFill>
                    <a:latin typeface="Cambria Math" panose="02040503050406030204" pitchFamily="18" charset="0"/>
                  </a:rPr>
                  <a:t>$m-d$</a:t>
                </a:r>
                <a:r>
                  <a:rPr sz="2400" b="0">
                    <a:solidFill>
                      <a:srgbClr val="111827"/>
                    </a:solidFill>
                    <a:latin typeface="Arial"/>
                  </a:rPr>
                  <a:t> equally often, the mean is </a:t>
                </a:r>
                <a:r>
                  <a:rPr lang="en-IN" sz="2400">
                    <a:solidFill>
                      <a:srgbClr val="111827"/>
                    </a:solidFill>
                    <a:latin typeface="Cambria Math" panose="02040503050406030204" pitchFamily="18" charset="0"/>
                  </a:rPr>
                  <a:t>$m$</a:t>
                </a:r>
                <a:r>
                  <a:rPr sz="2400" b="0">
                    <a:solidFill>
                      <a:srgbClr val="111827"/>
                    </a:solidFill>
                    <a:latin typeface="Arial"/>
                  </a:rPr>
                  <a:t> and </a:t>
                </a:r>
                <a:r>
                  <a:rPr lang="en-IN" sz="2400">
                    <a:solidFill>
                      <a:srgbClr val="111827"/>
                    </a:solidFill>
                    <a:latin typeface="Cambria Math" panose="02040503050406030204" pitchFamily="18" charset="0"/>
                  </a:rPr>
                  <a:t>$\sigma=|d|$</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the two values occur with proportions </a:t>
                </a:r>
                <a:r>
                  <a:rPr lang="en-IN" sz="2400">
                    <a:solidFill>
                      <a:srgbClr val="111827"/>
                    </a:solidFill>
                    <a:latin typeface="Cambria Math" panose="02040503050406030204" pitchFamily="18" charset="0"/>
                  </a:rPr>
                  <a:t>$p$</a:t>
                </a:r>
                <a:r>
                  <a:rPr sz="2400" b="0">
                    <a:solidFill>
                      <a:srgbClr val="111827"/>
                    </a:solidFill>
                    <a:latin typeface="Arial"/>
                  </a:rPr>
                  <a:t> and </a:t>
                </a:r>
                <a:r>
                  <a:rPr lang="en-IN" sz="2400">
                    <a:solidFill>
                      <a:srgbClr val="111827"/>
                    </a:solidFill>
                    <a:latin typeface="Cambria Math" panose="02040503050406030204" pitchFamily="18" charset="0"/>
                  </a:rPr>
                  <a:t>$1-p$</a:t>
                </a:r>
                <a:r>
                  <a:rPr sz="2400" b="0">
                    <a:solidFill>
                      <a:srgbClr val="111827"/>
                    </a:solidFill>
                    <a:latin typeface="Arial"/>
                  </a:rPr>
                  <a:t>, then </a:t>
                </a:r>
                <a:r>
                  <a:rPr lang="en-IN" sz="2400">
                    <a:solidFill>
                      <a:srgbClr val="111827"/>
                    </a:solidFill>
                    <a:latin typeface="Cambria Math" panose="02040503050406030204" pitchFamily="18" charset="0"/>
                  </a:rPr>
                  <a:t>$\sigma=|d|\sqrt{p(1-p)}$</a:t>
                </a:r>
                <a:r>
                  <a:rPr sz="2400" b="0">
                    <a:solidFill>
                      <a:srgbClr val="111827"/>
                    </a:solidFill>
                    <a:latin typeface="Arial"/>
                  </a:rPr>
                  <a:t>, where </a:t>
                </a:r>
                <a:r>
                  <a:rPr lang="en-IN" sz="2400">
                    <a:solidFill>
                      <a:srgbClr val="111827"/>
                    </a:solidFill>
                    <a:latin typeface="Cambria Math" panose="02040503050406030204" pitchFamily="18" charset="0"/>
                  </a:rPr>
                  <a:t>$d$</a:t>
                </a:r>
                <a:r>
                  <a:rPr sz="2400" b="0">
                    <a:solidFill>
                      <a:srgbClr val="111827"/>
                    </a:solidFill>
                    <a:latin typeface="Arial"/>
                  </a:rPr>
                  <a:t> is the gap between the two values (two-point distribution).</a:t>
                </a:r>
                <a:endParaRPr sz="2400">
                  <a:solidFill>
                    <a:srgbClr val="111827"/>
                  </a:solidFill>
                </a:endParaRPr>
              </a:p>
            </p:txBody>
          </p:sp>
        </mc:Fallback>
      </mc:AlternateContent>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in a frequency distribution, the mean and median are 21 and 22 respectively, then its mode is approximately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22.0   (B) 20.5   (C) 25.5   (D) 24.0</a:t>
            </a:r>
            <a:endParaRPr sz="2400">
              <a:solidFill>
                <a:srgbClr val="111827"/>
              </a:solidFill>
            </a:endParaRPr>
          </a:p>
        </p:txBody>
      </p:sp>
      <p:sp>
        <p:nvSpPr>
          <p:cNvPr id="5" name="Rectangle 4"/>
          <p:cNvSpPr/>
          <p:nvPr/>
        </p:nvSpPr>
        <p:spPr>
          <a:xfrm>
            <a:off x="731520" y="3246120"/>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Empirical relation between mean, median and mode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Use the empirical relation mode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a:rPr lang="en-IN" sz="2400" i="1">
                        <a:solidFill>
                          <a:srgbClr val="78350F"/>
                        </a:solidFill>
                        <a:latin typeface="Cambria Math" panose="02040503050406030204" pitchFamily="18" charset="0"/>
                      </a:rPr>
                      <m:t> </m:t>
                    </m:r>
                  </m:oMath>
                </a14:m>
                <a:r>
                  <a:rPr sz="2400" b="0">
                    <a:solidFill>
                      <a:srgbClr val="78350F"/>
                    </a:solidFill>
                    <a:latin typeface="Arial"/>
                  </a:rPr>
                  <a:t>median</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 </m:t>
                    </m:r>
                  </m:oMath>
                </a14:m>
                <a:r>
                  <a:rPr sz="2400" b="0">
                    <a:solidFill>
                      <a:srgbClr val="78350F"/>
                    </a:solidFill>
                    <a:latin typeface="Arial"/>
                  </a:rPr>
                  <a:t>mean.</a:t>
                </a:r>
                <a:endParaRPr sz="2400">
                  <a:solidFill>
                    <a:srgbClr val="78350F"/>
                  </a:solidFill>
                </a:endParaRPr>
              </a:p>
            </p:txBody>
          </p:sp>
        </mc:Choice>
        <mc:Fallback>
          <p:sp>
            <p:nvSpPr>
              <p:cNvPr id="4" name="Rounded Rectangle 3"/>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Use the empirical relation mode </a:t>
                </a:r>
                <a:r>
                  <a:rPr lang="en-IN" sz="2400">
                    <a:solidFill>
                      <a:srgbClr val="78350F"/>
                    </a:solidFill>
                    <a:latin typeface="Cambria Math" panose="02040503050406030204" pitchFamily="18" charset="0"/>
                  </a:rPr>
                  <a:t>$=3\,$</a:t>
                </a:r>
                <a:r>
                  <a:rPr sz="2400" b="0">
                    <a:solidFill>
                      <a:srgbClr val="78350F"/>
                    </a:solidFill>
                    <a:latin typeface="Arial"/>
                  </a:rPr>
                  <a:t>median</a:t>
                </a:r>
                <a:r>
                  <a:rPr lang="en-IN" sz="2400">
                    <a:solidFill>
                      <a:srgbClr val="78350F"/>
                    </a:solidFill>
                    <a:latin typeface="Cambria Math" panose="02040503050406030204" pitchFamily="18" charset="0"/>
                  </a:rPr>
                  <a:t>$-2\,$</a:t>
                </a:r>
                <a:r>
                  <a:rPr sz="2400" b="0">
                    <a:solidFill>
                      <a:srgbClr val="78350F"/>
                    </a:solidFill>
                    <a:latin typeface="Arial"/>
                  </a:rPr>
                  <a:t>mean.</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Mean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oMath>
                </a14:m>
                <a:r>
                  <a:rPr sz="2400" b="0">
                    <a:solidFill>
                      <a:srgbClr val="111827"/>
                    </a:solidFill>
                    <a:latin typeface="Arial"/>
                  </a:rPr>
                  <a:t>, median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 moderately skewed distribution: mode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median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mean.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Mode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oMath>
                </a14:m>
                <a:r>
                  <a:rPr sz="2400" b="0">
                    <a:solidFill>
                      <a:srgbClr val="111827"/>
                    </a:solidFill>
                    <a:latin typeface="Arial"/>
                  </a:rPr>
                  <a:t>, option (D).</a:t>
                </a:r>
                <a:endParaRPr sz="2400">
                  <a:solidFill>
                    <a:srgbClr val="111827"/>
                  </a:solidFill>
                </a:endParaRPr>
              </a:p>
            </p:txBody>
          </p:sp>
        </mc:Choice>
        <mc:Fallback>
          <p:sp>
            <p:nvSpPr>
              <p:cNvPr id="5" name="Rectangle 4"/>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Mean </a:t>
                </a:r>
                <a:r>
                  <a:rPr lang="en-IN" sz="2400">
                    <a:solidFill>
                      <a:srgbClr val="111827"/>
                    </a:solidFill>
                    <a:latin typeface="Cambria Math" panose="02040503050406030204" pitchFamily="18" charset="0"/>
                  </a:rPr>
                  <a:t>$=21$</a:t>
                </a:r>
                <a:r>
                  <a:rPr sz="2400" b="0">
                    <a:solidFill>
                      <a:srgbClr val="111827"/>
                    </a:solidFill>
                    <a:latin typeface="Arial"/>
                  </a:rPr>
                  <a:t>, median </a:t>
                </a:r>
                <a:r>
                  <a:rPr lang="en-IN" sz="2400">
                    <a:solidFill>
                      <a:srgbClr val="111827"/>
                    </a:solidFill>
                    <a:latin typeface="Cambria Math" panose="02040503050406030204" pitchFamily="18" charset="0"/>
                  </a:rPr>
                  <a:t>$=22$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 moderately skewed distribution: mode </a:t>
                </a:r>
                <a:r>
                  <a:rPr lang="en-IN" sz="2400">
                    <a:solidFill>
                      <a:srgbClr val="111827"/>
                    </a:solidFill>
                    <a:latin typeface="Cambria Math" panose="02040503050406030204" pitchFamily="18" charset="0"/>
                  </a:rPr>
                  <a:t>$=3\times$</a:t>
                </a:r>
                <a:r>
                  <a:rPr sz="2400" b="0">
                    <a:solidFill>
                      <a:srgbClr val="111827"/>
                    </a:solidFill>
                    <a:latin typeface="Arial"/>
                  </a:rPr>
                  <a:t> median </a:t>
                </a:r>
                <a:r>
                  <a:rPr lang="en-IN" sz="2400">
                    <a:solidFill>
                      <a:srgbClr val="111827"/>
                    </a:solidFill>
                    <a:latin typeface="Cambria Math" panose="02040503050406030204" pitchFamily="18" charset="0"/>
                  </a:rPr>
                  <a:t>$-2\times$</a:t>
                </a:r>
                <a:r>
                  <a:rPr sz="2400" b="0">
                    <a:solidFill>
                      <a:srgbClr val="111827"/>
                    </a:solidFill>
                    <a:latin typeface="Arial"/>
                  </a:rPr>
                  <a:t> mean.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Mode </a:t>
                </a:r>
                <a:r>
                  <a:rPr lang="en-IN" sz="2400">
                    <a:solidFill>
                      <a:srgbClr val="111827"/>
                    </a:solidFill>
                    <a:latin typeface="Cambria Math" panose="02040503050406030204" pitchFamily="18" charset="0"/>
                  </a:rPr>
                  <a:t>$=3\times22-2\times21=66-42=24$</a:t>
                </a:r>
                <a:r>
                  <a:rPr sz="2400" b="0">
                    <a:solidFill>
                      <a:srgbClr val="111827"/>
                    </a:solidFill>
                    <a:latin typeface="Arial"/>
                  </a:rPr>
                  <a:t>, option (D).</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24.0</a:t>
            </a:r>
            <a:endParaRPr sz="2800">
              <a:solidFill>
                <a:srgbClr val="15803D"/>
              </a:solidFill>
            </a:endParaRP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Empirical (Karl Pearson) relation: Mode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 </m:t>
                    </m:r>
                  </m:oMath>
                </a14:m>
                <a:r>
                  <a:rPr sz="2400" b="0">
                    <a:solidFill>
                      <a:srgbClr val="111827"/>
                    </a:solidFill>
                    <a:latin typeface="Arial"/>
                  </a:rPr>
                  <a:t>Median</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 </m:t>
                    </m:r>
                  </m:oMath>
                </a14:m>
                <a:r>
                  <a:rPr sz="2400" b="0">
                    <a:solidFill>
                      <a:srgbClr val="111827"/>
                    </a:solidFill>
                    <a:latin typeface="Arial"/>
                  </a:rPr>
                  <a:t>Mean, equivalently Mean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Mode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(Mean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Median); valid for moderately skewed unimodal data.</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mean </a:t>
                </a:r>
                <a14:m>
                  <m:oMath xmlns:m="http://schemas.openxmlformats.org/officeDocument/2006/math">
                    <m:r>
                      <m:rPr>
                        <m:sty m:val="p"/>
                      </m:rPr>
                      <a:rPr lang="en-IN" sz="2400">
                        <a:solidFill>
                          <a:srgbClr val="111827"/>
                        </a:solidFill>
                        <a:latin typeface="Cambria Math" panose="02040503050406030204" pitchFamily="18" charset="0"/>
                      </a:rPr>
                      <m:t>&gt;</m:t>
                    </m:r>
                  </m:oMath>
                </a14:m>
                <a:r>
                  <a:rPr sz="2400" b="0">
                    <a:solidFill>
                      <a:srgbClr val="111827"/>
                    </a:solidFill>
                    <a:latin typeface="Arial"/>
                  </a:rPr>
                  <a:t> mode the distribution is positively skewed; here mode </a:t>
                </a:r>
                <a14:m>
                  <m:oMath xmlns:m="http://schemas.openxmlformats.org/officeDocument/2006/math">
                    <m:r>
                      <m:rPr>
                        <m:sty m:val="p"/>
                      </m:rPr>
                      <a:rPr lang="en-IN" sz="2400">
                        <a:solidFill>
                          <a:srgbClr val="111827"/>
                        </a:solidFill>
                        <a:latin typeface="Cambria Math" panose="02040503050406030204" pitchFamily="18" charset="0"/>
                      </a:rPr>
                      <m:t>&gt;</m:t>
                    </m:r>
                  </m:oMath>
                </a14:m>
                <a:r>
                  <a:rPr sz="2400" b="0">
                    <a:solidFill>
                      <a:srgbClr val="111827"/>
                    </a:solidFill>
                    <a:latin typeface="Arial"/>
                  </a:rPr>
                  <a:t> mean, so it is negatively skewed (a long left tail).</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Empirical (Karl Pearson) relation: Mode </a:t>
                </a:r>
                <a:r>
                  <a:rPr lang="en-IN" sz="2400">
                    <a:solidFill>
                      <a:srgbClr val="111827"/>
                    </a:solidFill>
                    <a:latin typeface="Cambria Math" panose="02040503050406030204" pitchFamily="18" charset="0"/>
                  </a:rPr>
                  <a:t>$=3\,$</a:t>
                </a:r>
                <a:r>
                  <a:rPr sz="2400" b="0">
                    <a:solidFill>
                      <a:srgbClr val="111827"/>
                    </a:solidFill>
                    <a:latin typeface="Arial"/>
                  </a:rPr>
                  <a:t>Median</a:t>
                </a:r>
                <a:r>
                  <a:rPr lang="en-IN" sz="2400">
                    <a:solidFill>
                      <a:srgbClr val="111827"/>
                    </a:solidFill>
                    <a:latin typeface="Cambria Math" panose="02040503050406030204" pitchFamily="18" charset="0"/>
                  </a:rPr>
                  <a:t>$-2\,$</a:t>
                </a:r>
                <a:r>
                  <a:rPr sz="2400" b="0">
                    <a:solidFill>
                      <a:srgbClr val="111827"/>
                    </a:solidFill>
                    <a:latin typeface="Arial"/>
                  </a:rPr>
                  <a:t>Mean, equivalently Mean </a:t>
                </a:r>
                <a:r>
                  <a:rPr lang="en-IN" sz="2400">
                    <a:solidFill>
                      <a:srgbClr val="111827"/>
                    </a:solidFill>
                    <a:latin typeface="Cambria Math" panose="02040503050406030204" pitchFamily="18" charset="0"/>
                  </a:rPr>
                  <a:t>$-$</a:t>
                </a:r>
                <a:r>
                  <a:rPr sz="2400" b="0">
                    <a:solidFill>
                      <a:srgbClr val="111827"/>
                    </a:solidFill>
                    <a:latin typeface="Arial"/>
                  </a:rPr>
                  <a:t> Mode </a:t>
                </a:r>
                <a:r>
                  <a:rPr lang="en-IN" sz="2400">
                    <a:solidFill>
                      <a:srgbClr val="111827"/>
                    </a:solidFill>
                    <a:latin typeface="Cambria Math" panose="02040503050406030204" pitchFamily="18" charset="0"/>
                  </a:rPr>
                  <a:t>$=3$</a:t>
                </a:r>
                <a:r>
                  <a:rPr sz="2400" b="0">
                    <a:solidFill>
                      <a:srgbClr val="111827"/>
                    </a:solidFill>
                    <a:latin typeface="Arial"/>
                  </a:rPr>
                  <a:t>(Mean </a:t>
                </a:r>
                <a:r>
                  <a:rPr lang="en-IN" sz="2400">
                    <a:solidFill>
                      <a:srgbClr val="111827"/>
                    </a:solidFill>
                    <a:latin typeface="Cambria Math" panose="02040503050406030204" pitchFamily="18" charset="0"/>
                  </a:rPr>
                  <a:t>$-$</a:t>
                </a:r>
                <a:r>
                  <a:rPr sz="2400" b="0">
                    <a:solidFill>
                      <a:srgbClr val="111827"/>
                    </a:solidFill>
                    <a:latin typeface="Arial"/>
                  </a:rPr>
                  <a:t> Median); valid for moderately skewed unimodal data.</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mean </a:t>
                </a:r>
                <a:r>
                  <a:rPr lang="en-IN" sz="2400">
                    <a:solidFill>
                      <a:srgbClr val="111827"/>
                    </a:solidFill>
                    <a:latin typeface="Cambria Math" panose="02040503050406030204" pitchFamily="18" charset="0"/>
                  </a:rPr>
                  <a:t>$&gt;$</a:t>
                </a:r>
                <a:r>
                  <a:rPr sz="2400" b="0">
                    <a:solidFill>
                      <a:srgbClr val="111827"/>
                    </a:solidFill>
                    <a:latin typeface="Arial"/>
                  </a:rPr>
                  <a:t> mode the distribution is positively skewed; here mode </a:t>
                </a:r>
                <a:r>
                  <a:rPr lang="en-IN" sz="2400">
                    <a:solidFill>
                      <a:srgbClr val="111827"/>
                    </a:solidFill>
                    <a:latin typeface="Cambria Math" panose="02040503050406030204" pitchFamily="18" charset="0"/>
                  </a:rPr>
                  <a:t>$&gt;$</a:t>
                </a:r>
                <a:r>
                  <a:rPr sz="2400" b="0">
                    <a:solidFill>
                      <a:srgbClr val="111827"/>
                    </a:solidFill>
                    <a:latin typeface="Arial"/>
                  </a:rPr>
                  <a:t> mean, so it is negatively skewed (a long left tail).</a:t>
                </a:r>
                <a:endParaRPr sz="2400">
                  <a:solidFill>
                    <a:srgbClr val="111827"/>
                  </a:solidFill>
                </a:endParaRPr>
              </a:p>
            </p:txBody>
          </p:sp>
        </mc:Fallback>
      </mc:AlternateContent>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𝑛</m:t>
                        </m:r>
                      </m:sub>
                    </m:sSub>
                  </m:oMath>
                </a14:m>
                <a:r>
                  <a:rPr sz="2400" b="0">
                    <a:solidFill>
                      <a:srgbClr val="111827"/>
                    </a:solidFill>
                    <a:latin typeface="Arial"/>
                  </a:rPr>
                  <a:t> be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observations such that </a:t>
                </a:r>
                <a14:m>
                  <m:oMath xmlns:m="http://schemas.openxmlformats.org/officeDocument/2006/math">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400</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80</m:t>
                    </m:r>
                  </m:oMath>
                </a14:m>
                <a:r>
                  <a:rPr sz="2400" b="0">
                    <a:solidFill>
                      <a:srgbClr val="111827"/>
                    </a:solidFill>
                    <a:latin typeface="Arial"/>
                  </a:rPr>
                  <a:t>. Then a possible value of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among the following is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15   (B) 18   (C) 9   (D) 12</a:t>
                </a:r>
                <a:endParaRPr sz="2400">
                  <a:solidFill>
                    <a:srgbClr val="111827"/>
                  </a:solidFill>
                </a:endParaRPr>
              </a:p>
            </p:txBody>
          </p:sp>
        </mc:Choice>
        <mc:Fallback>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$x_1,x_2,\dots,x_n$</a:t>
                </a:r>
                <a:r>
                  <a:rPr sz="2400" b="0">
                    <a:solidFill>
                      <a:srgbClr val="111827"/>
                    </a:solidFill>
                    <a:latin typeface="Arial"/>
                  </a:rPr>
                  <a:t> be </a:t>
                </a:r>
                <a:r>
                  <a:rPr lang="en-IN" sz="2400">
                    <a:solidFill>
                      <a:srgbClr val="111827"/>
                    </a:solidFill>
                    <a:latin typeface="Cambria Math" panose="02040503050406030204" pitchFamily="18" charset="0"/>
                  </a:rPr>
                  <a:t>$n$</a:t>
                </a:r>
                <a:r>
                  <a:rPr sz="2400" b="0">
                    <a:solidFill>
                      <a:srgbClr val="111827"/>
                    </a:solidFill>
                    <a:latin typeface="Arial"/>
                  </a:rPr>
                  <a:t> observations such that </a:t>
                </a:r>
                <a:r>
                  <a:rPr lang="en-IN" sz="2400">
                    <a:solidFill>
                      <a:srgbClr val="111827"/>
                    </a:solidFill>
                    <a:latin typeface="Cambria Math" panose="02040503050406030204" pitchFamily="18" charset="0"/>
                  </a:rPr>
                  <a:t>$\sum x_i^2=400$</a:t>
                </a:r>
                <a:r>
                  <a:rPr sz="2400" b="0">
                    <a:solidFill>
                      <a:srgbClr val="111827"/>
                    </a:solidFill>
                    <a:latin typeface="Arial"/>
                  </a:rPr>
                  <a:t> and </a:t>
                </a:r>
                <a:r>
                  <a:rPr lang="en-IN" sz="2400">
                    <a:solidFill>
                      <a:srgbClr val="111827"/>
                    </a:solidFill>
                    <a:latin typeface="Cambria Math" panose="02040503050406030204" pitchFamily="18" charset="0"/>
                  </a:rPr>
                  <a:t>$\sum x_i=80$</a:t>
                </a:r>
                <a:r>
                  <a:rPr sz="2400" b="0">
                    <a:solidFill>
                      <a:srgbClr val="111827"/>
                    </a:solidFill>
                    <a:latin typeface="Arial"/>
                  </a:rPr>
                  <a:t>. Then a possible value of </a:t>
                </a:r>
                <a:r>
                  <a:rPr lang="en-IN" sz="2400">
                    <a:solidFill>
                      <a:srgbClr val="111827"/>
                    </a:solidFill>
                    <a:latin typeface="Cambria Math" panose="02040503050406030204" pitchFamily="18" charset="0"/>
                  </a:rPr>
                  <a:t>$n$</a:t>
                </a:r>
                <a:r>
                  <a:rPr sz="2400" b="0">
                    <a:solidFill>
                      <a:srgbClr val="111827"/>
                    </a:solidFill>
                    <a:latin typeface="Arial"/>
                  </a:rPr>
                  <a:t> among the following is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15   (B) 18   (C) 9   (D) 12</a:t>
                </a:r>
                <a:endParaRPr sz="2400">
                  <a:solidFill>
                    <a:srgbClr val="111827"/>
                  </a:solidFill>
                </a:endParaRPr>
              </a:p>
            </p:txBody>
          </p:sp>
        </mc:Fallback>
      </mc:AlternateContent>
      <p:sp>
        <p:nvSpPr>
          <p:cNvPr id="5" name="Rectangle 4"/>
          <p:cNvSpPr/>
          <p:nvPr/>
        </p:nvSpPr>
        <p:spPr>
          <a:xfrm>
            <a:off x="731520" y="3580383"/>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Relation between sum and sum of squares (RMS-AM inequality)</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Root-mean-square </a:t>
                </a:r>
                <a14:m>
                  <m:oMath xmlns:m="http://schemas.openxmlformats.org/officeDocument/2006/math">
                    <m:r>
                      <m:rPr>
                        <m:sty m:val="p"/>
                      </m:rPr>
                      <a:rPr lang="en-IN" sz="2400">
                        <a:solidFill>
                          <a:srgbClr val="78350F"/>
                        </a:solidFill>
                        <a:latin typeface="Cambria Math" panose="02040503050406030204" pitchFamily="18" charset="0"/>
                      </a:rPr>
                      <m:t>≥</m:t>
                    </m:r>
                  </m:oMath>
                </a14:m>
                <a:r>
                  <a:rPr sz="2400" b="0">
                    <a:solidFill>
                      <a:srgbClr val="78350F"/>
                    </a:solidFill>
                    <a:latin typeface="Arial"/>
                  </a:rPr>
                  <a:t> arithmetic mean forces </a:t>
                </a:r>
                <a14:m>
                  <m:oMath xmlns:m="http://schemas.openxmlformats.org/officeDocument/2006/math">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16</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Root-mean-square </a:t>
                </a:r>
                <a:r>
                  <a:rPr lang="en-IN" sz="2400">
                    <a:solidFill>
                      <a:srgbClr val="78350F"/>
                    </a:solidFill>
                    <a:latin typeface="Cambria Math" panose="02040503050406030204" pitchFamily="18" charset="0"/>
                  </a:rPr>
                  <a:t>$\ge$</a:t>
                </a:r>
                <a:r>
                  <a:rPr sz="2400" b="0">
                    <a:solidFill>
                      <a:srgbClr val="78350F"/>
                    </a:solidFill>
                    <a:latin typeface="Arial"/>
                  </a:rPr>
                  <a:t> arithmetic mean forces </a:t>
                </a:r>
                <a:r>
                  <a:rPr lang="en-IN" sz="2400">
                    <a:solidFill>
                      <a:srgbClr val="78350F"/>
                    </a:solidFill>
                    <a:latin typeface="Cambria Math" panose="02040503050406030204" pitchFamily="18" charset="0"/>
                  </a:rPr>
                  <a:t>$n\ge16$</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400</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RMS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AM: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2</m:t>
                                </m:r>
                              </m:sup>
                            </m:sSubSup>
                          </m:num>
                          <m:den>
                            <m:r>
                              <a:rPr lang="en-IN" sz="2400" i="1">
                                <a:solidFill>
                                  <a:srgbClr val="111827"/>
                                </a:solidFill>
                                <a:latin typeface="Cambria Math" panose="02040503050406030204" pitchFamily="18" charset="0"/>
                              </a:rPr>
                              <m:t>𝑛</m:t>
                            </m:r>
                          </m:den>
                        </m:f>
                      </m:e>
                    </m:ra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num>
                          <m:den>
                            <m:r>
                              <a:rPr lang="en-IN" sz="2400" i="1">
                                <a:solidFill>
                                  <a:srgbClr val="111827"/>
                                </a:solidFill>
                                <a:latin typeface="Cambria Math" panose="02040503050406030204" pitchFamily="18" charset="0"/>
                              </a:rPr>
                              <m:t>𝑛</m:t>
                            </m:r>
                          </m:den>
                        </m:f>
                      </m:e>
                    </m:d>
                  </m:oMath>
                </a14:m>
                <a:r>
                  <a:rPr sz="2400" b="0">
                    <a:solidFill>
                      <a:srgbClr val="111827"/>
                    </a:solidFill>
                    <a:latin typeface="Arial"/>
                  </a:rPr>
                  <a:t>, 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400</m:t>
                        </m:r>
                      </m:num>
                      <m:den>
                        <m:r>
                          <a:rPr lang="en-IN" sz="2400" i="1">
                            <a:solidFill>
                              <a:srgbClr val="111827"/>
                            </a:solidFill>
                            <a:latin typeface="Cambria Math" panose="02040503050406030204" pitchFamily="18" charset="0"/>
                          </a:rPr>
                          <m:t>𝑛</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6400</m:t>
                        </m:r>
                      </m:num>
                      <m:den>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 (since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Among the options only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oMath>
                </a14:m>
                <a:r>
                  <a:rPr sz="2400" b="0">
                    <a:solidFill>
                      <a:srgbClr val="111827"/>
                    </a:solidFill>
                    <a:latin typeface="Arial"/>
                  </a:rPr>
                  <a:t> satisfies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 option (B).</a:t>
                </a:r>
                <a:endParaRPr sz="2400">
                  <a:solidFill>
                    <a:srgbClr val="111827"/>
                  </a:solidFill>
                </a:endParaRPr>
              </a:p>
            </p:txBody>
          </p:sp>
        </mc:Choice>
        <mc:Fallback>
          <p:sp>
            <p:nvSpPr>
              <p:cNvPr id="5" name="Rectangle 4"/>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 x_i^2=400$</a:t>
                </a:r>
                <a:r>
                  <a:rPr sz="2400" b="0">
                    <a:solidFill>
                      <a:srgbClr val="111827"/>
                    </a:solidFill>
                    <a:latin typeface="Arial"/>
                  </a:rPr>
                  <a:t>, </a:t>
                </a:r>
                <a:r>
                  <a:rPr lang="en-IN" sz="2400">
                    <a:solidFill>
                      <a:srgbClr val="111827"/>
                    </a:solidFill>
                    <a:latin typeface="Cambria Math" panose="02040503050406030204" pitchFamily="18" charset="0"/>
                  </a:rPr>
                  <a:t>$\sum x_i=80$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RMS </a:t>
                </a:r>
                <a:r>
                  <a:rPr lang="en-IN" sz="2400">
                    <a:solidFill>
                      <a:srgbClr val="111827"/>
                    </a:solidFill>
                    <a:latin typeface="Cambria Math" panose="02040503050406030204" pitchFamily="18" charset="0"/>
                  </a:rPr>
                  <a:t>$\ge$</a:t>
                </a:r>
                <a:r>
                  <a:rPr sz="2400" b="0">
                    <a:solidFill>
                      <a:srgbClr val="111827"/>
                    </a:solidFill>
                    <a:latin typeface="Arial"/>
                  </a:rPr>
                  <a:t> AM: </a:t>
                </a:r>
                <a:r>
                  <a:rPr lang="en-IN" sz="2400">
                    <a:solidFill>
                      <a:srgbClr val="111827"/>
                    </a:solidFill>
                    <a:latin typeface="Cambria Math" panose="02040503050406030204" pitchFamily="18" charset="0"/>
                  </a:rPr>
                  <a:t>$\sqrt{\frac{\sum x_i^2}{n}}\ge\left|\frac{\sum x_i}{n}\right|$</a:t>
                </a:r>
                <a:r>
                  <a:rPr sz="2400" b="0">
                    <a:solidFill>
                      <a:srgbClr val="111827"/>
                    </a:solidFill>
                    <a:latin typeface="Arial"/>
                  </a:rPr>
                  <a:t>, so </a:t>
                </a:r>
                <a:r>
                  <a:rPr lang="en-IN" sz="2400">
                    <a:solidFill>
                      <a:srgbClr val="111827"/>
                    </a:solidFill>
                    <a:latin typeface="Cambria Math" panose="02040503050406030204" pitchFamily="18" charset="0"/>
                  </a:rPr>
                  <a:t>$\frac{400}{n}\ge\frac{6400}{n^2}$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$n\ge16$</a:t>
                </a:r>
                <a:r>
                  <a:rPr sz="2400" b="0">
                    <a:solidFill>
                      <a:srgbClr val="111827"/>
                    </a:solidFill>
                    <a:latin typeface="Arial"/>
                  </a:rPr>
                  <a:t> (since </a:t>
                </a:r>
                <a:r>
                  <a:rPr lang="en-IN" sz="2400">
                    <a:solidFill>
                      <a:srgbClr val="111827"/>
                    </a:solidFill>
                    <a:latin typeface="Cambria Math" panose="02040503050406030204" pitchFamily="18" charset="0"/>
                  </a:rPr>
                  <a:t>$n&gt;0$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Among the options only </a:t>
                </a:r>
                <a:r>
                  <a:rPr lang="en-IN" sz="2400">
                    <a:solidFill>
                      <a:srgbClr val="111827"/>
                    </a:solidFill>
                    <a:latin typeface="Cambria Math" panose="02040503050406030204" pitchFamily="18" charset="0"/>
                  </a:rPr>
                  <a:t>$n=18$</a:t>
                </a:r>
                <a:r>
                  <a:rPr sz="2400" b="0">
                    <a:solidFill>
                      <a:srgbClr val="111827"/>
                    </a:solidFill>
                    <a:latin typeface="Arial"/>
                  </a:rPr>
                  <a:t> satisfies </a:t>
                </a:r>
                <a:r>
                  <a:rPr lang="en-IN" sz="2400">
                    <a:solidFill>
                      <a:srgbClr val="111827"/>
                    </a:solidFill>
                    <a:latin typeface="Cambria Math" panose="02040503050406030204" pitchFamily="18" charset="0"/>
                  </a:rPr>
                  <a:t>$n\ge16$</a:t>
                </a:r>
                <a:r>
                  <a:rPr sz="2400" b="0">
                    <a:solidFill>
                      <a:srgbClr val="111827"/>
                    </a:solidFill>
                    <a:latin typeface="Arial"/>
                  </a:rPr>
                  <a:t>, option (B).</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18</a:t>
            </a:r>
            <a:endParaRPr sz="2800">
              <a:solidFill>
                <a:srgbClr val="15803D"/>
              </a:solidFill>
            </a:endParaRP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p:sp>
        <p:nvSpPr>
          <p:cNvPr id="5" name="Rounded Rectangle 4"/>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A variance cannot be negative.</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2</m:t>
                            </m:r>
                          </m:sup>
                        </m:sSubSup>
                      </m:num>
                      <m:den>
                        <m:r>
                          <a:rPr lang="en-IN" sz="2400" i="1">
                            <a:solidFill>
                              <a:srgbClr val="111827"/>
                            </a:solidFill>
                            <a:latin typeface="Cambria Math" panose="02040503050406030204" pitchFamily="18" charset="0"/>
                          </a:rPr>
                          <m:t>𝑛</m:t>
                        </m:r>
                      </m:den>
                    </m:f>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num>
                              <m:den>
                                <m:r>
                                  <a:rPr lang="en-IN" sz="2400" i="1">
                                    <a:solidFill>
                                      <a:srgbClr val="111827"/>
                                    </a:solidFill>
                                    <a:latin typeface="Cambria Math" panose="02040503050406030204" pitchFamily="18" charset="0"/>
                                  </a:rPr>
                                  <m:t>𝑛</m:t>
                                </m:r>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400</m:t>
                        </m:r>
                      </m:num>
                      <m:den>
                        <m:r>
                          <a:rPr lang="en-IN" sz="2400" i="1">
                            <a:solidFill>
                              <a:srgbClr val="111827"/>
                            </a:solidFill>
                            <a:latin typeface="Cambria Math" panose="02040503050406030204" pitchFamily="18" charset="0"/>
                          </a:rPr>
                          <m:t>𝑛</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6400</m:t>
                        </m:r>
                      </m:num>
                      <m:den>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Multiply by </a:t>
                </a:r>
                <a14:m>
                  <m:oMath xmlns:m="http://schemas.openxmlformats.org/officeDocument/2006/math">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400</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6400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Only 18 among 15, 18, 9, 12 qualifies, the same answer.</a:t>
                </a:r>
                <a:endParaRPr sz="2400">
                  <a:solidFill>
                    <a:srgbClr val="111827"/>
                  </a:solidFill>
                </a:endParaRPr>
              </a:p>
            </p:txBody>
          </p:sp>
        </mc:Choice>
        <mc:Fallback>
          <p:sp>
            <p:nvSpPr>
              <p:cNvPr id="6" name="Rectangle 5"/>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$\sigma^2=\frac{\sum x_i^2}{n}-\left(\frac{\sum x_i}{n}\right)^2=\frac{400}{n}-\frac{6400}{n^2}\ge0$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Multiply by </a:t>
                </a:r>
                <a:r>
                  <a:rPr lang="en-IN" sz="2400">
                    <a:solidFill>
                      <a:srgbClr val="111827"/>
                    </a:solidFill>
                    <a:latin typeface="Cambria Math" panose="02040503050406030204" pitchFamily="18" charset="0"/>
                  </a:rPr>
                  <a:t>$n^2&gt;0$</a:t>
                </a:r>
                <a:r>
                  <a:rPr sz="2400" b="0">
                    <a:solidFill>
                      <a:srgbClr val="111827"/>
                    </a:solidFill>
                    <a:latin typeface="Arial"/>
                  </a:rPr>
                  <a:t>: </a:t>
                </a:r>
                <a:r>
                  <a:rPr lang="en-IN" sz="2400">
                    <a:solidFill>
                      <a:srgbClr val="111827"/>
                    </a:solidFill>
                    <a:latin typeface="Cambria Math" panose="02040503050406030204" pitchFamily="18" charset="0"/>
                  </a:rPr>
                  <a:t>$400n\ge6400$</a:t>
                </a:r>
                <a:r>
                  <a:rPr sz="2400" b="0">
                    <a:solidFill>
                      <a:srgbClr val="111827"/>
                    </a:solidFill>
                    <a:latin typeface="Arial"/>
                  </a:rPr>
                  <a:t>, so </a:t>
                </a:r>
                <a:r>
                  <a:rPr lang="en-IN" sz="2400">
                    <a:solidFill>
                      <a:srgbClr val="111827"/>
                    </a:solidFill>
                    <a:latin typeface="Cambria Math" panose="02040503050406030204" pitchFamily="18" charset="0"/>
                  </a:rPr>
                  <a:t>$n\ge16$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Only 18 among 15, 18, 9, 12 qualifies, the same answer.</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18</a:t>
            </a:r>
            <a:endParaRPr sz="2800">
              <a:solidFill>
                <a:srgbClr val="15803D"/>
              </a:solidFill>
            </a:endParaRP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Always </a:t>
                </a:r>
                <a14:m>
                  <m:oMath xmlns:m="http://schemas.openxmlformats.org/officeDocument/2006/math">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𝑛</m:t>
                        </m:r>
                      </m:den>
                    </m:f>
                  </m:oMath>
                </a14:m>
                <a:r>
                  <a:rPr sz="2400" b="0">
                    <a:solidFill>
                      <a:srgbClr val="111827"/>
                    </a:solidFill>
                    <a:latin typeface="Arial"/>
                  </a:rPr>
                  <a:t> (Cauchy-Schwarz), with equality only when all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oMath>
                </a14:m>
                <a:r>
                  <a:rPr sz="2400" b="0">
                    <a:solidFill>
                      <a:srgbClr val="111827"/>
                    </a:solidFill>
                    <a:latin typeface="Arial"/>
                  </a:rPr>
                  <a:t> are equal; this is just </a:t>
                </a:r>
                <a14:m>
                  <m:oMath xmlns:m="http://schemas.openxmlformats.org/officeDocument/2006/math">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num>
                      <m:den>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2</m:t>
                            </m:r>
                          </m:sup>
                        </m:sSubSup>
                      </m:den>
                    </m:f>
                  </m:oMath>
                </a14:m>
                <a:r>
                  <a:rPr sz="2400" b="0">
                    <a:solidFill>
                      <a:srgbClr val="111827"/>
                    </a:solidFill>
                    <a:latin typeface="Arial"/>
                  </a:rPr>
                  <a:t> gives a lower bound on the number of observations; here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 means all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Always </a:t>
                </a:r>
                <a:r>
                  <a:rPr lang="en-IN" sz="2400">
                    <a:solidFill>
                      <a:srgbClr val="111827"/>
                    </a:solidFill>
                    <a:latin typeface="Cambria Math" panose="02040503050406030204" pitchFamily="18" charset="0"/>
                  </a:rPr>
                  <a:t>$\sum x_i^2\ge\frac{(\sum x_i)^2}{n}$</a:t>
                </a:r>
                <a:r>
                  <a:rPr sz="2400" b="0">
                    <a:solidFill>
                      <a:srgbClr val="111827"/>
                    </a:solidFill>
                    <a:latin typeface="Arial"/>
                  </a:rPr>
                  <a:t> (Cauchy-Schwarz), with equality only when all </a:t>
                </a:r>
                <a:r>
                  <a:rPr lang="en-IN" sz="2400">
                    <a:solidFill>
                      <a:srgbClr val="111827"/>
                    </a:solidFill>
                    <a:latin typeface="Cambria Math" panose="02040503050406030204" pitchFamily="18" charset="0"/>
                  </a:rPr>
                  <a:t>$x_i$</a:t>
                </a:r>
                <a:r>
                  <a:rPr sz="2400" b="0">
                    <a:solidFill>
                      <a:srgbClr val="111827"/>
                    </a:solidFill>
                    <a:latin typeface="Arial"/>
                  </a:rPr>
                  <a:t> are equal; this is just </a:t>
                </a:r>
                <a:r>
                  <a:rPr lang="en-IN" sz="2400">
                    <a:solidFill>
                      <a:srgbClr val="111827"/>
                    </a:solidFill>
                    <a:latin typeface="Cambria Math" panose="02040503050406030204" pitchFamily="18" charset="0"/>
                  </a:rPr>
                  <a:t>$\sigma^2\ge0$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$n\ge\frac{(\sum x_i)^2}{\sum x_i^2}$</a:t>
                </a:r>
                <a:r>
                  <a:rPr sz="2400" b="0">
                    <a:solidFill>
                      <a:srgbClr val="111827"/>
                    </a:solidFill>
                    <a:latin typeface="Arial"/>
                  </a:rPr>
                  <a:t> gives a lower bound on the number of observations; here </a:t>
                </a:r>
                <a:r>
                  <a:rPr lang="en-IN" sz="2400">
                    <a:solidFill>
                      <a:srgbClr val="111827"/>
                    </a:solidFill>
                    <a:latin typeface="Cambria Math" panose="02040503050406030204" pitchFamily="18" charset="0"/>
                  </a:rPr>
                  <a:t>$n\ge16$</a:t>
                </a:r>
                <a:r>
                  <a:rPr sz="2400" b="0">
                    <a:solidFill>
                      <a:srgbClr val="111827"/>
                    </a:solidFill>
                    <a:latin typeface="Arial"/>
                  </a:rPr>
                  <a:t> (and </a:t>
                </a:r>
                <a:r>
                  <a:rPr lang="en-IN" sz="2400">
                    <a:solidFill>
                      <a:srgbClr val="111827"/>
                    </a:solidFill>
                    <a:latin typeface="Cambria Math" panose="02040503050406030204" pitchFamily="18" charset="0"/>
                  </a:rPr>
                  <a:t>$n=16$</a:t>
                </a:r>
                <a:r>
                  <a:rPr sz="2400" b="0">
                    <a:solidFill>
                      <a:srgbClr val="111827"/>
                    </a:solidFill>
                    <a:latin typeface="Arial"/>
                  </a:rPr>
                  <a:t> means all </a:t>
                </a:r>
                <a:r>
                  <a:rPr lang="en-IN" sz="2400">
                    <a:solidFill>
                      <a:srgbClr val="111827"/>
                    </a:solidFill>
                    <a:latin typeface="Cambria Math" panose="02040503050406030204" pitchFamily="18" charset="0"/>
                  </a:rPr>
                  <a:t>$x_i=5$</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6629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Suppose a population A has 100 observations </a:t>
                </a:r>
                <a14:m>
                  <m:oMath xmlns:m="http://schemas.openxmlformats.org/officeDocument/2006/math">
                    <m:r>
                      <a:rPr lang="en-IN" sz="2400" i="1">
                        <a:solidFill>
                          <a:srgbClr val="111827"/>
                        </a:solidFill>
                        <a:latin typeface="Cambria Math" panose="02040503050406030204" pitchFamily="18" charset="0"/>
                      </a:rPr>
                      <m:t>101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200</m:t>
                    </m:r>
                  </m:oMath>
                </a14:m>
                <a:r>
                  <a:rPr sz="2400" b="0">
                    <a:solidFill>
                      <a:srgbClr val="111827"/>
                    </a:solidFill>
                    <a:latin typeface="Arial"/>
                  </a:rPr>
                  <a:t>, and another population B has 100 observations </a:t>
                </a:r>
                <a14:m>
                  <m:oMath xmlns:m="http://schemas.openxmlformats.org/officeDocument/2006/math">
                    <m:r>
                      <a:rPr lang="en-IN" sz="2400" i="1">
                        <a:solidFill>
                          <a:srgbClr val="111827"/>
                        </a:solidFill>
                        <a:latin typeface="Cambria Math" panose="02040503050406030204" pitchFamily="18" charset="0"/>
                      </a:rPr>
                      <m:t>151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250</m:t>
                    </m:r>
                  </m:oMath>
                </a14:m>
                <a:r>
                  <a:rPr sz="2400" b="0">
                    <a:solidFill>
                      <a:srgbClr val="111827"/>
                    </a:solidFill>
                    <a:latin typeface="Arial"/>
                  </a:rPr>
                  <a:t>. If </a:t>
                </a:r>
                <a14:m>
                  <m:oMath xmlns:m="http://schemas.openxmlformats.org/officeDocument/2006/math">
                    <m:sSub>
                      <m:e>
                        <m:r>
                          <a:rPr lang="en-IN" sz="2400" i="1">
                            <a:solidFill>
                              <a:srgbClr val="111827"/>
                            </a:solidFill>
                            <a:latin typeface="Cambria Math" panose="02040503050406030204" pitchFamily="18" charset="0"/>
                          </a:rPr>
                          <m:t>𝑉</m:t>
                        </m:r>
                      </m:e>
                      <m:sub>
                        <m:r>
                          <a:rPr lang="en-IN" sz="2400" i="1">
                            <a:solidFill>
                              <a:srgbClr val="111827"/>
                            </a:solidFill>
                            <a:latin typeface="Cambria Math" panose="02040503050406030204" pitchFamily="18" charset="0"/>
                          </a:rPr>
                          <m:t>𝐴</m:t>
                        </m:r>
                      </m:sub>
                    </m:sSub>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𝑉</m:t>
                        </m:r>
                      </m:e>
                      <m:sub>
                        <m:r>
                          <a:rPr lang="en-IN" sz="2400" i="1">
                            <a:solidFill>
                              <a:srgbClr val="111827"/>
                            </a:solidFill>
                            <a:latin typeface="Cambria Math" panose="02040503050406030204" pitchFamily="18" charset="0"/>
                          </a:rPr>
                          <m:t>𝐵</m:t>
                        </m:r>
                      </m:sub>
                    </m:sSub>
                  </m:oMath>
                </a14:m>
                <a:r>
                  <a:rPr sz="2400" b="0">
                    <a:solidFill>
                      <a:srgbClr val="111827"/>
                    </a:solidFill>
                    <a:latin typeface="Arial"/>
                  </a:rPr>
                  <a:t> represent the variances of the two populations, respectively, then </a:t>
                </a:r>
                <a14:m>
                  <m:oMath xmlns:m="http://schemas.openxmlformats.org/officeDocument/2006/math">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𝑉</m:t>
                            </m:r>
                          </m:e>
                          <m:sub>
                            <m:r>
                              <a:rPr lang="en-IN" sz="2400" i="1">
                                <a:solidFill>
                                  <a:srgbClr val="111827"/>
                                </a:solidFill>
                                <a:latin typeface="Cambria Math" panose="02040503050406030204" pitchFamily="18" charset="0"/>
                              </a:rPr>
                              <m:t>𝐴</m:t>
                            </m:r>
                          </m:sub>
                        </m:sSub>
                      </m:num>
                      <m:den>
                        <m:sSub>
                          <m:e>
                            <m:r>
                              <a:rPr lang="en-IN" sz="2400" i="1">
                                <a:solidFill>
                                  <a:srgbClr val="111827"/>
                                </a:solidFill>
                                <a:latin typeface="Cambria Math" panose="02040503050406030204" pitchFamily="18" charset="0"/>
                              </a:rPr>
                              <m:t>𝑉</m:t>
                            </m:r>
                          </m:e>
                          <m:sub>
                            <m:r>
                              <a:rPr lang="en-IN" sz="2400" i="1">
                                <a:solidFill>
                                  <a:srgbClr val="111827"/>
                                </a:solidFill>
                                <a:latin typeface="Cambria Math" panose="02040503050406030204" pitchFamily="18" charset="0"/>
                              </a:rPr>
                              <m:t>𝐵</m:t>
                            </m:r>
                          </m:sub>
                        </m:sSub>
                      </m:den>
                    </m:f>
                  </m:oMath>
                </a14:m>
                <a:r>
                  <a:rPr sz="2400" b="0">
                    <a:solidFill>
                      <a:srgbClr val="111827"/>
                    </a:solidFill>
                    <a:latin typeface="Arial"/>
                  </a:rPr>
                  <a:t> is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(B)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9</m:t>
                        </m:r>
                      </m:den>
                    </m:f>
                  </m:oMath>
                </a14:m>
                <a:r>
                  <a:rPr sz="2400" b="0">
                    <a:solidFill>
                      <a:srgbClr val="111827"/>
                    </a:solidFill>
                    <a:latin typeface="Arial"/>
                  </a:rPr>
                  <a:t>   (C) 2   (D) 1</a:t>
                </a:r>
                <a:endParaRPr sz="2400">
                  <a:solidFill>
                    <a:srgbClr val="111827"/>
                  </a:solidFill>
                </a:endParaRPr>
              </a:p>
            </p:txBody>
          </p:sp>
        </mc:Choice>
        <mc:Fallback>
          <p:sp>
            <p:nvSpPr>
              <p:cNvPr id="4" name="Rounded Rectangle 3"/>
              <p:cNvSpPr/>
              <p:nvPr/>
            </p:nvSpPr>
            <p:spPr>
              <a:xfrm>
                <a:off x="731520" y="1280160"/>
                <a:ext cx="10725912" cy="26629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Suppose a population A has 100 observations </a:t>
                </a:r>
                <a:r>
                  <a:rPr lang="en-IN" sz="2400">
                    <a:solidFill>
                      <a:srgbClr val="111827"/>
                    </a:solidFill>
                    <a:latin typeface="Cambria Math" panose="02040503050406030204" pitchFamily="18" charset="0"/>
                  </a:rPr>
                  <a:t>$101,102,\dots,200$</a:t>
                </a:r>
                <a:r>
                  <a:rPr sz="2400" b="0">
                    <a:solidFill>
                      <a:srgbClr val="111827"/>
                    </a:solidFill>
                    <a:latin typeface="Arial"/>
                  </a:rPr>
                  <a:t>, and another population B has 100 observations </a:t>
                </a:r>
                <a:r>
                  <a:rPr lang="en-IN" sz="2400">
                    <a:solidFill>
                      <a:srgbClr val="111827"/>
                    </a:solidFill>
                    <a:latin typeface="Cambria Math" panose="02040503050406030204" pitchFamily="18" charset="0"/>
                  </a:rPr>
                  <a:t>$151,152,\dots,250$</a:t>
                </a:r>
                <a:r>
                  <a:rPr sz="2400" b="0">
                    <a:solidFill>
                      <a:srgbClr val="111827"/>
                    </a:solidFill>
                    <a:latin typeface="Arial"/>
                  </a:rPr>
                  <a:t>. If </a:t>
                </a:r>
                <a:r>
                  <a:rPr lang="en-IN" sz="2400">
                    <a:solidFill>
                      <a:srgbClr val="111827"/>
                    </a:solidFill>
                    <a:latin typeface="Cambria Math" panose="02040503050406030204" pitchFamily="18" charset="0"/>
                  </a:rPr>
                  <a:t>$V_A$</a:t>
                </a:r>
                <a:r>
                  <a:rPr sz="2400" b="0">
                    <a:solidFill>
                      <a:srgbClr val="111827"/>
                    </a:solidFill>
                    <a:latin typeface="Arial"/>
                  </a:rPr>
                  <a:t> and </a:t>
                </a:r>
                <a:r>
                  <a:rPr lang="en-IN" sz="2400">
                    <a:solidFill>
                      <a:srgbClr val="111827"/>
                    </a:solidFill>
                    <a:latin typeface="Cambria Math" panose="02040503050406030204" pitchFamily="18" charset="0"/>
                  </a:rPr>
                  <a:t>$V_B$</a:t>
                </a:r>
                <a:r>
                  <a:rPr sz="2400" b="0">
                    <a:solidFill>
                      <a:srgbClr val="111827"/>
                    </a:solidFill>
                    <a:latin typeface="Arial"/>
                  </a:rPr>
                  <a:t> represent the variances of the two populations, respectively, then </a:t>
                </a:r>
                <a:r>
                  <a:rPr lang="en-IN" sz="2400">
                    <a:solidFill>
                      <a:srgbClr val="111827"/>
                    </a:solidFill>
                    <a:latin typeface="Cambria Math" panose="02040503050406030204" pitchFamily="18" charset="0"/>
                  </a:rPr>
                  <a:t>$\frac{V_A}{V_B}$</a:t>
                </a:r>
                <a:r>
                  <a:rPr sz="2400" b="0">
                    <a:solidFill>
                      <a:srgbClr val="111827"/>
                    </a:solidFill>
                    <a:latin typeface="Arial"/>
                  </a:rPr>
                  <a:t> is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$\frac{9}{4}$</a:t>
                </a:r>
                <a:r>
                  <a:rPr sz="2400" b="0">
                    <a:solidFill>
                      <a:srgbClr val="111827"/>
                    </a:solidFill>
                    <a:latin typeface="Arial"/>
                  </a:rPr>
                  <a:t>   (B) </a:t>
                </a:r>
                <a:r>
                  <a:rPr lang="en-IN" sz="2400">
                    <a:solidFill>
                      <a:srgbClr val="111827"/>
                    </a:solidFill>
                    <a:latin typeface="Cambria Math" panose="02040503050406030204" pitchFamily="18" charset="0"/>
                  </a:rPr>
                  <a:t>$\frac{4}{9}$</a:t>
                </a:r>
                <a:r>
                  <a:rPr sz="2400" b="0">
                    <a:solidFill>
                      <a:srgbClr val="111827"/>
                    </a:solidFill>
                    <a:latin typeface="Arial"/>
                  </a:rPr>
                  <a:t>   (C) 2   (D) 1</a:t>
                </a:r>
                <a:endParaRPr sz="2400">
                  <a:solidFill>
                    <a:srgbClr val="111827"/>
                  </a:solidFill>
                </a:endParaRPr>
              </a:p>
            </p:txBody>
          </p:sp>
        </mc:Fallback>
      </mc:AlternateContent>
      <p:sp>
        <p:nvSpPr>
          <p:cNvPr id="5" name="Rectangle 4"/>
          <p:cNvSpPr/>
          <p:nvPr/>
        </p:nvSpPr>
        <p:spPr>
          <a:xfrm>
            <a:off x="731520" y="4171695"/>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Variance of consecutive integers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B is A shifted by 50, and variance does not change under a shift.</a:t>
            </a:r>
            <a:endParaRPr sz="24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variance is computed from deviations about the mean: </a:t>
                </a:r>
                <a14:m>
                  <m:oMath xmlns:m="http://schemas.openxmlformats.org/officeDocument/2006/math">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2</m:t>
                            </m:r>
                          </m:sup>
                        </m:sSubSup>
                      </m:num>
                      <m:den>
                        <m:r>
                          <a:rPr lang="en-IN" sz="2400" i="1">
                            <a:solidFill>
                              <a:srgbClr val="111827"/>
                            </a:solidFill>
                            <a:latin typeface="Cambria Math" panose="02040503050406030204" pitchFamily="18" charset="0"/>
                          </a:rPr>
                          <m:t>𝑛</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and B each consist of 100 consecutive integers, so their deviations from their own means are the same set of numbers.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both have the same variance, </a:t>
                </a:r>
                <a14:m>
                  <m:oMath xmlns:m="http://schemas.openxmlformats.org/officeDocument/2006/math">
                    <m:sSub>
                      <m:e>
                        <m:r>
                          <a:rPr lang="en-IN" sz="2400" i="1">
                            <a:solidFill>
                              <a:srgbClr val="111827"/>
                            </a:solidFill>
                            <a:latin typeface="Cambria Math" panose="02040503050406030204" pitchFamily="18" charset="0"/>
                          </a:rPr>
                          <m:t>𝑉</m:t>
                        </m:r>
                      </m:e>
                      <m:sub>
                        <m:r>
                          <a:rPr lang="en-IN" sz="2400" i="1">
                            <a:solidFill>
                              <a:srgbClr val="111827"/>
                            </a:solidFill>
                            <a:latin typeface="Cambria Math" panose="02040503050406030204" pitchFamily="18" charset="0"/>
                          </a:rPr>
                          <m:t>𝐴</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𝑉</m:t>
                        </m:r>
                      </m:e>
                      <m:sub>
                        <m:r>
                          <a:rPr lang="en-IN" sz="2400" i="1">
                            <a:solidFill>
                              <a:srgbClr val="111827"/>
                            </a:solidFill>
                            <a:latin typeface="Cambria Math" panose="02040503050406030204" pitchFamily="18" charset="0"/>
                          </a:rPr>
                          <m:t>𝐵</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𝑉</m:t>
                            </m:r>
                          </m:e>
                          <m:sub>
                            <m:r>
                              <a:rPr lang="en-IN" sz="2400" i="1">
                                <a:solidFill>
                                  <a:srgbClr val="111827"/>
                                </a:solidFill>
                                <a:latin typeface="Cambria Math" panose="02040503050406030204" pitchFamily="18" charset="0"/>
                              </a:rPr>
                              <m:t>𝐴</m:t>
                            </m:r>
                          </m:sub>
                        </m:sSub>
                      </m:num>
                      <m:den>
                        <m:sSub>
                          <m:e>
                            <m:r>
                              <a:rPr lang="en-IN" sz="2400" i="1">
                                <a:solidFill>
                                  <a:srgbClr val="111827"/>
                                </a:solidFill>
                                <a:latin typeface="Cambria Math" panose="02040503050406030204" pitchFamily="18" charset="0"/>
                              </a:rPr>
                              <m:t>𝑉</m:t>
                            </m:r>
                          </m:e>
                          <m:sub>
                            <m:r>
                              <a:rPr lang="en-IN" sz="2400" i="1">
                                <a:solidFill>
                                  <a:srgbClr val="111827"/>
                                </a:solidFill>
                                <a:latin typeface="Cambria Math" panose="02040503050406030204" pitchFamily="18" charset="0"/>
                              </a:rPr>
                              <m:t>𝐵</m:t>
                            </m:r>
                          </m:sub>
                        </m:sSub>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option (D).</a:t>
                </a:r>
                <a:endParaRPr sz="2400">
                  <a:solidFill>
                    <a:srgbClr val="111827"/>
                  </a:solidFill>
                </a:endParaRPr>
              </a:p>
            </p:txBody>
          </p:sp>
        </mc:Choice>
        <mc:Fallback>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variance is computed from deviations about the mean: </a:t>
                </a:r>
                <a:r>
                  <a:rPr lang="en-IN" sz="2400">
                    <a:solidFill>
                      <a:srgbClr val="111827"/>
                    </a:solidFill>
                    <a:latin typeface="Cambria Math" panose="02040503050406030204" pitchFamily="18" charset="0"/>
                  </a:rPr>
                  <a:t>$\sigma^2=\frac{\sum d_i^2}{n}$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and B each consist of 100 consecutive integers, so their deviations from their own means are the same set of numbers.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both have the same variance, </a:t>
                </a:r>
                <a:r>
                  <a:rPr lang="en-IN" sz="2400">
                    <a:solidFill>
                      <a:srgbClr val="111827"/>
                    </a:solidFill>
                    <a:latin typeface="Cambria Math" panose="02040503050406030204" pitchFamily="18" charset="0"/>
                  </a:rPr>
                  <a:t>$V_A=V_B$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$\frac{V_A}{V_B}=1$</a:t>
                </a:r>
                <a:r>
                  <a:rPr sz="2400" b="0">
                    <a:solidFill>
                      <a:srgbClr val="111827"/>
                    </a:solidFill>
                    <a:latin typeface="Arial"/>
                  </a:rPr>
                  <a:t>, option (D).</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1</a:t>
            </a:r>
            <a:endParaRPr sz="2800">
              <a:solidFill>
                <a:srgbClr val="15803D"/>
              </a:solidFill>
            </a:endParaRP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the closed form for </a:t>
                </a:r>
                <a14:m>
                  <m:oMath xmlns:m="http://schemas.openxmlformats.org/officeDocument/2006/math">
                    <m:r>
                      <a:rPr lang="en-IN" sz="2400" i="1">
                        <a:solidFill>
                          <a:srgbClr val="78350F"/>
                        </a:solidFill>
                        <a:latin typeface="Cambria Math" panose="02040503050406030204" pitchFamily="18" charset="0"/>
                      </a:rPr>
                      <m:t>𝑛</m:t>
                    </m:r>
                  </m:oMath>
                </a14:m>
                <a:r>
                  <a:rPr sz="2400" b="0">
                    <a:solidFill>
                      <a:srgbClr val="78350F"/>
                    </a:solidFill>
                    <a:latin typeface="Arial"/>
                  </a:rPr>
                  <a:t> consecutive integers.</a:t>
                </a:r>
                <a:endParaRPr sz="2400">
                  <a:solidFill>
                    <a:srgbClr val="78350F"/>
                  </a:solidFill>
                </a:endParaRPr>
              </a:p>
            </p:txBody>
          </p:sp>
        </mc:Choice>
        <mc:Fallback>
          <p:sp>
            <p:nvSpPr>
              <p:cNvPr id="5" name="Rounded Rectangle 4"/>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the closed form for </a:t>
                </a:r>
                <a:r>
                  <a:rPr lang="en-IN" sz="2400">
                    <a:solidFill>
                      <a:srgbClr val="78350F"/>
                    </a:solidFill>
                    <a:latin typeface="Cambria Math" panose="02040503050406030204" pitchFamily="18" charset="0"/>
                  </a:rPr>
                  <a:t>$n$</a:t>
                </a:r>
                <a:r>
                  <a:rPr sz="2400" b="0">
                    <a:solidFill>
                      <a:srgbClr val="78350F"/>
                    </a:solidFill>
                    <a:latin typeface="Arial"/>
                  </a:rPr>
                  <a:t> consecutive integers.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Variance of any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consecutive integers is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𝑉</m:t>
                        </m:r>
                      </m:e>
                      <m:sub>
                        <m:r>
                          <a:rPr lang="en-IN" sz="2400" i="1">
                            <a:solidFill>
                              <a:srgbClr val="111827"/>
                            </a:solidFill>
                            <a:latin typeface="Cambria Math" panose="02040503050406030204" pitchFamily="18" charset="0"/>
                          </a:rPr>
                          <m:t>𝐴</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𝑉</m:t>
                        </m:r>
                      </m:e>
                      <m:sub>
                        <m:r>
                          <a:rPr lang="en-IN" sz="2400" i="1">
                            <a:solidFill>
                              <a:srgbClr val="111827"/>
                            </a:solidFill>
                            <a:latin typeface="Cambria Math" panose="02040503050406030204" pitchFamily="18" charset="0"/>
                          </a:rPr>
                          <m:t>𝐵</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100</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9999</m:t>
                        </m:r>
                      </m:num>
                      <m:den>
                        <m:r>
                          <a:rPr lang="en-IN" sz="2400" i="1">
                            <a:solidFill>
                              <a:srgbClr val="111827"/>
                            </a:solidFill>
                            <a:latin typeface="Cambria Math" panose="02040503050406030204" pitchFamily="18" charset="0"/>
                          </a:rPr>
                          <m:t>12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ratio is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the same answer.</a:t>
                </a:r>
                <a:endParaRPr sz="2400">
                  <a:solidFill>
                    <a:srgbClr val="111827"/>
                  </a:solidFill>
                </a:endParaRPr>
              </a:p>
            </p:txBody>
          </p:sp>
        </mc:Choice>
        <mc:Fallback>
          <p:sp>
            <p:nvSpPr>
              <p:cNvPr id="6" name="Rectangle 5"/>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Variance of any </a:t>
                </a:r>
                <a:r>
                  <a:rPr lang="en-IN" sz="2400">
                    <a:solidFill>
                      <a:srgbClr val="111827"/>
                    </a:solidFill>
                    <a:latin typeface="Cambria Math" panose="02040503050406030204" pitchFamily="18" charset="0"/>
                  </a:rPr>
                  <a:t>$n$</a:t>
                </a:r>
                <a:r>
                  <a:rPr sz="2400" b="0">
                    <a:solidFill>
                      <a:srgbClr val="111827"/>
                    </a:solidFill>
                    <a:latin typeface="Arial"/>
                  </a:rPr>
                  <a:t> consecutive integers is </a:t>
                </a:r>
                <a:r>
                  <a:rPr lang="en-IN" sz="2400">
                    <a:solidFill>
                      <a:srgbClr val="111827"/>
                    </a:solidFill>
                    <a:latin typeface="Cambria Math" panose="02040503050406030204" pitchFamily="18" charset="0"/>
                  </a:rPr>
                  <a:t>$\frac{n^2-1}{12}$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$V_A=V_B=\frac{100^2-1}{12}=\frac{9999}{12}$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ratio is </a:t>
                </a:r>
                <a:r>
                  <a:rPr lang="en-IN" sz="2400">
                    <a:solidFill>
                      <a:srgbClr val="111827"/>
                    </a:solidFill>
                    <a:latin typeface="Cambria Math" panose="02040503050406030204" pitchFamily="18" charset="0"/>
                  </a:rPr>
                  <a:t>$1$</a:t>
                </a:r>
                <a:r>
                  <a:rPr sz="2400" b="0">
                    <a:solidFill>
                      <a:srgbClr val="111827"/>
                    </a:solidFill>
                    <a:latin typeface="Arial"/>
                  </a:rPr>
                  <a:t>, the same answer.</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1</a:t>
            </a:r>
            <a:endParaRPr sz="2800">
              <a:solidFill>
                <a:srgbClr val="15803D"/>
              </a:solidFill>
            </a:endParaRP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Variance of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consecutive integers (or any AP with common difference 1) is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12</m:t>
                        </m:r>
                      </m:den>
                    </m:f>
                  </m:oMath>
                </a14:m>
                <a:r>
                  <a:rPr sz="2400" b="0">
                    <a:solidFill>
                      <a:srgbClr val="111827"/>
                    </a:solidFill>
                    <a:latin typeface="Arial"/>
                  </a:rPr>
                  <a:t>; for common difference </a:t>
                </a:r>
                <a14:m>
                  <m:oMath xmlns:m="http://schemas.openxmlformats.org/officeDocument/2006/math">
                    <m:r>
                      <a:rPr lang="en-IN" sz="2400" i="1">
                        <a:solidFill>
                          <a:srgbClr val="111827"/>
                        </a:solidFill>
                        <a:latin typeface="Cambria Math" panose="02040503050406030204" pitchFamily="18" charset="0"/>
                      </a:rPr>
                      <m:t>𝑑</m:t>
                    </m:r>
                  </m:oMath>
                </a14:m>
                <a:r>
                  <a:rPr sz="2400" b="0">
                    <a:solidFill>
                      <a:srgbClr val="111827"/>
                    </a:solidFill>
                    <a:latin typeface="Arial"/>
                  </a:rPr>
                  <a:t> it is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12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Adding a constant to every observation changes the mean but not the variance.</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Variance of </a:t>
                </a:r>
                <a:r>
                  <a:rPr lang="en-IN" sz="2400">
                    <a:solidFill>
                      <a:srgbClr val="111827"/>
                    </a:solidFill>
                    <a:latin typeface="Cambria Math" panose="02040503050406030204" pitchFamily="18" charset="0"/>
                  </a:rPr>
                  <a:t>$n$</a:t>
                </a:r>
                <a:r>
                  <a:rPr sz="2400" b="0">
                    <a:solidFill>
                      <a:srgbClr val="111827"/>
                    </a:solidFill>
                    <a:latin typeface="Arial"/>
                  </a:rPr>
                  <a:t> consecutive integers (or any AP with common difference 1) is </a:t>
                </a:r>
                <a:r>
                  <a:rPr lang="en-IN" sz="2400">
                    <a:solidFill>
                      <a:srgbClr val="111827"/>
                    </a:solidFill>
                    <a:latin typeface="Cambria Math" panose="02040503050406030204" pitchFamily="18" charset="0"/>
                  </a:rPr>
                  <a:t>$\frac{n^2-1}{12}$</a:t>
                </a:r>
                <a:r>
                  <a:rPr sz="2400" b="0">
                    <a:solidFill>
                      <a:srgbClr val="111827"/>
                    </a:solidFill>
                    <a:latin typeface="Arial"/>
                  </a:rPr>
                  <a:t>; for common difference </a:t>
                </a:r>
                <a:r>
                  <a:rPr lang="en-IN" sz="2400">
                    <a:solidFill>
                      <a:srgbClr val="111827"/>
                    </a:solidFill>
                    <a:latin typeface="Cambria Math" panose="02040503050406030204" pitchFamily="18" charset="0"/>
                  </a:rPr>
                  <a:t>$d$</a:t>
                </a:r>
                <a:r>
                  <a:rPr sz="2400" b="0">
                    <a:solidFill>
                      <a:srgbClr val="111827"/>
                    </a:solidFill>
                    <a:latin typeface="Arial"/>
                  </a:rPr>
                  <a:t> it is </a:t>
                </a:r>
                <a:r>
                  <a:rPr lang="en-IN" sz="2400">
                    <a:solidFill>
                      <a:srgbClr val="111827"/>
                    </a:solidFill>
                    <a:latin typeface="Cambria Math" panose="02040503050406030204" pitchFamily="18" charset="0"/>
                  </a:rPr>
                  <a:t>$\frac{d^2(n^2-1)}{12}$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Adding a constant to every observation changes the mean but not the variance.</a:t>
                </a:r>
                <a:endParaRPr sz="2400">
                  <a:solidFill>
                    <a:srgbClr val="111827"/>
                  </a:solidFill>
                </a:endParaRPr>
              </a:p>
            </p:txBody>
          </p:sp>
        </mc:Fallback>
      </mc:AlternateContent>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average marks of boys in a class is 52 and that of girls is 42. The average marks of boys and girls combined is 50. The percentage of boys in the class is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40   (B) 20   (C) 80   (D) 60</a:t>
            </a:r>
            <a:endParaRPr sz="2400">
              <a:solidFill>
                <a:srgbClr val="111827"/>
              </a:solidFill>
            </a:endParaRPr>
          </a:p>
        </p:txBody>
      </p:sp>
      <p:sp>
        <p:nvSpPr>
          <p:cNvPr id="5" name="Rectangle 4"/>
          <p:cNvSpPr/>
          <p:nvPr/>
        </p:nvSpPr>
        <p:spPr>
          <a:xfrm>
            <a:off x="731520" y="3580383"/>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Combined mean (weighted mean)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Total marks add: </a:t>
                </a:r>
                <a14:m>
                  <m:oMath xmlns:m="http://schemas.openxmlformats.org/officeDocument/2006/math">
                    <m:r>
                      <a:rPr lang="en-IN" sz="2400" i="1">
                        <a:solidFill>
                          <a:srgbClr val="78350F"/>
                        </a:solidFill>
                        <a:latin typeface="Cambria Math" panose="02040503050406030204" pitchFamily="18" charset="0"/>
                      </a:rPr>
                      <m:t>52</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42</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50</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Total marks add: </a:t>
                </a:r>
                <a:r>
                  <a:rPr lang="en-IN" sz="2400">
                    <a:solidFill>
                      <a:srgbClr val="78350F"/>
                    </a:solidFill>
                    <a:latin typeface="Cambria Math" panose="02040503050406030204" pitchFamily="18" charset="0"/>
                  </a:rPr>
                  <a:t>$52x+42y=50(x+y)$</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numbers of boys and girls be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marks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52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r>
                      <a:rPr lang="en-IN" sz="2400" i="1">
                        <a:solidFill>
                          <a:srgbClr val="111827"/>
                        </a:solidFill>
                        <a:latin typeface="Cambria Math" panose="02040503050406030204" pitchFamily="18" charset="0"/>
                      </a:rPr>
                      <m:t>𝑦</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𝑦</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𝑦</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students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𝑦</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Percentage of boys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𝑦</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option (C).</a:t>
                </a:r>
                <a:endParaRPr sz="2400">
                  <a:solidFill>
                    <a:srgbClr val="111827"/>
                  </a:solidFill>
                </a:endParaRPr>
              </a:p>
            </p:txBody>
          </p:sp>
        </mc:Choice>
        <mc:Fallback>
          <p:sp>
            <p:nvSpPr>
              <p:cNvPr id="5" name="Rectangle 4"/>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numbers of boys and girls be </a:t>
                </a:r>
                <a:r>
                  <a:rPr lang="en-IN" sz="2400">
                    <a:solidFill>
                      <a:srgbClr val="111827"/>
                    </a:solidFill>
                    <a:latin typeface="Cambria Math" panose="02040503050406030204" pitchFamily="18" charset="0"/>
                  </a:rPr>
                  <a:t>$x$</a:t>
                </a:r>
                <a:r>
                  <a:rPr sz="2400" b="0">
                    <a:solidFill>
                      <a:srgbClr val="111827"/>
                    </a:solidFill>
                    <a:latin typeface="Arial"/>
                  </a:rPr>
                  <a:t> and </a:t>
                </a:r>
                <a:r>
                  <a:rPr lang="en-IN" sz="2400">
                    <a:solidFill>
                      <a:srgbClr val="111827"/>
                    </a:solidFill>
                    <a:latin typeface="Cambria Math" panose="02040503050406030204" pitchFamily="18" charset="0"/>
                  </a:rPr>
                  <a:t>$y$</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marks </a:t>
                </a:r>
                <a:r>
                  <a:rPr lang="en-IN" sz="2400">
                    <a:solidFill>
                      <a:srgbClr val="111827"/>
                    </a:solidFill>
                    <a:latin typeface="Cambria Math" panose="02040503050406030204" pitchFamily="18" charset="0"/>
                  </a:rPr>
                  <a:t>$=52x+42y=50(x+y)$</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$52x+42y=50x+50y$</a:t>
                </a:r>
                <a:r>
                  <a:rPr sz="2400" b="0">
                    <a:solidFill>
                      <a:srgbClr val="111827"/>
                    </a:solidFill>
                    <a:latin typeface="Arial"/>
                  </a:rPr>
                  <a:t>, so </a:t>
                </a:r>
                <a:r>
                  <a:rPr lang="en-IN" sz="2400">
                    <a:solidFill>
                      <a:srgbClr val="111827"/>
                    </a:solidFill>
                    <a:latin typeface="Cambria Math" panose="02040503050406030204" pitchFamily="18" charset="0"/>
                  </a:rPr>
                  <a:t>$2x=8y$</a:t>
                </a:r>
                <a:r>
                  <a:rPr sz="2400" b="0">
                    <a:solidFill>
                      <a:srgbClr val="111827"/>
                    </a:solidFill>
                    <a:latin typeface="Arial"/>
                  </a:rPr>
                  <a:t> and </a:t>
                </a:r>
                <a:r>
                  <a:rPr lang="en-IN" sz="2400">
                    <a:solidFill>
                      <a:srgbClr val="111827"/>
                    </a:solidFill>
                    <a:latin typeface="Cambria Math" panose="02040503050406030204" pitchFamily="18" charset="0"/>
                  </a:rPr>
                  <a:t>$x=4y$</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students </a:t>
                </a:r>
                <a:r>
                  <a:rPr lang="en-IN" sz="2400">
                    <a:solidFill>
                      <a:srgbClr val="111827"/>
                    </a:solidFill>
                    <a:latin typeface="Cambria Math" panose="02040503050406030204" pitchFamily="18" charset="0"/>
                  </a:rPr>
                  <a:t>$=x+y=5y$</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Percentage of boys </a:t>
                </a:r>
                <a:r>
                  <a:rPr lang="en-IN" sz="2400">
                    <a:solidFill>
                      <a:srgbClr val="111827"/>
                    </a:solidFill>
                    <a:latin typeface="Cambria Math" panose="02040503050406030204" pitchFamily="18" charset="0"/>
                  </a:rPr>
                  <a:t>$=\frac{x}{x+y}\times100=\frac{4y}{5y}\times100=80\%$</a:t>
                </a:r>
                <a:r>
                  <a:rPr sz="2400" b="0">
                    <a:solidFill>
                      <a:srgbClr val="111827"/>
                    </a:solidFill>
                    <a:latin typeface="Arial"/>
                  </a:rPr>
                  <a:t>, option (C).</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80</a:t>
            </a:r>
            <a:endParaRPr sz="2800">
              <a:solidFill>
                <a:srgbClr val="15803D"/>
              </a:solidFill>
            </a:endParaRP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Alligation (balance): the combined mean divides the gap between the two means in the inverse ratio of the group sizes.</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Girls are </a:t>
                </a:r>
                <a14:m>
                  <m:oMath xmlns:m="http://schemas.openxmlformats.org/officeDocument/2006/math">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below the combined mean, boys </a:t>
                </a:r>
                <a14:m>
                  <m:oMath xmlns:m="http://schemas.openxmlformats.org/officeDocument/2006/math">
                    <m:r>
                      <a:rPr lang="en-IN" sz="2400" i="1">
                        <a:solidFill>
                          <a:srgbClr val="111827"/>
                        </a:solidFill>
                        <a:latin typeface="Cambria Math" panose="02040503050406030204" pitchFamily="18" charset="0"/>
                      </a:rPr>
                      <m:t>52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above it.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deviations must balance: </a:t>
                </a:r>
                <a14:m>
                  <m:oMath xmlns:m="http://schemas.openxmlformats.org/officeDocument/2006/math">
                    <m:r>
                      <a:rPr lang="en-IN" sz="2400" i="1">
                        <a:solidFill>
                          <a:srgbClr val="111827"/>
                        </a:solidFill>
                        <a:latin typeface="Cambria Math" panose="02040503050406030204" pitchFamily="18" charset="0"/>
                      </a:rPr>
                      <m:t>2</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𝐵</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𝐺</m:t>
                        </m:r>
                      </m:sub>
                    </m:sSub>
                  </m:oMath>
                </a14:m>
                <a:r>
                  <a:rPr sz="2400" b="0">
                    <a:solidFill>
                      <a:srgbClr val="111827"/>
                    </a:solidFill>
                    <a:latin typeface="Arial"/>
                  </a:rPr>
                  <a:t>, where </a:t>
                </a:r>
                <a14:m>
                  <m:oMath xmlns:m="http://schemas.openxmlformats.org/officeDocument/2006/math">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𝐵</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𝐺</m:t>
                        </m:r>
                      </m:sub>
                    </m:sSub>
                  </m:oMath>
                </a14:m>
                <a:r>
                  <a:rPr sz="2400" b="0">
                    <a:solidFill>
                      <a:srgbClr val="111827"/>
                    </a:solidFill>
                    <a:latin typeface="Arial"/>
                  </a:rPr>
                  <a:t> are the numbers of boys and girls.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boys : girls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giving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boys, the same answer.</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Girls are </a:t>
                </a:r>
                <a:r>
                  <a:rPr lang="en-IN" sz="2400">
                    <a:solidFill>
                      <a:srgbClr val="111827"/>
                    </a:solidFill>
                    <a:latin typeface="Cambria Math" panose="02040503050406030204" pitchFamily="18" charset="0"/>
                  </a:rPr>
                  <a:t>$50-42=8$</a:t>
                </a:r>
                <a:r>
                  <a:rPr sz="2400" b="0">
                    <a:solidFill>
                      <a:srgbClr val="111827"/>
                    </a:solidFill>
                    <a:latin typeface="Arial"/>
                  </a:rPr>
                  <a:t> below the combined mean, boys </a:t>
                </a:r>
                <a:r>
                  <a:rPr lang="en-IN" sz="2400">
                    <a:solidFill>
                      <a:srgbClr val="111827"/>
                    </a:solidFill>
                    <a:latin typeface="Cambria Math" panose="02040503050406030204" pitchFamily="18" charset="0"/>
                  </a:rPr>
                  <a:t>$52-50=2$</a:t>
                </a:r>
                <a:r>
                  <a:rPr sz="2400" b="0">
                    <a:solidFill>
                      <a:srgbClr val="111827"/>
                    </a:solidFill>
                    <a:latin typeface="Arial"/>
                  </a:rPr>
                  <a:t> above it.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deviations must balance: </a:t>
                </a:r>
                <a:r>
                  <a:rPr lang="en-IN" sz="2400">
                    <a:solidFill>
                      <a:srgbClr val="111827"/>
                    </a:solidFill>
                    <a:latin typeface="Cambria Math" panose="02040503050406030204" pitchFamily="18" charset="0"/>
                  </a:rPr>
                  <a:t>$2n_B=8n_G$</a:t>
                </a:r>
                <a:r>
                  <a:rPr sz="2400" b="0">
                    <a:solidFill>
                      <a:srgbClr val="111827"/>
                    </a:solidFill>
                    <a:latin typeface="Arial"/>
                  </a:rPr>
                  <a:t>, where </a:t>
                </a:r>
                <a:r>
                  <a:rPr lang="en-IN" sz="2400">
                    <a:solidFill>
                      <a:srgbClr val="111827"/>
                    </a:solidFill>
                    <a:latin typeface="Cambria Math" panose="02040503050406030204" pitchFamily="18" charset="0"/>
                  </a:rPr>
                  <a:t>$n_B,n_G$</a:t>
                </a:r>
                <a:r>
                  <a:rPr sz="2400" b="0">
                    <a:solidFill>
                      <a:srgbClr val="111827"/>
                    </a:solidFill>
                    <a:latin typeface="Arial"/>
                  </a:rPr>
                  <a:t> are the numbers of boys and girls.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boys : girls </a:t>
                </a:r>
                <a:r>
                  <a:rPr lang="en-IN" sz="2400">
                    <a:solidFill>
                      <a:srgbClr val="111827"/>
                    </a:solidFill>
                    <a:latin typeface="Cambria Math" panose="02040503050406030204" pitchFamily="18" charset="0"/>
                  </a:rPr>
                  <a:t>$=8:2=4:1$</a:t>
                </a:r>
                <a:r>
                  <a:rPr sz="2400" b="0">
                    <a:solidFill>
                      <a:srgbClr val="111827"/>
                    </a:solidFill>
                    <a:latin typeface="Arial"/>
                  </a:rPr>
                  <a:t>, giving </a:t>
                </a:r>
                <a:r>
                  <a:rPr lang="en-IN" sz="2400">
                    <a:solidFill>
                      <a:srgbClr val="111827"/>
                    </a:solidFill>
                    <a:latin typeface="Cambria Math" panose="02040503050406030204" pitchFamily="18" charset="0"/>
                  </a:rPr>
                  <a:t>$\frac{4}{5}=80\%$</a:t>
                </a:r>
                <a:r>
                  <a:rPr sz="2400" b="0">
                    <a:solidFill>
                      <a:srgbClr val="111827"/>
                    </a:solidFill>
                    <a:latin typeface="Arial"/>
                  </a:rPr>
                  <a:t> boys, the same answer.</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80</a:t>
            </a:r>
            <a:endParaRPr sz="2800">
              <a:solidFill>
                <a:srgbClr val="15803D"/>
              </a:solidFill>
            </a:endParaRP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Combined mean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e>
                          <m:sub>
                            <m:r>
                              <a:rPr lang="en-IN" sz="2400" i="1">
                                <a:solidFill>
                                  <a:srgbClr val="111827"/>
                                </a:solidFill>
                                <a:latin typeface="Cambria Math" panose="02040503050406030204" pitchFamily="18" charset="0"/>
                              </a:rPr>
                              <m:t>2</m:t>
                            </m:r>
                          </m:sub>
                        </m:sSub>
                      </m:num>
                      <m:den>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den>
                    </m:f>
                  </m:oMath>
                </a14:m>
                <a:r>
                  <a:rPr sz="2400" b="0">
                    <a:solidFill>
                      <a:srgbClr val="111827"/>
                    </a:solidFill>
                    <a:latin typeface="Arial"/>
                  </a:rPr>
                  <a:t>; equivalently </a:t>
                </a:r>
                <a14:m>
                  <m:oMath xmlns:m="http://schemas.openxmlformats.org/officeDocument/2006/math">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num>
                      <m:den>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e>
                          <m:sub>
                            <m:r>
                              <a:rPr lang="en-IN" sz="2400" i="1">
                                <a:solidFill>
                                  <a:srgbClr val="111827"/>
                                </a:solidFill>
                                <a:latin typeface="Cambria Math" panose="02040503050406030204" pitchFamily="18" charset="0"/>
                              </a:rPr>
                              <m:t>2</m:t>
                            </m:r>
                          </m:sub>
                        </m:sSub>
                      </m:num>
                      <m:den>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combined mean always lies between the two group means, nearer to the larger group.</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Combined mean </a:t>
                </a:r>
                <a:r>
                  <a:rPr lang="en-IN" sz="2400">
                    <a:solidFill>
                      <a:srgbClr val="111827"/>
                    </a:solidFill>
                    <a:latin typeface="Cambria Math" panose="02040503050406030204" pitchFamily="18" charset="0"/>
                  </a:rPr>
                  <a:t>$=\frac{n_1\bar{x}_1+n_2\bar{x}_2}{n_1+n_2}$</a:t>
                </a:r>
                <a:r>
                  <a:rPr sz="2400" b="0">
                    <a:solidFill>
                      <a:srgbClr val="111827"/>
                    </a:solidFill>
                    <a:latin typeface="Arial"/>
                  </a:rPr>
                  <a:t>; equivalently </a:t>
                </a:r>
                <a:r>
                  <a:rPr lang="en-IN" sz="2400">
                    <a:solidFill>
                      <a:srgbClr val="111827"/>
                    </a:solidFill>
                    <a:latin typeface="Cambria Math" panose="02040503050406030204" pitchFamily="18" charset="0"/>
                  </a:rPr>
                  <a:t>$n_1(\bar{x}_1-\bar{x})=n_2(\bar{x}-\bar{x}_2)$</a:t>
                </a:r>
                <a:r>
                  <a:rPr sz="2400" b="0">
                    <a:solidFill>
                      <a:srgbClr val="111827"/>
                    </a:solidFill>
                    <a:latin typeface="Arial"/>
                  </a:rPr>
                  <a:t>, so </a:t>
                </a:r>
                <a:r>
                  <a:rPr lang="en-IN" sz="2400">
                    <a:solidFill>
                      <a:srgbClr val="111827"/>
                    </a:solidFill>
                    <a:latin typeface="Cambria Math" panose="02040503050406030204" pitchFamily="18" charset="0"/>
                  </a:rPr>
                  <a:t>$\frac{n_1}{n_2}=\frac{\bar{x}-\bar{x}_2}{\bar{x}_1-\bar{x}}$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combined mean always lies between the two group means, nearer to the larger group.</a:t>
                </a:r>
                <a:endParaRPr sz="2400">
                  <a:solidFill>
                    <a:srgbClr val="111827"/>
                  </a:solidFill>
                </a:endParaRPr>
              </a:p>
            </p:txBody>
          </p:sp>
        </mc:Fallback>
      </mc:AlternateContent>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4434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mean of the numbers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is 6 and the variance is </a:t>
                </a:r>
                <a14:m>
                  <m:oMath xmlns:m="http://schemas.openxmlformats.org/officeDocument/2006/math">
                    <m:r>
                      <a:rPr lang="en-IN" sz="2400" i="1">
                        <a:solidFill>
                          <a:srgbClr val="111827"/>
                        </a:solidFill>
                        <a:latin typeface="Cambria Math" panose="02040503050406030204" pitchFamily="18" charset="0"/>
                      </a:rPr>
                      <m:t>6.80</m:t>
                    </m:r>
                  </m:oMath>
                </a14:m>
                <a:r>
                  <a:rPr sz="2400" b="0">
                    <a:solidFill>
                      <a:srgbClr val="111827"/>
                    </a:solidFill>
                    <a:latin typeface="Arial"/>
                  </a:rPr>
                  <a:t>. Then which one of the following gives possible values of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𝑏</m:t>
                    </m:r>
                  </m:oMath>
                </a14:m>
                <a:r>
                  <a:rPr sz="2400" b="0">
                    <a:solidFill>
                      <a:srgbClr val="111827"/>
                    </a:solidFill>
                    <a:latin typeface="Arial"/>
                  </a:rPr>
                  <a:t>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endParaRPr sz="2400">
                  <a:solidFill>
                    <a:srgbClr val="111827"/>
                  </a:solidFill>
                </a:endParaRPr>
              </a:p>
            </p:txBody>
          </p:sp>
        </mc:Choice>
        <mc:Fallback>
          <p:sp>
            <p:nvSpPr>
              <p:cNvPr id="4" name="Rounded Rectangle 3"/>
              <p:cNvSpPr/>
              <p:nvPr/>
            </p:nvSpPr>
            <p:spPr>
              <a:xfrm>
                <a:off x="731520" y="1280160"/>
                <a:ext cx="10725912" cy="24434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mean of the numbers </a:t>
                </a:r>
                <a:r>
                  <a:rPr lang="en-IN" sz="2400">
                    <a:solidFill>
                      <a:srgbClr val="111827"/>
                    </a:solidFill>
                    <a:latin typeface="Cambria Math" panose="02040503050406030204" pitchFamily="18" charset="0"/>
                  </a:rPr>
                  <a:t>$a,b,8,5,10$</a:t>
                </a:r>
                <a:r>
                  <a:rPr sz="2400" b="0">
                    <a:solidFill>
                      <a:srgbClr val="111827"/>
                    </a:solidFill>
                    <a:latin typeface="Arial"/>
                  </a:rPr>
                  <a:t> is 6 and the variance is </a:t>
                </a:r>
                <a:r>
                  <a:rPr lang="en-IN" sz="2400">
                    <a:solidFill>
                      <a:srgbClr val="111827"/>
                    </a:solidFill>
                    <a:latin typeface="Cambria Math" panose="02040503050406030204" pitchFamily="18" charset="0"/>
                  </a:rPr>
                  <a:t>$6.80$</a:t>
                </a:r>
                <a:r>
                  <a:rPr sz="2400" b="0">
                    <a:solidFill>
                      <a:srgbClr val="111827"/>
                    </a:solidFill>
                    <a:latin typeface="Arial"/>
                  </a:rPr>
                  <a:t>. Then which one of the following gives possible values of </a:t>
                </a:r>
                <a:r>
                  <a:rPr lang="en-IN" sz="2400">
                    <a:solidFill>
                      <a:srgbClr val="111827"/>
                    </a:solidFill>
                    <a:latin typeface="Cambria Math" panose="02040503050406030204" pitchFamily="18" charset="0"/>
                  </a:rPr>
                  <a:t>$a$</a:t>
                </a:r>
                <a:r>
                  <a:rPr sz="2400" b="0">
                    <a:solidFill>
                      <a:srgbClr val="111827"/>
                    </a:solidFill>
                    <a:latin typeface="Arial"/>
                  </a:rPr>
                  <a:t> and </a:t>
                </a:r>
                <a:r>
                  <a:rPr lang="en-IN" sz="2400">
                    <a:solidFill>
                      <a:srgbClr val="111827"/>
                    </a:solidFill>
                    <a:latin typeface="Cambria Math" panose="02040503050406030204" pitchFamily="18" charset="0"/>
                  </a:rPr>
                  <a:t>$b$</a:t>
                </a:r>
                <a:r>
                  <a:rPr sz="2400" b="0">
                    <a:solidFill>
                      <a:srgbClr val="111827"/>
                    </a:solidFill>
                    <a:latin typeface="Arial"/>
                  </a:rPr>
                  <a:t>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$a=5,\ b=2$</a:t>
                </a:r>
                <a:r>
                  <a:rPr sz="2400" b="0">
                    <a:solidFill>
                      <a:srgbClr val="111827"/>
                    </a:solidFill>
                    <a:latin typeface="Arial"/>
                  </a:rPr>
                  <a:t>   (B) </a:t>
                </a:r>
                <a:r>
                  <a:rPr lang="en-IN" sz="2400">
                    <a:solidFill>
                      <a:srgbClr val="111827"/>
                    </a:solidFill>
                    <a:latin typeface="Cambria Math" panose="02040503050406030204" pitchFamily="18" charset="0"/>
                  </a:rPr>
                  <a:t>$a=1,\ b=6$</a:t>
                </a:r>
                <a:r>
                  <a:rPr sz="2400" b="0">
                    <a:solidFill>
                      <a:srgbClr val="111827"/>
                    </a:solidFill>
                    <a:latin typeface="Arial"/>
                  </a:rPr>
                  <a:t>   (C) </a:t>
                </a:r>
                <a:r>
                  <a:rPr lang="en-IN" sz="2400">
                    <a:solidFill>
                      <a:srgbClr val="111827"/>
                    </a:solidFill>
                    <a:latin typeface="Cambria Math" panose="02040503050406030204" pitchFamily="18" charset="0"/>
                  </a:rPr>
                  <a:t>$a=3,\ b=4$</a:t>
                </a:r>
                <a:r>
                  <a:rPr sz="2400" b="0">
                    <a:solidFill>
                      <a:srgbClr val="111827"/>
                    </a:solidFill>
                    <a:latin typeface="Arial"/>
                  </a:rPr>
                  <a:t>   (D) </a:t>
                </a:r>
                <a:r>
                  <a:rPr lang="en-IN" sz="2400">
                    <a:solidFill>
                      <a:srgbClr val="111827"/>
                    </a:solidFill>
                    <a:latin typeface="Cambria Math" panose="02040503050406030204" pitchFamily="18" charset="0"/>
                  </a:rPr>
                  <a:t>$a=0,\ b=7$</a:t>
                </a:r>
                <a:endParaRPr sz="2400">
                  <a:solidFill>
                    <a:srgbClr val="111827"/>
                  </a:solidFill>
                </a:endParaRPr>
              </a:p>
            </p:txBody>
          </p:sp>
        </mc:Fallback>
      </mc:AlternateContent>
      <p:sp>
        <p:nvSpPr>
          <p:cNvPr id="5" name="Rectangle 4"/>
          <p:cNvSpPr/>
          <p:nvPr/>
        </p:nvSpPr>
        <p:spPr>
          <a:xfrm>
            <a:off x="731520" y="3952239"/>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Measures of central tendency and dispersion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Mean gives </a:t>
                </a:r>
                <a14:m>
                  <m:oMath xmlns:m="http://schemas.openxmlformats.org/officeDocument/2006/math">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7</m:t>
                    </m:r>
                  </m:oMath>
                </a14:m>
                <a:r>
                  <a:rPr sz="2400" b="0">
                    <a:solidFill>
                      <a:srgbClr val="78350F"/>
                    </a:solidFill>
                    <a:latin typeface="Arial"/>
                  </a:rPr>
                  <a:t>; variance gives </a:t>
                </a:r>
                <a14:m>
                  <m:oMath xmlns:m="http://schemas.openxmlformats.org/officeDocument/2006/math">
                    <m:r>
                      <a:rPr lang="en-IN" sz="2400" i="1">
                        <a:solidFill>
                          <a:srgbClr val="78350F"/>
                        </a:solidFill>
                        <a:latin typeface="Cambria Math" panose="02040503050406030204" pitchFamily="18" charset="0"/>
                      </a:rPr>
                      <m:t>𝑎</m:t>
                    </m:r>
                    <m:r>
                      <a:rPr lang="en-IN" sz="2400" i="1">
                        <a:solidFill>
                          <a:srgbClr val="78350F"/>
                        </a:solidFill>
                        <a:latin typeface="Cambria Math" panose="02040503050406030204" pitchFamily="18" charset="0"/>
                      </a:rPr>
                      <m:t>𝑏</m:t>
                    </m:r>
                  </m:oMath>
                </a14:m>
                <a:r>
                  <a:rPr sz="2400" b="0">
                    <a:solidFill>
                      <a:srgbClr val="78350F"/>
                    </a:solidFill>
                    <a:latin typeface="Arial"/>
                  </a:rPr>
                  <a:t> or </a:t>
                </a:r>
                <a14:m>
                  <m:oMath xmlns:m="http://schemas.openxmlformats.org/officeDocument/2006/math">
                    <m:sSup>
                      <m:e>
                        <m:r>
                          <a:rPr lang="en-IN" sz="2400" i="1">
                            <a:solidFill>
                              <a:srgbClr val="78350F"/>
                            </a:solidFill>
                            <a:latin typeface="Cambria Math" panose="02040503050406030204" pitchFamily="18" charset="0"/>
                          </a:rPr>
                          <m:t>𝑎</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𝑏</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a quadratic in </a:t>
                </a:r>
                <a14:m>
                  <m:oMath xmlns:m="http://schemas.openxmlformats.org/officeDocument/2006/math">
                    <m:r>
                      <a:rPr lang="en-IN" sz="2400" i="1">
                        <a:solidFill>
                          <a:srgbClr val="78350F"/>
                        </a:solidFill>
                        <a:latin typeface="Cambria Math" panose="02040503050406030204" pitchFamily="18" charset="0"/>
                      </a:rPr>
                      <m:t>𝑎</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Mean gives </a:t>
                </a:r>
                <a:r>
                  <a:rPr lang="en-IN" sz="2400">
                    <a:solidFill>
                      <a:srgbClr val="78350F"/>
                    </a:solidFill>
                    <a:latin typeface="Cambria Math" panose="02040503050406030204" pitchFamily="18" charset="0"/>
                  </a:rPr>
                  <a:t>$a+b=7$</a:t>
                </a:r>
                <a:r>
                  <a:rPr sz="2400" b="0">
                    <a:solidFill>
                      <a:srgbClr val="78350F"/>
                    </a:solidFill>
                    <a:latin typeface="Arial"/>
                  </a:rPr>
                  <a:t>; variance gives </a:t>
                </a:r>
                <a:r>
                  <a:rPr lang="en-IN" sz="2400">
                    <a:solidFill>
                      <a:srgbClr val="78350F"/>
                    </a:solidFill>
                    <a:latin typeface="Cambria Math" panose="02040503050406030204" pitchFamily="18" charset="0"/>
                  </a:rPr>
                  <a:t>$ab$</a:t>
                </a:r>
                <a:r>
                  <a:rPr sz="2400" b="0">
                    <a:solidFill>
                      <a:srgbClr val="78350F"/>
                    </a:solidFill>
                    <a:latin typeface="Arial"/>
                  </a:rPr>
                  <a:t> or </a:t>
                </a:r>
                <a:r>
                  <a:rPr lang="en-IN" sz="2400">
                    <a:solidFill>
                      <a:srgbClr val="78350F"/>
                    </a:solidFill>
                    <a:latin typeface="Cambria Math" panose="02040503050406030204" pitchFamily="18" charset="0"/>
                  </a:rPr>
                  <a:t>$a^2+b^2$</a:t>
                </a:r>
                <a:r>
                  <a:rPr sz="2400" b="0">
                    <a:solidFill>
                      <a:srgbClr val="78350F"/>
                    </a:solidFill>
                    <a:latin typeface="Arial"/>
                  </a:rPr>
                  <a:t>, a quadratic in </a:t>
                </a:r>
                <a:r>
                  <a:rPr lang="en-IN" sz="2400">
                    <a:solidFill>
                      <a:srgbClr val="78350F"/>
                    </a:solidFill>
                    <a:latin typeface="Cambria Math" panose="02040503050406030204" pitchFamily="18" charset="0"/>
                  </a:rPr>
                  <a:t>$a$</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Mean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Variance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34</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the option giving this pair is (C).</a:t>
                </a:r>
                <a:endParaRPr sz="2400">
                  <a:solidFill>
                    <a:srgbClr val="111827"/>
                  </a:solidFill>
                </a:endParaRPr>
              </a:p>
            </p:txBody>
          </p:sp>
        </mc:Choice>
        <mc:Fallback>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Mean </a:t>
                </a:r>
                <a:r>
                  <a:rPr lang="en-IN" sz="2400">
                    <a:solidFill>
                      <a:srgbClr val="111827"/>
                    </a:solidFill>
                    <a:latin typeface="Cambria Math" panose="02040503050406030204" pitchFamily="18" charset="0"/>
                  </a:rPr>
                  <a:t>$=\frac{a+b+8+5+10}{5}=6$</a:t>
                </a:r>
                <a:r>
                  <a:rPr sz="2400" b="0">
                    <a:solidFill>
                      <a:srgbClr val="111827"/>
                    </a:solidFill>
                    <a:latin typeface="Arial"/>
                  </a:rPr>
                  <a:t>, so </a:t>
                </a:r>
                <a:r>
                  <a:rPr lang="en-IN" sz="2400">
                    <a:solidFill>
                      <a:srgbClr val="111827"/>
                    </a:solidFill>
                    <a:latin typeface="Cambria Math" panose="02040503050406030204" pitchFamily="18" charset="0"/>
                  </a:rPr>
                  <a:t>$a+b=7$</a:t>
                </a:r>
                <a:r>
                  <a:rPr sz="2400" b="0">
                    <a:solidFill>
                      <a:srgbClr val="111827"/>
                    </a:solidFill>
                    <a:latin typeface="Arial"/>
                  </a:rPr>
                  <a:t> and </a:t>
                </a:r>
                <a:r>
                  <a:rPr lang="en-IN" sz="2400">
                    <a:solidFill>
                      <a:srgbClr val="111827"/>
                    </a:solidFill>
                    <a:latin typeface="Cambria Math" panose="02040503050406030204" pitchFamily="18" charset="0"/>
                  </a:rPr>
                  <a:t>$b=7-a$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Variance </a:t>
                </a:r>
                <a:r>
                  <a:rPr lang="en-IN" sz="2400">
                    <a:solidFill>
                      <a:srgbClr val="111827"/>
                    </a:solidFill>
                    <a:latin typeface="Cambria Math" panose="02040503050406030204" pitchFamily="18" charset="0"/>
                  </a:rPr>
                  <a:t>$=\frac{(a-6)^2+(b-6)^2+(8-6)^2+(5-6)^2+(10-6)^2}{5}=6.8$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$(a-6)^2+(b-6)^2+4+1+16=34$</a:t>
                </a:r>
                <a:r>
                  <a:rPr sz="2400" b="0">
                    <a:solidFill>
                      <a:srgbClr val="111827"/>
                    </a:solidFill>
                    <a:latin typeface="Arial"/>
                  </a:rPr>
                  <a:t>, so </a:t>
                </a:r>
                <a:r>
                  <a:rPr lang="en-IN" sz="2400">
                    <a:solidFill>
                      <a:srgbClr val="111827"/>
                    </a:solidFill>
                    <a:latin typeface="Cambria Math" panose="02040503050406030204" pitchFamily="18" charset="0"/>
                  </a:rPr>
                  <a:t>$(a-6)^2+(1-a)^2=13$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$2a^2-14a+37=13$</a:t>
                </a:r>
                <a:r>
                  <a:rPr sz="2400" b="0">
                    <a:solidFill>
                      <a:srgbClr val="111827"/>
                    </a:solidFill>
                    <a:latin typeface="Arial"/>
                  </a:rPr>
                  <a:t>, so </a:t>
                </a:r>
                <a:r>
                  <a:rPr lang="en-IN" sz="2400">
                    <a:solidFill>
                      <a:srgbClr val="111827"/>
                    </a:solidFill>
                    <a:latin typeface="Cambria Math" panose="02040503050406030204" pitchFamily="18" charset="0"/>
                  </a:rPr>
                  <a:t>$a^2-7a+12=0$</a:t>
                </a:r>
                <a:r>
                  <a:rPr sz="2400" b="0">
                    <a:solidFill>
                      <a:srgbClr val="111827"/>
                    </a:solidFill>
                    <a:latin typeface="Arial"/>
                  </a:rPr>
                  <a:t>, i.e. </a:t>
                </a:r>
                <a:r>
                  <a:rPr lang="en-IN" sz="2400">
                    <a:solidFill>
                      <a:srgbClr val="111827"/>
                    </a:solidFill>
                    <a:latin typeface="Cambria Math" panose="02040503050406030204" pitchFamily="18" charset="0"/>
                  </a:rPr>
                  <a:t>$(a-3)(a-4)=0$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$a=3,b=4$</a:t>
                </a:r>
                <a:r>
                  <a:rPr sz="2400" b="0">
                    <a:solidFill>
                      <a:srgbClr val="111827"/>
                    </a:solidFill>
                    <a:latin typeface="Arial"/>
                  </a:rPr>
                  <a:t> or </a:t>
                </a:r>
                <a:r>
                  <a:rPr lang="en-IN" sz="2400">
                    <a:solidFill>
                      <a:srgbClr val="111827"/>
                    </a:solidFill>
                    <a:latin typeface="Cambria Math" panose="02040503050406030204" pitchFamily="18" charset="0"/>
                  </a:rPr>
                  <a:t>$a=4,b=3$</a:t>
                </a:r>
                <a:r>
                  <a:rPr sz="2400" b="0">
                    <a:solidFill>
                      <a:srgbClr val="111827"/>
                    </a:solidFill>
                    <a:latin typeface="Arial"/>
                  </a:rPr>
                  <a:t>; the option giving this pair is (C).</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14:m>
                  <m:oMath xmlns:m="http://schemas.openxmlformats.org/officeDocument/2006/math">
                    <m:r>
                      <a:rPr lang="en-IN" sz="2800" i="1">
                        <a:solidFill>
                          <a:srgbClr val="15803D"/>
                        </a:solidFill>
                        <a:latin typeface="Cambria Math" panose="02040503050406030204" pitchFamily="18" charset="0"/>
                      </a:rPr>
                      <m:t>𝑎</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3</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 </m:t>
                    </m:r>
                    <m:r>
                      <a:rPr lang="en-IN" sz="2800" i="1">
                        <a:solidFill>
                          <a:srgbClr val="15803D"/>
                        </a:solidFill>
                        <a:latin typeface="Cambria Math" panose="02040503050406030204" pitchFamily="18" charset="0"/>
                      </a:rPr>
                      <m:t>𝑏</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4</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r>
                  <a:rPr lang="en-IN" sz="2800">
                    <a:solidFill>
                      <a:srgbClr val="15803D"/>
                    </a:solidFill>
                    <a:latin typeface="Cambria Math" panose="02040503050406030204" pitchFamily="18" charset="0"/>
                  </a:rPr>
                  <a:t>$a=3,\ b=4$</a:t>
                </a:r>
                <a:endParaRPr sz="2800">
                  <a:solidFill>
                    <a:srgbClr val="15803D"/>
                  </a:solidFill>
                </a:endParaRPr>
              </a:p>
            </p:txBody>
          </p:sp>
        </mc:Fallback>
      </mc:AlternateContent>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Write </a:t>
                </a:r>
                <a14:m>
                  <m:oMath xmlns:m="http://schemas.openxmlformats.org/officeDocument/2006/math">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oMath>
                </a14:m>
                <a:r>
                  <a:rPr sz="2400" b="0">
                    <a:solidFill>
                      <a:srgbClr val="78350F"/>
                    </a:solidFill>
                    <a:latin typeface="Arial"/>
                  </a:rPr>
                  <a:t> symmetrically about their mean </a:t>
                </a:r>
                <a14:m>
                  <m:oMath xmlns:m="http://schemas.openxmlformats.org/officeDocument/2006/math">
                    <m:r>
                      <a:rPr lang="en-IN" sz="2400" i="1">
                        <a:solidFill>
                          <a:srgbClr val="78350F"/>
                        </a:solidFill>
                        <a:latin typeface="Cambria Math" panose="02040503050406030204" pitchFamily="18" charset="0"/>
                      </a:rPr>
                      <m:t>3.5</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Write </a:t>
                </a:r>
                <a:r>
                  <a:rPr lang="en-IN" sz="2400">
                    <a:solidFill>
                      <a:srgbClr val="78350F"/>
                    </a:solidFill>
                    <a:latin typeface="Cambria Math" panose="02040503050406030204" pitchFamily="18" charset="0"/>
                  </a:rPr>
                  <a:t>$a,b$</a:t>
                </a:r>
                <a:r>
                  <a:rPr sz="2400" b="0">
                    <a:solidFill>
                      <a:srgbClr val="78350F"/>
                    </a:solidFill>
                    <a:latin typeface="Arial"/>
                  </a:rPr>
                  <a:t> symmetrically about their mean </a:t>
                </a:r>
                <a:r>
                  <a:rPr lang="en-IN" sz="2400">
                    <a:solidFill>
                      <a:srgbClr val="78350F"/>
                    </a:solidFill>
                    <a:latin typeface="Cambria Math" panose="02040503050406030204" pitchFamily="18" charset="0"/>
                  </a:rPr>
                  <a:t>$3.5$</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put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34</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same answer.</a:t>
                </a:r>
                <a:endParaRPr sz="2400">
                  <a:solidFill>
                    <a:srgbClr val="111827"/>
                  </a:solidFill>
                </a:endParaRPr>
              </a:p>
            </p:txBody>
          </p:sp>
        </mc:Choice>
        <mc:Fallback>
          <p:sp>
            <p:nvSpPr>
              <p:cNvPr id="6" name="Rectangle 5"/>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$a+b=7$</a:t>
                </a:r>
                <a:r>
                  <a:rPr sz="2400" b="0">
                    <a:solidFill>
                      <a:srgbClr val="111827"/>
                    </a:solidFill>
                    <a:latin typeface="Arial"/>
                  </a:rPr>
                  <a:t> put </a:t>
                </a:r>
                <a:r>
                  <a:rPr lang="en-IN" sz="2400">
                    <a:solidFill>
                      <a:srgbClr val="111827"/>
                    </a:solidFill>
                    <a:latin typeface="Cambria Math" panose="02040503050406030204" pitchFamily="18" charset="0"/>
                  </a:rPr>
                  <a:t>$a=3.5+t$</a:t>
                </a:r>
                <a:r>
                  <a:rPr sz="2400" b="0">
                    <a:solidFill>
                      <a:srgbClr val="111827"/>
                    </a:solidFill>
                    <a:latin typeface="Arial"/>
                  </a:rPr>
                  <a:t>, </a:t>
                </a:r>
                <a:r>
                  <a:rPr lang="en-IN" sz="2400">
                    <a:solidFill>
                      <a:srgbClr val="111827"/>
                    </a:solidFill>
                    <a:latin typeface="Cambria Math" panose="02040503050406030204" pitchFamily="18" charset="0"/>
                  </a:rPr>
                  <a:t>$b=3.5-t$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$(a-6)^2+(b-6)^2=(t-2.5)^2+(t+2.5)^2=2t^2+12.5$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$2t^2+12.5+21=34$</a:t>
                </a:r>
                <a:r>
                  <a:rPr sz="2400" b="0">
                    <a:solidFill>
                      <a:srgbClr val="111827"/>
                    </a:solidFill>
                    <a:latin typeface="Arial"/>
                  </a:rPr>
                  <a:t>, so </a:t>
                </a:r>
                <a:r>
                  <a:rPr lang="en-IN" sz="2400">
                    <a:solidFill>
                      <a:srgbClr val="111827"/>
                    </a:solidFill>
                    <a:latin typeface="Cambria Math" panose="02040503050406030204" pitchFamily="18" charset="0"/>
                  </a:rPr>
                  <a:t>$t^2=\frac{1}{4}$</a:t>
                </a:r>
                <a:r>
                  <a:rPr sz="2400" b="0">
                    <a:solidFill>
                      <a:srgbClr val="111827"/>
                    </a:solidFill>
                    <a:latin typeface="Arial"/>
                  </a:rPr>
                  <a:t> and </a:t>
                </a:r>
                <a:r>
                  <a:rPr lang="en-IN" sz="2400">
                    <a:solidFill>
                      <a:srgbClr val="111827"/>
                    </a:solidFill>
                    <a:latin typeface="Cambria Math" panose="02040503050406030204" pitchFamily="18" charset="0"/>
                  </a:rPr>
                  <a:t>$t=\pm\frac{1}{2}$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$\{a,b\}=\{4,3\}$</a:t>
                </a:r>
                <a:r>
                  <a:rPr sz="2400" b="0">
                    <a:solidFill>
                      <a:srgbClr val="111827"/>
                    </a:solidFill>
                    <a:latin typeface="Arial"/>
                  </a:rPr>
                  <a:t>, the same answer.</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14:m>
                  <m:oMath xmlns:m="http://schemas.openxmlformats.org/officeDocument/2006/math">
                    <m:r>
                      <a:rPr lang="en-IN" sz="2800" i="1">
                        <a:solidFill>
                          <a:srgbClr val="15803D"/>
                        </a:solidFill>
                        <a:latin typeface="Cambria Math" panose="02040503050406030204" pitchFamily="18" charset="0"/>
                      </a:rPr>
                      <m:t>𝑎</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3</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 </m:t>
                    </m:r>
                    <m:r>
                      <a:rPr lang="en-IN" sz="2800" i="1">
                        <a:solidFill>
                          <a:srgbClr val="15803D"/>
                        </a:solidFill>
                        <a:latin typeface="Cambria Math" panose="02040503050406030204" pitchFamily="18" charset="0"/>
                      </a:rPr>
                      <m:t>𝑏</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4</m:t>
                    </m:r>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r>
                  <a:rPr lang="en-IN" sz="2800">
                    <a:solidFill>
                      <a:srgbClr val="15803D"/>
                    </a:solidFill>
                    <a:latin typeface="Cambria Math" panose="02040503050406030204" pitchFamily="18" charset="0"/>
                  </a:rPr>
                  <a:t>$a=3,\ b=4$</a:t>
                </a:r>
                <a:endParaRPr sz="2800">
                  <a:solidFill>
                    <a:srgbClr val="15803D"/>
                  </a:solidFill>
                </a:endParaRPr>
              </a:p>
            </p:txBody>
          </p:sp>
        </mc:Fallback>
      </mc:AlternateContent>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two unknowns have a known sum </a:t>
                </a:r>
                <a14:m>
                  <m:oMath xmlns:m="http://schemas.openxmlformats.org/officeDocument/2006/math">
                    <m:r>
                      <a:rPr lang="en-IN" sz="2400" i="1">
                        <a:solidFill>
                          <a:srgbClr val="111827"/>
                        </a:solidFill>
                        <a:latin typeface="Cambria Math" panose="02040503050406030204" pitchFamily="18" charset="0"/>
                      </a:rPr>
                      <m:t>𝑠</m:t>
                    </m:r>
                  </m:oMath>
                </a14:m>
                <a:r>
                  <a:rPr sz="2400" b="0">
                    <a:solidFill>
                      <a:srgbClr val="111827"/>
                    </a:solidFill>
                    <a:latin typeface="Arial"/>
                  </a:rPr>
                  <a:t>, write them as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𝑠</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oMath>
                </a14:m>
                <a:r>
                  <a:rPr sz="2400" b="0">
                    <a:solidFill>
                      <a:srgbClr val="111827"/>
                    </a:solidFill>
                    <a:latin typeface="Arial"/>
                  </a:rPr>
                  <a:t>; the sum of squares becomes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𝑠</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and the quadratic disappears.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 known sum and sum of squares,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𝑠</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gives the quadratic whose roots are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two unknowns have a known sum </a:t>
                </a:r>
                <a:r>
                  <a:rPr lang="en-IN" sz="2400">
                    <a:solidFill>
                      <a:srgbClr val="111827"/>
                    </a:solidFill>
                    <a:latin typeface="Cambria Math" panose="02040503050406030204" pitchFamily="18" charset="0"/>
                  </a:rPr>
                  <a:t>$s$</a:t>
                </a:r>
                <a:r>
                  <a:rPr sz="2400" b="0">
                    <a:solidFill>
                      <a:srgbClr val="111827"/>
                    </a:solidFill>
                    <a:latin typeface="Arial"/>
                  </a:rPr>
                  <a:t>, write them as </a:t>
                </a:r>
                <a:r>
                  <a:rPr lang="en-IN" sz="2400">
                    <a:solidFill>
                      <a:srgbClr val="111827"/>
                    </a:solidFill>
                    <a:latin typeface="Cambria Math" panose="02040503050406030204" pitchFamily="18" charset="0"/>
                  </a:rPr>
                  <a:t>$\frac{s}{2}\pm t$</a:t>
                </a:r>
                <a:r>
                  <a:rPr sz="2400" b="0">
                    <a:solidFill>
                      <a:srgbClr val="111827"/>
                    </a:solidFill>
                    <a:latin typeface="Arial"/>
                  </a:rPr>
                  <a:t>; the sum of squares becomes </a:t>
                </a:r>
                <a:r>
                  <a:rPr lang="en-IN" sz="2400">
                    <a:solidFill>
                      <a:srgbClr val="111827"/>
                    </a:solidFill>
                    <a:latin typeface="Cambria Math" panose="02040503050406030204" pitchFamily="18" charset="0"/>
                  </a:rPr>
                  <a:t>$\frac{s^2}{2}+2t^2$</a:t>
                </a:r>
                <a:r>
                  <a:rPr sz="2400" b="0">
                    <a:solidFill>
                      <a:srgbClr val="111827"/>
                    </a:solidFill>
                    <a:latin typeface="Arial"/>
                  </a:rPr>
                  <a:t> and the quadratic disappears.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 known sum and sum of squares, </a:t>
                </a:r>
                <a:r>
                  <a:rPr lang="en-IN" sz="2400">
                    <a:solidFill>
                      <a:srgbClr val="111827"/>
                    </a:solidFill>
                    <a:latin typeface="Cambria Math" panose="02040503050406030204" pitchFamily="18" charset="0"/>
                  </a:rPr>
                  <a:t>$ab=\frac{s^2-(a^2+b^2)}{2}$</a:t>
                </a:r>
                <a:r>
                  <a:rPr sz="2400" b="0">
                    <a:solidFill>
                      <a:srgbClr val="111827"/>
                    </a:solidFill>
                    <a:latin typeface="Arial"/>
                  </a:rPr>
                  <a:t> gives the quadratic whose roots are </a:t>
                </a:r>
                <a:r>
                  <a:rPr lang="en-IN" sz="2400">
                    <a:solidFill>
                      <a:srgbClr val="111827"/>
                    </a:solidFill>
                    <a:latin typeface="Cambria Math" panose="02040503050406030204" pitchFamily="18" charset="0"/>
                  </a:rPr>
                  <a:t>$a,b$</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mean deviation of the numbers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a:rPr lang="en-IN" sz="2400" i="1">
                        <a:solidFill>
                          <a:srgbClr val="111827"/>
                        </a:solidFill>
                        <a:latin typeface="Cambria Math" panose="02040503050406030204" pitchFamily="18" charset="0"/>
                      </a:rPr>
                      <m:t>𝑑</m:t>
                    </m:r>
                  </m:oMath>
                </a14:m>
                <a:r>
                  <a:rPr sz="2400" b="0">
                    <a:solidFill>
                      <a:srgbClr val="111827"/>
                    </a:solidFill>
                    <a:latin typeface="Arial"/>
                  </a:rPr>
                  <a:t> from their mean is 255, then </a:t>
                </a:r>
                <a14:m>
                  <m:oMath xmlns:m="http://schemas.openxmlformats.org/officeDocument/2006/math">
                    <m:r>
                      <a:rPr lang="en-IN" sz="2400" i="1">
                        <a:solidFill>
                          <a:srgbClr val="111827"/>
                        </a:solidFill>
                        <a:latin typeface="Cambria Math" panose="02040503050406030204" pitchFamily="18" charset="0"/>
                      </a:rPr>
                      <m:t>𝑑</m:t>
                    </m:r>
                  </m:oMath>
                </a14:m>
                <a:r>
                  <a:rPr sz="2400" b="0">
                    <a:solidFill>
                      <a:srgbClr val="111827"/>
                    </a:solidFill>
                    <a:latin typeface="Arial"/>
                  </a:rPr>
                  <a:t> is equal to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10.0   (B) 20.0   (C) 10.1   (D) 20.2</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mean deviation of the numbers </a:t>
                </a:r>
                <a:r>
                  <a:rPr lang="en-IN" sz="2400">
                    <a:solidFill>
                      <a:srgbClr val="111827"/>
                    </a:solidFill>
                    <a:latin typeface="Cambria Math" panose="02040503050406030204" pitchFamily="18" charset="0"/>
                  </a:rPr>
                  <a:t>$1,\,1+d,\,1+2d,\dots,1+100d$</a:t>
                </a:r>
                <a:r>
                  <a:rPr sz="2400" b="0">
                    <a:solidFill>
                      <a:srgbClr val="111827"/>
                    </a:solidFill>
                    <a:latin typeface="Arial"/>
                  </a:rPr>
                  <a:t> from their mean is 255, then </a:t>
                </a:r>
                <a:r>
                  <a:rPr lang="en-IN" sz="2400">
                    <a:solidFill>
                      <a:srgbClr val="111827"/>
                    </a:solidFill>
                    <a:latin typeface="Cambria Math" panose="02040503050406030204" pitchFamily="18" charset="0"/>
                  </a:rPr>
                  <a:t>$d$</a:t>
                </a:r>
                <a:r>
                  <a:rPr sz="2400" b="0">
                    <a:solidFill>
                      <a:srgbClr val="111827"/>
                    </a:solidFill>
                    <a:latin typeface="Arial"/>
                  </a:rPr>
                  <a:t> is equal to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10.0   (B) 20.0   (C) 10.1   (D) 20.2</a:t>
                </a:r>
                <a:endParaRPr sz="2400">
                  <a:solidFill>
                    <a:srgbClr val="111827"/>
                  </a:solidFill>
                </a:endParaRPr>
              </a:p>
            </p:txBody>
          </p:sp>
        </mc:Fallback>
      </mc:AlternateContent>
      <p:sp>
        <p:nvSpPr>
          <p:cNvPr id="5" name="Rectangle 4"/>
          <p:cNvSpPr/>
          <p:nvPr/>
        </p:nvSpPr>
        <p:spPr>
          <a:xfrm>
            <a:off x="731520" y="324612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Mean deviation about the mean of an arithmetic progression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101 terms are symmetric about the middle term, so the deviations are </a:t>
                </a:r>
                <a14:m>
                  <m:oMath xmlns:m="http://schemas.openxmlformats.org/officeDocument/2006/math">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𝑑</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𝑑</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50</m:t>
                    </m:r>
                    <m:r>
                      <a:rPr lang="en-IN" sz="2400" i="1">
                        <a:solidFill>
                          <a:srgbClr val="78350F"/>
                        </a:solidFill>
                        <a:latin typeface="Cambria Math" panose="02040503050406030204" pitchFamily="18" charset="0"/>
                      </a:rPr>
                      <m:t>𝑑</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101 terms are symmetric about the middle term, so the deviations are </a:t>
                </a:r>
                <a:r>
                  <a:rPr lang="en-IN" sz="2400">
                    <a:solidFill>
                      <a:srgbClr val="78350F"/>
                    </a:solidFill>
                    <a:latin typeface="Cambria Math" panose="02040503050406030204" pitchFamily="18" charset="0"/>
                  </a:rPr>
                  <a:t>$0,\pm d,\pm2d,\dots,\pm50d$</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There are 101 observations in AP; their sum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101</m:t>
                        </m:r>
                      </m:num>
                      <m:den>
                        <m:r>
                          <a:rPr lang="en-IN" sz="2400" i="1">
                            <a:solidFill>
                              <a:srgbClr val="111827"/>
                            </a:solidFill>
                            <a:latin typeface="Cambria Math" panose="02040503050406030204" pitchFamily="18" charset="0"/>
                          </a:rPr>
                          <m:t>2</m:t>
                        </m:r>
                      </m:den>
                    </m:f>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a:rPr lang="en-IN" sz="2400" i="1">
                            <a:solidFill>
                              <a:srgbClr val="111827"/>
                            </a:solidFill>
                            <a:latin typeface="Cambria Math" panose="02040503050406030204" pitchFamily="18" charset="0"/>
                          </a:rPr>
                          <m:t>𝑑</m:t>
                        </m:r>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Mean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101</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r>
                      <a:rPr lang="en-IN" sz="2400" i="1">
                        <a:solidFill>
                          <a:srgbClr val="111827"/>
                        </a:solidFill>
                        <a:latin typeface="Cambria Math" panose="02040503050406030204" pitchFamily="18" charset="0"/>
                      </a:rPr>
                      <m:t>𝑑</m:t>
                    </m:r>
                  </m:oMath>
                </a14:m>
                <a:r>
                  <a:rPr sz="2400" b="0">
                    <a:solidFill>
                      <a:srgbClr val="111827"/>
                    </a:solidFill>
                    <a:latin typeface="Arial"/>
                  </a:rPr>
                  <a:t> (the middle term).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Deviations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r>
                      <a:rPr lang="en-IN" sz="2400" i="1">
                        <a:solidFill>
                          <a:srgbClr val="111827"/>
                        </a:solidFill>
                        <a:latin typeface="Cambria Math" panose="02040503050406030204" pitchFamily="18" charset="0"/>
                      </a:rPr>
                      <m:t>𝑑</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49</m:t>
                    </m:r>
                    <m:r>
                      <a:rPr lang="en-IN" sz="2400" i="1">
                        <a:solidFill>
                          <a:srgbClr val="111827"/>
                        </a:solidFill>
                        <a:latin typeface="Cambria Math" panose="02040503050406030204" pitchFamily="18" charset="0"/>
                      </a:rPr>
                      <m:t>𝑑</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𝑑</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𝑑</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𝑑</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50</m:t>
                    </m:r>
                    <m:r>
                      <a:rPr lang="en-IN" sz="2400" i="1">
                        <a:solidFill>
                          <a:srgbClr val="111827"/>
                        </a:solidFill>
                        <a:latin typeface="Cambria Math" panose="02040503050406030204" pitchFamily="18" charset="0"/>
                      </a:rPr>
                      <m:t>𝑑</m:t>
                    </m:r>
                  </m:oMath>
                </a14:m>
                <a:r>
                  <a:rPr sz="2400" b="0">
                    <a:solidFill>
                      <a:srgbClr val="111827"/>
                    </a:solidFill>
                    <a:latin typeface="Arial"/>
                  </a:rPr>
                  <a:t> (taking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There are 101 observations in AP; their sum is </a:t>
                </a:r>
                <a:r>
                  <a:rPr lang="en-IN" sz="2400">
                    <a:solidFill>
                      <a:srgbClr val="111827"/>
                    </a:solidFill>
                    <a:latin typeface="Cambria Math" panose="02040503050406030204" pitchFamily="18" charset="0"/>
                  </a:rPr>
                  <a:t>$\frac{101}{2}\left[2+100d\right]=101(1+50d)$</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Mean </a:t>
                </a:r>
                <a:r>
                  <a:rPr lang="en-IN" sz="2400">
                    <a:solidFill>
                      <a:srgbClr val="111827"/>
                    </a:solidFill>
                    <a:latin typeface="Cambria Math" panose="02040503050406030204" pitchFamily="18" charset="0"/>
                  </a:rPr>
                  <a:t>$=\frac{101(1+50d)}{101}=1+50d$</a:t>
                </a:r>
                <a:r>
                  <a:rPr sz="2400" b="0">
                    <a:solidFill>
                      <a:srgbClr val="111827"/>
                    </a:solidFill>
                    <a:latin typeface="Arial"/>
                  </a:rPr>
                  <a:t> (the middle term).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Deviations </a:t>
                </a:r>
                <a:r>
                  <a:rPr lang="en-IN" sz="2400">
                    <a:solidFill>
                      <a:srgbClr val="111827"/>
                    </a:solidFill>
                    <a:latin typeface="Cambria Math" panose="02040503050406030204" pitchFamily="18" charset="0"/>
                  </a:rPr>
                  <a:t>$|x_i-\bar{x}|$</a:t>
                </a:r>
                <a:r>
                  <a:rPr sz="2400" b="0">
                    <a:solidFill>
                      <a:srgbClr val="111827"/>
                    </a:solidFill>
                    <a:latin typeface="Arial"/>
                  </a:rPr>
                  <a:t>: </a:t>
                </a:r>
                <a:r>
                  <a:rPr lang="en-IN" sz="2400">
                    <a:solidFill>
                      <a:srgbClr val="111827"/>
                    </a:solidFill>
                    <a:latin typeface="Cambria Math" panose="02040503050406030204" pitchFamily="18" charset="0"/>
                  </a:rPr>
                  <a:t>$|1-(1+50d)|=50d$</a:t>
                </a:r>
                <a:r>
                  <a:rPr sz="2400" b="0">
                    <a:solidFill>
                      <a:srgbClr val="111827"/>
                    </a:solidFill>
                    <a:latin typeface="Arial"/>
                  </a:rPr>
                  <a:t>, </a:t>
                </a:r>
                <a:r>
                  <a:rPr lang="en-IN" sz="2400">
                    <a:solidFill>
                      <a:srgbClr val="111827"/>
                    </a:solidFill>
                    <a:latin typeface="Cambria Math" panose="02040503050406030204" pitchFamily="18" charset="0"/>
                  </a:rPr>
                  <a:t>$49d$</a:t>
                </a:r>
                <a:r>
                  <a:rPr sz="2400" b="0">
                    <a:solidFill>
                      <a:srgbClr val="111827"/>
                    </a:solidFill>
                    <a:latin typeface="Arial"/>
                  </a:rPr>
                  <a:t>, </a:t>
                </a:r>
                <a:r>
                  <a:rPr lang="en-IN" sz="2400">
                    <a:solidFill>
                      <a:srgbClr val="111827"/>
                    </a:solidFill>
                    <a:latin typeface="Cambria Math" panose="02040503050406030204" pitchFamily="18" charset="0"/>
                  </a:rPr>
                  <a:t>$\dots$</a:t>
                </a:r>
                <a:r>
                  <a:rPr sz="2400" b="0">
                    <a:solidFill>
                      <a:srgbClr val="111827"/>
                    </a:solidFill>
                    <a:latin typeface="Arial"/>
                  </a:rPr>
                  <a:t>, </a:t>
                </a:r>
                <a:r>
                  <a:rPr lang="en-IN" sz="2400">
                    <a:solidFill>
                      <a:srgbClr val="111827"/>
                    </a:solidFill>
                    <a:latin typeface="Cambria Math" panose="02040503050406030204" pitchFamily="18" charset="0"/>
                  </a:rPr>
                  <a:t>$d$</a:t>
                </a:r>
                <a:r>
                  <a:rPr sz="2400" b="0">
                    <a:solidFill>
                      <a:srgbClr val="111827"/>
                    </a:solidFill>
                    <a:latin typeface="Arial"/>
                  </a:rPr>
                  <a:t>, </a:t>
                </a:r>
                <a:r>
                  <a:rPr lang="en-IN" sz="2400">
                    <a:solidFill>
                      <a:srgbClr val="111827"/>
                    </a:solidFill>
                    <a:latin typeface="Cambria Math" panose="02040503050406030204" pitchFamily="18" charset="0"/>
                  </a:rPr>
                  <a:t>$0$</a:t>
                </a:r>
                <a:r>
                  <a:rPr sz="2400" b="0">
                    <a:solidFill>
                      <a:srgbClr val="111827"/>
                    </a:solidFill>
                    <a:latin typeface="Arial"/>
                  </a:rPr>
                  <a:t>, </a:t>
                </a:r>
                <a:r>
                  <a:rPr lang="en-IN" sz="2400">
                    <a:solidFill>
                      <a:srgbClr val="111827"/>
                    </a:solidFill>
                    <a:latin typeface="Cambria Math" panose="02040503050406030204" pitchFamily="18" charset="0"/>
                  </a:rPr>
                  <a:t>$d$</a:t>
                </a:r>
                <a:r>
                  <a:rPr sz="2400" b="0">
                    <a:solidFill>
                      <a:srgbClr val="111827"/>
                    </a:solidFill>
                    <a:latin typeface="Arial"/>
                  </a:rPr>
                  <a:t>, </a:t>
                </a:r>
                <a:r>
                  <a:rPr lang="en-IN" sz="2400">
                    <a:solidFill>
                      <a:srgbClr val="111827"/>
                    </a:solidFill>
                    <a:latin typeface="Cambria Math" panose="02040503050406030204" pitchFamily="18" charset="0"/>
                  </a:rPr>
                  <a:t>$2d$</a:t>
                </a:r>
                <a:r>
                  <a:rPr sz="2400" b="0">
                    <a:solidFill>
                      <a:srgbClr val="111827"/>
                    </a:solidFill>
                    <a:latin typeface="Arial"/>
                  </a:rPr>
                  <a:t>, </a:t>
                </a:r>
                <a:r>
                  <a:rPr lang="en-IN" sz="2400">
                    <a:solidFill>
                      <a:srgbClr val="111827"/>
                    </a:solidFill>
                    <a:latin typeface="Cambria Math" panose="02040503050406030204" pitchFamily="18" charset="0"/>
                  </a:rPr>
                  <a:t>$\dots$</a:t>
                </a:r>
                <a:r>
                  <a:rPr sz="2400" b="0">
                    <a:solidFill>
                      <a:srgbClr val="111827"/>
                    </a:solidFill>
                    <a:latin typeface="Arial"/>
                  </a:rPr>
                  <a:t>, </a:t>
                </a:r>
                <a:r>
                  <a:rPr lang="en-IN" sz="2400">
                    <a:solidFill>
                      <a:srgbClr val="111827"/>
                    </a:solidFill>
                    <a:latin typeface="Cambria Math" panose="02040503050406030204" pitchFamily="18" charset="0"/>
                  </a:rPr>
                  <a:t>$50d$</a:t>
                </a:r>
                <a:r>
                  <a:rPr sz="2400" b="0">
                    <a:solidFill>
                      <a:srgbClr val="111827"/>
                    </a:solidFill>
                    <a:latin typeface="Arial"/>
                  </a:rPr>
                  <a:t> (taking </a:t>
                </a:r>
                <a:r>
                  <a:rPr lang="en-IN" sz="2400">
                    <a:solidFill>
                      <a:srgbClr val="111827"/>
                    </a:solidFill>
                    <a:latin typeface="Cambria Math" panose="02040503050406030204" pitchFamily="18" charset="0"/>
                  </a:rPr>
                  <a:t>$d&gt;0$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Mean deviation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101</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51</m:t>
                            </m:r>
                          </m:num>
                          <m:den>
                            <m:r>
                              <a:rPr lang="en-IN" sz="2400" i="1">
                                <a:solidFill>
                                  <a:srgbClr val="111827"/>
                                </a:solidFill>
                                <a:latin typeface="Cambria Math" panose="02040503050406030204" pitchFamily="18" charset="0"/>
                              </a:rPr>
                              <m:t>2</m:t>
                            </m:r>
                          </m:den>
                        </m:f>
                      </m:num>
                      <m:den>
                        <m:r>
                          <a:rPr lang="en-IN" sz="2400" i="1">
                            <a:solidFill>
                              <a:srgbClr val="111827"/>
                            </a:solidFill>
                            <a:latin typeface="Cambria Math" panose="02040503050406030204" pitchFamily="18" charset="0"/>
                          </a:rPr>
                          <m:t>101</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51</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num>
                      <m:den>
                        <m:r>
                          <a:rPr lang="en-IN" sz="2400" i="1">
                            <a:solidFill>
                              <a:srgbClr val="111827"/>
                            </a:solidFill>
                            <a:latin typeface="Cambria Math" panose="02040503050406030204" pitchFamily="18" charset="0"/>
                          </a:rPr>
                          <m:t>101</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51</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num>
                      <m:den>
                        <m:r>
                          <a:rPr lang="en-IN" sz="2400" i="1">
                            <a:solidFill>
                              <a:srgbClr val="111827"/>
                            </a:solidFill>
                            <a:latin typeface="Cambria Math" panose="02040503050406030204" pitchFamily="18" charset="0"/>
                          </a:rPr>
                          <m:t>101</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255</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255</m:t>
                        </m:r>
                      </m:num>
                      <m:den>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51</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10.1</m:t>
                    </m:r>
                  </m:oMath>
                </a14:m>
                <a:r>
                  <a:rPr sz="2400" b="0">
                    <a:solidFill>
                      <a:srgbClr val="111827"/>
                    </a:solidFill>
                    <a:latin typeface="Arial"/>
                  </a:rPr>
                  <a:t>, option (C).</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Mean deviation </a:t>
                </a:r>
                <a:r>
                  <a:rPr lang="en-IN" sz="2400">
                    <a:solidFill>
                      <a:srgbClr val="111827"/>
                    </a:solidFill>
                    <a:latin typeface="Cambria Math" panose="02040503050406030204" pitchFamily="18" charset="0"/>
                  </a:rPr>
                  <a:t>$=\frac{2d(1+2+\cdots+50)}{101}=\frac{2d\cdot\frac{50\times51}{2}}{101}=\frac{50\times51\,d}{101}$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$\frac{50\times51\,d}{101}=255$</a:t>
                </a:r>
                <a:r>
                  <a:rPr sz="2400" b="0">
                    <a:solidFill>
                      <a:srgbClr val="111827"/>
                    </a:solidFill>
                    <a:latin typeface="Arial"/>
                  </a:rPr>
                  <a:t>, so </a:t>
                </a:r>
                <a:r>
                  <a:rPr lang="en-IN" sz="2400">
                    <a:solidFill>
                      <a:srgbClr val="111827"/>
                    </a:solidFill>
                    <a:latin typeface="Cambria Math" panose="02040503050406030204" pitchFamily="18" charset="0"/>
                  </a:rPr>
                  <a:t>$d=\frac{101\times255}{50\times51}$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$d=10.1$</a:t>
                </a:r>
                <a:r>
                  <a:rPr sz="2400" b="0">
                    <a:solidFill>
                      <a:srgbClr val="111827"/>
                    </a:solidFill>
                    <a:latin typeface="Arial"/>
                  </a:rPr>
                  <a:t>, option (C).</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10.1</a:t>
            </a:r>
            <a:endParaRPr sz="2800">
              <a:solidFill>
                <a:srgbClr val="15803D"/>
              </a:solidFill>
            </a:endParaRP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Shortcut: mean deviation of an AP with </a:t>
                </a:r>
                <a14:m>
                  <m:oMath xmlns:m="http://schemas.openxmlformats.org/officeDocument/2006/math">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𝑚</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terms is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𝑑</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 </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𝑚</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𝑚</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num>
                      <m:den>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𝑚</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den>
                    </m:f>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Shortcut: mean deviation of an AP with </a:t>
                </a:r>
                <a:r>
                  <a:rPr lang="en-IN" sz="2400">
                    <a:solidFill>
                      <a:srgbClr val="78350F"/>
                    </a:solidFill>
                    <a:latin typeface="Cambria Math" panose="02040503050406030204" pitchFamily="18" charset="0"/>
                  </a:rPr>
                  <a:t>$2m+1$</a:t>
                </a:r>
                <a:r>
                  <a:rPr sz="2400" b="0">
                    <a:solidFill>
                      <a:srgbClr val="78350F"/>
                    </a:solidFill>
                    <a:latin typeface="Arial"/>
                  </a:rPr>
                  <a:t> terms is </a:t>
                </a:r>
                <a:r>
                  <a:rPr lang="en-IN" sz="2400">
                    <a:solidFill>
                      <a:srgbClr val="78350F"/>
                    </a:solidFill>
                    <a:latin typeface="Cambria Math" panose="02040503050406030204" pitchFamily="18" charset="0"/>
                  </a:rPr>
                  <a:t>$|d|\,\frac{m(m+1)}{2m+1}$</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terms the deviations from the middle term are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Their sum is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MD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$2m+1$</a:t>
                </a:r>
                <a:r>
                  <a:rPr sz="2400" b="0">
                    <a:solidFill>
                      <a:srgbClr val="111827"/>
                    </a:solidFill>
                    <a:latin typeface="Arial"/>
                  </a:rPr>
                  <a:t> terms the deviations from the middle term are </a:t>
                </a:r>
                <a:r>
                  <a:rPr lang="en-IN" sz="2400">
                    <a:solidFill>
                      <a:srgbClr val="111827"/>
                    </a:solidFill>
                    <a:latin typeface="Cambria Math" panose="02040503050406030204" pitchFamily="18" charset="0"/>
                  </a:rPr>
                  <a:t>$|d|\,(m,m-1,\dots,1,0,1,\dots,m)$</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Their sum is </a:t>
                </a:r>
                <a:r>
                  <a:rPr lang="en-IN" sz="2400">
                    <a:solidFill>
                      <a:srgbClr val="111827"/>
                    </a:solidFill>
                    <a:latin typeface="Cambria Math" panose="02040503050406030204" pitchFamily="18" charset="0"/>
                  </a:rPr>
                  <a:t>$2|d|\frac{m(m+1)}{2}=|d|\,m(m+1)$</a:t>
                </a:r>
                <a:r>
                  <a:rPr sz="2400" b="0">
                    <a:solidFill>
                      <a:srgbClr val="111827"/>
                    </a:solidFill>
                    <a:latin typeface="Arial"/>
                  </a:rPr>
                  <a:t>, so MD </a:t>
                </a:r>
                <a:r>
                  <a:rPr lang="en-IN" sz="2400">
                    <a:solidFill>
                      <a:srgbClr val="111827"/>
                    </a:solidFill>
                    <a:latin typeface="Cambria Math" panose="02040503050406030204" pitchFamily="18" charset="0"/>
                  </a:rPr>
                  <a:t>$=\frac{|d|\,m(m+1)}{2m+1}$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Here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2550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101</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255</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255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101</m:t>
                        </m:r>
                      </m:num>
                      <m:den>
                        <m:r>
                          <a:rPr lang="en-IN" sz="2400" i="1">
                            <a:solidFill>
                              <a:srgbClr val="111827"/>
                            </a:solidFill>
                            <a:latin typeface="Cambria Math" panose="02040503050406030204" pitchFamily="18" charset="0"/>
                          </a:rPr>
                          <m:t>2550</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10.1</m:t>
                    </m:r>
                  </m:oMath>
                </a14:m>
                <a:r>
                  <a:rPr sz="2400" b="0">
                    <a:solidFill>
                      <a:srgbClr val="111827"/>
                    </a:solidFill>
                    <a:latin typeface="Arial"/>
                  </a:rPr>
                  <a:t>, the same answer.</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Here </a:t>
                </a:r>
                <a:r>
                  <a:rPr lang="en-IN" sz="2400">
                    <a:solidFill>
                      <a:srgbClr val="111827"/>
                    </a:solidFill>
                    <a:latin typeface="Cambria Math" panose="02040503050406030204" pitchFamily="18" charset="0"/>
                  </a:rPr>
                  <a:t>$m=50$</a:t>
                </a:r>
                <a:r>
                  <a:rPr sz="2400" b="0">
                    <a:solidFill>
                      <a:srgbClr val="111827"/>
                    </a:solidFill>
                    <a:latin typeface="Arial"/>
                  </a:rPr>
                  <a:t>: </a:t>
                </a:r>
                <a:r>
                  <a:rPr lang="en-IN" sz="2400">
                    <a:solidFill>
                      <a:srgbClr val="111827"/>
                    </a:solidFill>
                    <a:latin typeface="Cambria Math" panose="02040503050406030204" pitchFamily="18" charset="0"/>
                  </a:rPr>
                  <a:t>$\frac{2550|d|}{101}=255$</a:t>
                </a:r>
                <a:r>
                  <a:rPr sz="2400" b="0">
                    <a:solidFill>
                      <a:srgbClr val="111827"/>
                    </a:solidFill>
                    <a:latin typeface="Arial"/>
                  </a:rPr>
                  <a:t>, so </a:t>
                </a:r>
                <a:r>
                  <a:rPr lang="en-IN" sz="2400">
                    <a:solidFill>
                      <a:srgbClr val="111827"/>
                    </a:solidFill>
                    <a:latin typeface="Cambria Math" panose="02040503050406030204" pitchFamily="18" charset="0"/>
                  </a:rPr>
                  <a:t>$d=\frac{255\times101}{2550}=10.1$</a:t>
                </a:r>
                <a:r>
                  <a:rPr sz="2400" b="0">
                    <a:solidFill>
                      <a:srgbClr val="111827"/>
                    </a:solidFill>
                    <a:latin typeface="Arial"/>
                  </a:rPr>
                  <a:t>, the same answer.</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10.1</a:t>
            </a:r>
            <a:endParaRPr sz="2800">
              <a:solidFill>
                <a:srgbClr val="15803D"/>
              </a:solidFill>
            </a:endParaRP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an AP of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terms with common difference </a:t>
                </a:r>
                <a14:m>
                  <m:oMath xmlns:m="http://schemas.openxmlformats.org/officeDocument/2006/math">
                    <m:r>
                      <a:rPr lang="en-IN" sz="2400" i="1">
                        <a:solidFill>
                          <a:srgbClr val="111827"/>
                        </a:solidFill>
                        <a:latin typeface="Cambria Math" panose="02040503050406030204" pitchFamily="18" charset="0"/>
                      </a:rPr>
                      <m:t>𝑑</m:t>
                    </m:r>
                  </m:oMath>
                </a14:m>
                <a:r>
                  <a:rPr sz="2400" b="0">
                    <a:solidFill>
                      <a:srgbClr val="111827"/>
                    </a:solidFill>
                    <a:latin typeface="Arial"/>
                  </a:rPr>
                  <a:t>: mean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average of first and last term, MD about the mean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𝑛</m:t>
                        </m:r>
                      </m:den>
                    </m:f>
                  </m:oMath>
                </a14:m>
                <a:r>
                  <a:rPr sz="2400" b="0">
                    <a:solidFill>
                      <a:srgbClr val="111827"/>
                    </a:solidFill>
                    <a:latin typeface="Arial"/>
                  </a:rPr>
                  <a:t> for odd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and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for even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Variance of an AP is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12</m:t>
                        </m:r>
                      </m:den>
                    </m:f>
                  </m:oMath>
                </a14:m>
                <a:r>
                  <a:rPr sz="2400" b="0">
                    <a:solidFill>
                      <a:srgbClr val="111827"/>
                    </a:solidFill>
                    <a:latin typeface="Arial"/>
                  </a:rPr>
                  <a:t> regardless of the first term.</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an AP of </a:t>
                </a:r>
                <a:r>
                  <a:rPr lang="en-IN" sz="2400">
                    <a:solidFill>
                      <a:srgbClr val="111827"/>
                    </a:solidFill>
                    <a:latin typeface="Cambria Math" panose="02040503050406030204" pitchFamily="18" charset="0"/>
                  </a:rPr>
                  <a:t>$n$</a:t>
                </a:r>
                <a:r>
                  <a:rPr sz="2400" b="0">
                    <a:solidFill>
                      <a:srgbClr val="111827"/>
                    </a:solidFill>
                    <a:latin typeface="Arial"/>
                  </a:rPr>
                  <a:t> terms with common difference </a:t>
                </a:r>
                <a:r>
                  <a:rPr lang="en-IN" sz="2400">
                    <a:solidFill>
                      <a:srgbClr val="111827"/>
                    </a:solidFill>
                    <a:latin typeface="Cambria Math" panose="02040503050406030204" pitchFamily="18" charset="0"/>
                  </a:rPr>
                  <a:t>$d$</a:t>
                </a:r>
                <a:r>
                  <a:rPr sz="2400" b="0">
                    <a:solidFill>
                      <a:srgbClr val="111827"/>
                    </a:solidFill>
                    <a:latin typeface="Arial"/>
                  </a:rPr>
                  <a:t>: mean </a:t>
                </a:r>
                <a:r>
                  <a:rPr lang="en-IN" sz="2400">
                    <a:solidFill>
                      <a:srgbClr val="111827"/>
                    </a:solidFill>
                    <a:latin typeface="Cambria Math" panose="02040503050406030204" pitchFamily="18" charset="0"/>
                  </a:rPr>
                  <a:t>$=$</a:t>
                </a:r>
                <a:r>
                  <a:rPr sz="2400" b="0">
                    <a:solidFill>
                      <a:srgbClr val="111827"/>
                    </a:solidFill>
                    <a:latin typeface="Arial"/>
                  </a:rPr>
                  <a:t> average of first and last term, MD about the mean </a:t>
                </a:r>
                <a:r>
                  <a:rPr lang="en-IN" sz="2400">
                    <a:solidFill>
                      <a:srgbClr val="111827"/>
                    </a:solidFill>
                    <a:latin typeface="Cambria Math" panose="02040503050406030204" pitchFamily="18" charset="0"/>
                  </a:rPr>
                  <a:t>$=\frac{|d|(n^2-1)}{4n}$</a:t>
                </a:r>
                <a:r>
                  <a:rPr sz="2400" b="0">
                    <a:solidFill>
                      <a:srgbClr val="111827"/>
                    </a:solidFill>
                    <a:latin typeface="Arial"/>
                  </a:rPr>
                  <a:t> for odd </a:t>
                </a:r>
                <a:r>
                  <a:rPr lang="en-IN" sz="2400">
                    <a:solidFill>
                      <a:srgbClr val="111827"/>
                    </a:solidFill>
                    <a:latin typeface="Cambria Math" panose="02040503050406030204" pitchFamily="18" charset="0"/>
                  </a:rPr>
                  <a:t>$n$</a:t>
                </a:r>
                <a:r>
                  <a:rPr sz="2400" b="0">
                    <a:solidFill>
                      <a:srgbClr val="111827"/>
                    </a:solidFill>
                    <a:latin typeface="Arial"/>
                  </a:rPr>
                  <a:t> and </a:t>
                </a:r>
                <a:r>
                  <a:rPr lang="en-IN" sz="2400">
                    <a:solidFill>
                      <a:srgbClr val="111827"/>
                    </a:solidFill>
                    <a:latin typeface="Cambria Math" panose="02040503050406030204" pitchFamily="18" charset="0"/>
                  </a:rPr>
                  <a:t>$\frac{|d|\,n}{4}$</a:t>
                </a:r>
                <a:r>
                  <a:rPr sz="2400" b="0">
                    <a:solidFill>
                      <a:srgbClr val="111827"/>
                    </a:solidFill>
                    <a:latin typeface="Arial"/>
                  </a:rPr>
                  <a:t> for even </a:t>
                </a:r>
                <a:r>
                  <a:rPr lang="en-IN" sz="2400">
                    <a:solidFill>
                      <a:srgbClr val="111827"/>
                    </a:solidFill>
                    <a:latin typeface="Cambria Math" panose="02040503050406030204" pitchFamily="18" charset="0"/>
                  </a:rPr>
                  <a:t>$n$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Variance of an AP is </a:t>
                </a:r>
                <a:r>
                  <a:rPr lang="en-IN" sz="2400">
                    <a:solidFill>
                      <a:srgbClr val="111827"/>
                    </a:solidFill>
                    <a:latin typeface="Cambria Math" panose="02040503050406030204" pitchFamily="18" charset="0"/>
                  </a:rPr>
                  <a:t>$\frac{d^2(n^2-1)}{12}$</a:t>
                </a:r>
                <a:r>
                  <a:rPr sz="2400" b="0">
                    <a:solidFill>
                      <a:srgbClr val="111827"/>
                    </a:solidFill>
                    <a:latin typeface="Arial"/>
                  </a:rPr>
                  <a:t> regardless of the first term.</a:t>
                </a:r>
                <a:endParaRPr sz="2400">
                  <a:solidFill>
                    <a:srgbClr val="111827"/>
                  </a:solidFill>
                </a:endParaRPr>
              </a:p>
            </p:txBody>
          </p:sp>
        </mc:Fallback>
      </mc:AlternateContent>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482244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Statement-1 : The variance of the first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even natural numbers is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Statement-2 : The sum of the first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natural numbers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and the sum of squares of the first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natural numbers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Statement-1 is true, Statement-2 is true; Statement-2 is a correct explanation for Statement-1</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Statement-1 is true, Statement-2 is true; Statement-2 is not a correct explanation for Statement-1</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Statement-1 is true, Statement-2 is false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Statement-1 is false, Statement-2 is true</a:t>
                </a:r>
                <a:endParaRPr sz="2400">
                  <a:solidFill>
                    <a:srgbClr val="111827"/>
                  </a:solidFill>
                </a:endParaRPr>
              </a:p>
            </p:txBody>
          </p:sp>
        </mc:Choice>
        <mc:Fallback>
          <p:sp>
            <p:nvSpPr>
              <p:cNvPr id="4" name="Rounded Rectangle 3"/>
              <p:cNvSpPr/>
              <p:nvPr/>
            </p:nvSpPr>
            <p:spPr>
              <a:xfrm>
                <a:off x="731520" y="1280160"/>
                <a:ext cx="10725912" cy="482244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Statement-1 : The variance of the first </a:t>
                </a:r>
                <a:r>
                  <a:rPr lang="en-IN" sz="2400">
                    <a:solidFill>
                      <a:srgbClr val="111827"/>
                    </a:solidFill>
                    <a:latin typeface="Cambria Math" panose="02040503050406030204" pitchFamily="18" charset="0"/>
                  </a:rPr>
                  <a:t>$n$</a:t>
                </a:r>
                <a:r>
                  <a:rPr sz="2400" b="0">
                    <a:solidFill>
                      <a:srgbClr val="111827"/>
                    </a:solidFill>
                    <a:latin typeface="Arial"/>
                  </a:rPr>
                  <a:t> even natural numbers is </a:t>
                </a:r>
                <a:r>
                  <a:rPr lang="en-IN" sz="2400">
                    <a:solidFill>
                      <a:srgbClr val="111827"/>
                    </a:solidFill>
                    <a:latin typeface="Cambria Math" panose="02040503050406030204" pitchFamily="18" charset="0"/>
                  </a:rPr>
                  <a:t>$\frac{n^2-1}{4}$</a:t>
                </a:r>
                <a:r>
                  <a:rPr sz="2400" b="0">
                    <a:solidFill>
                      <a:srgbClr val="111827"/>
                    </a:solidFill>
                    <a:latin typeface="Arial"/>
                  </a:rPr>
                  <a:t>. Statement-2 : The sum of the first </a:t>
                </a:r>
                <a:r>
                  <a:rPr lang="en-IN" sz="2400">
                    <a:solidFill>
                      <a:srgbClr val="111827"/>
                    </a:solidFill>
                    <a:latin typeface="Cambria Math" panose="02040503050406030204" pitchFamily="18" charset="0"/>
                  </a:rPr>
                  <a:t>$n$</a:t>
                </a:r>
                <a:r>
                  <a:rPr sz="2400" b="0">
                    <a:solidFill>
                      <a:srgbClr val="111827"/>
                    </a:solidFill>
                    <a:latin typeface="Arial"/>
                  </a:rPr>
                  <a:t> natural numbers is </a:t>
                </a:r>
                <a:r>
                  <a:rPr lang="en-IN" sz="2400">
                    <a:solidFill>
                      <a:srgbClr val="111827"/>
                    </a:solidFill>
                    <a:latin typeface="Cambria Math" panose="02040503050406030204" pitchFamily="18" charset="0"/>
                  </a:rPr>
                  <a:t>$\frac{n(n+1)}{2}$</a:t>
                </a:r>
                <a:r>
                  <a:rPr sz="2400" b="0">
                    <a:solidFill>
                      <a:srgbClr val="111827"/>
                    </a:solidFill>
                    <a:latin typeface="Arial"/>
                  </a:rPr>
                  <a:t> and the sum of squares of the first </a:t>
                </a:r>
                <a:r>
                  <a:rPr lang="en-IN" sz="2400">
                    <a:solidFill>
                      <a:srgbClr val="111827"/>
                    </a:solidFill>
                    <a:latin typeface="Cambria Math" panose="02040503050406030204" pitchFamily="18" charset="0"/>
                  </a:rPr>
                  <a:t>$n$</a:t>
                </a:r>
                <a:r>
                  <a:rPr sz="2400" b="0">
                    <a:solidFill>
                      <a:srgbClr val="111827"/>
                    </a:solidFill>
                    <a:latin typeface="Arial"/>
                  </a:rPr>
                  <a:t> natural numbers is </a:t>
                </a:r>
                <a:r>
                  <a:rPr lang="en-IN" sz="2400">
                    <a:solidFill>
                      <a:srgbClr val="111827"/>
                    </a:solidFill>
                    <a:latin typeface="Cambria Math" panose="02040503050406030204" pitchFamily="18" charset="0"/>
                  </a:rPr>
                  <a:t>$\frac{n(n+1)(2n+1)}{6}$</a:t>
                </a:r>
                <a:r>
                  <a:rPr sz="2400" b="0">
                    <a:solidFill>
                      <a:srgbClr val="111827"/>
                    </a:solidFill>
                    <a:latin typeface="Arial"/>
                  </a:rPr>
                  <a: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Statement-1 is true, Statement-2 is true; Statement-2 is a correct explanation for Statement-1</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Statement-1 is true, Statement-2 is true; Statement-2 is not a correct explanation for Statement-1</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Statement-1 is true, Statement-2 is false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Statement-1 is false, Statement-2 is true</a:t>
                </a:r>
                <a:endParaRPr sz="2400">
                  <a:solidFill>
                    <a:srgbClr val="111827"/>
                  </a:solidFill>
                </a:endParaRPr>
              </a:p>
            </p:txBody>
          </p:sp>
        </mc:Fallback>
      </mc:AlternateContent>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28016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Variance of the first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even natural numbers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Choice>
        <mc:Fallback>
          <p:sp>
            <p:nvSpPr>
              <p:cNvPr id="4" name="Rectangle 3"/>
              <p:cNvSpPr/>
              <p:nvPr/>
            </p:nvSpPr>
            <p:spPr>
              <a:xfrm>
                <a:off x="731520" y="128016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Variance of the first </a:t>
                </a:r>
                <a:r>
                  <a:rPr lang="en-IN" sz="2400">
                    <a:solidFill>
                      <a:srgbClr val="111827"/>
                    </a:solidFill>
                    <a:latin typeface="Cambria Math" panose="02040503050406030204" pitchFamily="18" charset="0"/>
                  </a:rPr>
                  <a:t>$n$</a:t>
                </a:r>
                <a:r>
                  <a:rPr sz="2400" b="0">
                    <a:solidFill>
                      <a:srgbClr val="111827"/>
                    </a:solidFill>
                    <a:latin typeface="Arial"/>
                  </a:rPr>
                  <a:t> even natural numbers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3438144"/>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Compute the variance of </a:t>
                </a:r>
                <a14:m>
                  <m:oMath xmlns:m="http://schemas.openxmlformats.org/officeDocument/2006/math">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𝑛</m:t>
                    </m:r>
                  </m:oMath>
                </a14:m>
                <a:r>
                  <a:rPr sz="2400" b="0">
                    <a:solidFill>
                      <a:srgbClr val="78350F"/>
                    </a:solidFill>
                    <a:latin typeface="Arial"/>
                  </a:rPr>
                  <a:t> from the sums in Statement-2 and compare it with </a:t>
                </a:r>
                <a14:m>
                  <m:oMath xmlns:m="http://schemas.openxmlformats.org/officeDocument/2006/math">
                    <m:f>
                      <m:fPr>
                        <m:type m:val="bar"/>
                        <m:ctrlPr>
                          <a:rPr lang="en-IN" sz="2400" i="1">
                            <a:solidFill>
                              <a:srgbClr val="78350F"/>
                            </a:solidFill>
                            <a:latin typeface="Cambria Math" panose="02040503050406030204" pitchFamily="18" charset="0"/>
                          </a:rPr>
                        </m:ctrlPr>
                      </m:fPr>
                      <m:num>
                        <m:sSup>
                          <m:e>
                            <m:r>
                              <a:rPr lang="en-IN" sz="2400" i="1">
                                <a:solidFill>
                                  <a:srgbClr val="78350F"/>
                                </a:solidFill>
                                <a:latin typeface="Cambria Math" panose="02040503050406030204" pitchFamily="18" charset="0"/>
                              </a:rPr>
                              <m:t>𝑛</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4</m:t>
                        </m:r>
                      </m:den>
                    </m:f>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3438144"/>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Compute the variance of </a:t>
                </a:r>
                <a:r>
                  <a:rPr lang="en-IN" sz="2400">
                    <a:solidFill>
                      <a:srgbClr val="78350F"/>
                    </a:solidFill>
                    <a:latin typeface="Cambria Math" panose="02040503050406030204" pitchFamily="18" charset="0"/>
                  </a:rPr>
                  <a:t>$2,4,\dots,2n$</a:t>
                </a:r>
                <a:r>
                  <a:rPr sz="2400" b="0">
                    <a:solidFill>
                      <a:srgbClr val="78350F"/>
                    </a:solidFill>
                    <a:latin typeface="Arial"/>
                  </a:rPr>
                  <a:t> from the sums in Statement-2 and compare it with </a:t>
                </a:r>
                <a:r>
                  <a:rPr lang="en-IN" sz="2400">
                    <a:solidFill>
                      <a:srgbClr val="78350F"/>
                    </a:solidFill>
                    <a:latin typeface="Cambria Math" panose="02040503050406030204" pitchFamily="18" charset="0"/>
                  </a:rPr>
                  <a:t>$\frac{n^2-1}{4}$</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4794504"/>
                <a:ext cx="10725912" cy="1880615"/>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Sum of the first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even numbers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the mean is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Variance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2</m:t>
                            </m:r>
                          </m:sup>
                        </m:sSubSup>
                      </m:num>
                      <m:den>
                        <m:r>
                          <a:rPr lang="en-IN" sz="2400" i="1">
                            <a:solidFill>
                              <a:srgbClr val="111827"/>
                            </a:solidFill>
                            <a:latin typeface="Cambria Math" panose="02040503050406030204" pitchFamily="18" charset="0"/>
                          </a:rPr>
                          <m:t>𝑛</m:t>
                        </m:r>
                      </m:den>
                    </m:f>
                    <m:r>
                      <m:rPr>
                        <m:sty m:val="p"/>
                      </m:rPr>
                      <a:rPr lang="en-IN" sz="2400">
                        <a:solidFill>
                          <a:srgbClr val="111827"/>
                        </a:solidFill>
                        <a:latin typeface="Cambria Math" panose="02040503050406030204" pitchFamily="18" charset="0"/>
                      </a:rPr>
                      <m:t>−</m:t>
                    </m:r>
                    <m:sSup>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4</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𝑛</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4794504"/>
                <a:ext cx="10725912" cy="1880615"/>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Sum of the first </a:t>
                </a:r>
                <a:r>
                  <a:rPr lang="en-IN" sz="2400">
                    <a:solidFill>
                      <a:srgbClr val="111827"/>
                    </a:solidFill>
                    <a:latin typeface="Cambria Math" panose="02040503050406030204" pitchFamily="18" charset="0"/>
                  </a:rPr>
                  <a:t>$n$</a:t>
                </a:r>
                <a:r>
                  <a:rPr sz="2400" b="0">
                    <a:solidFill>
                      <a:srgbClr val="111827"/>
                    </a:solidFill>
                    <a:latin typeface="Arial"/>
                  </a:rPr>
                  <a:t> even numbers </a:t>
                </a:r>
                <a:r>
                  <a:rPr lang="en-IN" sz="2400">
                    <a:solidFill>
                      <a:srgbClr val="111827"/>
                    </a:solidFill>
                    <a:latin typeface="Cambria Math" panose="02040503050406030204" pitchFamily="18" charset="0"/>
                  </a:rPr>
                  <a:t>$=2(1+2+\cdots+n)=n(n+1)$</a:t>
                </a:r>
                <a:r>
                  <a:rPr sz="2400" b="0">
                    <a:solidFill>
                      <a:srgbClr val="111827"/>
                    </a:solidFill>
                    <a:latin typeface="Arial"/>
                  </a:rPr>
                  <a:t>, so the mean is </a:t>
                </a:r>
                <a:r>
                  <a:rPr lang="en-IN" sz="2400">
                    <a:solidFill>
                      <a:srgbClr val="111827"/>
                    </a:solidFill>
                    <a:latin typeface="Cambria Math" panose="02040503050406030204" pitchFamily="18" charset="0"/>
                  </a:rPr>
                  <a:t>$\bar{x}=n+1$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Variance </a:t>
                </a:r>
                <a:r>
                  <a:rPr lang="en-IN" sz="2400">
                    <a:solidFill>
                      <a:srgbClr val="111827"/>
                    </a:solidFill>
                    <a:latin typeface="Cambria Math" panose="02040503050406030204" pitchFamily="18" charset="0"/>
                  </a:rPr>
                  <a:t>$=\frac{\sum x_i^2}{n}-\bar{x}^2=\frac{2^2+4^2+\cdots+(2n)^2}{n}-(n+1)^2$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𝑛</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𝑛</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Variance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This is not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so Statement-1 is false.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Statement-2 is the standard pair of sum formulas, so it is true. Option (D).</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$\frac{4\,(1^2+2^2+\cdots+n^2)}{n}=\frac{4}{n}\cdot\frac{n(n+1)(2n+1)}{6}=\frac{2(n+1)(2n+1)}{3}$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Variance </a:t>
                </a:r>
                <a:r>
                  <a:rPr lang="en-IN" sz="2400">
                    <a:solidFill>
                      <a:srgbClr val="111827"/>
                    </a:solidFill>
                    <a:latin typeface="Cambria Math" panose="02040503050406030204" pitchFamily="18" charset="0"/>
                  </a:rPr>
                  <a:t>$=\frac{2(n+1)(2n+1)}{3}-(n+1)^2=(n+1)\,\frac{4n+2-3n-3}{3}=\frac{(n+1)(n-1)}{3}=\frac{n^2-1}{3}$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This is not </a:t>
                </a:r>
                <a:r>
                  <a:rPr lang="en-IN" sz="2400">
                    <a:solidFill>
                      <a:srgbClr val="111827"/>
                    </a:solidFill>
                    <a:latin typeface="Cambria Math" panose="02040503050406030204" pitchFamily="18" charset="0"/>
                  </a:rPr>
                  <a:t>$\frac{n^2-1}{4}$</a:t>
                </a:r>
                <a:r>
                  <a:rPr sz="2400" b="0">
                    <a:solidFill>
                      <a:srgbClr val="111827"/>
                    </a:solidFill>
                    <a:latin typeface="Arial"/>
                  </a:rPr>
                  <a:t>, so Statement-1 is false.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Statement-2 is the standard pair of sum formulas, so it is true. Option (D).</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Statement-1 is false, Statement-2 is true</a:t>
            </a:r>
            <a:endParaRPr sz="2800">
              <a:solidFill>
                <a:srgbClr val="15803D"/>
              </a:solidFill>
            </a:endParaRP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Scaling rule: doubling every observation multiplies the variance by 4.</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first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natural numbers have variance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even numbers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oMath>
                </a14:m>
                <a:r>
                  <a:rPr sz="2400" b="0">
                    <a:solidFill>
                      <a:srgbClr val="111827"/>
                    </a:solidFill>
                    <a:latin typeface="Arial"/>
                  </a:rPr>
                  <a:t> are twice these, so the variance is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Statement-1 is false, Statement-2 is true: option (D), the same answer.</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first </a:t>
                </a:r>
                <a:r>
                  <a:rPr lang="en-IN" sz="2400">
                    <a:solidFill>
                      <a:srgbClr val="111827"/>
                    </a:solidFill>
                    <a:latin typeface="Cambria Math" panose="02040503050406030204" pitchFamily="18" charset="0"/>
                  </a:rPr>
                  <a:t>$n$</a:t>
                </a:r>
                <a:r>
                  <a:rPr sz="2400" b="0">
                    <a:solidFill>
                      <a:srgbClr val="111827"/>
                    </a:solidFill>
                    <a:latin typeface="Arial"/>
                  </a:rPr>
                  <a:t> natural numbers have variance </a:t>
                </a:r>
                <a:r>
                  <a:rPr lang="en-IN" sz="2400">
                    <a:solidFill>
                      <a:srgbClr val="111827"/>
                    </a:solidFill>
                    <a:latin typeface="Cambria Math" panose="02040503050406030204" pitchFamily="18" charset="0"/>
                  </a:rPr>
                  <a:t>$\frac{n^2-1}{12}$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even numbers </a:t>
                </a:r>
                <a:r>
                  <a:rPr lang="en-IN" sz="2400">
                    <a:solidFill>
                      <a:srgbClr val="111827"/>
                    </a:solidFill>
                    <a:latin typeface="Cambria Math" panose="02040503050406030204" pitchFamily="18" charset="0"/>
                  </a:rPr>
                  <a:t>$2,4,\dots,2n$</a:t>
                </a:r>
                <a:r>
                  <a:rPr sz="2400" b="0">
                    <a:solidFill>
                      <a:srgbClr val="111827"/>
                    </a:solidFill>
                    <a:latin typeface="Arial"/>
                  </a:rPr>
                  <a:t> are twice these, so the variance is </a:t>
                </a:r>
                <a:r>
                  <a:rPr lang="en-IN" sz="2400">
                    <a:solidFill>
                      <a:srgbClr val="111827"/>
                    </a:solidFill>
                    <a:latin typeface="Cambria Math" panose="02040503050406030204" pitchFamily="18" charset="0"/>
                  </a:rPr>
                  <a:t>$4\cdot\frac{n^2-1}{12}=\frac{n^2-1}{3}\ne\frac{n^2-1}{4}$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Statement-1 is false, Statement-2 is true: option (D), the same answer.</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Statement-1 is false, Statement-2 is true</a:t>
            </a:r>
            <a:endParaRPr sz="2800">
              <a:solidFill>
                <a:srgbClr val="15803D"/>
              </a:solidFill>
            </a:endParaRP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First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naturals: mean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variance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12</m:t>
                        </m:r>
                      </m:den>
                    </m:f>
                  </m:oMath>
                </a14:m>
                <a:r>
                  <a:rPr sz="2400" b="0">
                    <a:solidFill>
                      <a:srgbClr val="111827"/>
                    </a:solidFill>
                    <a:latin typeface="Arial"/>
                  </a:rPr>
                  <a:t>. First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evens: mean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variance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First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odds: mean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variance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'true statement with a true reason' pair needs the reason to be used in the derivation; check the claim first.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First </a:t>
                </a:r>
                <a:r>
                  <a:rPr lang="en-IN" sz="2400">
                    <a:solidFill>
                      <a:srgbClr val="111827"/>
                    </a:solidFill>
                    <a:latin typeface="Cambria Math" panose="02040503050406030204" pitchFamily="18" charset="0"/>
                  </a:rPr>
                  <a:t>$n$</a:t>
                </a:r>
                <a:r>
                  <a:rPr sz="2400" b="0">
                    <a:solidFill>
                      <a:srgbClr val="111827"/>
                    </a:solidFill>
                    <a:latin typeface="Arial"/>
                  </a:rPr>
                  <a:t> naturals: mean </a:t>
                </a:r>
                <a:r>
                  <a:rPr lang="en-IN" sz="2400">
                    <a:solidFill>
                      <a:srgbClr val="111827"/>
                    </a:solidFill>
                    <a:latin typeface="Cambria Math" panose="02040503050406030204" pitchFamily="18" charset="0"/>
                  </a:rPr>
                  <a:t>$\frac{n+1}{2}$</a:t>
                </a:r>
                <a:r>
                  <a:rPr sz="2400" b="0">
                    <a:solidFill>
                      <a:srgbClr val="111827"/>
                    </a:solidFill>
                    <a:latin typeface="Arial"/>
                  </a:rPr>
                  <a:t>, variance </a:t>
                </a:r>
                <a:r>
                  <a:rPr lang="en-IN" sz="2400">
                    <a:solidFill>
                      <a:srgbClr val="111827"/>
                    </a:solidFill>
                    <a:latin typeface="Cambria Math" panose="02040503050406030204" pitchFamily="18" charset="0"/>
                  </a:rPr>
                  <a:t>$\frac{n^2-1}{12}$</a:t>
                </a:r>
                <a:r>
                  <a:rPr sz="2400" b="0">
                    <a:solidFill>
                      <a:srgbClr val="111827"/>
                    </a:solidFill>
                    <a:latin typeface="Arial"/>
                  </a:rPr>
                  <a:t>. First </a:t>
                </a:r>
                <a:r>
                  <a:rPr lang="en-IN" sz="2400">
                    <a:solidFill>
                      <a:srgbClr val="111827"/>
                    </a:solidFill>
                    <a:latin typeface="Cambria Math" panose="02040503050406030204" pitchFamily="18" charset="0"/>
                  </a:rPr>
                  <a:t>$n$</a:t>
                </a:r>
                <a:r>
                  <a:rPr sz="2400" b="0">
                    <a:solidFill>
                      <a:srgbClr val="111827"/>
                    </a:solidFill>
                    <a:latin typeface="Arial"/>
                  </a:rPr>
                  <a:t> evens: mean </a:t>
                </a:r>
                <a:r>
                  <a:rPr lang="en-IN" sz="2400">
                    <a:solidFill>
                      <a:srgbClr val="111827"/>
                    </a:solidFill>
                    <a:latin typeface="Cambria Math" panose="02040503050406030204" pitchFamily="18" charset="0"/>
                  </a:rPr>
                  <a:t>$n+1$</a:t>
                </a:r>
                <a:r>
                  <a:rPr sz="2400" b="0">
                    <a:solidFill>
                      <a:srgbClr val="111827"/>
                    </a:solidFill>
                    <a:latin typeface="Arial"/>
                  </a:rPr>
                  <a:t>, variance </a:t>
                </a:r>
                <a:r>
                  <a:rPr lang="en-IN" sz="2400">
                    <a:solidFill>
                      <a:srgbClr val="111827"/>
                    </a:solidFill>
                    <a:latin typeface="Cambria Math" panose="02040503050406030204" pitchFamily="18" charset="0"/>
                  </a:rPr>
                  <a:t>$\frac{n^2-1}{3}$</a:t>
                </a:r>
                <a:r>
                  <a:rPr sz="2400" b="0">
                    <a:solidFill>
                      <a:srgbClr val="111827"/>
                    </a:solidFill>
                    <a:latin typeface="Arial"/>
                  </a:rPr>
                  <a:t>. First </a:t>
                </a:r>
                <a:r>
                  <a:rPr lang="en-IN" sz="2400">
                    <a:solidFill>
                      <a:srgbClr val="111827"/>
                    </a:solidFill>
                    <a:latin typeface="Cambria Math" panose="02040503050406030204" pitchFamily="18" charset="0"/>
                  </a:rPr>
                  <a:t>$n$</a:t>
                </a:r>
                <a:r>
                  <a:rPr sz="2400" b="0">
                    <a:solidFill>
                      <a:srgbClr val="111827"/>
                    </a:solidFill>
                    <a:latin typeface="Arial"/>
                  </a:rPr>
                  <a:t> odds: mean </a:t>
                </a:r>
                <a:r>
                  <a:rPr lang="en-IN" sz="2400">
                    <a:solidFill>
                      <a:srgbClr val="111827"/>
                    </a:solidFill>
                    <a:latin typeface="Cambria Math" panose="02040503050406030204" pitchFamily="18" charset="0"/>
                  </a:rPr>
                  <a:t>$n$</a:t>
                </a:r>
                <a:r>
                  <a:rPr sz="2400" b="0">
                    <a:solidFill>
                      <a:srgbClr val="111827"/>
                    </a:solidFill>
                    <a:latin typeface="Arial"/>
                  </a:rPr>
                  <a:t>, variance </a:t>
                </a:r>
                <a:r>
                  <a:rPr lang="en-IN" sz="2400">
                    <a:solidFill>
                      <a:srgbClr val="111827"/>
                    </a:solidFill>
                    <a:latin typeface="Cambria Math" panose="02040503050406030204" pitchFamily="18" charset="0"/>
                  </a:rPr>
                  <a:t>$\frac{n^2-1}{3}$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'true statement with a true reason' pair needs the reason to be used in the derivation; check the claim first.</a:t>
                </a:r>
                <a:endParaRPr sz="2400">
                  <a:solidFill>
                    <a:srgbClr val="111827"/>
                  </a:solidFill>
                </a:endParaRPr>
              </a:p>
            </p:txBody>
          </p:sp>
        </mc:Fallback>
      </mc:AlternateContent>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6629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For two data sets each of size 5, the variances are given to be 4 and 5 and the corresponding means are given to be 2 and 4 respectively. Then the variance of the combined data set is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(B)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(C) 6   (D)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13</m:t>
                        </m:r>
                      </m:num>
                      <m:den>
                        <m:r>
                          <a:rPr lang="en-IN" sz="2400" i="1">
                            <a:solidFill>
                              <a:srgbClr val="111827"/>
                            </a:solidFill>
                            <a:latin typeface="Cambria Math" panose="02040503050406030204" pitchFamily="18" charset="0"/>
                          </a:rPr>
                          <m:t>2</m:t>
                        </m:r>
                      </m:den>
                    </m:f>
                  </m:oMath>
                </a14:m>
                <a:endParaRPr sz="2400">
                  <a:solidFill>
                    <a:srgbClr val="111827"/>
                  </a:solidFill>
                </a:endParaRPr>
              </a:p>
            </p:txBody>
          </p:sp>
        </mc:Choice>
        <mc:Fallback>
          <p:sp>
            <p:nvSpPr>
              <p:cNvPr id="4" name="Rounded Rectangle 3"/>
              <p:cNvSpPr/>
              <p:nvPr/>
            </p:nvSpPr>
            <p:spPr>
              <a:xfrm>
                <a:off x="731520" y="1280160"/>
                <a:ext cx="10725912" cy="26629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For two data sets each of size 5, the variances are given to be 4 and 5 and the corresponding means are given to be 2 and 4 respectively. Then the variance of the combined data set is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$\frac{5}{2}$</a:t>
                </a:r>
                <a:r>
                  <a:rPr sz="2400" b="0">
                    <a:solidFill>
                      <a:srgbClr val="111827"/>
                    </a:solidFill>
                    <a:latin typeface="Arial"/>
                  </a:rPr>
                  <a:t>   (B) </a:t>
                </a:r>
                <a:r>
                  <a:rPr lang="en-IN" sz="2400">
                    <a:solidFill>
                      <a:srgbClr val="111827"/>
                    </a:solidFill>
                    <a:latin typeface="Cambria Math" panose="02040503050406030204" pitchFamily="18" charset="0"/>
                  </a:rPr>
                  <a:t>$\frac{11}{2}$</a:t>
                </a:r>
                <a:r>
                  <a:rPr sz="2400" b="0">
                    <a:solidFill>
                      <a:srgbClr val="111827"/>
                    </a:solidFill>
                    <a:latin typeface="Arial"/>
                  </a:rPr>
                  <a:t>   (C) 6   (D) </a:t>
                </a:r>
                <a:r>
                  <a:rPr lang="en-IN" sz="2400">
                    <a:solidFill>
                      <a:srgbClr val="111827"/>
                    </a:solidFill>
                    <a:latin typeface="Cambria Math" panose="02040503050406030204" pitchFamily="18" charset="0"/>
                  </a:rPr>
                  <a:t>$\frac{13}{2}$</a:t>
                </a:r>
                <a:endParaRPr sz="2400">
                  <a:solidFill>
                    <a:srgbClr val="111827"/>
                  </a:solidFill>
                </a:endParaRPr>
              </a:p>
            </p:txBody>
          </p:sp>
        </mc:Fallback>
      </mc:AlternateContent>
      <p:sp>
        <p:nvSpPr>
          <p:cNvPr id="5" name="Rectangle 4"/>
          <p:cNvSpPr/>
          <p:nvPr/>
        </p:nvSpPr>
        <p:spPr>
          <a:xfrm>
            <a:off x="731520" y="4171695"/>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Variance of combined data sets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Recover </a:t>
                </a:r>
                <a14:m>
                  <m:oMath xmlns:m="http://schemas.openxmlformats.org/officeDocument/2006/math">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of each set from its mean and variance, then pool them.</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Recover </a:t>
                </a:r>
                <a:r>
                  <a:rPr lang="en-IN" sz="2400">
                    <a:solidFill>
                      <a:srgbClr val="78350F"/>
                    </a:solidFill>
                    <a:latin typeface="Cambria Math" panose="02040503050406030204" pitchFamily="18" charset="0"/>
                  </a:rPr>
                  <a:t>$\sum x^2$</a:t>
                </a:r>
                <a:r>
                  <a:rPr sz="2400" b="0">
                    <a:solidFill>
                      <a:srgbClr val="78350F"/>
                    </a:solidFill>
                    <a:latin typeface="Arial"/>
                  </a:rPr>
                  <a:t> of each set from its mean and variance, then pool them.</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Set X: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sSubSup>
                      <m:e>
                        <m:r>
                          <a:rPr lang="en-IN" sz="2400" i="1">
                            <a:solidFill>
                              <a:srgbClr val="111827"/>
                            </a:solidFill>
                            <a:latin typeface="Cambria Math" panose="02040503050406030204" pitchFamily="18" charset="0"/>
                          </a:rPr>
                          <m:t>σ</m:t>
                        </m:r>
                      </m:e>
                      <m:sub>
                        <m:r>
                          <a:rPr lang="en-IN" sz="2400" i="1">
                            <a:solidFill>
                              <a:srgbClr val="111827"/>
                            </a:solidFill>
                            <a:latin typeface="Cambria Math" panose="02040503050406030204" pitchFamily="18" charset="0"/>
                          </a:rPr>
                          <m:t>𝑥</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sSubSup>
                      <m:e>
                        <m:r>
                          <a:rPr lang="en-IN" sz="2400" i="1">
                            <a:solidFill>
                              <a:srgbClr val="111827"/>
                            </a:solidFill>
                            <a:latin typeface="Cambria Math" panose="02040503050406030204" pitchFamily="18" charset="0"/>
                          </a:rPr>
                          <m:t>σ</m:t>
                        </m:r>
                      </m:e>
                      <m:sub>
                        <m:r>
                          <a:rPr lang="en-IN" sz="2400" i="1">
                            <a:solidFill>
                              <a:srgbClr val="111827"/>
                            </a:solidFill>
                            <a:latin typeface="Cambria Math" panose="02040503050406030204" pitchFamily="18" charset="0"/>
                          </a:rPr>
                          <m:t>𝑥</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2</m:t>
                            </m:r>
                          </m:sup>
                        </m:sSubSup>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sSup>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gives </a:t>
                </a:r>
                <a14:m>
                  <m:oMath xmlns:m="http://schemas.openxmlformats.org/officeDocument/2006/math">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Set Y: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𝑦</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sSubSup>
                      <m:e>
                        <m:r>
                          <a:rPr lang="en-IN" sz="2400" i="1">
                            <a:solidFill>
                              <a:srgbClr val="111827"/>
                            </a:solidFill>
                            <a:latin typeface="Cambria Math" panose="02040503050406030204" pitchFamily="18" charset="0"/>
                          </a:rPr>
                          <m:t>σ</m:t>
                        </m:r>
                      </m:e>
                      <m:sub>
                        <m:r>
                          <a:rPr lang="en-IN" sz="2400" i="1">
                            <a:solidFill>
                              <a:srgbClr val="111827"/>
                            </a:solidFill>
                            <a:latin typeface="Cambria Math" panose="02040503050406030204" pitchFamily="18" charset="0"/>
                          </a:rPr>
                          <m:t>𝑦</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Combined: </a:t>
                </a:r>
                <a14:m>
                  <m:oMath xmlns:m="http://schemas.openxmlformats.org/officeDocument/2006/math">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145</m:t>
                    </m:r>
                  </m:oMath>
                </a14:m>
                <a:r>
                  <a:rPr sz="2400" b="0">
                    <a:solidFill>
                      <a:srgbClr val="111827"/>
                    </a:solidFill>
                    <a:latin typeface="Arial"/>
                  </a:rPr>
                  <a:t> over 10 observations.</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Set X: </a:t>
                </a:r>
                <a:r>
                  <a:rPr lang="en-IN" sz="2400">
                    <a:solidFill>
                      <a:srgbClr val="111827"/>
                    </a:solidFill>
                    <a:latin typeface="Cambria Math" panose="02040503050406030204" pitchFamily="18" charset="0"/>
                  </a:rPr>
                  <a:t>$\bar{x}=2$</a:t>
                </a:r>
                <a:r>
                  <a:rPr sz="2400" b="0">
                    <a:solidFill>
                      <a:srgbClr val="111827"/>
                    </a:solidFill>
                    <a:latin typeface="Arial"/>
                  </a:rPr>
                  <a:t>, </a:t>
                </a:r>
                <a:r>
                  <a:rPr lang="en-IN" sz="2400">
                    <a:solidFill>
                      <a:srgbClr val="111827"/>
                    </a:solidFill>
                    <a:latin typeface="Cambria Math" panose="02040503050406030204" pitchFamily="18" charset="0"/>
                  </a:rPr>
                  <a:t>$\sigma_x^2=4$</a:t>
                </a:r>
                <a:r>
                  <a:rPr sz="2400" b="0">
                    <a:solidFill>
                      <a:srgbClr val="111827"/>
                    </a:solidFill>
                    <a:latin typeface="Arial"/>
                  </a:rPr>
                  <a:t>, </a:t>
                </a:r>
                <a:r>
                  <a:rPr lang="en-IN" sz="2400">
                    <a:solidFill>
                      <a:srgbClr val="111827"/>
                    </a:solidFill>
                    <a:latin typeface="Cambria Math" panose="02040503050406030204" pitchFamily="18" charset="0"/>
                  </a:rPr>
                  <a:t>$n=5$</a:t>
                </a:r>
                <a:r>
                  <a:rPr sz="2400" b="0">
                    <a:solidFill>
                      <a:srgbClr val="111827"/>
                    </a:solidFill>
                    <a:latin typeface="Arial"/>
                  </a:rPr>
                  <a:t>. </a:t>
                </a:r>
                <a:r>
                  <a:rPr lang="en-IN" sz="2400">
                    <a:solidFill>
                      <a:srgbClr val="111827"/>
                    </a:solidFill>
                    <a:latin typeface="Cambria Math" panose="02040503050406030204" pitchFamily="18" charset="0"/>
                  </a:rPr>
                  <a:t>$\sigma_x^2=\frac{\sum x_i^2}{5}-\bar{x}^2$</a:t>
                </a:r>
                <a:r>
                  <a:rPr sz="2400" b="0">
                    <a:solidFill>
                      <a:srgbClr val="111827"/>
                    </a:solidFill>
                    <a:latin typeface="Arial"/>
                  </a:rPr>
                  <a:t> gives </a:t>
                </a:r>
                <a:r>
                  <a:rPr lang="en-IN" sz="2400">
                    <a:solidFill>
                      <a:srgbClr val="111827"/>
                    </a:solidFill>
                    <a:latin typeface="Cambria Math" panose="02040503050406030204" pitchFamily="18" charset="0"/>
                  </a:rPr>
                  <a:t>$\sum x_i^2=5(4+4)=40$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Set Y: </a:t>
                </a:r>
                <a:r>
                  <a:rPr lang="en-IN" sz="2400">
                    <a:solidFill>
                      <a:srgbClr val="111827"/>
                    </a:solidFill>
                    <a:latin typeface="Cambria Math" panose="02040503050406030204" pitchFamily="18" charset="0"/>
                  </a:rPr>
                  <a:t>$\bar{y}=4$</a:t>
                </a:r>
                <a:r>
                  <a:rPr sz="2400" b="0">
                    <a:solidFill>
                      <a:srgbClr val="111827"/>
                    </a:solidFill>
                    <a:latin typeface="Arial"/>
                  </a:rPr>
                  <a:t>, </a:t>
                </a:r>
                <a:r>
                  <a:rPr lang="en-IN" sz="2400">
                    <a:solidFill>
                      <a:srgbClr val="111827"/>
                    </a:solidFill>
                    <a:latin typeface="Cambria Math" panose="02040503050406030204" pitchFamily="18" charset="0"/>
                  </a:rPr>
                  <a:t>$\sigma_y^2=5$</a:t>
                </a:r>
                <a:r>
                  <a:rPr sz="2400" b="0">
                    <a:solidFill>
                      <a:srgbClr val="111827"/>
                    </a:solidFill>
                    <a:latin typeface="Arial"/>
                  </a:rPr>
                  <a:t>, </a:t>
                </a:r>
                <a:r>
                  <a:rPr lang="en-IN" sz="2400">
                    <a:solidFill>
                      <a:srgbClr val="111827"/>
                    </a:solidFill>
                    <a:latin typeface="Cambria Math" panose="02040503050406030204" pitchFamily="18" charset="0"/>
                  </a:rPr>
                  <a:t>$n=5$</a:t>
                </a:r>
                <a:r>
                  <a:rPr sz="2400" b="0">
                    <a:solidFill>
                      <a:srgbClr val="111827"/>
                    </a:solidFill>
                    <a:latin typeface="Arial"/>
                  </a:rPr>
                  <a:t>, so </a:t>
                </a:r>
                <a:r>
                  <a:rPr lang="en-IN" sz="2400">
                    <a:solidFill>
                      <a:srgbClr val="111827"/>
                    </a:solidFill>
                    <a:latin typeface="Cambria Math" panose="02040503050406030204" pitchFamily="18" charset="0"/>
                  </a:rPr>
                  <a:t>$\sum y_i^2=5(5+16)=105$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Combined: </a:t>
                </a:r>
                <a:r>
                  <a:rPr lang="en-IN" sz="2400">
                    <a:solidFill>
                      <a:srgbClr val="111827"/>
                    </a:solidFill>
                    <a:latin typeface="Cambria Math" panose="02040503050406030204" pitchFamily="18" charset="0"/>
                  </a:rPr>
                  <a:t>$\sum x_i^2+\sum y_i^2=145$</a:t>
                </a:r>
                <a:r>
                  <a:rPr sz="2400" b="0">
                    <a:solidFill>
                      <a:srgbClr val="111827"/>
                    </a:solidFill>
                    <a:latin typeface="Arial"/>
                  </a:rPr>
                  <a:t> over 10 observations.</a:t>
                </a:r>
                <a:endParaRPr sz="2400">
                  <a:solidFill>
                    <a:srgbClr val="111827"/>
                  </a:solidFill>
                </a:endParaRPr>
              </a:p>
            </p:txBody>
          </p:sp>
        </mc:Fallback>
      </mc:AlternateContent>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Combined mean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𝑖</m:t>
                            </m:r>
                          </m:sub>
                        </m:sSub>
                      </m:num>
                      <m:den>
                        <m:r>
                          <a:rPr lang="en-IN" sz="2400" i="1">
                            <a:solidFill>
                              <a:srgbClr val="111827"/>
                            </a:solidFill>
                            <a:latin typeface="Cambria Math" panose="02040503050406030204" pitchFamily="18" charset="0"/>
                          </a:rPr>
                          <m:t>10</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num>
                      <m:den>
                        <m:r>
                          <a:rPr lang="en-IN" sz="2400" i="1">
                            <a:solidFill>
                              <a:srgbClr val="111827"/>
                            </a:solidFill>
                            <a:latin typeface="Cambria Math" panose="02040503050406030204" pitchFamily="18" charset="0"/>
                          </a:rPr>
                          <m:t>10</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Variance of combined data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145</m:t>
                        </m:r>
                      </m:num>
                      <m:den>
                        <m:r>
                          <a:rPr lang="en-IN" sz="2400" i="1">
                            <a:solidFill>
                              <a:srgbClr val="111827"/>
                            </a:solidFill>
                            <a:latin typeface="Cambria Math" panose="02040503050406030204" pitchFamily="18" charset="0"/>
                          </a:rPr>
                          <m:t>10</m:t>
                        </m:r>
                      </m:den>
                    </m:f>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5.5</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option (B).</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Combined mean </a:t>
                </a:r>
                <a:r>
                  <a:rPr lang="en-IN" sz="2400">
                    <a:solidFill>
                      <a:srgbClr val="111827"/>
                    </a:solidFill>
                    <a:latin typeface="Cambria Math" panose="02040503050406030204" pitchFamily="18" charset="0"/>
                  </a:rPr>
                  <a:t>$=\frac{\sum x_i+\sum y_i}{10}=\frac{10+20}{10}=3$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Variance of combined data </a:t>
                </a:r>
                <a:r>
                  <a:rPr lang="en-IN" sz="2400">
                    <a:solidFill>
                      <a:srgbClr val="111827"/>
                    </a:solidFill>
                    <a:latin typeface="Cambria Math" panose="02040503050406030204" pitchFamily="18" charset="0"/>
                  </a:rPr>
                  <a:t>$=\frac{145}{10}-3^2=14.5-9=5.5=\frac{11}{2}$</a:t>
                </a:r>
                <a:r>
                  <a:rPr sz="2400" b="0">
                    <a:solidFill>
                      <a:srgbClr val="111827"/>
                    </a:solidFill>
                    <a:latin typeface="Arial"/>
                  </a:rPr>
                  <a:t>, option (B).</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11</m:t>
                        </m:r>
                      </m:num>
                      <m:den>
                        <m:r>
                          <a:rPr lang="en-IN" sz="2800" i="1">
                            <a:solidFill>
                              <a:srgbClr val="15803D"/>
                            </a:solidFill>
                            <a:latin typeface="Cambria Math" panose="02040503050406030204" pitchFamily="18" charset="0"/>
                          </a:rPr>
                          <m:t>2</m:t>
                        </m:r>
                      </m:den>
                    </m:f>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r>
                  <a:rPr lang="en-IN" sz="2800">
                    <a:solidFill>
                      <a:srgbClr val="15803D"/>
                    </a:solidFill>
                    <a:latin typeface="Cambria Math" panose="02040503050406030204" pitchFamily="18" charset="0"/>
                  </a:rPr>
                  <a:t>$\frac{11}{2}$</a:t>
                </a:r>
                <a:endParaRPr sz="2800">
                  <a:solidFill>
                    <a:srgbClr val="15803D"/>
                  </a:solidFill>
                </a:endParaRPr>
              </a:p>
            </p:txBody>
          </p:sp>
        </mc:Fallback>
      </mc:AlternateContent>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p:sp>
        <p:nvSpPr>
          <p:cNvPr id="5" name="Rounded Rectangle 4"/>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the combined-variance (within plus between) formula.</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equal sizes: </a:t>
                </a:r>
                <a14:m>
                  <m:oMath xmlns:m="http://schemas.openxmlformats.org/officeDocument/2006/math">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bSup>
                          <m:e>
                            <m:r>
                              <a:rPr lang="en-IN" sz="2400" i="1">
                                <a:solidFill>
                                  <a:srgbClr val="111827"/>
                                </a:solidFill>
                                <a:latin typeface="Cambria Math" panose="02040503050406030204" pitchFamily="18" charset="0"/>
                              </a:rPr>
                              <m:t>σ</m:t>
                            </m:r>
                          </m:e>
                          <m:sub>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σ</m:t>
                            </m:r>
                          </m:e>
                          <m:sub>
                            <m:r>
                              <a:rPr lang="en-IN" sz="2400" i="1">
                                <a:solidFill>
                                  <a:srgbClr val="111827"/>
                                </a:solidFill>
                                <a:latin typeface="Cambria Math" panose="02040503050406030204" pitchFamily="18" charset="0"/>
                              </a:rPr>
                              <m:t>2</m:t>
                            </m:r>
                          </m:sub>
                          <m:sup>
                            <m:r>
                              <a:rPr lang="en-IN" sz="2400" i="1">
                                <a:solidFill>
                                  <a:srgbClr val="111827"/>
                                </a:solidFill>
                                <a:latin typeface="Cambria Math" panose="02040503050406030204" pitchFamily="18" charset="0"/>
                              </a:rPr>
                              <m:t>2</m:t>
                            </m:r>
                          </m:sup>
                        </m:sSubSup>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e>
                                  <m:sub>
                                    <m:r>
                                      <a:rPr lang="en-IN" sz="2400" i="1">
                                        <a:solidFill>
                                          <a:srgbClr val="111827"/>
                                        </a:solidFill>
                                        <a:latin typeface="Cambria Math" panose="02040503050406030204" pitchFamily="18" charset="0"/>
                                      </a:rPr>
                                      <m:t>2</m:t>
                                    </m:r>
                                  </m:sub>
                                </m:sSub>
                              </m:num>
                              <m:den>
                                <m:r>
                                  <a:rPr lang="en-IN" sz="2400" i="1">
                                    <a:solidFill>
                                      <a:srgbClr val="111827"/>
                                    </a:solidFill>
                                    <a:latin typeface="Cambria Math" panose="02040503050406030204" pitchFamily="18" charset="0"/>
                                  </a:rPr>
                                  <m:t>2</m:t>
                                </m:r>
                              </m:den>
                            </m:f>
                          </m:e>
                        </m:d>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2</m:t>
                                </m:r>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5.5</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the same answer.</a:t>
                </a:r>
                <a:endParaRPr sz="2400">
                  <a:solidFill>
                    <a:srgbClr val="111827"/>
                  </a:solidFill>
                </a:endParaRPr>
              </a:p>
            </p:txBody>
          </p:sp>
        </mc:Choice>
        <mc:Fallback>
          <p:sp>
            <p:nvSpPr>
              <p:cNvPr id="6" name="Rectangle 5"/>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equal sizes: </a:t>
                </a:r>
                <a:r>
                  <a:rPr lang="en-IN" sz="2400">
                    <a:solidFill>
                      <a:srgbClr val="111827"/>
                    </a:solidFill>
                    <a:latin typeface="Cambria Math" panose="02040503050406030204" pitchFamily="18" charset="0"/>
                  </a:rPr>
                  <a:t>$\sigma^2=\frac{\sigma_1^2+\sigma_2^2}{2}+\left(\frac{\bar{x}_1-\bar{x}_2}{2}\right)^2$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$\sigma^2=\frac{4+5}{2}+\left(\frac{2-4}{2}\right)^2=4.5+1=5.5=\frac{11}{2}$</a:t>
                </a:r>
                <a:r>
                  <a:rPr sz="2400" b="0">
                    <a:solidFill>
                      <a:srgbClr val="111827"/>
                    </a:solidFill>
                    <a:latin typeface="Arial"/>
                  </a:rPr>
                  <a:t>, the same answer.</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11</m:t>
                        </m:r>
                      </m:num>
                      <m:den>
                        <m:r>
                          <a:rPr lang="en-IN" sz="2800" i="1">
                            <a:solidFill>
                              <a:srgbClr val="15803D"/>
                            </a:solidFill>
                            <a:latin typeface="Cambria Math" panose="02040503050406030204" pitchFamily="18" charset="0"/>
                          </a:rPr>
                          <m:t>2</m:t>
                        </m:r>
                      </m:den>
                    </m:f>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r>
                  <a:rPr lang="en-IN" sz="2800">
                    <a:solidFill>
                      <a:srgbClr val="15803D"/>
                    </a:solidFill>
                    <a:latin typeface="Cambria Math" panose="02040503050406030204" pitchFamily="18" charset="0"/>
                  </a:rPr>
                  <a:t>$\frac{11}{2}$</a:t>
                </a:r>
                <a:endParaRPr sz="2800">
                  <a:solidFill>
                    <a:srgbClr val="15803D"/>
                  </a:solidFill>
                </a:endParaRPr>
              </a:p>
            </p:txBody>
          </p:sp>
        </mc:Fallback>
      </mc:AlternateContent>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Two groups: </a:t>
                </a:r>
                <a14:m>
                  <m:oMath xmlns:m="http://schemas.openxmlformats.org/officeDocument/2006/math">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sSubSup>
                          <m:e>
                            <m:r>
                              <a:rPr lang="en-IN" sz="2400" i="1">
                                <a:solidFill>
                                  <a:srgbClr val="111827"/>
                                </a:solidFill>
                                <a:latin typeface="Cambria Math" panose="02040503050406030204" pitchFamily="18" charset="0"/>
                              </a:rPr>
                              <m:t>σ</m:t>
                            </m:r>
                          </m:e>
                          <m:sub>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sSubSup>
                          <m:e>
                            <m:r>
                              <a:rPr lang="en-IN" sz="2400" i="1">
                                <a:solidFill>
                                  <a:srgbClr val="111827"/>
                                </a:solidFill>
                                <a:latin typeface="Cambria Math" panose="02040503050406030204" pitchFamily="18" charset="0"/>
                              </a:rPr>
                              <m:t>σ</m:t>
                            </m:r>
                          </m:e>
                          <m:sub>
                            <m:r>
                              <a:rPr lang="en-IN" sz="2400" i="1">
                                <a:solidFill>
                                  <a:srgbClr val="111827"/>
                                </a:solidFill>
                                <a:latin typeface="Cambria Math" panose="02040503050406030204" pitchFamily="18" charset="0"/>
                              </a:rPr>
                              <m:t>2</m:t>
                            </m:r>
                          </m:sub>
                          <m:sup>
                            <m:r>
                              <a:rPr lang="en-IN" sz="2400" i="1">
                                <a:solidFill>
                                  <a:srgbClr val="111827"/>
                                </a:solidFill>
                                <a:latin typeface="Cambria Math" panose="02040503050406030204" pitchFamily="18" charset="0"/>
                              </a:rPr>
                              <m:t>2</m:t>
                            </m:r>
                          </m:sup>
                        </m:sSubSup>
                      </m:num>
                      <m:den>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num>
                      <m:den>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e>
                      <m:sub>
                        <m:r>
                          <a:rPr lang="en-IN" sz="2400" i="1">
                            <a:solidFill>
                              <a:srgbClr val="111827"/>
                            </a:solidFill>
                            <a:latin typeface="Cambria Math" panose="02040503050406030204" pitchFamily="18" charset="0"/>
                          </a:rPr>
                          <m:t>2</m:t>
                        </m:r>
                      </m:sub>
                    </m:sSub>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(within-group plus between-group variance).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combined variance is never less than the weighted average of the group variances; it is equal only when the means are equal.</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Two groups: </a:t>
                </a:r>
                <a:r>
                  <a:rPr lang="en-IN" sz="2400">
                    <a:solidFill>
                      <a:srgbClr val="111827"/>
                    </a:solidFill>
                    <a:latin typeface="Cambria Math" panose="02040503050406030204" pitchFamily="18" charset="0"/>
                  </a:rPr>
                  <a:t>$\sigma^2=\frac{n_1\sigma_1^2+n_2\sigma_2^2}{n_1+n_2}+\frac{n_1n_2}{(n_1+n_2)^2}(\bar{x}_1-\bar{x}_2)^2$</a:t>
                </a:r>
                <a:r>
                  <a:rPr sz="2400" b="0">
                    <a:solidFill>
                      <a:srgbClr val="111827"/>
                    </a:solidFill>
                    <a:latin typeface="Arial"/>
                  </a:rPr>
                  <a:t> (within-group plus between-group variance).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combined variance is never less than the weighted average of the group variances; it is equal only when the means are equal.</a:t>
                </a:r>
                <a:endParaRPr sz="2400">
                  <a:solidFill>
                    <a:srgbClr val="111827"/>
                  </a:solidFill>
                </a:endParaRPr>
              </a:p>
            </p:txBody>
          </p:sp>
        </mc:Fallback>
      </mc:AlternateContent>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mean deviation about the median of the numbers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r>
                      <a:rPr lang="en-IN" sz="2400" i="1">
                        <a:solidFill>
                          <a:srgbClr val="111827"/>
                        </a:solidFill>
                        <a:latin typeface="Cambria Math" panose="02040503050406030204" pitchFamily="18" charset="0"/>
                      </a:rPr>
                      <m:t>𝑎</m:t>
                    </m:r>
                  </m:oMath>
                </a14:m>
                <a:r>
                  <a:rPr sz="2400" b="0">
                    <a:solidFill>
                      <a:srgbClr val="111827"/>
                    </a:solidFill>
                    <a:latin typeface="Arial"/>
                  </a:rPr>
                  <a:t> is 50, then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equals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4   (B) 5   (C) 2   (D) 3</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mean deviation about the median of the numbers </a:t>
                </a:r>
                <a:r>
                  <a:rPr lang="en-IN" sz="2400">
                    <a:solidFill>
                      <a:srgbClr val="111827"/>
                    </a:solidFill>
                    <a:latin typeface="Cambria Math" panose="02040503050406030204" pitchFamily="18" charset="0"/>
                  </a:rPr>
                  <a:t>$a,2a,\dots,50a$</a:t>
                </a:r>
                <a:r>
                  <a:rPr sz="2400" b="0">
                    <a:solidFill>
                      <a:srgbClr val="111827"/>
                    </a:solidFill>
                    <a:latin typeface="Arial"/>
                  </a:rPr>
                  <a:t> is 50, then </a:t>
                </a:r>
                <a:r>
                  <a:rPr lang="en-IN" sz="2400">
                    <a:solidFill>
                      <a:srgbClr val="111827"/>
                    </a:solidFill>
                    <a:latin typeface="Cambria Math" panose="02040503050406030204" pitchFamily="18" charset="0"/>
                  </a:rPr>
                  <a:t>$|a|$</a:t>
                </a:r>
                <a:r>
                  <a:rPr sz="2400" b="0">
                    <a:solidFill>
                      <a:srgbClr val="111827"/>
                    </a:solidFill>
                    <a:latin typeface="Arial"/>
                  </a:rPr>
                  <a:t> equals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4   (B) 5   (C) 2   (D) 3</a:t>
                </a:r>
                <a:endParaRPr sz="2400">
                  <a:solidFill>
                    <a:srgbClr val="111827"/>
                  </a:solidFill>
                </a:endParaRPr>
              </a:p>
            </p:txBody>
          </p:sp>
        </mc:Fallback>
      </mc:AlternateContent>
      <p:sp>
        <p:nvSpPr>
          <p:cNvPr id="5" name="Rectangle 4"/>
          <p:cNvSpPr/>
          <p:nvPr/>
        </p:nvSpPr>
        <p:spPr>
          <a:xfrm>
            <a:off x="731520" y="324612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Mean deviation about the median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For </a:t>
                </a:r>
                <a14:m>
                  <m:oMath xmlns:m="http://schemas.openxmlformats.org/officeDocument/2006/math">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𝑚</m:t>
                    </m:r>
                  </m:oMath>
                </a14:m>
                <a:r>
                  <a:rPr sz="2400" b="0">
                    <a:solidFill>
                      <a:srgbClr val="78350F"/>
                    </a:solidFill>
                    <a:latin typeface="Arial"/>
                  </a:rPr>
                  <a:t> observations in AP the deviations about the median are </a:t>
                </a:r>
                <a14:m>
                  <m:oMath xmlns:m="http://schemas.openxmlformats.org/officeDocument/2006/math">
                    <m:r>
                      <a:rPr lang="en-IN" sz="2400" i="1">
                        <a:solidFill>
                          <a:srgbClr val="78350F"/>
                        </a:solidFill>
                        <a:latin typeface="Cambria Math" panose="02040503050406030204" pitchFamily="18" charset="0"/>
                      </a:rPr>
                      <m:t>0.5</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1.5</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in units of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each twice.</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For </a:t>
                </a:r>
                <a:r>
                  <a:rPr lang="en-IN" sz="2400">
                    <a:solidFill>
                      <a:srgbClr val="78350F"/>
                    </a:solidFill>
                    <a:latin typeface="Cambria Math" panose="02040503050406030204" pitchFamily="18" charset="0"/>
                  </a:rPr>
                  <a:t>$2m$</a:t>
                </a:r>
                <a:r>
                  <a:rPr sz="2400" b="0">
                    <a:solidFill>
                      <a:srgbClr val="78350F"/>
                    </a:solidFill>
                    <a:latin typeface="Arial"/>
                  </a:rPr>
                  <a:t> observations in AP the deviations about the median are </a:t>
                </a:r>
                <a:r>
                  <a:rPr lang="en-IN" sz="2400">
                    <a:solidFill>
                      <a:srgbClr val="78350F"/>
                    </a:solidFill>
                    <a:latin typeface="Cambria Math" panose="02040503050406030204" pitchFamily="18" charset="0"/>
                  </a:rPr>
                  <a:t>$0.5,1.5,\dots$</a:t>
                </a:r>
                <a:r>
                  <a:rPr sz="2400" b="0">
                    <a:solidFill>
                      <a:srgbClr val="78350F"/>
                    </a:solidFill>
                    <a:latin typeface="Arial"/>
                  </a:rPr>
                  <a:t> in units of </a:t>
                </a:r>
                <a:r>
                  <a:rPr lang="en-IN" sz="2400">
                    <a:solidFill>
                      <a:srgbClr val="78350F"/>
                    </a:solidFill>
                    <a:latin typeface="Cambria Math" panose="02040503050406030204" pitchFamily="18" charset="0"/>
                  </a:rPr>
                  <a:t>$|a|$</a:t>
                </a:r>
                <a:r>
                  <a:rPr sz="2400" b="0">
                    <a:solidFill>
                      <a:srgbClr val="78350F"/>
                    </a:solidFill>
                    <a:latin typeface="Arial"/>
                  </a:rPr>
                  <a:t>, each twice.</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Observations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r>
                      <a:rPr lang="en-IN" sz="2400" i="1">
                        <a:solidFill>
                          <a:srgbClr val="111827"/>
                        </a:solidFill>
                        <a:latin typeface="Cambria Math" panose="02040503050406030204" pitchFamily="18" charset="0"/>
                      </a:rPr>
                      <m:t>𝑎</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oMath>
                </a14:m>
                <a:r>
                  <a:rPr sz="2400" b="0">
                    <a:solidFill>
                      <a:srgbClr val="111827"/>
                    </a:solidFill>
                    <a:latin typeface="Arial"/>
                  </a:rPr>
                  <a:t>); the median is the mean of the 25th and 26th: </a:t>
                </a:r>
                <a14:m>
                  <m:oMath xmlns:m="http://schemas.openxmlformats.org/officeDocument/2006/math">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25</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26</m:t>
                        </m:r>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25.5</m:t>
                    </m:r>
                    <m:r>
                      <a:rPr lang="en-IN" sz="2400" i="1">
                        <a:solidFill>
                          <a:srgbClr val="111827"/>
                        </a:solidFill>
                        <a:latin typeface="Cambria Math" panose="02040503050406030204" pitchFamily="18" charset="0"/>
                      </a:rPr>
                      <m:t>𝑎</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Mean deviation about the median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50</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deviations are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on each side, so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Observations </a:t>
                </a:r>
                <a:r>
                  <a:rPr lang="en-IN" sz="2400">
                    <a:solidFill>
                      <a:srgbClr val="111827"/>
                    </a:solidFill>
                    <a:latin typeface="Cambria Math" panose="02040503050406030204" pitchFamily="18" charset="0"/>
                  </a:rPr>
                  <a:t>$a,2a,\dots,50a$</a:t>
                </a:r>
                <a:r>
                  <a:rPr sz="2400" b="0">
                    <a:solidFill>
                      <a:srgbClr val="111827"/>
                    </a:solidFill>
                    <a:latin typeface="Arial"/>
                  </a:rPr>
                  <a:t> (</a:t>
                </a:r>
                <a:r>
                  <a:rPr lang="en-IN" sz="2400">
                    <a:solidFill>
                      <a:srgbClr val="111827"/>
                    </a:solidFill>
                    <a:latin typeface="Cambria Math" panose="02040503050406030204" pitchFamily="18" charset="0"/>
                  </a:rPr>
                  <a:t>$n=50$</a:t>
                </a:r>
                <a:r>
                  <a:rPr sz="2400" b="0">
                    <a:solidFill>
                      <a:srgbClr val="111827"/>
                    </a:solidFill>
                    <a:latin typeface="Arial"/>
                  </a:rPr>
                  <a:t>); the median is the mean of the 25th and 26th: </a:t>
                </a:r>
                <a:r>
                  <a:rPr lang="en-IN" sz="2400">
                    <a:solidFill>
                      <a:srgbClr val="111827"/>
                    </a:solidFill>
                    <a:latin typeface="Cambria Math" panose="02040503050406030204" pitchFamily="18" charset="0"/>
                  </a:rPr>
                  <a:t>$M=\frac{25a+26a}{2}=25.5a$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Mean deviation about the median </a:t>
                </a:r>
                <a:r>
                  <a:rPr lang="en-IN" sz="2400">
                    <a:solidFill>
                      <a:srgbClr val="111827"/>
                    </a:solidFill>
                    <a:latin typeface="Cambria Math" panose="02040503050406030204" pitchFamily="18" charset="0"/>
                  </a:rPr>
                  <a:t>$=\frac{\sum|x_i-M|}{50}$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deviations are </a:t>
                </a:r>
                <a:r>
                  <a:rPr lang="en-IN" sz="2400">
                    <a:solidFill>
                      <a:srgbClr val="111827"/>
                    </a:solidFill>
                    <a:latin typeface="Cambria Math" panose="02040503050406030204" pitchFamily="18" charset="0"/>
                  </a:rPr>
                  <a:t>$|a|(0.5,1.5,\dots,24.5)$</a:t>
                </a:r>
                <a:r>
                  <a:rPr sz="2400" b="0">
                    <a:solidFill>
                      <a:srgbClr val="111827"/>
                    </a:solidFill>
                    <a:latin typeface="Arial"/>
                  </a:rPr>
                  <a:t> on each side, so </a:t>
                </a:r>
                <a:r>
                  <a:rPr lang="en-IN" sz="2400">
                    <a:solidFill>
                      <a:srgbClr val="111827"/>
                    </a:solidFill>
                    <a:latin typeface="Cambria Math" panose="02040503050406030204" pitchFamily="18" charset="0"/>
                  </a:rPr>
                  <a:t>$\sum|x_i-M|=2|a|(0.5+1.5+\cdots+24.5)$</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0.5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24.5</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(25 terms with average 12.5), so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50</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2500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option (A).</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$0.5+1.5+\cdots+24.5=\frac{25\times25}{2}$</a:t>
                </a:r>
                <a:r>
                  <a:rPr sz="2400" b="0">
                    <a:solidFill>
                      <a:srgbClr val="111827"/>
                    </a:solidFill>
                    <a:latin typeface="Arial"/>
                  </a:rPr>
                  <a:t> (25 terms with average 12.5), so </a:t>
                </a:r>
                <a:r>
                  <a:rPr lang="en-IN" sz="2400">
                    <a:solidFill>
                      <a:srgbClr val="111827"/>
                    </a:solidFill>
                    <a:latin typeface="Cambria Math" panose="02040503050406030204" pitchFamily="18" charset="0"/>
                  </a:rPr>
                  <a:t>$\sum|x_i-M|=625|a|$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$\frac{625|a|}{50}=50$</a:t>
                </a:r>
                <a:r>
                  <a:rPr sz="2400" b="0">
                    <a:solidFill>
                      <a:srgbClr val="111827"/>
                    </a:solidFill>
                    <a:latin typeface="Arial"/>
                  </a:rPr>
                  <a:t>, i.e. </a:t>
                </a:r>
                <a:r>
                  <a:rPr lang="en-IN" sz="2400">
                    <a:solidFill>
                      <a:srgbClr val="111827"/>
                    </a:solidFill>
                    <a:latin typeface="Cambria Math" panose="02040503050406030204" pitchFamily="18" charset="0"/>
                  </a:rPr>
                  <a:t>$2500=25\times25\,|a|$</a:t>
                </a:r>
                <a:r>
                  <a:rPr sz="2400" b="0">
                    <a:solidFill>
                      <a:srgbClr val="111827"/>
                    </a:solidFill>
                    <a:latin typeface="Arial"/>
                  </a:rPr>
                  <a:t>, so </a:t>
                </a:r>
                <a:r>
                  <a:rPr lang="en-IN" sz="2400">
                    <a:solidFill>
                      <a:srgbClr val="111827"/>
                    </a:solidFill>
                    <a:latin typeface="Cambria Math" panose="02040503050406030204" pitchFamily="18" charset="0"/>
                  </a:rPr>
                  <a:t>$|a|=4$</a:t>
                </a:r>
                <a:r>
                  <a:rPr sz="2400" b="0">
                    <a:solidFill>
                      <a:srgbClr val="111827"/>
                    </a:solidFill>
                    <a:latin typeface="Arial"/>
                  </a:rPr>
                  <a:t>, option (A).</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4</a:t>
            </a:r>
            <a:endParaRPr sz="2800">
              <a:solidFill>
                <a:srgbClr val="15803D"/>
              </a:solidFill>
            </a:endParaRP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Scale: the data are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times </a:t>
                </a:r>
                <a14:m>
                  <m:oMath xmlns:m="http://schemas.openxmlformats.org/officeDocument/2006/math">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50</m:t>
                    </m:r>
                  </m:oMath>
                </a14:m>
                <a:r>
                  <a:rPr sz="2400" b="0">
                    <a:solidFill>
                      <a:srgbClr val="78350F"/>
                    </a:solidFill>
                    <a:latin typeface="Arial"/>
                  </a:rPr>
                  <a:t>, and the mean deviation scales the same way.</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Scale: the data are </a:t>
                </a:r>
                <a:r>
                  <a:rPr lang="en-IN" sz="2400">
                    <a:solidFill>
                      <a:srgbClr val="78350F"/>
                    </a:solidFill>
                    <a:latin typeface="Cambria Math" panose="02040503050406030204" pitchFamily="18" charset="0"/>
                  </a:rPr>
                  <a:t>$|a|$</a:t>
                </a:r>
                <a:r>
                  <a:rPr sz="2400" b="0">
                    <a:solidFill>
                      <a:srgbClr val="78350F"/>
                    </a:solidFill>
                    <a:latin typeface="Arial"/>
                  </a:rPr>
                  <a:t> times </a:t>
                </a:r>
                <a:r>
                  <a:rPr lang="en-IN" sz="2400">
                    <a:solidFill>
                      <a:srgbClr val="78350F"/>
                    </a:solidFill>
                    <a:latin typeface="Cambria Math" panose="02040503050406030204" pitchFamily="18" charset="0"/>
                  </a:rPr>
                  <a:t>$1,2,\dots,50$</a:t>
                </a:r>
                <a:r>
                  <a:rPr sz="2400" b="0">
                    <a:solidFill>
                      <a:srgbClr val="78350F"/>
                    </a:solidFill>
                    <a:latin typeface="Arial"/>
                  </a:rPr>
                  <a:t>, and the mean deviation scales the same way.</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oMath>
                </a14:m>
                <a:r>
                  <a:rPr sz="2400" b="0">
                    <a:solidFill>
                      <a:srgbClr val="111827"/>
                    </a:solidFill>
                    <a:latin typeface="Arial"/>
                  </a:rPr>
                  <a:t> the median is </a:t>
                </a:r>
                <a14:m>
                  <m:oMath xmlns:m="http://schemas.openxmlformats.org/officeDocument/2006/math">
                    <m:r>
                      <a:rPr lang="en-IN" sz="2400" i="1">
                        <a:solidFill>
                          <a:srgbClr val="111827"/>
                        </a:solidFill>
                        <a:latin typeface="Cambria Math" panose="02040503050406030204" pitchFamily="18" charset="0"/>
                      </a:rPr>
                      <m:t>25.5</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625</m:t>
                    </m:r>
                  </m:oMath>
                </a14:m>
                <a:r>
                  <a:rPr sz="2400" b="0">
                    <a:solidFill>
                      <a:srgbClr val="111827"/>
                    </a:solidFill>
                    <a:latin typeface="Arial"/>
                  </a:rPr>
                  <a:t>, so the mean deviation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625</m:t>
                        </m:r>
                      </m:num>
                      <m:den>
                        <m:r>
                          <a:rPr lang="en-IN" sz="2400" i="1">
                            <a:solidFill>
                              <a:srgbClr val="111827"/>
                            </a:solidFill>
                            <a:latin typeface="Cambria Math" panose="02040503050406030204" pitchFamily="18" charset="0"/>
                          </a:rPr>
                          <m:t>50</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12.5</m:t>
                    </m:r>
                  </m:oMath>
                </a14:m>
                <a:r>
                  <a:rPr sz="2400" b="0">
                    <a:solidFill>
                      <a:srgbClr val="111827"/>
                    </a:solidFill>
                    <a:latin typeface="Arial"/>
                  </a:rPr>
                  <a:t> (this equals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for even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mean deviation of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r>
                      <a:rPr lang="en-IN" sz="2400" i="1">
                        <a:solidFill>
                          <a:srgbClr val="111827"/>
                        </a:solidFill>
                        <a:latin typeface="Cambria Math" panose="02040503050406030204" pitchFamily="18" charset="0"/>
                      </a:rPr>
                      <m:t>𝑎</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12.5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12.5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oMath>
                </a14:m>
                <a:r>
                  <a:rPr sz="2400" b="0">
                    <a:solidFill>
                      <a:srgbClr val="111827"/>
                    </a:solidFill>
                    <a:latin typeface="Arial"/>
                  </a:rPr>
                  <a:t> gives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the same answer.</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$1,2,\dots,50$</a:t>
                </a:r>
                <a:r>
                  <a:rPr sz="2400" b="0">
                    <a:solidFill>
                      <a:srgbClr val="111827"/>
                    </a:solidFill>
                    <a:latin typeface="Arial"/>
                  </a:rPr>
                  <a:t> the median is </a:t>
                </a:r>
                <a:r>
                  <a:rPr lang="en-IN" sz="2400">
                    <a:solidFill>
                      <a:srgbClr val="111827"/>
                    </a:solidFill>
                    <a:latin typeface="Cambria Math" panose="02040503050406030204" pitchFamily="18" charset="0"/>
                  </a:rPr>
                  <a:t>$25.5$</a:t>
                </a:r>
                <a:r>
                  <a:rPr sz="2400" b="0">
                    <a:solidFill>
                      <a:srgbClr val="111827"/>
                    </a:solidFill>
                    <a:latin typeface="Arial"/>
                  </a:rPr>
                  <a:t> and </a:t>
                </a:r>
                <a:r>
                  <a:rPr lang="en-IN" sz="2400">
                    <a:solidFill>
                      <a:srgbClr val="111827"/>
                    </a:solidFill>
                    <a:latin typeface="Cambria Math" panose="02040503050406030204" pitchFamily="18" charset="0"/>
                  </a:rPr>
                  <a:t>$\sum|x_i-25.5|=2(0.5+\cdots+24.5)=625$</a:t>
                </a:r>
                <a:r>
                  <a:rPr sz="2400" b="0">
                    <a:solidFill>
                      <a:srgbClr val="111827"/>
                    </a:solidFill>
                    <a:latin typeface="Arial"/>
                  </a:rPr>
                  <a:t>, so the mean deviation is </a:t>
                </a:r>
                <a:r>
                  <a:rPr lang="en-IN" sz="2400">
                    <a:solidFill>
                      <a:srgbClr val="111827"/>
                    </a:solidFill>
                    <a:latin typeface="Cambria Math" panose="02040503050406030204" pitchFamily="18" charset="0"/>
                  </a:rPr>
                  <a:t>$\frac{625}{50}=12.5$</a:t>
                </a:r>
                <a:r>
                  <a:rPr sz="2400" b="0">
                    <a:solidFill>
                      <a:srgbClr val="111827"/>
                    </a:solidFill>
                    <a:latin typeface="Arial"/>
                  </a:rPr>
                  <a:t> (this equals </a:t>
                </a:r>
                <a:r>
                  <a:rPr lang="en-IN" sz="2400">
                    <a:solidFill>
                      <a:srgbClr val="111827"/>
                    </a:solidFill>
                    <a:latin typeface="Cambria Math" panose="02040503050406030204" pitchFamily="18" charset="0"/>
                  </a:rPr>
                  <a:t>$\frac{n}{4}$</a:t>
                </a:r>
                <a:r>
                  <a:rPr sz="2400" b="0">
                    <a:solidFill>
                      <a:srgbClr val="111827"/>
                    </a:solidFill>
                    <a:latin typeface="Arial"/>
                  </a:rPr>
                  <a:t> for even </a:t>
                </a:r>
                <a:r>
                  <a:rPr lang="en-IN" sz="2400">
                    <a:solidFill>
                      <a:srgbClr val="111827"/>
                    </a:solidFill>
                    <a:latin typeface="Cambria Math" panose="02040503050406030204" pitchFamily="18" charset="0"/>
                  </a:rPr>
                  <a:t>$n$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mean deviation of </a:t>
                </a:r>
                <a:r>
                  <a:rPr lang="en-IN" sz="2400">
                    <a:solidFill>
                      <a:srgbClr val="111827"/>
                    </a:solidFill>
                    <a:latin typeface="Cambria Math" panose="02040503050406030204" pitchFamily="18" charset="0"/>
                  </a:rPr>
                  <a:t>$a,2a,\dots,50a$</a:t>
                </a:r>
                <a:r>
                  <a:rPr sz="2400" b="0">
                    <a:solidFill>
                      <a:srgbClr val="111827"/>
                    </a:solidFill>
                    <a:latin typeface="Arial"/>
                  </a:rPr>
                  <a:t> is </a:t>
                </a:r>
                <a:r>
                  <a:rPr lang="en-IN" sz="2400">
                    <a:solidFill>
                      <a:srgbClr val="111827"/>
                    </a:solidFill>
                    <a:latin typeface="Cambria Math" panose="02040503050406030204" pitchFamily="18" charset="0"/>
                  </a:rPr>
                  <a:t>$12.5|a|$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$12.5|a|=50$</a:t>
                </a:r>
                <a:r>
                  <a:rPr sz="2400" b="0">
                    <a:solidFill>
                      <a:srgbClr val="111827"/>
                    </a:solidFill>
                    <a:latin typeface="Arial"/>
                  </a:rPr>
                  <a:t> gives </a:t>
                </a:r>
                <a:r>
                  <a:rPr lang="en-IN" sz="2400">
                    <a:solidFill>
                      <a:srgbClr val="111827"/>
                    </a:solidFill>
                    <a:latin typeface="Cambria Math" panose="02040503050406030204" pitchFamily="18" charset="0"/>
                  </a:rPr>
                  <a:t>$|a|=4$</a:t>
                </a:r>
                <a:r>
                  <a:rPr sz="2400" b="0">
                    <a:solidFill>
                      <a:srgbClr val="111827"/>
                    </a:solidFill>
                    <a:latin typeface="Arial"/>
                  </a:rPr>
                  <a:t>, the same answer.</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4</a:t>
            </a:r>
            <a:endParaRPr sz="2800">
              <a:solidFill>
                <a:srgbClr val="15803D"/>
              </a:solidFill>
            </a:endParaRP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Mean deviation (about mean or median) of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for even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and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𝑛</m:t>
                        </m:r>
                      </m:den>
                    </m:f>
                  </m:oMath>
                </a14:m>
                <a:r>
                  <a:rPr sz="2400" b="0">
                    <a:solidFill>
                      <a:srgbClr val="111827"/>
                    </a:solidFill>
                    <a:latin typeface="Arial"/>
                  </a:rPr>
                  <a:t> for odd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Mean deviation about the median is the smallest possible mean deviation about any point.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Under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oMath>
                </a14:m>
                <a:r>
                  <a:rPr sz="2400" b="0">
                    <a:solidFill>
                      <a:srgbClr val="111827"/>
                    </a:solidFill>
                    <a:latin typeface="Arial"/>
                  </a:rPr>
                  <a:t>, MD scales by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Mean deviation (about mean or median) of </a:t>
                </a:r>
                <a:r>
                  <a:rPr lang="en-IN" sz="2400">
                    <a:solidFill>
                      <a:srgbClr val="111827"/>
                    </a:solidFill>
                    <a:latin typeface="Cambria Math" panose="02040503050406030204" pitchFamily="18" charset="0"/>
                  </a:rPr>
                  <a:t>$1,2,\dots,n$</a:t>
                </a:r>
                <a:r>
                  <a:rPr sz="2400" b="0">
                    <a:solidFill>
                      <a:srgbClr val="111827"/>
                    </a:solidFill>
                    <a:latin typeface="Arial"/>
                  </a:rPr>
                  <a:t> is </a:t>
                </a:r>
                <a:r>
                  <a:rPr lang="en-IN" sz="2400">
                    <a:solidFill>
                      <a:srgbClr val="111827"/>
                    </a:solidFill>
                    <a:latin typeface="Cambria Math" panose="02040503050406030204" pitchFamily="18" charset="0"/>
                  </a:rPr>
                  <a:t>$\frac{n}{4}$</a:t>
                </a:r>
                <a:r>
                  <a:rPr sz="2400" b="0">
                    <a:solidFill>
                      <a:srgbClr val="111827"/>
                    </a:solidFill>
                    <a:latin typeface="Arial"/>
                  </a:rPr>
                  <a:t> for even </a:t>
                </a:r>
                <a:r>
                  <a:rPr lang="en-IN" sz="2400">
                    <a:solidFill>
                      <a:srgbClr val="111827"/>
                    </a:solidFill>
                    <a:latin typeface="Cambria Math" panose="02040503050406030204" pitchFamily="18" charset="0"/>
                  </a:rPr>
                  <a:t>$n$</a:t>
                </a:r>
                <a:r>
                  <a:rPr sz="2400" b="0">
                    <a:solidFill>
                      <a:srgbClr val="111827"/>
                    </a:solidFill>
                    <a:latin typeface="Arial"/>
                  </a:rPr>
                  <a:t>, and </a:t>
                </a:r>
                <a:r>
                  <a:rPr lang="en-IN" sz="2400">
                    <a:solidFill>
                      <a:srgbClr val="111827"/>
                    </a:solidFill>
                    <a:latin typeface="Cambria Math" panose="02040503050406030204" pitchFamily="18" charset="0"/>
                  </a:rPr>
                  <a:t>$\frac{n^2-1}{4n}$</a:t>
                </a:r>
                <a:r>
                  <a:rPr sz="2400" b="0">
                    <a:solidFill>
                      <a:srgbClr val="111827"/>
                    </a:solidFill>
                    <a:latin typeface="Arial"/>
                  </a:rPr>
                  <a:t> for odd </a:t>
                </a:r>
                <a:r>
                  <a:rPr lang="en-IN" sz="2400">
                    <a:solidFill>
                      <a:srgbClr val="111827"/>
                    </a:solidFill>
                    <a:latin typeface="Cambria Math" panose="02040503050406030204" pitchFamily="18" charset="0"/>
                  </a:rPr>
                  <a:t>$n$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Mean deviation about the median is the smallest possible mean deviation about any point.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Under </a:t>
                </a:r>
                <a:r>
                  <a:rPr lang="en-IN" sz="2400">
                    <a:solidFill>
                      <a:srgbClr val="111827"/>
                    </a:solidFill>
                    <a:latin typeface="Cambria Math" panose="02040503050406030204" pitchFamily="18" charset="0"/>
                  </a:rPr>
                  <a:t>$y=kx+h$</a:t>
                </a:r>
                <a:r>
                  <a:rPr sz="2400" b="0">
                    <a:solidFill>
                      <a:srgbClr val="111827"/>
                    </a:solidFill>
                    <a:latin typeface="Arial"/>
                  </a:rPr>
                  <a:t>, MD scales by </a:t>
                </a:r>
                <a:r>
                  <a:rPr lang="en-IN" sz="2400">
                    <a:solidFill>
                      <a:srgbClr val="111827"/>
                    </a:solidFill>
                    <a:latin typeface="Cambria Math" panose="02040503050406030204" pitchFamily="18" charset="0"/>
                  </a:rPr>
                  <a:t>$|k|$</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731520" y="1280160"/>
            <a:ext cx="10725912" cy="28153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scientist is weighing each of 30 fishes. Their mean weight worked out is 30 gm and a standard deviation of 2 gm. Later, it was found that the measuring scale was misaligned and always under reported every fish weight by 2 gm. The correct mean and standard deviation (in gm) of fishes are respectively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28, 4   (B) 32, 2   (C) 32, 4   (D) 28, 2</a:t>
            </a:r>
            <a:endParaRPr sz="2400">
              <a:solidFill>
                <a:srgbClr val="111827"/>
              </a:solidFill>
            </a:endParaRPr>
          </a:p>
        </p:txBody>
      </p:sp>
      <p:sp>
        <p:nvSpPr>
          <p:cNvPr id="5" name="Rectangle 4"/>
          <p:cNvSpPr/>
          <p:nvPr/>
        </p:nvSpPr>
        <p:spPr>
          <a:xfrm>
            <a:off x="731520" y="4324095"/>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Effect of a change of origin on mean and standard deviation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Adding the same 2 gm to every weight shifts the mean and leaves the standard deviation unchanged.</a:t>
            </a:r>
            <a:endParaRPr sz="24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Every recorded weight is 2 gm too small, so each true weight is the recorded weight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True mean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m:t>
                    </m:r>
                  </m:oMath>
                </a14:m>
                <a:r>
                  <a:rPr sz="2400" b="0">
                    <a:solidFill>
                      <a:srgbClr val="111827"/>
                    </a:solidFill>
                    <a:latin typeface="Arial"/>
                  </a:rPr>
                  <a:t> gm.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Standard deviation is unchanged by adding a constant, so it stays 2 gm.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Correct (mean, s.d.)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option (B).</a:t>
                </a:r>
                <a:endParaRPr sz="2400">
                  <a:solidFill>
                    <a:srgbClr val="111827"/>
                  </a:solidFill>
                </a:endParaRPr>
              </a:p>
            </p:txBody>
          </p:sp>
        </mc:Choice>
        <mc:Fallback>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Every recorded weight is 2 gm too small, so each true weight is the recorded weight </a:t>
                </a:r>
                <a:r>
                  <a:rPr lang="en-IN" sz="2400">
                    <a:solidFill>
                      <a:srgbClr val="111827"/>
                    </a:solidFill>
                    <a:latin typeface="Cambria Math" panose="02040503050406030204" pitchFamily="18" charset="0"/>
                  </a:rPr>
                  <a:t>$+2$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True mean </a:t>
                </a:r>
                <a:r>
                  <a:rPr lang="en-IN" sz="2400">
                    <a:solidFill>
                      <a:srgbClr val="111827"/>
                    </a:solidFill>
                    <a:latin typeface="Cambria Math" panose="02040503050406030204" pitchFamily="18" charset="0"/>
                  </a:rPr>
                  <a:t>$=30+2=32$</a:t>
                </a:r>
                <a:r>
                  <a:rPr sz="2400" b="0">
                    <a:solidFill>
                      <a:srgbClr val="111827"/>
                    </a:solidFill>
                    <a:latin typeface="Arial"/>
                  </a:rPr>
                  <a:t> gm.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Standard deviation is unchanged by adding a constant, so it stays 2 gm.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Correct (mean, s.d.) </a:t>
                </a:r>
                <a:r>
                  <a:rPr lang="en-IN" sz="2400">
                    <a:solidFill>
                      <a:srgbClr val="111827"/>
                    </a:solidFill>
                    <a:latin typeface="Cambria Math" panose="02040503050406030204" pitchFamily="18" charset="0"/>
                  </a:rPr>
                  <a:t>$=(32,\,2)$</a:t>
                </a:r>
                <a:r>
                  <a:rPr sz="2400" b="0">
                    <a:solidFill>
                      <a:srgbClr val="111827"/>
                    </a:solidFill>
                    <a:latin typeface="Arial"/>
                  </a:rPr>
                  <a:t>, option (B).</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32, 2</a:t>
            </a:r>
            <a:endParaRPr sz="2800">
              <a:solidFill>
                <a:srgbClr val="15803D"/>
              </a:solidFill>
            </a:endParaRP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𝑦</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σ</m:t>
                        </m:r>
                      </m:e>
                      <m:sub>
                        <m:r>
                          <a:rPr lang="en-IN" sz="2400" i="1">
                            <a:solidFill>
                              <a:srgbClr val="111827"/>
                            </a:solidFill>
                            <a:latin typeface="Cambria Math" panose="02040503050406030204" pitchFamily="18" charset="0"/>
                          </a:rPr>
                          <m:t>𝑦</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σ</m:t>
                        </m:r>
                      </m:e>
                      <m:sub>
                        <m:r>
                          <a:rPr lang="en-IN" sz="2400" i="1">
                            <a:solidFill>
                              <a:srgbClr val="111827"/>
                            </a:solidFill>
                            <a:latin typeface="Cambria Math" panose="02040503050406030204" pitchFamily="18" charset="0"/>
                          </a:rPr>
                          <m:t>𝑥</m:t>
                        </m:r>
                      </m:sub>
                    </m:sSub>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𝑥</m:t>
                    </m:r>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𝑦</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σ</m:t>
                        </m:r>
                      </m:e>
                      <m:sub>
                        <m:r>
                          <a:rPr lang="en-IN" sz="2400" i="1">
                            <a:solidFill>
                              <a:srgbClr val="111827"/>
                            </a:solidFill>
                            <a:latin typeface="Cambria Math" panose="02040503050406030204" pitchFamily="18" charset="0"/>
                          </a:rPr>
                          <m:t>𝑦</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σ</m:t>
                        </m:r>
                      </m:e>
                      <m:sub>
                        <m:r>
                          <a:rPr lang="en-IN" sz="2400" i="1">
                            <a:solidFill>
                              <a:srgbClr val="111827"/>
                            </a:solidFill>
                            <a:latin typeface="Cambria Math" panose="02040503050406030204" pitchFamily="18" charset="0"/>
                          </a:rPr>
                          <m:t>𝑥</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An error of the same size on every reading changes the mean only; the spread is a property of differences between readings.</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$y=x+h$</a:t>
                </a:r>
                <a:r>
                  <a:rPr sz="2400" b="0">
                    <a:solidFill>
                      <a:srgbClr val="111827"/>
                    </a:solidFill>
                    <a:latin typeface="Arial"/>
                  </a:rPr>
                  <a:t>: </a:t>
                </a:r>
                <a:r>
                  <a:rPr lang="en-IN" sz="2400">
                    <a:solidFill>
                      <a:srgbClr val="111827"/>
                    </a:solidFill>
                    <a:latin typeface="Cambria Math" panose="02040503050406030204" pitchFamily="18" charset="0"/>
                  </a:rPr>
                  <a:t>$\bar{y}=\bar{x}+h$</a:t>
                </a:r>
                <a:r>
                  <a:rPr sz="2400" b="0">
                    <a:solidFill>
                      <a:srgbClr val="111827"/>
                    </a:solidFill>
                    <a:latin typeface="Arial"/>
                  </a:rPr>
                  <a:t>, </a:t>
                </a:r>
                <a:r>
                  <a:rPr lang="en-IN" sz="2400">
                    <a:solidFill>
                      <a:srgbClr val="111827"/>
                    </a:solidFill>
                    <a:latin typeface="Cambria Math" panose="02040503050406030204" pitchFamily="18" charset="0"/>
                  </a:rPr>
                  <a:t>$\sigma_y=\sigma_x$</a:t>
                </a:r>
                <a:r>
                  <a:rPr sz="2400" b="0">
                    <a:solidFill>
                      <a:srgbClr val="111827"/>
                    </a:solidFill>
                    <a:latin typeface="Arial"/>
                  </a:rPr>
                  <a:t>. </a:t>
                </a:r>
                <a:r>
                  <a:rPr lang="en-IN" sz="2400">
                    <a:solidFill>
                      <a:srgbClr val="111827"/>
                    </a:solidFill>
                    <a:latin typeface="Cambria Math" panose="02040503050406030204" pitchFamily="18" charset="0"/>
                  </a:rPr>
                  <a:t>$y=kx$</a:t>
                </a:r>
                <a:r>
                  <a:rPr sz="2400" b="0">
                    <a:solidFill>
                      <a:srgbClr val="111827"/>
                    </a:solidFill>
                    <a:latin typeface="Arial"/>
                  </a:rPr>
                  <a:t>: </a:t>
                </a:r>
                <a:r>
                  <a:rPr lang="en-IN" sz="2400">
                    <a:solidFill>
                      <a:srgbClr val="111827"/>
                    </a:solidFill>
                    <a:latin typeface="Cambria Math" panose="02040503050406030204" pitchFamily="18" charset="0"/>
                  </a:rPr>
                  <a:t>$\bar{y}=k\bar{x}$</a:t>
                </a:r>
                <a:r>
                  <a:rPr sz="2400" b="0">
                    <a:solidFill>
                      <a:srgbClr val="111827"/>
                    </a:solidFill>
                    <a:latin typeface="Arial"/>
                  </a:rPr>
                  <a:t>, </a:t>
                </a:r>
                <a:r>
                  <a:rPr lang="en-IN" sz="2400">
                    <a:solidFill>
                      <a:srgbClr val="111827"/>
                    </a:solidFill>
                    <a:latin typeface="Cambria Math" panose="02040503050406030204" pitchFamily="18" charset="0"/>
                  </a:rPr>
                  <a:t>$\sigma_y=|k|\sigma_x$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An error of the same size on every reading changes the mean only; the spread is a property of differences between readings.</a:t>
                </a:r>
                <a:endParaRPr sz="2400">
                  <a:solidFill>
                    <a:srgbClr val="111827"/>
                  </a:solidFill>
                </a:endParaRPr>
              </a:p>
            </p:txBody>
          </p:sp>
        </mc:Fallback>
      </mc:AlternateContent>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44932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𝑛</m:t>
                        </m:r>
                      </m:sub>
                    </m:sSub>
                  </m:oMath>
                </a14:m>
                <a:r>
                  <a:rPr sz="2400" b="0">
                    <a:solidFill>
                      <a:srgbClr val="111827"/>
                    </a:solidFill>
                    <a:latin typeface="Arial"/>
                  </a:rPr>
                  <a:t> be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observations, and let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oMath>
                </a14:m>
                <a:r>
                  <a:rPr sz="2400" b="0">
                    <a:solidFill>
                      <a:srgbClr val="111827"/>
                    </a:solidFill>
                    <a:latin typeface="Arial"/>
                  </a:rPr>
                  <a:t> be their arithmetic mean and </a:t>
                </a:r>
                <a14:m>
                  <m:oMath xmlns:m="http://schemas.openxmlformats.org/officeDocument/2006/math">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be their variance. Statement-1 : Variance of </a:t>
                </a:r>
                <a14:m>
                  <m:oMath xmlns:m="http://schemas.openxmlformats.org/officeDocument/2006/math">
                    <m:r>
                      <a:rPr lang="en-IN" sz="2400" i="1">
                        <a:solidFill>
                          <a:srgbClr val="111827"/>
                        </a:solidFill>
                        <a:latin typeface="Cambria Math" panose="02040503050406030204" pitchFamily="18" charset="0"/>
                      </a:rPr>
                      <m:t>2</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𝑛</m:t>
                        </m:r>
                      </m:sub>
                    </m:sSub>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Statement-2 : Arithmetic mean of </a:t>
                </a:r>
                <a14:m>
                  <m:oMath xmlns:m="http://schemas.openxmlformats.org/officeDocument/2006/math">
                    <m:r>
                      <a:rPr lang="en-IN" sz="2400" i="1">
                        <a:solidFill>
                          <a:srgbClr val="111827"/>
                        </a:solidFill>
                        <a:latin typeface="Cambria Math" panose="02040503050406030204" pitchFamily="18" charset="0"/>
                      </a:rPr>
                      <m:t>2</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𝑛</m:t>
                        </m:r>
                      </m:sub>
                    </m:sSub>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4</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oMath>
                </a14:m>
                <a:r>
                  <a:rPr sz="2400" b="0">
                    <a:solidFill>
                      <a:srgbClr val="111827"/>
                    </a:solidFill>
                    <a:latin typeface="Arial"/>
                  </a:rPr>
                  <a: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Statement-1 is true, Statement-2 is false.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Statement-2 is false, Statement-2 is true.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Statement-1 is true, Statement-2 is true; Statement-2 is a correct explanation for Statement-1</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Statement-1 is true, Statement-2 is true; Statement-2 is not a correct explanation for Statement-1</a:t>
                </a:r>
                <a:endParaRPr sz="2400">
                  <a:solidFill>
                    <a:srgbClr val="111827"/>
                  </a:solidFill>
                </a:endParaRPr>
              </a:p>
            </p:txBody>
          </p:sp>
        </mc:Choice>
        <mc:Fallback>
          <p:sp>
            <p:nvSpPr>
              <p:cNvPr id="4" name="Rounded Rectangle 3"/>
              <p:cNvSpPr/>
              <p:nvPr/>
            </p:nvSpPr>
            <p:spPr>
              <a:xfrm>
                <a:off x="731520" y="1280160"/>
                <a:ext cx="10725912" cy="44932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$x_1,x_2,\dots,x_n$</a:t>
                </a:r>
                <a:r>
                  <a:rPr sz="2400" b="0">
                    <a:solidFill>
                      <a:srgbClr val="111827"/>
                    </a:solidFill>
                    <a:latin typeface="Arial"/>
                  </a:rPr>
                  <a:t> be </a:t>
                </a:r>
                <a:r>
                  <a:rPr lang="en-IN" sz="2400">
                    <a:solidFill>
                      <a:srgbClr val="111827"/>
                    </a:solidFill>
                    <a:latin typeface="Cambria Math" panose="02040503050406030204" pitchFamily="18" charset="0"/>
                  </a:rPr>
                  <a:t>$n$</a:t>
                </a:r>
                <a:r>
                  <a:rPr sz="2400" b="0">
                    <a:solidFill>
                      <a:srgbClr val="111827"/>
                    </a:solidFill>
                    <a:latin typeface="Arial"/>
                  </a:rPr>
                  <a:t> observations, and let </a:t>
                </a:r>
                <a:r>
                  <a:rPr lang="en-IN" sz="2400">
                    <a:solidFill>
                      <a:srgbClr val="111827"/>
                    </a:solidFill>
                    <a:latin typeface="Cambria Math" panose="02040503050406030204" pitchFamily="18" charset="0"/>
                  </a:rPr>
                  <a:t>$\bar{x}$</a:t>
                </a:r>
                <a:r>
                  <a:rPr sz="2400" b="0">
                    <a:solidFill>
                      <a:srgbClr val="111827"/>
                    </a:solidFill>
                    <a:latin typeface="Arial"/>
                  </a:rPr>
                  <a:t> be their arithmetic mean and </a:t>
                </a:r>
                <a:r>
                  <a:rPr lang="en-IN" sz="2400">
                    <a:solidFill>
                      <a:srgbClr val="111827"/>
                    </a:solidFill>
                    <a:latin typeface="Cambria Math" panose="02040503050406030204" pitchFamily="18" charset="0"/>
                  </a:rPr>
                  <a:t>$\sigma^2$</a:t>
                </a:r>
                <a:r>
                  <a:rPr sz="2400" b="0">
                    <a:solidFill>
                      <a:srgbClr val="111827"/>
                    </a:solidFill>
                    <a:latin typeface="Arial"/>
                  </a:rPr>
                  <a:t> be their variance. Statement-1 : Variance of </a:t>
                </a:r>
                <a:r>
                  <a:rPr lang="en-IN" sz="2400">
                    <a:solidFill>
                      <a:srgbClr val="111827"/>
                    </a:solidFill>
                    <a:latin typeface="Cambria Math" panose="02040503050406030204" pitchFamily="18" charset="0"/>
                  </a:rPr>
                  <a:t>$2x_1,2x_2,\dots,2x_n$</a:t>
                </a:r>
                <a:r>
                  <a:rPr sz="2400" b="0">
                    <a:solidFill>
                      <a:srgbClr val="111827"/>
                    </a:solidFill>
                    <a:latin typeface="Arial"/>
                  </a:rPr>
                  <a:t> is </a:t>
                </a:r>
                <a:r>
                  <a:rPr lang="en-IN" sz="2400">
                    <a:solidFill>
                      <a:srgbClr val="111827"/>
                    </a:solidFill>
                    <a:latin typeface="Cambria Math" panose="02040503050406030204" pitchFamily="18" charset="0"/>
                  </a:rPr>
                  <a:t>$4\sigma^2$</a:t>
                </a:r>
                <a:r>
                  <a:rPr sz="2400" b="0">
                    <a:solidFill>
                      <a:srgbClr val="111827"/>
                    </a:solidFill>
                    <a:latin typeface="Arial"/>
                  </a:rPr>
                  <a:t>. Statement-2 : Arithmetic mean of </a:t>
                </a:r>
                <a:r>
                  <a:rPr lang="en-IN" sz="2400">
                    <a:solidFill>
                      <a:srgbClr val="111827"/>
                    </a:solidFill>
                    <a:latin typeface="Cambria Math" panose="02040503050406030204" pitchFamily="18" charset="0"/>
                  </a:rPr>
                  <a:t>$2x_1,2x_2,\dots,2x_n$</a:t>
                </a:r>
                <a:r>
                  <a:rPr sz="2400" b="0">
                    <a:solidFill>
                      <a:srgbClr val="111827"/>
                    </a:solidFill>
                    <a:latin typeface="Arial"/>
                  </a:rPr>
                  <a:t> is </a:t>
                </a:r>
                <a:r>
                  <a:rPr lang="en-IN" sz="2400">
                    <a:solidFill>
                      <a:srgbClr val="111827"/>
                    </a:solidFill>
                    <a:latin typeface="Cambria Math" panose="02040503050406030204" pitchFamily="18" charset="0"/>
                  </a:rPr>
                  <a:t>$4\bar{x}$</a:t>
                </a:r>
                <a:r>
                  <a:rPr sz="2400" b="0">
                    <a:solidFill>
                      <a:srgbClr val="111827"/>
                    </a:solidFill>
                    <a:latin typeface="Arial"/>
                  </a:rPr>
                  <a: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Statement-1 is true, Statement-2 is false.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Statement-2 is false, Statement-2 is true.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Statement-1 is true, Statement-2 is true; Statement-2 is a correct explanation for Statement-1</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Statement-1 is true, Statement-2 is true; Statement-2 is not a correct explanation for Statement-1</a:t>
                </a:r>
                <a:endParaRPr sz="2400">
                  <a:solidFill>
                    <a:srgbClr val="111827"/>
                  </a:solidFill>
                </a:endParaRPr>
              </a:p>
            </p:txBody>
          </p:sp>
        </mc:Fallback>
      </mc:AlternateContent>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ectangle 3"/>
          <p:cNvSpPr/>
          <p:nvPr/>
        </p:nvSpPr>
        <p:spPr>
          <a:xfrm>
            <a:off x="731520" y="128016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Mean and variance under multiplication of every observation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3438144"/>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Multiplying every observation by 2 multiplies the mean by 2 and the variance by </a:t>
                </a:r>
                <a14:m>
                  <m:oMath xmlns:m="http://schemas.openxmlformats.org/officeDocument/2006/math">
                    <m:sSup>
                      <m:e>
                        <m:r>
                          <a:rPr lang="en-IN" sz="2400" i="1">
                            <a:solidFill>
                              <a:srgbClr val="78350F"/>
                            </a:solidFill>
                            <a:latin typeface="Cambria Math" panose="02040503050406030204" pitchFamily="18" charset="0"/>
                          </a:rPr>
                          <m:t>2</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3438144"/>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Multiplying every observation by 2 multiplies the mean by 2 and the variance by </a:t>
                </a:r>
                <a:r>
                  <a:rPr lang="en-IN" sz="2400">
                    <a:solidFill>
                      <a:srgbClr val="78350F"/>
                    </a:solidFill>
                    <a:latin typeface="Cambria Math" panose="02040503050406030204" pitchFamily="18" charset="0"/>
                  </a:rPr>
                  <a:t>$2^2$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4684776"/>
                <a:ext cx="10725912" cy="19903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Variance of </a:t>
                </a:r>
                <a14:m>
                  <m:oMath xmlns:m="http://schemas.openxmlformats.org/officeDocument/2006/math">
                    <m:r>
                      <a:rPr lang="en-IN" sz="2400" i="1">
                        <a:solidFill>
                          <a:srgbClr val="111827"/>
                        </a:solidFill>
                        <a:latin typeface="Cambria Math" panose="02040503050406030204" pitchFamily="18" charset="0"/>
                      </a:rPr>
                      <m:t>2</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𝑛</m:t>
                        </m:r>
                      </m:den>
                    </m:f>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num>
                              <m:den>
                                <m:r>
                                  <a:rPr lang="en-IN" sz="2400" i="1">
                                    <a:solidFill>
                                      <a:srgbClr val="111827"/>
                                    </a:solidFill>
                                    <a:latin typeface="Cambria Math" panose="02040503050406030204" pitchFamily="18" charset="0"/>
                                  </a:rPr>
                                  <m:t>𝑛</m:t>
                                </m:r>
                              </m:den>
                            </m:f>
                          </m:e>
                        </m:d>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2</m:t>
                                </m:r>
                              </m:sup>
                            </m:sSubSup>
                          </m:num>
                          <m:den>
                            <m:r>
                              <a:rPr lang="en-IN" sz="2400" i="1">
                                <a:solidFill>
                                  <a:srgbClr val="111827"/>
                                </a:solidFill>
                                <a:latin typeface="Cambria Math" panose="02040503050406030204" pitchFamily="18" charset="0"/>
                              </a:rPr>
                              <m:t>𝑛</m:t>
                            </m:r>
                          </m:den>
                        </m:f>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num>
                                  <m:den>
                                    <m:r>
                                      <a:rPr lang="en-IN" sz="2400" i="1">
                                        <a:solidFill>
                                          <a:srgbClr val="111827"/>
                                        </a:solidFill>
                                        <a:latin typeface="Cambria Math" panose="02040503050406030204" pitchFamily="18" charset="0"/>
                                      </a:rPr>
                                      <m:t>𝑛</m:t>
                                    </m:r>
                                  </m:den>
                                </m:f>
                              </m:e>
                            </m:d>
                          </m:e>
                          <m:sup>
                            <m:r>
                              <a:rPr lang="en-IN" sz="2400" i="1">
                                <a:solidFill>
                                  <a:srgbClr val="111827"/>
                                </a:solidFill>
                                <a:latin typeface="Cambria Math" panose="02040503050406030204" pitchFamily="18" charset="0"/>
                              </a:rPr>
                              <m:t>2</m:t>
                            </m:r>
                          </m:sup>
                        </m:sSup>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so Statement-1 is true.</a:t>
                </a:r>
                <a:endParaRPr sz="2400">
                  <a:solidFill>
                    <a:srgbClr val="111827"/>
                  </a:solidFill>
                </a:endParaRPr>
              </a:p>
            </p:txBody>
          </p:sp>
        </mc:Choice>
        <mc:Fallback>
          <p:sp>
            <p:nvSpPr>
              <p:cNvPr id="6" name="Rectangle 5"/>
              <p:cNvSpPr/>
              <p:nvPr/>
            </p:nvSpPr>
            <p:spPr>
              <a:xfrm>
                <a:off x="731520" y="4684776"/>
                <a:ext cx="10725912" cy="19903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Variance of </a:t>
                </a:r>
                <a:r>
                  <a:rPr lang="en-IN" sz="2400">
                    <a:solidFill>
                      <a:srgbClr val="111827"/>
                    </a:solidFill>
                    <a:latin typeface="Cambria Math" panose="02040503050406030204" pitchFamily="18" charset="0"/>
                  </a:rPr>
                  <a:t>$2x_i$</a:t>
                </a:r>
                <a:r>
                  <a:rPr sz="2400" b="0">
                    <a:solidFill>
                      <a:srgbClr val="111827"/>
                    </a:solidFill>
                    <a:latin typeface="Arial"/>
                  </a:rPr>
                  <a:t> </a:t>
                </a:r>
                <a:r>
                  <a:rPr lang="en-IN" sz="2400">
                    <a:solidFill>
                      <a:srgbClr val="111827"/>
                    </a:solidFill>
                    <a:latin typeface="Cambria Math" panose="02040503050406030204" pitchFamily="18" charset="0"/>
                  </a:rPr>
                  <a:t>$=\frac{\sum(2x_i)^2}{n}-\left(\frac{\sum2x_i}{n}\right)^2$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$=4\left[\frac{\sum x_i^2}{n}-\left(\frac{\sum x_i}{n}\right)^2\right]=4\sigma^2$</a:t>
                </a:r>
                <a:r>
                  <a:rPr sz="2400" b="0">
                    <a:solidFill>
                      <a:srgbClr val="111827"/>
                    </a:solidFill>
                    <a:latin typeface="Arial"/>
                  </a:rPr>
                  <a:t>, so Statement-1 is true.</a:t>
                </a:r>
                <a:endParaRPr sz="2400">
                  <a:solidFill>
                    <a:srgbClr val="111827"/>
                  </a:solidFill>
                </a:endParaRPr>
              </a:p>
            </p:txBody>
          </p:sp>
        </mc:Fallback>
      </mc:AlternateContent>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Mean of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oMath>
                </a14:m>
                <a:r>
                  <a:rPr sz="2400" b="0">
                    <a:solidFill>
                      <a:srgbClr val="111827"/>
                    </a:solidFill>
                    <a:latin typeface="Arial"/>
                  </a:rPr>
                  <a:t> is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𝑛</m:t>
                            </m:r>
                          </m:sub>
                        </m:sSub>
                      </m:num>
                      <m:den>
                        <m:r>
                          <a:rPr lang="en-IN" sz="2400" i="1">
                            <a:solidFill>
                              <a:srgbClr val="111827"/>
                            </a:solidFill>
                            <a:latin typeface="Cambria Math" panose="02040503050406030204" pitchFamily="18" charset="0"/>
                          </a:rPr>
                          <m:t>𝑛</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Mean of </a:t>
                </a:r>
                <a14:m>
                  <m:oMath xmlns:m="http://schemas.openxmlformats.org/officeDocument/2006/math">
                    <m:r>
                      <a:rPr lang="en-IN" sz="2400" i="1">
                        <a:solidFill>
                          <a:srgbClr val="111827"/>
                        </a:solidFill>
                        <a:latin typeface="Cambria Math" panose="02040503050406030204" pitchFamily="18" charset="0"/>
                      </a:rPr>
                      <m:t>2</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𝑛</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oMath>
                </a14:m>
                <a:r>
                  <a:rPr sz="2400" b="0">
                    <a:solidFill>
                      <a:srgbClr val="111827"/>
                    </a:solidFill>
                    <a:latin typeface="Arial"/>
                  </a:rPr>
                  <a:t>, not </a:t>
                </a:r>
                <a14:m>
                  <m:oMath xmlns:m="http://schemas.openxmlformats.org/officeDocument/2006/math">
                    <m:r>
                      <a:rPr lang="en-IN" sz="2400" i="1">
                        <a:solidFill>
                          <a:srgbClr val="111827"/>
                        </a:solidFill>
                        <a:latin typeface="Cambria Math" panose="02040503050406030204" pitchFamily="18" charset="0"/>
                      </a:rPr>
                      <m:t>4</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oMath>
                </a14:m>
                <a:r>
                  <a:rPr sz="2400" b="0">
                    <a:solidFill>
                      <a:srgbClr val="111827"/>
                    </a:solidFill>
                    <a:latin typeface="Arial"/>
                  </a:rPr>
                  <a:t>, so Statement-2 is false.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Statement-1 true, Statement-2 false: option (A).</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Mean of </a:t>
                </a:r>
                <a:r>
                  <a:rPr lang="en-IN" sz="2400">
                    <a:solidFill>
                      <a:srgbClr val="111827"/>
                    </a:solidFill>
                    <a:latin typeface="Cambria Math" panose="02040503050406030204" pitchFamily="18" charset="0"/>
                  </a:rPr>
                  <a:t>$x_i$</a:t>
                </a:r>
                <a:r>
                  <a:rPr sz="2400" b="0">
                    <a:solidFill>
                      <a:srgbClr val="111827"/>
                    </a:solidFill>
                    <a:latin typeface="Arial"/>
                  </a:rPr>
                  <a:t> is </a:t>
                </a:r>
                <a:r>
                  <a:rPr lang="en-IN" sz="2400">
                    <a:solidFill>
                      <a:srgbClr val="111827"/>
                    </a:solidFill>
                    <a:latin typeface="Cambria Math" panose="02040503050406030204" pitchFamily="18" charset="0"/>
                  </a:rPr>
                  <a:t>$\bar{x}=\frac{x_1+\cdots+x_n}{n}$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Mean of </a:t>
                </a:r>
                <a:r>
                  <a:rPr lang="en-IN" sz="2400">
                    <a:solidFill>
                      <a:srgbClr val="111827"/>
                    </a:solidFill>
                    <a:latin typeface="Cambria Math" panose="02040503050406030204" pitchFamily="18" charset="0"/>
                  </a:rPr>
                  <a:t>$2x_i$</a:t>
                </a:r>
                <a:r>
                  <a:rPr sz="2400" b="0">
                    <a:solidFill>
                      <a:srgbClr val="111827"/>
                    </a:solidFill>
                    <a:latin typeface="Arial"/>
                  </a:rPr>
                  <a:t> </a:t>
                </a:r>
                <a:r>
                  <a:rPr lang="en-IN" sz="2400">
                    <a:solidFill>
                      <a:srgbClr val="111827"/>
                    </a:solidFill>
                    <a:latin typeface="Cambria Math" panose="02040503050406030204" pitchFamily="18" charset="0"/>
                  </a:rPr>
                  <a:t>$=\frac{2(x_1+\cdots+x_n)}{n}=2\bar{x}$</a:t>
                </a:r>
                <a:r>
                  <a:rPr sz="2400" b="0">
                    <a:solidFill>
                      <a:srgbClr val="111827"/>
                    </a:solidFill>
                    <a:latin typeface="Arial"/>
                  </a:rPr>
                  <a:t>, not </a:t>
                </a:r>
                <a:r>
                  <a:rPr lang="en-IN" sz="2400">
                    <a:solidFill>
                      <a:srgbClr val="111827"/>
                    </a:solidFill>
                    <a:latin typeface="Cambria Math" panose="02040503050406030204" pitchFamily="18" charset="0"/>
                  </a:rPr>
                  <a:t>$4\bar{x}$</a:t>
                </a:r>
                <a:r>
                  <a:rPr sz="2400" b="0">
                    <a:solidFill>
                      <a:srgbClr val="111827"/>
                    </a:solidFill>
                    <a:latin typeface="Arial"/>
                  </a:rPr>
                  <a:t>, so Statement-2 is false.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Statement-1 true, Statement-2 false: option (A).</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Statement-1 is true, Statement-2 is false.</a:t>
            </a:r>
            <a:endParaRPr sz="2800">
              <a:solidFill>
                <a:srgbClr val="15803D"/>
              </a:solidFill>
            </a:endParaRP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p:sp>
        <p:nvSpPr>
          <p:cNvPr id="5" name="Rounded Rectangle 4"/>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Test with a small data set.</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Take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mean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variance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Doubled data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mean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variance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Variance becomes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(Statement-1 consistent), but the mean is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oMath>
                </a14:m>
                <a:r>
                  <a:rPr sz="2400" b="0">
                    <a:solidFill>
                      <a:srgbClr val="111827"/>
                    </a:solidFill>
                    <a:latin typeface="Arial"/>
                  </a:rPr>
                  <a:t>, not </a:t>
                </a:r>
                <a14:m>
                  <m:oMath xmlns:m="http://schemas.openxmlformats.org/officeDocument/2006/math">
                    <m:r>
                      <a:rPr lang="en-IN" sz="2400" i="1">
                        <a:solidFill>
                          <a:srgbClr val="111827"/>
                        </a:solidFill>
                        <a:latin typeface="Cambria Math" panose="02040503050406030204" pitchFamily="18" charset="0"/>
                      </a:rPr>
                      <m:t>4</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Statement-1 holds and Statement-2 fails: option (A), the same answer.</a:t>
                </a:r>
                <a:endParaRPr sz="2400">
                  <a:solidFill>
                    <a:srgbClr val="111827"/>
                  </a:solidFill>
                </a:endParaRPr>
              </a:p>
            </p:txBody>
          </p:sp>
        </mc:Choice>
        <mc:Fallback>
          <p:sp>
            <p:nvSpPr>
              <p:cNvPr id="6" name="Rectangle 5"/>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Take </a:t>
                </a:r>
                <a:r>
                  <a:rPr lang="en-IN" sz="2400">
                    <a:solidFill>
                      <a:srgbClr val="111827"/>
                    </a:solidFill>
                    <a:latin typeface="Cambria Math" panose="02040503050406030204" pitchFamily="18" charset="0"/>
                  </a:rPr>
                  <a:t>$\{0,2\}$</a:t>
                </a:r>
                <a:r>
                  <a:rPr sz="2400" b="0">
                    <a:solidFill>
                      <a:srgbClr val="111827"/>
                    </a:solidFill>
                    <a:latin typeface="Arial"/>
                  </a:rPr>
                  <a:t>: mean </a:t>
                </a:r>
                <a:r>
                  <a:rPr lang="en-IN" sz="2400">
                    <a:solidFill>
                      <a:srgbClr val="111827"/>
                    </a:solidFill>
                    <a:latin typeface="Cambria Math" panose="02040503050406030204" pitchFamily="18" charset="0"/>
                  </a:rPr>
                  <a:t>$1$</a:t>
                </a:r>
                <a:r>
                  <a:rPr sz="2400" b="0">
                    <a:solidFill>
                      <a:srgbClr val="111827"/>
                    </a:solidFill>
                    <a:latin typeface="Arial"/>
                  </a:rPr>
                  <a:t>, variance </a:t>
                </a:r>
                <a:r>
                  <a:rPr lang="en-IN" sz="2400">
                    <a:solidFill>
                      <a:srgbClr val="111827"/>
                    </a:solidFill>
                    <a:latin typeface="Cambria Math" panose="02040503050406030204" pitchFamily="18" charset="0"/>
                  </a:rPr>
                  <a:t>$1$</a:t>
                </a:r>
                <a:r>
                  <a:rPr sz="2400" b="0">
                    <a:solidFill>
                      <a:srgbClr val="111827"/>
                    </a:solidFill>
                    <a:latin typeface="Arial"/>
                  </a:rPr>
                  <a:t>. Doubled data </a:t>
                </a:r>
                <a:r>
                  <a:rPr lang="en-IN" sz="2400">
                    <a:solidFill>
                      <a:srgbClr val="111827"/>
                    </a:solidFill>
                    <a:latin typeface="Cambria Math" panose="02040503050406030204" pitchFamily="18" charset="0"/>
                  </a:rPr>
                  <a:t>$\{0,4\}$</a:t>
                </a:r>
                <a:r>
                  <a:rPr sz="2400" b="0">
                    <a:solidFill>
                      <a:srgbClr val="111827"/>
                    </a:solidFill>
                    <a:latin typeface="Arial"/>
                  </a:rPr>
                  <a:t>: mean </a:t>
                </a:r>
                <a:r>
                  <a:rPr lang="en-IN" sz="2400">
                    <a:solidFill>
                      <a:srgbClr val="111827"/>
                    </a:solidFill>
                    <a:latin typeface="Cambria Math" panose="02040503050406030204" pitchFamily="18" charset="0"/>
                  </a:rPr>
                  <a:t>$2$</a:t>
                </a:r>
                <a:r>
                  <a:rPr sz="2400" b="0">
                    <a:solidFill>
                      <a:srgbClr val="111827"/>
                    </a:solidFill>
                    <a:latin typeface="Arial"/>
                  </a:rPr>
                  <a:t>, variance </a:t>
                </a:r>
                <a:r>
                  <a:rPr lang="en-IN" sz="2400">
                    <a:solidFill>
                      <a:srgbClr val="111827"/>
                    </a:solidFill>
                    <a:latin typeface="Cambria Math" panose="02040503050406030204" pitchFamily="18" charset="0"/>
                  </a:rPr>
                  <a:t>$4$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Variance becomes </a:t>
                </a:r>
                <a:r>
                  <a:rPr lang="en-IN" sz="2400">
                    <a:solidFill>
                      <a:srgbClr val="111827"/>
                    </a:solidFill>
                    <a:latin typeface="Cambria Math" panose="02040503050406030204" pitchFamily="18" charset="0"/>
                  </a:rPr>
                  <a:t>$4\times1$</a:t>
                </a:r>
                <a:r>
                  <a:rPr sz="2400" b="0">
                    <a:solidFill>
                      <a:srgbClr val="111827"/>
                    </a:solidFill>
                    <a:latin typeface="Arial"/>
                  </a:rPr>
                  <a:t> (Statement-1 consistent), but the mean is </a:t>
                </a:r>
                <a:r>
                  <a:rPr lang="en-IN" sz="2400">
                    <a:solidFill>
                      <a:srgbClr val="111827"/>
                    </a:solidFill>
                    <a:latin typeface="Cambria Math" panose="02040503050406030204" pitchFamily="18" charset="0"/>
                  </a:rPr>
                  <a:t>$2=2\bar{x}$</a:t>
                </a:r>
                <a:r>
                  <a:rPr sz="2400" b="0">
                    <a:solidFill>
                      <a:srgbClr val="111827"/>
                    </a:solidFill>
                    <a:latin typeface="Arial"/>
                  </a:rPr>
                  <a:t>, not </a:t>
                </a:r>
                <a:r>
                  <a:rPr lang="en-IN" sz="2400">
                    <a:solidFill>
                      <a:srgbClr val="111827"/>
                    </a:solidFill>
                    <a:latin typeface="Cambria Math" panose="02040503050406030204" pitchFamily="18" charset="0"/>
                  </a:rPr>
                  <a:t>$4\bar{x}=4$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Statement-1 holds and Statement-2 fails: option (A), the same answer.</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Statement-1 is true, Statement-2 is false.</a:t>
            </a:r>
            <a:endParaRPr sz="2800">
              <a:solidFill>
                <a:srgbClr val="15803D"/>
              </a:solidFill>
            </a:endParaRP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Under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𝑥</m:t>
                    </m:r>
                  </m:oMath>
                </a14:m>
                <a:r>
                  <a:rPr sz="2400" b="0">
                    <a:solidFill>
                      <a:srgbClr val="111827"/>
                    </a:solidFill>
                    <a:latin typeface="Arial"/>
                  </a:rPr>
                  <a:t>: mean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 standard deviation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variance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Mean deviation and range scale by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coefficient of variation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σ</m:t>
                        </m:r>
                      </m:num>
                      <m:den>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den>
                    </m:f>
                  </m:oMath>
                </a14:m>
                <a:r>
                  <a:rPr sz="2400" b="0">
                    <a:solidFill>
                      <a:srgbClr val="111827"/>
                    </a:solidFill>
                    <a:latin typeface="Arial"/>
                  </a:rPr>
                  <a:t> is unchanged.</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Under </a:t>
                </a:r>
                <a:r>
                  <a:rPr lang="en-IN" sz="2400">
                    <a:solidFill>
                      <a:srgbClr val="111827"/>
                    </a:solidFill>
                    <a:latin typeface="Cambria Math" panose="02040503050406030204" pitchFamily="18" charset="0"/>
                  </a:rPr>
                  <a:t>$y=kx$</a:t>
                </a:r>
                <a:r>
                  <a:rPr sz="2400" b="0">
                    <a:solidFill>
                      <a:srgbClr val="111827"/>
                    </a:solidFill>
                    <a:latin typeface="Arial"/>
                  </a:rPr>
                  <a:t>: mean </a:t>
                </a:r>
                <a:r>
                  <a:rPr lang="en-IN" sz="2400">
                    <a:solidFill>
                      <a:srgbClr val="111827"/>
                    </a:solidFill>
                    <a:latin typeface="Cambria Math" panose="02040503050406030204" pitchFamily="18" charset="0"/>
                  </a:rPr>
                  <a:t>$\times k$</a:t>
                </a:r>
                <a:r>
                  <a:rPr sz="2400" b="0">
                    <a:solidFill>
                      <a:srgbClr val="111827"/>
                    </a:solidFill>
                    <a:latin typeface="Arial"/>
                  </a:rPr>
                  <a:t>, standard deviation </a:t>
                </a:r>
                <a:r>
                  <a:rPr lang="en-IN" sz="2400">
                    <a:solidFill>
                      <a:srgbClr val="111827"/>
                    </a:solidFill>
                    <a:latin typeface="Cambria Math" panose="02040503050406030204" pitchFamily="18" charset="0"/>
                  </a:rPr>
                  <a:t>$\times|k|$</a:t>
                </a:r>
                <a:r>
                  <a:rPr sz="2400" b="0">
                    <a:solidFill>
                      <a:srgbClr val="111827"/>
                    </a:solidFill>
                    <a:latin typeface="Arial"/>
                  </a:rPr>
                  <a:t>, variance </a:t>
                </a:r>
                <a:r>
                  <a:rPr lang="en-IN" sz="2400">
                    <a:solidFill>
                      <a:srgbClr val="111827"/>
                    </a:solidFill>
                    <a:latin typeface="Cambria Math" panose="02040503050406030204" pitchFamily="18" charset="0"/>
                  </a:rPr>
                  <a:t>$\times k^2$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Mean deviation and range scale by </a:t>
                </a:r>
                <a:r>
                  <a:rPr lang="en-IN" sz="2400">
                    <a:solidFill>
                      <a:srgbClr val="111827"/>
                    </a:solidFill>
                    <a:latin typeface="Cambria Math" panose="02040503050406030204" pitchFamily="18" charset="0"/>
                  </a:rPr>
                  <a:t>$|k|$</a:t>
                </a:r>
                <a:r>
                  <a:rPr sz="2400" b="0">
                    <a:solidFill>
                      <a:srgbClr val="111827"/>
                    </a:solidFill>
                    <a:latin typeface="Arial"/>
                  </a:rPr>
                  <a:t>; coefficient of variation </a:t>
                </a:r>
                <a:r>
                  <a:rPr lang="en-IN" sz="2400">
                    <a:solidFill>
                      <a:srgbClr val="111827"/>
                    </a:solidFill>
                    <a:latin typeface="Cambria Math" panose="02040503050406030204" pitchFamily="18" charset="0"/>
                  </a:rPr>
                  <a:t>$\frac{\sigma}{\bar{x}}$</a:t>
                </a:r>
                <a:r>
                  <a:rPr sz="2400" b="0">
                    <a:solidFill>
                      <a:srgbClr val="111827"/>
                    </a:solidFill>
                    <a:latin typeface="Arial"/>
                  </a:rPr>
                  <a:t> is unchanged.</a:t>
                </a:r>
                <a:endParaRPr sz="2400">
                  <a:solidFill>
                    <a:srgbClr val="111827"/>
                  </a:solidFill>
                </a:endParaRPr>
              </a:p>
            </p:txBody>
          </p:sp>
        </mc:Fallback>
      </mc:AlternateContent>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731520" y="1280160"/>
            <a:ext cx="10725912" cy="244348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All the students of a class performed poorly in Mathematics. The teacher decided to give grace marks of 10 to each of the students. Which of the following statistical measures will not change even after the grace marks were given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mean   (B) median   (C) mode   (D) variance</a:t>
            </a:r>
            <a:endParaRPr sz="2400">
              <a:solidFill>
                <a:srgbClr val="111827"/>
              </a:solidFill>
            </a:endParaRPr>
          </a:p>
        </p:txBody>
      </p:sp>
      <p:sp>
        <p:nvSpPr>
          <p:cNvPr id="5" name="Rectangle 4"/>
          <p:cNvSpPr/>
          <p:nvPr/>
        </p:nvSpPr>
        <p:spPr>
          <a:xfrm>
            <a:off x="731520" y="3952239"/>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Effect of grace marks on statistical measures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Adding a constant moves every location measure but not the spread.</a:t>
            </a:r>
            <a:endParaRPr sz="24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Every observation becomes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mean, median and mode each increase by 10.</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deviations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oMath>
                </a14:m>
                <a:r>
                  <a:rPr sz="2400" b="0">
                    <a:solidFill>
                      <a:srgbClr val="111827"/>
                    </a:solidFill>
                    <a:latin typeface="Arial"/>
                  </a:rPr>
                  <a:t> are unchanged by adding a constant to every observation, so the variance (and standard deviation) does not change.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measure that does not change is the variance, option (D).</a:t>
                </a:r>
                <a:endParaRPr sz="2400">
                  <a:solidFill>
                    <a:srgbClr val="111827"/>
                  </a:solidFill>
                </a:endParaRPr>
              </a:p>
            </p:txBody>
          </p:sp>
        </mc:Choice>
        <mc:Fallback>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Every observation becomes </a:t>
                </a:r>
                <a:r>
                  <a:rPr lang="en-IN" sz="2400">
                    <a:solidFill>
                      <a:srgbClr val="111827"/>
                    </a:solidFill>
                    <a:latin typeface="Cambria Math" panose="02040503050406030204" pitchFamily="18" charset="0"/>
                  </a:rPr>
                  <a:t>$x_i+10$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mean, median and mode each increase by 10.</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deviations </a:t>
                </a:r>
                <a:r>
                  <a:rPr lang="en-IN" sz="2400">
                    <a:solidFill>
                      <a:srgbClr val="111827"/>
                    </a:solidFill>
                    <a:latin typeface="Cambria Math" panose="02040503050406030204" pitchFamily="18" charset="0"/>
                  </a:rPr>
                  <a:t>$x_i-\bar{x}$</a:t>
                </a:r>
                <a:r>
                  <a:rPr sz="2400" b="0">
                    <a:solidFill>
                      <a:srgbClr val="111827"/>
                    </a:solidFill>
                    <a:latin typeface="Arial"/>
                  </a:rPr>
                  <a:t> are unchanged by adding a constant to every observation, so the variance (and standard deviation) does not change.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measure that does not change is the variance, option (D).</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variance</a:t>
            </a:r>
            <a:endParaRPr sz="2800">
              <a:solidFill>
                <a:srgbClr val="15803D"/>
              </a:solidFill>
            </a:endParaRP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Measures of location shift with the data; measures of spread (variance, s.d., range, mean deviation) do not.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Adding the same grace marks to all students keeps every pairwise difference of marks the same.</a:t>
            </a:r>
            <a:endParaRPr sz="2400">
              <a:solidFill>
                <a:srgbClr val="111827"/>
              </a:solidFill>
            </a:endParaRP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variance of the first 50 even natural numbers is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437   (B)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437</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(C)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833</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(D) 833</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variance of the first 50 even natural numbers is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437   (B) </a:t>
                </a:r>
                <a:r>
                  <a:rPr lang="en-IN" sz="2400">
                    <a:solidFill>
                      <a:srgbClr val="111827"/>
                    </a:solidFill>
                    <a:latin typeface="Cambria Math" panose="02040503050406030204" pitchFamily="18" charset="0"/>
                  </a:rPr>
                  <a:t>$\frac{437}{4}$</a:t>
                </a:r>
                <a:r>
                  <a:rPr sz="2400" b="0">
                    <a:solidFill>
                      <a:srgbClr val="111827"/>
                    </a:solidFill>
                    <a:latin typeface="Arial"/>
                  </a:rPr>
                  <a:t>   (C) </a:t>
                </a:r>
                <a:r>
                  <a:rPr lang="en-IN" sz="2400">
                    <a:solidFill>
                      <a:srgbClr val="111827"/>
                    </a:solidFill>
                    <a:latin typeface="Cambria Math" panose="02040503050406030204" pitchFamily="18" charset="0"/>
                  </a:rPr>
                  <a:t>$\frac{833}{4}$</a:t>
                </a:r>
                <a:r>
                  <a:rPr sz="2400" b="0">
                    <a:solidFill>
                      <a:srgbClr val="111827"/>
                    </a:solidFill>
                    <a:latin typeface="Arial"/>
                  </a:rPr>
                  <a:t>   (D) 833</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3246120"/>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Variance of the first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even natural numbers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mc:Choice>
        <mc:Fallback>
          <p:sp>
            <p:nvSpPr>
              <p:cNvPr id="5" name="Rectangle 4"/>
              <p:cNvSpPr/>
              <p:nvPr/>
            </p:nvSpPr>
            <p:spPr>
              <a:xfrm>
                <a:off x="731520" y="3246120"/>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Variance of the first </a:t>
                </a:r>
                <a:r>
                  <a:rPr lang="en-IN" sz="2400">
                    <a:solidFill>
                      <a:srgbClr val="111827"/>
                    </a:solidFill>
                    <a:latin typeface="Cambria Math" panose="02040503050406030204" pitchFamily="18" charset="0"/>
                  </a:rPr>
                  <a:t>$n$</a:t>
                </a:r>
                <a:r>
                  <a:rPr sz="2400" b="0">
                    <a:solidFill>
                      <a:srgbClr val="111827"/>
                    </a:solidFill>
                    <a:latin typeface="Arial"/>
                  </a:rPr>
                  <a:t> even natural numbers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mc:Fallback>
      </mc:AlternateContent>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Mean of </a:t>
                </a:r>
                <a14:m>
                  <m:oMath xmlns:m="http://schemas.openxmlformats.org/officeDocument/2006/math">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100</m:t>
                    </m:r>
                  </m:oMath>
                </a14:m>
                <a:r>
                  <a:rPr sz="2400" b="0">
                    <a:solidFill>
                      <a:srgbClr val="78350F"/>
                    </a:solidFill>
                    <a:latin typeface="Arial"/>
                  </a:rPr>
                  <a:t> is 51; use </a:t>
                </a:r>
                <a14:m>
                  <m:oMath xmlns:m="http://schemas.openxmlformats.org/officeDocument/2006/math">
                    <m:sSup>
                      <m:e>
                        <m:r>
                          <a:rPr lang="en-IN" sz="2400" i="1">
                            <a:solidFill>
                              <a:srgbClr val="78350F"/>
                            </a:solidFill>
                            <a:latin typeface="Cambria Math" panose="02040503050406030204" pitchFamily="18" charset="0"/>
                          </a:rPr>
                          <m:t>σ</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num>
                      <m:den>
                        <m:r>
                          <a:rPr lang="en-IN" sz="2400" i="1">
                            <a:solidFill>
                              <a:srgbClr val="78350F"/>
                            </a:solidFill>
                            <a:latin typeface="Cambria Math" panose="02040503050406030204" pitchFamily="18" charset="0"/>
                          </a:rPr>
                          <m:t>𝑛</m:t>
                        </m:r>
                      </m:den>
                    </m:f>
                    <m:r>
                      <m:rPr>
                        <m:sty m:val="p"/>
                      </m:rPr>
                      <a:rPr lang="en-IN" sz="2400">
                        <a:solidFill>
                          <a:srgbClr val="78350F"/>
                        </a:solidFill>
                        <a:latin typeface="Cambria Math" panose="02040503050406030204" pitchFamily="18" charset="0"/>
                      </a:rPr>
                      <m:t>−</m:t>
                    </m:r>
                    <m:sSup>
                      <m:e>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𝑥</m:t>
                            </m:r>
                          </m:e>
                        </m:acc>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with </a:t>
                </a:r>
                <a14:m>
                  <m:oMath xmlns:m="http://schemas.openxmlformats.org/officeDocument/2006/math">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𝑘</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Mean of </a:t>
                </a:r>
                <a:r>
                  <a:rPr lang="en-IN" sz="2400">
                    <a:solidFill>
                      <a:srgbClr val="78350F"/>
                    </a:solidFill>
                    <a:latin typeface="Cambria Math" panose="02040503050406030204" pitchFamily="18" charset="0"/>
                  </a:rPr>
                  <a:t>$2,4,\dots,100$</a:t>
                </a:r>
                <a:r>
                  <a:rPr sz="2400" b="0">
                    <a:solidFill>
                      <a:srgbClr val="78350F"/>
                    </a:solidFill>
                    <a:latin typeface="Arial"/>
                  </a:rPr>
                  <a:t> is 51; use </a:t>
                </a:r>
                <a:r>
                  <a:rPr lang="en-IN" sz="2400">
                    <a:solidFill>
                      <a:srgbClr val="78350F"/>
                    </a:solidFill>
                    <a:latin typeface="Cambria Math" panose="02040503050406030204" pitchFamily="18" charset="0"/>
                  </a:rPr>
                  <a:t>$\sigma^2=\frac{\sum x^2}{n}-\bar{x}^2$</a:t>
                </a:r>
                <a:r>
                  <a:rPr sz="2400" b="0">
                    <a:solidFill>
                      <a:srgbClr val="78350F"/>
                    </a:solidFill>
                    <a:latin typeface="Arial"/>
                  </a:rPr>
                  <a:t> with </a:t>
                </a:r>
                <a:r>
                  <a:rPr lang="en-IN" sz="2400">
                    <a:solidFill>
                      <a:srgbClr val="78350F"/>
                    </a:solidFill>
                    <a:latin typeface="Cambria Math" panose="02040503050406030204" pitchFamily="18" charset="0"/>
                  </a:rPr>
                  <a:t>$\sum x^2=4\sum k^2$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636520"/>
                <a:ext cx="10725912" cy="315163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numbers are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oMath>
                </a14:m>
                <a:r>
                  <a:rPr sz="2400" b="0">
                    <a:solidFill>
                      <a:srgbClr val="111827"/>
                    </a:solidFill>
                    <a:latin typeface="Arial"/>
                  </a:rPr>
                  <a:t>; their sum is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51</m:t>
                    </m:r>
                  </m:oMath>
                </a14:m>
                <a:r>
                  <a:rPr sz="2400" b="0">
                    <a:solidFill>
                      <a:srgbClr val="111827"/>
                    </a:solidFill>
                    <a:latin typeface="Arial"/>
                  </a:rPr>
                  <a:t>, so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50</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50</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50</m:t>
                        </m:r>
                      </m:den>
                    </m:f>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51</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1</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50</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101</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42925</m:t>
                    </m:r>
                  </m:oMath>
                </a14:m>
                <a:r>
                  <a:rPr sz="2400" b="0">
                    <a:solidFill>
                      <a:srgbClr val="111827"/>
                    </a:solidFill>
                    <a:latin typeface="Arial"/>
                  </a:rPr>
                  <a:t>, 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42925</m:t>
                        </m:r>
                      </m:num>
                      <m:den>
                        <m:r>
                          <a:rPr lang="en-IN" sz="2400" i="1">
                            <a:solidFill>
                              <a:srgbClr val="111827"/>
                            </a:solidFill>
                            <a:latin typeface="Cambria Math" panose="02040503050406030204" pitchFamily="18" charset="0"/>
                          </a:rPr>
                          <m:t>50</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3434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3434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2601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833</m:t>
                    </m:r>
                  </m:oMath>
                </a14:m>
                <a:r>
                  <a:rPr sz="2400" b="0">
                    <a:solidFill>
                      <a:srgbClr val="111827"/>
                    </a:solidFill>
                    <a:latin typeface="Arial"/>
                  </a:rPr>
                  <a:t>, option (D).</a:t>
                </a:r>
                <a:endParaRPr sz="2400">
                  <a:solidFill>
                    <a:srgbClr val="111827"/>
                  </a:solidFill>
                </a:endParaRPr>
              </a:p>
            </p:txBody>
          </p:sp>
        </mc:Choice>
        <mc:Fallback>
          <p:sp>
            <p:nvSpPr>
              <p:cNvPr id="5" name="Rectangle 4"/>
              <p:cNvSpPr/>
              <p:nvPr/>
            </p:nvSpPr>
            <p:spPr>
              <a:xfrm>
                <a:off x="731520" y="2636520"/>
                <a:ext cx="10725912" cy="315163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numbers are </a:t>
                </a:r>
                <a:r>
                  <a:rPr lang="en-IN" sz="2400">
                    <a:solidFill>
                      <a:srgbClr val="111827"/>
                    </a:solidFill>
                    <a:latin typeface="Cambria Math" panose="02040503050406030204" pitchFamily="18" charset="0"/>
                  </a:rPr>
                  <a:t>$2,4,6,\dots,100$</a:t>
                </a:r>
                <a:r>
                  <a:rPr sz="2400" b="0">
                    <a:solidFill>
                      <a:srgbClr val="111827"/>
                    </a:solidFill>
                    <a:latin typeface="Arial"/>
                  </a:rPr>
                  <a:t>; their sum is </a:t>
                </a:r>
                <a:r>
                  <a:rPr lang="en-IN" sz="2400">
                    <a:solidFill>
                      <a:srgbClr val="111827"/>
                    </a:solidFill>
                    <a:latin typeface="Cambria Math" panose="02040503050406030204" pitchFamily="18" charset="0"/>
                  </a:rPr>
                  <a:t>$2(1+2+\cdots+50)=50\times51$</a:t>
                </a:r>
                <a:r>
                  <a:rPr sz="2400" b="0">
                    <a:solidFill>
                      <a:srgbClr val="111827"/>
                    </a:solidFill>
                    <a:latin typeface="Arial"/>
                  </a:rPr>
                  <a:t>, so </a:t>
                </a:r>
                <a:r>
                  <a:rPr lang="en-IN" sz="2400">
                    <a:solidFill>
                      <a:srgbClr val="111827"/>
                    </a:solidFill>
                    <a:latin typeface="Cambria Math" panose="02040503050406030204" pitchFamily="18" charset="0"/>
                  </a:rPr>
                  <a:t>$\bar{x}=51$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 x_i^2=4\,(1^2+2^2+\cdots+50^2)$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$\sigma^2=\frac{4\,(1^2+2^2+\cdots+50^2)}{50}-51^2$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$1^2+\cdots+50^2=\frac{50\cdot51\cdot101}{6}=42925$</a:t>
                </a:r>
                <a:r>
                  <a:rPr sz="2400" b="0">
                    <a:solidFill>
                      <a:srgbClr val="111827"/>
                    </a:solidFill>
                    <a:latin typeface="Arial"/>
                  </a:rPr>
                  <a:t>, so </a:t>
                </a:r>
                <a:r>
                  <a:rPr lang="en-IN" sz="2400">
                    <a:solidFill>
                      <a:srgbClr val="111827"/>
                    </a:solidFill>
                    <a:latin typeface="Cambria Math" panose="02040503050406030204" pitchFamily="18" charset="0"/>
                  </a:rPr>
                  <a:t>$\frac{4\times42925}{50}=3434$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$\sigma^2=3434-2601=833$</a:t>
                </a:r>
                <a:r>
                  <a:rPr sz="2400" b="0">
                    <a:solidFill>
                      <a:srgbClr val="111827"/>
                    </a:solidFill>
                    <a:latin typeface="Arial"/>
                  </a:rPr>
                  <a:t>, option (D).</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833</a:t>
            </a:r>
            <a:endParaRPr sz="2800">
              <a:solidFill>
                <a:srgbClr val="15803D"/>
              </a:solidFill>
            </a:endParaRP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847344"/>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the closed form </a:t>
                </a:r>
                <a14:m>
                  <m:oMath xmlns:m="http://schemas.openxmlformats.org/officeDocument/2006/math">
                    <m:f>
                      <m:fPr>
                        <m:type m:val="bar"/>
                        <m:ctrlPr>
                          <a:rPr lang="en-IN" sz="2400" i="1">
                            <a:solidFill>
                              <a:srgbClr val="78350F"/>
                            </a:solidFill>
                            <a:latin typeface="Cambria Math" panose="02040503050406030204" pitchFamily="18" charset="0"/>
                          </a:rPr>
                        </m:ctrlPr>
                      </m:fPr>
                      <m:num>
                        <m:sSup>
                          <m:e>
                            <m:r>
                              <a:rPr lang="en-IN" sz="2400" i="1">
                                <a:solidFill>
                                  <a:srgbClr val="78350F"/>
                                </a:solidFill>
                                <a:latin typeface="Cambria Math" panose="02040503050406030204" pitchFamily="18" charset="0"/>
                              </a:rPr>
                              <m:t>𝑛</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12</m:t>
                        </m:r>
                      </m:den>
                    </m:f>
                  </m:oMath>
                </a14:m>
                <a:r>
                  <a:rPr sz="2400" b="0">
                    <a:solidFill>
                      <a:srgbClr val="78350F"/>
                    </a:solidFill>
                    <a:latin typeface="Arial"/>
                  </a:rPr>
                  <a:t> with scaling by 4.</a:t>
                </a:r>
                <a:endParaRPr sz="2400">
                  <a:solidFill>
                    <a:srgbClr val="78350F"/>
                  </a:solidFill>
                </a:endParaRPr>
              </a:p>
            </p:txBody>
          </p:sp>
        </mc:Choice>
        <mc:Fallback>
          <p:sp>
            <p:nvSpPr>
              <p:cNvPr id="5" name="Rounded Rectangle 4"/>
              <p:cNvSpPr/>
              <p:nvPr/>
            </p:nvSpPr>
            <p:spPr>
              <a:xfrm>
                <a:off x="731520" y="1280160"/>
                <a:ext cx="10725912" cy="847344"/>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the closed form </a:t>
                </a:r>
                <a:r>
                  <a:rPr lang="en-IN" sz="2400">
                    <a:solidFill>
                      <a:srgbClr val="78350F"/>
                    </a:solidFill>
                    <a:latin typeface="Cambria Math" panose="02040503050406030204" pitchFamily="18" charset="0"/>
                  </a:rPr>
                  <a:t>$\frac{n^2-1}{12}$</a:t>
                </a:r>
                <a:r>
                  <a:rPr sz="2400" b="0">
                    <a:solidFill>
                      <a:srgbClr val="78350F"/>
                    </a:solidFill>
                    <a:latin typeface="Arial"/>
                  </a:rPr>
                  <a:t> with scaling by 4.</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264664"/>
                <a:ext cx="10725912" cy="352348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First 50 naturals have variance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50</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2499</m:t>
                        </m:r>
                      </m:num>
                      <m:den>
                        <m:r>
                          <a:rPr lang="en-IN" sz="2400" i="1">
                            <a:solidFill>
                              <a:srgbClr val="111827"/>
                            </a:solidFill>
                            <a:latin typeface="Cambria Math" panose="02040503050406030204" pitchFamily="18" charset="0"/>
                          </a:rPr>
                          <m:t>12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Doubling multiplies the variance by 4: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2499</m:t>
                        </m:r>
                      </m:num>
                      <m:den>
                        <m:r>
                          <a:rPr lang="en-IN" sz="2400" i="1">
                            <a:solidFill>
                              <a:srgbClr val="111827"/>
                            </a:solidFill>
                            <a:latin typeface="Cambria Math" panose="02040503050406030204" pitchFamily="18" charset="0"/>
                          </a:rPr>
                          <m:t>12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833</m:t>
                    </m:r>
                  </m:oMath>
                </a14:m>
                <a:r>
                  <a:rPr sz="2400" b="0">
                    <a:solidFill>
                      <a:srgbClr val="111827"/>
                    </a:solidFill>
                    <a:latin typeface="Arial"/>
                  </a:rPr>
                  <a:t>, the same answer.</a:t>
                </a:r>
                <a:endParaRPr sz="2400">
                  <a:solidFill>
                    <a:srgbClr val="111827"/>
                  </a:solidFill>
                </a:endParaRPr>
              </a:p>
            </p:txBody>
          </p:sp>
        </mc:Choice>
        <mc:Fallback>
          <p:sp>
            <p:nvSpPr>
              <p:cNvPr id="6" name="Rectangle 5"/>
              <p:cNvSpPr/>
              <p:nvPr/>
            </p:nvSpPr>
            <p:spPr>
              <a:xfrm>
                <a:off x="731520" y="2264664"/>
                <a:ext cx="10725912" cy="352348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First 50 naturals have variance </a:t>
                </a:r>
                <a:r>
                  <a:rPr lang="en-IN" sz="2400">
                    <a:solidFill>
                      <a:srgbClr val="111827"/>
                    </a:solidFill>
                    <a:latin typeface="Cambria Math" panose="02040503050406030204" pitchFamily="18" charset="0"/>
                  </a:rPr>
                  <a:t>$\frac{50^2-1}{12}=\frac{2499}{12}$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Doubling multiplies the variance by 4: </a:t>
                </a:r>
                <a:r>
                  <a:rPr lang="en-IN" sz="2400">
                    <a:solidFill>
                      <a:srgbClr val="111827"/>
                    </a:solidFill>
                    <a:latin typeface="Cambria Math" panose="02040503050406030204" pitchFamily="18" charset="0"/>
                  </a:rPr>
                  <a:t>$4\times\frac{2499}{12}=833$</a:t>
                </a:r>
                <a:r>
                  <a:rPr sz="2400" b="0">
                    <a:solidFill>
                      <a:srgbClr val="111827"/>
                    </a:solidFill>
                    <a:latin typeface="Arial"/>
                  </a:rPr>
                  <a:t>, the same answer.</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833</a:t>
            </a:r>
            <a:endParaRPr sz="2800">
              <a:solidFill>
                <a:srgbClr val="15803D"/>
              </a:solidFill>
            </a:endParaRP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Variance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oMath>
                </a14:m>
                <a:r>
                  <a:rPr sz="2400" b="0">
                    <a:solidFill>
                      <a:srgbClr val="111827"/>
                    </a:solidFill>
                    <a:latin typeface="Arial"/>
                  </a:rPr>
                  <a:t> it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2499</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833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Variance of any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consecutive terms of an AP of difference </a:t>
                </a:r>
                <a14:m>
                  <m:oMath xmlns:m="http://schemas.openxmlformats.org/officeDocument/2006/math">
                    <m:r>
                      <a:rPr lang="en-IN" sz="2400" i="1">
                        <a:solidFill>
                          <a:srgbClr val="111827"/>
                        </a:solidFill>
                        <a:latin typeface="Cambria Math" panose="02040503050406030204" pitchFamily="18" charset="0"/>
                      </a:rPr>
                      <m:t>𝑑</m:t>
                    </m:r>
                  </m:oMath>
                </a14:m>
                <a:r>
                  <a:rPr sz="2400" b="0">
                    <a:solidFill>
                      <a:srgbClr val="111827"/>
                    </a:solidFill>
                    <a:latin typeface="Arial"/>
                  </a:rPr>
                  <a:t> is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12</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Variance of </a:t>
                </a:r>
                <a:r>
                  <a:rPr lang="en-IN" sz="2400">
                    <a:solidFill>
                      <a:srgbClr val="111827"/>
                    </a:solidFill>
                    <a:latin typeface="Cambria Math" panose="02040503050406030204" pitchFamily="18" charset="0"/>
                  </a:rPr>
                  <a:t>$\{2,4,\dots,2n\}$</a:t>
                </a:r>
                <a:r>
                  <a:rPr sz="2400" b="0">
                    <a:solidFill>
                      <a:srgbClr val="111827"/>
                    </a:solidFill>
                    <a:latin typeface="Arial"/>
                  </a:rPr>
                  <a:t> is </a:t>
                </a:r>
                <a:r>
                  <a:rPr lang="en-IN" sz="2400">
                    <a:solidFill>
                      <a:srgbClr val="111827"/>
                    </a:solidFill>
                    <a:latin typeface="Cambria Math" panose="02040503050406030204" pitchFamily="18" charset="0"/>
                  </a:rPr>
                  <a:t>$\frac{n^2-1}{3}$</a:t>
                </a:r>
                <a:r>
                  <a:rPr sz="2400" b="0">
                    <a:solidFill>
                      <a:srgbClr val="111827"/>
                    </a:solidFill>
                    <a:latin typeface="Arial"/>
                  </a:rPr>
                  <a:t>; for </a:t>
                </a:r>
                <a:r>
                  <a:rPr lang="en-IN" sz="2400">
                    <a:solidFill>
                      <a:srgbClr val="111827"/>
                    </a:solidFill>
                    <a:latin typeface="Cambria Math" panose="02040503050406030204" pitchFamily="18" charset="0"/>
                  </a:rPr>
                  <a:t>$n=50$</a:t>
                </a:r>
                <a:r>
                  <a:rPr sz="2400" b="0">
                    <a:solidFill>
                      <a:srgbClr val="111827"/>
                    </a:solidFill>
                    <a:latin typeface="Arial"/>
                  </a:rPr>
                  <a:t> it is </a:t>
                </a:r>
                <a:r>
                  <a:rPr lang="en-IN" sz="2400">
                    <a:solidFill>
                      <a:srgbClr val="111827"/>
                    </a:solidFill>
                    <a:latin typeface="Cambria Math" panose="02040503050406030204" pitchFamily="18" charset="0"/>
                  </a:rPr>
                  <a:t>$\frac{2499}{3}=833$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Variance of any </a:t>
                </a:r>
                <a:r>
                  <a:rPr lang="en-IN" sz="2400">
                    <a:solidFill>
                      <a:srgbClr val="111827"/>
                    </a:solidFill>
                    <a:latin typeface="Cambria Math" panose="02040503050406030204" pitchFamily="18" charset="0"/>
                  </a:rPr>
                  <a:t>$n$</a:t>
                </a:r>
                <a:r>
                  <a:rPr sz="2400" b="0">
                    <a:solidFill>
                      <a:srgbClr val="111827"/>
                    </a:solidFill>
                    <a:latin typeface="Arial"/>
                  </a:rPr>
                  <a:t> consecutive terms of an AP of difference </a:t>
                </a:r>
                <a:r>
                  <a:rPr lang="en-IN" sz="2400">
                    <a:solidFill>
                      <a:srgbClr val="111827"/>
                    </a:solidFill>
                    <a:latin typeface="Cambria Math" panose="02040503050406030204" pitchFamily="18" charset="0"/>
                  </a:rPr>
                  <a:t>$d$</a:t>
                </a:r>
                <a:r>
                  <a:rPr sz="2400" b="0">
                    <a:solidFill>
                      <a:srgbClr val="111827"/>
                    </a:solidFill>
                    <a:latin typeface="Arial"/>
                  </a:rPr>
                  <a:t> is </a:t>
                </a:r>
                <a:r>
                  <a:rPr lang="en-IN" sz="2400">
                    <a:solidFill>
                      <a:srgbClr val="111827"/>
                    </a:solidFill>
                    <a:latin typeface="Cambria Math" panose="02040503050406030204" pitchFamily="18" charset="0"/>
                  </a:rPr>
                  <a:t>$\frac{d^2(n^2-1)}{12}$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731520" y="1280160"/>
            <a:ext cx="10725912" cy="244348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mean of the data set comprising of 16 observations is 16. If one of the observations valued 16 is deleted and three new observations valued 3, 4 and 5 are added to the data, then the mean of the resultant data is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16.8   (B) 16.0   (C) 15.8   (D) 14.0</a:t>
            </a:r>
            <a:endParaRPr sz="2400">
              <a:solidFill>
                <a:srgbClr val="111827"/>
              </a:solidFill>
            </a:endParaRPr>
          </a:p>
        </p:txBody>
      </p:sp>
      <p:sp>
        <p:nvSpPr>
          <p:cNvPr id="5" name="Rectangle 4"/>
          <p:cNvSpPr/>
          <p:nvPr/>
        </p:nvSpPr>
        <p:spPr>
          <a:xfrm>
            <a:off x="731520" y="3952239"/>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Mean after deleting and adding observations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Track the sum and the count separately: sum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256</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16</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12</m:t>
                    </m:r>
                  </m:oMath>
                </a14:m>
                <a:r>
                  <a:rPr sz="2400" b="0">
                    <a:solidFill>
                      <a:srgbClr val="78350F"/>
                    </a:solidFill>
                    <a:latin typeface="Arial"/>
                  </a:rPr>
                  <a:t>, count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18</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Track the sum and the count separately: sum </a:t>
                </a:r>
                <a:r>
                  <a:rPr lang="en-IN" sz="2400">
                    <a:solidFill>
                      <a:srgbClr val="78350F"/>
                    </a:solidFill>
                    <a:latin typeface="Cambria Math" panose="02040503050406030204" pitchFamily="18" charset="0"/>
                  </a:rPr>
                  <a:t>$=256-16+12$</a:t>
                </a:r>
                <a:r>
                  <a:rPr sz="2400" b="0">
                    <a:solidFill>
                      <a:srgbClr val="78350F"/>
                    </a:solidFill>
                    <a:latin typeface="Arial"/>
                  </a:rPr>
                  <a:t>, count </a:t>
                </a:r>
                <a:r>
                  <a:rPr lang="en-IN" sz="2400">
                    <a:solidFill>
                      <a:srgbClr val="78350F"/>
                    </a:solidFill>
                    <a:latin typeface="Cambria Math" panose="02040503050406030204" pitchFamily="18" charset="0"/>
                  </a:rPr>
                  <a:t>$=18$</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16 observations with mean 16 have sum </a:t>
                </a:r>
                <a14:m>
                  <m:oMath xmlns:m="http://schemas.openxmlformats.org/officeDocument/2006/math">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After deleting 16 and adding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the sum is </a:t>
                </a:r>
                <a14:m>
                  <m:oMath xmlns:m="http://schemas.openxmlformats.org/officeDocument/2006/math">
                    <m:r>
                      <a:rPr lang="en-IN" sz="2400" i="1">
                        <a:solidFill>
                          <a:srgbClr val="111827"/>
                        </a:solidFill>
                        <a:latin typeface="Cambria Math" panose="02040503050406030204" pitchFamily="18" charset="0"/>
                      </a:rPr>
                      <m:t>256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number of observations is </a:t>
                </a:r>
                <a14:m>
                  <m:oMath xmlns:m="http://schemas.openxmlformats.org/officeDocument/2006/math">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New mean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252</m:t>
                        </m:r>
                      </m:num>
                      <m:den>
                        <m:r>
                          <a:rPr lang="en-IN" sz="2400" i="1">
                            <a:solidFill>
                              <a:srgbClr val="111827"/>
                            </a:solidFill>
                            <a:latin typeface="Cambria Math" panose="02040503050406030204" pitchFamily="18" charset="0"/>
                          </a:rPr>
                          <m:t>18</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oMath>
                </a14:m>
                <a:r>
                  <a:rPr sz="2400" b="0">
                    <a:solidFill>
                      <a:srgbClr val="111827"/>
                    </a:solidFill>
                    <a:latin typeface="Arial"/>
                  </a:rPr>
                  <a:t>, option (D).</a:t>
                </a:r>
                <a:endParaRPr sz="2400">
                  <a:solidFill>
                    <a:srgbClr val="111827"/>
                  </a:solidFill>
                </a:endParaRPr>
              </a:p>
            </p:txBody>
          </p:sp>
        </mc:Choice>
        <mc:Fallback>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16 observations with mean 16 have sum </a:t>
                </a:r>
                <a:r>
                  <a:rPr lang="en-IN" sz="2400">
                    <a:solidFill>
                      <a:srgbClr val="111827"/>
                    </a:solidFill>
                    <a:latin typeface="Cambria Math" panose="02040503050406030204" pitchFamily="18" charset="0"/>
                  </a:rPr>
                  <a:t>$16\times16=256$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After deleting 16 and adding </a:t>
                </a:r>
                <a:r>
                  <a:rPr lang="en-IN" sz="2400">
                    <a:solidFill>
                      <a:srgbClr val="111827"/>
                    </a:solidFill>
                    <a:latin typeface="Cambria Math" panose="02040503050406030204" pitchFamily="18" charset="0"/>
                  </a:rPr>
                  <a:t>$3,4,5$</a:t>
                </a:r>
                <a:r>
                  <a:rPr sz="2400" b="0">
                    <a:solidFill>
                      <a:srgbClr val="111827"/>
                    </a:solidFill>
                    <a:latin typeface="Arial"/>
                  </a:rPr>
                  <a:t> the sum is </a:t>
                </a:r>
                <a:r>
                  <a:rPr lang="en-IN" sz="2400">
                    <a:solidFill>
                      <a:srgbClr val="111827"/>
                    </a:solidFill>
                    <a:latin typeface="Cambria Math" panose="02040503050406030204" pitchFamily="18" charset="0"/>
                  </a:rPr>
                  <a:t>$256-16+3+4+5=252$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number of observations is </a:t>
                </a:r>
                <a:r>
                  <a:rPr lang="en-IN" sz="2400">
                    <a:solidFill>
                      <a:srgbClr val="111827"/>
                    </a:solidFill>
                    <a:latin typeface="Cambria Math" panose="02040503050406030204" pitchFamily="18" charset="0"/>
                  </a:rPr>
                  <a:t>$16-1+3=18$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New mean </a:t>
                </a:r>
                <a:r>
                  <a:rPr lang="en-IN" sz="2400">
                    <a:solidFill>
                      <a:srgbClr val="111827"/>
                    </a:solidFill>
                    <a:latin typeface="Cambria Math" panose="02040503050406030204" pitchFamily="18" charset="0"/>
                  </a:rPr>
                  <a:t>$=\frac{252}{18}=14$</a:t>
                </a:r>
                <a:r>
                  <a:rPr sz="2400" b="0">
                    <a:solidFill>
                      <a:srgbClr val="111827"/>
                    </a:solidFill>
                    <a:latin typeface="Arial"/>
                  </a:rPr>
                  <a:t>, option (D).</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14.0</a:t>
            </a:r>
            <a:endParaRPr sz="2800">
              <a:solidFill>
                <a:srgbClr val="15803D"/>
              </a:solidFill>
            </a:endParaRP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p:sp>
        <p:nvSpPr>
          <p:cNvPr id="5" name="Rounded Rectangle 4"/>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Work with deviations from the old mean 16.</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Deleting an observation equal to the mean contributes deviation 0; the added values have deviations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oMath>
                </a14:m>
                <a:r>
                  <a:rPr sz="2400" b="0">
                    <a:solidFill>
                      <a:srgbClr val="111827"/>
                    </a:solidFill>
                    <a:latin typeface="Arial"/>
                  </a:rPr>
                  <a:t> from 16.</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deviation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oMath>
                </a14:m>
                <a:r>
                  <a:rPr sz="2400" b="0">
                    <a:solidFill>
                      <a:srgbClr val="111827"/>
                    </a:solidFill>
                    <a:latin typeface="Arial"/>
                  </a:rPr>
                  <a:t> spread over 18 observations: the mean moves by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36</m:t>
                        </m:r>
                      </m:num>
                      <m:den>
                        <m:r>
                          <a:rPr lang="en-IN" sz="2400" i="1">
                            <a:solidFill>
                              <a:srgbClr val="111827"/>
                            </a:solidFill>
                            <a:latin typeface="Cambria Math" panose="02040503050406030204" pitchFamily="18" charset="0"/>
                          </a:rPr>
                          <m:t>18</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New mean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oMath>
                </a14:m>
                <a:r>
                  <a:rPr sz="2400" b="0">
                    <a:solidFill>
                      <a:srgbClr val="111827"/>
                    </a:solidFill>
                    <a:latin typeface="Arial"/>
                  </a:rPr>
                  <a:t>, the same answer.</a:t>
                </a:r>
                <a:endParaRPr sz="2400">
                  <a:solidFill>
                    <a:srgbClr val="111827"/>
                  </a:solidFill>
                </a:endParaRPr>
              </a:p>
            </p:txBody>
          </p:sp>
        </mc:Choice>
        <mc:Fallback>
          <p:sp>
            <p:nvSpPr>
              <p:cNvPr id="6" name="Rectangle 5"/>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Deleting an observation equal to the mean contributes deviation 0; the added values have deviations </a:t>
                </a:r>
                <a:r>
                  <a:rPr lang="en-IN" sz="2400">
                    <a:solidFill>
                      <a:srgbClr val="111827"/>
                    </a:solidFill>
                    <a:latin typeface="Cambria Math" panose="02040503050406030204" pitchFamily="18" charset="0"/>
                  </a:rPr>
                  <a:t>$-13,-12,-11$</a:t>
                </a:r>
                <a:r>
                  <a:rPr sz="2400" b="0">
                    <a:solidFill>
                      <a:srgbClr val="111827"/>
                    </a:solidFill>
                    <a:latin typeface="Arial"/>
                  </a:rPr>
                  <a:t> from 16.</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deviation </a:t>
                </a:r>
                <a:r>
                  <a:rPr lang="en-IN" sz="2400">
                    <a:solidFill>
                      <a:srgbClr val="111827"/>
                    </a:solidFill>
                    <a:latin typeface="Cambria Math" panose="02040503050406030204" pitchFamily="18" charset="0"/>
                  </a:rPr>
                  <a:t>$=-36$</a:t>
                </a:r>
                <a:r>
                  <a:rPr sz="2400" b="0">
                    <a:solidFill>
                      <a:srgbClr val="111827"/>
                    </a:solidFill>
                    <a:latin typeface="Arial"/>
                  </a:rPr>
                  <a:t> spread over 18 observations: the mean moves by </a:t>
                </a:r>
                <a:r>
                  <a:rPr lang="en-IN" sz="2400">
                    <a:solidFill>
                      <a:srgbClr val="111827"/>
                    </a:solidFill>
                    <a:latin typeface="Cambria Math" panose="02040503050406030204" pitchFamily="18" charset="0"/>
                  </a:rPr>
                  <a:t>$-\frac{36}{18}=-2$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New mean </a:t>
                </a:r>
                <a:r>
                  <a:rPr lang="en-IN" sz="2400">
                    <a:solidFill>
                      <a:srgbClr val="111827"/>
                    </a:solidFill>
                    <a:latin typeface="Cambria Math" panose="02040503050406030204" pitchFamily="18" charset="0"/>
                  </a:rPr>
                  <a:t>$=16-2=14$</a:t>
                </a:r>
                <a:r>
                  <a:rPr sz="2400" b="0">
                    <a:solidFill>
                      <a:srgbClr val="111827"/>
                    </a:solidFill>
                    <a:latin typeface="Arial"/>
                  </a:rPr>
                  <a:t>, the same answer.</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14.0</a:t>
            </a:r>
            <a:endParaRPr sz="2800">
              <a:solidFill>
                <a:srgbClr val="15803D"/>
              </a:solidFill>
            </a:endParaRP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Mean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𝑆</m:t>
                        </m:r>
                      </m:num>
                      <m:den>
                        <m:r>
                          <a:rPr lang="en-IN" sz="2400" i="1">
                            <a:solidFill>
                              <a:srgbClr val="111827"/>
                            </a:solidFill>
                            <a:latin typeface="Cambria Math" panose="02040503050406030204" pitchFamily="18" charset="0"/>
                          </a:rPr>
                          <m:t>𝑛</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the sum,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the count): update the sum and the count separately.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Deleting an observation equal to the mean leaves the mean of the remaining ones unchanged.</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Mean </a:t>
                </a:r>
                <a:r>
                  <a:rPr lang="en-IN" sz="2400">
                    <a:solidFill>
                      <a:srgbClr val="111827"/>
                    </a:solidFill>
                    <a:latin typeface="Cambria Math" panose="02040503050406030204" pitchFamily="18" charset="0"/>
                  </a:rPr>
                  <a:t>$=\frac{S}{n}$</a:t>
                </a:r>
                <a:r>
                  <a:rPr sz="2400" b="0">
                    <a:solidFill>
                      <a:srgbClr val="111827"/>
                    </a:solidFill>
                    <a:latin typeface="Arial"/>
                  </a:rPr>
                  <a:t> (</a:t>
                </a:r>
                <a:r>
                  <a:rPr lang="en-IN" sz="2400">
                    <a:solidFill>
                      <a:srgbClr val="111827"/>
                    </a:solidFill>
                    <a:latin typeface="Cambria Math" panose="02040503050406030204" pitchFamily="18" charset="0"/>
                  </a:rPr>
                  <a:t>$S$</a:t>
                </a:r>
                <a:r>
                  <a:rPr sz="2400" b="0">
                    <a:solidFill>
                      <a:srgbClr val="111827"/>
                    </a:solidFill>
                    <a:latin typeface="Arial"/>
                  </a:rPr>
                  <a:t> the sum, </a:t>
                </a:r>
                <a:r>
                  <a:rPr lang="en-IN" sz="2400">
                    <a:solidFill>
                      <a:srgbClr val="111827"/>
                    </a:solidFill>
                    <a:latin typeface="Cambria Math" panose="02040503050406030204" pitchFamily="18" charset="0"/>
                  </a:rPr>
                  <a:t>$n$</a:t>
                </a:r>
                <a:r>
                  <a:rPr sz="2400" b="0">
                    <a:solidFill>
                      <a:srgbClr val="111827"/>
                    </a:solidFill>
                    <a:latin typeface="Arial"/>
                  </a:rPr>
                  <a:t> the count): update the sum and the count separately.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Deleting an observation equal to the mean leaves the mean of the remaining ones unchanged.</a:t>
                </a:r>
                <a:endParaRPr sz="2400">
                  <a:solidFill>
                    <a:srgbClr val="111827"/>
                  </a:solidFill>
                </a:endParaRPr>
              </a:p>
            </p:txBody>
          </p:sp>
        </mc:Fallback>
      </mc:AlternateContent>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standard deviation of the numbers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11</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3.5</m:t>
                    </m:r>
                  </m:oMath>
                </a14:m>
                <a:r>
                  <a:rPr sz="2400" b="0">
                    <a:solidFill>
                      <a:srgbClr val="111827"/>
                    </a:solidFill>
                    <a:latin typeface="Arial"/>
                  </a:rPr>
                  <a:t>, then which of the following is true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34</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23</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26</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endParaRPr sz="2400">
                  <a:solidFill>
                    <a:srgbClr val="111827"/>
                  </a:solidFill>
                </a:endParaRPr>
              </a:p>
            </p:txBody>
          </p:sp>
        </mc:Choice>
        <mc:Fallback>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standard deviation of the numbers </a:t>
                </a:r>
                <a:r>
                  <a:rPr lang="en-IN" sz="2400">
                    <a:solidFill>
                      <a:srgbClr val="111827"/>
                    </a:solidFill>
                    <a:latin typeface="Cambria Math" panose="02040503050406030204" pitchFamily="18" charset="0"/>
                  </a:rPr>
                  <a:t>$2,3,a$</a:t>
                </a:r>
                <a:r>
                  <a:rPr sz="2400" b="0">
                    <a:solidFill>
                      <a:srgbClr val="111827"/>
                    </a:solidFill>
                    <a:latin typeface="Arial"/>
                  </a:rPr>
                  <a:t> and </a:t>
                </a:r>
                <a:r>
                  <a:rPr lang="en-IN" sz="2400">
                    <a:solidFill>
                      <a:srgbClr val="111827"/>
                    </a:solidFill>
                    <a:latin typeface="Cambria Math" panose="02040503050406030204" pitchFamily="18" charset="0"/>
                  </a:rPr>
                  <a:t>$11$</a:t>
                </a:r>
                <a:r>
                  <a:rPr sz="2400" b="0">
                    <a:solidFill>
                      <a:srgbClr val="111827"/>
                    </a:solidFill>
                    <a:latin typeface="Arial"/>
                  </a:rPr>
                  <a:t> is </a:t>
                </a:r>
                <a:r>
                  <a:rPr lang="en-IN" sz="2400">
                    <a:solidFill>
                      <a:srgbClr val="111827"/>
                    </a:solidFill>
                    <a:latin typeface="Cambria Math" panose="02040503050406030204" pitchFamily="18" charset="0"/>
                  </a:rPr>
                  <a:t>$3.5$</a:t>
                </a:r>
                <a:r>
                  <a:rPr sz="2400" b="0">
                    <a:solidFill>
                      <a:srgbClr val="111827"/>
                    </a:solidFill>
                    <a:latin typeface="Arial"/>
                  </a:rPr>
                  <a:t>, then which of the following is true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$3a^2-34a+91=0$</a:t>
                </a:r>
                <a:r>
                  <a:rPr sz="2400" b="0">
                    <a:solidFill>
                      <a:srgbClr val="111827"/>
                    </a:solidFill>
                    <a:latin typeface="Arial"/>
                  </a:rPr>
                  <a:t>   (B) </a:t>
                </a:r>
                <a:r>
                  <a:rPr lang="en-IN" sz="2400">
                    <a:solidFill>
                      <a:srgbClr val="111827"/>
                    </a:solidFill>
                    <a:latin typeface="Cambria Math" panose="02040503050406030204" pitchFamily="18" charset="0"/>
                  </a:rPr>
                  <a:t>$3a^2-23a+44=0$</a:t>
                </a:r>
                <a:r>
                  <a:rPr sz="2400" b="0">
                    <a:solidFill>
                      <a:srgbClr val="111827"/>
                    </a:solidFill>
                    <a:latin typeface="Arial"/>
                  </a:rPr>
                  <a:t>   (C) </a:t>
                </a:r>
                <a:r>
                  <a:rPr lang="en-IN" sz="2400">
                    <a:solidFill>
                      <a:srgbClr val="111827"/>
                    </a:solidFill>
                    <a:latin typeface="Cambria Math" panose="02040503050406030204" pitchFamily="18" charset="0"/>
                  </a:rPr>
                  <a:t>$3a^2-26a+55=0$</a:t>
                </a:r>
                <a:r>
                  <a:rPr sz="2400" b="0">
                    <a:solidFill>
                      <a:srgbClr val="111827"/>
                    </a:solidFill>
                    <a:latin typeface="Arial"/>
                  </a:rPr>
                  <a:t>   (D) </a:t>
                </a:r>
                <a:r>
                  <a:rPr lang="en-IN" sz="2400">
                    <a:solidFill>
                      <a:srgbClr val="111827"/>
                    </a:solidFill>
                    <a:latin typeface="Cambria Math" panose="02040503050406030204" pitchFamily="18" charset="0"/>
                  </a:rPr>
                  <a:t>$3a^2-32a+84=0$</a:t>
                </a:r>
                <a:endParaRPr sz="2400">
                  <a:solidFill>
                    <a:srgbClr val="111827"/>
                  </a:solidFill>
                </a:endParaRPr>
              </a:p>
            </p:txBody>
          </p:sp>
        </mc:Fallback>
      </mc:AlternateContent>
      <p:sp>
        <p:nvSpPr>
          <p:cNvPr id="5" name="Rectangle 4"/>
          <p:cNvSpPr/>
          <p:nvPr/>
        </p:nvSpPr>
        <p:spPr>
          <a:xfrm>
            <a:off x="731520" y="3580383"/>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Standard deviation of four numbers with an unknown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Square the s.d., use </a:t>
                </a:r>
                <a14:m>
                  <m:oMath xmlns:m="http://schemas.openxmlformats.org/officeDocument/2006/math">
                    <m:sSup>
                      <m:e>
                        <m:r>
                          <a:rPr lang="en-IN" sz="2400" i="1">
                            <a:solidFill>
                              <a:srgbClr val="78350F"/>
                            </a:solidFill>
                            <a:latin typeface="Cambria Math" panose="02040503050406030204" pitchFamily="18" charset="0"/>
                          </a:rPr>
                          <m:t>σ</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num>
                      <m:den>
                        <m:r>
                          <a:rPr lang="en-IN" sz="2400" i="1">
                            <a:solidFill>
                              <a:srgbClr val="78350F"/>
                            </a:solidFill>
                            <a:latin typeface="Cambria Math" panose="02040503050406030204" pitchFamily="18" charset="0"/>
                          </a:rPr>
                          <m:t>4</m:t>
                        </m:r>
                      </m:den>
                    </m:f>
                    <m:r>
                      <m:rPr>
                        <m:sty m:val="p"/>
                      </m:rPr>
                      <a:rPr lang="en-IN" sz="2400">
                        <a:solidFill>
                          <a:srgbClr val="78350F"/>
                        </a:solidFill>
                        <a:latin typeface="Cambria Math" panose="02040503050406030204" pitchFamily="18" charset="0"/>
                      </a:rPr>
                      <m:t>−</m:t>
                    </m:r>
                    <m:sSup>
                      <m:e>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𝑥</m:t>
                            </m:r>
                          </m:e>
                        </m:acc>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and clear denominators.</a:t>
                </a:r>
                <a:endParaRPr sz="2400">
                  <a:solidFill>
                    <a:srgbClr val="78350F"/>
                  </a:solidFill>
                </a:endParaRPr>
              </a:p>
            </p:txBody>
          </p:sp>
        </mc:Choice>
        <mc:Fallback>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Square the s.d., use </a:t>
                </a:r>
                <a:r>
                  <a:rPr lang="en-IN" sz="2400">
                    <a:solidFill>
                      <a:srgbClr val="78350F"/>
                    </a:solidFill>
                    <a:latin typeface="Cambria Math" panose="02040503050406030204" pitchFamily="18" charset="0"/>
                  </a:rPr>
                  <a:t>$\sigma^2=\frac{\sum x^2}{4}-\bar{x}^2$</a:t>
                </a:r>
                <a:r>
                  <a:rPr sz="2400" b="0">
                    <a:solidFill>
                      <a:srgbClr val="78350F"/>
                    </a:solidFill>
                    <a:latin typeface="Arial"/>
                  </a:rPr>
                  <a:t> and clear denominators.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636520"/>
                <a:ext cx="10725912" cy="315163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Numbers: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134</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134</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4</m:t>
                                </m:r>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49</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Multiply by 16: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134</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536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option (D).</a:t>
                </a:r>
                <a:endParaRPr sz="2400">
                  <a:solidFill>
                    <a:srgbClr val="111827"/>
                  </a:solidFill>
                </a:endParaRPr>
              </a:p>
            </p:txBody>
          </p:sp>
        </mc:Choice>
        <mc:Fallback>
          <p:sp>
            <p:nvSpPr>
              <p:cNvPr id="5" name="Rectangle 4"/>
              <p:cNvSpPr/>
              <p:nvPr/>
            </p:nvSpPr>
            <p:spPr>
              <a:xfrm>
                <a:off x="731520" y="2636520"/>
                <a:ext cx="10725912" cy="315163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Numbers: </a:t>
                </a:r>
                <a:r>
                  <a:rPr lang="en-IN" sz="2400">
                    <a:solidFill>
                      <a:srgbClr val="111827"/>
                    </a:solidFill>
                    <a:latin typeface="Cambria Math" panose="02040503050406030204" pitchFamily="18" charset="0"/>
                  </a:rPr>
                  <a:t>$2,3,a,11$</a:t>
                </a:r>
                <a:r>
                  <a:rPr sz="2400" b="0">
                    <a:solidFill>
                      <a:srgbClr val="111827"/>
                    </a:solidFill>
                    <a:latin typeface="Arial"/>
                  </a:rPr>
                  <a:t>; </a:t>
                </a:r>
                <a:r>
                  <a:rPr lang="en-IN" sz="2400">
                    <a:solidFill>
                      <a:srgbClr val="111827"/>
                    </a:solidFill>
                    <a:latin typeface="Cambria Math" panose="02040503050406030204" pitchFamily="18" charset="0"/>
                  </a:rPr>
                  <a:t>$n=4$</a:t>
                </a:r>
                <a:r>
                  <a:rPr sz="2400" b="0">
                    <a:solidFill>
                      <a:srgbClr val="111827"/>
                    </a:solidFill>
                    <a:latin typeface="Arial"/>
                  </a:rPr>
                  <a:t>, </a:t>
                </a:r>
                <a:r>
                  <a:rPr lang="en-IN" sz="2400">
                    <a:solidFill>
                      <a:srgbClr val="111827"/>
                    </a:solidFill>
                    <a:latin typeface="Cambria Math" panose="02040503050406030204" pitchFamily="18" charset="0"/>
                  </a:rPr>
                  <a:t>$\sum x=16+a$</a:t>
                </a:r>
                <a:r>
                  <a:rPr sz="2400" b="0">
                    <a:solidFill>
                      <a:srgbClr val="111827"/>
                    </a:solidFill>
                    <a:latin typeface="Arial"/>
                  </a:rPr>
                  <a:t> and </a:t>
                </a:r>
                <a:r>
                  <a:rPr lang="en-IN" sz="2400">
                    <a:solidFill>
                      <a:srgbClr val="111827"/>
                    </a:solidFill>
                    <a:latin typeface="Cambria Math" panose="02040503050406030204" pitchFamily="18" charset="0"/>
                  </a:rPr>
                  <a:t>$\sum x^2=4+9+a^2+121=134+a^2$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$\sigma^2=\frac{134+a^2}{4}-\left(\frac{16+a}{4}\right)^2=(3.5)^2=\frac{49}{4}$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Multiply by 16: </a:t>
                </a:r>
                <a:r>
                  <a:rPr lang="en-IN" sz="2400">
                    <a:solidFill>
                      <a:srgbClr val="111827"/>
                    </a:solidFill>
                    <a:latin typeface="Cambria Math" panose="02040503050406030204" pitchFamily="18" charset="0"/>
                  </a:rPr>
                  <a:t>$4(134+a^2)-(16+a)^2=196$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$536+4a^2-256-32a-a^2=196$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$3a^2-32a+84=0$</a:t>
                </a:r>
                <a:r>
                  <a:rPr sz="2400" b="0">
                    <a:solidFill>
                      <a:srgbClr val="111827"/>
                    </a:solidFill>
                    <a:latin typeface="Arial"/>
                  </a:rPr>
                  <a:t>, option (D).</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14:m>
                  <m:oMath xmlns:m="http://schemas.openxmlformats.org/officeDocument/2006/math">
                    <m:r>
                      <a:rPr lang="en-IN" sz="2800" i="1">
                        <a:solidFill>
                          <a:srgbClr val="15803D"/>
                        </a:solidFill>
                        <a:latin typeface="Cambria Math" panose="02040503050406030204" pitchFamily="18" charset="0"/>
                      </a:rPr>
                      <m:t>3</m:t>
                    </m:r>
                    <m:sSup>
                      <m:e>
                        <m:r>
                          <a:rPr lang="en-IN" sz="2800" i="1">
                            <a:solidFill>
                              <a:srgbClr val="15803D"/>
                            </a:solidFill>
                            <a:latin typeface="Cambria Math" panose="02040503050406030204" pitchFamily="18" charset="0"/>
                          </a:rPr>
                          <m:t>𝑎</m:t>
                        </m:r>
                      </m:e>
                      <m:sup>
                        <m:r>
                          <a:rPr lang="en-IN" sz="2800" i="1">
                            <a:solidFill>
                              <a:srgbClr val="15803D"/>
                            </a:solidFill>
                            <a:latin typeface="Cambria Math" panose="02040503050406030204" pitchFamily="18" charset="0"/>
                          </a:rPr>
                          <m:t>2</m:t>
                        </m:r>
                      </m:sup>
                    </m:sSup>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32</m:t>
                    </m:r>
                    <m:r>
                      <a:rPr lang="en-IN" sz="2800" i="1">
                        <a:solidFill>
                          <a:srgbClr val="15803D"/>
                        </a:solidFill>
                        <a:latin typeface="Cambria Math" panose="02040503050406030204" pitchFamily="18" charset="0"/>
                      </a:rPr>
                      <m:t>𝑎</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84</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0</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r>
                  <a:rPr lang="en-IN" sz="2800">
                    <a:solidFill>
                      <a:srgbClr val="15803D"/>
                    </a:solidFill>
                    <a:latin typeface="Cambria Math" panose="02040503050406030204" pitchFamily="18" charset="0"/>
                  </a:rPr>
                  <a:t>$3a^2-32a+84=0$</a:t>
                </a:r>
                <a:endParaRPr sz="2800">
                  <a:solidFill>
                    <a:srgbClr val="15803D"/>
                  </a:solidFill>
                </a:endParaRPr>
              </a:p>
            </p:txBody>
          </p:sp>
        </mc:Fallback>
      </mc:AlternateContent>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Pairwise-difference identity: </a:t>
                </a:r>
                <a14:m>
                  <m:oMath xmlns:m="http://schemas.openxmlformats.org/officeDocument/2006/math">
                    <m:sSup>
                      <m:e>
                        <m:r>
                          <a:rPr lang="en-IN" sz="2400" i="1">
                            <a:solidFill>
                              <a:srgbClr val="78350F"/>
                            </a:solidFill>
                            <a:latin typeface="Cambria Math" panose="02040503050406030204" pitchFamily="18" charset="0"/>
                          </a:rPr>
                          <m:t>𝑛</m:t>
                        </m:r>
                      </m:e>
                      <m:sup>
                        <m:r>
                          <a:rPr lang="en-IN" sz="2400" i="1">
                            <a:solidFill>
                              <a:srgbClr val="78350F"/>
                            </a:solidFill>
                            <a:latin typeface="Cambria Math" panose="02040503050406030204" pitchFamily="18" charset="0"/>
                          </a:rPr>
                          <m:t>2</m:t>
                        </m:r>
                      </m:sup>
                    </m:sSup>
                    <m:sSup>
                      <m:e>
                        <m:r>
                          <a:rPr lang="en-IN" sz="2400" i="1">
                            <a:solidFill>
                              <a:srgbClr val="78350F"/>
                            </a:solidFill>
                            <a:latin typeface="Cambria Math" panose="02040503050406030204" pitchFamily="18" charset="0"/>
                          </a:rPr>
                          <m:t>σ</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nary>
                      <m:naryPr>
                        <m:chr m:val="∑"/>
                        <m:limLoc m:val="undOvr"/>
                        <m:subHide m:val="off"/>
                        <m:supHide m:val="on"/>
                        <m:ctrlPr>
                          <a:rPr lang="en-IN" sz="2400" i="1">
                            <a:solidFill>
                              <a:srgbClr val="78350F"/>
                            </a:solidFill>
                            <a:latin typeface="Cambria Math" panose="02040503050406030204" pitchFamily="18" charset="0"/>
                          </a:rPr>
                        </m:ctrlPr>
                      </m:naryPr>
                      <m:sub>
                        <m:r>
                          <a:rPr lang="en-IN" sz="2400" i="1">
                            <a:solidFill>
                              <a:srgbClr val="78350F"/>
                            </a:solidFill>
                            <a:latin typeface="Cambria Math" panose="02040503050406030204" pitchFamily="18" charset="0"/>
                          </a:rPr>
                          <m:t>𝑖</m:t>
                        </m:r>
                        <m:r>
                          <m:rPr>
                            <m:sty m:val="p"/>
                          </m:rPr>
                          <a:rPr lang="en-IN" sz="2400">
                            <a:solidFill>
                              <a:srgbClr val="78350F"/>
                            </a:solidFill>
                            <a:latin typeface="Cambria Math" panose="02040503050406030204" pitchFamily="18" charset="0"/>
                          </a:rPr>
                          <m:t>&lt;</m:t>
                        </m:r>
                        <m:r>
                          <a:rPr lang="en-IN" sz="2400" i="1">
                            <a:solidFill>
                              <a:srgbClr val="78350F"/>
                            </a:solidFill>
                            <a:latin typeface="Cambria Math" panose="02040503050406030204" pitchFamily="18" charset="0"/>
                          </a:rPr>
                          <m:t>𝑗</m:t>
                        </m:r>
                      </m:sub>
                      <m:sup>
                        <m:r>
                          <a:rPr lang="en-IN" sz="2400" i="1">
                            <a:solidFill>
                              <a:srgbClr val="78350F"/>
                            </a:solidFill>
                            <a:latin typeface="Cambria Math" panose="02040503050406030204" pitchFamily="18" charset="0"/>
                          </a:rPr>
                          <m:t>​</m:t>
                        </m:r>
                      </m:sup>
                      <m:e>
                        <m:r>
                          <m:rPr>
                            <m:sty m:val="p"/>
                          </m:rPr>
                          <a:rPr lang="en-IN" sz="2400">
                            <a:solidFill>
                              <a:srgbClr val="78350F"/>
                            </a:solidFill>
                            <a:latin typeface="Cambria Math" panose="02040503050406030204" pitchFamily="18" charset="0"/>
                          </a:rPr>
                          <m:t>(</m:t>
                        </m:r>
                      </m:e>
                    </m:nary>
                    <m:sSub>
                      <m:e>
                        <m:r>
                          <a:rPr lang="en-IN" sz="2400" i="1">
                            <a:solidFill>
                              <a:srgbClr val="78350F"/>
                            </a:solidFill>
                            <a:latin typeface="Cambria Math" panose="02040503050406030204" pitchFamily="18" charset="0"/>
                          </a:rPr>
                          <m:t>𝑥</m:t>
                        </m:r>
                      </m:e>
                      <m:sub>
                        <m:r>
                          <a:rPr lang="en-IN" sz="2400" i="1">
                            <a:solidFill>
                              <a:srgbClr val="78350F"/>
                            </a:solidFill>
                            <a:latin typeface="Cambria Math" panose="02040503050406030204" pitchFamily="18" charset="0"/>
                          </a:rPr>
                          <m:t>𝑖</m:t>
                        </m:r>
                      </m:sub>
                    </m:sSub>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𝑥</m:t>
                        </m:r>
                      </m:e>
                      <m:sub>
                        <m:r>
                          <a:rPr lang="en-IN" sz="2400" i="1">
                            <a:solidFill>
                              <a:srgbClr val="78350F"/>
                            </a:solidFill>
                            <a:latin typeface="Cambria Math" panose="02040503050406030204" pitchFamily="18" charset="0"/>
                          </a:rPr>
                          <m:t>𝑗</m:t>
                        </m:r>
                      </m:sub>
                    </m:sSub>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Pairwise-difference identity: </a:t>
                </a:r>
                <a:r>
                  <a:rPr lang="en-IN" sz="2400">
                    <a:solidFill>
                      <a:srgbClr val="78350F"/>
                    </a:solidFill>
                    <a:latin typeface="Cambria Math" panose="02040503050406030204" pitchFamily="18" charset="0"/>
                  </a:rPr>
                  <a:t>$n^2\sigma^2=\sum_{i&lt;j}(x_i-x_j)^2$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49</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Pairs not involving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Pairs with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146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196</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the same answer.</a:t>
                </a:r>
                <a:endParaRPr sz="2400">
                  <a:solidFill>
                    <a:srgbClr val="111827"/>
                  </a:solidFill>
                </a:endParaRPr>
              </a:p>
            </p:txBody>
          </p:sp>
        </mc:Choice>
        <mc:Fallback>
          <p:sp>
            <p:nvSpPr>
              <p:cNvPr id="6" name="Rectangle 5"/>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$n^2\sigma^2=16\times\frac{49}{4}=196$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Pairs not involving </a:t>
                </a:r>
                <a:r>
                  <a:rPr lang="en-IN" sz="2400">
                    <a:solidFill>
                      <a:srgbClr val="111827"/>
                    </a:solidFill>
                    <a:latin typeface="Cambria Math" panose="02040503050406030204" pitchFamily="18" charset="0"/>
                  </a:rPr>
                  <a:t>$a$</a:t>
                </a:r>
                <a:r>
                  <a:rPr sz="2400" b="0">
                    <a:solidFill>
                      <a:srgbClr val="111827"/>
                    </a:solidFill>
                    <a:latin typeface="Arial"/>
                  </a:rPr>
                  <a:t>: </a:t>
                </a:r>
                <a:r>
                  <a:rPr lang="en-IN" sz="2400">
                    <a:solidFill>
                      <a:srgbClr val="111827"/>
                    </a:solidFill>
                    <a:latin typeface="Cambria Math" panose="02040503050406030204" pitchFamily="18" charset="0"/>
                  </a:rPr>
                  <a:t>$(2-3)^2+(2-11)^2+(3-11)^2=1+81+64=146$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Pairs with </a:t>
                </a:r>
                <a:r>
                  <a:rPr lang="en-IN" sz="2400">
                    <a:solidFill>
                      <a:srgbClr val="111827"/>
                    </a:solidFill>
                    <a:latin typeface="Cambria Math" panose="02040503050406030204" pitchFamily="18" charset="0"/>
                  </a:rPr>
                  <a:t>$a$</a:t>
                </a:r>
                <a:r>
                  <a:rPr sz="2400" b="0">
                    <a:solidFill>
                      <a:srgbClr val="111827"/>
                    </a:solidFill>
                    <a:latin typeface="Arial"/>
                  </a:rPr>
                  <a:t>: </a:t>
                </a:r>
                <a:r>
                  <a:rPr lang="en-IN" sz="2400">
                    <a:solidFill>
                      <a:srgbClr val="111827"/>
                    </a:solidFill>
                    <a:latin typeface="Cambria Math" panose="02040503050406030204" pitchFamily="18" charset="0"/>
                  </a:rPr>
                  <a:t>$(a-2)^2+(a-3)^2+(a-11)^2=3a^2-32a+134$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$146+3a^2-32a+134=196$</a:t>
                </a:r>
                <a:r>
                  <a:rPr sz="2400" b="0">
                    <a:solidFill>
                      <a:srgbClr val="111827"/>
                    </a:solidFill>
                    <a:latin typeface="Arial"/>
                  </a:rPr>
                  <a:t>, so </a:t>
                </a:r>
                <a:r>
                  <a:rPr lang="en-IN" sz="2400">
                    <a:solidFill>
                      <a:srgbClr val="111827"/>
                    </a:solidFill>
                    <a:latin typeface="Cambria Math" panose="02040503050406030204" pitchFamily="18" charset="0"/>
                  </a:rPr>
                  <a:t>$3a^2-32a+84=0$</a:t>
                </a:r>
                <a:r>
                  <a:rPr sz="2400" b="0">
                    <a:solidFill>
                      <a:srgbClr val="111827"/>
                    </a:solidFill>
                    <a:latin typeface="Arial"/>
                  </a:rPr>
                  <a:t>, the same answer.</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14:m>
                  <m:oMath xmlns:m="http://schemas.openxmlformats.org/officeDocument/2006/math">
                    <m:r>
                      <a:rPr lang="en-IN" sz="2800" i="1">
                        <a:solidFill>
                          <a:srgbClr val="15803D"/>
                        </a:solidFill>
                        <a:latin typeface="Cambria Math" panose="02040503050406030204" pitchFamily="18" charset="0"/>
                      </a:rPr>
                      <m:t>3</m:t>
                    </m:r>
                    <m:sSup>
                      <m:e>
                        <m:r>
                          <a:rPr lang="en-IN" sz="2800" i="1">
                            <a:solidFill>
                              <a:srgbClr val="15803D"/>
                            </a:solidFill>
                            <a:latin typeface="Cambria Math" panose="02040503050406030204" pitchFamily="18" charset="0"/>
                          </a:rPr>
                          <m:t>𝑎</m:t>
                        </m:r>
                      </m:e>
                      <m:sup>
                        <m:r>
                          <a:rPr lang="en-IN" sz="2800" i="1">
                            <a:solidFill>
                              <a:srgbClr val="15803D"/>
                            </a:solidFill>
                            <a:latin typeface="Cambria Math" panose="02040503050406030204" pitchFamily="18" charset="0"/>
                          </a:rPr>
                          <m:t>2</m:t>
                        </m:r>
                      </m:sup>
                    </m:sSup>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32</m:t>
                    </m:r>
                    <m:r>
                      <a:rPr lang="en-IN" sz="2800" i="1">
                        <a:solidFill>
                          <a:srgbClr val="15803D"/>
                        </a:solidFill>
                        <a:latin typeface="Cambria Math" panose="02040503050406030204" pitchFamily="18" charset="0"/>
                      </a:rPr>
                      <m:t>𝑎</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84</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0</m:t>
                    </m:r>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r>
                  <a:rPr lang="en-IN" sz="2800">
                    <a:solidFill>
                      <a:srgbClr val="15803D"/>
                    </a:solidFill>
                    <a:latin typeface="Cambria Math" panose="02040503050406030204" pitchFamily="18" charset="0"/>
                  </a:rPr>
                  <a:t>$3a^2-32a+84=0$</a:t>
                </a:r>
                <a:endParaRPr sz="2800">
                  <a:solidFill>
                    <a:srgbClr val="15803D"/>
                  </a:solidFill>
                </a:endParaRPr>
              </a:p>
            </p:txBody>
          </p:sp>
        </mc:Fallback>
      </mc:AlternateContent>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𝑗</m:t>
                        </m:r>
                      </m:sub>
                      <m:sup>
                        <m:r>
                          <a:rPr lang="en-IN" sz="2400" i="1">
                            <a:solidFill>
                              <a:srgbClr val="111827"/>
                            </a:solidFill>
                            <a:latin typeface="Cambria Math" panose="02040503050406030204" pitchFamily="18" charset="0"/>
                          </a:rPr>
                          <m:t>​</m:t>
                        </m:r>
                      </m:sup>
                      <m:e>
                        <m:r>
                          <m:rPr>
                            <m:sty m:val="p"/>
                          </m:rPr>
                          <a:rPr lang="en-IN" sz="2400">
                            <a:solidFill>
                              <a:srgbClr val="111827"/>
                            </a:solidFill>
                            <a:latin typeface="Cambria Math" panose="02040503050406030204" pitchFamily="18" charset="0"/>
                          </a:rPr>
                          <m:t>(</m:t>
                        </m:r>
                      </m:e>
                    </m:nary>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𝑗</m:t>
                        </m:r>
                      </m:sub>
                    </m:sSub>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the variance is the average squared gap between two observations, divided by 2.</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quick option matching, expand </a:t>
                </a:r>
                <a14:m>
                  <m:oMath xmlns:m="http://schemas.openxmlformats.org/officeDocument/2006/math">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𝑛</m:t>
                        </m:r>
                      </m:den>
                    </m:f>
                    <m:r>
                      <m:rPr>
                        <m:sty m:val="p"/>
                      </m:rPr>
                      <a:rPr lang="en-IN" sz="2400">
                        <a:solidFill>
                          <a:srgbClr val="111827"/>
                        </a:solidFill>
                        <a:latin typeface="Cambria Math" panose="02040503050406030204" pitchFamily="18" charset="0"/>
                      </a:rPr>
                      <m:t>−</m:t>
                    </m:r>
                    <m:sSup>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and multiply through by </a:t>
                </a:r>
                <a14:m>
                  <m:oMath xmlns:m="http://schemas.openxmlformats.org/officeDocument/2006/math">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$n^2\sigma^2=\sum_{i&lt;j}(x_i-x_j)^2$</a:t>
                </a:r>
                <a:r>
                  <a:rPr sz="2400" b="0">
                    <a:solidFill>
                      <a:srgbClr val="111827"/>
                    </a:solidFill>
                    <a:latin typeface="Arial"/>
                  </a:rPr>
                  <a:t>: the variance is the average squared gap between two observations, divided by 2.</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quick option matching, expand </a:t>
                </a:r>
                <a:r>
                  <a:rPr lang="en-IN" sz="2400">
                    <a:solidFill>
                      <a:srgbClr val="111827"/>
                    </a:solidFill>
                    <a:latin typeface="Cambria Math" panose="02040503050406030204" pitchFamily="18" charset="0"/>
                  </a:rPr>
                  <a:t>$\sigma^2=\frac{\sum x^2}{n}-\bar{x}^2$</a:t>
                </a:r>
                <a:r>
                  <a:rPr sz="2400" b="0">
                    <a:solidFill>
                      <a:srgbClr val="111827"/>
                    </a:solidFill>
                    <a:latin typeface="Arial"/>
                  </a:rPr>
                  <a:t> and multiply through by </a:t>
                </a:r>
                <a:r>
                  <a:rPr lang="en-IN" sz="2400">
                    <a:solidFill>
                      <a:srgbClr val="111827"/>
                    </a:solidFill>
                    <a:latin typeface="Cambria Math" panose="02040503050406030204" pitchFamily="18" charset="0"/>
                  </a:rPr>
                  <a:t>$n^2$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9</m:t>
                        </m:r>
                      </m:sup>
                      <m:e>
                        <m:r>
                          <m:rPr>
                            <m:sty m:val="p"/>
                          </m:rPr>
                          <a:rPr lang="en-IN" sz="2400">
                            <a:solidFill>
                              <a:srgbClr val="111827"/>
                            </a:solidFill>
                            <a:latin typeface="Cambria Math" panose="02040503050406030204" pitchFamily="18" charset="0"/>
                          </a:rPr>
                          <m:t>(</m:t>
                        </m:r>
                      </m:e>
                    </m:nary>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and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9</m:t>
                        </m:r>
                      </m:sup>
                      <m:e>
                        <m:r>
                          <m:rPr>
                            <m:sty m:val="p"/>
                          </m:rPr>
                          <a:rPr lang="en-IN" sz="2400">
                            <a:solidFill>
                              <a:srgbClr val="111827"/>
                            </a:solidFill>
                            <a:latin typeface="Cambria Math" panose="02040503050406030204" pitchFamily="18" charset="0"/>
                          </a:rPr>
                          <m:t>(</m:t>
                        </m:r>
                      </m:e>
                    </m:nary>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m:t>
                    </m:r>
                  </m:oMath>
                </a14:m>
                <a:r>
                  <a:rPr sz="2400" b="0">
                    <a:solidFill>
                      <a:srgbClr val="111827"/>
                    </a:solidFill>
                    <a:latin typeface="Arial"/>
                  </a:rPr>
                  <a:t>, then the standard deviation of the 9 items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9</m:t>
                        </m:r>
                      </m:sub>
                    </m:sSub>
                  </m:oMath>
                </a14:m>
                <a:r>
                  <a:rPr sz="2400" b="0">
                    <a:solidFill>
                      <a:srgbClr val="111827"/>
                    </a:solidFill>
                    <a:latin typeface="Arial"/>
                  </a:rPr>
                  <a:t> is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2   (B) 3   (C) 9   (D) 4</a:t>
                </a:r>
                <a:endParaRPr sz="2400">
                  <a:solidFill>
                    <a:srgbClr val="111827"/>
                  </a:solidFill>
                </a:endParaRPr>
              </a:p>
            </p:txBody>
          </p:sp>
        </mc:Choice>
        <mc:Fallback>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$\sum_{i=1}^{9}(x_i-5)=9$</a:t>
                </a:r>
                <a:r>
                  <a:rPr sz="2400" b="0">
                    <a:solidFill>
                      <a:srgbClr val="111827"/>
                    </a:solidFill>
                    <a:latin typeface="Arial"/>
                  </a:rPr>
                  <a:t> and </a:t>
                </a:r>
                <a:r>
                  <a:rPr lang="en-IN" sz="2400">
                    <a:solidFill>
                      <a:srgbClr val="111827"/>
                    </a:solidFill>
                    <a:latin typeface="Cambria Math" panose="02040503050406030204" pitchFamily="18" charset="0"/>
                  </a:rPr>
                  <a:t>$\sum_{i=1}^{9}(x_i-5)^2=45$</a:t>
                </a:r>
                <a:r>
                  <a:rPr sz="2400" b="0">
                    <a:solidFill>
                      <a:srgbClr val="111827"/>
                    </a:solidFill>
                    <a:latin typeface="Arial"/>
                  </a:rPr>
                  <a:t>, then the standard deviation of the 9 items </a:t>
                </a:r>
                <a:r>
                  <a:rPr lang="en-IN" sz="2400">
                    <a:solidFill>
                      <a:srgbClr val="111827"/>
                    </a:solidFill>
                    <a:latin typeface="Cambria Math" panose="02040503050406030204" pitchFamily="18" charset="0"/>
                  </a:rPr>
                  <a:t>$x_1,x_2,\dots,x_9$</a:t>
                </a:r>
                <a:r>
                  <a:rPr sz="2400" b="0">
                    <a:solidFill>
                      <a:srgbClr val="111827"/>
                    </a:solidFill>
                    <a:latin typeface="Arial"/>
                  </a:rPr>
                  <a:t> is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2   (B) 3   (C) 9   (D) 4</a:t>
                </a:r>
                <a:endParaRPr sz="2400">
                  <a:solidFill>
                    <a:srgbClr val="111827"/>
                  </a:solidFill>
                </a:endParaRPr>
              </a:p>
            </p:txBody>
          </p:sp>
        </mc:Fallback>
      </mc:AlternateContent>
      <p:sp>
        <p:nvSpPr>
          <p:cNvPr id="5" name="Rectangle 4"/>
          <p:cNvSpPr/>
          <p:nvPr/>
        </p:nvSpPr>
        <p:spPr>
          <a:xfrm>
            <a:off x="731520" y="3580383"/>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Standard deviation from sums about a point</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Variance does not change if the origin is shifted by 5, so work with </a:t>
                </a:r>
                <a14:m>
                  <m:oMath xmlns:m="http://schemas.openxmlformats.org/officeDocument/2006/math">
                    <m:sSub>
                      <m:e>
                        <m:r>
                          <a:rPr lang="en-IN" sz="2400" i="1">
                            <a:solidFill>
                              <a:srgbClr val="78350F"/>
                            </a:solidFill>
                            <a:latin typeface="Cambria Math" panose="02040503050406030204" pitchFamily="18" charset="0"/>
                          </a:rPr>
                          <m:t>𝑦</m:t>
                        </m:r>
                      </m:e>
                      <m:sub>
                        <m:r>
                          <a:rPr lang="en-IN" sz="2400" i="1">
                            <a:solidFill>
                              <a:srgbClr val="78350F"/>
                            </a:solidFill>
                            <a:latin typeface="Cambria Math" panose="02040503050406030204" pitchFamily="18" charset="0"/>
                          </a:rPr>
                          <m:t>𝑖</m:t>
                        </m:r>
                      </m:sub>
                    </m:sSub>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𝑥</m:t>
                        </m:r>
                      </m:e>
                      <m:sub>
                        <m:r>
                          <a:rPr lang="en-IN" sz="2400" i="1">
                            <a:solidFill>
                              <a:srgbClr val="78350F"/>
                            </a:solidFill>
                            <a:latin typeface="Cambria Math" panose="02040503050406030204" pitchFamily="18" charset="0"/>
                          </a:rPr>
                          <m:t>𝑖</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5</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Variance does not change if the origin is shifted by 5, so work with </a:t>
                </a:r>
                <a:r>
                  <a:rPr lang="en-IN" sz="2400">
                    <a:solidFill>
                      <a:srgbClr val="78350F"/>
                    </a:solidFill>
                    <a:latin typeface="Cambria Math" panose="02040503050406030204" pitchFamily="18" charset="0"/>
                  </a:rPr>
                  <a:t>$y_i=x_i-5$</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standard deviation of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oMath>
                </a14:m>
                <a:r>
                  <a:rPr sz="2400" b="0">
                    <a:solidFill>
                      <a:srgbClr val="111827"/>
                    </a:solidFill>
                    <a:latin typeface="Arial"/>
                  </a:rPr>
                  <a:t> equals that of </a:t>
                </a:r>
                <a14:m>
                  <m:oMath xmlns:m="http://schemas.openxmlformats.org/officeDocument/2006/math">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𝑖</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σ</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2</m:t>
                                </m:r>
                              </m:sup>
                            </m:sSubSup>
                          </m:num>
                          <m:den>
                            <m:r>
                              <a:rPr lang="en-IN" sz="2400" i="1">
                                <a:solidFill>
                                  <a:srgbClr val="111827"/>
                                </a:solidFill>
                                <a:latin typeface="Cambria Math" panose="02040503050406030204" pitchFamily="18" charset="0"/>
                              </a:rPr>
                              <m:t>𝑛</m:t>
                            </m:r>
                          </m:den>
                        </m:f>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𝑖</m:t>
                                        </m:r>
                                      </m:sub>
                                    </m:sSub>
                                  </m:num>
                                  <m:den>
                                    <m:r>
                                      <a:rPr lang="en-IN" sz="2400" i="1">
                                        <a:solidFill>
                                          <a:srgbClr val="111827"/>
                                        </a:solidFill>
                                        <a:latin typeface="Cambria Math" panose="02040503050406030204" pitchFamily="18" charset="0"/>
                                      </a:rPr>
                                      <m:t>𝑛</m:t>
                                    </m:r>
                                  </m:den>
                                </m:f>
                              </m:e>
                            </m:d>
                          </m:e>
                          <m:sup>
                            <m:r>
                              <a:rPr lang="en-IN" sz="2400" i="1">
                                <a:solidFill>
                                  <a:srgbClr val="111827"/>
                                </a:solidFill>
                                <a:latin typeface="Cambria Math" panose="02040503050406030204" pitchFamily="18" charset="0"/>
                              </a:rPr>
                              <m:t>2</m:t>
                            </m:r>
                          </m:sup>
                        </m:sSup>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45</m:t>
                            </m:r>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9</m:t>
                                    </m:r>
                                  </m:den>
                                </m:f>
                              </m:e>
                            </m:d>
                          </m:e>
                          <m:sup>
                            <m:r>
                              <a:rPr lang="en-IN" sz="2400" i="1">
                                <a:solidFill>
                                  <a:srgbClr val="111827"/>
                                </a:solidFill>
                                <a:latin typeface="Cambria Math" panose="02040503050406030204" pitchFamily="18" charset="0"/>
                              </a:rPr>
                              <m:t>2</m:t>
                            </m:r>
                          </m:sup>
                        </m:sSup>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σ</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option (A).</a:t>
                </a:r>
                <a:endParaRPr sz="2400">
                  <a:solidFill>
                    <a:srgbClr val="111827"/>
                  </a:solidFill>
                </a:endParaRPr>
              </a:p>
            </p:txBody>
          </p:sp>
        </mc:Choice>
        <mc:Fallback>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$y_i=x_i-5$</a:t>
                </a:r>
                <a:r>
                  <a:rPr sz="2400" b="0">
                    <a:solidFill>
                      <a:srgbClr val="111827"/>
                    </a:solidFill>
                    <a:latin typeface="Arial"/>
                  </a:rPr>
                  <a:t>: </a:t>
                </a:r>
                <a:r>
                  <a:rPr lang="en-IN" sz="2400">
                    <a:solidFill>
                      <a:srgbClr val="111827"/>
                    </a:solidFill>
                    <a:latin typeface="Cambria Math" panose="02040503050406030204" pitchFamily="18" charset="0"/>
                  </a:rPr>
                  <a:t>$\sum y_i=9$</a:t>
                </a:r>
                <a:r>
                  <a:rPr sz="2400" b="0">
                    <a:solidFill>
                      <a:srgbClr val="111827"/>
                    </a:solidFill>
                    <a:latin typeface="Arial"/>
                  </a:rPr>
                  <a:t>, </a:t>
                </a:r>
                <a:r>
                  <a:rPr lang="en-IN" sz="2400">
                    <a:solidFill>
                      <a:srgbClr val="111827"/>
                    </a:solidFill>
                    <a:latin typeface="Cambria Math" panose="02040503050406030204" pitchFamily="18" charset="0"/>
                  </a:rPr>
                  <a:t>$\sum y_i^2=45$</a:t>
                </a:r>
                <a:r>
                  <a:rPr sz="2400" b="0">
                    <a:solidFill>
                      <a:srgbClr val="111827"/>
                    </a:solidFill>
                    <a:latin typeface="Arial"/>
                  </a:rPr>
                  <a:t>, </a:t>
                </a:r>
                <a:r>
                  <a:rPr lang="en-IN" sz="2400">
                    <a:solidFill>
                      <a:srgbClr val="111827"/>
                    </a:solidFill>
                    <a:latin typeface="Cambria Math" panose="02040503050406030204" pitchFamily="18" charset="0"/>
                  </a:rPr>
                  <a:t>$n=9$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standard deviation of </a:t>
                </a:r>
                <a:r>
                  <a:rPr lang="en-IN" sz="2400">
                    <a:solidFill>
                      <a:srgbClr val="111827"/>
                    </a:solidFill>
                    <a:latin typeface="Cambria Math" panose="02040503050406030204" pitchFamily="18" charset="0"/>
                  </a:rPr>
                  <a:t>$x_i$</a:t>
                </a:r>
                <a:r>
                  <a:rPr sz="2400" b="0">
                    <a:solidFill>
                      <a:srgbClr val="111827"/>
                    </a:solidFill>
                    <a:latin typeface="Arial"/>
                  </a:rPr>
                  <a:t> equals that of </a:t>
                </a:r>
                <a:r>
                  <a:rPr lang="en-IN" sz="2400">
                    <a:solidFill>
                      <a:srgbClr val="111827"/>
                    </a:solidFill>
                    <a:latin typeface="Cambria Math" panose="02040503050406030204" pitchFamily="18" charset="0"/>
                  </a:rPr>
                  <a:t>$y_i$</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$\sigma=\sqrt{\frac{\sum y_i^2}{n}-\left(\frac{\sum y_i}{n}\right)^2}=\sqrt{\frac{45}{9}-\left(\frac{9}{9}\right)^2}$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$\sigma=\sqrt{5-1}=2$</a:t>
                </a:r>
                <a:r>
                  <a:rPr sz="2400" b="0">
                    <a:solidFill>
                      <a:srgbClr val="111827"/>
                    </a:solidFill>
                    <a:latin typeface="Arial"/>
                  </a:rPr>
                  <a:t>, option (A).</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2</a:t>
            </a:r>
            <a:endParaRPr sz="2800">
              <a:solidFill>
                <a:srgbClr val="15803D"/>
              </a:solidFill>
            </a:endParaRP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then </a:t>
                </a:r>
                <a14:m>
                  <m:oMath xmlns:m="http://schemas.openxmlformats.org/officeDocument/2006/math">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𝐵</m:t>
                        </m:r>
                      </m:num>
                      <m:den>
                        <m:r>
                          <a:rPr lang="en-IN" sz="2400" i="1">
                            <a:solidFill>
                              <a:srgbClr val="111827"/>
                            </a:solidFill>
                            <a:latin typeface="Cambria Math" panose="02040503050406030204" pitchFamily="18" charset="0"/>
                          </a:rPr>
                          <m:t>𝑛</m:t>
                        </m:r>
                      </m:den>
                    </m:f>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𝑛</m:t>
                                </m:r>
                              </m:den>
                            </m:f>
                          </m:e>
                        </m:d>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for every choice of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(variance is origin-free).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Also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𝑛</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$\sum(x_i-a)=A$</a:t>
                </a:r>
                <a:r>
                  <a:rPr sz="2400" b="0">
                    <a:solidFill>
                      <a:srgbClr val="111827"/>
                    </a:solidFill>
                    <a:latin typeface="Arial"/>
                  </a:rPr>
                  <a:t> and </a:t>
                </a:r>
                <a:r>
                  <a:rPr lang="en-IN" sz="2400">
                    <a:solidFill>
                      <a:srgbClr val="111827"/>
                    </a:solidFill>
                    <a:latin typeface="Cambria Math" panose="02040503050406030204" pitchFamily="18" charset="0"/>
                  </a:rPr>
                  <a:t>$\sum(x_i-a)^2=B$</a:t>
                </a:r>
                <a:r>
                  <a:rPr sz="2400" b="0">
                    <a:solidFill>
                      <a:srgbClr val="111827"/>
                    </a:solidFill>
                    <a:latin typeface="Arial"/>
                  </a:rPr>
                  <a:t> then </a:t>
                </a:r>
                <a:r>
                  <a:rPr lang="en-IN" sz="2400">
                    <a:solidFill>
                      <a:srgbClr val="111827"/>
                    </a:solidFill>
                    <a:latin typeface="Cambria Math" panose="02040503050406030204" pitchFamily="18" charset="0"/>
                  </a:rPr>
                  <a:t>$\sigma^2=\frac{B}{n}-\left(\frac{A}{n}\right)^2$</a:t>
                </a:r>
                <a:r>
                  <a:rPr sz="2400" b="0">
                    <a:solidFill>
                      <a:srgbClr val="111827"/>
                    </a:solidFill>
                    <a:latin typeface="Arial"/>
                  </a:rPr>
                  <a:t> for every choice of </a:t>
                </a:r>
                <a:r>
                  <a:rPr lang="en-IN" sz="2400">
                    <a:solidFill>
                      <a:srgbClr val="111827"/>
                    </a:solidFill>
                    <a:latin typeface="Cambria Math" panose="02040503050406030204" pitchFamily="18" charset="0"/>
                  </a:rPr>
                  <a:t>$a$</a:t>
                </a:r>
                <a:r>
                  <a:rPr sz="2400" b="0">
                    <a:solidFill>
                      <a:srgbClr val="111827"/>
                    </a:solidFill>
                    <a:latin typeface="Arial"/>
                  </a:rPr>
                  <a:t> (variance is origin-free).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Also </a:t>
                </a:r>
                <a:r>
                  <a:rPr lang="en-IN" sz="2400">
                    <a:solidFill>
                      <a:srgbClr val="111827"/>
                    </a:solidFill>
                    <a:latin typeface="Cambria Math" panose="02040503050406030204" pitchFamily="18" charset="0"/>
                  </a:rPr>
                  <a:t>$\bar{x}=a+\frac{A}{n}$</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8153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mean and the standard deviation (s.d.) of 10 observations are 20 and 2 respectively. Each of these 10 observations is multiplied by </a:t>
                </a:r>
                <a14:m>
                  <m:oMath xmlns:m="http://schemas.openxmlformats.org/officeDocument/2006/math">
                    <m:r>
                      <a:rPr lang="en-IN" sz="2400" i="1">
                        <a:solidFill>
                          <a:srgbClr val="111827"/>
                        </a:solidFill>
                        <a:latin typeface="Cambria Math" panose="02040503050406030204" pitchFamily="18" charset="0"/>
                      </a:rPr>
                      <m:t>𝑝</m:t>
                    </m:r>
                  </m:oMath>
                </a14:m>
                <a:r>
                  <a:rPr sz="2400" b="0">
                    <a:solidFill>
                      <a:srgbClr val="111827"/>
                    </a:solidFill>
                    <a:latin typeface="Arial"/>
                  </a:rPr>
                  <a:t> and then reduced by </a:t>
                </a:r>
                <a14:m>
                  <m:oMath xmlns:m="http://schemas.openxmlformats.org/officeDocument/2006/math">
                    <m:r>
                      <a:rPr lang="en-IN" sz="2400" i="1">
                        <a:solidFill>
                          <a:srgbClr val="111827"/>
                        </a:solidFill>
                        <a:latin typeface="Cambria Math" panose="02040503050406030204" pitchFamily="18" charset="0"/>
                      </a:rPr>
                      <m:t>𝑞</m:t>
                    </m:r>
                  </m:oMath>
                </a14:m>
                <a:r>
                  <a:rPr sz="2400" b="0">
                    <a:solidFill>
                      <a:srgbClr val="111827"/>
                    </a:solidFill>
                    <a:latin typeface="Arial"/>
                  </a:rPr>
                  <a:t>, where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If the new mean and new s.d. become half of their original values, then </a:t>
                </a:r>
                <a14:m>
                  <m:oMath xmlns:m="http://schemas.openxmlformats.org/officeDocument/2006/math">
                    <m:r>
                      <a:rPr lang="en-IN" sz="2400" i="1">
                        <a:solidFill>
                          <a:srgbClr val="111827"/>
                        </a:solidFill>
                        <a:latin typeface="Cambria Math" panose="02040503050406030204" pitchFamily="18" charset="0"/>
                      </a:rPr>
                      <m:t>𝑞</m:t>
                    </m:r>
                  </m:oMath>
                </a14:m>
                <a:r>
                  <a:rPr sz="2400" b="0">
                    <a:solidFill>
                      <a:srgbClr val="111827"/>
                    </a:solidFill>
                    <a:latin typeface="Arial"/>
                  </a:rPr>
                  <a:t> is equal to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oMath>
                </a14:m>
                <a:r>
                  <a:rPr sz="2400" b="0">
                    <a:solidFill>
                      <a:srgbClr val="111827"/>
                    </a:solidFill>
                    <a:latin typeface="Arial"/>
                  </a:rPr>
                  <a:t>   (B)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(C)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10</m:t>
                    </m:r>
                  </m:oMath>
                </a14:m>
                <a:endParaRPr sz="2400">
                  <a:solidFill>
                    <a:srgbClr val="111827"/>
                  </a:solidFill>
                </a:endParaRPr>
              </a:p>
            </p:txBody>
          </p:sp>
        </mc:Choice>
        <mc:Fallback>
          <p:sp>
            <p:nvSpPr>
              <p:cNvPr id="4" name="Rounded Rectangle 3"/>
              <p:cNvSpPr/>
              <p:nvPr/>
            </p:nvSpPr>
            <p:spPr>
              <a:xfrm>
                <a:off x="731520" y="1280160"/>
                <a:ext cx="10725912" cy="28153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mean and the standard deviation (s.d.) of 10 observations are 20 and 2 respectively. Each of these 10 observations is multiplied by </a:t>
                </a:r>
                <a:r>
                  <a:rPr lang="en-IN" sz="2400">
                    <a:solidFill>
                      <a:srgbClr val="111827"/>
                    </a:solidFill>
                    <a:latin typeface="Cambria Math" panose="02040503050406030204" pitchFamily="18" charset="0"/>
                  </a:rPr>
                  <a:t>$p$</a:t>
                </a:r>
                <a:r>
                  <a:rPr sz="2400" b="0">
                    <a:solidFill>
                      <a:srgbClr val="111827"/>
                    </a:solidFill>
                    <a:latin typeface="Arial"/>
                  </a:rPr>
                  <a:t> and then reduced by </a:t>
                </a:r>
                <a:r>
                  <a:rPr lang="en-IN" sz="2400">
                    <a:solidFill>
                      <a:srgbClr val="111827"/>
                    </a:solidFill>
                    <a:latin typeface="Cambria Math" panose="02040503050406030204" pitchFamily="18" charset="0"/>
                  </a:rPr>
                  <a:t>$q$</a:t>
                </a:r>
                <a:r>
                  <a:rPr sz="2400" b="0">
                    <a:solidFill>
                      <a:srgbClr val="111827"/>
                    </a:solidFill>
                    <a:latin typeface="Arial"/>
                  </a:rPr>
                  <a:t>, where </a:t>
                </a:r>
                <a:r>
                  <a:rPr lang="en-IN" sz="2400">
                    <a:solidFill>
                      <a:srgbClr val="111827"/>
                    </a:solidFill>
                    <a:latin typeface="Cambria Math" panose="02040503050406030204" pitchFamily="18" charset="0"/>
                  </a:rPr>
                  <a:t>$p\neq0$</a:t>
                </a:r>
                <a:r>
                  <a:rPr sz="2400" b="0">
                    <a:solidFill>
                      <a:srgbClr val="111827"/>
                    </a:solidFill>
                    <a:latin typeface="Arial"/>
                  </a:rPr>
                  <a:t> and </a:t>
                </a:r>
                <a:r>
                  <a:rPr lang="en-IN" sz="2400">
                    <a:solidFill>
                      <a:srgbClr val="111827"/>
                    </a:solidFill>
                    <a:latin typeface="Cambria Math" panose="02040503050406030204" pitchFamily="18" charset="0"/>
                  </a:rPr>
                  <a:t>$q\neq0$</a:t>
                </a:r>
                <a:r>
                  <a:rPr sz="2400" b="0">
                    <a:solidFill>
                      <a:srgbClr val="111827"/>
                    </a:solidFill>
                    <a:latin typeface="Arial"/>
                  </a:rPr>
                  <a:t>. If the new mean and new s.d. become half of their original values, then </a:t>
                </a:r>
                <a:r>
                  <a:rPr lang="en-IN" sz="2400">
                    <a:solidFill>
                      <a:srgbClr val="111827"/>
                    </a:solidFill>
                    <a:latin typeface="Cambria Math" panose="02040503050406030204" pitchFamily="18" charset="0"/>
                  </a:rPr>
                  <a:t>$q$</a:t>
                </a:r>
                <a:r>
                  <a:rPr sz="2400" b="0">
                    <a:solidFill>
                      <a:srgbClr val="111827"/>
                    </a:solidFill>
                    <a:latin typeface="Arial"/>
                  </a:rPr>
                  <a:t> is equal to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$-20$</a:t>
                </a:r>
                <a:r>
                  <a:rPr sz="2400" b="0">
                    <a:solidFill>
                      <a:srgbClr val="111827"/>
                    </a:solidFill>
                    <a:latin typeface="Arial"/>
                  </a:rPr>
                  <a:t>   (B) </a:t>
                </a:r>
                <a:r>
                  <a:rPr lang="en-IN" sz="2400">
                    <a:solidFill>
                      <a:srgbClr val="111827"/>
                    </a:solidFill>
                    <a:latin typeface="Cambria Math" panose="02040503050406030204" pitchFamily="18" charset="0"/>
                  </a:rPr>
                  <a:t>$-10$</a:t>
                </a:r>
                <a:r>
                  <a:rPr sz="2400" b="0">
                    <a:solidFill>
                      <a:srgbClr val="111827"/>
                    </a:solidFill>
                    <a:latin typeface="Arial"/>
                  </a:rPr>
                  <a:t>   (C) </a:t>
                </a:r>
                <a:r>
                  <a:rPr lang="en-IN" sz="2400">
                    <a:solidFill>
                      <a:srgbClr val="111827"/>
                    </a:solidFill>
                    <a:latin typeface="Cambria Math" panose="02040503050406030204" pitchFamily="18" charset="0"/>
                  </a:rPr>
                  <a:t>$-5$</a:t>
                </a:r>
                <a:r>
                  <a:rPr sz="2400" b="0">
                    <a:solidFill>
                      <a:srgbClr val="111827"/>
                    </a:solidFill>
                    <a:latin typeface="Arial"/>
                  </a:rPr>
                  <a:t>   (D) </a:t>
                </a:r>
                <a:r>
                  <a:rPr lang="en-IN" sz="2400">
                    <a:solidFill>
                      <a:srgbClr val="111827"/>
                    </a:solidFill>
                    <a:latin typeface="Cambria Math" panose="02040503050406030204" pitchFamily="18" charset="0"/>
                  </a:rPr>
                  <a:t>$10$</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4324095"/>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Mean and standard deviation under a linear change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oMath>
                </a14:m>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Choice>
        <mc:Fallback>
          <p:sp>
            <p:nvSpPr>
              <p:cNvPr id="5" name="Rectangle 4"/>
              <p:cNvSpPr/>
              <p:nvPr/>
            </p:nvSpPr>
            <p:spPr>
              <a:xfrm>
                <a:off x="731520" y="4324095"/>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Mean and standard deviation under a linear change </a:t>
                </a:r>
                <a:r>
                  <a:rPr lang="en-IN" sz="2400">
                    <a:solidFill>
                      <a:srgbClr val="111827"/>
                    </a:solidFill>
                    <a:latin typeface="Cambria Math" panose="02040503050406030204" pitchFamily="18" charset="0"/>
                  </a:rPr>
                  <a:t>$y=px-q$</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Fallback>
      </mc:AlternateContent>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New mean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𝑝</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𝑥</m:t>
                        </m:r>
                      </m:e>
                    </m:acc>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𝑞</m:t>
                    </m:r>
                  </m:oMath>
                </a14:m>
                <a:r>
                  <a:rPr sz="2400" b="0">
                    <a:solidFill>
                      <a:srgbClr val="78350F"/>
                    </a:solidFill>
                    <a:latin typeface="Arial"/>
                  </a:rPr>
                  <a:t>, new s.d. </a:t>
                </a:r>
                <a14:m>
                  <m:oMath xmlns:m="http://schemas.openxmlformats.org/officeDocument/2006/math">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𝑝</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σ</m:t>
                    </m:r>
                  </m:oMath>
                </a14:m>
                <a:r>
                  <a:rPr sz="2400" b="0">
                    <a:solidFill>
                      <a:srgbClr val="78350F"/>
                    </a:solidFill>
                    <a:latin typeface="Arial"/>
                  </a:rPr>
                  <a:t>; the s.d. condition gives </a:t>
                </a:r>
                <a14:m>
                  <m:oMath xmlns:m="http://schemas.openxmlformats.org/officeDocument/2006/math">
                    <m:r>
                      <a:rPr lang="en-IN" sz="2400" i="1">
                        <a:solidFill>
                          <a:srgbClr val="78350F"/>
                        </a:solidFill>
                        <a:latin typeface="Cambria Math" panose="02040503050406030204" pitchFamily="18" charset="0"/>
                      </a:rPr>
                      <m:t>𝑝</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2</m:t>
                        </m:r>
                      </m:den>
                    </m:f>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𝑞</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 picks the sign.</a:t>
                </a:r>
                <a:endParaRPr sz="2400">
                  <a:solidFill>
                    <a:srgbClr val="78350F"/>
                  </a:solidFill>
                </a:endParaRPr>
              </a:p>
            </p:txBody>
          </p:sp>
        </mc:Choice>
        <mc:Fallback>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New mean </a:t>
                </a:r>
                <a:r>
                  <a:rPr lang="en-IN" sz="2400">
                    <a:solidFill>
                      <a:srgbClr val="78350F"/>
                    </a:solidFill>
                    <a:latin typeface="Cambria Math" panose="02040503050406030204" pitchFamily="18" charset="0"/>
                  </a:rPr>
                  <a:t>$=p\bar{x}-q$</a:t>
                </a:r>
                <a:r>
                  <a:rPr sz="2400" b="0">
                    <a:solidFill>
                      <a:srgbClr val="78350F"/>
                    </a:solidFill>
                    <a:latin typeface="Arial"/>
                  </a:rPr>
                  <a:t>, new s.d. </a:t>
                </a:r>
                <a:r>
                  <a:rPr lang="en-IN" sz="2400">
                    <a:solidFill>
                      <a:srgbClr val="78350F"/>
                    </a:solidFill>
                    <a:latin typeface="Cambria Math" panose="02040503050406030204" pitchFamily="18" charset="0"/>
                  </a:rPr>
                  <a:t>$=|p|\sigma$</a:t>
                </a:r>
                <a:r>
                  <a:rPr sz="2400" b="0">
                    <a:solidFill>
                      <a:srgbClr val="78350F"/>
                    </a:solidFill>
                    <a:latin typeface="Arial"/>
                  </a:rPr>
                  <a:t>; the s.d. condition gives </a:t>
                </a:r>
                <a:r>
                  <a:rPr lang="en-IN" sz="2400">
                    <a:solidFill>
                      <a:srgbClr val="78350F"/>
                    </a:solidFill>
                    <a:latin typeface="Cambria Math" panose="02040503050406030204" pitchFamily="18" charset="0"/>
                  </a:rPr>
                  <a:t>$p=\pm\frac{1}{2}$</a:t>
                </a:r>
                <a:r>
                  <a:rPr sz="2400" b="0">
                    <a:solidFill>
                      <a:srgbClr val="78350F"/>
                    </a:solidFill>
                    <a:latin typeface="Arial"/>
                  </a:rPr>
                  <a:t> and </a:t>
                </a:r>
                <a:r>
                  <a:rPr lang="en-IN" sz="2400">
                    <a:solidFill>
                      <a:srgbClr val="78350F"/>
                    </a:solidFill>
                    <a:latin typeface="Cambria Math" panose="02040503050406030204" pitchFamily="18" charset="0"/>
                  </a:rPr>
                  <a:t>$q\neq0$</a:t>
                </a:r>
                <a:r>
                  <a:rPr sz="2400" b="0">
                    <a:solidFill>
                      <a:srgbClr val="78350F"/>
                    </a:solidFill>
                    <a:latin typeface="Arial"/>
                  </a:rPr>
                  <a:t> picks the sign.</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636520"/>
                <a:ext cx="10725912" cy="315163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New mean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20</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 (1).</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New s.d.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σ</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σ</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(1) gives </a:t>
                </a: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which is excluded (</a:t>
                </a: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(1) gives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oMath>
                </a14:m>
                <a:r>
                  <a:rPr sz="2400" b="0">
                    <a:solidFill>
                      <a:srgbClr val="111827"/>
                    </a:solidFill>
                    <a:latin typeface="Arial"/>
                  </a:rPr>
                  <a:t>, option (A).</a:t>
                </a:r>
                <a:endParaRPr sz="2400">
                  <a:solidFill>
                    <a:srgbClr val="111827"/>
                  </a:solidFill>
                </a:endParaRPr>
              </a:p>
            </p:txBody>
          </p:sp>
        </mc:Choice>
        <mc:Fallback>
          <p:sp>
            <p:nvSpPr>
              <p:cNvPr id="5" name="Rectangle 4"/>
              <p:cNvSpPr/>
              <p:nvPr/>
            </p:nvSpPr>
            <p:spPr>
              <a:xfrm>
                <a:off x="731520" y="2636520"/>
                <a:ext cx="10725912" cy="315163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New mean </a:t>
                </a:r>
                <a:r>
                  <a:rPr lang="en-IN" sz="2400">
                    <a:solidFill>
                      <a:srgbClr val="111827"/>
                    </a:solidFill>
                    <a:latin typeface="Cambria Math" panose="02040503050406030204" pitchFamily="18" charset="0"/>
                  </a:rPr>
                  <a:t>$=p\bar{x}-q=\frac{\bar{x}}{2}=10$</a:t>
                </a:r>
                <a:r>
                  <a:rPr sz="2400" b="0">
                    <a:solidFill>
                      <a:srgbClr val="111827"/>
                    </a:solidFill>
                    <a:latin typeface="Arial"/>
                  </a:rPr>
                  <a:t>, so </a:t>
                </a:r>
                <a:r>
                  <a:rPr lang="en-IN" sz="2400">
                    <a:solidFill>
                      <a:srgbClr val="111827"/>
                    </a:solidFill>
                    <a:latin typeface="Cambria Math" panose="02040503050406030204" pitchFamily="18" charset="0"/>
                  </a:rPr>
                  <a:t>$20p-q=10$</a:t>
                </a:r>
                <a:r>
                  <a:rPr sz="2400" b="0">
                    <a:solidFill>
                      <a:srgbClr val="111827"/>
                    </a:solidFill>
                    <a:latin typeface="Arial"/>
                  </a:rPr>
                  <a:t> ... (1).</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New s.d. </a:t>
                </a:r>
                <a:r>
                  <a:rPr lang="en-IN" sz="2400">
                    <a:solidFill>
                      <a:srgbClr val="111827"/>
                    </a:solidFill>
                    <a:latin typeface="Cambria Math" panose="02040503050406030204" pitchFamily="18" charset="0"/>
                  </a:rPr>
                  <a:t>$=|p|\sigma=\frac{\sigma}{2}$</a:t>
                </a:r>
                <a:r>
                  <a:rPr sz="2400" b="0">
                    <a:solidFill>
                      <a:srgbClr val="111827"/>
                    </a:solidFill>
                    <a:latin typeface="Arial"/>
                  </a:rPr>
                  <a:t> gives </a:t>
                </a:r>
                <a:r>
                  <a:rPr lang="en-IN" sz="2400">
                    <a:solidFill>
                      <a:srgbClr val="111827"/>
                    </a:solidFill>
                    <a:latin typeface="Cambria Math" panose="02040503050406030204" pitchFamily="18" charset="0"/>
                  </a:rPr>
                  <a:t>$2|p|=1$</a:t>
                </a:r>
                <a:r>
                  <a:rPr sz="2400" b="0">
                    <a:solidFill>
                      <a:srgbClr val="111827"/>
                    </a:solidFill>
                    <a:latin typeface="Arial"/>
                  </a:rPr>
                  <a:t>, so </a:t>
                </a:r>
                <a:r>
                  <a:rPr lang="en-IN" sz="2400">
                    <a:solidFill>
                      <a:srgbClr val="111827"/>
                    </a:solidFill>
                    <a:latin typeface="Cambria Math" panose="02040503050406030204" pitchFamily="18" charset="0"/>
                  </a:rPr>
                  <a:t>$p=\pm\frac{1}{2}$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$p=\frac{1}{2}$</a:t>
                </a:r>
                <a:r>
                  <a:rPr sz="2400" b="0">
                    <a:solidFill>
                      <a:srgbClr val="111827"/>
                    </a:solidFill>
                    <a:latin typeface="Arial"/>
                  </a:rPr>
                  <a:t>, (1) gives </a:t>
                </a:r>
                <a:r>
                  <a:rPr lang="en-IN" sz="2400">
                    <a:solidFill>
                      <a:srgbClr val="111827"/>
                    </a:solidFill>
                    <a:latin typeface="Cambria Math" panose="02040503050406030204" pitchFamily="18" charset="0"/>
                  </a:rPr>
                  <a:t>$q=0$</a:t>
                </a:r>
                <a:r>
                  <a:rPr sz="2400" b="0">
                    <a:solidFill>
                      <a:srgbClr val="111827"/>
                    </a:solidFill>
                    <a:latin typeface="Arial"/>
                  </a:rPr>
                  <a:t>, which is excluded (</a:t>
                </a:r>
                <a:r>
                  <a:rPr lang="en-IN" sz="2400">
                    <a:solidFill>
                      <a:srgbClr val="111827"/>
                    </a:solidFill>
                    <a:latin typeface="Cambria Math" panose="02040503050406030204" pitchFamily="18" charset="0"/>
                  </a:rPr>
                  <a:t>$q\neq0$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$p=-\frac{1}{2}$</a:t>
                </a:r>
                <a:r>
                  <a:rPr sz="2400" b="0">
                    <a:solidFill>
                      <a:srgbClr val="111827"/>
                    </a:solidFill>
                    <a:latin typeface="Arial"/>
                  </a:rPr>
                  <a:t>, (1) gives </a:t>
                </a:r>
                <a:r>
                  <a:rPr lang="en-IN" sz="2400">
                    <a:solidFill>
                      <a:srgbClr val="111827"/>
                    </a:solidFill>
                    <a:latin typeface="Cambria Math" panose="02040503050406030204" pitchFamily="18" charset="0"/>
                  </a:rPr>
                  <a:t>$-10-q=10$</a:t>
                </a:r>
                <a:r>
                  <a:rPr sz="2400" b="0">
                    <a:solidFill>
                      <a:srgbClr val="111827"/>
                    </a:solidFill>
                    <a:latin typeface="Arial"/>
                  </a:rPr>
                  <a:t>, so </a:t>
                </a:r>
                <a:r>
                  <a:rPr lang="en-IN" sz="2400">
                    <a:solidFill>
                      <a:srgbClr val="111827"/>
                    </a:solidFill>
                    <a:latin typeface="Cambria Math" panose="02040503050406030204" pitchFamily="18" charset="0"/>
                  </a:rPr>
                  <a:t>$q=-20$</a:t>
                </a:r>
                <a:r>
                  <a:rPr sz="2400" b="0">
                    <a:solidFill>
                      <a:srgbClr val="111827"/>
                    </a:solidFill>
                    <a:latin typeface="Arial"/>
                  </a:rPr>
                  <a:t>, option (A).</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14:m>
                  <m:oMath xmlns:m="http://schemas.openxmlformats.org/officeDocument/2006/math">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20</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r>
                  <a:rPr lang="en-IN" sz="2800">
                    <a:solidFill>
                      <a:srgbClr val="15803D"/>
                    </a:solidFill>
                    <a:latin typeface="Cambria Math" panose="02040503050406030204" pitchFamily="18" charset="0"/>
                  </a:rPr>
                  <a:t>$-20$</a:t>
                </a:r>
                <a:endParaRPr sz="2800">
                  <a:solidFill>
                    <a:srgbClr val="15803D"/>
                  </a:solidFill>
                </a:endParaRPr>
              </a:p>
            </p:txBody>
          </p:sp>
        </mc:Fallback>
      </mc:AlternateContent>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Under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𝑦</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σ</m:t>
                        </m:r>
                      </m:e>
                      <m:sub>
                        <m:r>
                          <a:rPr lang="en-IN" sz="2400" i="1">
                            <a:solidFill>
                              <a:srgbClr val="111827"/>
                            </a:solidFill>
                            <a:latin typeface="Cambria Math" panose="02040503050406030204" pitchFamily="18" charset="0"/>
                          </a:rPr>
                          <m:t>𝑦</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σ</m:t>
                        </m:r>
                      </m:e>
                      <m:sub>
                        <m:r>
                          <a:rPr lang="en-IN" sz="2400" i="1">
                            <a:solidFill>
                              <a:srgbClr val="111827"/>
                            </a:solidFill>
                            <a:latin typeface="Cambria Math" panose="02040503050406030204" pitchFamily="18" charset="0"/>
                          </a:rPr>
                          <m:t>𝑥</m:t>
                        </m:r>
                      </m:sub>
                    </m:sSub>
                  </m:oMath>
                </a14:m>
                <a:r>
                  <a:rPr sz="2400" b="0">
                    <a:solidFill>
                      <a:srgbClr val="111827"/>
                    </a:solidFill>
                    <a:latin typeface="Arial"/>
                  </a:rPr>
                  <a:t>; the s.d. fixes only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check both signs of </a:t>
                </a:r>
                <a14:m>
                  <m:oMath xmlns:m="http://schemas.openxmlformats.org/officeDocument/2006/math">
                    <m:r>
                      <a:rPr lang="en-IN" sz="2400" i="1">
                        <a:solidFill>
                          <a:srgbClr val="111827"/>
                        </a:solidFill>
                        <a:latin typeface="Cambria Math" panose="02040503050406030204" pitchFamily="18" charset="0"/>
                      </a:rPr>
                      <m:t>𝑝</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Always test excluded values given in the question (</a:t>
                </a: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rules out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here).</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Under </a:t>
                </a:r>
                <a:r>
                  <a:rPr lang="en-IN" sz="2400">
                    <a:solidFill>
                      <a:srgbClr val="111827"/>
                    </a:solidFill>
                    <a:latin typeface="Cambria Math" panose="02040503050406030204" pitchFamily="18" charset="0"/>
                  </a:rPr>
                  <a:t>$y=px-q$</a:t>
                </a:r>
                <a:r>
                  <a:rPr sz="2400" b="0">
                    <a:solidFill>
                      <a:srgbClr val="111827"/>
                    </a:solidFill>
                    <a:latin typeface="Arial"/>
                  </a:rPr>
                  <a:t>: </a:t>
                </a:r>
                <a:r>
                  <a:rPr lang="en-IN" sz="2400">
                    <a:solidFill>
                      <a:srgbClr val="111827"/>
                    </a:solidFill>
                    <a:latin typeface="Cambria Math" panose="02040503050406030204" pitchFamily="18" charset="0"/>
                  </a:rPr>
                  <a:t>$\bar{y}=p\bar{x}-q$</a:t>
                </a:r>
                <a:r>
                  <a:rPr sz="2400" b="0">
                    <a:solidFill>
                      <a:srgbClr val="111827"/>
                    </a:solidFill>
                    <a:latin typeface="Arial"/>
                  </a:rPr>
                  <a:t> and </a:t>
                </a:r>
                <a:r>
                  <a:rPr lang="en-IN" sz="2400">
                    <a:solidFill>
                      <a:srgbClr val="111827"/>
                    </a:solidFill>
                    <a:latin typeface="Cambria Math" panose="02040503050406030204" pitchFamily="18" charset="0"/>
                  </a:rPr>
                  <a:t>$\sigma_y=|p|\sigma_x$</a:t>
                </a:r>
                <a:r>
                  <a:rPr sz="2400" b="0">
                    <a:solidFill>
                      <a:srgbClr val="111827"/>
                    </a:solidFill>
                    <a:latin typeface="Arial"/>
                  </a:rPr>
                  <a:t>; the s.d. fixes only </a:t>
                </a:r>
                <a:r>
                  <a:rPr lang="en-IN" sz="2400">
                    <a:solidFill>
                      <a:srgbClr val="111827"/>
                    </a:solidFill>
                    <a:latin typeface="Cambria Math" panose="02040503050406030204" pitchFamily="18" charset="0"/>
                  </a:rPr>
                  <a:t>$|p|$</a:t>
                </a:r>
                <a:r>
                  <a:rPr sz="2400" b="0">
                    <a:solidFill>
                      <a:srgbClr val="111827"/>
                    </a:solidFill>
                    <a:latin typeface="Arial"/>
                  </a:rPr>
                  <a:t>, so check both signs of </a:t>
                </a:r>
                <a:r>
                  <a:rPr lang="en-IN" sz="2400">
                    <a:solidFill>
                      <a:srgbClr val="111827"/>
                    </a:solidFill>
                    <a:latin typeface="Cambria Math" panose="02040503050406030204" pitchFamily="18" charset="0"/>
                  </a:rPr>
                  <a:t>$p$</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Always test excluded values given in the question (</a:t>
                </a:r>
                <a:r>
                  <a:rPr lang="en-IN" sz="2400">
                    <a:solidFill>
                      <a:srgbClr val="111827"/>
                    </a:solidFill>
                    <a:latin typeface="Cambria Math" panose="02040503050406030204" pitchFamily="18" charset="0"/>
                  </a:rPr>
                  <a:t>$q\ne0$</a:t>
                </a:r>
                <a:r>
                  <a:rPr sz="2400" b="0">
                    <a:solidFill>
                      <a:srgbClr val="111827"/>
                    </a:solidFill>
                    <a:latin typeface="Arial"/>
                  </a:rPr>
                  <a:t> rules out </a:t>
                </a:r>
                <a:r>
                  <a:rPr lang="en-IN" sz="2400">
                    <a:solidFill>
                      <a:srgbClr val="111827"/>
                    </a:solidFill>
                    <a:latin typeface="Cambria Math" panose="02040503050406030204" pitchFamily="18" charset="0"/>
                  </a:rPr>
                  <a:t>$p=+\frac12$</a:t>
                </a:r>
                <a:r>
                  <a:rPr sz="2400" b="0">
                    <a:solidFill>
                      <a:srgbClr val="111827"/>
                    </a:solidFill>
                    <a:latin typeface="Arial"/>
                  </a:rPr>
                  <a:t> here).</a:t>
                </a:r>
                <a:endParaRPr sz="2400">
                  <a:solidFill>
                    <a:srgbClr val="111827"/>
                  </a:solidFill>
                </a:endParaRPr>
              </a:p>
            </p:txBody>
          </p:sp>
        </mc:Fallback>
      </mc:AlternateContent>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731520" y="1280160"/>
            <a:ext cx="10725912" cy="244348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mean and variance of 20 observations are found to be 10 and 4, respectively. On rechecking, it was found that an observation 9 was incorrect and the correct observation was 11. Then the correct variance is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3.98   (B) 4.01   (C) 3.99   (D) 4.02</a:t>
            </a:r>
            <a:endParaRPr sz="2400">
              <a:solidFill>
                <a:srgbClr val="111827"/>
              </a:solidFill>
            </a:endParaRPr>
          </a:p>
        </p:txBody>
      </p:sp>
      <p:sp>
        <p:nvSpPr>
          <p:cNvPr id="5" name="Rectangle 4"/>
          <p:cNvSpPr/>
          <p:nvPr/>
        </p:nvSpPr>
        <p:spPr>
          <a:xfrm>
            <a:off x="731520" y="3952239"/>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Correcting a wrongly recorded observation (variance)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Correct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oMath>
                </a14:m>
                <a:r>
                  <a:rPr sz="2400" b="0">
                    <a:solidFill>
                      <a:srgbClr val="78350F"/>
                    </a:solidFill>
                    <a:latin typeface="Arial"/>
                  </a:rPr>
                  <a:t> and </a:t>
                </a:r>
                <a14:m>
                  <m:oMath xmlns:m="http://schemas.openxmlformats.org/officeDocument/2006/math">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separately, then recompute the variance.</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Correct </a:t>
                </a:r>
                <a:r>
                  <a:rPr lang="en-IN" sz="2400">
                    <a:solidFill>
                      <a:srgbClr val="78350F"/>
                    </a:solidFill>
                    <a:latin typeface="Cambria Math" panose="02040503050406030204" pitchFamily="18" charset="0"/>
                  </a:rPr>
                  <a:t>$\sum x$</a:t>
                </a:r>
                <a:r>
                  <a:rPr sz="2400" b="0">
                    <a:solidFill>
                      <a:srgbClr val="78350F"/>
                    </a:solidFill>
                    <a:latin typeface="Arial"/>
                  </a:rPr>
                  <a:t> and </a:t>
                </a:r>
                <a:r>
                  <a:rPr lang="en-IN" sz="2400">
                    <a:solidFill>
                      <a:srgbClr val="78350F"/>
                    </a:solidFill>
                    <a:latin typeface="Cambria Math" panose="02040503050406030204" pitchFamily="18" charset="0"/>
                  </a:rPr>
                  <a:t>$\sum x^2$</a:t>
                </a:r>
                <a:r>
                  <a:rPr sz="2400" b="0">
                    <a:solidFill>
                      <a:srgbClr val="78350F"/>
                    </a:solidFill>
                    <a:latin typeface="Arial"/>
                  </a:rPr>
                  <a:t> separately, then recompute the variance.</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2</m:t>
                            </m:r>
                          </m:sup>
                        </m:sSubSup>
                      </m:num>
                      <m:den>
                        <m:r>
                          <a:rPr lang="en-IN" sz="2400" i="1">
                            <a:solidFill>
                              <a:srgbClr val="111827"/>
                            </a:solidFill>
                            <a:latin typeface="Cambria Math" panose="02040503050406030204" pitchFamily="18" charset="0"/>
                          </a:rPr>
                          <m:t>20</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2080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Correct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Correct </a:t>
                </a:r>
                <a14:m>
                  <m:oMath xmlns:m="http://schemas.openxmlformats.org/officeDocument/2006/math">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2080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9</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11</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2120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Correct variance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2120</m:t>
                        </m:r>
                      </m:num>
                      <m:den>
                        <m:r>
                          <a:rPr lang="en-IN" sz="2400" i="1">
                            <a:solidFill>
                              <a:srgbClr val="111827"/>
                            </a:solidFill>
                            <a:latin typeface="Cambria Math" panose="02040503050406030204" pitchFamily="18" charset="0"/>
                          </a:rPr>
                          <m:t>20</m:t>
                        </m:r>
                      </m:den>
                    </m:f>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202</m:t>
                                </m:r>
                              </m:num>
                              <m:den>
                                <m:r>
                                  <a:rPr lang="en-IN" sz="2400" i="1">
                                    <a:solidFill>
                                      <a:srgbClr val="111827"/>
                                    </a:solidFill>
                                    <a:latin typeface="Cambria Math" panose="02040503050406030204" pitchFamily="18" charset="0"/>
                                  </a:rPr>
                                  <m:t>20</m:t>
                                </m:r>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102.01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3.99</m:t>
                    </m:r>
                  </m:oMath>
                </a14:m>
                <a:r>
                  <a:rPr sz="2400" b="0">
                    <a:solidFill>
                      <a:srgbClr val="111827"/>
                    </a:solidFill>
                    <a:latin typeface="Arial"/>
                  </a:rPr>
                  <a:t>, option (C).</a:t>
                </a:r>
                <a:endParaRPr sz="2400">
                  <a:solidFill>
                    <a:srgbClr val="111827"/>
                  </a:solidFill>
                </a:endParaRPr>
              </a:p>
            </p:txBody>
          </p:sp>
        </mc:Choice>
        <mc:Fallback>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$\bar{x}=10$</a:t>
                </a:r>
                <a:r>
                  <a:rPr sz="2400" b="0">
                    <a:solidFill>
                      <a:srgbClr val="111827"/>
                    </a:solidFill>
                    <a:latin typeface="Arial"/>
                  </a:rPr>
                  <a:t>, </a:t>
                </a:r>
                <a:r>
                  <a:rPr lang="en-IN" sz="2400">
                    <a:solidFill>
                      <a:srgbClr val="111827"/>
                    </a:solidFill>
                    <a:latin typeface="Cambria Math" panose="02040503050406030204" pitchFamily="18" charset="0"/>
                  </a:rPr>
                  <a:t>$n=20$</a:t>
                </a:r>
                <a:r>
                  <a:rPr sz="2400" b="0">
                    <a:solidFill>
                      <a:srgbClr val="111827"/>
                    </a:solidFill>
                    <a:latin typeface="Arial"/>
                  </a:rPr>
                  <a:t>, so </a:t>
                </a:r>
                <a:r>
                  <a:rPr lang="en-IN" sz="2400">
                    <a:solidFill>
                      <a:srgbClr val="111827"/>
                    </a:solidFill>
                    <a:latin typeface="Cambria Math" panose="02040503050406030204" pitchFamily="18" charset="0"/>
                  </a:rPr>
                  <a:t>$\sum x_i=200$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$\sigma^2=\frac{\sum x_i^2}{20}-(\bar{x})^2=4$</a:t>
                </a:r>
                <a:r>
                  <a:rPr sz="2400" b="0">
                    <a:solidFill>
                      <a:srgbClr val="111827"/>
                    </a:solidFill>
                    <a:latin typeface="Arial"/>
                  </a:rPr>
                  <a:t>, so </a:t>
                </a:r>
                <a:r>
                  <a:rPr lang="en-IN" sz="2400">
                    <a:solidFill>
                      <a:srgbClr val="111827"/>
                    </a:solidFill>
                    <a:latin typeface="Cambria Math" panose="02040503050406030204" pitchFamily="18" charset="0"/>
                  </a:rPr>
                  <a:t>$\sum x_i^2=20(4+100)=2080$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Correct </a:t>
                </a:r>
                <a:r>
                  <a:rPr lang="en-IN" sz="2400">
                    <a:solidFill>
                      <a:srgbClr val="111827"/>
                    </a:solidFill>
                    <a:latin typeface="Cambria Math" panose="02040503050406030204" pitchFamily="18" charset="0"/>
                  </a:rPr>
                  <a:t>$\sum x_i=200-9+11=202$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Correct </a:t>
                </a:r>
                <a:r>
                  <a:rPr lang="en-IN" sz="2400">
                    <a:solidFill>
                      <a:srgbClr val="111827"/>
                    </a:solidFill>
                    <a:latin typeface="Cambria Math" panose="02040503050406030204" pitchFamily="18" charset="0"/>
                  </a:rPr>
                  <a:t>$\sum x_i^2=2080-9^2+11^2=2120$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Correct variance </a:t>
                </a:r>
                <a:r>
                  <a:rPr lang="en-IN" sz="2400">
                    <a:solidFill>
                      <a:srgbClr val="111827"/>
                    </a:solidFill>
                    <a:latin typeface="Cambria Math" panose="02040503050406030204" pitchFamily="18" charset="0"/>
                  </a:rPr>
                  <a:t>$=\frac{2120}{20}-\left(\frac{202}{20}\right)^2=106-102.01$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$\sigma^2=3.99$</a:t>
                </a:r>
                <a:r>
                  <a:rPr sz="2400" b="0">
                    <a:solidFill>
                      <a:srgbClr val="111827"/>
                    </a:solidFill>
                    <a:latin typeface="Arial"/>
                  </a:rPr>
                  <a:t>, option (C).</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3.99</a:t>
            </a:r>
            <a:endParaRPr sz="2800">
              <a:solidFill>
                <a:srgbClr val="15803D"/>
              </a:solidFill>
            </a:endParaRP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Update formula: </a:t>
                </a:r>
                <a14:m>
                  <m:oMath xmlns:m="http://schemas.openxmlformats.org/officeDocument/2006/math">
                    <m:sSup>
                      <m:e>
                        <m:r>
                          <a:rPr lang="en-IN" sz="2400" i="1">
                            <a:solidFill>
                              <a:srgbClr val="78350F"/>
                            </a:solidFill>
                            <a:latin typeface="Cambria Math" panose="02040503050406030204" pitchFamily="18" charset="0"/>
                          </a:rPr>
                          <m:t>σ</m:t>
                        </m:r>
                      </m:e>
                      <m:sup>
                        <m:r>
                          <m:rPr>
                            <m:sty m:val="p"/>
                          </m:rPr>
                          <a:rPr lang="en-IN" sz="2400">
                            <a:solidFill>
                              <a:srgbClr val="78350F"/>
                            </a:solidFill>
                            <a:latin typeface="Cambria Math" panose="02040503050406030204" pitchFamily="18" charset="0"/>
                          </a:rPr>
                          <m:t>′</m:t>
                        </m:r>
                      </m:sup>
                    </m:sSup>
                    <m:sSup>
                      <m:e>
                        <m:r>
                          <a:rPr lang="en-IN" sz="2400" i="1">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σ</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sSup>
                          <m:e>
                            <m:r>
                              <a:rPr lang="en-IN" sz="2400" i="1">
                                <a:solidFill>
                                  <a:srgbClr val="78350F"/>
                                </a:solidFill>
                                <a:latin typeface="Cambria Math" panose="02040503050406030204" pitchFamily="18" charset="0"/>
                              </a:rPr>
                              <m:t>𝑎</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𝑏</m:t>
                            </m:r>
                          </m:e>
                          <m:sup>
                            <m:r>
                              <a:rPr lang="en-IN" sz="2400" i="1">
                                <a:solidFill>
                                  <a:srgbClr val="78350F"/>
                                </a:solidFill>
                                <a:latin typeface="Cambria Math" panose="02040503050406030204" pitchFamily="18" charset="0"/>
                              </a:rPr>
                              <m:t>2</m:t>
                            </m:r>
                          </m:sup>
                        </m:sSup>
                      </m:num>
                      <m:den>
                        <m:r>
                          <a:rPr lang="en-IN" sz="2400" i="1">
                            <a:solidFill>
                              <a:srgbClr val="78350F"/>
                            </a:solidFill>
                            <a:latin typeface="Cambria Math" panose="02040503050406030204" pitchFamily="18" charset="0"/>
                          </a:rPr>
                          <m:t>𝑛</m:t>
                        </m:r>
                      </m:den>
                    </m:f>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𝑚</m:t>
                        </m:r>
                      </m:e>
                      <m:sup>
                        <m:r>
                          <m:rPr>
                            <m:sty m:val="p"/>
                          </m:rPr>
                          <a:rPr lang="en-IN" sz="2400">
                            <a:solidFill>
                              <a:srgbClr val="78350F"/>
                            </a:solidFill>
                            <a:latin typeface="Cambria Math" panose="02040503050406030204" pitchFamily="18" charset="0"/>
                          </a:rPr>
                          <m:t>′</m:t>
                        </m:r>
                      </m:sup>
                    </m:sSup>
                    <m:sSup>
                      <m:e>
                        <m:r>
                          <a:rPr lang="en-IN" sz="2400" i="1">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𝑚</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oMath>
                </a14:m>
                <a:r>
                  <a:rPr sz="2400" b="0">
                    <a:solidFill>
                      <a:srgbClr val="78350F"/>
                    </a:solidFill>
                    <a:latin typeface="Arial"/>
                  </a:rPr>
                  <a:t> for replacing </a:t>
                </a:r>
                <a14:m>
                  <m:oMath xmlns:m="http://schemas.openxmlformats.org/officeDocument/2006/math">
                    <m:r>
                      <a:rPr lang="en-IN" sz="2400" i="1">
                        <a:solidFill>
                          <a:srgbClr val="78350F"/>
                        </a:solidFill>
                        <a:latin typeface="Cambria Math" panose="02040503050406030204" pitchFamily="18" charset="0"/>
                      </a:rPr>
                      <m:t>𝑏</m:t>
                    </m:r>
                  </m:oMath>
                </a14:m>
                <a:r>
                  <a:rPr sz="2400" b="0">
                    <a:solidFill>
                      <a:srgbClr val="78350F"/>
                    </a:solidFill>
                    <a:latin typeface="Arial"/>
                  </a:rPr>
                  <a:t> by </a:t>
                </a:r>
                <a14:m>
                  <m:oMath xmlns:m="http://schemas.openxmlformats.org/officeDocument/2006/math">
                    <m:r>
                      <a:rPr lang="en-IN" sz="2400" i="1">
                        <a:solidFill>
                          <a:srgbClr val="78350F"/>
                        </a:solidFill>
                        <a:latin typeface="Cambria Math" panose="02040503050406030204" pitchFamily="18" charset="0"/>
                      </a:rPr>
                      <m:t>𝑎</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Update formula: </a:t>
                </a:r>
                <a:r>
                  <a:rPr lang="en-IN" sz="2400">
                    <a:solidFill>
                      <a:srgbClr val="78350F"/>
                    </a:solidFill>
                    <a:latin typeface="Cambria Math" panose="02040503050406030204" pitchFamily="18" charset="0"/>
                  </a:rPr>
                  <a:t>$\sigma'^2=\sigma^2+\frac{a^2-b^2}{n}-(m'^2-m^2)$</a:t>
                </a:r>
                <a:r>
                  <a:rPr sz="2400" b="0">
                    <a:solidFill>
                      <a:srgbClr val="78350F"/>
                    </a:solidFill>
                    <a:latin typeface="Arial"/>
                  </a:rPr>
                  <a:t> for replacing </a:t>
                </a:r>
                <a:r>
                  <a:rPr lang="en-IN" sz="2400">
                    <a:solidFill>
                      <a:srgbClr val="78350F"/>
                    </a:solidFill>
                    <a:latin typeface="Cambria Math" panose="02040503050406030204" pitchFamily="18" charset="0"/>
                  </a:rPr>
                  <a:t>$b$</a:t>
                </a:r>
                <a:r>
                  <a:rPr sz="2400" b="0">
                    <a:solidFill>
                      <a:srgbClr val="78350F"/>
                    </a:solidFill>
                    <a:latin typeface="Arial"/>
                  </a:rPr>
                  <a:t> by </a:t>
                </a:r>
                <a:r>
                  <a:rPr lang="en-IN" sz="2400">
                    <a:solidFill>
                      <a:srgbClr val="78350F"/>
                    </a:solidFill>
                    <a:latin typeface="Cambria Math" panose="02040503050406030204" pitchFamily="18" charset="0"/>
                  </a:rPr>
                  <a:t>$a$</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636520"/>
                <a:ext cx="10725912" cy="315163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Here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oMath>
                </a14:m>
                <a:r>
                  <a:rPr sz="2400" b="0">
                    <a:solidFill>
                      <a:srgbClr val="111827"/>
                    </a:solidFill>
                    <a:latin typeface="Arial"/>
                  </a:rPr>
                  <a:t>, old mean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new mean </a:t>
                </a:r>
                <a14:m>
                  <m:oMath xmlns:m="http://schemas.openxmlformats.org/officeDocument/2006/math">
                    <m:sSup>
                      <m:e>
                        <m:r>
                          <a:rPr lang="en-IN" sz="2400" i="1">
                            <a:solidFill>
                              <a:srgbClr val="111827"/>
                            </a:solidFill>
                            <a:latin typeface="Cambria Math" panose="02040503050406030204" pitchFamily="18" charset="0"/>
                          </a:rPr>
                          <m:t>𝑚</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σ</m:t>
                        </m:r>
                      </m:e>
                      <m:sup>
                        <m:r>
                          <m:rPr>
                            <m:sty m:val="p"/>
                          </m:rPr>
                          <a:rPr lang="en-IN" sz="2400">
                            <a:solidFill>
                              <a:srgbClr val="111827"/>
                            </a:solidFill>
                            <a:latin typeface="Cambria Math" panose="02040503050406030204" pitchFamily="18" charset="0"/>
                          </a:rPr>
                          <m:t>′</m:t>
                        </m:r>
                      </m:sup>
                    </m:sSup>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81</m:t>
                        </m:r>
                      </m:num>
                      <m:den>
                        <m:r>
                          <a:rPr lang="en-IN" sz="2400" i="1">
                            <a:solidFill>
                              <a:srgbClr val="111827"/>
                            </a:solidFill>
                            <a:latin typeface="Cambria Math" panose="02040503050406030204" pitchFamily="18" charset="0"/>
                          </a:rPr>
                          <m:t>20</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10.1</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10</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σ</m:t>
                        </m:r>
                      </m:e>
                      <m:sup>
                        <m:r>
                          <m:rPr>
                            <m:sty m:val="p"/>
                          </m:rPr>
                          <a:rPr lang="en-IN" sz="2400">
                            <a:solidFill>
                              <a:srgbClr val="111827"/>
                            </a:solidFill>
                            <a:latin typeface="Cambria Math" panose="02040503050406030204" pitchFamily="18" charset="0"/>
                          </a:rPr>
                          <m:t>′</m:t>
                        </m:r>
                      </m:sup>
                    </m:sSup>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3.99</m:t>
                    </m:r>
                  </m:oMath>
                </a14:m>
                <a:r>
                  <a:rPr sz="2400" b="0">
                    <a:solidFill>
                      <a:srgbClr val="111827"/>
                    </a:solidFill>
                    <a:latin typeface="Arial"/>
                  </a:rPr>
                  <a:t>, the same answer.</a:t>
                </a:r>
                <a:endParaRPr sz="2400">
                  <a:solidFill>
                    <a:srgbClr val="111827"/>
                  </a:solidFill>
                </a:endParaRPr>
              </a:p>
            </p:txBody>
          </p:sp>
        </mc:Choice>
        <mc:Fallback>
          <p:sp>
            <p:nvSpPr>
              <p:cNvPr id="6" name="Rectangle 5"/>
              <p:cNvSpPr/>
              <p:nvPr/>
            </p:nvSpPr>
            <p:spPr>
              <a:xfrm>
                <a:off x="731520" y="2636520"/>
                <a:ext cx="10725912" cy="315163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Here </a:t>
                </a:r>
                <a:r>
                  <a:rPr lang="en-IN" sz="2400">
                    <a:solidFill>
                      <a:srgbClr val="111827"/>
                    </a:solidFill>
                    <a:latin typeface="Cambria Math" panose="02040503050406030204" pitchFamily="18" charset="0"/>
                  </a:rPr>
                  <a:t>$b=9$</a:t>
                </a:r>
                <a:r>
                  <a:rPr sz="2400" b="0">
                    <a:solidFill>
                      <a:srgbClr val="111827"/>
                    </a:solidFill>
                    <a:latin typeface="Arial"/>
                  </a:rPr>
                  <a:t>, </a:t>
                </a:r>
                <a:r>
                  <a:rPr lang="en-IN" sz="2400">
                    <a:solidFill>
                      <a:srgbClr val="111827"/>
                    </a:solidFill>
                    <a:latin typeface="Cambria Math" panose="02040503050406030204" pitchFamily="18" charset="0"/>
                  </a:rPr>
                  <a:t>$a=11$</a:t>
                </a:r>
                <a:r>
                  <a:rPr sz="2400" b="0">
                    <a:solidFill>
                      <a:srgbClr val="111827"/>
                    </a:solidFill>
                    <a:latin typeface="Arial"/>
                  </a:rPr>
                  <a:t>, </a:t>
                </a:r>
                <a:r>
                  <a:rPr lang="en-IN" sz="2400">
                    <a:solidFill>
                      <a:srgbClr val="111827"/>
                    </a:solidFill>
                    <a:latin typeface="Cambria Math" panose="02040503050406030204" pitchFamily="18" charset="0"/>
                  </a:rPr>
                  <a:t>$n=20$</a:t>
                </a:r>
                <a:r>
                  <a:rPr sz="2400" b="0">
                    <a:solidFill>
                      <a:srgbClr val="111827"/>
                    </a:solidFill>
                    <a:latin typeface="Arial"/>
                  </a:rPr>
                  <a:t>, old mean </a:t>
                </a:r>
                <a:r>
                  <a:rPr lang="en-IN" sz="2400">
                    <a:solidFill>
                      <a:srgbClr val="111827"/>
                    </a:solidFill>
                    <a:latin typeface="Cambria Math" panose="02040503050406030204" pitchFamily="18" charset="0"/>
                  </a:rPr>
                  <a:t>$m=10$</a:t>
                </a:r>
                <a:r>
                  <a:rPr sz="2400" b="0">
                    <a:solidFill>
                      <a:srgbClr val="111827"/>
                    </a:solidFill>
                    <a:latin typeface="Arial"/>
                  </a:rPr>
                  <a:t>, new mean </a:t>
                </a:r>
                <a:r>
                  <a:rPr lang="en-IN" sz="2400">
                    <a:solidFill>
                      <a:srgbClr val="111827"/>
                    </a:solidFill>
                    <a:latin typeface="Cambria Math" panose="02040503050406030204" pitchFamily="18" charset="0"/>
                  </a:rPr>
                  <a:t>$m'=10.1$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$\sigma'^2=4+\frac{121-81}{20}-(10.1^2-10^2)=4+2-2.01$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$\sigma'^2=3.99$</a:t>
                </a:r>
                <a:r>
                  <a:rPr sz="2400" b="0">
                    <a:solidFill>
                      <a:srgbClr val="111827"/>
                    </a:solidFill>
                    <a:latin typeface="Arial"/>
                  </a:rPr>
                  <a:t>, the same answer.</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3.99</a:t>
            </a:r>
            <a:endParaRPr sz="2800">
              <a:solidFill>
                <a:srgbClr val="15803D"/>
              </a:solidFill>
            </a:endParaRP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Replacing </a:t>
                </a:r>
                <a14:m>
                  <m:oMath xmlns:m="http://schemas.openxmlformats.org/officeDocument/2006/math">
                    <m:r>
                      <a:rPr lang="en-IN" sz="2400" i="1">
                        <a:solidFill>
                          <a:srgbClr val="111827"/>
                        </a:solidFill>
                        <a:latin typeface="Cambria Math" panose="02040503050406030204" pitchFamily="18" charset="0"/>
                      </a:rPr>
                      <m:t>𝑏</m:t>
                    </m:r>
                  </m:oMath>
                </a14:m>
                <a:r>
                  <a:rPr sz="2400" b="0">
                    <a:solidFill>
                      <a:srgbClr val="111827"/>
                    </a:solidFill>
                    <a:latin typeface="Arial"/>
                  </a:rPr>
                  <a:t> by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changes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by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by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Correction of a small error (9 to 11) changes the variance only slightly, so the choices near 4 differ in the second decimal; compute exactly, not by estimation.</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Replacing </a:t>
                </a:r>
                <a:r>
                  <a:rPr lang="en-IN" sz="2400">
                    <a:solidFill>
                      <a:srgbClr val="111827"/>
                    </a:solidFill>
                    <a:latin typeface="Cambria Math" panose="02040503050406030204" pitchFamily="18" charset="0"/>
                  </a:rPr>
                  <a:t>$b$</a:t>
                </a:r>
                <a:r>
                  <a:rPr sz="2400" b="0">
                    <a:solidFill>
                      <a:srgbClr val="111827"/>
                    </a:solidFill>
                    <a:latin typeface="Arial"/>
                  </a:rPr>
                  <a:t> by </a:t>
                </a:r>
                <a:r>
                  <a:rPr lang="en-IN" sz="2400">
                    <a:solidFill>
                      <a:srgbClr val="111827"/>
                    </a:solidFill>
                    <a:latin typeface="Cambria Math" panose="02040503050406030204" pitchFamily="18" charset="0"/>
                  </a:rPr>
                  <a:t>$a$</a:t>
                </a:r>
                <a:r>
                  <a:rPr sz="2400" b="0">
                    <a:solidFill>
                      <a:srgbClr val="111827"/>
                    </a:solidFill>
                    <a:latin typeface="Arial"/>
                  </a:rPr>
                  <a:t> changes </a:t>
                </a:r>
                <a:r>
                  <a:rPr lang="en-IN" sz="2400">
                    <a:solidFill>
                      <a:srgbClr val="111827"/>
                    </a:solidFill>
                    <a:latin typeface="Cambria Math" panose="02040503050406030204" pitchFamily="18" charset="0"/>
                  </a:rPr>
                  <a:t>$\sum x$</a:t>
                </a:r>
                <a:r>
                  <a:rPr sz="2400" b="0">
                    <a:solidFill>
                      <a:srgbClr val="111827"/>
                    </a:solidFill>
                    <a:latin typeface="Arial"/>
                  </a:rPr>
                  <a:t> by </a:t>
                </a:r>
                <a:r>
                  <a:rPr lang="en-IN" sz="2400">
                    <a:solidFill>
                      <a:srgbClr val="111827"/>
                    </a:solidFill>
                    <a:latin typeface="Cambria Math" panose="02040503050406030204" pitchFamily="18" charset="0"/>
                  </a:rPr>
                  <a:t>$a-b$</a:t>
                </a:r>
                <a:r>
                  <a:rPr sz="2400" b="0">
                    <a:solidFill>
                      <a:srgbClr val="111827"/>
                    </a:solidFill>
                    <a:latin typeface="Arial"/>
                  </a:rPr>
                  <a:t> and </a:t>
                </a:r>
                <a:r>
                  <a:rPr lang="en-IN" sz="2400">
                    <a:solidFill>
                      <a:srgbClr val="111827"/>
                    </a:solidFill>
                    <a:latin typeface="Cambria Math" panose="02040503050406030204" pitchFamily="18" charset="0"/>
                  </a:rPr>
                  <a:t>$\sum x^2$</a:t>
                </a:r>
                <a:r>
                  <a:rPr sz="2400" b="0">
                    <a:solidFill>
                      <a:srgbClr val="111827"/>
                    </a:solidFill>
                    <a:latin typeface="Arial"/>
                  </a:rPr>
                  <a:t> by </a:t>
                </a:r>
                <a:r>
                  <a:rPr lang="en-IN" sz="2400">
                    <a:solidFill>
                      <a:srgbClr val="111827"/>
                    </a:solidFill>
                    <a:latin typeface="Cambria Math" panose="02040503050406030204" pitchFamily="18" charset="0"/>
                  </a:rPr>
                  <a:t>$a^2-b^2=(a-b)(a+b)$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Correction of a small error (9 to 11) changes the variance only slightly, so the choices near 4 differ in the second decimal; compute exactly, not by estimation.</a:t>
                </a:r>
                <a:endParaRPr sz="2400">
                  <a:solidFill>
                    <a:srgbClr val="111827"/>
                  </a:solidFill>
                </a:endParaRPr>
              </a:p>
            </p:txBody>
          </p:sp>
        </mc:Fallback>
      </mc:AlternateContent>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8153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the observations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satisfy the equations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10</m:t>
                        </m:r>
                      </m:sup>
                      <m:e>
                        <m:r>
                          <m:rPr>
                            <m:sty m:val="p"/>
                          </m:rPr>
                          <a:rPr lang="en-IN" sz="2400">
                            <a:solidFill>
                              <a:srgbClr val="111827"/>
                            </a:solidFill>
                            <a:latin typeface="Cambria Math" panose="02040503050406030204" pitchFamily="18" charset="0"/>
                          </a:rPr>
                          <m:t>(</m:t>
                        </m:r>
                      </m:e>
                    </m:nary>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and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10</m:t>
                        </m:r>
                      </m:sup>
                      <m:e>
                        <m:r>
                          <m:rPr>
                            <m:sty m:val="p"/>
                          </m:rPr>
                          <a:rPr lang="en-IN" sz="2400">
                            <a:solidFill>
                              <a:srgbClr val="111827"/>
                            </a:solidFill>
                            <a:latin typeface="Cambria Math" panose="02040503050406030204" pitchFamily="18" charset="0"/>
                          </a:rPr>
                          <m:t>(</m:t>
                        </m:r>
                      </m:e>
                    </m:nary>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m:t>
                    </m:r>
                  </m:oMath>
                </a14:m>
                <a:r>
                  <a:rPr sz="2400" b="0">
                    <a:solidFill>
                      <a:srgbClr val="111827"/>
                    </a:solidFill>
                    <a:latin typeface="Arial"/>
                  </a:rPr>
                  <a:t>. If </a:t>
                </a:r>
                <a14:m>
                  <m:oMath xmlns:m="http://schemas.openxmlformats.org/officeDocument/2006/math">
                    <m:r>
                      <a:rPr lang="en-IN" sz="2400" i="1">
                        <a:solidFill>
                          <a:srgbClr val="111827"/>
                        </a:solidFill>
                        <a:latin typeface="Cambria Math" panose="02040503050406030204" pitchFamily="18" charset="0"/>
                      </a:rPr>
                      <m:t>μ</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λ</m:t>
                    </m:r>
                  </m:oMath>
                </a14:m>
                <a:r>
                  <a:rPr sz="2400" b="0">
                    <a:solidFill>
                      <a:srgbClr val="111827"/>
                    </a:solidFill>
                    <a:latin typeface="Arial"/>
                  </a:rPr>
                  <a:t> are the mean and the variance of the observations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10</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then the ordered pair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equal to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(C)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endParaRPr sz="2400">
                  <a:solidFill>
                    <a:srgbClr val="111827"/>
                  </a:solidFill>
                </a:endParaRPr>
              </a:p>
            </p:txBody>
          </p:sp>
        </mc:Choice>
        <mc:Fallback>
          <p:sp>
            <p:nvSpPr>
              <p:cNvPr id="4" name="Rounded Rectangle 3"/>
              <p:cNvSpPr/>
              <p:nvPr/>
            </p:nvSpPr>
            <p:spPr>
              <a:xfrm>
                <a:off x="731520" y="1280160"/>
                <a:ext cx="10725912" cy="28153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the observations </a:t>
                </a:r>
                <a:r>
                  <a:rPr lang="en-IN" sz="2400">
                    <a:solidFill>
                      <a:srgbClr val="111827"/>
                    </a:solidFill>
                    <a:latin typeface="Cambria Math" panose="02040503050406030204" pitchFamily="18" charset="0"/>
                  </a:rPr>
                  <a:t>$x_i\ (1\le i\le10)$</a:t>
                </a:r>
                <a:r>
                  <a:rPr sz="2400" b="0">
                    <a:solidFill>
                      <a:srgbClr val="111827"/>
                    </a:solidFill>
                    <a:latin typeface="Arial"/>
                  </a:rPr>
                  <a:t> satisfy the equations </a:t>
                </a:r>
                <a:r>
                  <a:rPr lang="en-IN" sz="2400">
                    <a:solidFill>
                      <a:srgbClr val="111827"/>
                    </a:solidFill>
                    <a:latin typeface="Cambria Math" panose="02040503050406030204" pitchFamily="18" charset="0"/>
                  </a:rPr>
                  <a:t>$\sum_{i=1}^{10}(x_i-5)=10$</a:t>
                </a:r>
                <a:r>
                  <a:rPr sz="2400" b="0">
                    <a:solidFill>
                      <a:srgbClr val="111827"/>
                    </a:solidFill>
                    <a:latin typeface="Arial"/>
                  </a:rPr>
                  <a:t> and </a:t>
                </a:r>
                <a:r>
                  <a:rPr lang="en-IN" sz="2400">
                    <a:solidFill>
                      <a:srgbClr val="111827"/>
                    </a:solidFill>
                    <a:latin typeface="Cambria Math" panose="02040503050406030204" pitchFamily="18" charset="0"/>
                  </a:rPr>
                  <a:t>$\sum_{i=1}^{10}(x_i-5)^2=40$</a:t>
                </a:r>
                <a:r>
                  <a:rPr sz="2400" b="0">
                    <a:solidFill>
                      <a:srgbClr val="111827"/>
                    </a:solidFill>
                    <a:latin typeface="Arial"/>
                  </a:rPr>
                  <a:t>. If </a:t>
                </a:r>
                <a:r>
                  <a:rPr lang="en-IN" sz="2400">
                    <a:solidFill>
                      <a:srgbClr val="111827"/>
                    </a:solidFill>
                    <a:latin typeface="Cambria Math" panose="02040503050406030204" pitchFamily="18" charset="0"/>
                  </a:rPr>
                  <a:t>$\mu$</a:t>
                </a:r>
                <a:r>
                  <a:rPr sz="2400" b="0">
                    <a:solidFill>
                      <a:srgbClr val="111827"/>
                    </a:solidFill>
                    <a:latin typeface="Arial"/>
                  </a:rPr>
                  <a:t> and </a:t>
                </a:r>
                <a:r>
                  <a:rPr lang="en-IN" sz="2400">
                    <a:solidFill>
                      <a:srgbClr val="111827"/>
                    </a:solidFill>
                    <a:latin typeface="Cambria Math" panose="02040503050406030204" pitchFamily="18" charset="0"/>
                  </a:rPr>
                  <a:t>$\lambda$</a:t>
                </a:r>
                <a:r>
                  <a:rPr sz="2400" b="0">
                    <a:solidFill>
                      <a:srgbClr val="111827"/>
                    </a:solidFill>
                    <a:latin typeface="Arial"/>
                  </a:rPr>
                  <a:t> are the mean and the variance of the observations </a:t>
                </a:r>
                <a:r>
                  <a:rPr lang="en-IN" sz="2400">
                    <a:solidFill>
                      <a:srgbClr val="111827"/>
                    </a:solidFill>
                    <a:latin typeface="Cambria Math" panose="02040503050406030204" pitchFamily="18" charset="0"/>
                  </a:rPr>
                  <a:t>$x_1-3,x_2-3,\dots,x_{10}-3$</a:t>
                </a:r>
                <a:r>
                  <a:rPr sz="2400" b="0">
                    <a:solidFill>
                      <a:srgbClr val="111827"/>
                    </a:solidFill>
                    <a:latin typeface="Arial"/>
                  </a:rPr>
                  <a:t>, then the ordered pair </a:t>
                </a:r>
                <a:r>
                  <a:rPr lang="en-IN" sz="2400">
                    <a:solidFill>
                      <a:srgbClr val="111827"/>
                    </a:solidFill>
                    <a:latin typeface="Cambria Math" panose="02040503050406030204" pitchFamily="18" charset="0"/>
                  </a:rPr>
                  <a:t>$(\mu,\lambda)$</a:t>
                </a:r>
                <a:r>
                  <a:rPr sz="2400" b="0">
                    <a:solidFill>
                      <a:srgbClr val="111827"/>
                    </a:solidFill>
                    <a:latin typeface="Arial"/>
                  </a:rPr>
                  <a:t> is equal to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$(6,3)$</a:t>
                </a:r>
                <a:r>
                  <a:rPr sz="2400" b="0">
                    <a:solidFill>
                      <a:srgbClr val="111827"/>
                    </a:solidFill>
                    <a:latin typeface="Arial"/>
                  </a:rPr>
                  <a:t>   (B) </a:t>
                </a:r>
                <a:r>
                  <a:rPr lang="en-IN" sz="2400">
                    <a:solidFill>
                      <a:srgbClr val="111827"/>
                    </a:solidFill>
                    <a:latin typeface="Cambria Math" panose="02040503050406030204" pitchFamily="18" charset="0"/>
                  </a:rPr>
                  <a:t>$(6,6)$</a:t>
                </a:r>
                <a:r>
                  <a:rPr sz="2400" b="0">
                    <a:solidFill>
                      <a:srgbClr val="111827"/>
                    </a:solidFill>
                    <a:latin typeface="Arial"/>
                  </a:rPr>
                  <a:t>   (C) </a:t>
                </a:r>
                <a:r>
                  <a:rPr lang="en-IN" sz="2400">
                    <a:solidFill>
                      <a:srgbClr val="111827"/>
                    </a:solidFill>
                    <a:latin typeface="Cambria Math" panose="02040503050406030204" pitchFamily="18" charset="0"/>
                  </a:rPr>
                  <a:t>$(3,6)$</a:t>
                </a:r>
                <a:r>
                  <a:rPr sz="2400" b="0">
                    <a:solidFill>
                      <a:srgbClr val="111827"/>
                    </a:solidFill>
                    <a:latin typeface="Arial"/>
                  </a:rPr>
                  <a:t>   (D) </a:t>
                </a:r>
                <a:r>
                  <a:rPr lang="en-IN" sz="2400">
                    <a:solidFill>
                      <a:srgbClr val="111827"/>
                    </a:solidFill>
                    <a:latin typeface="Cambria Math" panose="02040503050406030204" pitchFamily="18" charset="0"/>
                  </a:rPr>
                  <a:t>$(3,3)$</a:t>
                </a:r>
                <a:endParaRPr sz="2400">
                  <a:solidFill>
                    <a:srgbClr val="111827"/>
                  </a:solidFill>
                </a:endParaRPr>
              </a:p>
            </p:txBody>
          </p:sp>
        </mc:Fallback>
      </mc:AlternateContent>
      <p:sp>
        <p:nvSpPr>
          <p:cNvPr id="5" name="Rectangle 4"/>
          <p:cNvSpPr/>
          <p:nvPr/>
        </p:nvSpPr>
        <p:spPr>
          <a:xfrm>
            <a:off x="731520" y="4324095"/>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Mean and variance after a change of origin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Shift to </a:t>
                </a:r>
                <a14:m>
                  <m:oMath xmlns:m="http://schemas.openxmlformats.org/officeDocument/2006/math">
                    <m:sSub>
                      <m:e>
                        <m:r>
                          <a:rPr lang="en-IN" sz="2400" i="1">
                            <a:solidFill>
                              <a:srgbClr val="78350F"/>
                            </a:solidFill>
                            <a:latin typeface="Cambria Math" panose="02040503050406030204" pitchFamily="18" charset="0"/>
                          </a:rPr>
                          <m:t>𝑦</m:t>
                        </m:r>
                      </m:e>
                      <m:sub>
                        <m:r>
                          <a:rPr lang="en-IN" sz="2400" i="1">
                            <a:solidFill>
                              <a:srgbClr val="78350F"/>
                            </a:solidFill>
                            <a:latin typeface="Cambria Math" panose="02040503050406030204" pitchFamily="18" charset="0"/>
                          </a:rPr>
                          <m:t>𝑖</m:t>
                        </m:r>
                      </m:sub>
                    </m:sSub>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𝑥</m:t>
                        </m:r>
                      </m:e>
                      <m:sub>
                        <m:r>
                          <a:rPr lang="en-IN" sz="2400" i="1">
                            <a:solidFill>
                              <a:srgbClr val="78350F"/>
                            </a:solidFill>
                            <a:latin typeface="Cambria Math" panose="02040503050406030204" pitchFamily="18" charset="0"/>
                          </a:rPr>
                          <m:t>𝑖</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5</m:t>
                    </m:r>
                  </m:oMath>
                </a14:m>
                <a:r>
                  <a:rPr sz="2400" b="0">
                    <a:solidFill>
                      <a:srgbClr val="78350F"/>
                    </a:solidFill>
                    <a:latin typeface="Arial"/>
                  </a:rPr>
                  <a:t>; the new data </a:t>
                </a:r>
                <a14:m>
                  <m:oMath xmlns:m="http://schemas.openxmlformats.org/officeDocument/2006/math">
                    <m:sSub>
                      <m:e>
                        <m:r>
                          <a:rPr lang="en-IN" sz="2400" i="1">
                            <a:solidFill>
                              <a:srgbClr val="78350F"/>
                            </a:solidFill>
                            <a:latin typeface="Cambria Math" panose="02040503050406030204" pitchFamily="18" charset="0"/>
                          </a:rPr>
                          <m:t>𝑥</m:t>
                        </m:r>
                      </m:e>
                      <m:sub>
                        <m:r>
                          <a:rPr lang="en-IN" sz="2400" i="1">
                            <a:solidFill>
                              <a:srgbClr val="78350F"/>
                            </a:solidFill>
                            <a:latin typeface="Cambria Math" panose="02040503050406030204" pitchFamily="18" charset="0"/>
                          </a:rPr>
                          <m:t>𝑖</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𝑦</m:t>
                        </m:r>
                      </m:e>
                      <m:sub>
                        <m:r>
                          <a:rPr lang="en-IN" sz="2400" i="1">
                            <a:solidFill>
                              <a:srgbClr val="78350F"/>
                            </a:solidFill>
                            <a:latin typeface="Cambria Math" panose="02040503050406030204" pitchFamily="18" charset="0"/>
                          </a:rPr>
                          <m:t>𝑖</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Shift to </a:t>
                </a:r>
                <a:r>
                  <a:rPr lang="en-IN" sz="2400">
                    <a:solidFill>
                      <a:srgbClr val="78350F"/>
                    </a:solidFill>
                    <a:latin typeface="Cambria Math" panose="02040503050406030204" pitchFamily="18" charset="0"/>
                  </a:rPr>
                  <a:t>$y_i=x_i-5$</a:t>
                </a:r>
                <a:r>
                  <a:rPr sz="2400" b="0">
                    <a:solidFill>
                      <a:srgbClr val="78350F"/>
                    </a:solidFill>
                    <a:latin typeface="Arial"/>
                  </a:rPr>
                  <a:t>; the new data </a:t>
                </a:r>
                <a:r>
                  <a:rPr lang="en-IN" sz="2400">
                    <a:solidFill>
                      <a:srgbClr val="78350F"/>
                    </a:solidFill>
                    <a:latin typeface="Cambria Math" panose="02040503050406030204" pitchFamily="18" charset="0"/>
                  </a:rPr>
                  <a:t>$x_i-3=y_i+2$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so mean of </a:t>
                </a:r>
                <a14:m>
                  <m:oMath xmlns:m="http://schemas.openxmlformats.org/officeDocument/2006/math">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𝑖</m:t>
                        </m:r>
                      </m:sub>
                    </m:sSub>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mean of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mean of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var</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var</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since adding a constant does not change variance.</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var</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2</m:t>
                            </m:r>
                          </m:sup>
                        </m:sSubSup>
                      </m:num>
                      <m:den>
                        <m:r>
                          <a:rPr lang="en-IN" sz="2400" i="1">
                            <a:solidFill>
                              <a:srgbClr val="111827"/>
                            </a:solidFill>
                            <a:latin typeface="Cambria Math" panose="02040503050406030204" pitchFamily="18" charset="0"/>
                          </a:rPr>
                          <m:t>10</m:t>
                        </m:r>
                      </m:den>
                    </m:f>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𝑖</m:t>
                                    </m:r>
                                  </m:sub>
                                </m:sSub>
                              </m:num>
                              <m:den>
                                <m:r>
                                  <a:rPr lang="en-IN" sz="2400" i="1">
                                    <a:solidFill>
                                      <a:srgbClr val="111827"/>
                                    </a:solidFill>
                                    <a:latin typeface="Cambria Math" panose="02040503050406030204" pitchFamily="18" charset="0"/>
                                  </a:rPr>
                                  <m:t>10</m:t>
                                </m:r>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40</m:t>
                        </m:r>
                      </m:num>
                      <m:den>
                        <m:r>
                          <a:rPr lang="en-IN" sz="2400" i="1">
                            <a:solidFill>
                              <a:srgbClr val="111827"/>
                            </a:solidFill>
                            <a:latin typeface="Cambria Math" panose="02040503050406030204" pitchFamily="18" charset="0"/>
                          </a:rPr>
                          <m:t>10</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option (D).</a:t>
                </a:r>
                <a:endParaRPr sz="2400">
                  <a:solidFill>
                    <a:srgbClr val="111827"/>
                  </a:solidFill>
                </a:endParaRPr>
              </a:p>
            </p:txBody>
          </p:sp>
        </mc:Choice>
        <mc:Fallback>
          <p:sp>
            <p:nvSpPr>
              <p:cNvPr id="5" name="Rectangle 4"/>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$y_i=x_i-5$</a:t>
                </a:r>
                <a:r>
                  <a:rPr sz="2400" b="0">
                    <a:solidFill>
                      <a:srgbClr val="111827"/>
                    </a:solidFill>
                    <a:latin typeface="Arial"/>
                  </a:rPr>
                  <a:t>: </a:t>
                </a:r>
                <a:r>
                  <a:rPr lang="en-IN" sz="2400">
                    <a:solidFill>
                      <a:srgbClr val="111827"/>
                    </a:solidFill>
                    <a:latin typeface="Cambria Math" panose="02040503050406030204" pitchFamily="18" charset="0"/>
                  </a:rPr>
                  <a:t>$\sum y_i=10$</a:t>
                </a:r>
                <a:r>
                  <a:rPr sz="2400" b="0">
                    <a:solidFill>
                      <a:srgbClr val="111827"/>
                    </a:solidFill>
                    <a:latin typeface="Arial"/>
                  </a:rPr>
                  <a:t>, </a:t>
                </a:r>
                <a:r>
                  <a:rPr lang="en-IN" sz="2400">
                    <a:solidFill>
                      <a:srgbClr val="111827"/>
                    </a:solidFill>
                    <a:latin typeface="Cambria Math" panose="02040503050406030204" pitchFamily="18" charset="0"/>
                  </a:rPr>
                  <a:t>$\sum y_i^2=40$</a:t>
                </a:r>
                <a:r>
                  <a:rPr sz="2400" b="0">
                    <a:solidFill>
                      <a:srgbClr val="111827"/>
                    </a:solidFill>
                    <a:latin typeface="Arial"/>
                  </a:rPr>
                  <a:t>, </a:t>
                </a:r>
                <a:r>
                  <a:rPr lang="en-IN" sz="2400">
                    <a:solidFill>
                      <a:srgbClr val="111827"/>
                    </a:solidFill>
                    <a:latin typeface="Cambria Math" panose="02040503050406030204" pitchFamily="18" charset="0"/>
                  </a:rPr>
                  <a:t>$n=10$</a:t>
                </a:r>
                <a:r>
                  <a:rPr sz="2400" b="0">
                    <a:solidFill>
                      <a:srgbClr val="111827"/>
                    </a:solidFill>
                    <a:latin typeface="Arial"/>
                  </a:rPr>
                  <a:t>, so mean of </a:t>
                </a:r>
                <a:r>
                  <a:rPr lang="en-IN" sz="2400">
                    <a:solidFill>
                      <a:srgbClr val="111827"/>
                    </a:solidFill>
                    <a:latin typeface="Cambria Math" panose="02040503050406030204" pitchFamily="18" charset="0"/>
                  </a:rPr>
                  <a:t>$y_i$</a:t>
                </a:r>
                <a:r>
                  <a:rPr sz="2400" b="0">
                    <a:solidFill>
                      <a:srgbClr val="111827"/>
                    </a:solidFill>
                    <a:latin typeface="Arial"/>
                  </a:rPr>
                  <a:t> is </a:t>
                </a:r>
                <a:r>
                  <a:rPr lang="en-IN" sz="2400">
                    <a:solidFill>
                      <a:srgbClr val="111827"/>
                    </a:solidFill>
                    <a:latin typeface="Cambria Math" panose="02040503050406030204" pitchFamily="18" charset="0"/>
                  </a:rPr>
                  <a:t>$1$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$\mu=$</a:t>
                </a:r>
                <a:r>
                  <a:rPr sz="2400" b="0">
                    <a:solidFill>
                      <a:srgbClr val="111827"/>
                    </a:solidFill>
                    <a:latin typeface="Arial"/>
                  </a:rPr>
                  <a:t> mean of </a:t>
                </a:r>
                <a:r>
                  <a:rPr lang="en-IN" sz="2400">
                    <a:solidFill>
                      <a:srgbClr val="111827"/>
                    </a:solidFill>
                    <a:latin typeface="Cambria Math" panose="02040503050406030204" pitchFamily="18" charset="0"/>
                  </a:rPr>
                  <a:t>$(x_i-3)=$</a:t>
                </a:r>
                <a:r>
                  <a:rPr sz="2400" b="0">
                    <a:solidFill>
                      <a:srgbClr val="111827"/>
                    </a:solidFill>
                    <a:latin typeface="Arial"/>
                  </a:rPr>
                  <a:t> mean of </a:t>
                </a:r>
                <a:r>
                  <a:rPr lang="en-IN" sz="2400">
                    <a:solidFill>
                      <a:srgbClr val="111827"/>
                    </a:solidFill>
                    <a:latin typeface="Cambria Math" panose="02040503050406030204" pitchFamily="18" charset="0"/>
                  </a:rPr>
                  <a:t>$(y_i+2)=1+2=3$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$\lambda=\operatorname{var}(x_i-3)=\operatorname{var}(y_i)$</a:t>
                </a:r>
                <a:r>
                  <a:rPr sz="2400" b="0">
                    <a:solidFill>
                      <a:srgbClr val="111827"/>
                    </a:solidFill>
                    <a:latin typeface="Arial"/>
                  </a:rPr>
                  <a:t>, since adding a constant does not change variance.</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$\operatorname{var}(y_i)=\frac{\sum y_i^2}{10}-\left(\frac{\sum y_i}{10}\right)^2=\frac{40}{10}-1=3$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$(\mu,\lambda)=(3,3)$</a:t>
                </a:r>
                <a:r>
                  <a:rPr sz="2400" b="0">
                    <a:solidFill>
                      <a:srgbClr val="111827"/>
                    </a:solidFill>
                    <a:latin typeface="Arial"/>
                  </a:rPr>
                  <a:t>, option (D).</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14:m>
                  <m:oMath xmlns:m="http://schemas.openxmlformats.org/officeDocument/2006/math">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3</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3</m:t>
                    </m:r>
                    <m:r>
                      <m:rPr>
                        <m:sty m:val="p"/>
                      </m:rPr>
                      <a:rPr lang="en-IN" sz="2800">
                        <a:solidFill>
                          <a:srgbClr val="15803D"/>
                        </a:solidFill>
                        <a:latin typeface="Cambria Math" panose="02040503050406030204" pitchFamily="18" charset="0"/>
                      </a:rPr>
                      <m:t>)</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r>
                  <a:rPr lang="en-IN" sz="2800">
                    <a:solidFill>
                      <a:srgbClr val="15803D"/>
                    </a:solidFill>
                    <a:latin typeface="Cambria Math" panose="02040503050406030204" pitchFamily="18" charset="0"/>
                  </a:rPr>
                  <a:t>$(3,3)$</a:t>
                </a:r>
                <a:endParaRPr sz="2800">
                  <a:solidFill>
                    <a:srgbClr val="15803D"/>
                  </a:solidFill>
                </a:endParaRPr>
              </a:p>
            </p:txBody>
          </p:sp>
        </mc:Fallback>
      </mc:AlternateContent>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Combine two shifts: if sums about point 5 are given, data shifted to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has mean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the mean of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and the same variance.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Never rebuild the original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oMath>
                </a14:m>
                <a:r>
                  <a:rPr sz="2400" b="0">
                    <a:solidFill>
                      <a:srgbClr val="111827"/>
                    </a:solidFill>
                    <a:latin typeface="Arial"/>
                  </a:rPr>
                  <a:t>; carry the shift.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Combine two shifts: if sums about point 5 are given, data shifted to </a:t>
                </a:r>
                <a:r>
                  <a:rPr lang="en-IN" sz="2400">
                    <a:solidFill>
                      <a:srgbClr val="111827"/>
                    </a:solidFill>
                    <a:latin typeface="Cambria Math" panose="02040503050406030204" pitchFamily="18" charset="0"/>
                  </a:rPr>
                  <a:t>$x-3$</a:t>
                </a:r>
                <a:r>
                  <a:rPr sz="2400" b="0">
                    <a:solidFill>
                      <a:srgbClr val="111827"/>
                    </a:solidFill>
                    <a:latin typeface="Arial"/>
                  </a:rPr>
                  <a:t> has mean </a:t>
                </a:r>
                <a:r>
                  <a:rPr lang="en-IN" sz="2400">
                    <a:solidFill>
                      <a:srgbClr val="111827"/>
                    </a:solidFill>
                    <a:latin typeface="Cambria Math" panose="02040503050406030204" pitchFamily="18" charset="0"/>
                  </a:rPr>
                  <a:t>$m+2$</a:t>
                </a:r>
                <a:r>
                  <a:rPr sz="2400" b="0">
                    <a:solidFill>
                      <a:srgbClr val="111827"/>
                    </a:solidFill>
                    <a:latin typeface="Arial"/>
                  </a:rPr>
                  <a:t> (</a:t>
                </a:r>
                <a:r>
                  <a:rPr lang="en-IN" sz="2400">
                    <a:solidFill>
                      <a:srgbClr val="111827"/>
                    </a:solidFill>
                    <a:latin typeface="Cambria Math" panose="02040503050406030204" pitchFamily="18" charset="0"/>
                  </a:rPr>
                  <a:t>$m$</a:t>
                </a:r>
                <a:r>
                  <a:rPr sz="2400" b="0">
                    <a:solidFill>
                      <a:srgbClr val="111827"/>
                    </a:solidFill>
                    <a:latin typeface="Arial"/>
                  </a:rPr>
                  <a:t> the mean of </a:t>
                </a:r>
                <a:r>
                  <a:rPr lang="en-IN" sz="2400">
                    <a:solidFill>
                      <a:srgbClr val="111827"/>
                    </a:solidFill>
                    <a:latin typeface="Cambria Math" panose="02040503050406030204" pitchFamily="18" charset="0"/>
                  </a:rPr>
                  <a:t>$x-5$</a:t>
                </a:r>
                <a:r>
                  <a:rPr sz="2400" b="0">
                    <a:solidFill>
                      <a:srgbClr val="111827"/>
                    </a:solidFill>
                    <a:latin typeface="Arial"/>
                  </a:rPr>
                  <a:t>) and the same variance.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Never rebuild the original </a:t>
                </a:r>
                <a:r>
                  <a:rPr lang="en-IN" sz="2400">
                    <a:solidFill>
                      <a:srgbClr val="111827"/>
                    </a:solidFill>
                    <a:latin typeface="Cambria Math" panose="02040503050406030204" pitchFamily="18" charset="0"/>
                  </a:rPr>
                  <a:t>$x_i$</a:t>
                </a:r>
                <a:r>
                  <a:rPr sz="2400" b="0">
                    <a:solidFill>
                      <a:srgbClr val="111827"/>
                    </a:solidFill>
                    <a:latin typeface="Arial"/>
                  </a:rPr>
                  <a:t>; carry the shift.</a:t>
                </a:r>
                <a:endParaRPr sz="2400">
                  <a:solidFill>
                    <a:srgbClr val="111827"/>
                  </a:solidFill>
                </a:endParaRPr>
              </a:p>
            </p:txBody>
          </p:sp>
        </mc:Fallback>
      </mc:AlternateContent>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2</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Numerical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Q25 – Q26</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4 marks each (no marks printed in the sheet - JEE Advanced default of 4 assumed)</a:t>
            </a:r>
            <a:endParaRPr sz="2800">
              <a:solidFill>
                <a:srgbClr val="FFFFFF"/>
              </a:solidFill>
            </a:endParaRP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variance of the first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natural numbers is 10 and the variance of the first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even natural numbers is 16, then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 is equal to ______.</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variance of the first </a:t>
                </a:r>
                <a:r>
                  <a:rPr lang="en-IN" sz="2400">
                    <a:solidFill>
                      <a:srgbClr val="111827"/>
                    </a:solidFill>
                    <a:latin typeface="Cambria Math" panose="02040503050406030204" pitchFamily="18" charset="0"/>
                  </a:rPr>
                  <a:t>$n$</a:t>
                </a:r>
                <a:r>
                  <a:rPr sz="2400" b="0">
                    <a:solidFill>
                      <a:srgbClr val="111827"/>
                    </a:solidFill>
                    <a:latin typeface="Arial"/>
                  </a:rPr>
                  <a:t> natural numbers is 10 and the variance of the first </a:t>
                </a:r>
                <a:r>
                  <a:rPr lang="en-IN" sz="2400">
                    <a:solidFill>
                      <a:srgbClr val="111827"/>
                    </a:solidFill>
                    <a:latin typeface="Cambria Math" panose="02040503050406030204" pitchFamily="18" charset="0"/>
                  </a:rPr>
                  <a:t>$m$</a:t>
                </a:r>
                <a:r>
                  <a:rPr sz="2400" b="0">
                    <a:solidFill>
                      <a:srgbClr val="111827"/>
                    </a:solidFill>
                    <a:latin typeface="Arial"/>
                  </a:rPr>
                  <a:t> even natural numbers is 16, then </a:t>
                </a:r>
                <a:r>
                  <a:rPr lang="en-IN" sz="2400">
                    <a:solidFill>
                      <a:srgbClr val="111827"/>
                    </a:solidFill>
                    <a:latin typeface="Cambria Math" panose="02040503050406030204" pitchFamily="18" charset="0"/>
                  </a:rPr>
                  <a:t>$m+n$</a:t>
                </a:r>
                <a:r>
                  <a:rPr sz="2400" b="0">
                    <a:solidFill>
                      <a:srgbClr val="111827"/>
                    </a:solidFill>
                    <a:latin typeface="Arial"/>
                  </a:rPr>
                  <a:t> is equal to ______.</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324612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Variance of the first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natural numbers and of the first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even natural numbers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Choice>
        <mc:Fallback>
          <p:sp>
            <p:nvSpPr>
              <p:cNvPr id="5" name="Rectangle 4"/>
              <p:cNvSpPr/>
              <p:nvPr/>
            </p:nvSpPr>
            <p:spPr>
              <a:xfrm>
                <a:off x="731520" y="324612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Variance of the first </a:t>
                </a:r>
                <a:r>
                  <a:rPr lang="en-IN" sz="2400">
                    <a:solidFill>
                      <a:srgbClr val="111827"/>
                    </a:solidFill>
                    <a:latin typeface="Cambria Math" panose="02040503050406030204" pitchFamily="18" charset="0"/>
                  </a:rPr>
                  <a:t>$n$</a:t>
                </a:r>
                <a:r>
                  <a:rPr sz="2400" b="0">
                    <a:solidFill>
                      <a:srgbClr val="111827"/>
                    </a:solidFill>
                    <a:latin typeface="Arial"/>
                  </a:rPr>
                  <a:t> natural numbers and of the first </a:t>
                </a:r>
                <a:r>
                  <a:rPr lang="en-IN" sz="2400">
                    <a:solidFill>
                      <a:srgbClr val="111827"/>
                    </a:solidFill>
                    <a:latin typeface="Cambria Math" panose="02040503050406030204" pitchFamily="18" charset="0"/>
                  </a:rPr>
                  <a:t>$m$</a:t>
                </a:r>
                <a:r>
                  <a:rPr sz="2400" b="0">
                    <a:solidFill>
                      <a:srgbClr val="111827"/>
                    </a:solidFill>
                    <a:latin typeface="Arial"/>
                  </a:rPr>
                  <a:t> even natural numbers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Fallback>
      </mc:AlternateContent>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Use </a:t>
                </a:r>
                <a14:m>
                  <m:oMath xmlns:m="http://schemas.openxmlformats.org/officeDocument/2006/math">
                    <m:sSup>
                      <m:e>
                        <m:r>
                          <a:rPr lang="en-IN" sz="2400" i="1">
                            <a:solidFill>
                              <a:srgbClr val="78350F"/>
                            </a:solidFill>
                            <a:latin typeface="Cambria Math" panose="02040503050406030204" pitchFamily="18" charset="0"/>
                          </a:rPr>
                          <m:t>σ</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sSup>
                          <m:e>
                            <m:r>
                              <a:rPr lang="en-IN" sz="2400" i="1">
                                <a:solidFill>
                                  <a:srgbClr val="78350F"/>
                                </a:solidFill>
                                <a:latin typeface="Cambria Math" panose="02040503050406030204" pitchFamily="18" charset="0"/>
                              </a:rPr>
                              <m:t>𝑛</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12</m:t>
                        </m:r>
                      </m:den>
                    </m:f>
                  </m:oMath>
                </a14:m>
                <a:r>
                  <a:rPr sz="2400" b="0">
                    <a:solidFill>
                      <a:srgbClr val="78350F"/>
                    </a:solidFill>
                    <a:latin typeface="Arial"/>
                  </a:rPr>
                  <a:t> for naturals and scale by </a:t>
                </a:r>
                <a14:m>
                  <m:oMath xmlns:m="http://schemas.openxmlformats.org/officeDocument/2006/math">
                    <m:r>
                      <a:rPr lang="en-IN" sz="2400" i="1">
                        <a:solidFill>
                          <a:srgbClr val="78350F"/>
                        </a:solidFill>
                        <a:latin typeface="Cambria Math" panose="02040503050406030204" pitchFamily="18" charset="0"/>
                      </a:rPr>
                      <m:t>4</m:t>
                    </m:r>
                  </m:oMath>
                </a14:m>
                <a:r>
                  <a:rPr sz="2400" b="0">
                    <a:solidFill>
                      <a:srgbClr val="78350F"/>
                    </a:solidFill>
                    <a:latin typeface="Arial"/>
                  </a:rPr>
                  <a:t> for evens.</a:t>
                </a:r>
                <a:endParaRPr sz="2400">
                  <a:solidFill>
                    <a:srgbClr val="78350F"/>
                  </a:solidFill>
                </a:endParaRPr>
              </a:p>
            </p:txBody>
          </p:sp>
        </mc:Choice>
        <mc:Fallback>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Use </a:t>
                </a:r>
                <a:r>
                  <a:rPr lang="en-IN" sz="2400">
                    <a:solidFill>
                      <a:srgbClr val="78350F"/>
                    </a:solidFill>
                    <a:latin typeface="Cambria Math" panose="02040503050406030204" pitchFamily="18" charset="0"/>
                  </a:rPr>
                  <a:t>$\sigma^2=\frac{n^2-1}{12}$</a:t>
                </a:r>
                <a:r>
                  <a:rPr sz="2400" b="0">
                    <a:solidFill>
                      <a:srgbClr val="78350F"/>
                    </a:solidFill>
                    <a:latin typeface="Arial"/>
                  </a:rPr>
                  <a:t> for naturals and scale by </a:t>
                </a:r>
                <a:r>
                  <a:rPr lang="en-IN" sz="2400">
                    <a:solidFill>
                      <a:srgbClr val="78350F"/>
                    </a:solidFill>
                    <a:latin typeface="Cambria Math" panose="02040503050406030204" pitchFamily="18" charset="0"/>
                  </a:rPr>
                  <a:t>$4$</a:t>
                </a:r>
                <a:r>
                  <a:rPr sz="2400" b="0">
                    <a:solidFill>
                      <a:srgbClr val="78350F"/>
                    </a:solidFill>
                    <a:latin typeface="Arial"/>
                  </a:rPr>
                  <a:t> for evens.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Variance of the first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natural numbers: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𝑛</m:t>
                        </m:r>
                      </m:den>
                    </m:f>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num>
                              <m:den>
                                <m:r>
                                  <a:rPr lang="en-IN" sz="2400" i="1">
                                    <a:solidFill>
                                      <a:srgbClr val="111827"/>
                                    </a:solidFill>
                                    <a:latin typeface="Cambria Math" panose="02040503050406030204" pitchFamily="18" charset="0"/>
                                  </a:rPr>
                                  <m:t>𝑛</m:t>
                                </m:r>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121</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oMath>
                </a14:m>
                <a:r>
                  <a:rPr sz="2400" b="0">
                    <a:solidFill>
                      <a:srgbClr val="111827"/>
                    </a:solidFill>
                    <a:latin typeface="Arial"/>
                  </a:rPr>
                  <a:t> (as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N</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Variance of the first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even naturals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variance of the first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naturals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 so the variance of the first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naturals is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Variance of the first </a:t>
                </a:r>
                <a:r>
                  <a:rPr lang="en-IN" sz="2400">
                    <a:solidFill>
                      <a:srgbClr val="111827"/>
                    </a:solidFill>
                    <a:latin typeface="Cambria Math" panose="02040503050406030204" pitchFamily="18" charset="0"/>
                  </a:rPr>
                  <a:t>$n$</a:t>
                </a:r>
                <a:r>
                  <a:rPr sz="2400" b="0">
                    <a:solidFill>
                      <a:srgbClr val="111827"/>
                    </a:solidFill>
                    <a:latin typeface="Arial"/>
                  </a:rPr>
                  <a:t> natural numbers: </a:t>
                </a:r>
                <a:r>
                  <a:rPr lang="en-IN" sz="2400">
                    <a:solidFill>
                      <a:srgbClr val="111827"/>
                    </a:solidFill>
                    <a:latin typeface="Cambria Math" panose="02040503050406030204" pitchFamily="18" charset="0"/>
                  </a:rPr>
                  <a:t>$\frac{\sum k^2}{n}-\left(\frac{\sum k}{n}\right)^2=\frac{(n+1)(2n+1)}{6}-\frac{(n+1)^2}{4}=\frac{n^2-1}{12}$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$\frac{n^2-1}{12}=10$</a:t>
                </a:r>
                <a:r>
                  <a:rPr sz="2400" b="0">
                    <a:solidFill>
                      <a:srgbClr val="111827"/>
                    </a:solidFill>
                    <a:latin typeface="Arial"/>
                  </a:rPr>
                  <a:t>, so </a:t>
                </a:r>
                <a:r>
                  <a:rPr lang="en-IN" sz="2400">
                    <a:solidFill>
                      <a:srgbClr val="111827"/>
                    </a:solidFill>
                    <a:latin typeface="Cambria Math" panose="02040503050406030204" pitchFamily="18" charset="0"/>
                  </a:rPr>
                  <a:t>$n^2=121$</a:t>
                </a:r>
                <a:r>
                  <a:rPr sz="2400" b="0">
                    <a:solidFill>
                      <a:srgbClr val="111827"/>
                    </a:solidFill>
                    <a:latin typeface="Arial"/>
                  </a:rPr>
                  <a:t> and </a:t>
                </a:r>
                <a:r>
                  <a:rPr lang="en-IN" sz="2400">
                    <a:solidFill>
                      <a:srgbClr val="111827"/>
                    </a:solidFill>
                    <a:latin typeface="Cambria Math" panose="02040503050406030204" pitchFamily="18" charset="0"/>
                  </a:rPr>
                  <a:t>$n=11$</a:t>
                </a:r>
                <a:r>
                  <a:rPr sz="2400" b="0">
                    <a:solidFill>
                      <a:srgbClr val="111827"/>
                    </a:solidFill>
                    <a:latin typeface="Arial"/>
                  </a:rPr>
                  <a:t> (as </a:t>
                </a:r>
                <a:r>
                  <a:rPr lang="en-IN" sz="2400">
                    <a:solidFill>
                      <a:srgbClr val="111827"/>
                    </a:solidFill>
                    <a:latin typeface="Cambria Math" panose="02040503050406030204" pitchFamily="18" charset="0"/>
                  </a:rPr>
                  <a:t>$n\in\mathbb{N}$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Variance of the first </a:t>
                </a:r>
                <a:r>
                  <a:rPr lang="en-IN" sz="2400">
                    <a:solidFill>
                      <a:srgbClr val="111827"/>
                    </a:solidFill>
                    <a:latin typeface="Cambria Math" panose="02040503050406030204" pitchFamily="18" charset="0"/>
                  </a:rPr>
                  <a:t>$m$</a:t>
                </a:r>
                <a:r>
                  <a:rPr sz="2400" b="0">
                    <a:solidFill>
                      <a:srgbClr val="111827"/>
                    </a:solidFill>
                    <a:latin typeface="Arial"/>
                  </a:rPr>
                  <a:t> even naturals </a:t>
                </a:r>
                <a:r>
                  <a:rPr lang="en-IN" sz="2400">
                    <a:solidFill>
                      <a:srgbClr val="111827"/>
                    </a:solidFill>
                    <a:latin typeface="Cambria Math" panose="02040503050406030204" pitchFamily="18" charset="0"/>
                  </a:rPr>
                  <a:t>$=4\times$</a:t>
                </a:r>
                <a:r>
                  <a:rPr sz="2400" b="0">
                    <a:solidFill>
                      <a:srgbClr val="111827"/>
                    </a:solidFill>
                    <a:latin typeface="Arial"/>
                  </a:rPr>
                  <a:t> variance of the first </a:t>
                </a:r>
                <a:r>
                  <a:rPr lang="en-IN" sz="2400">
                    <a:solidFill>
                      <a:srgbClr val="111827"/>
                    </a:solidFill>
                    <a:latin typeface="Cambria Math" panose="02040503050406030204" pitchFamily="18" charset="0"/>
                  </a:rPr>
                  <a:t>$m$</a:t>
                </a:r>
                <a:r>
                  <a:rPr sz="2400" b="0">
                    <a:solidFill>
                      <a:srgbClr val="111827"/>
                    </a:solidFill>
                    <a:latin typeface="Arial"/>
                  </a:rPr>
                  <a:t> naturals </a:t>
                </a:r>
                <a:r>
                  <a:rPr lang="en-IN" sz="2400">
                    <a:solidFill>
                      <a:srgbClr val="111827"/>
                    </a:solidFill>
                    <a:latin typeface="Cambria Math" panose="02040503050406030204" pitchFamily="18" charset="0"/>
                  </a:rPr>
                  <a:t>$=16$</a:t>
                </a:r>
                <a:r>
                  <a:rPr sz="2400" b="0">
                    <a:solidFill>
                      <a:srgbClr val="111827"/>
                    </a:solidFill>
                    <a:latin typeface="Arial"/>
                  </a:rPr>
                  <a:t>, so the variance of the first </a:t>
                </a:r>
                <a:r>
                  <a:rPr lang="en-IN" sz="2400">
                    <a:solidFill>
                      <a:srgbClr val="111827"/>
                    </a:solidFill>
                    <a:latin typeface="Cambria Math" panose="02040503050406030204" pitchFamily="18" charset="0"/>
                  </a:rPr>
                  <a:t>$m$</a:t>
                </a:r>
                <a:r>
                  <a:rPr sz="2400" b="0">
                    <a:solidFill>
                      <a:srgbClr val="111827"/>
                    </a:solidFill>
                    <a:latin typeface="Arial"/>
                  </a:rPr>
                  <a:t> naturals is </a:t>
                </a:r>
                <a:r>
                  <a:rPr lang="en-IN" sz="2400">
                    <a:solidFill>
                      <a:srgbClr val="111827"/>
                    </a:solidFill>
                    <a:latin typeface="Cambria Math" panose="02040503050406030204" pitchFamily="18" charset="0"/>
                  </a:rPr>
                  <a:t>$4$</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49</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$\frac{m^2-1}{12}=4$</a:t>
                </a:r>
                <a:r>
                  <a:rPr sz="2400" b="0">
                    <a:solidFill>
                      <a:srgbClr val="111827"/>
                    </a:solidFill>
                    <a:latin typeface="Arial"/>
                  </a:rPr>
                  <a:t>, so </a:t>
                </a:r>
                <a:r>
                  <a:rPr lang="en-IN" sz="2400">
                    <a:solidFill>
                      <a:srgbClr val="111827"/>
                    </a:solidFill>
                    <a:latin typeface="Cambria Math" panose="02040503050406030204" pitchFamily="18" charset="0"/>
                  </a:rPr>
                  <a:t>$m^2=49$</a:t>
                </a:r>
                <a:r>
                  <a:rPr sz="2400" b="0">
                    <a:solidFill>
                      <a:srgbClr val="111827"/>
                    </a:solidFill>
                    <a:latin typeface="Arial"/>
                  </a:rPr>
                  <a:t> and </a:t>
                </a:r>
                <a:r>
                  <a:rPr lang="en-IN" sz="2400">
                    <a:solidFill>
                      <a:srgbClr val="111827"/>
                    </a:solidFill>
                    <a:latin typeface="Cambria Math" panose="02040503050406030204" pitchFamily="18" charset="0"/>
                  </a:rPr>
                  <a:t>$m=7$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$m+n=7+11=18$</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14:m>
                  <m:oMath xmlns:m="http://schemas.openxmlformats.org/officeDocument/2006/math">
                    <m:r>
                      <a:rPr lang="en-IN" sz="2800" i="1">
                        <a:solidFill>
                          <a:srgbClr val="15803D"/>
                        </a:solidFill>
                        <a:latin typeface="Cambria Math" panose="02040503050406030204" pitchFamily="18" charset="0"/>
                      </a:rPr>
                      <m:t>18</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r>
                  <a:rPr lang="en-IN" sz="2800">
                    <a:solidFill>
                      <a:srgbClr val="15803D"/>
                    </a:solidFill>
                    <a:latin typeface="Cambria Math" panose="02040503050406030204" pitchFamily="18" charset="0"/>
                  </a:rPr>
                  <a:t>$18$</a:t>
                </a:r>
                <a:endParaRPr sz="2800">
                  <a:solidFill>
                    <a:srgbClr val="15803D"/>
                  </a:solidFill>
                </a:endParaRPr>
              </a:p>
            </p:txBody>
          </p:sp>
        </mc:Fallback>
      </mc:AlternateContent>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847344"/>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Variance of an AP: </a:t>
                </a:r>
                <a14:m>
                  <m:oMath xmlns:m="http://schemas.openxmlformats.org/officeDocument/2006/math">
                    <m:f>
                      <m:fPr>
                        <m:type m:val="bar"/>
                        <m:ctrlPr>
                          <a:rPr lang="en-IN" sz="2400" i="1">
                            <a:solidFill>
                              <a:srgbClr val="78350F"/>
                            </a:solidFill>
                            <a:latin typeface="Cambria Math" panose="02040503050406030204" pitchFamily="18" charset="0"/>
                          </a:rPr>
                        </m:ctrlPr>
                      </m:fPr>
                      <m:num>
                        <m:sSup>
                          <m:e>
                            <m:r>
                              <a:rPr lang="en-IN" sz="2400" i="1">
                                <a:solidFill>
                                  <a:srgbClr val="78350F"/>
                                </a:solidFill>
                                <a:latin typeface="Cambria Math" panose="02040503050406030204" pitchFamily="18" charset="0"/>
                              </a:rPr>
                              <m:t>𝑑</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𝑁</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num>
                      <m:den>
                        <m:r>
                          <a:rPr lang="en-IN" sz="2400" i="1">
                            <a:solidFill>
                              <a:srgbClr val="78350F"/>
                            </a:solidFill>
                            <a:latin typeface="Cambria Math" panose="02040503050406030204" pitchFamily="18" charset="0"/>
                          </a:rPr>
                          <m:t>12</m:t>
                        </m:r>
                      </m:den>
                    </m:f>
                  </m:oMath>
                </a14:m>
                <a:r>
                  <a:rPr sz="2400" b="0">
                    <a:solidFill>
                      <a:srgbClr val="78350F"/>
                    </a:solidFill>
                    <a:latin typeface="Arial"/>
                  </a:rPr>
                  <a:t> for </a:t>
                </a:r>
                <a14:m>
                  <m:oMath xmlns:m="http://schemas.openxmlformats.org/officeDocument/2006/math">
                    <m:r>
                      <a:rPr lang="en-IN" sz="2400" i="1">
                        <a:solidFill>
                          <a:srgbClr val="78350F"/>
                        </a:solidFill>
                        <a:latin typeface="Cambria Math" panose="02040503050406030204" pitchFamily="18" charset="0"/>
                      </a:rPr>
                      <m:t>𝑁</m:t>
                    </m:r>
                  </m:oMath>
                </a14:m>
                <a:r>
                  <a:rPr sz="2400" b="0">
                    <a:solidFill>
                      <a:srgbClr val="78350F"/>
                    </a:solidFill>
                    <a:latin typeface="Arial"/>
                  </a:rPr>
                  <a:t> terms.</a:t>
                </a:r>
                <a:endParaRPr sz="2400">
                  <a:solidFill>
                    <a:srgbClr val="78350F"/>
                  </a:solidFill>
                </a:endParaRPr>
              </a:p>
            </p:txBody>
          </p:sp>
        </mc:Choice>
        <mc:Fallback>
          <p:sp>
            <p:nvSpPr>
              <p:cNvPr id="5" name="Rounded Rectangle 4"/>
              <p:cNvSpPr/>
              <p:nvPr/>
            </p:nvSpPr>
            <p:spPr>
              <a:xfrm>
                <a:off x="731520" y="1280160"/>
                <a:ext cx="10725912" cy="847344"/>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Variance of an AP: </a:t>
                </a:r>
                <a:r>
                  <a:rPr lang="en-IN" sz="2400">
                    <a:solidFill>
                      <a:srgbClr val="78350F"/>
                    </a:solidFill>
                    <a:latin typeface="Cambria Math" panose="02040503050406030204" pitchFamily="18" charset="0"/>
                  </a:rPr>
                  <a:t>$\frac{d^2(N^2-1)}{12}$</a:t>
                </a:r>
                <a:r>
                  <a:rPr sz="2400" b="0">
                    <a:solidFill>
                      <a:srgbClr val="78350F"/>
                    </a:solidFill>
                    <a:latin typeface="Arial"/>
                  </a:rPr>
                  <a:t> for </a:t>
                </a:r>
                <a:r>
                  <a:rPr lang="en-IN" sz="2400">
                    <a:solidFill>
                      <a:srgbClr val="78350F"/>
                    </a:solidFill>
                    <a:latin typeface="Cambria Math" panose="02040503050406030204" pitchFamily="18" charset="0"/>
                  </a:rPr>
                  <a:t>$N$</a:t>
                </a:r>
                <a:r>
                  <a:rPr sz="2400" b="0">
                    <a:solidFill>
                      <a:srgbClr val="78350F"/>
                    </a:solidFill>
                    <a:latin typeface="Arial"/>
                  </a:rPr>
                  <a:t> terms.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264664"/>
                <a:ext cx="10725912" cy="352348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Naturals: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Even naturals: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12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 gives </a:t>
                </a:r>
                <a14:m>
                  <m:oMath xmlns:m="http://schemas.openxmlformats.org/officeDocument/2006/math">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48</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oMath>
                </a14:m>
                <a:r>
                  <a:rPr sz="2400" b="0">
                    <a:solidFill>
                      <a:srgbClr val="111827"/>
                    </a:solidFill>
                    <a:latin typeface="Arial"/>
                  </a:rPr>
                  <a:t>, the same answer.</a:t>
                </a:r>
                <a:endParaRPr sz="2400">
                  <a:solidFill>
                    <a:srgbClr val="111827"/>
                  </a:solidFill>
                </a:endParaRPr>
              </a:p>
            </p:txBody>
          </p:sp>
        </mc:Choice>
        <mc:Fallback>
          <p:sp>
            <p:nvSpPr>
              <p:cNvPr id="6" name="Rectangle 5"/>
              <p:cNvSpPr/>
              <p:nvPr/>
            </p:nvSpPr>
            <p:spPr>
              <a:xfrm>
                <a:off x="731520" y="2264664"/>
                <a:ext cx="10725912" cy="352348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Naturals: </a:t>
                </a:r>
                <a:r>
                  <a:rPr lang="en-IN" sz="2400">
                    <a:solidFill>
                      <a:srgbClr val="111827"/>
                    </a:solidFill>
                    <a:latin typeface="Cambria Math" panose="02040503050406030204" pitchFamily="18" charset="0"/>
                  </a:rPr>
                  <a:t>$d=1$</a:t>
                </a:r>
                <a:r>
                  <a:rPr sz="2400" b="0">
                    <a:solidFill>
                      <a:srgbClr val="111827"/>
                    </a:solidFill>
                    <a:latin typeface="Arial"/>
                  </a:rPr>
                  <a:t>, </a:t>
                </a:r>
                <a:r>
                  <a:rPr lang="en-IN" sz="2400">
                    <a:solidFill>
                      <a:srgbClr val="111827"/>
                    </a:solidFill>
                    <a:latin typeface="Cambria Math" panose="02040503050406030204" pitchFamily="18" charset="0"/>
                  </a:rPr>
                  <a:t>$N=n$</a:t>
                </a:r>
                <a:r>
                  <a:rPr sz="2400" b="0">
                    <a:solidFill>
                      <a:srgbClr val="111827"/>
                    </a:solidFill>
                    <a:latin typeface="Arial"/>
                  </a:rPr>
                  <a:t>: </a:t>
                </a:r>
                <a:r>
                  <a:rPr lang="en-IN" sz="2400">
                    <a:solidFill>
                      <a:srgbClr val="111827"/>
                    </a:solidFill>
                    <a:latin typeface="Cambria Math" panose="02040503050406030204" pitchFamily="18" charset="0"/>
                  </a:rPr>
                  <a:t>$\frac{n^2-1}{12}=10$</a:t>
                </a:r>
                <a:r>
                  <a:rPr sz="2400" b="0">
                    <a:solidFill>
                      <a:srgbClr val="111827"/>
                    </a:solidFill>
                    <a:latin typeface="Arial"/>
                  </a:rPr>
                  <a:t> gives </a:t>
                </a:r>
                <a:r>
                  <a:rPr lang="en-IN" sz="2400">
                    <a:solidFill>
                      <a:srgbClr val="111827"/>
                    </a:solidFill>
                    <a:latin typeface="Cambria Math" panose="02040503050406030204" pitchFamily="18" charset="0"/>
                  </a:rPr>
                  <a:t>$n=11$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Even naturals: </a:t>
                </a:r>
                <a:r>
                  <a:rPr lang="en-IN" sz="2400">
                    <a:solidFill>
                      <a:srgbClr val="111827"/>
                    </a:solidFill>
                    <a:latin typeface="Cambria Math" panose="02040503050406030204" pitchFamily="18" charset="0"/>
                  </a:rPr>
                  <a:t>$d=2$</a:t>
                </a:r>
                <a:r>
                  <a:rPr sz="2400" b="0">
                    <a:solidFill>
                      <a:srgbClr val="111827"/>
                    </a:solidFill>
                    <a:latin typeface="Arial"/>
                  </a:rPr>
                  <a:t>, </a:t>
                </a:r>
                <a:r>
                  <a:rPr lang="en-IN" sz="2400">
                    <a:solidFill>
                      <a:srgbClr val="111827"/>
                    </a:solidFill>
                    <a:latin typeface="Cambria Math" panose="02040503050406030204" pitchFamily="18" charset="0"/>
                  </a:rPr>
                  <a:t>$N=m$</a:t>
                </a:r>
                <a:r>
                  <a:rPr sz="2400" b="0">
                    <a:solidFill>
                      <a:srgbClr val="111827"/>
                    </a:solidFill>
                    <a:latin typeface="Arial"/>
                  </a:rPr>
                  <a:t>: </a:t>
                </a:r>
                <a:r>
                  <a:rPr lang="en-IN" sz="2400">
                    <a:solidFill>
                      <a:srgbClr val="111827"/>
                    </a:solidFill>
                    <a:latin typeface="Cambria Math" panose="02040503050406030204" pitchFamily="18" charset="0"/>
                  </a:rPr>
                  <a:t>$\frac{4(m^2-1)}{12}=16$</a:t>
                </a:r>
                <a:r>
                  <a:rPr sz="2400" b="0">
                    <a:solidFill>
                      <a:srgbClr val="111827"/>
                    </a:solidFill>
                    <a:latin typeface="Arial"/>
                  </a:rPr>
                  <a:t> gives </a:t>
                </a:r>
                <a:r>
                  <a:rPr lang="en-IN" sz="2400">
                    <a:solidFill>
                      <a:srgbClr val="111827"/>
                    </a:solidFill>
                    <a:latin typeface="Cambria Math" panose="02040503050406030204" pitchFamily="18" charset="0"/>
                  </a:rPr>
                  <a:t>$m^2-1=48$</a:t>
                </a:r>
                <a:r>
                  <a:rPr sz="2400" b="0">
                    <a:solidFill>
                      <a:srgbClr val="111827"/>
                    </a:solidFill>
                    <a:latin typeface="Arial"/>
                  </a:rPr>
                  <a:t>, </a:t>
                </a:r>
                <a:r>
                  <a:rPr lang="en-IN" sz="2400">
                    <a:solidFill>
                      <a:srgbClr val="111827"/>
                    </a:solidFill>
                    <a:latin typeface="Cambria Math" panose="02040503050406030204" pitchFamily="18" charset="0"/>
                  </a:rPr>
                  <a:t>$m=7$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$m+n=18$</a:t>
                </a:r>
                <a:r>
                  <a:rPr sz="2400" b="0">
                    <a:solidFill>
                      <a:srgbClr val="111827"/>
                    </a:solidFill>
                    <a:latin typeface="Arial"/>
                  </a:rPr>
                  <a:t>, the same answer.</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14:m>
                  <m:oMath xmlns:m="http://schemas.openxmlformats.org/officeDocument/2006/math">
                    <m:r>
                      <a:rPr lang="en-IN" sz="2800" i="1">
                        <a:solidFill>
                          <a:srgbClr val="15803D"/>
                        </a:solidFill>
                        <a:latin typeface="Cambria Math" panose="02040503050406030204" pitchFamily="18" charset="0"/>
                      </a:rPr>
                      <m:t>18</m:t>
                    </m:r>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r>
                  <a:rPr lang="en-IN" sz="2800">
                    <a:solidFill>
                      <a:srgbClr val="15803D"/>
                    </a:solidFill>
                    <a:latin typeface="Cambria Math" panose="02040503050406030204" pitchFamily="18" charset="0"/>
                  </a:rPr>
                  <a:t>$18$</a:t>
                </a:r>
                <a:endParaRPr sz="2800">
                  <a:solidFill>
                    <a:srgbClr val="15803D"/>
                  </a:solidFill>
                </a:endParaRPr>
              </a:p>
            </p:txBody>
          </p:sp>
        </mc:Fallback>
      </mc:AlternateContent>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Variance of an </a:t>
                </a:r>
                <a14:m>
                  <m:oMath xmlns:m="http://schemas.openxmlformats.org/officeDocument/2006/math">
                    <m:r>
                      <a:rPr lang="en-IN" sz="2400" i="1">
                        <a:solidFill>
                          <a:srgbClr val="111827"/>
                        </a:solidFill>
                        <a:latin typeface="Cambria Math" panose="02040503050406030204" pitchFamily="18" charset="0"/>
                      </a:rPr>
                      <m:t>𝑁</m:t>
                    </m:r>
                  </m:oMath>
                </a14:m>
                <a:r>
                  <a:rPr sz="2400" b="0">
                    <a:solidFill>
                      <a:srgbClr val="111827"/>
                    </a:solidFill>
                    <a:latin typeface="Arial"/>
                  </a:rPr>
                  <a:t>-term AP with common difference </a:t>
                </a:r>
                <a14:m>
                  <m:oMath xmlns:m="http://schemas.openxmlformats.org/officeDocument/2006/math">
                    <m:r>
                      <a:rPr lang="en-IN" sz="2400" i="1">
                        <a:solidFill>
                          <a:srgbClr val="111827"/>
                        </a:solidFill>
                        <a:latin typeface="Cambria Math" panose="02040503050406030204" pitchFamily="18" charset="0"/>
                      </a:rPr>
                      <m:t>𝑑</m:t>
                    </m:r>
                  </m:oMath>
                </a14:m>
                <a:r>
                  <a:rPr sz="2400" b="0">
                    <a:solidFill>
                      <a:srgbClr val="111827"/>
                    </a:solidFill>
                    <a:latin typeface="Arial"/>
                  </a:rPr>
                  <a:t> is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𝑁</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12</m:t>
                        </m:r>
                      </m:den>
                    </m:f>
                  </m:oMath>
                </a14:m>
                <a:r>
                  <a:rPr sz="2400" b="0">
                    <a:solidFill>
                      <a:srgbClr val="111827"/>
                    </a:solidFill>
                    <a:latin typeface="Arial"/>
                  </a:rPr>
                  <a:t>; it does not depend on the first term.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the variance is a perfect value like 10, 16 etc., solve </a:t>
                </a:r>
                <a14:m>
                  <m:oMath xmlns:m="http://schemas.openxmlformats.org/officeDocument/2006/math">
                    <m:sSup>
                      <m:e>
                        <m:r>
                          <a:rPr lang="en-IN" sz="2400" i="1">
                            <a:solidFill>
                              <a:srgbClr val="111827"/>
                            </a:solidFill>
                            <a:latin typeface="Cambria Math" panose="02040503050406030204" pitchFamily="18" charset="0"/>
                          </a:rPr>
                          <m:t>𝑁</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𝑁</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must be a perfect square (</a:t>
                </a:r>
                <a14:m>
                  <m:oMath xmlns:m="http://schemas.openxmlformats.org/officeDocument/2006/math">
                    <m:r>
                      <a:rPr lang="en-IN" sz="2400" i="1">
                        <a:solidFill>
                          <a:srgbClr val="111827"/>
                        </a:solidFill>
                        <a:latin typeface="Cambria Math" panose="02040503050406030204" pitchFamily="18" charset="0"/>
                      </a:rPr>
                      <m:t>121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49</m:t>
                    </m:r>
                  </m:oMath>
                </a14:m>
                <a:r>
                  <a:rPr sz="2400" b="0">
                    <a:solidFill>
                      <a:srgbClr val="111827"/>
                    </a:solidFill>
                    <a:latin typeface="Arial"/>
                  </a:rPr>
                  <a:t> here).</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Variance of an </a:t>
                </a:r>
                <a:r>
                  <a:rPr lang="en-IN" sz="2400">
                    <a:solidFill>
                      <a:srgbClr val="111827"/>
                    </a:solidFill>
                    <a:latin typeface="Cambria Math" panose="02040503050406030204" pitchFamily="18" charset="0"/>
                  </a:rPr>
                  <a:t>$N$</a:t>
                </a:r>
                <a:r>
                  <a:rPr sz="2400" b="0">
                    <a:solidFill>
                      <a:srgbClr val="111827"/>
                    </a:solidFill>
                    <a:latin typeface="Arial"/>
                  </a:rPr>
                  <a:t>-term AP with common difference </a:t>
                </a:r>
                <a:r>
                  <a:rPr lang="en-IN" sz="2400">
                    <a:solidFill>
                      <a:srgbClr val="111827"/>
                    </a:solidFill>
                    <a:latin typeface="Cambria Math" panose="02040503050406030204" pitchFamily="18" charset="0"/>
                  </a:rPr>
                  <a:t>$d$</a:t>
                </a:r>
                <a:r>
                  <a:rPr sz="2400" b="0">
                    <a:solidFill>
                      <a:srgbClr val="111827"/>
                    </a:solidFill>
                    <a:latin typeface="Arial"/>
                  </a:rPr>
                  <a:t> is </a:t>
                </a:r>
                <a:r>
                  <a:rPr lang="en-IN" sz="2400">
                    <a:solidFill>
                      <a:srgbClr val="111827"/>
                    </a:solidFill>
                    <a:latin typeface="Cambria Math" panose="02040503050406030204" pitchFamily="18" charset="0"/>
                  </a:rPr>
                  <a:t>$\frac{d^2(N^2-1)}{12}$</a:t>
                </a:r>
                <a:r>
                  <a:rPr sz="2400" b="0">
                    <a:solidFill>
                      <a:srgbClr val="111827"/>
                    </a:solidFill>
                    <a:latin typeface="Arial"/>
                  </a:rPr>
                  <a:t>; it does not depend on the first term.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the variance is a perfect value like 10, 16 etc., solve </a:t>
                </a:r>
                <a:r>
                  <a:rPr lang="en-IN" sz="2400">
                    <a:solidFill>
                      <a:srgbClr val="111827"/>
                    </a:solidFill>
                    <a:latin typeface="Cambria Math" panose="02040503050406030204" pitchFamily="18" charset="0"/>
                  </a:rPr>
                  <a:t>$N^2=12\sigma^2+1$</a:t>
                </a:r>
                <a:r>
                  <a:rPr sz="2400" b="0">
                    <a:solidFill>
                      <a:srgbClr val="111827"/>
                    </a:solidFill>
                    <a:latin typeface="Arial"/>
                  </a:rPr>
                  <a:t>: </a:t>
                </a:r>
                <a:r>
                  <a:rPr lang="en-IN" sz="2400">
                    <a:solidFill>
                      <a:srgbClr val="111827"/>
                    </a:solidFill>
                    <a:latin typeface="Cambria Math" panose="02040503050406030204" pitchFamily="18" charset="0"/>
                  </a:rPr>
                  <a:t>$N^2$</a:t>
                </a:r>
                <a:r>
                  <a:rPr sz="2400" b="0">
                    <a:solidFill>
                      <a:srgbClr val="111827"/>
                    </a:solidFill>
                    <a:latin typeface="Arial"/>
                  </a:rPr>
                  <a:t> must be a perfect square (</a:t>
                </a:r>
                <a:r>
                  <a:rPr lang="en-IN" sz="2400">
                    <a:solidFill>
                      <a:srgbClr val="111827"/>
                    </a:solidFill>
                    <a:latin typeface="Cambria Math" panose="02040503050406030204" pitchFamily="18" charset="0"/>
                  </a:rPr>
                  <a:t>$121$</a:t>
                </a:r>
                <a:r>
                  <a:rPr sz="2400" b="0">
                    <a:solidFill>
                      <a:srgbClr val="111827"/>
                    </a:solidFill>
                    <a:latin typeface="Arial"/>
                  </a:rPr>
                  <a:t>, </a:t>
                </a:r>
                <a:r>
                  <a:rPr lang="en-IN" sz="2400">
                    <a:solidFill>
                      <a:srgbClr val="111827"/>
                    </a:solidFill>
                    <a:latin typeface="Cambria Math" panose="02040503050406030204" pitchFamily="18" charset="0"/>
                  </a:rPr>
                  <a:t>$49$</a:t>
                </a:r>
                <a:r>
                  <a:rPr sz="2400" b="0">
                    <a:solidFill>
                      <a:srgbClr val="111827"/>
                    </a:solidFill>
                    <a:latin typeface="Arial"/>
                  </a:rPr>
                  <a:t> here).</a:t>
                </a:r>
                <a:endParaRPr sz="2400">
                  <a:solidFill>
                    <a:srgbClr val="111827"/>
                  </a:solidFill>
                </a:endParaRPr>
              </a:p>
            </p:txBody>
          </p:sp>
        </mc:Fallback>
      </mc:AlternateContent>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mean and variance of eight numbers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 be 10 and 25 respectively, then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r>
                  <a:rPr sz="2400" b="0">
                    <a:solidFill>
                      <a:srgbClr val="111827"/>
                    </a:solidFill>
                    <a:latin typeface="Arial"/>
                  </a:rPr>
                  <a:t> is equal to ______.</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mean and variance of eight numbers </a:t>
                </a:r>
                <a:r>
                  <a:rPr lang="en-IN" sz="2400">
                    <a:solidFill>
                      <a:srgbClr val="111827"/>
                    </a:solidFill>
                    <a:latin typeface="Cambria Math" panose="02040503050406030204" pitchFamily="18" charset="0"/>
                  </a:rPr>
                  <a:t>$3,7,9,12,13,20,x$</a:t>
                </a:r>
                <a:r>
                  <a:rPr sz="2400" b="0">
                    <a:solidFill>
                      <a:srgbClr val="111827"/>
                    </a:solidFill>
                    <a:latin typeface="Arial"/>
                  </a:rPr>
                  <a:t> and </a:t>
                </a:r>
                <a:r>
                  <a:rPr lang="en-IN" sz="2400">
                    <a:solidFill>
                      <a:srgbClr val="111827"/>
                    </a:solidFill>
                    <a:latin typeface="Cambria Math" panose="02040503050406030204" pitchFamily="18" charset="0"/>
                  </a:rPr>
                  <a:t>$y$</a:t>
                </a:r>
                <a:r>
                  <a:rPr sz="2400" b="0">
                    <a:solidFill>
                      <a:srgbClr val="111827"/>
                    </a:solidFill>
                    <a:latin typeface="Arial"/>
                  </a:rPr>
                  <a:t> be 10 and 25 respectively, then </a:t>
                </a:r>
                <a:r>
                  <a:rPr lang="en-IN" sz="2400">
                    <a:solidFill>
                      <a:srgbClr val="111827"/>
                    </a:solidFill>
                    <a:latin typeface="Cambria Math" panose="02040503050406030204" pitchFamily="18" charset="0"/>
                  </a:rPr>
                  <a:t>$x\cdot y$</a:t>
                </a:r>
                <a:r>
                  <a:rPr sz="2400" b="0">
                    <a:solidFill>
                      <a:srgbClr val="111827"/>
                    </a:solidFill>
                    <a:latin typeface="Arial"/>
                  </a:rPr>
                  <a:t> is equal to ______.</a:t>
                </a:r>
                <a:endParaRPr sz="2400">
                  <a:solidFill>
                    <a:srgbClr val="111827"/>
                  </a:solidFill>
                </a:endParaRPr>
              </a:p>
            </p:txBody>
          </p:sp>
        </mc:Fallback>
      </mc:AlternateContent>
      <p:sp>
        <p:nvSpPr>
          <p:cNvPr id="5" name="Rectangle 4"/>
          <p:cNvSpPr/>
          <p:nvPr/>
        </p:nvSpPr>
        <p:spPr>
          <a:xfrm>
            <a:off x="731520" y="324612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Finding two missing observations from mean and variance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Mean gives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oMath>
                </a14:m>
                <a:r>
                  <a:rPr sz="2400" b="0">
                    <a:solidFill>
                      <a:srgbClr val="78350F"/>
                    </a:solidFill>
                    <a:latin typeface="Arial"/>
                  </a:rPr>
                  <a:t>, variance gives </a:t>
                </a:r>
                <a14:m>
                  <m:oMath xmlns:m="http://schemas.openxmlformats.org/officeDocument/2006/math">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𝑦</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so </a:t>
                </a:r>
                <a14:m>
                  <m:oMath xmlns:m="http://schemas.openxmlformats.org/officeDocument/2006/math">
                    <m:r>
                      <a:rPr lang="en-IN" sz="2400" i="1">
                        <a:solidFill>
                          <a:srgbClr val="78350F"/>
                        </a:solidFill>
                        <a:latin typeface="Cambria Math" panose="02040503050406030204" pitchFamily="18" charset="0"/>
                      </a:rPr>
                      <m:t>𝑥</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𝑦</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num>
                      <m:den>
                        <m:r>
                          <a:rPr lang="en-IN" sz="2400" i="1">
                            <a:solidFill>
                              <a:srgbClr val="78350F"/>
                            </a:solidFill>
                            <a:latin typeface="Cambria Math" panose="02040503050406030204" pitchFamily="18" charset="0"/>
                          </a:rPr>
                          <m:t>2</m:t>
                        </m:r>
                      </m:den>
                    </m:f>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Mean gives </a:t>
                </a:r>
                <a:r>
                  <a:rPr lang="en-IN" sz="2400">
                    <a:solidFill>
                      <a:srgbClr val="78350F"/>
                    </a:solidFill>
                    <a:latin typeface="Cambria Math" panose="02040503050406030204" pitchFamily="18" charset="0"/>
                  </a:rPr>
                  <a:t>$x+y$</a:t>
                </a:r>
                <a:r>
                  <a:rPr sz="2400" b="0">
                    <a:solidFill>
                      <a:srgbClr val="78350F"/>
                    </a:solidFill>
                    <a:latin typeface="Arial"/>
                  </a:rPr>
                  <a:t>, variance gives </a:t>
                </a:r>
                <a:r>
                  <a:rPr lang="en-IN" sz="2400">
                    <a:solidFill>
                      <a:srgbClr val="78350F"/>
                    </a:solidFill>
                    <a:latin typeface="Cambria Math" panose="02040503050406030204" pitchFamily="18" charset="0"/>
                  </a:rPr>
                  <a:t>$x^2+y^2$</a:t>
                </a:r>
                <a:r>
                  <a:rPr sz="2400" b="0">
                    <a:solidFill>
                      <a:srgbClr val="78350F"/>
                    </a:solidFill>
                    <a:latin typeface="Arial"/>
                  </a:rPr>
                  <a:t>, so </a:t>
                </a:r>
                <a:r>
                  <a:rPr lang="en-IN" sz="2400">
                    <a:solidFill>
                      <a:srgbClr val="78350F"/>
                    </a:solidFill>
                    <a:latin typeface="Cambria Math" panose="02040503050406030204" pitchFamily="18" charset="0"/>
                  </a:rPr>
                  <a:t>$xy=\frac{(x+y)^2-(x^2+y^2)}{2}$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636520"/>
                <a:ext cx="10725912" cy="315163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Mean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80</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64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 ... (1).</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Variance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2</m:t>
                            </m:r>
                          </m:sup>
                        </m:sSubSup>
                      </m:num>
                      <m:den>
                        <m:r>
                          <a:rPr lang="en-IN" sz="2400" i="1">
                            <a:solidFill>
                              <a:srgbClr val="111827"/>
                            </a:solidFill>
                            <a:latin typeface="Cambria Math" panose="02040503050406030204" pitchFamily="18" charset="0"/>
                          </a:rPr>
                          <m:t>8</m:t>
                        </m:r>
                      </m:den>
                    </m:f>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10</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7</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9</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12</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13</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20</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852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852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1000</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148</m:t>
                    </m:r>
                  </m:oMath>
                </a14:m>
                <a:r>
                  <a:rPr sz="2400" b="0">
                    <a:solidFill>
                      <a:srgbClr val="111827"/>
                    </a:solidFill>
                    <a:latin typeface="Arial"/>
                  </a:rPr>
                  <a:t> ... (2).</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256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54</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636520"/>
                <a:ext cx="10725912" cy="315163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Mean </a:t>
                </a:r>
                <a:r>
                  <a:rPr lang="en-IN" sz="2400">
                    <a:solidFill>
                      <a:srgbClr val="111827"/>
                    </a:solidFill>
                    <a:latin typeface="Cambria Math" panose="02040503050406030204" pitchFamily="18" charset="0"/>
                  </a:rPr>
                  <a:t>$=10$</a:t>
                </a:r>
                <a:r>
                  <a:rPr sz="2400" b="0">
                    <a:solidFill>
                      <a:srgbClr val="111827"/>
                    </a:solidFill>
                    <a:latin typeface="Arial"/>
                  </a:rPr>
                  <a:t>: </a:t>
                </a:r>
                <a:r>
                  <a:rPr lang="en-IN" sz="2400">
                    <a:solidFill>
                      <a:srgbClr val="111827"/>
                    </a:solidFill>
                    <a:latin typeface="Cambria Math" panose="02040503050406030204" pitchFamily="18" charset="0"/>
                  </a:rPr>
                  <a:t>$3+7+9+12+13+20+x+y=80$</a:t>
                </a:r>
                <a:r>
                  <a:rPr sz="2400" b="0">
                    <a:solidFill>
                      <a:srgbClr val="111827"/>
                    </a:solidFill>
                    <a:latin typeface="Arial"/>
                  </a:rPr>
                  <a:t>, i.e. </a:t>
                </a:r>
                <a:r>
                  <a:rPr lang="en-IN" sz="2400">
                    <a:solidFill>
                      <a:srgbClr val="111827"/>
                    </a:solidFill>
                    <a:latin typeface="Cambria Math" panose="02040503050406030204" pitchFamily="18" charset="0"/>
                  </a:rPr>
                  <a:t>$64+x+y=80$</a:t>
                </a:r>
                <a:r>
                  <a:rPr sz="2400" b="0">
                    <a:solidFill>
                      <a:srgbClr val="111827"/>
                    </a:solidFill>
                    <a:latin typeface="Arial"/>
                  </a:rPr>
                  <a:t>, so </a:t>
                </a:r>
                <a:r>
                  <a:rPr lang="en-IN" sz="2400">
                    <a:solidFill>
                      <a:srgbClr val="111827"/>
                    </a:solidFill>
                    <a:latin typeface="Cambria Math" panose="02040503050406030204" pitchFamily="18" charset="0"/>
                  </a:rPr>
                  <a:t>$x+y=16$</a:t>
                </a:r>
                <a:r>
                  <a:rPr sz="2400" b="0">
                    <a:solidFill>
                      <a:srgbClr val="111827"/>
                    </a:solidFill>
                    <a:latin typeface="Arial"/>
                  </a:rPr>
                  <a:t> ... (1).</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Variance </a:t>
                </a:r>
                <a:r>
                  <a:rPr lang="en-IN" sz="2400">
                    <a:solidFill>
                      <a:srgbClr val="111827"/>
                    </a:solidFill>
                    <a:latin typeface="Cambria Math" panose="02040503050406030204" pitchFamily="18" charset="0"/>
                  </a:rPr>
                  <a:t>$=\frac{\sum x_i^2}{8}-10^2=25$</a:t>
                </a:r>
                <a:r>
                  <a:rPr sz="2400" b="0">
                    <a:solidFill>
                      <a:srgbClr val="111827"/>
                    </a:solidFill>
                    <a:latin typeface="Arial"/>
                  </a:rPr>
                  <a:t>, so </a:t>
                </a:r>
                <a:r>
                  <a:rPr lang="en-IN" sz="2400">
                    <a:solidFill>
                      <a:srgbClr val="111827"/>
                    </a:solidFill>
                    <a:latin typeface="Cambria Math" panose="02040503050406030204" pitchFamily="18" charset="0"/>
                  </a:rPr>
                  <a:t>$\sum x_i^2=8\times125=1000$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$3^2+7^2+9^2+12^2+13^2+20^2=9+49+81+144+169+400=852$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$852+x^2+y^2=1000$</a:t>
                </a:r>
                <a:r>
                  <a:rPr sz="2400" b="0">
                    <a:solidFill>
                      <a:srgbClr val="111827"/>
                    </a:solidFill>
                    <a:latin typeface="Arial"/>
                  </a:rPr>
                  <a:t>, so </a:t>
                </a:r>
                <a:r>
                  <a:rPr lang="en-IN" sz="2400">
                    <a:solidFill>
                      <a:srgbClr val="111827"/>
                    </a:solidFill>
                    <a:latin typeface="Cambria Math" panose="02040503050406030204" pitchFamily="18" charset="0"/>
                  </a:rPr>
                  <a:t>$x^2+y^2=148$</a:t>
                </a:r>
                <a:r>
                  <a:rPr sz="2400" b="0">
                    <a:solidFill>
                      <a:srgbClr val="111827"/>
                    </a:solidFill>
                    <a:latin typeface="Arial"/>
                  </a:rPr>
                  <a:t> ... (2).</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$(x+y)^2=x^2+y^2+2xy$</a:t>
                </a:r>
                <a:r>
                  <a:rPr sz="2400" b="0">
                    <a:solidFill>
                      <a:srgbClr val="111827"/>
                    </a:solidFill>
                    <a:latin typeface="Arial"/>
                  </a:rPr>
                  <a:t> gives </a:t>
                </a:r>
                <a:r>
                  <a:rPr lang="en-IN" sz="2400">
                    <a:solidFill>
                      <a:srgbClr val="111827"/>
                    </a:solidFill>
                    <a:latin typeface="Cambria Math" panose="02040503050406030204" pitchFamily="18" charset="0"/>
                  </a:rPr>
                  <a:t>$256=148+2xy$</a:t>
                </a:r>
                <a:r>
                  <a:rPr sz="2400" b="0">
                    <a:solidFill>
                      <a:srgbClr val="111827"/>
                    </a:solidFill>
                    <a:latin typeface="Arial"/>
                  </a:rPr>
                  <a:t>, so </a:t>
                </a:r>
                <a:r>
                  <a:rPr lang="en-IN" sz="2400">
                    <a:solidFill>
                      <a:srgbClr val="111827"/>
                    </a:solidFill>
                    <a:latin typeface="Cambria Math" panose="02040503050406030204" pitchFamily="18" charset="0"/>
                  </a:rPr>
                  <a:t>$xy=54$</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14:m>
                  <m:oMath xmlns:m="http://schemas.openxmlformats.org/officeDocument/2006/math">
                    <m:r>
                      <a:rPr lang="en-IN" sz="2800" i="1">
                        <a:solidFill>
                          <a:srgbClr val="15803D"/>
                        </a:solidFill>
                        <a:latin typeface="Cambria Math" panose="02040503050406030204" pitchFamily="18" charset="0"/>
                      </a:rPr>
                      <m:t>54</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r>
                  <a:rPr lang="en-IN" sz="2800">
                    <a:solidFill>
                      <a:srgbClr val="15803D"/>
                    </a:solidFill>
                    <a:latin typeface="Cambria Math" panose="02040503050406030204" pitchFamily="18" charset="0"/>
                  </a:rPr>
                  <a:t>$54$</a:t>
                </a:r>
                <a:endParaRPr sz="2800">
                  <a:solidFill>
                    <a:srgbClr val="15803D"/>
                  </a:solidFill>
                </a:endParaRPr>
              </a:p>
            </p:txBody>
          </p:sp>
        </mc:Fallback>
      </mc:AlternateContent>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Work with deviations from the mean 10 so that the numbers stay small.</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Deviations of the six known numbers: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they sum to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Since all deviations sum to 0,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for the unknowns' deviations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200</m:t>
                    </m:r>
                  </m:oMath>
                </a14:m>
                <a:r>
                  <a:rPr sz="2400" b="0">
                    <a:solidFill>
                      <a:srgbClr val="111827"/>
                    </a:solidFill>
                    <a:latin typeface="Arial"/>
                  </a:rPr>
                  <a:t>; the known squares are </a:t>
                </a:r>
                <a14:m>
                  <m:oMath xmlns:m="http://schemas.openxmlformats.org/officeDocument/2006/math">
                    <m:r>
                      <a:rPr lang="en-IN" sz="2400" i="1">
                        <a:solidFill>
                          <a:srgbClr val="111827"/>
                        </a:solidFill>
                        <a:latin typeface="Cambria Math" panose="02040503050406030204" pitchFamily="18" charset="0"/>
                      </a:rPr>
                      <m:t>49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172</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𝑢</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𝑣</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Deviations of the six known numbers: </a:t>
                </a:r>
                <a:r>
                  <a:rPr lang="en-IN" sz="2400">
                    <a:solidFill>
                      <a:srgbClr val="111827"/>
                    </a:solidFill>
                    <a:latin typeface="Cambria Math" panose="02040503050406030204" pitchFamily="18" charset="0"/>
                  </a:rPr>
                  <a:t>$-7,-3,-1,2,3,10$</a:t>
                </a:r>
                <a:r>
                  <a:rPr sz="2400" b="0">
                    <a:solidFill>
                      <a:srgbClr val="111827"/>
                    </a:solidFill>
                    <a:latin typeface="Arial"/>
                  </a:rPr>
                  <a:t>; they sum to </a:t>
                </a:r>
                <a:r>
                  <a:rPr lang="en-IN" sz="2400">
                    <a:solidFill>
                      <a:srgbClr val="111827"/>
                    </a:solidFill>
                    <a:latin typeface="Cambria Math" panose="02040503050406030204" pitchFamily="18" charset="0"/>
                  </a:rPr>
                  <a:t>$4$</a:t>
                </a:r>
                <a:r>
                  <a:rPr sz="2400" b="0">
                    <a:solidFill>
                      <a:srgbClr val="111827"/>
                    </a:solidFill>
                    <a:latin typeface="Arial"/>
                  </a:rPr>
                  <a:t>. Since all deviations sum to 0, </a:t>
                </a:r>
                <a:r>
                  <a:rPr lang="en-IN" sz="2400">
                    <a:solidFill>
                      <a:srgbClr val="111827"/>
                    </a:solidFill>
                    <a:latin typeface="Cambria Math" panose="02040503050406030204" pitchFamily="18" charset="0"/>
                  </a:rPr>
                  <a:t>$u+v=-4$</a:t>
                </a:r>
                <a:r>
                  <a:rPr sz="2400" b="0">
                    <a:solidFill>
                      <a:srgbClr val="111827"/>
                    </a:solidFill>
                    <a:latin typeface="Arial"/>
                  </a:rPr>
                  <a:t> for the unknowns' deviations </a:t>
                </a:r>
                <a:r>
                  <a:rPr lang="en-IN" sz="2400">
                    <a:solidFill>
                      <a:srgbClr val="111827"/>
                    </a:solidFill>
                    <a:latin typeface="Cambria Math" panose="02040503050406030204" pitchFamily="18" charset="0"/>
                  </a:rPr>
                  <a:t>$u=x-10$</a:t>
                </a:r>
                <a:r>
                  <a:rPr sz="2400" b="0">
                    <a:solidFill>
                      <a:srgbClr val="111827"/>
                    </a:solidFill>
                    <a:latin typeface="Arial"/>
                  </a:rPr>
                  <a:t>, </a:t>
                </a:r>
                <a:r>
                  <a:rPr lang="en-IN" sz="2400">
                    <a:solidFill>
                      <a:srgbClr val="111827"/>
                    </a:solidFill>
                    <a:latin typeface="Cambria Math" panose="02040503050406030204" pitchFamily="18" charset="0"/>
                  </a:rPr>
                  <a:t>$v=y-10$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 d^2=8\times25=200$</a:t>
                </a:r>
                <a:r>
                  <a:rPr sz="2400" b="0">
                    <a:solidFill>
                      <a:srgbClr val="111827"/>
                    </a:solidFill>
                    <a:latin typeface="Arial"/>
                  </a:rPr>
                  <a:t>; the known squares are </a:t>
                </a:r>
                <a:r>
                  <a:rPr lang="en-IN" sz="2400">
                    <a:solidFill>
                      <a:srgbClr val="111827"/>
                    </a:solidFill>
                    <a:latin typeface="Cambria Math" panose="02040503050406030204" pitchFamily="18" charset="0"/>
                  </a:rPr>
                  <a:t>$49+9+1+4+9+100=172$</a:t>
                </a:r>
                <a:r>
                  <a:rPr sz="2400" b="0">
                    <a:solidFill>
                      <a:srgbClr val="111827"/>
                    </a:solidFill>
                    <a:latin typeface="Arial"/>
                  </a:rPr>
                  <a:t>, so </a:t>
                </a:r>
                <a:r>
                  <a:rPr lang="en-IN" sz="2400">
                    <a:solidFill>
                      <a:srgbClr val="111827"/>
                    </a:solidFill>
                    <a:latin typeface="Cambria Math" panose="02040503050406030204" pitchFamily="18" charset="0"/>
                  </a:rPr>
                  <a:t>$u^2+v^2=28$</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𝑢</m:t>
                    </m:r>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𝑣</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𝑢</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𝑣</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54</m:t>
                    </m:r>
                  </m:oMath>
                </a14:m>
                <a:r>
                  <a:rPr sz="2400" b="0">
                    <a:solidFill>
                      <a:srgbClr val="111827"/>
                    </a:solidFill>
                    <a:latin typeface="Arial"/>
                  </a:rPr>
                  <a:t>, the same answer.</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$uv=\frac{(u+v)^2-(u^2+v^2)}{2}=\frac{16-28}{2}=-6$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$xy=(10+u)(10+v)=100+10(u+v)+uv=100-40-6=54$</a:t>
                </a:r>
                <a:r>
                  <a:rPr sz="2400" b="0">
                    <a:solidFill>
                      <a:srgbClr val="111827"/>
                    </a:solidFill>
                    <a:latin typeface="Arial"/>
                  </a:rPr>
                  <a:t>, the same answer.</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14:m>
                  <m:oMath xmlns:m="http://schemas.openxmlformats.org/officeDocument/2006/math">
                    <m:r>
                      <a:rPr lang="en-IN" sz="2800" i="1">
                        <a:solidFill>
                          <a:srgbClr val="15803D"/>
                        </a:solidFill>
                        <a:latin typeface="Cambria Math" panose="02040503050406030204" pitchFamily="18" charset="0"/>
                      </a:rPr>
                      <m:t>54</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r>
                  <a:rPr lang="en-IN" sz="2800">
                    <a:solidFill>
                      <a:srgbClr val="15803D"/>
                    </a:solidFill>
                    <a:latin typeface="Cambria Math" panose="02040503050406030204" pitchFamily="18" charset="0"/>
                  </a:rPr>
                  <a:t>$54$</a:t>
                </a:r>
                <a:endParaRPr sz="2800">
                  <a:solidFill>
                    <a:srgbClr val="15803D"/>
                  </a:solidFill>
                </a:endParaRPr>
              </a:p>
            </p:txBody>
          </p:sp>
        </mc:Fallback>
      </mc:AlternateContent>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Two missing observations: use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to get their sum and sum of squares, hence their product, and then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r>
                  <a:rPr sz="2400" b="0">
                    <a:solidFill>
                      <a:srgbClr val="111827"/>
                    </a:solidFill>
                    <a:latin typeface="Arial"/>
                  </a:rPr>
                  <a:t> as roots of </a:t>
                </a:r>
                <a14:m>
                  <m:oMath xmlns:m="http://schemas.openxmlformats.org/officeDocument/2006/math">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has discriminant </a:t>
                </a:r>
                <a14:m>
                  <m:oMath xmlns:m="http://schemas.openxmlformats.org/officeDocument/2006/math">
                    <m:r>
                      <a:rPr lang="en-IN" sz="2400" i="1">
                        <a:solidFill>
                          <a:srgbClr val="111827"/>
                        </a:solidFill>
                        <a:latin typeface="Cambria Math" panose="02040503050406030204" pitchFamily="18" charset="0"/>
                      </a:rPr>
                      <m:t>256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so real values exist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10</m:t>
                        </m:r>
                      </m:e>
                    </m:rad>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Two missing observations: use </a:t>
                </a:r>
                <a:r>
                  <a:rPr lang="en-IN" sz="2400">
                    <a:solidFill>
                      <a:srgbClr val="111827"/>
                    </a:solidFill>
                    <a:latin typeface="Cambria Math" panose="02040503050406030204" pitchFamily="18" charset="0"/>
                  </a:rPr>
                  <a:t>$\sum x$</a:t>
                </a:r>
                <a:r>
                  <a:rPr sz="2400" b="0">
                    <a:solidFill>
                      <a:srgbClr val="111827"/>
                    </a:solidFill>
                    <a:latin typeface="Arial"/>
                  </a:rPr>
                  <a:t> and </a:t>
                </a:r>
                <a:r>
                  <a:rPr lang="en-IN" sz="2400">
                    <a:solidFill>
                      <a:srgbClr val="111827"/>
                    </a:solidFill>
                    <a:latin typeface="Cambria Math" panose="02040503050406030204" pitchFamily="18" charset="0"/>
                  </a:rPr>
                  <a:t>$\sum x^2$</a:t>
                </a:r>
                <a:r>
                  <a:rPr sz="2400" b="0">
                    <a:solidFill>
                      <a:srgbClr val="111827"/>
                    </a:solidFill>
                    <a:latin typeface="Arial"/>
                  </a:rPr>
                  <a:t> to get their sum and sum of squares, hence their product, and then </a:t>
                </a:r>
                <a:r>
                  <a:rPr lang="en-IN" sz="2400">
                    <a:solidFill>
                      <a:srgbClr val="111827"/>
                    </a:solidFill>
                    <a:latin typeface="Cambria Math" panose="02040503050406030204" pitchFamily="18" charset="0"/>
                  </a:rPr>
                  <a:t>$x,y$</a:t>
                </a:r>
                <a:r>
                  <a:rPr sz="2400" b="0">
                    <a:solidFill>
                      <a:srgbClr val="111827"/>
                    </a:solidFill>
                    <a:latin typeface="Arial"/>
                  </a:rPr>
                  <a:t> as roots of </a:t>
                </a:r>
                <a:r>
                  <a:rPr lang="en-IN" sz="2400">
                    <a:solidFill>
                      <a:srgbClr val="111827"/>
                    </a:solidFill>
                    <a:latin typeface="Cambria Math" panose="02040503050406030204" pitchFamily="18" charset="0"/>
                  </a:rPr>
                  <a:t>$t^2-(x+y)t+xy=0$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$t^2-16t+54=0$</a:t>
                </a:r>
                <a:r>
                  <a:rPr sz="2400" b="0">
                    <a:solidFill>
                      <a:srgbClr val="111827"/>
                    </a:solidFill>
                    <a:latin typeface="Arial"/>
                  </a:rPr>
                  <a:t> has discriminant </a:t>
                </a:r>
                <a:r>
                  <a:rPr lang="en-IN" sz="2400">
                    <a:solidFill>
                      <a:srgbClr val="111827"/>
                    </a:solidFill>
                    <a:latin typeface="Cambria Math" panose="02040503050406030204" pitchFamily="18" charset="0"/>
                  </a:rPr>
                  <a:t>$256-216=40&gt;0$</a:t>
                </a:r>
                <a:r>
                  <a:rPr sz="2400" b="0">
                    <a:solidFill>
                      <a:srgbClr val="111827"/>
                    </a:solidFill>
                    <a:latin typeface="Arial"/>
                  </a:rPr>
                  <a:t>, so real values exist (</a:t>
                </a:r>
                <a:r>
                  <a:rPr lang="en-IN" sz="2400">
                    <a:solidFill>
                      <a:srgbClr val="111827"/>
                    </a:solidFill>
                    <a:latin typeface="Cambria Math" panose="02040503050406030204" pitchFamily="18" charset="0"/>
                  </a:rPr>
                  <a:t>$x,y=8\pm\sqrt{10}$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3</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Single Correct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Q27</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4 marks each (no marks printed in the sheet - JEE Advanced default of 4 assumed)</a:t>
            </a:r>
            <a:endParaRPr sz="2800">
              <a:solidFill>
                <a:srgbClr val="FFFFFF"/>
              </a:solidFill>
            </a:endParaRP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𝑌</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If mean and variance of elements of </a:t>
                </a:r>
                <a14:m>
                  <m:oMath xmlns:m="http://schemas.openxmlformats.org/officeDocument/2006/math">
                    <m:r>
                      <a:rPr lang="en-IN" sz="2400" i="1">
                        <a:solidFill>
                          <a:srgbClr val="111827"/>
                        </a:solidFill>
                        <a:latin typeface="Cambria Math" panose="02040503050406030204" pitchFamily="18" charset="0"/>
                      </a:rPr>
                      <m:t>𝑌</m:t>
                    </m:r>
                  </m:oMath>
                </a14:m>
                <a:r>
                  <a:rPr sz="2400" b="0">
                    <a:solidFill>
                      <a:srgbClr val="111827"/>
                    </a:solidFill>
                    <a:latin typeface="Arial"/>
                  </a:rPr>
                  <a:t> are 17 and 216 respectively, then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is equal to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9   (B)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(C) 7   (D)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27</m:t>
                    </m:r>
                  </m:oMath>
                </a14:m>
                <a:endParaRPr sz="2400">
                  <a:solidFill>
                    <a:srgbClr val="111827"/>
                  </a:solidFill>
                </a:endParaRPr>
              </a:p>
            </p:txBody>
          </p:sp>
        </mc:Choice>
        <mc:Fallback>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$X=\{x\in\mathbb{N}:1\le x\le17\}$</a:t>
                </a:r>
                <a:r>
                  <a:rPr sz="2400" b="0">
                    <a:solidFill>
                      <a:srgbClr val="111827"/>
                    </a:solidFill>
                    <a:latin typeface="Arial"/>
                  </a:rPr>
                  <a:t> and </a:t>
                </a:r>
                <a:r>
                  <a:rPr lang="en-IN" sz="2400">
                    <a:solidFill>
                      <a:srgbClr val="111827"/>
                    </a:solidFill>
                    <a:latin typeface="Cambria Math" panose="02040503050406030204" pitchFamily="18" charset="0"/>
                  </a:rPr>
                  <a:t>$Y=\{ax+b:x\in X,\ a,b\in\mathbb{R},\ a&gt;0\}$</a:t>
                </a:r>
                <a:r>
                  <a:rPr sz="2400" b="0">
                    <a:solidFill>
                      <a:srgbClr val="111827"/>
                    </a:solidFill>
                    <a:latin typeface="Arial"/>
                  </a:rPr>
                  <a:t>. If mean and variance of elements of </a:t>
                </a:r>
                <a:r>
                  <a:rPr lang="en-IN" sz="2400">
                    <a:solidFill>
                      <a:srgbClr val="111827"/>
                    </a:solidFill>
                    <a:latin typeface="Cambria Math" panose="02040503050406030204" pitchFamily="18" charset="0"/>
                  </a:rPr>
                  <a:t>$Y$</a:t>
                </a:r>
                <a:r>
                  <a:rPr sz="2400" b="0">
                    <a:solidFill>
                      <a:srgbClr val="111827"/>
                    </a:solidFill>
                    <a:latin typeface="Arial"/>
                  </a:rPr>
                  <a:t> are 17 and 216 respectively, then </a:t>
                </a:r>
                <a:r>
                  <a:rPr lang="en-IN" sz="2400">
                    <a:solidFill>
                      <a:srgbClr val="111827"/>
                    </a:solidFill>
                    <a:latin typeface="Cambria Math" panose="02040503050406030204" pitchFamily="18" charset="0"/>
                  </a:rPr>
                  <a:t>$a+b$</a:t>
                </a:r>
                <a:r>
                  <a:rPr sz="2400" b="0">
                    <a:solidFill>
                      <a:srgbClr val="111827"/>
                    </a:solidFill>
                    <a:latin typeface="Arial"/>
                  </a:rPr>
                  <a:t> is equal to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9   (B) </a:t>
                </a:r>
                <a:r>
                  <a:rPr lang="en-IN" sz="2400">
                    <a:solidFill>
                      <a:srgbClr val="111827"/>
                    </a:solidFill>
                    <a:latin typeface="Cambria Math" panose="02040503050406030204" pitchFamily="18" charset="0"/>
                  </a:rPr>
                  <a:t>$-7$</a:t>
                </a:r>
                <a:r>
                  <a:rPr sz="2400" b="0">
                    <a:solidFill>
                      <a:srgbClr val="111827"/>
                    </a:solidFill>
                    <a:latin typeface="Arial"/>
                  </a:rPr>
                  <a:t>   (C) 7   (D) </a:t>
                </a:r>
                <a:r>
                  <a:rPr lang="en-IN" sz="2400">
                    <a:solidFill>
                      <a:srgbClr val="111827"/>
                    </a:solidFill>
                    <a:latin typeface="Cambria Math" panose="02040503050406030204" pitchFamily="18" charset="0"/>
                  </a:rPr>
                  <a:t>$-27$</a:t>
                </a:r>
                <a:endParaRPr sz="2400">
                  <a:solidFill>
                    <a:srgbClr val="111827"/>
                  </a:solidFill>
                </a:endParaRPr>
              </a:p>
            </p:txBody>
          </p:sp>
        </mc:Fallback>
      </mc:AlternateContent>
      <p:sp>
        <p:nvSpPr>
          <p:cNvPr id="5" name="Rectangle 4"/>
          <p:cNvSpPr/>
          <p:nvPr/>
        </p:nvSpPr>
        <p:spPr>
          <a:xfrm>
            <a:off x="731520" y="3580383"/>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Mean and variance of a linear transformation of a set</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r>
                      <a:rPr lang="en-IN" sz="2400" i="1">
                        <a:solidFill>
                          <a:srgbClr val="78350F"/>
                        </a:solidFill>
                        <a:latin typeface="Cambria Math" panose="02040503050406030204" pitchFamily="18" charset="0"/>
                      </a:rPr>
                      <m:t>𝑌</m:t>
                    </m:r>
                  </m:oMath>
                </a14:m>
                <a:r>
                  <a:rPr sz="2400" b="0">
                    <a:solidFill>
                      <a:srgbClr val="78350F"/>
                    </a:solidFill>
                    <a:latin typeface="Arial"/>
                  </a:rPr>
                  <a:t> is a linear image of </a:t>
                </a:r>
                <a14:m>
                  <m:oMath xmlns:m="http://schemas.openxmlformats.org/officeDocument/2006/math">
                    <m:r>
                      <a:rPr lang="en-IN" sz="2400" i="1">
                        <a:solidFill>
                          <a:srgbClr val="78350F"/>
                        </a:solidFill>
                        <a:latin typeface="Cambria Math" panose="02040503050406030204" pitchFamily="18" charset="0"/>
                      </a:rPr>
                      <m:t>𝑋</m:t>
                    </m:r>
                  </m:oMath>
                </a14:m>
                <a:r>
                  <a:rPr sz="2400" b="0">
                    <a:solidFill>
                      <a:srgbClr val="78350F"/>
                    </a:solidFill>
                    <a:latin typeface="Arial"/>
                  </a:rPr>
                  <a:t>: mean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𝑎</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𝑋</m:t>
                        </m:r>
                      </m:e>
                    </m:acc>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oMath>
                </a14:m>
                <a:r>
                  <a:rPr sz="2400" b="0">
                    <a:solidFill>
                      <a:srgbClr val="78350F"/>
                    </a:solidFill>
                    <a:latin typeface="Arial"/>
                  </a:rPr>
                  <a:t>, variance </a:t>
                </a:r>
                <a14:m>
                  <m:oMath xmlns:m="http://schemas.openxmlformats.org/officeDocument/2006/math">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𝑎</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var</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𝑋</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$Y$</a:t>
                </a:r>
                <a:r>
                  <a:rPr sz="2400" b="0">
                    <a:solidFill>
                      <a:srgbClr val="78350F"/>
                    </a:solidFill>
                    <a:latin typeface="Arial"/>
                  </a:rPr>
                  <a:t> is a linear image of </a:t>
                </a:r>
                <a:r>
                  <a:rPr lang="en-IN" sz="2400">
                    <a:solidFill>
                      <a:srgbClr val="78350F"/>
                    </a:solidFill>
                    <a:latin typeface="Cambria Math" panose="02040503050406030204" pitchFamily="18" charset="0"/>
                  </a:rPr>
                  <a:t>$X$</a:t>
                </a:r>
                <a:r>
                  <a:rPr sz="2400" b="0">
                    <a:solidFill>
                      <a:srgbClr val="78350F"/>
                    </a:solidFill>
                    <a:latin typeface="Arial"/>
                  </a:rPr>
                  <a:t>: mean </a:t>
                </a:r>
                <a:r>
                  <a:rPr lang="en-IN" sz="2400">
                    <a:solidFill>
                      <a:srgbClr val="78350F"/>
                    </a:solidFill>
                    <a:latin typeface="Cambria Math" panose="02040503050406030204" pitchFamily="18" charset="0"/>
                  </a:rPr>
                  <a:t>$=a\bar{X}+b$</a:t>
                </a:r>
                <a:r>
                  <a:rPr sz="2400" b="0">
                    <a:solidFill>
                      <a:srgbClr val="78350F"/>
                    </a:solidFill>
                    <a:latin typeface="Arial"/>
                  </a:rPr>
                  <a:t>, variance </a:t>
                </a:r>
                <a:r>
                  <a:rPr lang="en-IN" sz="2400">
                    <a:solidFill>
                      <a:srgbClr val="78350F"/>
                    </a:solidFill>
                    <a:latin typeface="Cambria Math" panose="02040503050406030204" pitchFamily="18" charset="0"/>
                  </a:rPr>
                  <a:t>$=a^2\operatorname{var}(X)$</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mean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num>
                      <m:den>
                        <m:r>
                          <a:rPr lang="en-IN" sz="2400" i="1">
                            <a:solidFill>
                              <a:srgbClr val="111827"/>
                            </a:solidFill>
                            <a:latin typeface="Cambria Math" panose="02040503050406030204" pitchFamily="18" charset="0"/>
                          </a:rPr>
                          <m:t>17</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Variance of </a:t>
                </a:r>
                <a14:m>
                  <m:oMath xmlns:m="http://schemas.openxmlformats.org/officeDocument/2006/math">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17</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17</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Mean of </a:t>
                </a:r>
                <a14:m>
                  <m:oMath xmlns:m="http://schemas.openxmlformats.org/officeDocument/2006/math">
                    <m:r>
                      <a:rPr lang="en-IN" sz="2400" i="1">
                        <a:solidFill>
                          <a:srgbClr val="111827"/>
                        </a:solidFill>
                        <a:latin typeface="Cambria Math" panose="02040503050406030204" pitchFamily="18" charset="0"/>
                      </a:rPr>
                      <m:t>𝑌</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oMath>
                </a14:m>
                <a:r>
                  <a:rPr sz="2400" b="0">
                    <a:solidFill>
                      <a:srgbClr val="111827"/>
                    </a:solidFill>
                    <a:latin typeface="Arial"/>
                  </a:rPr>
                  <a:t> ... (1).</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Variance of </a:t>
                </a:r>
                <a14:m>
                  <m:oMath xmlns:m="http://schemas.openxmlformats.org/officeDocument/2006/math">
                    <m:r>
                      <a:rPr lang="en-IN" sz="2400" i="1">
                        <a:solidFill>
                          <a:srgbClr val="111827"/>
                        </a:solidFill>
                        <a:latin typeface="Cambria Math" panose="02040503050406030204" pitchFamily="18" charset="0"/>
                      </a:rPr>
                      <m:t>𝑌</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216</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(as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From (1):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option (B).</a:t>
                </a:r>
                <a:endParaRPr sz="2400">
                  <a:solidFill>
                    <a:srgbClr val="111827"/>
                  </a:solidFill>
                </a:endParaRPr>
              </a:p>
            </p:txBody>
          </p:sp>
        </mc:Choice>
        <mc:Fallback>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$X=\{1,2,\dots,17\}$</a:t>
                </a:r>
                <a:r>
                  <a:rPr sz="2400" b="0">
                    <a:solidFill>
                      <a:srgbClr val="111827"/>
                    </a:solidFill>
                    <a:latin typeface="Arial"/>
                  </a:rPr>
                  <a:t>: mean </a:t>
                </a:r>
                <a:r>
                  <a:rPr lang="en-IN" sz="2400">
                    <a:solidFill>
                      <a:srgbClr val="111827"/>
                    </a:solidFill>
                    <a:latin typeface="Cambria Math" panose="02040503050406030204" pitchFamily="18" charset="0"/>
                  </a:rPr>
                  <a:t>$=\frac{1+2+\cdots+17}{17}=9$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Variance of </a:t>
                </a:r>
                <a:r>
                  <a:rPr lang="en-IN" sz="2400">
                    <a:solidFill>
                      <a:srgbClr val="111827"/>
                    </a:solidFill>
                    <a:latin typeface="Cambria Math" panose="02040503050406030204" pitchFamily="18" charset="0"/>
                  </a:rPr>
                  <a:t>$X=\frac{\sum x^2}{17}-81=\frac{17\cdot18\cdot35/6}{17}-81=105-81=24$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Mean of </a:t>
                </a:r>
                <a:r>
                  <a:rPr lang="en-IN" sz="2400">
                    <a:solidFill>
                      <a:srgbClr val="111827"/>
                    </a:solidFill>
                    <a:latin typeface="Cambria Math" panose="02040503050406030204" pitchFamily="18" charset="0"/>
                  </a:rPr>
                  <a:t>$Y=9a+b=17$</a:t>
                </a:r>
                <a:r>
                  <a:rPr sz="2400" b="0">
                    <a:solidFill>
                      <a:srgbClr val="111827"/>
                    </a:solidFill>
                    <a:latin typeface="Arial"/>
                  </a:rPr>
                  <a:t> ... (1).</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Variance of </a:t>
                </a:r>
                <a:r>
                  <a:rPr lang="en-IN" sz="2400">
                    <a:solidFill>
                      <a:srgbClr val="111827"/>
                    </a:solidFill>
                    <a:latin typeface="Cambria Math" panose="02040503050406030204" pitchFamily="18" charset="0"/>
                  </a:rPr>
                  <a:t>$Y=24a^2=216$</a:t>
                </a:r>
                <a:r>
                  <a:rPr sz="2400" b="0">
                    <a:solidFill>
                      <a:srgbClr val="111827"/>
                    </a:solidFill>
                    <a:latin typeface="Arial"/>
                  </a:rPr>
                  <a:t>, so </a:t>
                </a:r>
                <a:r>
                  <a:rPr lang="en-IN" sz="2400">
                    <a:solidFill>
                      <a:srgbClr val="111827"/>
                    </a:solidFill>
                    <a:latin typeface="Cambria Math" panose="02040503050406030204" pitchFamily="18" charset="0"/>
                  </a:rPr>
                  <a:t>$a^2=9$</a:t>
                </a:r>
                <a:r>
                  <a:rPr sz="2400" b="0">
                    <a:solidFill>
                      <a:srgbClr val="111827"/>
                    </a:solidFill>
                    <a:latin typeface="Arial"/>
                  </a:rPr>
                  <a:t> and </a:t>
                </a:r>
                <a:r>
                  <a:rPr lang="en-IN" sz="2400">
                    <a:solidFill>
                      <a:srgbClr val="111827"/>
                    </a:solidFill>
                    <a:latin typeface="Cambria Math" panose="02040503050406030204" pitchFamily="18" charset="0"/>
                  </a:rPr>
                  <a:t>$a=3$</a:t>
                </a:r>
                <a:r>
                  <a:rPr sz="2400" b="0">
                    <a:solidFill>
                      <a:srgbClr val="111827"/>
                    </a:solidFill>
                    <a:latin typeface="Arial"/>
                  </a:rPr>
                  <a:t> (as </a:t>
                </a:r>
                <a:r>
                  <a:rPr lang="en-IN" sz="2400">
                    <a:solidFill>
                      <a:srgbClr val="111827"/>
                    </a:solidFill>
                    <a:latin typeface="Cambria Math" panose="02040503050406030204" pitchFamily="18" charset="0"/>
                  </a:rPr>
                  <a:t>$a&gt;0$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From (1): </a:t>
                </a:r>
                <a:r>
                  <a:rPr lang="en-IN" sz="2400">
                    <a:solidFill>
                      <a:srgbClr val="111827"/>
                    </a:solidFill>
                    <a:latin typeface="Cambria Math" panose="02040503050406030204" pitchFamily="18" charset="0"/>
                  </a:rPr>
                  <a:t>$b=17-27=-10$</a:t>
                </a:r>
                <a:r>
                  <a:rPr sz="2400" b="0">
                    <a:solidFill>
                      <a:srgbClr val="111827"/>
                    </a:solidFill>
                    <a:latin typeface="Arial"/>
                  </a:rPr>
                  <a:t>, so </a:t>
                </a:r>
                <a:r>
                  <a:rPr lang="en-IN" sz="2400">
                    <a:solidFill>
                      <a:srgbClr val="111827"/>
                    </a:solidFill>
                    <a:latin typeface="Cambria Math" panose="02040503050406030204" pitchFamily="18" charset="0"/>
                  </a:rPr>
                  <a:t>$a+b=3-10=-7$</a:t>
                </a:r>
                <a:r>
                  <a:rPr sz="2400" b="0">
                    <a:solidFill>
                      <a:srgbClr val="111827"/>
                    </a:solidFill>
                    <a:latin typeface="Arial"/>
                  </a:rPr>
                  <a:t>, option (B).</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14:m>
                  <m:oMath xmlns:m="http://schemas.openxmlformats.org/officeDocument/2006/math">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7</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r>
                  <a:rPr lang="en-IN" sz="2800">
                    <a:solidFill>
                      <a:srgbClr val="15803D"/>
                    </a:solidFill>
                    <a:latin typeface="Cambria Math" panose="02040503050406030204" pitchFamily="18" charset="0"/>
                  </a:rPr>
                  <a:t>$-7$</a:t>
                </a:r>
                <a:endParaRPr sz="2800">
                  <a:solidFill>
                    <a:srgbClr val="15803D"/>
                  </a:solidFill>
                </a:endParaRPr>
              </a:p>
            </p:txBody>
          </p:sp>
        </mc:Fallback>
      </mc:AlternateContent>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847344"/>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Variance of 17 consecutive integers is </a:t>
                </a:r>
                <a14:m>
                  <m:oMath xmlns:m="http://schemas.openxmlformats.org/officeDocument/2006/math">
                    <m:f>
                      <m:fPr>
                        <m:type m:val="bar"/>
                        <m:ctrlPr>
                          <a:rPr lang="en-IN" sz="2400" i="1">
                            <a:solidFill>
                              <a:srgbClr val="78350F"/>
                            </a:solidFill>
                            <a:latin typeface="Cambria Math" panose="02040503050406030204" pitchFamily="18" charset="0"/>
                          </a:rPr>
                        </m:ctrlPr>
                      </m:fPr>
                      <m:num>
                        <m:sSup>
                          <m:e>
                            <m:r>
                              <a:rPr lang="en-IN" sz="2400" i="1">
                                <a:solidFill>
                                  <a:srgbClr val="78350F"/>
                                </a:solidFill>
                                <a:latin typeface="Cambria Math" panose="02040503050406030204" pitchFamily="18" charset="0"/>
                              </a:rPr>
                              <m:t>17</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12</m:t>
                        </m:r>
                      </m:den>
                    </m:f>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847344"/>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Variance of 17 consecutive integers is </a:t>
                </a:r>
                <a:r>
                  <a:rPr lang="en-IN" sz="2400">
                    <a:solidFill>
                      <a:srgbClr val="78350F"/>
                    </a:solidFill>
                    <a:latin typeface="Cambria Math" panose="02040503050406030204" pitchFamily="18" charset="0"/>
                  </a:rPr>
                  <a:t>$\frac{17^2-1}{12}$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264664"/>
                <a:ext cx="10725912" cy="352348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var</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17</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288</m:t>
                        </m:r>
                      </m:num>
                      <m:den>
                        <m:r>
                          <a:rPr lang="en-IN" sz="2400" i="1">
                            <a:solidFill>
                              <a:srgbClr val="111827"/>
                            </a:solidFill>
                            <a:latin typeface="Cambria Math" panose="02040503050406030204" pitchFamily="18" charset="0"/>
                          </a:rPr>
                          <m:t>12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oMath>
                </a14:m>
                <a:r>
                  <a:rPr sz="2400" b="0">
                    <a:solidFill>
                      <a:srgbClr val="111827"/>
                    </a:solidFill>
                    <a:latin typeface="Arial"/>
                  </a:rPr>
                  <a:t>, mean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(no summation of squares needed).</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24</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216</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the same answer.</a:t>
                </a:r>
                <a:endParaRPr sz="2400">
                  <a:solidFill>
                    <a:srgbClr val="111827"/>
                  </a:solidFill>
                </a:endParaRPr>
              </a:p>
            </p:txBody>
          </p:sp>
        </mc:Choice>
        <mc:Fallback>
          <p:sp>
            <p:nvSpPr>
              <p:cNvPr id="6" name="Rectangle 5"/>
              <p:cNvSpPr/>
              <p:nvPr/>
            </p:nvSpPr>
            <p:spPr>
              <a:xfrm>
                <a:off x="731520" y="2264664"/>
                <a:ext cx="10725912" cy="352348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$\operatorname{var}(X)=\frac{17^2-1}{12}=\frac{288}{12}=24$</a:t>
                </a:r>
                <a:r>
                  <a:rPr sz="2400" b="0">
                    <a:solidFill>
                      <a:srgbClr val="111827"/>
                    </a:solidFill>
                    <a:latin typeface="Arial"/>
                  </a:rPr>
                  <a:t>, mean </a:t>
                </a:r>
                <a:r>
                  <a:rPr lang="en-IN" sz="2400">
                    <a:solidFill>
                      <a:srgbClr val="111827"/>
                    </a:solidFill>
                    <a:latin typeface="Cambria Math" panose="02040503050406030204" pitchFamily="18" charset="0"/>
                  </a:rPr>
                  <a:t>$=\frac{17+1}{2}=9$</a:t>
                </a:r>
                <a:r>
                  <a:rPr sz="2400" b="0">
                    <a:solidFill>
                      <a:srgbClr val="111827"/>
                    </a:solidFill>
                    <a:latin typeface="Arial"/>
                  </a:rPr>
                  <a:t> (no summation of squares needed).</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$24a^2=216$</a:t>
                </a:r>
                <a:r>
                  <a:rPr sz="2400" b="0">
                    <a:solidFill>
                      <a:srgbClr val="111827"/>
                    </a:solidFill>
                    <a:latin typeface="Arial"/>
                  </a:rPr>
                  <a:t> gives </a:t>
                </a:r>
                <a:r>
                  <a:rPr lang="en-IN" sz="2400">
                    <a:solidFill>
                      <a:srgbClr val="111827"/>
                    </a:solidFill>
                    <a:latin typeface="Cambria Math" panose="02040503050406030204" pitchFamily="18" charset="0"/>
                  </a:rPr>
                  <a:t>$a=3$</a:t>
                </a:r>
                <a:r>
                  <a:rPr sz="2400" b="0">
                    <a:solidFill>
                      <a:srgbClr val="111827"/>
                    </a:solidFill>
                    <a:latin typeface="Arial"/>
                  </a:rPr>
                  <a:t>; </a:t>
                </a:r>
                <a:r>
                  <a:rPr lang="en-IN" sz="2400">
                    <a:solidFill>
                      <a:srgbClr val="111827"/>
                    </a:solidFill>
                    <a:latin typeface="Cambria Math" panose="02040503050406030204" pitchFamily="18" charset="0"/>
                  </a:rPr>
                  <a:t>$9a+b=17$</a:t>
                </a:r>
                <a:r>
                  <a:rPr sz="2400" b="0">
                    <a:solidFill>
                      <a:srgbClr val="111827"/>
                    </a:solidFill>
                    <a:latin typeface="Arial"/>
                  </a:rPr>
                  <a:t> gives </a:t>
                </a:r>
                <a:r>
                  <a:rPr lang="en-IN" sz="2400">
                    <a:solidFill>
                      <a:srgbClr val="111827"/>
                    </a:solidFill>
                    <a:latin typeface="Cambria Math" panose="02040503050406030204" pitchFamily="18" charset="0"/>
                  </a:rPr>
                  <a:t>$b=-10$</a:t>
                </a:r>
                <a:r>
                  <a:rPr sz="2400" b="0">
                    <a:solidFill>
                      <a:srgbClr val="111827"/>
                    </a:solidFill>
                    <a:latin typeface="Arial"/>
                  </a:rPr>
                  <a:t>; </a:t>
                </a:r>
                <a:r>
                  <a:rPr lang="en-IN" sz="2400">
                    <a:solidFill>
                      <a:srgbClr val="111827"/>
                    </a:solidFill>
                    <a:latin typeface="Cambria Math" panose="02040503050406030204" pitchFamily="18" charset="0"/>
                  </a:rPr>
                  <a:t>$a+b=-7$</a:t>
                </a:r>
                <a:r>
                  <a:rPr sz="2400" b="0">
                    <a:solidFill>
                      <a:srgbClr val="111827"/>
                    </a:solidFill>
                    <a:latin typeface="Arial"/>
                  </a:rPr>
                  <a:t>, the same answer.</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14:m>
                  <m:oMath xmlns:m="http://schemas.openxmlformats.org/officeDocument/2006/math">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7</m:t>
                    </m:r>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r>
                  <a:rPr lang="en-IN" sz="2800">
                    <a:solidFill>
                      <a:srgbClr val="15803D"/>
                    </a:solidFill>
                    <a:latin typeface="Cambria Math" panose="02040503050406030204" pitchFamily="18" charset="0"/>
                  </a:rPr>
                  <a:t>$-7$</a:t>
                </a:r>
                <a:endParaRPr sz="2800">
                  <a:solidFill>
                    <a:srgbClr val="15803D"/>
                  </a:solidFill>
                </a:endParaRPr>
              </a:p>
            </p:txBody>
          </p:sp>
        </mc:Fallback>
      </mc:AlternateContent>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𝑌</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𝑌</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𝑋</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var</m:t>
                    </m:r>
                    <m:r>
                      <a:rPr lang="en-IN" sz="2400" i="1">
                        <a:solidFill>
                          <a:srgbClr val="111827"/>
                        </a:solidFill>
                        <a:latin typeface="Cambria Math" panose="02040503050406030204" pitchFamily="18" charset="0"/>
                      </a:rPr>
                      <m:t>𝑌</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var</m:t>
                    </m:r>
                    <m:r>
                      <a:rPr lang="en-IN" sz="2400" i="1">
                        <a:solidFill>
                          <a:srgbClr val="111827"/>
                        </a:solidFill>
                        <a:latin typeface="Cambria Math" panose="02040503050406030204" pitchFamily="18" charset="0"/>
                      </a:rPr>
                      <m:t>𝑋</m:t>
                    </m:r>
                  </m:oMath>
                </a14:m>
                <a:r>
                  <a:rPr sz="2400" b="0">
                    <a:solidFill>
                      <a:srgbClr val="111827"/>
                    </a:solidFill>
                    <a:latin typeface="Arial"/>
                  </a:rPr>
                  <a:t>; knowing both determines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𝑏</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Mean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and variance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12</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$Y=aX+b$</a:t>
                </a:r>
                <a:r>
                  <a:rPr sz="2400" b="0">
                    <a:solidFill>
                      <a:srgbClr val="111827"/>
                    </a:solidFill>
                    <a:latin typeface="Arial"/>
                  </a:rPr>
                  <a:t>: </a:t>
                </a:r>
                <a:r>
                  <a:rPr lang="en-IN" sz="2400">
                    <a:solidFill>
                      <a:srgbClr val="111827"/>
                    </a:solidFill>
                    <a:latin typeface="Cambria Math" panose="02040503050406030204" pitchFamily="18" charset="0"/>
                  </a:rPr>
                  <a:t>$\bar{Y}=a\bar{X}+b$</a:t>
                </a:r>
                <a:r>
                  <a:rPr sz="2400" b="0">
                    <a:solidFill>
                      <a:srgbClr val="111827"/>
                    </a:solidFill>
                    <a:latin typeface="Arial"/>
                  </a:rPr>
                  <a:t> and </a:t>
                </a:r>
                <a:r>
                  <a:rPr lang="en-IN" sz="2400">
                    <a:solidFill>
                      <a:srgbClr val="111827"/>
                    </a:solidFill>
                    <a:latin typeface="Cambria Math" panose="02040503050406030204" pitchFamily="18" charset="0"/>
                  </a:rPr>
                  <a:t>$\operatorname{var}Y=a^2\operatorname{var}X$</a:t>
                </a:r>
                <a:r>
                  <a:rPr sz="2400" b="0">
                    <a:solidFill>
                      <a:srgbClr val="111827"/>
                    </a:solidFill>
                    <a:latin typeface="Arial"/>
                  </a:rPr>
                  <a:t>; knowing both determines </a:t>
                </a:r>
                <a:r>
                  <a:rPr lang="en-IN" sz="2400">
                    <a:solidFill>
                      <a:srgbClr val="111827"/>
                    </a:solidFill>
                    <a:latin typeface="Cambria Math" panose="02040503050406030204" pitchFamily="18" charset="0"/>
                  </a:rPr>
                  <a:t>$|a|$</a:t>
                </a:r>
                <a:r>
                  <a:rPr sz="2400" b="0">
                    <a:solidFill>
                      <a:srgbClr val="111827"/>
                    </a:solidFill>
                    <a:latin typeface="Arial"/>
                  </a:rPr>
                  <a:t> and </a:t>
                </a:r>
                <a:r>
                  <a:rPr lang="en-IN" sz="2400">
                    <a:solidFill>
                      <a:srgbClr val="111827"/>
                    </a:solidFill>
                    <a:latin typeface="Cambria Math" panose="02040503050406030204" pitchFamily="18" charset="0"/>
                  </a:rPr>
                  <a:t>$b$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Mean of </a:t>
                </a:r>
                <a:r>
                  <a:rPr lang="en-IN" sz="2400">
                    <a:solidFill>
                      <a:srgbClr val="111827"/>
                    </a:solidFill>
                    <a:latin typeface="Cambria Math" panose="02040503050406030204" pitchFamily="18" charset="0"/>
                  </a:rPr>
                  <a:t>$\{1,\dots,n\}$</a:t>
                </a:r>
                <a:r>
                  <a:rPr sz="2400" b="0">
                    <a:solidFill>
                      <a:srgbClr val="111827"/>
                    </a:solidFill>
                    <a:latin typeface="Arial"/>
                  </a:rPr>
                  <a:t> is </a:t>
                </a:r>
                <a:r>
                  <a:rPr lang="en-IN" sz="2400">
                    <a:solidFill>
                      <a:srgbClr val="111827"/>
                    </a:solidFill>
                    <a:latin typeface="Cambria Math" panose="02040503050406030204" pitchFamily="18" charset="0"/>
                  </a:rPr>
                  <a:t>$\frac{n+1}{2}$</a:t>
                </a:r>
                <a:r>
                  <a:rPr sz="2400" b="0">
                    <a:solidFill>
                      <a:srgbClr val="111827"/>
                    </a:solidFill>
                    <a:latin typeface="Arial"/>
                  </a:rPr>
                  <a:t> and variance </a:t>
                </a:r>
                <a:r>
                  <a:rPr lang="en-IN" sz="2400">
                    <a:solidFill>
                      <a:srgbClr val="111827"/>
                    </a:solidFill>
                    <a:latin typeface="Cambria Math" panose="02040503050406030204" pitchFamily="18" charset="0"/>
                  </a:rPr>
                  <a:t>$\frac{n^2-1}{12}$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4</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Numerical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Q28</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4 marks each (no marks printed in the sheet - JEE Advanced default of 4 assumed)</a:t>
            </a:r>
            <a:endParaRPr sz="2800">
              <a:solidFill>
                <a:srgbClr val="FFFFFF"/>
              </a:solidFill>
            </a:endParaRP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variance of the terms in an increasing A.P. </a:t>
                </a:r>
                <a14:m>
                  <m:oMath xmlns:m="http://schemas.openxmlformats.org/officeDocument/2006/math">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11</m:t>
                        </m:r>
                      </m:sub>
                    </m:sSub>
                  </m:oMath>
                </a14:m>
                <a:r>
                  <a:rPr sz="2400" b="0">
                    <a:solidFill>
                      <a:srgbClr val="111827"/>
                    </a:solidFill>
                    <a:latin typeface="Arial"/>
                  </a:rPr>
                  <a:t> is 90, then the common difference of this A.P. is ______.</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variance of the terms in an increasing A.P. </a:t>
                </a:r>
                <a:r>
                  <a:rPr lang="en-IN" sz="2400">
                    <a:solidFill>
                      <a:srgbClr val="111827"/>
                    </a:solidFill>
                    <a:latin typeface="Cambria Math" panose="02040503050406030204" pitchFamily="18" charset="0"/>
                  </a:rPr>
                  <a:t>$b_1,b_2,b_3,\dots,b_{11}$</a:t>
                </a:r>
                <a:r>
                  <a:rPr sz="2400" b="0">
                    <a:solidFill>
                      <a:srgbClr val="111827"/>
                    </a:solidFill>
                    <a:latin typeface="Arial"/>
                  </a:rPr>
                  <a:t> is 90, then the common difference of this A.P. is ______.</a:t>
                </a:r>
                <a:endParaRPr sz="2400">
                  <a:solidFill>
                    <a:srgbClr val="111827"/>
                  </a:solidFill>
                </a:endParaRPr>
              </a:p>
            </p:txBody>
          </p:sp>
        </mc:Fallback>
      </mc:AlternateContent>
      <p:sp>
        <p:nvSpPr>
          <p:cNvPr id="5" name="Rectangle 4"/>
          <p:cNvSpPr/>
          <p:nvPr/>
        </p:nvSpPr>
        <p:spPr>
          <a:xfrm>
            <a:off x="731520" y="324612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Variance of an arithmetic progression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variance of an AP depends only on </a:t>
                </a:r>
                <a14:m>
                  <m:oMath xmlns:m="http://schemas.openxmlformats.org/officeDocument/2006/math">
                    <m:r>
                      <a:rPr lang="en-IN" sz="2400" i="1">
                        <a:solidFill>
                          <a:srgbClr val="78350F"/>
                        </a:solidFill>
                        <a:latin typeface="Cambria Math" panose="02040503050406030204" pitchFamily="18" charset="0"/>
                      </a:rPr>
                      <m:t>𝑑</m:t>
                    </m:r>
                  </m:oMath>
                </a14:m>
                <a:r>
                  <a:rPr sz="2400" b="0">
                    <a:solidFill>
                      <a:srgbClr val="78350F"/>
                    </a:solidFill>
                    <a:latin typeface="Arial"/>
                  </a:rPr>
                  <a:t> and the number of terms.</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variance of an AP depends only on </a:t>
                </a:r>
                <a:r>
                  <a:rPr lang="en-IN" sz="2400">
                    <a:solidFill>
                      <a:srgbClr val="78350F"/>
                    </a:solidFill>
                    <a:latin typeface="Cambria Math" panose="02040503050406030204" pitchFamily="18" charset="0"/>
                  </a:rPr>
                  <a:t>$d$</a:t>
                </a:r>
                <a:r>
                  <a:rPr sz="2400" b="0">
                    <a:solidFill>
                      <a:srgbClr val="78350F"/>
                    </a:solidFill>
                    <a:latin typeface="Arial"/>
                  </a:rPr>
                  <a:t> and the number of terms.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first term be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and the common difference </a:t>
                </a:r>
                <a14:m>
                  <m:oMath xmlns:m="http://schemas.openxmlformats.org/officeDocument/2006/math">
                    <m:r>
                      <a:rPr lang="en-IN" sz="2400" i="1">
                        <a:solidFill>
                          <a:srgbClr val="111827"/>
                        </a:solidFill>
                        <a:latin typeface="Cambria Math" panose="02040503050406030204" pitchFamily="18" charset="0"/>
                      </a:rPr>
                      <m:t>𝑑</m:t>
                    </m:r>
                  </m:oMath>
                </a14:m>
                <a:r>
                  <a:rPr sz="2400" b="0">
                    <a:solidFill>
                      <a:srgbClr val="111827"/>
                    </a:solidFill>
                    <a:latin typeface="Arial"/>
                  </a:rPr>
                  <a:t>; the mean of the 11 terms is the middle term: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𝑑</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Variance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11</m:t>
                        </m:r>
                      </m:den>
                    </m:f>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11</m:t>
                        </m:r>
                      </m:sup>
                      <m:e>
                        <m:r>
                          <m:rPr>
                            <m:sty m:val="p"/>
                          </m:rPr>
                          <a:rPr lang="en-IN" sz="2400">
                            <a:solidFill>
                              <a:srgbClr val="111827"/>
                            </a:solidFill>
                            <a:latin typeface="Cambria Math" panose="02040503050406030204" pitchFamily="18" charset="0"/>
                          </a:rPr>
                          <m:t>(</m:t>
                        </m:r>
                      </m:e>
                    </m:nary>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11</m:t>
                        </m:r>
                      </m:den>
                    </m:f>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4</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2</m:t>
                            </m:r>
                          </m:sup>
                        </m:sSup>
                      </m:e>
                    </m:d>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first term be </a:t>
                </a:r>
                <a:r>
                  <a:rPr lang="en-IN" sz="2400">
                    <a:solidFill>
                      <a:srgbClr val="111827"/>
                    </a:solidFill>
                    <a:latin typeface="Cambria Math" panose="02040503050406030204" pitchFamily="18" charset="0"/>
                  </a:rPr>
                  <a:t>$a$</a:t>
                </a:r>
                <a:r>
                  <a:rPr sz="2400" b="0">
                    <a:solidFill>
                      <a:srgbClr val="111827"/>
                    </a:solidFill>
                    <a:latin typeface="Arial"/>
                  </a:rPr>
                  <a:t> and the common difference </a:t>
                </a:r>
                <a:r>
                  <a:rPr lang="en-IN" sz="2400">
                    <a:solidFill>
                      <a:srgbClr val="111827"/>
                    </a:solidFill>
                    <a:latin typeface="Cambria Math" panose="02040503050406030204" pitchFamily="18" charset="0"/>
                  </a:rPr>
                  <a:t>$d$</a:t>
                </a:r>
                <a:r>
                  <a:rPr sz="2400" b="0">
                    <a:solidFill>
                      <a:srgbClr val="111827"/>
                    </a:solidFill>
                    <a:latin typeface="Arial"/>
                  </a:rPr>
                  <a:t>; the mean of the 11 terms is the middle term: </a:t>
                </a:r>
                <a:r>
                  <a:rPr lang="en-IN" sz="2400">
                    <a:solidFill>
                      <a:srgbClr val="111827"/>
                    </a:solidFill>
                    <a:latin typeface="Cambria Math" panose="02040503050406030204" pitchFamily="18" charset="0"/>
                  </a:rPr>
                  <a:t>$\bar{b}=a+5d$</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$b_i-\bar{b}=a+(i-1)d-(a+5d)=(i-6)d$</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Variance </a:t>
                </a:r>
                <a:r>
                  <a:rPr lang="en-IN" sz="2400">
                    <a:solidFill>
                      <a:srgbClr val="111827"/>
                    </a:solidFill>
                    <a:latin typeface="Cambria Math" panose="02040503050406030204" pitchFamily="18" charset="0"/>
                  </a:rPr>
                  <a:t>$=\frac{1}{11}\sum_{i=1}^{11}(i-6)^2d^2=\frac{d^2}{11}\left(5^2+4^2+3^2+2^2+1^2+0+1^2+2^2+\cdots+5^2\right)$</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11</m:t>
                        </m:r>
                      </m:den>
                    </m:f>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11</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10</m:t>
                    </m:r>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90</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(the AP is increasing).</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$=\frac{2d^2}{11}(1^2+2^2+\cdots+5^2)=\frac{2d^2}{11}\cdot\frac{5\cdot6\cdot11}{6}=10d^2$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$10d^2=90$</a:t>
                </a:r>
                <a:r>
                  <a:rPr sz="2400" b="0">
                    <a:solidFill>
                      <a:srgbClr val="111827"/>
                    </a:solidFill>
                    <a:latin typeface="Arial"/>
                  </a:rPr>
                  <a:t>, so </a:t>
                </a:r>
                <a:r>
                  <a:rPr lang="en-IN" sz="2400">
                    <a:solidFill>
                      <a:srgbClr val="111827"/>
                    </a:solidFill>
                    <a:latin typeface="Cambria Math" panose="02040503050406030204" pitchFamily="18" charset="0"/>
                  </a:rPr>
                  <a:t>$d^2=9$</a:t>
                </a:r>
                <a:r>
                  <a:rPr sz="2400" b="0">
                    <a:solidFill>
                      <a:srgbClr val="111827"/>
                    </a:solidFill>
                    <a:latin typeface="Arial"/>
                  </a:rPr>
                  <a:t> and </a:t>
                </a:r>
                <a:r>
                  <a:rPr lang="en-IN" sz="2400">
                    <a:solidFill>
                      <a:srgbClr val="111827"/>
                    </a:solidFill>
                    <a:latin typeface="Cambria Math" panose="02040503050406030204" pitchFamily="18" charset="0"/>
                  </a:rPr>
                  <a:t>$d=3$</a:t>
                </a:r>
                <a:r>
                  <a:rPr sz="2400" b="0">
                    <a:solidFill>
                      <a:srgbClr val="111827"/>
                    </a:solidFill>
                    <a:latin typeface="Arial"/>
                  </a:rPr>
                  <a:t> (the AP is increasing).</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14:m>
                  <m:oMath xmlns:m="http://schemas.openxmlformats.org/officeDocument/2006/math">
                    <m:r>
                      <a:rPr lang="en-IN" sz="2800" i="1">
                        <a:solidFill>
                          <a:srgbClr val="15803D"/>
                        </a:solidFill>
                        <a:latin typeface="Cambria Math" panose="02040503050406030204" pitchFamily="18" charset="0"/>
                      </a:rPr>
                      <m:t>3</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r>
                  <a:rPr lang="en-IN" sz="2800">
                    <a:solidFill>
                      <a:srgbClr val="15803D"/>
                    </a:solidFill>
                    <a:latin typeface="Cambria Math" panose="02040503050406030204" pitchFamily="18" charset="0"/>
                  </a:rPr>
                  <a:t>$3$</a:t>
                </a:r>
                <a:endParaRPr sz="2800">
                  <a:solidFill>
                    <a:srgbClr val="15803D"/>
                  </a:solidFill>
                </a:endParaRPr>
              </a:p>
            </p:txBody>
          </p:sp>
        </mc:Fallback>
      </mc:AlternateContent>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847344"/>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the closed form </a:t>
                </a:r>
                <a14:m>
                  <m:oMath xmlns:m="http://schemas.openxmlformats.org/officeDocument/2006/math">
                    <m:f>
                      <m:fPr>
                        <m:type m:val="bar"/>
                        <m:ctrlPr>
                          <a:rPr lang="en-IN" sz="2400" i="1">
                            <a:solidFill>
                              <a:srgbClr val="78350F"/>
                            </a:solidFill>
                            <a:latin typeface="Cambria Math" panose="02040503050406030204" pitchFamily="18" charset="0"/>
                          </a:rPr>
                        </m:ctrlPr>
                      </m:fPr>
                      <m:num>
                        <m:sSup>
                          <m:e>
                            <m:r>
                              <a:rPr lang="en-IN" sz="2400" i="1">
                                <a:solidFill>
                                  <a:srgbClr val="78350F"/>
                                </a:solidFill>
                                <a:latin typeface="Cambria Math" panose="02040503050406030204" pitchFamily="18" charset="0"/>
                              </a:rPr>
                              <m:t>𝑑</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𝑛</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num>
                      <m:den>
                        <m:r>
                          <a:rPr lang="en-IN" sz="2400" i="1">
                            <a:solidFill>
                              <a:srgbClr val="78350F"/>
                            </a:solidFill>
                            <a:latin typeface="Cambria Math" panose="02040503050406030204" pitchFamily="18" charset="0"/>
                          </a:rPr>
                          <m:t>12</m:t>
                        </m:r>
                      </m:den>
                    </m:f>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847344"/>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the closed form </a:t>
                </a:r>
                <a:r>
                  <a:rPr lang="en-IN" sz="2400">
                    <a:solidFill>
                      <a:srgbClr val="78350F"/>
                    </a:solidFill>
                    <a:latin typeface="Cambria Math" panose="02040503050406030204" pitchFamily="18" charset="0"/>
                  </a:rPr>
                  <a:t>$\frac{d^2(n^2-1)}{12}$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264664"/>
                <a:ext cx="10725912" cy="352348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11 terms: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12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10</m:t>
                    </m:r>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90</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(increasing), the same answer.</a:t>
                </a:r>
                <a:endParaRPr sz="2400">
                  <a:solidFill>
                    <a:srgbClr val="111827"/>
                  </a:solidFill>
                </a:endParaRPr>
              </a:p>
            </p:txBody>
          </p:sp>
        </mc:Choice>
        <mc:Fallback>
          <p:sp>
            <p:nvSpPr>
              <p:cNvPr id="6" name="Rectangle 5"/>
              <p:cNvSpPr/>
              <p:nvPr/>
            </p:nvSpPr>
            <p:spPr>
              <a:xfrm>
                <a:off x="731520" y="2264664"/>
                <a:ext cx="10725912" cy="352348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11 terms: </a:t>
                </a:r>
                <a:r>
                  <a:rPr lang="en-IN" sz="2400">
                    <a:solidFill>
                      <a:srgbClr val="111827"/>
                    </a:solidFill>
                    <a:latin typeface="Cambria Math" panose="02040503050406030204" pitchFamily="18" charset="0"/>
                  </a:rPr>
                  <a:t>$\frac{d^2(121-1)}{12}=10d^2$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$10d^2=90$</a:t>
                </a:r>
                <a:r>
                  <a:rPr sz="2400" b="0">
                    <a:solidFill>
                      <a:srgbClr val="111827"/>
                    </a:solidFill>
                    <a:latin typeface="Arial"/>
                  </a:rPr>
                  <a:t> gives </a:t>
                </a:r>
                <a:r>
                  <a:rPr lang="en-IN" sz="2400">
                    <a:solidFill>
                      <a:srgbClr val="111827"/>
                    </a:solidFill>
                    <a:latin typeface="Cambria Math" panose="02040503050406030204" pitchFamily="18" charset="0"/>
                  </a:rPr>
                  <a:t>$d=3$</a:t>
                </a:r>
                <a:r>
                  <a:rPr sz="2400" b="0">
                    <a:solidFill>
                      <a:srgbClr val="111827"/>
                    </a:solidFill>
                    <a:latin typeface="Arial"/>
                  </a:rPr>
                  <a:t> (increasing), the same answer.</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14:m>
                  <m:oMath xmlns:m="http://schemas.openxmlformats.org/officeDocument/2006/math">
                    <m:r>
                      <a:rPr lang="en-IN" sz="2800" i="1">
                        <a:solidFill>
                          <a:srgbClr val="15803D"/>
                        </a:solidFill>
                        <a:latin typeface="Cambria Math" panose="02040503050406030204" pitchFamily="18" charset="0"/>
                      </a:rPr>
                      <m:t>3</m:t>
                    </m:r>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r>
                  <a:rPr lang="en-IN" sz="2800">
                    <a:solidFill>
                      <a:srgbClr val="15803D"/>
                    </a:solidFill>
                    <a:latin typeface="Cambria Math" panose="02040503050406030204" pitchFamily="18" charset="0"/>
                  </a:rPr>
                  <a:t>$3$</a:t>
                </a:r>
                <a:endParaRPr sz="2800">
                  <a:solidFill>
                    <a:srgbClr val="15803D"/>
                  </a:solidFill>
                </a:endParaRPr>
              </a:p>
            </p:txBody>
          </p:sp>
        </mc:Fallback>
      </mc:AlternateContent>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Variance of an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-term AP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12</m:t>
                        </m:r>
                      </m:den>
                    </m:f>
                  </m:oMath>
                </a14:m>
                <a:r>
                  <a:rPr sz="2400" b="0">
                    <a:solidFill>
                      <a:srgbClr val="111827"/>
                    </a:solidFill>
                    <a:latin typeface="Arial"/>
                  </a:rPr>
                  <a:t>; standard deviation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12</m:t>
                            </m:r>
                          </m:den>
                        </m:f>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It is independent of the first term and of whether the AP increases or decreases.</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Variance of an </a:t>
                </a:r>
                <a:r>
                  <a:rPr lang="en-IN" sz="2400">
                    <a:solidFill>
                      <a:srgbClr val="111827"/>
                    </a:solidFill>
                    <a:latin typeface="Cambria Math" panose="02040503050406030204" pitchFamily="18" charset="0"/>
                  </a:rPr>
                  <a:t>$n$</a:t>
                </a:r>
                <a:r>
                  <a:rPr sz="2400" b="0">
                    <a:solidFill>
                      <a:srgbClr val="111827"/>
                    </a:solidFill>
                    <a:latin typeface="Arial"/>
                  </a:rPr>
                  <a:t>-term AP </a:t>
                </a:r>
                <a:r>
                  <a:rPr lang="en-IN" sz="2400">
                    <a:solidFill>
                      <a:srgbClr val="111827"/>
                    </a:solidFill>
                    <a:latin typeface="Cambria Math" panose="02040503050406030204" pitchFamily="18" charset="0"/>
                  </a:rPr>
                  <a:t>$=\frac{d^2(n^2-1)}{12}$</a:t>
                </a:r>
                <a:r>
                  <a:rPr sz="2400" b="0">
                    <a:solidFill>
                      <a:srgbClr val="111827"/>
                    </a:solidFill>
                    <a:latin typeface="Arial"/>
                  </a:rPr>
                  <a:t>; standard deviation </a:t>
                </a:r>
                <a:r>
                  <a:rPr lang="en-IN" sz="2400">
                    <a:solidFill>
                      <a:srgbClr val="111827"/>
                    </a:solidFill>
                    <a:latin typeface="Cambria Math" panose="02040503050406030204" pitchFamily="18" charset="0"/>
                  </a:rPr>
                  <a:t>$=|d|\sqrt{\frac{n^2-1}{12}}$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It is independent of the first term and of whether the AP increases or decreases.</a:t>
                </a:r>
                <a:endParaRPr sz="2400">
                  <a:solidFill>
                    <a:srgbClr val="111827"/>
                  </a:solidFill>
                </a:endParaRPr>
              </a:p>
            </p:txBody>
          </p:sp>
        </mc:Fallback>
      </mc:AlternateContent>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5</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Single Correct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Q29 – Q31</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4 marks each (no marks printed in the sheet - JEE Advanced default of 4 assumed)</a:t>
            </a:r>
            <a:endParaRPr sz="2800">
              <a:solidFill>
                <a:srgbClr val="FFFFFF"/>
              </a:solidFill>
            </a:endParaRP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44348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For the frequency distribution : variate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15</m:t>
                        </m:r>
                      </m:sub>
                    </m:sSub>
                  </m:oMath>
                </a14:m>
                <a:r>
                  <a:rPr sz="2400" b="0">
                    <a:solidFill>
                      <a:srgbClr val="111827"/>
                    </a:solidFill>
                    <a:latin typeface="Arial"/>
                  </a:rPr>
                  <a:t>; frequency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𝑓</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𝑓</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𝑓</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𝑓</m:t>
                        </m:r>
                      </m:e>
                      <m:sub>
                        <m:r>
                          <a:rPr lang="en-IN" sz="2400" i="1">
                            <a:solidFill>
                              <a:srgbClr val="111827"/>
                            </a:solidFill>
                            <a:latin typeface="Cambria Math" panose="02040503050406030204" pitchFamily="18" charset="0"/>
                          </a:rPr>
                          <m:t>15</m:t>
                        </m:r>
                      </m:sub>
                    </m:sSub>
                  </m:oMath>
                </a14:m>
                <a:r>
                  <a:rPr sz="2400" b="0">
                    <a:solidFill>
                      <a:srgbClr val="111827"/>
                    </a:solidFill>
                    <a:latin typeface="Arial"/>
                  </a:rPr>
                  <a:t>, where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&lt;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&lt;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&lt;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&lt;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15</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and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15</m:t>
                        </m:r>
                      </m:sup>
                      <m:e>
                        <m:sSub>
                          <m:e>
                            <m:r>
                              <a:rPr lang="en-IN" sz="2400" i="1">
                                <a:solidFill>
                                  <a:srgbClr val="111827"/>
                                </a:solidFill>
                                <a:latin typeface="Cambria Math" panose="02040503050406030204" pitchFamily="18" charset="0"/>
                              </a:rPr>
                              <m:t>𝑓</m:t>
                            </m:r>
                          </m:e>
                          <m:sub>
                            <m:r>
                              <a:rPr lang="en-IN" sz="2400" i="1">
                                <a:solidFill>
                                  <a:srgbClr val="111827"/>
                                </a:solidFill>
                                <a:latin typeface="Cambria Math" panose="02040503050406030204" pitchFamily="18" charset="0"/>
                              </a:rPr>
                              <m:t>𝑖</m:t>
                            </m:r>
                          </m:sub>
                        </m:sSub>
                      </m:e>
                    </m:nary>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the standard deviation cannot be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6   (B) 1   (C) 2   (D) 4</a:t>
                </a:r>
                <a:endParaRPr sz="2400">
                  <a:solidFill>
                    <a:srgbClr val="111827"/>
                  </a:solidFill>
                </a:endParaRPr>
              </a:p>
            </p:txBody>
          </p:sp>
        </mc:Choice>
        <mc:Fallback>
          <p:sp>
            <p:nvSpPr>
              <p:cNvPr id="4" name="Rounded Rectangle 3"/>
              <p:cNvSpPr/>
              <p:nvPr/>
            </p:nvSpPr>
            <p:spPr>
              <a:xfrm>
                <a:off x="731520" y="1280160"/>
                <a:ext cx="10725912" cy="244348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For the frequency distribution : variate </a:t>
                </a:r>
                <a:r>
                  <a:rPr lang="en-IN" sz="2400">
                    <a:solidFill>
                      <a:srgbClr val="111827"/>
                    </a:solidFill>
                    <a:latin typeface="Cambria Math" panose="02040503050406030204" pitchFamily="18" charset="0"/>
                  </a:rPr>
                  <a:t>$x$</a:t>
                </a:r>
                <a:r>
                  <a:rPr sz="2400" b="0">
                    <a:solidFill>
                      <a:srgbClr val="111827"/>
                    </a:solidFill>
                    <a:latin typeface="Arial"/>
                  </a:rPr>
                  <a:t>: </a:t>
                </a:r>
                <a:r>
                  <a:rPr lang="en-IN" sz="2400">
                    <a:solidFill>
                      <a:srgbClr val="111827"/>
                    </a:solidFill>
                    <a:latin typeface="Cambria Math" panose="02040503050406030204" pitchFamily="18" charset="0"/>
                  </a:rPr>
                  <a:t>$x_1,x_2,x_3,\dots,x_{15}$</a:t>
                </a:r>
                <a:r>
                  <a:rPr sz="2400" b="0">
                    <a:solidFill>
                      <a:srgbClr val="111827"/>
                    </a:solidFill>
                    <a:latin typeface="Arial"/>
                  </a:rPr>
                  <a:t>; frequency </a:t>
                </a:r>
                <a:r>
                  <a:rPr lang="en-IN" sz="2400">
                    <a:solidFill>
                      <a:srgbClr val="111827"/>
                    </a:solidFill>
                    <a:latin typeface="Cambria Math" panose="02040503050406030204" pitchFamily="18" charset="0"/>
                  </a:rPr>
                  <a:t>$f$</a:t>
                </a:r>
                <a:r>
                  <a:rPr sz="2400" b="0">
                    <a:solidFill>
                      <a:srgbClr val="111827"/>
                    </a:solidFill>
                    <a:latin typeface="Arial"/>
                  </a:rPr>
                  <a:t>: </a:t>
                </a:r>
                <a:r>
                  <a:rPr lang="en-IN" sz="2400">
                    <a:solidFill>
                      <a:srgbClr val="111827"/>
                    </a:solidFill>
                    <a:latin typeface="Cambria Math" panose="02040503050406030204" pitchFamily="18" charset="0"/>
                  </a:rPr>
                  <a:t>$f_1,f_2,f_3,\dots,f_{15}$</a:t>
                </a:r>
                <a:r>
                  <a:rPr sz="2400" b="0">
                    <a:solidFill>
                      <a:srgbClr val="111827"/>
                    </a:solidFill>
                    <a:latin typeface="Arial"/>
                  </a:rPr>
                  <a:t>, where </a:t>
                </a:r>
                <a:r>
                  <a:rPr lang="en-IN" sz="2400">
                    <a:solidFill>
                      <a:srgbClr val="111827"/>
                    </a:solidFill>
                    <a:latin typeface="Cambria Math" panose="02040503050406030204" pitchFamily="18" charset="0"/>
                  </a:rPr>
                  <a:t>$0&lt;x_1&lt;x_2&lt;x_3&lt;\cdots&lt;x_{15}=10$</a:t>
                </a:r>
                <a:r>
                  <a:rPr sz="2400" b="0">
                    <a:solidFill>
                      <a:srgbClr val="111827"/>
                    </a:solidFill>
                    <a:latin typeface="Arial"/>
                  </a:rPr>
                  <a:t> and </a:t>
                </a:r>
                <a:r>
                  <a:rPr lang="en-IN" sz="2400">
                    <a:solidFill>
                      <a:srgbClr val="111827"/>
                    </a:solidFill>
                    <a:latin typeface="Cambria Math" panose="02040503050406030204" pitchFamily="18" charset="0"/>
                  </a:rPr>
                  <a:t>$\sum_{i=1}^{15}f_i&gt;0$</a:t>
                </a:r>
                <a:r>
                  <a:rPr sz="2400" b="0">
                    <a:solidFill>
                      <a:srgbClr val="111827"/>
                    </a:solidFill>
                    <a:latin typeface="Arial"/>
                  </a:rPr>
                  <a:t>, the standard deviation cannot be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6   (B) 1   (C) 2   (D) 4</a:t>
                </a:r>
                <a:endParaRPr sz="2400">
                  <a:solidFill>
                    <a:srgbClr val="111827"/>
                  </a:solidFill>
                </a:endParaRPr>
              </a:p>
            </p:txBody>
          </p:sp>
        </mc:Fallback>
      </mc:AlternateContent>
      <p:sp>
        <p:nvSpPr>
          <p:cNvPr id="5" name="Rectangle 4"/>
          <p:cNvSpPr/>
          <p:nvPr/>
        </p:nvSpPr>
        <p:spPr>
          <a:xfrm>
            <a:off x="731520" y="3952239"/>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Bounds on the standard deviation of a data set</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All data lie in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10</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so the standard deviation is strictly less than 5.</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All data lie in </a:t>
                </a:r>
                <a:r>
                  <a:rPr lang="en-IN" sz="2400">
                    <a:solidFill>
                      <a:srgbClr val="78350F"/>
                    </a:solidFill>
                    <a:latin typeface="Cambria Math" panose="02040503050406030204" pitchFamily="18" charset="0"/>
                  </a:rPr>
                  <a:t>$(0,10]$</a:t>
                </a:r>
                <a:r>
                  <a:rPr sz="2400" b="0">
                    <a:solidFill>
                      <a:srgbClr val="78350F"/>
                    </a:solidFill>
                    <a:latin typeface="Arial"/>
                  </a:rPr>
                  <a:t>, so the standard deviation is strictly less than 5.</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All 15 values satisfy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&lt;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variance is largest when the data are split between the two extreme values, half near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and half at </a:t>
                </a:r>
                <a14:m>
                  <m:oMath xmlns:m="http://schemas.openxmlformats.org/officeDocument/2006/math">
                    <m:r>
                      <a:rPr lang="en-IN" sz="2400" i="1">
                        <a:solidFill>
                          <a:srgbClr val="111827"/>
                        </a:solidFill>
                        <a:latin typeface="Cambria Math" panose="02040503050406030204" pitchFamily="18" charset="0"/>
                      </a:rPr>
                      <m:t>10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the mean is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for all </a:t>
                </a:r>
                <a14:m>
                  <m:oMath xmlns:m="http://schemas.openxmlformats.org/officeDocument/2006/math">
                    <m:r>
                      <a:rPr lang="en-IN" sz="2400" i="1">
                        <a:solidFill>
                          <a:srgbClr val="111827"/>
                        </a:solidFill>
                        <a:latin typeface="Cambria Math" panose="02040503050406030204" pitchFamily="18" charset="0"/>
                      </a:rPr>
                      <m:t>𝑖</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𝑓</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num>
                      <m:den>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𝑓</m:t>
                            </m:r>
                          </m:e>
                          <m:sub>
                            <m:r>
                              <a:rPr lang="en-IN" sz="2400" i="1">
                                <a:solidFill>
                                  <a:srgbClr val="111827"/>
                                </a:solidFill>
                                <a:latin typeface="Cambria Math" panose="02040503050406030204" pitchFamily="18" charset="0"/>
                              </a:rPr>
                              <m:t>𝑖</m:t>
                            </m:r>
                          </m:sub>
                        </m:sSub>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All 15 values satisfy </a:t>
                </a:r>
                <a:r>
                  <a:rPr lang="en-IN" sz="2400">
                    <a:solidFill>
                      <a:srgbClr val="111827"/>
                    </a:solidFill>
                    <a:latin typeface="Cambria Math" panose="02040503050406030204" pitchFamily="18" charset="0"/>
                  </a:rPr>
                  <a:t>$0&lt;x_i\le10$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variance is largest when the data are split between the two extreme values, half near </a:t>
                </a:r>
                <a:r>
                  <a:rPr lang="en-IN" sz="2400">
                    <a:solidFill>
                      <a:srgbClr val="111827"/>
                    </a:solidFill>
                    <a:latin typeface="Cambria Math" panose="02040503050406030204" pitchFamily="18" charset="0"/>
                  </a:rPr>
                  <a:t>$0$</a:t>
                </a:r>
                <a:r>
                  <a:rPr sz="2400" b="0">
                    <a:solidFill>
                      <a:srgbClr val="111827"/>
                    </a:solidFill>
                    <a:latin typeface="Arial"/>
                  </a:rPr>
                  <a:t> and half at </a:t>
                </a:r>
                <a:r>
                  <a:rPr lang="en-IN" sz="2400">
                    <a:solidFill>
                      <a:srgbClr val="111827"/>
                    </a:solidFill>
                    <a:latin typeface="Cambria Math" panose="02040503050406030204" pitchFamily="18" charset="0"/>
                  </a:rPr>
                  <a:t>$10$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the mean is </a:t>
                </a:r>
                <a:r>
                  <a:rPr lang="en-IN" sz="2400">
                    <a:solidFill>
                      <a:srgbClr val="111827"/>
                    </a:solidFill>
                    <a:latin typeface="Cambria Math" panose="02040503050406030204" pitchFamily="18" charset="0"/>
                  </a:rPr>
                  <a:t>$\bar{x}=5$</a:t>
                </a:r>
                <a:r>
                  <a:rPr sz="2400" b="0">
                    <a:solidFill>
                      <a:srgbClr val="111827"/>
                    </a:solidFill>
                    <a:latin typeface="Arial"/>
                  </a:rPr>
                  <a:t> and </a:t>
                </a:r>
                <a:r>
                  <a:rPr lang="en-IN" sz="2400">
                    <a:solidFill>
                      <a:srgbClr val="111827"/>
                    </a:solidFill>
                    <a:latin typeface="Cambria Math" panose="02040503050406030204" pitchFamily="18" charset="0"/>
                  </a:rPr>
                  <a:t>$|x_i-\bar{x}|=5$</a:t>
                </a:r>
                <a:r>
                  <a:rPr sz="2400" b="0">
                    <a:solidFill>
                      <a:srgbClr val="111827"/>
                    </a:solidFill>
                    <a:latin typeface="Arial"/>
                  </a:rPr>
                  <a:t> for all </a:t>
                </a:r>
                <a:r>
                  <a:rPr lang="en-IN" sz="2400">
                    <a:solidFill>
                      <a:srgbClr val="111827"/>
                    </a:solidFill>
                    <a:latin typeface="Cambria Math" panose="02040503050406030204" pitchFamily="18" charset="0"/>
                  </a:rPr>
                  <a:t>$i$</a:t>
                </a:r>
                <a:r>
                  <a:rPr sz="2400" b="0">
                    <a:solidFill>
                      <a:srgbClr val="111827"/>
                    </a:solidFill>
                    <a:latin typeface="Arial"/>
                  </a:rPr>
                  <a:t>, so </a:t>
                </a:r>
                <a:r>
                  <a:rPr lang="en-IN" sz="2400">
                    <a:solidFill>
                      <a:srgbClr val="111827"/>
                    </a:solidFill>
                    <a:latin typeface="Cambria Math" panose="02040503050406030204" pitchFamily="18" charset="0"/>
                  </a:rPr>
                  <a:t>$\sigma^2=\frac{\sum f_i(x_i-\bar{x})^2}{\sum f_i}=25$</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Because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strictly, the value 0 is never attained, so </a:t>
                </a:r>
                <a14:m>
                  <m:oMath xmlns:m="http://schemas.openxmlformats.org/officeDocument/2006/math">
                    <m:r>
                      <a:rPr lang="en-IN" sz="2400" i="1">
                        <a:solidFill>
                          <a:srgbClr val="111827"/>
                        </a:solidFill>
                        <a:latin typeface="Cambria Math" panose="02040503050406030204" pitchFamily="18" charset="0"/>
                      </a:rPr>
                      <m:t>σ</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standard deviation of 6 is therefore impossible; 1, 2, 4 are all possible. Option (A).</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Because </a:t>
                </a:r>
                <a:r>
                  <a:rPr lang="en-IN" sz="2400">
                    <a:solidFill>
                      <a:srgbClr val="111827"/>
                    </a:solidFill>
                    <a:latin typeface="Cambria Math" panose="02040503050406030204" pitchFamily="18" charset="0"/>
                  </a:rPr>
                  <a:t>$x_1&gt;0$</a:t>
                </a:r>
                <a:r>
                  <a:rPr sz="2400" b="0">
                    <a:solidFill>
                      <a:srgbClr val="111827"/>
                    </a:solidFill>
                    <a:latin typeface="Arial"/>
                  </a:rPr>
                  <a:t> strictly, the value 0 is never attained, so </a:t>
                </a:r>
                <a:r>
                  <a:rPr lang="en-IN" sz="2400">
                    <a:solidFill>
                      <a:srgbClr val="111827"/>
                    </a:solidFill>
                    <a:latin typeface="Cambria Math" panose="02040503050406030204" pitchFamily="18" charset="0"/>
                  </a:rPr>
                  <a:t>$\sigma&lt;5$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standard deviation of 6 is therefore impossible; 1, 2, 4 are all possible. Option (A).</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6</a:t>
            </a:r>
            <a:endParaRPr sz="2800">
              <a:solidFill>
                <a:srgbClr val="15803D"/>
              </a:solidFill>
            </a:endParaRP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847344"/>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A direct inequality: </a:t>
                </a:r>
                <a14:m>
                  <m:oMath xmlns:m="http://schemas.openxmlformats.org/officeDocument/2006/math">
                    <m:sSup>
                      <m:e>
                        <m:r>
                          <a:rPr lang="en-IN" sz="2400" i="1">
                            <a:solidFill>
                              <a:srgbClr val="78350F"/>
                            </a:solidFill>
                            <a:latin typeface="Cambria Math" panose="02040503050406030204" pitchFamily="18" charset="0"/>
                          </a:rPr>
                          <m:t>σ</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𝑓</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5</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num>
                      <m:den>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𝑓</m:t>
                        </m:r>
                      </m:den>
                    </m:f>
                    <m:r>
                      <m:rPr>
                        <m:sty m:val="p"/>
                      </m:rPr>
                      <a:rPr lang="en-IN" sz="2400">
                        <a:solidFill>
                          <a:srgbClr val="78350F"/>
                        </a:solidFill>
                        <a:latin typeface="Cambria Math" panose="02040503050406030204" pitchFamily="18" charset="0"/>
                      </a:rPr>
                      <m:t>&lt;</m:t>
                    </m:r>
                    <m:r>
                      <a:rPr lang="en-IN" sz="2400" i="1">
                        <a:solidFill>
                          <a:srgbClr val="78350F"/>
                        </a:solidFill>
                        <a:latin typeface="Cambria Math" panose="02040503050406030204" pitchFamily="18" charset="0"/>
                      </a:rPr>
                      <m:t>25</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847344"/>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A direct inequality: </a:t>
                </a:r>
                <a:r>
                  <a:rPr lang="en-IN" sz="2400">
                    <a:solidFill>
                      <a:srgbClr val="78350F"/>
                    </a:solidFill>
                    <a:latin typeface="Cambria Math" panose="02040503050406030204" pitchFamily="18" charset="0"/>
                  </a:rPr>
                  <a:t>$\sigma^2\le\frac{\sum f(x-5)^2}{\sum f}&lt;25$</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264664"/>
                <a:ext cx="10725912" cy="352348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any number </a:t>
                </a:r>
                <a14:m>
                  <m:oMath xmlns:m="http://schemas.openxmlformats.org/officeDocument/2006/math">
                    <m:r>
                      <a:rPr lang="en-IN" sz="2400" i="1">
                        <a:solidFill>
                          <a:srgbClr val="111827"/>
                        </a:solidFill>
                        <a:latin typeface="Cambria Math" panose="02040503050406030204" pitchFamily="18" charset="0"/>
                      </a:rPr>
                      <m:t>𝑐</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Take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Every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gives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5</m:t>
                    </m:r>
                  </m:oMath>
                </a14:m>
                <a:r>
                  <a:rPr sz="2400" b="0">
                    <a:solidFill>
                      <a:srgbClr val="111827"/>
                    </a:solidFill>
                    <a:latin typeface="Arial"/>
                  </a:rPr>
                  <a:t>, hence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25</m:t>
                    </m:r>
                  </m:oMath>
                </a14:m>
                <a:r>
                  <a:rPr sz="2400" b="0">
                    <a:solidFill>
                      <a:srgbClr val="111827"/>
                    </a:solidFill>
                    <a:latin typeface="Arial"/>
                  </a:rPr>
                  <a:t> and so </a:t>
                </a:r>
                <a14:m>
                  <m:oMath xmlns:m="http://schemas.openxmlformats.org/officeDocument/2006/math">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25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Thus </a:t>
                </a:r>
                <a14:m>
                  <m:oMath xmlns:m="http://schemas.openxmlformats.org/officeDocument/2006/math">
                    <m:r>
                      <a:rPr lang="en-IN" sz="2400" i="1">
                        <a:solidFill>
                          <a:srgbClr val="111827"/>
                        </a:solidFill>
                        <a:latin typeface="Cambria Math" panose="02040503050406030204" pitchFamily="18" charset="0"/>
                      </a:rPr>
                      <m:t>σ</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5</m:t>
                    </m:r>
                  </m:oMath>
                </a14:m>
                <a:r>
                  <a:rPr sz="2400" b="0">
                    <a:solidFill>
                      <a:srgbClr val="111827"/>
                    </a:solidFill>
                    <a:latin typeface="Arial"/>
                  </a:rPr>
                  <a:t>; the value 6 cannot occur, the same answer.</a:t>
                </a:r>
                <a:endParaRPr sz="2400">
                  <a:solidFill>
                    <a:srgbClr val="111827"/>
                  </a:solidFill>
                </a:endParaRPr>
              </a:p>
            </p:txBody>
          </p:sp>
        </mc:Choice>
        <mc:Fallback>
          <p:sp>
            <p:nvSpPr>
              <p:cNvPr id="6" name="Rectangle 5"/>
              <p:cNvSpPr/>
              <p:nvPr/>
            </p:nvSpPr>
            <p:spPr>
              <a:xfrm>
                <a:off x="731520" y="2264664"/>
                <a:ext cx="10725912" cy="352348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any number </a:t>
                </a:r>
                <a:r>
                  <a:rPr lang="en-IN" sz="2400">
                    <a:solidFill>
                      <a:srgbClr val="111827"/>
                    </a:solidFill>
                    <a:latin typeface="Cambria Math" panose="02040503050406030204" pitchFamily="18" charset="0"/>
                  </a:rPr>
                  <a:t>$c$</a:t>
                </a:r>
                <a:r>
                  <a:rPr sz="2400" b="0">
                    <a:solidFill>
                      <a:srgbClr val="111827"/>
                    </a:solidFill>
                    <a:latin typeface="Arial"/>
                  </a:rPr>
                  <a:t>: </a:t>
                </a:r>
                <a:r>
                  <a:rPr lang="en-IN" sz="2400">
                    <a:solidFill>
                      <a:srgbClr val="111827"/>
                    </a:solidFill>
                    <a:latin typeface="Cambria Math" panose="02040503050406030204" pitchFamily="18" charset="0"/>
                  </a:rPr>
                  <a:t>$\sigma^2=\frac{\sum f(x-c)^2}{\sum f}-(\bar{x}-c)^2\le\frac{\sum f(x-c)^2}{\sum f}$</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Take </a:t>
                </a:r>
                <a:r>
                  <a:rPr lang="en-IN" sz="2400">
                    <a:solidFill>
                      <a:srgbClr val="111827"/>
                    </a:solidFill>
                    <a:latin typeface="Cambria Math" panose="02040503050406030204" pitchFamily="18" charset="0"/>
                  </a:rPr>
                  <a:t>$c=5$</a:t>
                </a:r>
                <a:r>
                  <a:rPr sz="2400" b="0">
                    <a:solidFill>
                      <a:srgbClr val="111827"/>
                    </a:solidFill>
                    <a:latin typeface="Arial"/>
                  </a:rPr>
                  <a:t>. Every </a:t>
                </a:r>
                <a:r>
                  <a:rPr lang="en-IN" sz="2400">
                    <a:solidFill>
                      <a:srgbClr val="111827"/>
                    </a:solidFill>
                    <a:latin typeface="Cambria Math" panose="02040503050406030204" pitchFamily="18" charset="0"/>
                  </a:rPr>
                  <a:t>$x\in(0,10]$</a:t>
                </a:r>
                <a:r>
                  <a:rPr sz="2400" b="0">
                    <a:solidFill>
                      <a:srgbClr val="111827"/>
                    </a:solidFill>
                    <a:latin typeface="Arial"/>
                  </a:rPr>
                  <a:t> gives </a:t>
                </a:r>
                <a:r>
                  <a:rPr lang="en-IN" sz="2400">
                    <a:solidFill>
                      <a:srgbClr val="111827"/>
                    </a:solidFill>
                    <a:latin typeface="Cambria Math" panose="02040503050406030204" pitchFamily="18" charset="0"/>
                  </a:rPr>
                  <a:t>$|x-5|&lt;5$</a:t>
                </a:r>
                <a:r>
                  <a:rPr sz="2400" b="0">
                    <a:solidFill>
                      <a:srgbClr val="111827"/>
                    </a:solidFill>
                    <a:latin typeface="Arial"/>
                  </a:rPr>
                  <a:t>, hence </a:t>
                </a:r>
                <a:r>
                  <a:rPr lang="en-IN" sz="2400">
                    <a:solidFill>
                      <a:srgbClr val="111827"/>
                    </a:solidFill>
                    <a:latin typeface="Cambria Math" panose="02040503050406030204" pitchFamily="18" charset="0"/>
                  </a:rPr>
                  <a:t>$(x-5)^2&lt;25$</a:t>
                </a:r>
                <a:r>
                  <a:rPr sz="2400" b="0">
                    <a:solidFill>
                      <a:srgbClr val="111827"/>
                    </a:solidFill>
                    <a:latin typeface="Arial"/>
                  </a:rPr>
                  <a:t> and so </a:t>
                </a:r>
                <a:r>
                  <a:rPr lang="en-IN" sz="2400">
                    <a:solidFill>
                      <a:srgbClr val="111827"/>
                    </a:solidFill>
                    <a:latin typeface="Cambria Math" panose="02040503050406030204" pitchFamily="18" charset="0"/>
                  </a:rPr>
                  <a:t>$\sigma^2&lt;25$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Thus </a:t>
                </a:r>
                <a:r>
                  <a:rPr lang="en-IN" sz="2400">
                    <a:solidFill>
                      <a:srgbClr val="111827"/>
                    </a:solidFill>
                    <a:latin typeface="Cambria Math" panose="02040503050406030204" pitchFamily="18" charset="0"/>
                  </a:rPr>
                  <a:t>$\sigma&lt;5$</a:t>
                </a:r>
                <a:r>
                  <a:rPr sz="2400" b="0">
                    <a:solidFill>
                      <a:srgbClr val="111827"/>
                    </a:solidFill>
                    <a:latin typeface="Arial"/>
                  </a:rPr>
                  <a:t>; the value 6 cannot occur, the same answer.</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6</a:t>
            </a:r>
            <a:endParaRPr sz="2800">
              <a:solidFill>
                <a:srgbClr val="15803D"/>
              </a:solidFill>
            </a:endParaRP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data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σ</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(Popoviciu), with equality only if the data sit at the two end values in equal proportion.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Also </a:t>
                </a:r>
                <a14:m>
                  <m:oMath xmlns:m="http://schemas.openxmlformats.org/officeDocument/2006/math">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den>
                    </m:f>
                  </m:oMath>
                </a14:m>
                <a:r>
                  <a:rPr sz="2400" b="0">
                    <a:solidFill>
                      <a:srgbClr val="111827"/>
                    </a:solidFill>
                    <a:latin typeface="Arial"/>
                  </a:rPr>
                  <a:t> for every </a:t>
                </a:r>
                <a14:m>
                  <m:oMath xmlns:m="http://schemas.openxmlformats.org/officeDocument/2006/math">
                    <m:r>
                      <a:rPr lang="en-IN" sz="2400" i="1">
                        <a:solidFill>
                          <a:srgbClr val="111827"/>
                        </a:solidFill>
                        <a:latin typeface="Cambria Math" panose="02040503050406030204" pitchFamily="18" charset="0"/>
                      </a:rPr>
                      <m:t>𝑐</m:t>
                    </m:r>
                  </m:oMath>
                </a14:m>
                <a:r>
                  <a:rPr sz="2400" b="0">
                    <a:solidFill>
                      <a:srgbClr val="111827"/>
                    </a:solidFill>
                    <a:latin typeface="Arial"/>
                  </a:rPr>
                  <a:t>; the mean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oMath>
                </a14:m>
                <a:r>
                  <a:rPr sz="2400" b="0">
                    <a:solidFill>
                      <a:srgbClr val="111827"/>
                    </a:solidFill>
                    <a:latin typeface="Arial"/>
                  </a:rPr>
                  <a:t> minimises the right side.</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data in </a:t>
                </a:r>
                <a:r>
                  <a:rPr lang="en-IN" sz="2400">
                    <a:solidFill>
                      <a:srgbClr val="111827"/>
                    </a:solidFill>
                    <a:latin typeface="Cambria Math" panose="02040503050406030204" pitchFamily="18" charset="0"/>
                  </a:rPr>
                  <a:t>$[m,M]$</a:t>
                </a:r>
                <a:r>
                  <a:rPr sz="2400" b="0">
                    <a:solidFill>
                      <a:srgbClr val="111827"/>
                    </a:solidFill>
                    <a:latin typeface="Arial"/>
                  </a:rPr>
                  <a:t>: </a:t>
                </a:r>
                <a:r>
                  <a:rPr lang="en-IN" sz="2400">
                    <a:solidFill>
                      <a:srgbClr val="111827"/>
                    </a:solidFill>
                    <a:latin typeface="Cambria Math" panose="02040503050406030204" pitchFamily="18" charset="0"/>
                  </a:rPr>
                  <a:t>$\sigma\le\frac{M-m}{2}$</a:t>
                </a:r>
                <a:r>
                  <a:rPr sz="2400" b="0">
                    <a:solidFill>
                      <a:srgbClr val="111827"/>
                    </a:solidFill>
                    <a:latin typeface="Arial"/>
                  </a:rPr>
                  <a:t> (Popoviciu), with equality only if the data sit at the two end values in equal proportion.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Also </a:t>
                </a:r>
                <a:r>
                  <a:rPr lang="en-IN" sz="2400">
                    <a:solidFill>
                      <a:srgbClr val="111827"/>
                    </a:solidFill>
                    <a:latin typeface="Cambria Math" panose="02040503050406030204" pitchFamily="18" charset="0"/>
                  </a:rPr>
                  <a:t>$\sigma^2\le\frac{\sum f(x-c)^2}{\sum f}$</a:t>
                </a:r>
                <a:r>
                  <a:rPr sz="2400" b="0">
                    <a:solidFill>
                      <a:srgbClr val="111827"/>
                    </a:solidFill>
                    <a:latin typeface="Arial"/>
                  </a:rPr>
                  <a:t> for every </a:t>
                </a:r>
                <a:r>
                  <a:rPr lang="en-IN" sz="2400">
                    <a:solidFill>
                      <a:srgbClr val="111827"/>
                    </a:solidFill>
                    <a:latin typeface="Cambria Math" panose="02040503050406030204" pitchFamily="18" charset="0"/>
                  </a:rPr>
                  <a:t>$c$</a:t>
                </a:r>
                <a:r>
                  <a:rPr sz="2400" b="0">
                    <a:solidFill>
                      <a:srgbClr val="111827"/>
                    </a:solidFill>
                    <a:latin typeface="Arial"/>
                  </a:rPr>
                  <a:t>; the mean </a:t>
                </a:r>
                <a:r>
                  <a:rPr lang="en-IN" sz="2400">
                    <a:solidFill>
                      <a:srgbClr val="111827"/>
                    </a:solidFill>
                    <a:latin typeface="Cambria Math" panose="02040503050406030204" pitchFamily="18" charset="0"/>
                  </a:rPr>
                  <a:t>$c=\bar{x}$</a:t>
                </a:r>
                <a:r>
                  <a:rPr sz="2400" b="0">
                    <a:solidFill>
                      <a:srgbClr val="111827"/>
                    </a:solidFill>
                    <a:latin typeface="Arial"/>
                  </a:rPr>
                  <a:t> minimises the right side.</a:t>
                </a:r>
                <a:endParaRPr sz="2400">
                  <a:solidFill>
                    <a:srgbClr val="111827"/>
                  </a:solidFill>
                </a:endParaRPr>
              </a:p>
            </p:txBody>
          </p:sp>
        </mc:Fallback>
      </mc:AlternateContent>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0347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be ten observations of a random variable </a:t>
                </a:r>
                <a14:m>
                  <m:oMath xmlns:m="http://schemas.openxmlformats.org/officeDocument/2006/math">
                    <m:r>
                      <a:rPr lang="en-IN" sz="2400" i="1">
                        <a:solidFill>
                          <a:srgbClr val="111827"/>
                        </a:solidFill>
                        <a:latin typeface="Cambria Math" panose="02040503050406030204" pitchFamily="18" charset="0"/>
                      </a:rPr>
                      <m:t>𝑋</m:t>
                    </m:r>
                  </m:oMath>
                </a14:m>
                <a:r>
                  <a:rPr sz="2400" b="0">
                    <a:solidFill>
                      <a:srgbClr val="111827"/>
                    </a:solidFill>
                    <a:latin typeface="Arial"/>
                  </a:rPr>
                  <a:t>. If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10</m:t>
                        </m:r>
                      </m:sup>
                      <m:e>
                        <m:r>
                          <m:rPr>
                            <m:sty m:val="p"/>
                          </m:rPr>
                          <a:rPr lang="en-IN" sz="2400">
                            <a:solidFill>
                              <a:srgbClr val="111827"/>
                            </a:solidFill>
                            <a:latin typeface="Cambria Math" panose="02040503050406030204" pitchFamily="18" charset="0"/>
                          </a:rPr>
                          <m:t>(</m:t>
                        </m:r>
                      </m:e>
                    </m:nary>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and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10</m:t>
                        </m:r>
                      </m:sup>
                      <m:e>
                        <m:r>
                          <m:rPr>
                            <m:sty m:val="p"/>
                          </m:rPr>
                          <a:rPr lang="en-IN" sz="2400">
                            <a:solidFill>
                              <a:srgbClr val="111827"/>
                            </a:solidFill>
                            <a:latin typeface="Cambria Math" panose="02040503050406030204" pitchFamily="18" charset="0"/>
                          </a:rPr>
                          <m:t>(</m:t>
                        </m:r>
                      </m:e>
                    </m:nary>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where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 then the standard deviation of these observations is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   (B)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   (C)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10</m:t>
                        </m:r>
                      </m:den>
                    </m:f>
                  </m:oMath>
                </a14:m>
                <a:r>
                  <a:rPr sz="2400" b="0">
                    <a:solidFill>
                      <a:srgbClr val="111827"/>
                    </a:solidFill>
                    <a:latin typeface="Arial"/>
                  </a:rPr>
                  <a:t>   (D)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10</m:t>
                        </m:r>
                      </m:den>
                    </m:f>
                  </m:oMath>
                </a14:m>
                <a:endParaRPr sz="2400">
                  <a:solidFill>
                    <a:srgbClr val="111827"/>
                  </a:solidFill>
                </a:endParaRPr>
              </a:p>
            </p:txBody>
          </p:sp>
        </mc:Choice>
        <mc:Fallback>
          <p:sp>
            <p:nvSpPr>
              <p:cNvPr id="4" name="Rounded Rectangle 3"/>
              <p:cNvSpPr/>
              <p:nvPr/>
            </p:nvSpPr>
            <p:spPr>
              <a:xfrm>
                <a:off x="731520" y="1280160"/>
                <a:ext cx="10725912" cy="30347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$x_i\ (1\le i\le10)$</a:t>
                </a:r>
                <a:r>
                  <a:rPr sz="2400" b="0">
                    <a:solidFill>
                      <a:srgbClr val="111827"/>
                    </a:solidFill>
                    <a:latin typeface="Arial"/>
                  </a:rPr>
                  <a:t> be ten observations of a random variable </a:t>
                </a:r>
                <a:r>
                  <a:rPr lang="en-IN" sz="2400">
                    <a:solidFill>
                      <a:srgbClr val="111827"/>
                    </a:solidFill>
                    <a:latin typeface="Cambria Math" panose="02040503050406030204" pitchFamily="18" charset="0"/>
                  </a:rPr>
                  <a:t>$X$</a:t>
                </a:r>
                <a:r>
                  <a:rPr sz="2400" b="0">
                    <a:solidFill>
                      <a:srgbClr val="111827"/>
                    </a:solidFill>
                    <a:latin typeface="Arial"/>
                  </a:rPr>
                  <a:t>. If </a:t>
                </a:r>
                <a:r>
                  <a:rPr lang="en-IN" sz="2400">
                    <a:solidFill>
                      <a:srgbClr val="111827"/>
                    </a:solidFill>
                    <a:latin typeface="Cambria Math" panose="02040503050406030204" pitchFamily="18" charset="0"/>
                  </a:rPr>
                  <a:t>$\sum_{i=1}^{10}(x_i-p)=3$</a:t>
                </a:r>
                <a:r>
                  <a:rPr sz="2400" b="0">
                    <a:solidFill>
                      <a:srgbClr val="111827"/>
                    </a:solidFill>
                    <a:latin typeface="Arial"/>
                  </a:rPr>
                  <a:t> and </a:t>
                </a:r>
                <a:r>
                  <a:rPr lang="en-IN" sz="2400">
                    <a:solidFill>
                      <a:srgbClr val="111827"/>
                    </a:solidFill>
                    <a:latin typeface="Cambria Math" panose="02040503050406030204" pitchFamily="18" charset="0"/>
                  </a:rPr>
                  <a:t>$\sum_{i=1}^{10}(x_i-p)^2=9$</a:t>
                </a:r>
                <a:r>
                  <a:rPr sz="2400" b="0">
                    <a:solidFill>
                      <a:srgbClr val="111827"/>
                    </a:solidFill>
                    <a:latin typeface="Arial"/>
                  </a:rPr>
                  <a:t> where </a:t>
                </a:r>
                <a:r>
                  <a:rPr lang="en-IN" sz="2400">
                    <a:solidFill>
                      <a:srgbClr val="111827"/>
                    </a:solidFill>
                    <a:latin typeface="Cambria Math" panose="02040503050406030204" pitchFamily="18" charset="0"/>
                  </a:rPr>
                  <a:t>$0\ne p\in\mathbb{R}$</a:t>
                </a:r>
                <a:r>
                  <a:rPr sz="2400" b="0">
                    <a:solidFill>
                      <a:srgbClr val="111827"/>
                    </a:solidFill>
                    <a:latin typeface="Arial"/>
                  </a:rPr>
                  <a:t>, then the standard deviation of these observations is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$\frac{3}{5}$</a:t>
                </a:r>
                <a:r>
                  <a:rPr sz="2400" b="0">
                    <a:solidFill>
                      <a:srgbClr val="111827"/>
                    </a:solidFill>
                    <a:latin typeface="Arial"/>
                  </a:rPr>
                  <a:t>   (B) </a:t>
                </a:r>
                <a:r>
                  <a:rPr lang="en-IN" sz="2400">
                    <a:solidFill>
                      <a:srgbClr val="111827"/>
                    </a:solidFill>
                    <a:latin typeface="Cambria Math" panose="02040503050406030204" pitchFamily="18" charset="0"/>
                  </a:rPr>
                  <a:t>$\frac{4}{5}$</a:t>
                </a:r>
                <a:r>
                  <a:rPr sz="2400" b="0">
                    <a:solidFill>
                      <a:srgbClr val="111827"/>
                    </a:solidFill>
                    <a:latin typeface="Arial"/>
                  </a:rPr>
                  <a:t>   (C) </a:t>
                </a:r>
                <a:r>
                  <a:rPr lang="en-IN" sz="2400">
                    <a:solidFill>
                      <a:srgbClr val="111827"/>
                    </a:solidFill>
                    <a:latin typeface="Cambria Math" panose="02040503050406030204" pitchFamily="18" charset="0"/>
                  </a:rPr>
                  <a:t>$\frac{9}{10}$</a:t>
                </a:r>
                <a:r>
                  <a:rPr sz="2400" b="0">
                    <a:solidFill>
                      <a:srgbClr val="111827"/>
                    </a:solidFill>
                    <a:latin typeface="Arial"/>
                  </a:rPr>
                  <a:t>   (D) </a:t>
                </a:r>
                <a:r>
                  <a:rPr lang="en-IN" sz="2400">
                    <a:solidFill>
                      <a:srgbClr val="111827"/>
                    </a:solidFill>
                    <a:latin typeface="Cambria Math" panose="02040503050406030204" pitchFamily="18" charset="0"/>
                  </a:rPr>
                  <a:t>$\frac{7}{10}$</a:t>
                </a:r>
                <a:endParaRPr sz="2400">
                  <a:solidFill>
                    <a:srgbClr val="111827"/>
                  </a:solidFill>
                </a:endParaRPr>
              </a:p>
            </p:txBody>
          </p:sp>
        </mc:Fallback>
      </mc:AlternateContent>
      <p:sp>
        <p:nvSpPr>
          <p:cNvPr id="5" name="Rectangle 4"/>
          <p:cNvSpPr/>
          <p:nvPr/>
        </p:nvSpPr>
        <p:spPr>
          <a:xfrm>
            <a:off x="731520" y="4543552"/>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Standard deviation from sums about a point</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s.d. is unaffected by the shift </a:t>
                </a:r>
                <a14:m>
                  <m:oMath xmlns:m="http://schemas.openxmlformats.org/officeDocument/2006/math">
                    <m:r>
                      <a:rPr lang="en-IN" sz="2400" i="1">
                        <a:solidFill>
                          <a:srgbClr val="78350F"/>
                        </a:solidFill>
                        <a:latin typeface="Cambria Math" panose="02040503050406030204" pitchFamily="18" charset="0"/>
                      </a:rPr>
                      <m:t>𝑝</m:t>
                    </m:r>
                  </m:oMath>
                </a14:m>
                <a:r>
                  <a:rPr sz="2400" b="0">
                    <a:solidFill>
                      <a:srgbClr val="78350F"/>
                    </a:solidFill>
                    <a:latin typeface="Arial"/>
                  </a:rPr>
                  <a:t>, so work with </a:t>
                </a:r>
                <a14:m>
                  <m:oMath xmlns:m="http://schemas.openxmlformats.org/officeDocument/2006/math">
                    <m:sSub>
                      <m:e>
                        <m:r>
                          <a:rPr lang="en-IN" sz="2400" i="1">
                            <a:solidFill>
                              <a:srgbClr val="78350F"/>
                            </a:solidFill>
                            <a:latin typeface="Cambria Math" panose="02040503050406030204" pitchFamily="18" charset="0"/>
                          </a:rPr>
                          <m:t>𝑦</m:t>
                        </m:r>
                      </m:e>
                      <m:sub>
                        <m:r>
                          <a:rPr lang="en-IN" sz="2400" i="1">
                            <a:solidFill>
                              <a:srgbClr val="78350F"/>
                            </a:solidFill>
                            <a:latin typeface="Cambria Math" panose="02040503050406030204" pitchFamily="18" charset="0"/>
                          </a:rPr>
                          <m:t>𝑖</m:t>
                        </m:r>
                      </m:sub>
                    </m:sSub>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𝑥</m:t>
                        </m:r>
                      </m:e>
                      <m:sub>
                        <m:r>
                          <a:rPr lang="en-IN" sz="2400" i="1">
                            <a:solidFill>
                              <a:srgbClr val="78350F"/>
                            </a:solidFill>
                            <a:latin typeface="Cambria Math" panose="02040503050406030204" pitchFamily="18" charset="0"/>
                          </a:rPr>
                          <m:t>𝑖</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𝑝</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s.d. is unaffected by the shift </a:t>
                </a:r>
                <a:r>
                  <a:rPr lang="en-IN" sz="2400">
                    <a:solidFill>
                      <a:srgbClr val="78350F"/>
                    </a:solidFill>
                    <a:latin typeface="Cambria Math" panose="02040503050406030204" pitchFamily="18" charset="0"/>
                  </a:rPr>
                  <a:t>$p$</a:t>
                </a:r>
                <a:r>
                  <a:rPr sz="2400" b="0">
                    <a:solidFill>
                      <a:srgbClr val="78350F"/>
                    </a:solidFill>
                    <a:latin typeface="Arial"/>
                  </a:rPr>
                  <a:t>, so work with </a:t>
                </a:r>
                <a:r>
                  <a:rPr lang="en-IN" sz="2400">
                    <a:solidFill>
                      <a:srgbClr val="78350F"/>
                    </a:solidFill>
                    <a:latin typeface="Cambria Math" panose="02040503050406030204" pitchFamily="18" charset="0"/>
                  </a:rPr>
                  <a:t>$y_i=x_i-p$</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Adding or subtracting the same number from all data leaves the s.d. unchanged, so use </a:t>
                </a:r>
                <a14:m>
                  <m:oMath xmlns:m="http://schemas.openxmlformats.org/officeDocument/2006/math">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𝑛</m:t>
                        </m:r>
                      </m:den>
                    </m:f>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𝑖</m:t>
                                    </m:r>
                                  </m:sub>
                                </m:sSub>
                              </m:num>
                              <m:den>
                                <m:r>
                                  <a:rPr lang="en-IN" sz="2400" i="1">
                                    <a:solidFill>
                                      <a:srgbClr val="111827"/>
                                    </a:solidFill>
                                    <a:latin typeface="Cambria Math" panose="02040503050406030204" pitchFamily="18" charset="0"/>
                                  </a:rPr>
                                  <m:t>𝑛</m:t>
                                </m:r>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10</m:t>
                        </m:r>
                      </m:den>
                    </m:f>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10</m:t>
                                </m:r>
                              </m:den>
                            </m:f>
                          </m:e>
                        </m:d>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100</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81</m:t>
                        </m:r>
                      </m:num>
                      <m:den>
                        <m:r>
                          <a:rPr lang="en-IN" sz="2400" i="1">
                            <a:solidFill>
                              <a:srgbClr val="111827"/>
                            </a:solidFill>
                            <a:latin typeface="Cambria Math" panose="02040503050406030204" pitchFamily="18" charset="0"/>
                          </a:rPr>
                          <m:t>100</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σ</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10</m:t>
                        </m:r>
                      </m:den>
                    </m:f>
                  </m:oMath>
                </a14:m>
                <a:r>
                  <a:rPr sz="2400" b="0">
                    <a:solidFill>
                      <a:srgbClr val="111827"/>
                    </a:solidFill>
                    <a:latin typeface="Arial"/>
                  </a:rPr>
                  <a:t>, option (C).</a:t>
                </a:r>
                <a:endParaRPr sz="2400">
                  <a:solidFill>
                    <a:srgbClr val="111827"/>
                  </a:solidFill>
                </a:endParaRPr>
              </a:p>
            </p:txBody>
          </p:sp>
        </mc:Choice>
        <mc:Fallback>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Adding or subtracting the same number from all data leaves the s.d. unchanged, so use </a:t>
                </a:r>
                <a:r>
                  <a:rPr lang="en-IN" sz="2400">
                    <a:solidFill>
                      <a:srgbClr val="111827"/>
                    </a:solidFill>
                    <a:latin typeface="Cambria Math" panose="02040503050406030204" pitchFamily="18" charset="0"/>
                  </a:rPr>
                  <a:t>$y_i=x_i-p$</a:t>
                </a:r>
                <a:r>
                  <a:rPr sz="2400" b="0">
                    <a:solidFill>
                      <a:srgbClr val="111827"/>
                    </a:solidFill>
                    <a:latin typeface="Arial"/>
                  </a:rPr>
                  <a:t>: </a:t>
                </a:r>
                <a:r>
                  <a:rPr lang="en-IN" sz="2400">
                    <a:solidFill>
                      <a:srgbClr val="111827"/>
                    </a:solidFill>
                    <a:latin typeface="Cambria Math" panose="02040503050406030204" pitchFamily="18" charset="0"/>
                  </a:rPr>
                  <a:t>$\sum y_i=3$</a:t>
                </a:r>
                <a:r>
                  <a:rPr sz="2400" b="0">
                    <a:solidFill>
                      <a:srgbClr val="111827"/>
                    </a:solidFill>
                    <a:latin typeface="Arial"/>
                  </a:rPr>
                  <a:t>, </a:t>
                </a:r>
                <a:r>
                  <a:rPr lang="en-IN" sz="2400">
                    <a:solidFill>
                      <a:srgbClr val="111827"/>
                    </a:solidFill>
                    <a:latin typeface="Cambria Math" panose="02040503050406030204" pitchFamily="18" charset="0"/>
                  </a:rPr>
                  <a:t>$\sum y_i^2=9$</a:t>
                </a:r>
                <a:r>
                  <a:rPr sz="2400" b="0">
                    <a:solidFill>
                      <a:srgbClr val="111827"/>
                    </a:solidFill>
                    <a:latin typeface="Arial"/>
                  </a:rPr>
                  <a:t>, </a:t>
                </a:r>
                <a:r>
                  <a:rPr lang="en-IN" sz="2400">
                    <a:solidFill>
                      <a:srgbClr val="111827"/>
                    </a:solidFill>
                    <a:latin typeface="Cambria Math" panose="02040503050406030204" pitchFamily="18" charset="0"/>
                  </a:rPr>
                  <a:t>$n=10$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$\sigma^2=\frac{1}{n}\sum y_i^2-\left(\frac{\sum y_i}{n}\right)^2=\frac{9}{10}-\left(\frac{3}{10}\right)^2$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$\sigma^2=\frac{90-9}{100}=\frac{81}{100}$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$\sigma=\frac{9}{10}$</a:t>
                </a:r>
                <a:r>
                  <a:rPr sz="2400" b="0">
                    <a:solidFill>
                      <a:srgbClr val="111827"/>
                    </a:solidFill>
                    <a:latin typeface="Arial"/>
                  </a:rPr>
                  <a:t>, option (C).</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9</m:t>
                        </m:r>
                      </m:num>
                      <m:den>
                        <m:r>
                          <a:rPr lang="en-IN" sz="2800" i="1">
                            <a:solidFill>
                              <a:srgbClr val="15803D"/>
                            </a:solidFill>
                            <a:latin typeface="Cambria Math" panose="02040503050406030204" pitchFamily="18" charset="0"/>
                          </a:rPr>
                          <m:t>10</m:t>
                        </m:r>
                      </m:den>
                    </m:f>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r>
                  <a:rPr lang="en-IN" sz="2800">
                    <a:solidFill>
                      <a:srgbClr val="15803D"/>
                    </a:solidFill>
                    <a:latin typeface="Cambria Math" panose="02040503050406030204" pitchFamily="18" charset="0"/>
                  </a:rPr>
                  <a:t>$\frac{9}{10}$</a:t>
                </a:r>
                <a:endParaRPr sz="2800">
                  <a:solidFill>
                    <a:srgbClr val="15803D"/>
                  </a:solidFill>
                </a:endParaRPr>
              </a:p>
            </p:txBody>
          </p:sp>
        </mc:Fallback>
      </mc:AlternateContent>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then </a:t>
                </a:r>
                <a14:m>
                  <m:oMath xmlns:m="http://schemas.openxmlformats.org/officeDocument/2006/math">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2</m:t>
                            </m:r>
                          </m:sub>
                        </m:sSub>
                      </m:num>
                      <m:den>
                        <m:r>
                          <a:rPr lang="en-IN" sz="2400" i="1">
                            <a:solidFill>
                              <a:srgbClr val="111827"/>
                            </a:solidFill>
                            <a:latin typeface="Cambria Math" panose="02040503050406030204" pitchFamily="18" charset="0"/>
                          </a:rPr>
                          <m:t>𝑛</m:t>
                        </m:r>
                      </m:den>
                    </m:f>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1</m:t>
                                    </m:r>
                                  </m:sub>
                                </m:sSub>
                              </m:num>
                              <m:den>
                                <m:r>
                                  <a:rPr lang="en-IN" sz="2400" i="1">
                                    <a:solidFill>
                                      <a:srgbClr val="111827"/>
                                    </a:solidFill>
                                    <a:latin typeface="Cambria Math" panose="02040503050406030204" pitchFamily="18" charset="0"/>
                                  </a:rPr>
                                  <m:t>𝑛</m:t>
                                </m:r>
                              </m:den>
                            </m:f>
                          </m:e>
                        </m:d>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whatever </a:t>
                </a:r>
                <a14:m>
                  <m:oMath xmlns:m="http://schemas.openxmlformats.org/officeDocument/2006/math">
                    <m:r>
                      <a:rPr lang="en-IN" sz="2400" i="1">
                        <a:solidFill>
                          <a:srgbClr val="111827"/>
                        </a:solidFill>
                        <a:latin typeface="Cambria Math" panose="02040503050406030204" pitchFamily="18" charset="0"/>
                      </a:rPr>
                      <m:t>𝑝</m:t>
                    </m:r>
                  </m:oMath>
                </a14:m>
                <a:r>
                  <a:rPr sz="2400" b="0">
                    <a:solidFill>
                      <a:srgbClr val="111827"/>
                    </a:solidFill>
                    <a:latin typeface="Arial"/>
                  </a:rPr>
                  <a:t> is.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condition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is a distractor: the shift point plays no role in the variance.</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$\sum(x_i-p)=S_1$</a:t>
                </a:r>
                <a:r>
                  <a:rPr sz="2400" b="0">
                    <a:solidFill>
                      <a:srgbClr val="111827"/>
                    </a:solidFill>
                    <a:latin typeface="Arial"/>
                  </a:rPr>
                  <a:t> and </a:t>
                </a:r>
                <a:r>
                  <a:rPr lang="en-IN" sz="2400">
                    <a:solidFill>
                      <a:srgbClr val="111827"/>
                    </a:solidFill>
                    <a:latin typeface="Cambria Math" panose="02040503050406030204" pitchFamily="18" charset="0"/>
                  </a:rPr>
                  <a:t>$\sum(x_i-p)^2=S_2$</a:t>
                </a:r>
                <a:r>
                  <a:rPr sz="2400" b="0">
                    <a:solidFill>
                      <a:srgbClr val="111827"/>
                    </a:solidFill>
                    <a:latin typeface="Arial"/>
                  </a:rPr>
                  <a:t>, then </a:t>
                </a:r>
                <a:r>
                  <a:rPr lang="en-IN" sz="2400">
                    <a:solidFill>
                      <a:srgbClr val="111827"/>
                    </a:solidFill>
                    <a:latin typeface="Cambria Math" panose="02040503050406030204" pitchFamily="18" charset="0"/>
                  </a:rPr>
                  <a:t>$\sigma^2=\frac{S_2}{n}-\left(\frac{S_1}{n}\right)^2$</a:t>
                </a:r>
                <a:r>
                  <a:rPr sz="2400" b="0">
                    <a:solidFill>
                      <a:srgbClr val="111827"/>
                    </a:solidFill>
                    <a:latin typeface="Arial"/>
                  </a:rPr>
                  <a:t> whatever </a:t>
                </a:r>
                <a:r>
                  <a:rPr lang="en-IN" sz="2400">
                    <a:solidFill>
                      <a:srgbClr val="111827"/>
                    </a:solidFill>
                    <a:latin typeface="Cambria Math" panose="02040503050406030204" pitchFamily="18" charset="0"/>
                  </a:rPr>
                  <a:t>$p$</a:t>
                </a:r>
                <a:r>
                  <a:rPr sz="2400" b="0">
                    <a:solidFill>
                      <a:srgbClr val="111827"/>
                    </a:solidFill>
                    <a:latin typeface="Arial"/>
                  </a:rPr>
                  <a:t> is.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condition </a:t>
                </a:r>
                <a:r>
                  <a:rPr lang="en-IN" sz="2400">
                    <a:solidFill>
                      <a:srgbClr val="111827"/>
                    </a:solidFill>
                    <a:latin typeface="Cambria Math" panose="02040503050406030204" pitchFamily="18" charset="0"/>
                  </a:rPr>
                  <a:t>$p\ne0$</a:t>
                </a:r>
                <a:r>
                  <a:rPr sz="2400" b="0">
                    <a:solidFill>
                      <a:srgbClr val="111827"/>
                    </a:solidFill>
                    <a:latin typeface="Arial"/>
                  </a:rPr>
                  <a:t> is a distractor: the shift point plays no role in the variance.</a:t>
                </a:r>
                <a:endParaRPr sz="2400">
                  <a:solidFill>
                    <a:srgbClr val="111827"/>
                  </a:solidFill>
                </a:endParaRPr>
              </a:p>
            </p:txBody>
          </p:sp>
        </mc:Fallback>
      </mc:AlternateContent>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mean and variance of 8 observations are 10 and </a:t>
                </a:r>
                <a14:m>
                  <m:oMath xmlns:m="http://schemas.openxmlformats.org/officeDocument/2006/math">
                    <m:r>
                      <a:rPr lang="en-IN" sz="2400" i="1">
                        <a:solidFill>
                          <a:srgbClr val="111827"/>
                        </a:solidFill>
                        <a:latin typeface="Cambria Math" panose="02040503050406030204" pitchFamily="18" charset="0"/>
                      </a:rPr>
                      <m:t>13.5</m:t>
                    </m:r>
                  </m:oMath>
                </a14:m>
                <a:r>
                  <a:rPr sz="2400" b="0">
                    <a:solidFill>
                      <a:srgbClr val="111827"/>
                    </a:solidFill>
                    <a:latin typeface="Arial"/>
                  </a:rPr>
                  <a:t>, respectively. If 6 of these observations are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then the absolute difference of the remaining two observations is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5   (B) 9   (C) 3   (D) 7</a:t>
                </a:r>
                <a:endParaRPr sz="2400">
                  <a:solidFill>
                    <a:srgbClr val="111827"/>
                  </a:solidFill>
                </a:endParaRPr>
              </a:p>
            </p:txBody>
          </p:sp>
        </mc:Choice>
        <mc:Fallback>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mean and variance of 8 observations are 10 and </a:t>
                </a:r>
                <a:r>
                  <a:rPr lang="en-IN" sz="2400">
                    <a:solidFill>
                      <a:srgbClr val="111827"/>
                    </a:solidFill>
                    <a:latin typeface="Cambria Math" panose="02040503050406030204" pitchFamily="18" charset="0"/>
                  </a:rPr>
                  <a:t>$13.5$</a:t>
                </a:r>
                <a:r>
                  <a:rPr sz="2400" b="0">
                    <a:solidFill>
                      <a:srgbClr val="111827"/>
                    </a:solidFill>
                    <a:latin typeface="Arial"/>
                  </a:rPr>
                  <a:t>, respectively. If 6 of these observations are </a:t>
                </a:r>
                <a:r>
                  <a:rPr lang="en-IN" sz="2400">
                    <a:solidFill>
                      <a:srgbClr val="111827"/>
                    </a:solidFill>
                    <a:latin typeface="Cambria Math" panose="02040503050406030204" pitchFamily="18" charset="0"/>
                  </a:rPr>
                  <a:t>$5,7,10,12,14,15$</a:t>
                </a:r>
                <a:r>
                  <a:rPr sz="2400" b="0">
                    <a:solidFill>
                      <a:srgbClr val="111827"/>
                    </a:solidFill>
                    <a:latin typeface="Arial"/>
                  </a:rPr>
                  <a:t>, then the absolute difference of the remaining two observations is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5   (B) 9   (C) 3   (D) 7</a:t>
                </a:r>
                <a:endParaRPr sz="2400">
                  <a:solidFill>
                    <a:srgbClr val="111827"/>
                  </a:solidFill>
                </a:endParaRPr>
              </a:p>
            </p:txBody>
          </p:sp>
        </mc:Fallback>
      </mc:AlternateContent>
      <p:sp>
        <p:nvSpPr>
          <p:cNvPr id="5" name="Rectangle 4"/>
          <p:cNvSpPr/>
          <p:nvPr/>
        </p:nvSpPr>
        <p:spPr>
          <a:xfrm>
            <a:off x="731520" y="3580383"/>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Finding two missing observations from mean and variance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Mean gives </a:t>
                </a:r>
                <a14:m>
                  <m:oMath xmlns:m="http://schemas.openxmlformats.org/officeDocument/2006/math">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oMath>
                </a14:m>
                <a:r>
                  <a:rPr sz="2400" b="0">
                    <a:solidFill>
                      <a:srgbClr val="78350F"/>
                    </a:solidFill>
                    <a:latin typeface="Arial"/>
                  </a:rPr>
                  <a:t>, variance gives </a:t>
                </a:r>
                <a14:m>
                  <m:oMath xmlns:m="http://schemas.openxmlformats.org/officeDocument/2006/math">
                    <m:sSup>
                      <m:e>
                        <m:r>
                          <a:rPr lang="en-IN" sz="2400" i="1">
                            <a:solidFill>
                              <a:srgbClr val="78350F"/>
                            </a:solidFill>
                            <a:latin typeface="Cambria Math" panose="02040503050406030204" pitchFamily="18" charset="0"/>
                          </a:rPr>
                          <m:t>𝑎</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𝑏</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then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𝑎</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𝑏</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Mean gives </a:t>
                </a:r>
                <a:r>
                  <a:rPr lang="en-IN" sz="2400">
                    <a:solidFill>
                      <a:srgbClr val="78350F"/>
                    </a:solidFill>
                    <a:latin typeface="Cambria Math" panose="02040503050406030204" pitchFamily="18" charset="0"/>
                  </a:rPr>
                  <a:t>$a+b$</a:t>
                </a:r>
                <a:r>
                  <a:rPr sz="2400" b="0">
                    <a:solidFill>
                      <a:srgbClr val="78350F"/>
                    </a:solidFill>
                    <a:latin typeface="Arial"/>
                  </a:rPr>
                  <a:t>, variance gives </a:t>
                </a:r>
                <a:r>
                  <a:rPr lang="en-IN" sz="2400">
                    <a:solidFill>
                      <a:srgbClr val="78350F"/>
                    </a:solidFill>
                    <a:latin typeface="Cambria Math" panose="02040503050406030204" pitchFamily="18" charset="0"/>
                  </a:rPr>
                  <a:t>$a^2+b^2$</a:t>
                </a:r>
                <a:r>
                  <a:rPr sz="2400" b="0">
                    <a:solidFill>
                      <a:srgbClr val="78350F"/>
                    </a:solidFill>
                    <a:latin typeface="Arial"/>
                  </a:rPr>
                  <a:t>, then </a:t>
                </a:r>
                <a:r>
                  <a:rPr lang="en-IN" sz="2400">
                    <a:solidFill>
                      <a:srgbClr val="78350F"/>
                    </a:solidFill>
                    <a:latin typeface="Cambria Math" panose="02040503050406030204" pitchFamily="18" charset="0"/>
                  </a:rPr>
                  <a:t>$(a-b)^2=2(a^2+b^2)-(a+b)^2$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remaining observations be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𝑏</m:t>
                    </m:r>
                  </m:oMath>
                </a14:m>
                <a:r>
                  <a:rPr sz="2400" b="0">
                    <a:solidFill>
                      <a:srgbClr val="111827"/>
                    </a:solidFill>
                    <a:latin typeface="Arial"/>
                  </a:rPr>
                  <a:t>. Mean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63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oMath>
                </a14:m>
                <a:r>
                  <a:rPr sz="2400" b="0">
                    <a:solidFill>
                      <a:srgbClr val="111827"/>
                    </a:solidFill>
                    <a:latin typeface="Arial"/>
                  </a:rPr>
                  <a:t> ... (I).</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Variance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2</m:t>
                            </m:r>
                          </m:sup>
                        </m:sSubSup>
                      </m:num>
                      <m:den>
                        <m:r>
                          <a:rPr lang="en-IN" sz="2400" i="1">
                            <a:solidFill>
                              <a:srgbClr val="111827"/>
                            </a:solidFill>
                            <a:latin typeface="Cambria Math" panose="02040503050406030204" pitchFamily="18" charset="0"/>
                          </a:rPr>
                          <m:t>8</m:t>
                        </m:r>
                      </m:den>
                    </m:f>
                    <m:r>
                      <m:rPr>
                        <m:sty m:val="p"/>
                      </m:rPr>
                      <a:rPr lang="en-IN" sz="2400">
                        <a:solidFill>
                          <a:srgbClr val="111827"/>
                        </a:solidFill>
                        <a:latin typeface="Cambria Math" panose="02040503050406030204" pitchFamily="18" charset="0"/>
                      </a:rPr>
                      <m:t>−</m:t>
                    </m:r>
                    <m:sSup>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13.5</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908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7</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10</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12</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14</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15</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739</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908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739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169</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remaining observations be </a:t>
                </a:r>
                <a:r>
                  <a:rPr lang="en-IN" sz="2400">
                    <a:solidFill>
                      <a:srgbClr val="111827"/>
                    </a:solidFill>
                    <a:latin typeface="Cambria Math" panose="02040503050406030204" pitchFamily="18" charset="0"/>
                  </a:rPr>
                  <a:t>$a$</a:t>
                </a:r>
                <a:r>
                  <a:rPr sz="2400" b="0">
                    <a:solidFill>
                      <a:srgbClr val="111827"/>
                    </a:solidFill>
                    <a:latin typeface="Arial"/>
                  </a:rPr>
                  <a:t> and </a:t>
                </a:r>
                <a:r>
                  <a:rPr lang="en-IN" sz="2400">
                    <a:solidFill>
                      <a:srgbClr val="111827"/>
                    </a:solidFill>
                    <a:latin typeface="Cambria Math" panose="02040503050406030204" pitchFamily="18" charset="0"/>
                  </a:rPr>
                  <a:t>$b$</a:t>
                </a:r>
                <a:r>
                  <a:rPr sz="2400" b="0">
                    <a:solidFill>
                      <a:srgbClr val="111827"/>
                    </a:solidFill>
                    <a:latin typeface="Arial"/>
                  </a:rPr>
                  <a:t>. Mean </a:t>
                </a:r>
                <a:r>
                  <a:rPr lang="en-IN" sz="2400">
                    <a:solidFill>
                      <a:srgbClr val="111827"/>
                    </a:solidFill>
                    <a:latin typeface="Cambria Math" panose="02040503050406030204" pitchFamily="18" charset="0"/>
                  </a:rPr>
                  <a:t>$=10$</a:t>
                </a:r>
                <a:r>
                  <a:rPr sz="2400" b="0">
                    <a:solidFill>
                      <a:srgbClr val="111827"/>
                    </a:solidFill>
                    <a:latin typeface="Arial"/>
                  </a:rPr>
                  <a:t>: </a:t>
                </a:r>
                <a:r>
                  <a:rPr lang="en-IN" sz="2400">
                    <a:solidFill>
                      <a:srgbClr val="111827"/>
                    </a:solidFill>
                    <a:latin typeface="Cambria Math" panose="02040503050406030204" pitchFamily="18" charset="0"/>
                  </a:rPr>
                  <a:t>$63+a+b=80$</a:t>
                </a:r>
                <a:r>
                  <a:rPr sz="2400" b="0">
                    <a:solidFill>
                      <a:srgbClr val="111827"/>
                    </a:solidFill>
                    <a:latin typeface="Arial"/>
                  </a:rPr>
                  <a:t>, so </a:t>
                </a:r>
                <a:r>
                  <a:rPr lang="en-IN" sz="2400">
                    <a:solidFill>
                      <a:srgbClr val="111827"/>
                    </a:solidFill>
                    <a:latin typeface="Cambria Math" panose="02040503050406030204" pitchFamily="18" charset="0"/>
                  </a:rPr>
                  <a:t>$a+b=17$</a:t>
                </a:r>
                <a:r>
                  <a:rPr sz="2400" b="0">
                    <a:solidFill>
                      <a:srgbClr val="111827"/>
                    </a:solidFill>
                    <a:latin typeface="Arial"/>
                  </a:rPr>
                  <a:t> ... (I).</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Variance </a:t>
                </a:r>
                <a:r>
                  <a:rPr lang="en-IN" sz="2400">
                    <a:solidFill>
                      <a:srgbClr val="111827"/>
                    </a:solidFill>
                    <a:latin typeface="Cambria Math" panose="02040503050406030204" pitchFamily="18" charset="0"/>
                  </a:rPr>
                  <a:t>$=\frac{\sum x_i^2}{8}-\bar{x}^2=13.5$</a:t>
                </a:r>
                <a:r>
                  <a:rPr sz="2400" b="0">
                    <a:solidFill>
                      <a:srgbClr val="111827"/>
                    </a:solidFill>
                    <a:latin typeface="Arial"/>
                  </a:rPr>
                  <a:t>, so </a:t>
                </a:r>
                <a:r>
                  <a:rPr lang="en-IN" sz="2400">
                    <a:solidFill>
                      <a:srgbClr val="111827"/>
                    </a:solidFill>
                    <a:latin typeface="Cambria Math" panose="02040503050406030204" pitchFamily="18" charset="0"/>
                  </a:rPr>
                  <a:t>$\sum x_i^2=8(13.5+100)=908$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$5^2+7^2+10^2+12^2+14^2+15^2=739$</a:t>
                </a:r>
                <a:r>
                  <a:rPr sz="2400" b="0">
                    <a:solidFill>
                      <a:srgbClr val="111827"/>
                    </a:solidFill>
                    <a:latin typeface="Arial"/>
                  </a:rPr>
                  <a:t>, so </a:t>
                </a:r>
                <a:r>
                  <a:rPr lang="en-IN" sz="2400">
                    <a:solidFill>
                      <a:srgbClr val="111827"/>
                    </a:solidFill>
                    <a:latin typeface="Cambria Math" panose="02040503050406030204" pitchFamily="18" charset="0"/>
                  </a:rPr>
                  <a:t>$a^2+b^2=908-739=169$</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49</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option (D).</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$2ab=(a+b)^2-(a^2+b^2)=289-169=120$</a:t>
                </a:r>
                <a:r>
                  <a:rPr sz="2400" b="0">
                    <a:solidFill>
                      <a:srgbClr val="111827"/>
                    </a:solidFill>
                    <a:latin typeface="Arial"/>
                  </a:rPr>
                  <a:t>, so </a:t>
                </a:r>
                <a:r>
                  <a:rPr lang="en-IN" sz="2400">
                    <a:solidFill>
                      <a:srgbClr val="111827"/>
                    </a:solidFill>
                    <a:latin typeface="Cambria Math" panose="02040503050406030204" pitchFamily="18" charset="0"/>
                  </a:rPr>
                  <a:t>$ab=60$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$(a-b)^2=(a+b)^2-4ab=289-240=49$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$|a-b|=7$</a:t>
                </a:r>
                <a:r>
                  <a:rPr sz="2400" b="0">
                    <a:solidFill>
                      <a:srgbClr val="111827"/>
                    </a:solidFill>
                    <a:latin typeface="Arial"/>
                  </a:rPr>
                  <a:t>, option (D).</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7</a:t>
            </a:r>
            <a:endParaRPr sz="2800">
              <a:solidFill>
                <a:srgbClr val="15803D"/>
              </a:solidFill>
            </a:endParaRP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p:sp>
        <p:nvSpPr>
          <p:cNvPr id="5" name="Rounded Rectangle 4"/>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Deviations from the mean 10 keep the numbers small.</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Deviations of the six given values: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with sum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so the other two deviations satisfy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108</m:t>
                    </m:r>
                  </m:oMath>
                </a14:m>
                <a:r>
                  <a:rPr sz="2400" b="0">
                    <a:solidFill>
                      <a:srgbClr val="111827"/>
                    </a:solidFill>
                    <a:latin typeface="Arial"/>
                  </a:rPr>
                  <a:t>; the given ones contribute </a:t>
                </a:r>
                <a14:m>
                  <m:oMath xmlns:m="http://schemas.openxmlformats.org/officeDocument/2006/math">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79</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𝑢</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𝑣</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29</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𝑣</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𝑢</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𝑣</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𝑣</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49</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the same answer.</a:t>
                </a:r>
                <a:endParaRPr sz="2400">
                  <a:solidFill>
                    <a:srgbClr val="111827"/>
                  </a:solidFill>
                </a:endParaRPr>
              </a:p>
            </p:txBody>
          </p:sp>
        </mc:Choice>
        <mc:Fallback>
          <p:sp>
            <p:nvSpPr>
              <p:cNvPr id="6" name="Rectangle 5"/>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Deviations of the six given values: </a:t>
                </a:r>
                <a:r>
                  <a:rPr lang="en-IN" sz="2400">
                    <a:solidFill>
                      <a:srgbClr val="111827"/>
                    </a:solidFill>
                    <a:latin typeface="Cambria Math" panose="02040503050406030204" pitchFamily="18" charset="0"/>
                  </a:rPr>
                  <a:t>$-5,-3,0,2,4,5$</a:t>
                </a:r>
                <a:r>
                  <a:rPr sz="2400" b="0">
                    <a:solidFill>
                      <a:srgbClr val="111827"/>
                    </a:solidFill>
                    <a:latin typeface="Arial"/>
                  </a:rPr>
                  <a:t> with sum </a:t>
                </a:r>
                <a:r>
                  <a:rPr lang="en-IN" sz="2400">
                    <a:solidFill>
                      <a:srgbClr val="111827"/>
                    </a:solidFill>
                    <a:latin typeface="Cambria Math" panose="02040503050406030204" pitchFamily="18" charset="0"/>
                  </a:rPr>
                  <a:t>$3$</a:t>
                </a:r>
                <a:r>
                  <a:rPr sz="2400" b="0">
                    <a:solidFill>
                      <a:srgbClr val="111827"/>
                    </a:solidFill>
                    <a:latin typeface="Arial"/>
                  </a:rPr>
                  <a:t>, so the other two deviations satisfy </a:t>
                </a:r>
                <a:r>
                  <a:rPr lang="en-IN" sz="2400">
                    <a:solidFill>
                      <a:srgbClr val="111827"/>
                    </a:solidFill>
                    <a:latin typeface="Cambria Math" panose="02040503050406030204" pitchFamily="18" charset="0"/>
                  </a:rPr>
                  <a:t>$u+v=-3$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 d^2=8\times13.5=108$</a:t>
                </a:r>
                <a:r>
                  <a:rPr sz="2400" b="0">
                    <a:solidFill>
                      <a:srgbClr val="111827"/>
                    </a:solidFill>
                    <a:latin typeface="Arial"/>
                  </a:rPr>
                  <a:t>; the given ones contribute </a:t>
                </a:r>
                <a:r>
                  <a:rPr lang="en-IN" sz="2400">
                    <a:solidFill>
                      <a:srgbClr val="111827"/>
                    </a:solidFill>
                    <a:latin typeface="Cambria Math" panose="02040503050406030204" pitchFamily="18" charset="0"/>
                  </a:rPr>
                  <a:t>$25+9+0+4+16+25=79$</a:t>
                </a:r>
                <a:r>
                  <a:rPr sz="2400" b="0">
                    <a:solidFill>
                      <a:srgbClr val="111827"/>
                    </a:solidFill>
                    <a:latin typeface="Arial"/>
                  </a:rPr>
                  <a:t>, so </a:t>
                </a:r>
                <a:r>
                  <a:rPr lang="en-IN" sz="2400">
                    <a:solidFill>
                      <a:srgbClr val="111827"/>
                    </a:solidFill>
                    <a:latin typeface="Cambria Math" panose="02040503050406030204" pitchFamily="18" charset="0"/>
                  </a:rPr>
                  <a:t>$u^2+v^2=29$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$(u-v)^2=2(u^2+v^2)-(u+v)^2=58-9=49$</a:t>
                </a:r>
                <a:r>
                  <a:rPr sz="2400" b="0">
                    <a:solidFill>
                      <a:srgbClr val="111827"/>
                    </a:solidFill>
                    <a:latin typeface="Arial"/>
                  </a:rPr>
                  <a:t>, so </a:t>
                </a:r>
                <a:r>
                  <a:rPr lang="en-IN" sz="2400">
                    <a:solidFill>
                      <a:srgbClr val="111827"/>
                    </a:solidFill>
                    <a:latin typeface="Cambria Math" panose="02040503050406030204" pitchFamily="18" charset="0"/>
                  </a:rPr>
                  <a:t>$|a-b|=|u-v|=7$</a:t>
                </a:r>
                <a:r>
                  <a:rPr sz="2400" b="0">
                    <a:solidFill>
                      <a:srgbClr val="111827"/>
                    </a:solidFill>
                    <a:latin typeface="Arial"/>
                  </a:rPr>
                  <a:t>, the same answer.</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7</a:t>
            </a:r>
            <a:endParaRPr sz="2800">
              <a:solidFill>
                <a:srgbClr val="15803D"/>
              </a:solidFill>
            </a:endParaRP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the difference of two missing values needs only their sum and sum of squares, not the values themselves.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(check: </a:t>
                </a:r>
                <a14:m>
                  <m:oMath xmlns:m="http://schemas.openxmlformats.org/officeDocument/2006/math">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144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169</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$(a-b)^2=2(a^2+b^2)-(a+b)^2$</a:t>
                </a:r>
                <a:r>
                  <a:rPr sz="2400" b="0">
                    <a:solidFill>
                      <a:srgbClr val="111827"/>
                    </a:solidFill>
                    <a:latin typeface="Arial"/>
                  </a:rPr>
                  <a:t>: the difference of two missing values needs only their sum and sum of squares, not the values themselves.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a:t>
                </a:r>
                <a:r>
                  <a:rPr lang="en-IN" sz="2400">
                    <a:solidFill>
                      <a:srgbClr val="111827"/>
                    </a:solidFill>
                    <a:latin typeface="Cambria Math" panose="02040503050406030204" pitchFamily="18" charset="0"/>
                  </a:rPr>
                  <a:t>$a,b=12,5$</a:t>
                </a:r>
                <a:r>
                  <a:rPr sz="2400" b="0">
                    <a:solidFill>
                      <a:srgbClr val="111827"/>
                    </a:solidFill>
                    <a:latin typeface="Arial"/>
                  </a:rPr>
                  <a:t> (check: </a:t>
                </a:r>
                <a:r>
                  <a:rPr lang="en-IN" sz="2400">
                    <a:solidFill>
                      <a:srgbClr val="111827"/>
                    </a:solidFill>
                    <a:latin typeface="Cambria Math" panose="02040503050406030204" pitchFamily="18" charset="0"/>
                  </a:rPr>
                  <a:t>$12+5=17$</a:t>
                </a:r>
                <a:r>
                  <a:rPr sz="2400" b="0">
                    <a:solidFill>
                      <a:srgbClr val="111827"/>
                    </a:solidFill>
                    <a:latin typeface="Arial"/>
                  </a:rPr>
                  <a:t>, </a:t>
                </a:r>
                <a:r>
                  <a:rPr lang="en-IN" sz="2400">
                    <a:solidFill>
                      <a:srgbClr val="111827"/>
                    </a:solidFill>
                    <a:latin typeface="Cambria Math" panose="02040503050406030204" pitchFamily="18" charset="0"/>
                  </a:rPr>
                  <a:t>$144+25=169$</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6</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Numerical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Q32</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4 marks each (no marks printed in the sheet - JEE Advanced default of 4 assumed)</a:t>
            </a:r>
            <a:endParaRPr sz="2800">
              <a:solidFill>
                <a:srgbClr val="FFFFFF"/>
              </a:solidFill>
            </a:endParaRP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variance of the following frequency distribution : Class </a:t>
                </a:r>
                <a14:m>
                  <m:oMath xmlns:m="http://schemas.openxmlformats.org/officeDocument/2006/math">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m:t>
                    </m:r>
                  </m:oMath>
                </a14:m>
                <a:r>
                  <a:rPr sz="2400" b="0">
                    <a:solidFill>
                      <a:srgbClr val="111827"/>
                    </a:solidFill>
                    <a:latin typeface="Arial"/>
                  </a:rPr>
                  <a:t> with frequency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is 50, then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is equal to ______.</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variance of the following frequency distribution : Class </a:t>
                </a:r>
                <a:r>
                  <a:rPr lang="en-IN" sz="2400">
                    <a:solidFill>
                      <a:srgbClr val="111827"/>
                    </a:solidFill>
                    <a:latin typeface="Cambria Math" panose="02040503050406030204" pitchFamily="18" charset="0"/>
                  </a:rPr>
                  <a:t>$10-20$</a:t>
                </a:r>
                <a:r>
                  <a:rPr sz="2400" b="0">
                    <a:solidFill>
                      <a:srgbClr val="111827"/>
                    </a:solidFill>
                    <a:latin typeface="Arial"/>
                  </a:rPr>
                  <a:t>, </a:t>
                </a:r>
                <a:r>
                  <a:rPr lang="en-IN" sz="2400">
                    <a:solidFill>
                      <a:srgbClr val="111827"/>
                    </a:solidFill>
                    <a:latin typeface="Cambria Math" panose="02040503050406030204" pitchFamily="18" charset="0"/>
                  </a:rPr>
                  <a:t>$20-30$</a:t>
                </a:r>
                <a:r>
                  <a:rPr sz="2400" b="0">
                    <a:solidFill>
                      <a:srgbClr val="111827"/>
                    </a:solidFill>
                    <a:latin typeface="Arial"/>
                  </a:rPr>
                  <a:t>, </a:t>
                </a:r>
                <a:r>
                  <a:rPr lang="en-IN" sz="2400">
                    <a:solidFill>
                      <a:srgbClr val="111827"/>
                    </a:solidFill>
                    <a:latin typeface="Cambria Math" panose="02040503050406030204" pitchFamily="18" charset="0"/>
                  </a:rPr>
                  <a:t>$30-40$</a:t>
                </a:r>
                <a:r>
                  <a:rPr sz="2400" b="0">
                    <a:solidFill>
                      <a:srgbClr val="111827"/>
                    </a:solidFill>
                    <a:latin typeface="Arial"/>
                  </a:rPr>
                  <a:t> with frequency </a:t>
                </a:r>
                <a:r>
                  <a:rPr lang="en-IN" sz="2400">
                    <a:solidFill>
                      <a:srgbClr val="111827"/>
                    </a:solidFill>
                    <a:latin typeface="Cambria Math" panose="02040503050406030204" pitchFamily="18" charset="0"/>
                  </a:rPr>
                  <a:t>$2$</a:t>
                </a:r>
                <a:r>
                  <a:rPr sz="2400" b="0">
                    <a:solidFill>
                      <a:srgbClr val="111827"/>
                    </a:solidFill>
                    <a:latin typeface="Arial"/>
                  </a:rPr>
                  <a:t>, </a:t>
                </a:r>
                <a:r>
                  <a:rPr lang="en-IN" sz="2400">
                    <a:solidFill>
                      <a:srgbClr val="111827"/>
                    </a:solidFill>
                    <a:latin typeface="Cambria Math" panose="02040503050406030204" pitchFamily="18" charset="0"/>
                  </a:rPr>
                  <a:t>$x$</a:t>
                </a:r>
                <a:r>
                  <a:rPr sz="2400" b="0">
                    <a:solidFill>
                      <a:srgbClr val="111827"/>
                    </a:solidFill>
                    <a:latin typeface="Arial"/>
                  </a:rPr>
                  <a:t>, </a:t>
                </a:r>
                <a:r>
                  <a:rPr lang="en-IN" sz="2400">
                    <a:solidFill>
                      <a:srgbClr val="111827"/>
                    </a:solidFill>
                    <a:latin typeface="Cambria Math" panose="02040503050406030204" pitchFamily="18" charset="0"/>
                  </a:rPr>
                  <a:t>$2$</a:t>
                </a:r>
                <a:r>
                  <a:rPr sz="2400" b="0">
                    <a:solidFill>
                      <a:srgbClr val="111827"/>
                    </a:solidFill>
                    <a:latin typeface="Arial"/>
                  </a:rPr>
                  <a:t> is 50, then </a:t>
                </a:r>
                <a:r>
                  <a:rPr lang="en-IN" sz="2400">
                    <a:solidFill>
                      <a:srgbClr val="111827"/>
                    </a:solidFill>
                    <a:latin typeface="Cambria Math" panose="02040503050406030204" pitchFamily="18" charset="0"/>
                  </a:rPr>
                  <a:t>$x$</a:t>
                </a:r>
                <a:r>
                  <a:rPr sz="2400" b="0">
                    <a:solidFill>
                      <a:srgbClr val="111827"/>
                    </a:solidFill>
                    <a:latin typeface="Arial"/>
                  </a:rPr>
                  <a:t> is equal to ______.</a:t>
                </a:r>
                <a:endParaRPr sz="2400">
                  <a:solidFill>
                    <a:srgbClr val="111827"/>
                  </a:solidFill>
                </a:endParaRPr>
              </a:p>
            </p:txBody>
          </p:sp>
        </mc:Fallback>
      </mc:AlternateContent>
      <p:sp>
        <p:nvSpPr>
          <p:cNvPr id="5" name="Rectangle 4"/>
          <p:cNvSpPr/>
          <p:nvPr/>
        </p:nvSpPr>
        <p:spPr>
          <a:xfrm>
            <a:off x="731520" y="324612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Variance of a grouped frequency distribution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Take class marks and a convenient origin; the classes are symmetric so the mean is the middle class mark.</a:t>
            </a:r>
            <a:endParaRPr sz="24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Class marks </a:t>
                </a:r>
                <a14:m>
                  <m:oMath xmlns:m="http://schemas.openxmlformats.org/officeDocument/2006/math">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oMath>
                </a14:m>
                <a:r>
                  <a:rPr sz="2400" b="0">
                    <a:solidFill>
                      <a:srgbClr val="111827"/>
                    </a:solidFill>
                    <a:latin typeface="Arial"/>
                  </a:rPr>
                  <a:t>; shifting the origin by 10 (variance is unaffected) gives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oMath>
                </a14:m>
                <a:r>
                  <a:rPr sz="2400" b="0">
                    <a:solidFill>
                      <a:srgbClr val="111827"/>
                    </a:solidFill>
                    <a:latin typeface="Arial"/>
                  </a:rPr>
                  <a:t> with frequencies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𝑓</m:t>
                        </m:r>
                      </m:e>
                      <m:sub>
                        <m:r>
                          <a:rPr lang="en-IN" sz="2400" i="1">
                            <a:solidFill>
                              <a:srgbClr val="111827"/>
                            </a:solidFill>
                            <a:latin typeface="Cambria Math" panose="02040503050406030204" pitchFamily="18" charset="0"/>
                          </a:rPr>
                          <m:t>𝑖</m:t>
                        </m:r>
                      </m:sub>
                    </m:sSub>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a:rPr lang="en-IN" sz="2400" i="1">
                        <a:solidFill>
                          <a:srgbClr val="111827"/>
                        </a:solidFill>
                        <a:latin typeface="Cambria Math" panose="02040503050406030204" pitchFamily="18" charset="0"/>
                      </a:rPr>
                      <m:t>𝑥</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𝑓</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Mean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(on the shifted scale).</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Class marks </a:t>
                </a:r>
                <a:r>
                  <a:rPr lang="en-IN" sz="2400">
                    <a:solidFill>
                      <a:srgbClr val="111827"/>
                    </a:solidFill>
                    <a:latin typeface="Cambria Math" panose="02040503050406030204" pitchFamily="18" charset="0"/>
                  </a:rPr>
                  <a:t>$15,25,35$</a:t>
                </a:r>
                <a:r>
                  <a:rPr sz="2400" b="0">
                    <a:solidFill>
                      <a:srgbClr val="111827"/>
                    </a:solidFill>
                    <a:latin typeface="Arial"/>
                  </a:rPr>
                  <a:t>; shifting the origin by 10 (variance is unaffected) gives </a:t>
                </a:r>
                <a:r>
                  <a:rPr lang="en-IN" sz="2400">
                    <a:solidFill>
                      <a:srgbClr val="111827"/>
                    </a:solidFill>
                    <a:latin typeface="Cambria Math" panose="02040503050406030204" pitchFamily="18" charset="0"/>
                  </a:rPr>
                  <a:t>$x_i=5,15,25$</a:t>
                </a:r>
                <a:r>
                  <a:rPr sz="2400" b="0">
                    <a:solidFill>
                      <a:srgbClr val="111827"/>
                    </a:solidFill>
                    <a:latin typeface="Arial"/>
                  </a:rPr>
                  <a:t> with frequencies </a:t>
                </a:r>
                <a:r>
                  <a:rPr lang="en-IN" sz="2400">
                    <a:solidFill>
                      <a:srgbClr val="111827"/>
                    </a:solidFill>
                    <a:latin typeface="Cambria Math" panose="02040503050406030204" pitchFamily="18" charset="0"/>
                  </a:rPr>
                  <a:t>$2,x,2$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 f_ix_i=10+15x+50=60+15x$</a:t>
                </a:r>
                <a:r>
                  <a:rPr sz="2400" b="0">
                    <a:solidFill>
                      <a:srgbClr val="111827"/>
                    </a:solidFill>
                    <a:latin typeface="Arial"/>
                  </a:rPr>
                  <a:t> and </a:t>
                </a:r>
                <a:r>
                  <a:rPr lang="en-IN" sz="2400">
                    <a:solidFill>
                      <a:srgbClr val="111827"/>
                    </a:solidFill>
                    <a:latin typeface="Cambria Math" panose="02040503050406030204" pitchFamily="18" charset="0"/>
                  </a:rPr>
                  <a:t>$\sum f_i=4+x$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Mean </a:t>
                </a:r>
                <a:r>
                  <a:rPr lang="en-IN" sz="2400">
                    <a:solidFill>
                      <a:srgbClr val="111827"/>
                    </a:solidFill>
                    <a:latin typeface="Cambria Math" panose="02040503050406030204" pitchFamily="18" charset="0"/>
                  </a:rPr>
                  <a:t>$=\frac{60+15x}{4+x}=\frac{15(4+x)}{4+x}=15$</a:t>
                </a:r>
                <a:r>
                  <a:rPr sz="2400" b="0">
                    <a:solidFill>
                      <a:srgbClr val="111827"/>
                    </a:solidFill>
                    <a:latin typeface="Arial"/>
                  </a:rPr>
                  <a:t> (on the shifted scale).</a:t>
                </a:r>
                <a:endParaRPr sz="2400">
                  <a:solidFill>
                    <a:srgbClr val="111827"/>
                  </a:solidFill>
                </a:endParaRPr>
              </a:p>
            </p:txBody>
          </p:sp>
        </mc:Fallback>
      </mc:AlternateContent>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𝑓</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num>
                      <m:den>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𝑓</m:t>
                            </m:r>
                          </m:e>
                          <m:sub>
                            <m:r>
                              <a:rPr lang="en-IN" sz="2400" i="1">
                                <a:solidFill>
                                  <a:srgbClr val="111827"/>
                                </a:solidFill>
                                <a:latin typeface="Cambria Math" panose="02040503050406030204" pitchFamily="18" charset="0"/>
                              </a:rPr>
                              <m:t>𝑖</m:t>
                            </m:r>
                          </m:sub>
                        </m:sSub>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num>
                      <m:den>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400</m:t>
                        </m:r>
                      </m:num>
                      <m:den>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400</m:t>
                        </m:r>
                      </m:num>
                      <m:den>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$\sigma^2=\frac{\sum f_i(x_i-15)^2}{\sum f_i}=\frac{2\cdot100+x\cdot0+2\cdot100}{4+x}=\frac{400}{4+x}$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$\frac{400}{4+x}=50$</a:t>
                </a:r>
                <a:r>
                  <a:rPr sz="2400" b="0">
                    <a:solidFill>
                      <a:srgbClr val="111827"/>
                    </a:solidFill>
                    <a:latin typeface="Arial"/>
                  </a:rPr>
                  <a:t>, so </a:t>
                </a:r>
                <a:r>
                  <a:rPr lang="en-IN" sz="2400">
                    <a:solidFill>
                      <a:srgbClr val="111827"/>
                    </a:solidFill>
                    <a:latin typeface="Cambria Math" panose="02040503050406030204" pitchFamily="18" charset="0"/>
                  </a:rPr>
                  <a:t>$4+x=8$</a:t>
                </a:r>
                <a:r>
                  <a:rPr sz="2400" b="0">
                    <a:solidFill>
                      <a:srgbClr val="111827"/>
                    </a:solidFill>
                    <a:latin typeface="Arial"/>
                  </a:rPr>
                  <a:t> and </a:t>
                </a:r>
                <a:r>
                  <a:rPr lang="en-IN" sz="2400">
                    <a:solidFill>
                      <a:srgbClr val="111827"/>
                    </a:solidFill>
                    <a:latin typeface="Cambria Math" panose="02040503050406030204" pitchFamily="18" charset="0"/>
                  </a:rPr>
                  <a:t>$x=4$</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14:m>
                  <m:oMath xmlns:m="http://schemas.openxmlformats.org/officeDocument/2006/math">
                    <m:r>
                      <a:rPr lang="en-IN" sz="2800" i="1">
                        <a:solidFill>
                          <a:srgbClr val="15803D"/>
                        </a:solidFill>
                        <a:latin typeface="Cambria Math" panose="02040503050406030204" pitchFamily="18" charset="0"/>
                      </a:rPr>
                      <m:t>4</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r>
                  <a:rPr lang="en-IN" sz="2800">
                    <a:solidFill>
                      <a:srgbClr val="15803D"/>
                    </a:solidFill>
                    <a:latin typeface="Cambria Math" panose="02040503050406030204" pitchFamily="18" charset="0"/>
                  </a:rPr>
                  <a:t>$4$</a:t>
                </a:r>
                <a:endParaRPr sz="2800">
                  <a:solidFill>
                    <a:srgbClr val="15803D"/>
                  </a:solidFill>
                </a:endParaRPr>
              </a:p>
            </p:txBody>
          </p:sp>
        </mc:Fallback>
      </mc:AlternateContent>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the symmetry directly: the mean is the middle class mark </a:t>
                </a:r>
                <a14:m>
                  <m:oMath xmlns:m="http://schemas.openxmlformats.org/officeDocument/2006/math">
                    <m:r>
                      <a:rPr lang="en-IN" sz="2400" i="1">
                        <a:solidFill>
                          <a:srgbClr val="78350F"/>
                        </a:solidFill>
                        <a:latin typeface="Cambria Math" panose="02040503050406030204" pitchFamily="18" charset="0"/>
                      </a:rPr>
                      <m:t>25</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the symmetry directly: the mean is the middle class mark </a:t>
                </a:r>
                <a:r>
                  <a:rPr lang="en-IN" sz="2400">
                    <a:solidFill>
                      <a:srgbClr val="78350F"/>
                    </a:solidFill>
                    <a:latin typeface="Cambria Math" panose="02040503050406030204" pitchFamily="18" charset="0"/>
                  </a:rPr>
                  <a:t>$25$</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distribution is symmetric about the class mark 25 (equal frequencies 2 and 2 on the end classes), so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400</m:t>
                        </m:r>
                      </m:num>
                      <m:den>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the same answer.</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distribution is symmetric about the class mark 25 (equal frequencies 2 and 2 on the end classes), so </a:t>
                </a:r>
                <a:r>
                  <a:rPr lang="en-IN" sz="2400">
                    <a:solidFill>
                      <a:srgbClr val="111827"/>
                    </a:solidFill>
                    <a:latin typeface="Cambria Math" panose="02040503050406030204" pitchFamily="18" charset="0"/>
                  </a:rPr>
                  <a:t>$\bar{x}=25$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$\sigma^2=\frac{2(15-25)^2+x\cdot0+2(35-25)^2}{4+x}=\frac{400}{4+x}=50$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$4+x=8$</a:t>
                </a:r>
                <a:r>
                  <a:rPr sz="2400" b="0">
                    <a:solidFill>
                      <a:srgbClr val="111827"/>
                    </a:solidFill>
                    <a:latin typeface="Arial"/>
                  </a:rPr>
                  <a:t>, </a:t>
                </a:r>
                <a:r>
                  <a:rPr lang="en-IN" sz="2400">
                    <a:solidFill>
                      <a:srgbClr val="111827"/>
                    </a:solidFill>
                    <a:latin typeface="Cambria Math" panose="02040503050406030204" pitchFamily="18" charset="0"/>
                  </a:rPr>
                  <a:t>$x=4$</a:t>
                </a:r>
                <a:r>
                  <a:rPr sz="2400" b="0">
                    <a:solidFill>
                      <a:srgbClr val="111827"/>
                    </a:solidFill>
                    <a:latin typeface="Arial"/>
                  </a:rPr>
                  <a:t>, the same answer.</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14:m>
                  <m:oMath xmlns:m="http://schemas.openxmlformats.org/officeDocument/2006/math">
                    <m:r>
                      <a:rPr lang="en-IN" sz="2800" i="1">
                        <a:solidFill>
                          <a:srgbClr val="15803D"/>
                        </a:solidFill>
                        <a:latin typeface="Cambria Math" panose="02040503050406030204" pitchFamily="18" charset="0"/>
                      </a:rPr>
                      <m:t>4</m:t>
                    </m:r>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r>
                  <a:rPr lang="en-IN" sz="2800">
                    <a:solidFill>
                      <a:srgbClr val="15803D"/>
                    </a:solidFill>
                    <a:latin typeface="Cambria Math" panose="02040503050406030204" pitchFamily="18" charset="0"/>
                  </a:rPr>
                  <a:t>$4$</a:t>
                </a:r>
                <a:endParaRPr sz="2800">
                  <a:solidFill>
                    <a:srgbClr val="15803D"/>
                  </a:solidFill>
                </a:endParaRPr>
              </a:p>
            </p:txBody>
          </p:sp>
        </mc:Fallback>
      </mc:AlternateContent>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 grouped distribution use class marks; the variance is unchanged by shifting the origin and is divided by </a:t>
                </a:r>
                <a14:m>
                  <m:oMath xmlns:m="http://schemas.openxmlformats.org/officeDocument/2006/math">
                    <m:sSup>
                      <m:e>
                        <m:r>
                          <a:rPr lang="en-IN" sz="2400" i="1">
                            <a:solidFill>
                              <a:srgbClr val="111827"/>
                            </a:solidFill>
                            <a:latin typeface="Cambria Math" panose="02040503050406030204" pitchFamily="18" charset="0"/>
                          </a:rPr>
                          <m:t>ℎ</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when class marks are divided by the class width </a:t>
                </a:r>
                <a14:m>
                  <m:oMath xmlns:m="http://schemas.openxmlformats.org/officeDocument/2006/math">
                    <m:r>
                      <a:rPr lang="en-IN" sz="2400" i="1">
                        <a:solidFill>
                          <a:srgbClr val="111827"/>
                        </a:solidFill>
                        <a:latin typeface="Cambria Math" panose="02040503050406030204" pitchFamily="18" charset="0"/>
                      </a:rPr>
                      <m:t>ℎ</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distribution symmetric about its middle class has its mean at the middle class mark, whatever the middle frequency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is.</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 grouped distribution use class marks; the variance is unchanged by shifting the origin and is divided by </a:t>
                </a:r>
                <a:r>
                  <a:rPr lang="en-IN" sz="2400">
                    <a:solidFill>
                      <a:srgbClr val="111827"/>
                    </a:solidFill>
                    <a:latin typeface="Cambria Math" panose="02040503050406030204" pitchFamily="18" charset="0"/>
                  </a:rPr>
                  <a:t>$h^2$</a:t>
                </a:r>
                <a:r>
                  <a:rPr sz="2400" b="0">
                    <a:solidFill>
                      <a:srgbClr val="111827"/>
                    </a:solidFill>
                    <a:latin typeface="Arial"/>
                  </a:rPr>
                  <a:t> when class marks are divided by the class width </a:t>
                </a:r>
                <a:r>
                  <a:rPr lang="en-IN" sz="2400">
                    <a:solidFill>
                      <a:srgbClr val="111827"/>
                    </a:solidFill>
                    <a:latin typeface="Cambria Math" panose="02040503050406030204" pitchFamily="18" charset="0"/>
                  </a:rPr>
                  <a:t>$h$</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distribution symmetric about its middle class has its mean at the middle class mark, whatever the middle frequency </a:t>
                </a:r>
                <a:r>
                  <a:rPr lang="en-IN" sz="2400">
                    <a:solidFill>
                      <a:srgbClr val="111827"/>
                    </a:solidFill>
                    <a:latin typeface="Cambria Math" panose="02040503050406030204" pitchFamily="18" charset="0"/>
                  </a:rPr>
                  <a:t>$x$</a:t>
                </a:r>
                <a:r>
                  <a:rPr sz="2400" b="0">
                    <a:solidFill>
                      <a:srgbClr val="111827"/>
                    </a:solidFill>
                    <a:latin typeface="Arial"/>
                  </a:rPr>
                  <a:t> is.</a:t>
                </a:r>
                <a:endParaRPr sz="2400">
                  <a:solidFill>
                    <a:srgbClr val="111827"/>
                  </a:solidFill>
                </a:endParaRPr>
              </a:p>
            </p:txBody>
          </p:sp>
        </mc:Fallback>
      </mc:AlternateContent>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7</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Single Correct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Q33 – Q35</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4 marks each (no marks printed in the sheet - JEE Advanced default of 4 assumed)</a:t>
            </a:r>
            <a:endParaRPr sz="2800">
              <a:solidFill>
                <a:srgbClr val="FFFFFF"/>
              </a:solidFill>
            </a:endParaRP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mean and variance of 7 observations are 8 and 16, respectively. If five observations are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oMath>
                </a14:m>
                <a:r>
                  <a:rPr sz="2400" b="0">
                    <a:solidFill>
                      <a:srgbClr val="111827"/>
                    </a:solidFill>
                    <a:latin typeface="Arial"/>
                  </a:rPr>
                  <a:t>, then the absolute difference of the remaining two observations is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4   (B) 3   (C) 1   (D) 2</a:t>
                </a:r>
                <a:endParaRPr sz="2400">
                  <a:solidFill>
                    <a:srgbClr val="111827"/>
                  </a:solidFill>
                </a:endParaRPr>
              </a:p>
            </p:txBody>
          </p:sp>
        </mc:Choice>
        <mc:Fallback>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mean and variance of 7 observations are 8 and 16, respectively. If five observations are </a:t>
                </a:r>
                <a:r>
                  <a:rPr lang="en-IN" sz="2400">
                    <a:solidFill>
                      <a:srgbClr val="111827"/>
                    </a:solidFill>
                    <a:latin typeface="Cambria Math" panose="02040503050406030204" pitchFamily="18" charset="0"/>
                  </a:rPr>
                  <a:t>$2,4,10,12,14$</a:t>
                </a:r>
                <a:r>
                  <a:rPr sz="2400" b="0">
                    <a:solidFill>
                      <a:srgbClr val="111827"/>
                    </a:solidFill>
                    <a:latin typeface="Arial"/>
                  </a:rPr>
                  <a:t>, then the absolute difference of the remaining two observations is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4   (B) 3   (C) 1   (D) 2</a:t>
                </a:r>
                <a:endParaRPr sz="2400">
                  <a:solidFill>
                    <a:srgbClr val="111827"/>
                  </a:solidFill>
                </a:endParaRPr>
              </a:p>
            </p:txBody>
          </p:sp>
        </mc:Fallback>
      </mc:AlternateContent>
      <p:sp>
        <p:nvSpPr>
          <p:cNvPr id="5" name="Rectangle 4"/>
          <p:cNvSpPr/>
          <p:nvPr/>
        </p:nvSpPr>
        <p:spPr>
          <a:xfrm>
            <a:off x="731520" y="3580383"/>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Finding two missing observations from mean and variance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oMath>
                </a14:m>
                <a:r>
                  <a:rPr sz="2400" b="0">
                    <a:solidFill>
                      <a:srgbClr val="78350F"/>
                    </a:solidFill>
                    <a:latin typeface="Arial"/>
                  </a:rPr>
                  <a:t> from the mean, </a:t>
                </a:r>
                <a14:m>
                  <m:oMath xmlns:m="http://schemas.openxmlformats.org/officeDocument/2006/math">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𝑦</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from the variance.</a:t>
                </a:r>
                <a:endParaRPr sz="2400">
                  <a:solidFill>
                    <a:srgbClr val="78350F"/>
                  </a:solidFill>
                </a:endParaRPr>
              </a:p>
            </p:txBody>
          </p:sp>
        </mc:Choice>
        <mc:Fallback>
          <p:sp>
            <p:nvSpPr>
              <p:cNvPr id="4" name="Rounded Rectangle 3"/>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$x+y$</a:t>
                </a:r>
                <a:r>
                  <a:rPr sz="2400" b="0">
                    <a:solidFill>
                      <a:srgbClr val="78350F"/>
                    </a:solidFill>
                    <a:latin typeface="Arial"/>
                  </a:rPr>
                  <a:t> from the mean, </a:t>
                </a:r>
                <a:r>
                  <a:rPr lang="en-IN" sz="2400">
                    <a:solidFill>
                      <a:srgbClr val="78350F"/>
                    </a:solidFill>
                    <a:latin typeface="Cambria Math" panose="02040503050406030204" pitchFamily="18" charset="0"/>
                  </a:rPr>
                  <a:t>$x^2+y^2$</a:t>
                </a:r>
                <a:r>
                  <a:rPr sz="2400" b="0">
                    <a:solidFill>
                      <a:srgbClr val="78350F"/>
                    </a:solidFill>
                    <a:latin typeface="Arial"/>
                  </a:rPr>
                  <a:t> from the variance.</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remaining observations be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 Mean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56</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oMath>
                </a14:m>
                <a:r>
                  <a:rPr sz="2400" b="0">
                    <a:solidFill>
                      <a:srgbClr val="111827"/>
                    </a:solidFill>
                    <a:latin typeface="Arial"/>
                  </a:rPr>
                  <a:t> ... (1).</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Variance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2</m:t>
                            </m:r>
                          </m:sup>
                        </m:sSubSup>
                      </m:num>
                      <m:den>
                        <m:r>
                          <a:rPr lang="en-IN" sz="2400" i="1">
                            <a:solidFill>
                              <a:srgbClr val="111827"/>
                            </a:solidFill>
                            <a:latin typeface="Cambria Math" panose="02040503050406030204" pitchFamily="18" charset="0"/>
                          </a:rPr>
                          <m:t>7</m:t>
                        </m:r>
                      </m:den>
                    </m:f>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8</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560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4</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10</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12</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14</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460</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oMath>
                </a14:m>
                <a:r>
                  <a:rPr sz="2400" b="0">
                    <a:solidFill>
                      <a:srgbClr val="111827"/>
                    </a:solidFill>
                    <a:latin typeface="Arial"/>
                  </a:rPr>
                  <a:t> ... (2).</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96</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48</m:t>
                    </m:r>
                  </m:oMath>
                </a14:m>
                <a:r>
                  <a:rPr sz="2400" b="0">
                    <a:solidFill>
                      <a:srgbClr val="111827"/>
                    </a:solidFill>
                    <a:latin typeface="Arial"/>
                  </a:rPr>
                  <a:t> ... (3).</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From (1) and (3):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option (D).</a:t>
                </a:r>
                <a:endParaRPr sz="2400">
                  <a:solidFill>
                    <a:srgbClr val="111827"/>
                  </a:solidFill>
                </a:endParaRPr>
              </a:p>
            </p:txBody>
          </p:sp>
        </mc:Choice>
        <mc:Fallback>
          <p:sp>
            <p:nvSpPr>
              <p:cNvPr id="5" name="Rectangle 4"/>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remaining observations be </a:t>
                </a:r>
                <a:r>
                  <a:rPr lang="en-IN" sz="2400">
                    <a:solidFill>
                      <a:srgbClr val="111827"/>
                    </a:solidFill>
                    <a:latin typeface="Cambria Math" panose="02040503050406030204" pitchFamily="18" charset="0"/>
                  </a:rPr>
                  <a:t>$x$</a:t>
                </a:r>
                <a:r>
                  <a:rPr sz="2400" b="0">
                    <a:solidFill>
                      <a:srgbClr val="111827"/>
                    </a:solidFill>
                    <a:latin typeface="Arial"/>
                  </a:rPr>
                  <a:t> and </a:t>
                </a:r>
                <a:r>
                  <a:rPr lang="en-IN" sz="2400">
                    <a:solidFill>
                      <a:srgbClr val="111827"/>
                    </a:solidFill>
                    <a:latin typeface="Cambria Math" panose="02040503050406030204" pitchFamily="18" charset="0"/>
                  </a:rPr>
                  <a:t>$y$</a:t>
                </a:r>
                <a:r>
                  <a:rPr sz="2400" b="0">
                    <a:solidFill>
                      <a:srgbClr val="111827"/>
                    </a:solidFill>
                    <a:latin typeface="Arial"/>
                  </a:rPr>
                  <a:t>. Mean </a:t>
                </a:r>
                <a:r>
                  <a:rPr lang="en-IN" sz="2400">
                    <a:solidFill>
                      <a:srgbClr val="111827"/>
                    </a:solidFill>
                    <a:latin typeface="Cambria Math" panose="02040503050406030204" pitchFamily="18" charset="0"/>
                  </a:rPr>
                  <a:t>$=8$</a:t>
                </a:r>
                <a:r>
                  <a:rPr sz="2400" b="0">
                    <a:solidFill>
                      <a:srgbClr val="111827"/>
                    </a:solidFill>
                    <a:latin typeface="Arial"/>
                  </a:rPr>
                  <a:t>: </a:t>
                </a:r>
                <a:r>
                  <a:rPr lang="en-IN" sz="2400">
                    <a:solidFill>
                      <a:srgbClr val="111827"/>
                    </a:solidFill>
                    <a:latin typeface="Cambria Math" panose="02040503050406030204" pitchFamily="18" charset="0"/>
                  </a:rPr>
                  <a:t>$42+x+y=56$</a:t>
                </a:r>
                <a:r>
                  <a:rPr sz="2400" b="0">
                    <a:solidFill>
                      <a:srgbClr val="111827"/>
                    </a:solidFill>
                    <a:latin typeface="Arial"/>
                  </a:rPr>
                  <a:t>, so </a:t>
                </a:r>
                <a:r>
                  <a:rPr lang="en-IN" sz="2400">
                    <a:solidFill>
                      <a:srgbClr val="111827"/>
                    </a:solidFill>
                    <a:latin typeface="Cambria Math" panose="02040503050406030204" pitchFamily="18" charset="0"/>
                  </a:rPr>
                  <a:t>$x+y=14$</a:t>
                </a:r>
                <a:r>
                  <a:rPr sz="2400" b="0">
                    <a:solidFill>
                      <a:srgbClr val="111827"/>
                    </a:solidFill>
                    <a:latin typeface="Arial"/>
                  </a:rPr>
                  <a:t> ... (1).</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Variance </a:t>
                </a:r>
                <a:r>
                  <a:rPr lang="en-IN" sz="2400">
                    <a:solidFill>
                      <a:srgbClr val="111827"/>
                    </a:solidFill>
                    <a:latin typeface="Cambria Math" panose="02040503050406030204" pitchFamily="18" charset="0"/>
                  </a:rPr>
                  <a:t>$=\frac{\sum x_i^2}{7}-8^2=16$</a:t>
                </a:r>
                <a:r>
                  <a:rPr sz="2400" b="0">
                    <a:solidFill>
                      <a:srgbClr val="111827"/>
                    </a:solidFill>
                    <a:latin typeface="Arial"/>
                  </a:rPr>
                  <a:t>, so </a:t>
                </a:r>
                <a:r>
                  <a:rPr lang="en-IN" sz="2400">
                    <a:solidFill>
                      <a:srgbClr val="111827"/>
                    </a:solidFill>
                    <a:latin typeface="Cambria Math" panose="02040503050406030204" pitchFamily="18" charset="0"/>
                  </a:rPr>
                  <a:t>$\sum x_i^2=560$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$2^2+4^2+10^2+12^2+14^2=460$</a:t>
                </a:r>
                <a:r>
                  <a:rPr sz="2400" b="0">
                    <a:solidFill>
                      <a:srgbClr val="111827"/>
                    </a:solidFill>
                    <a:latin typeface="Arial"/>
                  </a:rPr>
                  <a:t>, so </a:t>
                </a:r>
                <a:r>
                  <a:rPr lang="en-IN" sz="2400">
                    <a:solidFill>
                      <a:srgbClr val="111827"/>
                    </a:solidFill>
                    <a:latin typeface="Cambria Math" panose="02040503050406030204" pitchFamily="18" charset="0"/>
                  </a:rPr>
                  <a:t>$x^2+y^2=100$</a:t>
                </a:r>
                <a:r>
                  <a:rPr sz="2400" b="0">
                    <a:solidFill>
                      <a:srgbClr val="111827"/>
                    </a:solidFill>
                    <a:latin typeface="Arial"/>
                  </a:rPr>
                  <a:t> ... (2).</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$(1)^2-(2)$</a:t>
                </a:r>
                <a:r>
                  <a:rPr sz="2400" b="0">
                    <a:solidFill>
                      <a:srgbClr val="111827"/>
                    </a:solidFill>
                    <a:latin typeface="Arial"/>
                  </a:rPr>
                  <a:t>: </a:t>
                </a:r>
                <a:r>
                  <a:rPr lang="en-IN" sz="2400">
                    <a:solidFill>
                      <a:srgbClr val="111827"/>
                    </a:solidFill>
                    <a:latin typeface="Cambria Math" panose="02040503050406030204" pitchFamily="18" charset="0"/>
                  </a:rPr>
                  <a:t>$2xy=196-100=96$</a:t>
                </a:r>
                <a:r>
                  <a:rPr sz="2400" b="0">
                    <a:solidFill>
                      <a:srgbClr val="111827"/>
                    </a:solidFill>
                    <a:latin typeface="Arial"/>
                  </a:rPr>
                  <a:t>, so </a:t>
                </a:r>
                <a:r>
                  <a:rPr lang="en-IN" sz="2400">
                    <a:solidFill>
                      <a:srgbClr val="111827"/>
                    </a:solidFill>
                    <a:latin typeface="Cambria Math" panose="02040503050406030204" pitchFamily="18" charset="0"/>
                  </a:rPr>
                  <a:t>$xy=48$</a:t>
                </a:r>
                <a:r>
                  <a:rPr sz="2400" b="0">
                    <a:solidFill>
                      <a:srgbClr val="111827"/>
                    </a:solidFill>
                    <a:latin typeface="Arial"/>
                  </a:rPr>
                  <a:t> ... (3).</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From (1) and (3): </a:t>
                </a:r>
                <a:r>
                  <a:rPr lang="en-IN" sz="2400">
                    <a:solidFill>
                      <a:srgbClr val="111827"/>
                    </a:solidFill>
                    <a:latin typeface="Cambria Math" panose="02040503050406030204" pitchFamily="18" charset="0"/>
                  </a:rPr>
                  <a:t>$x^2-14x+48=0$</a:t>
                </a:r>
                <a:r>
                  <a:rPr sz="2400" b="0">
                    <a:solidFill>
                      <a:srgbClr val="111827"/>
                    </a:solidFill>
                    <a:latin typeface="Arial"/>
                  </a:rPr>
                  <a:t>, so </a:t>
                </a:r>
                <a:r>
                  <a:rPr lang="en-IN" sz="2400">
                    <a:solidFill>
                      <a:srgbClr val="111827"/>
                    </a:solidFill>
                    <a:latin typeface="Cambria Math" panose="02040503050406030204" pitchFamily="18" charset="0"/>
                  </a:rPr>
                  <a:t>$x=6,y=8$</a:t>
                </a:r>
                <a:r>
                  <a:rPr sz="2400" b="0">
                    <a:solidFill>
                      <a:srgbClr val="111827"/>
                    </a:solidFill>
                    <a:latin typeface="Arial"/>
                  </a:rPr>
                  <a:t> or </a:t>
                </a:r>
                <a:r>
                  <a:rPr lang="en-IN" sz="2400">
                    <a:solidFill>
                      <a:srgbClr val="111827"/>
                    </a:solidFill>
                    <a:latin typeface="Cambria Math" panose="02040503050406030204" pitchFamily="18" charset="0"/>
                  </a:rPr>
                  <a:t>$x=8,y=6$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$|x-y|=2$</a:t>
                </a:r>
                <a:r>
                  <a:rPr sz="2400" b="0">
                    <a:solidFill>
                      <a:srgbClr val="111827"/>
                    </a:solidFill>
                    <a:latin typeface="Arial"/>
                  </a:rPr>
                  <a:t>, option (D).</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2</a:t>
            </a:r>
            <a:endParaRPr sz="2800">
              <a:solidFill>
                <a:srgbClr val="15803D"/>
              </a:solidFill>
            </a:endParaRP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p:sp>
        <p:nvSpPr>
          <p:cNvPr id="5" name="Rounded Rectangle 4"/>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Deviations from the mean 8.</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Deviations of the five given values: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sum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for the other two.</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112</m:t>
                    </m:r>
                  </m:oMath>
                </a14:m>
                <a:r>
                  <a:rPr sz="2400" b="0">
                    <a:solidFill>
                      <a:srgbClr val="111827"/>
                    </a:solidFill>
                    <a:latin typeface="Arial"/>
                  </a:rPr>
                  <a:t>; the given ones give </a:t>
                </a:r>
                <a14:m>
                  <m:oMath xmlns:m="http://schemas.openxmlformats.org/officeDocument/2006/math">
                    <m:r>
                      <a:rPr lang="en-IN" sz="2400" i="1">
                        <a:solidFill>
                          <a:srgbClr val="111827"/>
                        </a:solidFill>
                        <a:latin typeface="Cambria Math" panose="02040503050406030204" pitchFamily="18" charset="0"/>
                      </a:rPr>
                      <m:t>36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108</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𝑢</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𝑣</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𝑣</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the same answer.</a:t>
                </a:r>
                <a:endParaRPr sz="2400">
                  <a:solidFill>
                    <a:srgbClr val="111827"/>
                  </a:solidFill>
                </a:endParaRPr>
              </a:p>
            </p:txBody>
          </p:sp>
        </mc:Choice>
        <mc:Fallback>
          <p:sp>
            <p:nvSpPr>
              <p:cNvPr id="6" name="Rectangle 5"/>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Deviations of the five given values: </a:t>
                </a:r>
                <a:r>
                  <a:rPr lang="en-IN" sz="2400">
                    <a:solidFill>
                      <a:srgbClr val="111827"/>
                    </a:solidFill>
                    <a:latin typeface="Cambria Math" panose="02040503050406030204" pitchFamily="18" charset="0"/>
                  </a:rPr>
                  <a:t>$-6,-4,2,4,6$</a:t>
                </a:r>
                <a:r>
                  <a:rPr sz="2400" b="0">
                    <a:solidFill>
                      <a:srgbClr val="111827"/>
                    </a:solidFill>
                    <a:latin typeface="Arial"/>
                  </a:rPr>
                  <a:t>, sum </a:t>
                </a:r>
                <a:r>
                  <a:rPr lang="en-IN" sz="2400">
                    <a:solidFill>
                      <a:srgbClr val="111827"/>
                    </a:solidFill>
                    <a:latin typeface="Cambria Math" panose="02040503050406030204" pitchFamily="18" charset="0"/>
                  </a:rPr>
                  <a:t>$2$</a:t>
                </a:r>
                <a:r>
                  <a:rPr sz="2400" b="0">
                    <a:solidFill>
                      <a:srgbClr val="111827"/>
                    </a:solidFill>
                    <a:latin typeface="Arial"/>
                  </a:rPr>
                  <a:t>, so </a:t>
                </a:r>
                <a:r>
                  <a:rPr lang="en-IN" sz="2400">
                    <a:solidFill>
                      <a:srgbClr val="111827"/>
                    </a:solidFill>
                    <a:latin typeface="Cambria Math" panose="02040503050406030204" pitchFamily="18" charset="0"/>
                  </a:rPr>
                  <a:t>$u+v=-2$</a:t>
                </a:r>
                <a:r>
                  <a:rPr sz="2400" b="0">
                    <a:solidFill>
                      <a:srgbClr val="111827"/>
                    </a:solidFill>
                    <a:latin typeface="Arial"/>
                  </a:rPr>
                  <a:t> for the other two.</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 d^2=7\times16=112$</a:t>
                </a:r>
                <a:r>
                  <a:rPr sz="2400" b="0">
                    <a:solidFill>
                      <a:srgbClr val="111827"/>
                    </a:solidFill>
                    <a:latin typeface="Arial"/>
                  </a:rPr>
                  <a:t>; the given ones give </a:t>
                </a:r>
                <a:r>
                  <a:rPr lang="en-IN" sz="2400">
                    <a:solidFill>
                      <a:srgbClr val="111827"/>
                    </a:solidFill>
                    <a:latin typeface="Cambria Math" panose="02040503050406030204" pitchFamily="18" charset="0"/>
                  </a:rPr>
                  <a:t>$36+16+4+16+36=108$</a:t>
                </a:r>
                <a:r>
                  <a:rPr sz="2400" b="0">
                    <a:solidFill>
                      <a:srgbClr val="111827"/>
                    </a:solidFill>
                    <a:latin typeface="Arial"/>
                  </a:rPr>
                  <a:t>, so </a:t>
                </a:r>
                <a:r>
                  <a:rPr lang="en-IN" sz="2400">
                    <a:solidFill>
                      <a:srgbClr val="111827"/>
                    </a:solidFill>
                    <a:latin typeface="Cambria Math" panose="02040503050406030204" pitchFamily="18" charset="0"/>
                  </a:rPr>
                  <a:t>$u^2+v^2=4$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$(u-v)^2=2\cdot4-(-2)^2=4$</a:t>
                </a:r>
                <a:r>
                  <a:rPr sz="2400" b="0">
                    <a:solidFill>
                      <a:srgbClr val="111827"/>
                    </a:solidFill>
                    <a:latin typeface="Arial"/>
                  </a:rPr>
                  <a:t>, so </a:t>
                </a:r>
                <a:r>
                  <a:rPr lang="en-IN" sz="2400">
                    <a:solidFill>
                      <a:srgbClr val="111827"/>
                    </a:solidFill>
                    <a:latin typeface="Cambria Math" panose="02040503050406030204" pitchFamily="18" charset="0"/>
                  </a:rPr>
                  <a:t>$|x-y|=2$</a:t>
                </a:r>
                <a:r>
                  <a:rPr sz="2400" b="0">
                    <a:solidFill>
                      <a:srgbClr val="111827"/>
                    </a:solidFill>
                    <a:latin typeface="Arial"/>
                  </a:rPr>
                  <a:t>, the same answer.</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2</a:t>
            </a:r>
            <a:endParaRPr sz="2800">
              <a:solidFill>
                <a:srgbClr val="15803D"/>
              </a:solidFill>
            </a:endParaRP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Missing pair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Always check that the recovered values are real: here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Missing pair </a:t>
                </a:r>
                <a:r>
                  <a:rPr lang="en-IN" sz="2400">
                    <a:solidFill>
                      <a:srgbClr val="111827"/>
                    </a:solidFill>
                    <a:latin typeface="Cambria Math" panose="02040503050406030204" pitchFamily="18" charset="0"/>
                  </a:rPr>
                  <a:t>$(x,y)$</a:t>
                </a:r>
                <a:r>
                  <a:rPr sz="2400" b="0">
                    <a:solidFill>
                      <a:srgbClr val="111827"/>
                    </a:solidFill>
                    <a:latin typeface="Arial"/>
                  </a:rPr>
                  <a:t>: </a:t>
                </a:r>
                <a:r>
                  <a:rPr lang="en-IN" sz="2400">
                    <a:solidFill>
                      <a:srgbClr val="111827"/>
                    </a:solidFill>
                    <a:latin typeface="Cambria Math" panose="02040503050406030204" pitchFamily="18" charset="0"/>
                  </a:rPr>
                  <a:t>$|x-y|=\sqrt{2(x^2+y^2)-(x+y)^2}$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Always check that the recovered values are real: here </a:t>
                </a:r>
                <a:r>
                  <a:rPr lang="en-IN" sz="2400">
                    <a:solidFill>
                      <a:srgbClr val="111827"/>
                    </a:solidFill>
                    <a:latin typeface="Cambria Math" panose="02040503050406030204" pitchFamily="18" charset="0"/>
                  </a:rPr>
                  <a:t>$x,y=6,8$</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4434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mean and the standard deviation of the data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are 5 and 2 respectively, then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𝑏</m:t>
                    </m:r>
                  </m:oMath>
                </a14:m>
                <a:r>
                  <a:rPr sz="2400" b="0">
                    <a:solidFill>
                      <a:srgbClr val="111827"/>
                    </a:solidFill>
                    <a:latin typeface="Arial"/>
                  </a:rPr>
                  <a:t> are the roots of the equation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(C)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(D)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endParaRPr sz="2400">
                  <a:solidFill>
                    <a:srgbClr val="111827"/>
                  </a:solidFill>
                </a:endParaRPr>
              </a:p>
            </p:txBody>
          </p:sp>
        </mc:Choice>
        <mc:Fallback>
          <p:sp>
            <p:nvSpPr>
              <p:cNvPr id="4" name="Rounded Rectangle 3"/>
              <p:cNvSpPr/>
              <p:nvPr/>
            </p:nvSpPr>
            <p:spPr>
              <a:xfrm>
                <a:off x="731520" y="1280160"/>
                <a:ext cx="10725912" cy="24434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mean and the standard deviation of the data </a:t>
                </a:r>
                <a:r>
                  <a:rPr lang="en-IN" sz="2400">
                    <a:solidFill>
                      <a:srgbClr val="111827"/>
                    </a:solidFill>
                    <a:latin typeface="Cambria Math" panose="02040503050406030204" pitchFamily="18" charset="0"/>
                  </a:rPr>
                  <a:t>$3,5,7,a,b$</a:t>
                </a:r>
                <a:r>
                  <a:rPr sz="2400" b="0">
                    <a:solidFill>
                      <a:srgbClr val="111827"/>
                    </a:solidFill>
                    <a:latin typeface="Arial"/>
                  </a:rPr>
                  <a:t> are 5 and 2 respectively, then </a:t>
                </a:r>
                <a:r>
                  <a:rPr lang="en-IN" sz="2400">
                    <a:solidFill>
                      <a:srgbClr val="111827"/>
                    </a:solidFill>
                    <a:latin typeface="Cambria Math" panose="02040503050406030204" pitchFamily="18" charset="0"/>
                  </a:rPr>
                  <a:t>$a$</a:t>
                </a:r>
                <a:r>
                  <a:rPr sz="2400" b="0">
                    <a:solidFill>
                      <a:srgbClr val="111827"/>
                    </a:solidFill>
                    <a:latin typeface="Arial"/>
                  </a:rPr>
                  <a:t> and </a:t>
                </a:r>
                <a:r>
                  <a:rPr lang="en-IN" sz="2400">
                    <a:solidFill>
                      <a:srgbClr val="111827"/>
                    </a:solidFill>
                    <a:latin typeface="Cambria Math" panose="02040503050406030204" pitchFamily="18" charset="0"/>
                  </a:rPr>
                  <a:t>$b$</a:t>
                </a:r>
                <a:r>
                  <a:rPr sz="2400" b="0">
                    <a:solidFill>
                      <a:srgbClr val="111827"/>
                    </a:solidFill>
                    <a:latin typeface="Arial"/>
                  </a:rPr>
                  <a:t> are the roots of the equation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$x^2-10x+19=0$</a:t>
                </a:r>
                <a:r>
                  <a:rPr sz="2400" b="0">
                    <a:solidFill>
                      <a:srgbClr val="111827"/>
                    </a:solidFill>
                    <a:latin typeface="Arial"/>
                  </a:rPr>
                  <a:t>   (B) </a:t>
                </a:r>
                <a:r>
                  <a:rPr lang="en-IN" sz="2400">
                    <a:solidFill>
                      <a:srgbClr val="111827"/>
                    </a:solidFill>
                    <a:latin typeface="Cambria Math" panose="02040503050406030204" pitchFamily="18" charset="0"/>
                  </a:rPr>
                  <a:t>$2x^2-20x+19=0$</a:t>
                </a:r>
                <a:r>
                  <a:rPr sz="2400" b="0">
                    <a:solidFill>
                      <a:srgbClr val="111827"/>
                    </a:solidFill>
                    <a:latin typeface="Arial"/>
                  </a:rPr>
                  <a:t>   (C) </a:t>
                </a:r>
                <a:r>
                  <a:rPr lang="en-IN" sz="2400">
                    <a:solidFill>
                      <a:srgbClr val="111827"/>
                    </a:solidFill>
                    <a:latin typeface="Cambria Math" panose="02040503050406030204" pitchFamily="18" charset="0"/>
                  </a:rPr>
                  <a:t>$x^2-20x+18=0$</a:t>
                </a:r>
                <a:r>
                  <a:rPr sz="2400" b="0">
                    <a:solidFill>
                      <a:srgbClr val="111827"/>
                    </a:solidFill>
                    <a:latin typeface="Arial"/>
                  </a:rPr>
                  <a:t>   (D) </a:t>
                </a:r>
                <a:r>
                  <a:rPr lang="en-IN" sz="2400">
                    <a:solidFill>
                      <a:srgbClr val="111827"/>
                    </a:solidFill>
                    <a:latin typeface="Cambria Math" panose="02040503050406030204" pitchFamily="18" charset="0"/>
                  </a:rPr>
                  <a:t>$x^2-10x+18=0$</a:t>
                </a:r>
                <a:endParaRPr sz="2400">
                  <a:solidFill>
                    <a:srgbClr val="111827"/>
                  </a:solidFill>
                </a:endParaRPr>
              </a:p>
            </p:txBody>
          </p:sp>
        </mc:Fallback>
      </mc:AlternateContent>
      <p:sp>
        <p:nvSpPr>
          <p:cNvPr id="5" name="Rectangle 4"/>
          <p:cNvSpPr/>
          <p:nvPr/>
        </p:nvSpPr>
        <p:spPr>
          <a:xfrm>
            <a:off x="731520" y="3952239"/>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Mean and standard deviation to find a quadratic equation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Mean gives </a:t>
                </a:r>
                <a14:m>
                  <m:oMath xmlns:m="http://schemas.openxmlformats.org/officeDocument/2006/math">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oMath>
                </a14:m>
                <a:r>
                  <a:rPr sz="2400" b="0">
                    <a:solidFill>
                      <a:srgbClr val="78350F"/>
                    </a:solidFill>
                    <a:latin typeface="Arial"/>
                  </a:rPr>
                  <a:t>; variance gives </a:t>
                </a:r>
                <a14:m>
                  <m:oMath xmlns:m="http://schemas.openxmlformats.org/officeDocument/2006/math">
                    <m:sSup>
                      <m:e>
                        <m:r>
                          <a:rPr lang="en-IN" sz="2400" i="1">
                            <a:solidFill>
                              <a:srgbClr val="78350F"/>
                            </a:solidFill>
                            <a:latin typeface="Cambria Math" panose="02040503050406030204" pitchFamily="18" charset="0"/>
                          </a:rPr>
                          <m:t>𝑎</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𝑏</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hence </a:t>
                </a:r>
                <a14:m>
                  <m:oMath xmlns:m="http://schemas.openxmlformats.org/officeDocument/2006/math">
                    <m:r>
                      <a:rPr lang="en-IN" sz="2400" i="1">
                        <a:solidFill>
                          <a:srgbClr val="78350F"/>
                        </a:solidFill>
                        <a:latin typeface="Cambria Math" panose="02040503050406030204" pitchFamily="18" charset="0"/>
                      </a:rPr>
                      <m:t>𝑎</m:t>
                    </m:r>
                    <m:r>
                      <a:rPr lang="en-IN" sz="2400" i="1">
                        <a:solidFill>
                          <a:srgbClr val="78350F"/>
                        </a:solidFill>
                        <a:latin typeface="Cambria Math" panose="02040503050406030204" pitchFamily="18" charset="0"/>
                      </a:rPr>
                      <m:t>𝑏</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Mean gives </a:t>
                </a:r>
                <a:r>
                  <a:rPr lang="en-IN" sz="2400">
                    <a:solidFill>
                      <a:srgbClr val="78350F"/>
                    </a:solidFill>
                    <a:latin typeface="Cambria Math" panose="02040503050406030204" pitchFamily="18" charset="0"/>
                  </a:rPr>
                  <a:t>$a+b$</a:t>
                </a:r>
                <a:r>
                  <a:rPr sz="2400" b="0">
                    <a:solidFill>
                      <a:srgbClr val="78350F"/>
                    </a:solidFill>
                    <a:latin typeface="Arial"/>
                  </a:rPr>
                  <a:t>; variance gives </a:t>
                </a:r>
                <a:r>
                  <a:rPr lang="en-IN" sz="2400">
                    <a:solidFill>
                      <a:srgbClr val="78350F"/>
                    </a:solidFill>
                    <a:latin typeface="Cambria Math" panose="02040503050406030204" pitchFamily="18" charset="0"/>
                  </a:rPr>
                  <a:t>$a^2+b^2$</a:t>
                </a:r>
                <a:r>
                  <a:rPr sz="2400" b="0">
                    <a:solidFill>
                      <a:srgbClr val="78350F"/>
                    </a:solidFill>
                    <a:latin typeface="Arial"/>
                  </a:rPr>
                  <a:t>, hence </a:t>
                </a:r>
                <a:r>
                  <a:rPr lang="en-IN" sz="2400">
                    <a:solidFill>
                      <a:srgbClr val="78350F"/>
                    </a:solidFill>
                    <a:latin typeface="Cambria Math" panose="02040503050406030204" pitchFamily="18" charset="0"/>
                  </a:rPr>
                  <a:t>$ab$</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Mean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Variance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7</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83</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145</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62</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equation with roots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is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i.e.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option (A).</a:t>
                </a:r>
                <a:endParaRPr sz="2400">
                  <a:solidFill>
                    <a:srgbClr val="111827"/>
                  </a:solidFill>
                </a:endParaRPr>
              </a:p>
            </p:txBody>
          </p:sp>
        </mc:Choice>
        <mc:Fallback>
          <p:sp>
            <p:nvSpPr>
              <p:cNvPr id="5" name="Rectangle 4"/>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Mean </a:t>
                </a:r>
                <a:r>
                  <a:rPr lang="en-IN" sz="2400">
                    <a:solidFill>
                      <a:srgbClr val="111827"/>
                    </a:solidFill>
                    <a:latin typeface="Cambria Math" panose="02040503050406030204" pitchFamily="18" charset="0"/>
                  </a:rPr>
                  <a:t>$=\frac{3+5+7+a+b}{5}=5$</a:t>
                </a:r>
                <a:r>
                  <a:rPr sz="2400" b="0">
                    <a:solidFill>
                      <a:srgbClr val="111827"/>
                    </a:solidFill>
                    <a:latin typeface="Arial"/>
                  </a:rPr>
                  <a:t>, so </a:t>
                </a:r>
                <a:r>
                  <a:rPr lang="en-IN" sz="2400">
                    <a:solidFill>
                      <a:srgbClr val="111827"/>
                    </a:solidFill>
                    <a:latin typeface="Cambria Math" panose="02040503050406030204" pitchFamily="18" charset="0"/>
                  </a:rPr>
                  <a:t>$a+b=10$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Variance </a:t>
                </a:r>
                <a:r>
                  <a:rPr lang="en-IN" sz="2400">
                    <a:solidFill>
                      <a:srgbClr val="111827"/>
                    </a:solidFill>
                    <a:latin typeface="Cambria Math" panose="02040503050406030204" pitchFamily="18" charset="0"/>
                  </a:rPr>
                  <a:t>$=\frac{3^2+5^2+7^2+a^2+b^2}{5}-5^2=4$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$83+a^2+b^2=145$</a:t>
                </a:r>
                <a:r>
                  <a:rPr sz="2400" b="0">
                    <a:solidFill>
                      <a:srgbClr val="111827"/>
                    </a:solidFill>
                    <a:latin typeface="Arial"/>
                  </a:rPr>
                  <a:t>, so </a:t>
                </a:r>
                <a:r>
                  <a:rPr lang="en-IN" sz="2400">
                    <a:solidFill>
                      <a:srgbClr val="111827"/>
                    </a:solidFill>
                    <a:latin typeface="Cambria Math" panose="02040503050406030204" pitchFamily="18" charset="0"/>
                  </a:rPr>
                  <a:t>$a^2+b^2=62$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$ab=\frac{(a+b)^2-(a^2+b^2)}{2}=\frac{100-62}{2}=19$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equation with roots </a:t>
                </a:r>
                <a:r>
                  <a:rPr lang="en-IN" sz="2400">
                    <a:solidFill>
                      <a:srgbClr val="111827"/>
                    </a:solidFill>
                    <a:latin typeface="Cambria Math" panose="02040503050406030204" pitchFamily="18" charset="0"/>
                  </a:rPr>
                  <a:t>$a,b$</a:t>
                </a:r>
                <a:r>
                  <a:rPr sz="2400" b="0">
                    <a:solidFill>
                      <a:srgbClr val="111827"/>
                    </a:solidFill>
                    <a:latin typeface="Arial"/>
                  </a:rPr>
                  <a:t> is </a:t>
                </a:r>
                <a:r>
                  <a:rPr lang="en-IN" sz="2400">
                    <a:solidFill>
                      <a:srgbClr val="111827"/>
                    </a:solidFill>
                    <a:latin typeface="Cambria Math" panose="02040503050406030204" pitchFamily="18" charset="0"/>
                  </a:rPr>
                  <a:t>$x^2-(a+b)x+ab=0$</a:t>
                </a:r>
                <a:r>
                  <a:rPr sz="2400" b="0">
                    <a:solidFill>
                      <a:srgbClr val="111827"/>
                    </a:solidFill>
                    <a:latin typeface="Arial"/>
                  </a:rPr>
                  <a:t>, i.e. </a:t>
                </a:r>
                <a:r>
                  <a:rPr lang="en-IN" sz="2400">
                    <a:solidFill>
                      <a:srgbClr val="111827"/>
                    </a:solidFill>
                    <a:latin typeface="Cambria Math" panose="02040503050406030204" pitchFamily="18" charset="0"/>
                  </a:rPr>
                  <a:t>$x^2-10x+19=0$</a:t>
                </a:r>
                <a:r>
                  <a:rPr sz="2400" b="0">
                    <a:solidFill>
                      <a:srgbClr val="111827"/>
                    </a:solidFill>
                    <a:latin typeface="Arial"/>
                  </a:rPr>
                  <a:t>, option (A).</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14:m>
                  <m:oMath xmlns:m="http://schemas.openxmlformats.org/officeDocument/2006/math">
                    <m:sSup>
                      <m:e>
                        <m:r>
                          <a:rPr lang="en-IN" sz="2800" i="1">
                            <a:solidFill>
                              <a:srgbClr val="15803D"/>
                            </a:solidFill>
                            <a:latin typeface="Cambria Math" panose="02040503050406030204" pitchFamily="18" charset="0"/>
                          </a:rPr>
                          <m:t>𝑥</m:t>
                        </m:r>
                      </m:e>
                      <m:sup>
                        <m:r>
                          <a:rPr lang="en-IN" sz="2800" i="1">
                            <a:solidFill>
                              <a:srgbClr val="15803D"/>
                            </a:solidFill>
                            <a:latin typeface="Cambria Math" panose="02040503050406030204" pitchFamily="18" charset="0"/>
                          </a:rPr>
                          <m:t>2</m:t>
                        </m:r>
                      </m:sup>
                    </m:sSup>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10</m:t>
                    </m:r>
                    <m:r>
                      <a:rPr lang="en-IN" sz="2800" i="1">
                        <a:solidFill>
                          <a:srgbClr val="15803D"/>
                        </a:solidFill>
                        <a:latin typeface="Cambria Math" panose="02040503050406030204" pitchFamily="18" charset="0"/>
                      </a:rPr>
                      <m:t>𝑥</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19</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0</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r>
                  <a:rPr lang="en-IN" sz="2800">
                    <a:solidFill>
                      <a:srgbClr val="15803D"/>
                    </a:solidFill>
                    <a:latin typeface="Cambria Math" panose="02040503050406030204" pitchFamily="18" charset="0"/>
                  </a:rPr>
                  <a:t>$x^2-10x+19=0$</a:t>
                </a:r>
                <a:endParaRPr sz="2800">
                  <a:solidFill>
                    <a:srgbClr val="15803D"/>
                  </a:solidFill>
                </a:endParaRPr>
              </a:p>
            </p:txBody>
          </p:sp>
        </mc:Fallback>
      </mc:AlternateContent>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p:sp>
        <p:nvSpPr>
          <p:cNvPr id="5" name="Rounded Rectangle 4"/>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Deviations from the mean 5.</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Given deviations: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the unknowns' deviations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𝑣</m:t>
                    </m:r>
                  </m:oMath>
                </a14:m>
                <a:r>
                  <a:rPr sz="2400" b="0">
                    <a:solidFill>
                      <a:srgbClr val="111827"/>
                    </a:solidFill>
                    <a:latin typeface="Arial"/>
                  </a:rPr>
                  <a:t> satisfy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(deviations sum to 0).</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𝑢</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𝑣</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𝑢</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𝑢</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m:t>
                        </m:r>
                      </m:e>
                    </m:rad>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oMath>
                </a14:m>
                <a:r>
                  <a:rPr sz="2400" b="0">
                    <a:solidFill>
                      <a:srgbClr val="111827"/>
                    </a:solidFill>
                    <a:latin typeface="Arial"/>
                  </a:rPr>
                  <a:t>: the equation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the same answer.</a:t>
                </a:r>
                <a:endParaRPr sz="2400">
                  <a:solidFill>
                    <a:srgbClr val="111827"/>
                  </a:solidFill>
                </a:endParaRPr>
              </a:p>
            </p:txBody>
          </p:sp>
        </mc:Choice>
        <mc:Fallback>
          <p:sp>
            <p:nvSpPr>
              <p:cNvPr id="6" name="Rectangle 5"/>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Given deviations: </a:t>
                </a:r>
                <a:r>
                  <a:rPr lang="en-IN" sz="2400">
                    <a:solidFill>
                      <a:srgbClr val="111827"/>
                    </a:solidFill>
                    <a:latin typeface="Cambria Math" panose="02040503050406030204" pitchFamily="18" charset="0"/>
                  </a:rPr>
                  <a:t>$-2,0,2$</a:t>
                </a:r>
                <a:r>
                  <a:rPr sz="2400" b="0">
                    <a:solidFill>
                      <a:srgbClr val="111827"/>
                    </a:solidFill>
                    <a:latin typeface="Arial"/>
                  </a:rPr>
                  <a:t>; the unknowns' deviations </a:t>
                </a:r>
                <a:r>
                  <a:rPr lang="en-IN" sz="2400">
                    <a:solidFill>
                      <a:srgbClr val="111827"/>
                    </a:solidFill>
                    <a:latin typeface="Cambria Math" panose="02040503050406030204" pitchFamily="18" charset="0"/>
                  </a:rPr>
                  <a:t>$u,v$</a:t>
                </a:r>
                <a:r>
                  <a:rPr sz="2400" b="0">
                    <a:solidFill>
                      <a:srgbClr val="111827"/>
                    </a:solidFill>
                    <a:latin typeface="Arial"/>
                  </a:rPr>
                  <a:t> satisfy </a:t>
                </a:r>
                <a:r>
                  <a:rPr lang="en-IN" sz="2400">
                    <a:solidFill>
                      <a:srgbClr val="111827"/>
                    </a:solidFill>
                    <a:latin typeface="Cambria Math" panose="02040503050406030204" pitchFamily="18" charset="0"/>
                  </a:rPr>
                  <a:t>$u+v=0$</a:t>
                </a:r>
                <a:r>
                  <a:rPr sz="2400" b="0">
                    <a:solidFill>
                      <a:srgbClr val="111827"/>
                    </a:solidFill>
                    <a:latin typeface="Arial"/>
                  </a:rPr>
                  <a:t> (deviations sum to 0).</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 d^2=5\times4=20$</a:t>
                </a:r>
                <a:r>
                  <a:rPr sz="2400" b="0">
                    <a:solidFill>
                      <a:srgbClr val="111827"/>
                    </a:solidFill>
                    <a:latin typeface="Arial"/>
                  </a:rPr>
                  <a:t>: </a:t>
                </a:r>
                <a:r>
                  <a:rPr lang="en-IN" sz="2400">
                    <a:solidFill>
                      <a:srgbClr val="111827"/>
                    </a:solidFill>
                    <a:latin typeface="Cambria Math" panose="02040503050406030204" pitchFamily="18" charset="0"/>
                  </a:rPr>
                  <a:t>$4+0+4+u^2+v^2=20$</a:t>
                </a:r>
                <a:r>
                  <a:rPr sz="2400" b="0">
                    <a:solidFill>
                      <a:srgbClr val="111827"/>
                    </a:solidFill>
                    <a:latin typeface="Arial"/>
                  </a:rPr>
                  <a:t> with </a:t>
                </a:r>
                <a:r>
                  <a:rPr lang="en-IN" sz="2400">
                    <a:solidFill>
                      <a:srgbClr val="111827"/>
                    </a:solidFill>
                    <a:latin typeface="Cambria Math" panose="02040503050406030204" pitchFamily="18" charset="0"/>
                  </a:rPr>
                  <a:t>$v=-u$</a:t>
                </a:r>
                <a:r>
                  <a:rPr sz="2400" b="0">
                    <a:solidFill>
                      <a:srgbClr val="111827"/>
                    </a:solidFill>
                    <a:latin typeface="Arial"/>
                  </a:rPr>
                  <a:t>, so </a:t>
                </a:r>
                <a:r>
                  <a:rPr lang="en-IN" sz="2400">
                    <a:solidFill>
                      <a:srgbClr val="111827"/>
                    </a:solidFill>
                    <a:latin typeface="Cambria Math" panose="02040503050406030204" pitchFamily="18" charset="0"/>
                  </a:rPr>
                  <a:t>$2u^2=12$</a:t>
                </a:r>
                <a:r>
                  <a:rPr sz="2400" b="0">
                    <a:solidFill>
                      <a:srgbClr val="111827"/>
                    </a:solidFill>
                    <a:latin typeface="Arial"/>
                  </a:rPr>
                  <a:t>, </a:t>
                </a:r>
                <a:r>
                  <a:rPr lang="en-IN" sz="2400">
                    <a:solidFill>
                      <a:srgbClr val="111827"/>
                    </a:solidFill>
                    <a:latin typeface="Cambria Math" panose="02040503050406030204" pitchFamily="18" charset="0"/>
                  </a:rPr>
                  <a:t>$u^2=6$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$a,b=5\pm\sqrt6$</a:t>
                </a:r>
                <a:r>
                  <a:rPr sz="2400" b="0">
                    <a:solidFill>
                      <a:srgbClr val="111827"/>
                    </a:solidFill>
                    <a:latin typeface="Arial"/>
                  </a:rPr>
                  <a:t>, so </a:t>
                </a:r>
                <a:r>
                  <a:rPr lang="en-IN" sz="2400">
                    <a:solidFill>
                      <a:srgbClr val="111827"/>
                    </a:solidFill>
                    <a:latin typeface="Cambria Math" panose="02040503050406030204" pitchFamily="18" charset="0"/>
                  </a:rPr>
                  <a:t>$a+b=10$</a:t>
                </a:r>
                <a:r>
                  <a:rPr sz="2400" b="0">
                    <a:solidFill>
                      <a:srgbClr val="111827"/>
                    </a:solidFill>
                    <a:latin typeface="Arial"/>
                  </a:rPr>
                  <a:t> and </a:t>
                </a:r>
                <a:r>
                  <a:rPr lang="en-IN" sz="2400">
                    <a:solidFill>
                      <a:srgbClr val="111827"/>
                    </a:solidFill>
                    <a:latin typeface="Cambria Math" panose="02040503050406030204" pitchFamily="18" charset="0"/>
                  </a:rPr>
                  <a:t>$ab=25-6=19$</a:t>
                </a:r>
                <a:r>
                  <a:rPr sz="2400" b="0">
                    <a:solidFill>
                      <a:srgbClr val="111827"/>
                    </a:solidFill>
                    <a:latin typeface="Arial"/>
                  </a:rPr>
                  <a:t>: the equation </a:t>
                </a:r>
                <a:r>
                  <a:rPr lang="en-IN" sz="2400">
                    <a:solidFill>
                      <a:srgbClr val="111827"/>
                    </a:solidFill>
                    <a:latin typeface="Cambria Math" panose="02040503050406030204" pitchFamily="18" charset="0"/>
                  </a:rPr>
                  <a:t>$x^2-10x+19=0$</a:t>
                </a:r>
                <a:r>
                  <a:rPr sz="2400" b="0">
                    <a:solidFill>
                      <a:srgbClr val="111827"/>
                    </a:solidFill>
                    <a:latin typeface="Arial"/>
                  </a:rPr>
                  <a:t>, the same answer.</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a:t>
                </a:r>
                <a14:m>
                  <m:oMath xmlns:m="http://schemas.openxmlformats.org/officeDocument/2006/math">
                    <m:sSup>
                      <m:e>
                        <m:r>
                          <a:rPr lang="en-IN" sz="2800" i="1">
                            <a:solidFill>
                              <a:srgbClr val="15803D"/>
                            </a:solidFill>
                            <a:latin typeface="Cambria Math" panose="02040503050406030204" pitchFamily="18" charset="0"/>
                          </a:rPr>
                          <m:t>𝑥</m:t>
                        </m:r>
                      </m:e>
                      <m:sup>
                        <m:r>
                          <a:rPr lang="en-IN" sz="2800" i="1">
                            <a:solidFill>
                              <a:srgbClr val="15803D"/>
                            </a:solidFill>
                            <a:latin typeface="Cambria Math" panose="02040503050406030204" pitchFamily="18" charset="0"/>
                          </a:rPr>
                          <m:t>2</m:t>
                        </m:r>
                      </m:sup>
                    </m:sSup>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10</m:t>
                    </m:r>
                    <m:r>
                      <a:rPr lang="en-IN" sz="2800" i="1">
                        <a:solidFill>
                          <a:srgbClr val="15803D"/>
                        </a:solidFill>
                        <a:latin typeface="Cambria Math" panose="02040503050406030204" pitchFamily="18" charset="0"/>
                      </a:rPr>
                      <m:t>𝑥</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19</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0</m:t>
                    </m:r>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a:t>
                </a:r>
                <a:r>
                  <a:rPr lang="en-IN" sz="2800">
                    <a:solidFill>
                      <a:srgbClr val="15803D"/>
                    </a:solidFill>
                    <a:latin typeface="Cambria Math" panose="02040503050406030204" pitchFamily="18" charset="0"/>
                  </a:rPr>
                  <a:t>$x^2-10x+19=0$</a:t>
                </a:r>
                <a:endParaRPr sz="2800">
                  <a:solidFill>
                    <a:srgbClr val="15803D"/>
                  </a:solidFill>
                </a:endParaRPr>
              </a:p>
            </p:txBody>
          </p:sp>
        </mc:Fallback>
      </mc:AlternateContent>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Mean and s.d. of data with two unknowns give the symmetric functions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oMath>
                </a14:m>
                <a:r>
                  <a:rPr sz="2400" b="0">
                    <a:solidFill>
                      <a:srgbClr val="111827"/>
                    </a:solidFill>
                    <a:latin typeface="Arial"/>
                  </a:rPr>
                  <a:t>, so the quadratic is determined without solving for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sum </a:t>
                </a:r>
                <a14:m>
                  <m:oMath xmlns:m="http://schemas.openxmlformats.org/officeDocument/2006/math">
                    <m:r>
                      <a:rPr lang="en-IN" sz="2400" i="1">
                        <a:solidFill>
                          <a:srgbClr val="111827"/>
                        </a:solidFill>
                        <a:latin typeface="Cambria Math" panose="02040503050406030204" pitchFamily="18" charset="0"/>
                      </a:rPr>
                      <m:t>𝑠</m:t>
                    </m:r>
                  </m:oMath>
                </a14:m>
                <a:r>
                  <a:rPr sz="2400" b="0">
                    <a:solidFill>
                      <a:srgbClr val="111827"/>
                    </a:solidFill>
                    <a:latin typeface="Arial"/>
                  </a:rPr>
                  <a:t> and sum of squares </a:t>
                </a:r>
                <a14:m>
                  <m:oMath xmlns:m="http://schemas.openxmlformats.org/officeDocument/2006/math">
                    <m:r>
                      <a:rPr lang="en-IN" sz="2400" i="1">
                        <a:solidFill>
                          <a:srgbClr val="111827"/>
                        </a:solidFill>
                        <a:latin typeface="Cambria Math" panose="02040503050406030204" pitchFamily="18" charset="0"/>
                      </a:rPr>
                      <m:t>𝑞</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𝑠</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Mean and s.d. of data with two unknowns give the symmetric functions </a:t>
                </a:r>
                <a:r>
                  <a:rPr lang="en-IN" sz="2400">
                    <a:solidFill>
                      <a:srgbClr val="111827"/>
                    </a:solidFill>
                    <a:latin typeface="Cambria Math" panose="02040503050406030204" pitchFamily="18" charset="0"/>
                  </a:rPr>
                  <a:t>$a+b$</a:t>
                </a:r>
                <a:r>
                  <a:rPr sz="2400" b="0">
                    <a:solidFill>
                      <a:srgbClr val="111827"/>
                    </a:solidFill>
                    <a:latin typeface="Arial"/>
                  </a:rPr>
                  <a:t> and </a:t>
                </a:r>
                <a:r>
                  <a:rPr lang="en-IN" sz="2400">
                    <a:solidFill>
                      <a:srgbClr val="111827"/>
                    </a:solidFill>
                    <a:latin typeface="Cambria Math" panose="02040503050406030204" pitchFamily="18" charset="0"/>
                  </a:rPr>
                  <a:t>$ab$</a:t>
                </a:r>
                <a:r>
                  <a:rPr sz="2400" b="0">
                    <a:solidFill>
                      <a:srgbClr val="111827"/>
                    </a:solidFill>
                    <a:latin typeface="Arial"/>
                  </a:rPr>
                  <a:t>, so the quadratic is determined without solving for </a:t>
                </a:r>
                <a:r>
                  <a:rPr lang="en-IN" sz="2400">
                    <a:solidFill>
                      <a:srgbClr val="111827"/>
                    </a:solidFill>
                    <a:latin typeface="Cambria Math" panose="02040503050406030204" pitchFamily="18" charset="0"/>
                  </a:rPr>
                  <a:t>$a,b$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sum </a:t>
                </a:r>
                <a:r>
                  <a:rPr lang="en-IN" sz="2400">
                    <a:solidFill>
                      <a:srgbClr val="111827"/>
                    </a:solidFill>
                    <a:latin typeface="Cambria Math" panose="02040503050406030204" pitchFamily="18" charset="0"/>
                  </a:rPr>
                  <a:t>$s$</a:t>
                </a:r>
                <a:r>
                  <a:rPr sz="2400" b="0">
                    <a:solidFill>
                      <a:srgbClr val="111827"/>
                    </a:solidFill>
                    <a:latin typeface="Arial"/>
                  </a:rPr>
                  <a:t> and sum of squares </a:t>
                </a:r>
                <a:r>
                  <a:rPr lang="en-IN" sz="2400">
                    <a:solidFill>
                      <a:srgbClr val="111827"/>
                    </a:solidFill>
                    <a:latin typeface="Cambria Math" panose="02040503050406030204" pitchFamily="18" charset="0"/>
                  </a:rPr>
                  <a:t>$q$</a:t>
                </a:r>
                <a:r>
                  <a:rPr sz="2400" b="0">
                    <a:solidFill>
                      <a:srgbClr val="111827"/>
                    </a:solidFill>
                    <a:latin typeface="Arial"/>
                  </a:rPr>
                  <a:t>: </a:t>
                </a:r>
                <a:r>
                  <a:rPr lang="en-IN" sz="2400">
                    <a:solidFill>
                      <a:srgbClr val="111827"/>
                    </a:solidFill>
                    <a:latin typeface="Cambria Math" panose="02040503050406030204" pitchFamily="18" charset="0"/>
                  </a:rPr>
                  <a:t>$ab=\frac{s^2-q}{2}$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4434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𝑛</m:t>
                        </m:r>
                      </m:sup>
                      <m:e>
                        <m:r>
                          <m:rPr>
                            <m:sty m:val="p"/>
                          </m:rPr>
                          <a:rPr lang="en-IN" sz="2400">
                            <a:solidFill>
                              <a:srgbClr val="111827"/>
                            </a:solidFill>
                            <a:latin typeface="Cambria Math" panose="02040503050406030204" pitchFamily="18" charset="0"/>
                          </a:rPr>
                          <m:t>(</m:t>
                        </m:r>
                      </m:e>
                    </m:nary>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 and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𝑛</m:t>
                        </m:r>
                      </m:sup>
                      <m:e>
                        <m:r>
                          <m:rPr>
                            <m:sty m:val="p"/>
                          </m:rPr>
                          <a:rPr lang="en-IN" sz="2400">
                            <a:solidFill>
                              <a:srgbClr val="111827"/>
                            </a:solidFill>
                            <a:latin typeface="Cambria Math" panose="02040503050406030204" pitchFamily="18" charset="0"/>
                          </a:rPr>
                          <m:t>(</m:t>
                        </m:r>
                      </m:e>
                    </m:nary>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a:rPr lang="en-IN" sz="2400" i="1">
                        <a:solidFill>
                          <a:srgbClr val="111827"/>
                        </a:solidFill>
                        <a:latin typeface="Cambria Math" panose="02040503050406030204" pitchFamily="18" charset="0"/>
                      </a:rPr>
                      <m:t>𝑎</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the standard deviation of the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observations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𝑛</m:t>
                        </m:r>
                      </m:sub>
                    </m:sSub>
                  </m:oMath>
                </a14:m>
                <a:r>
                  <a:rPr sz="2400" b="0">
                    <a:solidFill>
                      <a:srgbClr val="111827"/>
                    </a:solidFill>
                    <a:latin typeface="Arial"/>
                  </a:rPr>
                  <a:t> is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e>
                    </m:rad>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𝑛</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rad>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(D)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rad>
                  </m:oMath>
                </a14:m>
                <a:endParaRPr sz="2400">
                  <a:solidFill>
                    <a:srgbClr val="111827"/>
                  </a:solidFill>
                </a:endParaRPr>
              </a:p>
            </p:txBody>
          </p:sp>
        </mc:Choice>
        <mc:Fallback>
          <p:sp>
            <p:nvSpPr>
              <p:cNvPr id="4" name="Rounded Rectangle 3"/>
              <p:cNvSpPr/>
              <p:nvPr/>
            </p:nvSpPr>
            <p:spPr>
              <a:xfrm>
                <a:off x="731520" y="1280160"/>
                <a:ext cx="10725912" cy="24434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$\sum_{i=1}^{n}(x_i-a)=n$</a:t>
                </a:r>
                <a:r>
                  <a:rPr sz="2400" b="0">
                    <a:solidFill>
                      <a:srgbClr val="111827"/>
                    </a:solidFill>
                    <a:latin typeface="Arial"/>
                  </a:rPr>
                  <a:t> and </a:t>
                </a:r>
                <a:r>
                  <a:rPr lang="en-IN" sz="2400">
                    <a:solidFill>
                      <a:srgbClr val="111827"/>
                    </a:solidFill>
                    <a:latin typeface="Cambria Math" panose="02040503050406030204" pitchFamily="18" charset="0"/>
                  </a:rPr>
                  <a:t>$\sum_{i=1}^{n}(x_i-a)^2=na$</a:t>
                </a:r>
                <a:r>
                  <a:rPr sz="2400" b="0">
                    <a:solidFill>
                      <a:srgbClr val="111827"/>
                    </a:solidFill>
                    <a:latin typeface="Arial"/>
                  </a:rPr>
                  <a:t>, </a:t>
                </a:r>
                <a:r>
                  <a:rPr lang="en-IN" sz="2400">
                    <a:solidFill>
                      <a:srgbClr val="111827"/>
                    </a:solidFill>
                    <a:latin typeface="Cambria Math" panose="02040503050406030204" pitchFamily="18" charset="0"/>
                  </a:rPr>
                  <a:t>$(n,a&gt;1)$</a:t>
                </a:r>
                <a:r>
                  <a:rPr sz="2400" b="0">
                    <a:solidFill>
                      <a:srgbClr val="111827"/>
                    </a:solidFill>
                    <a:latin typeface="Arial"/>
                  </a:rPr>
                  <a:t>, then the standard deviation of the </a:t>
                </a:r>
                <a:r>
                  <a:rPr lang="en-IN" sz="2400">
                    <a:solidFill>
                      <a:srgbClr val="111827"/>
                    </a:solidFill>
                    <a:latin typeface="Cambria Math" panose="02040503050406030204" pitchFamily="18" charset="0"/>
                  </a:rPr>
                  <a:t>$n$</a:t>
                </a:r>
                <a:r>
                  <a:rPr sz="2400" b="0">
                    <a:solidFill>
                      <a:srgbClr val="111827"/>
                    </a:solidFill>
                    <a:latin typeface="Arial"/>
                  </a:rPr>
                  <a:t> observations </a:t>
                </a:r>
                <a:r>
                  <a:rPr lang="en-IN" sz="2400">
                    <a:solidFill>
                      <a:srgbClr val="111827"/>
                    </a:solidFill>
                    <a:latin typeface="Cambria Math" panose="02040503050406030204" pitchFamily="18" charset="0"/>
                  </a:rPr>
                  <a:t>$x_1,x_2,\dots,x_n$</a:t>
                </a:r>
                <a:r>
                  <a:rPr sz="2400" b="0">
                    <a:solidFill>
                      <a:srgbClr val="111827"/>
                    </a:solidFill>
                    <a:latin typeface="Arial"/>
                  </a:rPr>
                  <a:t> is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$\sqrt{n(a-1)}$</a:t>
                </a:r>
                <a:r>
                  <a:rPr sz="2400" b="0">
                    <a:solidFill>
                      <a:srgbClr val="111827"/>
                    </a:solidFill>
                    <a:latin typeface="Arial"/>
                  </a:rPr>
                  <a:t>   (B) </a:t>
                </a:r>
                <a:r>
                  <a:rPr lang="en-IN" sz="2400">
                    <a:solidFill>
                      <a:srgbClr val="111827"/>
                    </a:solidFill>
                    <a:latin typeface="Cambria Math" panose="02040503050406030204" pitchFamily="18" charset="0"/>
                  </a:rPr>
                  <a:t>$n\sqrt{a-1}$</a:t>
                </a:r>
                <a:r>
                  <a:rPr sz="2400" b="0">
                    <a:solidFill>
                      <a:srgbClr val="111827"/>
                    </a:solidFill>
                    <a:latin typeface="Arial"/>
                  </a:rPr>
                  <a:t>   (C) </a:t>
                </a:r>
                <a:r>
                  <a:rPr lang="en-IN" sz="2400">
                    <a:solidFill>
                      <a:srgbClr val="111827"/>
                    </a:solidFill>
                    <a:latin typeface="Cambria Math" panose="02040503050406030204" pitchFamily="18" charset="0"/>
                  </a:rPr>
                  <a:t>$a-1$</a:t>
                </a:r>
                <a:r>
                  <a:rPr sz="2400" b="0">
                    <a:solidFill>
                      <a:srgbClr val="111827"/>
                    </a:solidFill>
                    <a:latin typeface="Arial"/>
                  </a:rPr>
                  <a:t>   (D) </a:t>
                </a:r>
                <a:r>
                  <a:rPr lang="en-IN" sz="2400">
                    <a:solidFill>
                      <a:srgbClr val="111827"/>
                    </a:solidFill>
                    <a:latin typeface="Cambria Math" panose="02040503050406030204" pitchFamily="18" charset="0"/>
                  </a:rPr>
                  <a:t>$\sqrt{a-1}$</a:t>
                </a:r>
                <a:endParaRPr sz="2400">
                  <a:solidFill>
                    <a:srgbClr val="111827"/>
                  </a:solidFill>
                </a:endParaRPr>
              </a:p>
            </p:txBody>
          </p:sp>
        </mc:Fallback>
      </mc:AlternateContent>
      <p:sp>
        <p:nvSpPr>
          <p:cNvPr id="5" name="Rectangle 4"/>
          <p:cNvSpPr/>
          <p:nvPr/>
        </p:nvSpPr>
        <p:spPr>
          <a:xfrm>
            <a:off x="731520" y="3952239"/>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Standard deviation from sums about a point</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Shifting the origin to </a:t>
                </a:r>
                <a14:m>
                  <m:oMath xmlns:m="http://schemas.openxmlformats.org/officeDocument/2006/math">
                    <m:r>
                      <a:rPr lang="en-IN" sz="2400" i="1">
                        <a:solidFill>
                          <a:srgbClr val="78350F"/>
                        </a:solidFill>
                        <a:latin typeface="Cambria Math" panose="02040503050406030204" pitchFamily="18" charset="0"/>
                      </a:rPr>
                      <m:t>𝑎</m:t>
                    </m:r>
                  </m:oMath>
                </a14:m>
                <a:r>
                  <a:rPr sz="2400" b="0">
                    <a:solidFill>
                      <a:srgbClr val="78350F"/>
                    </a:solidFill>
                    <a:latin typeface="Arial"/>
                  </a:rPr>
                  <a:t> does not change the variance: </a:t>
                </a:r>
                <a14:m>
                  <m:oMath xmlns:m="http://schemas.openxmlformats.org/officeDocument/2006/math">
                    <m:sSup>
                      <m:e>
                        <m:r>
                          <a:rPr lang="en-IN" sz="2400" i="1">
                            <a:solidFill>
                              <a:srgbClr val="78350F"/>
                            </a:solidFill>
                            <a:latin typeface="Cambria Math" panose="02040503050406030204" pitchFamily="18" charset="0"/>
                          </a:rPr>
                          <m:t>σ</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𝑦</m:t>
                            </m:r>
                          </m:e>
                          <m:sup>
                            <m:r>
                              <a:rPr lang="en-IN" sz="2400" i="1">
                                <a:solidFill>
                                  <a:srgbClr val="78350F"/>
                                </a:solidFill>
                                <a:latin typeface="Cambria Math" panose="02040503050406030204" pitchFamily="18" charset="0"/>
                              </a:rPr>
                              <m:t>2</m:t>
                            </m:r>
                          </m:sup>
                        </m:sSup>
                      </m:num>
                      <m:den>
                        <m:r>
                          <a:rPr lang="en-IN" sz="2400" i="1">
                            <a:solidFill>
                              <a:srgbClr val="78350F"/>
                            </a:solidFill>
                            <a:latin typeface="Cambria Math" panose="02040503050406030204" pitchFamily="18" charset="0"/>
                          </a:rPr>
                          <m:t>𝑛</m:t>
                        </m:r>
                      </m:den>
                    </m:f>
                    <m:r>
                      <m:rPr>
                        <m:sty m:val="p"/>
                      </m:rPr>
                      <a:rPr lang="en-IN" sz="2400">
                        <a:solidFill>
                          <a:srgbClr val="78350F"/>
                        </a:solidFill>
                        <a:latin typeface="Cambria Math" panose="02040503050406030204" pitchFamily="18" charset="0"/>
                      </a:rPr>
                      <m:t>−</m:t>
                    </m:r>
                    <m:sSup>
                      <m:e>
                        <m:d>
                          <m:dPr>
                            <m:begChr m:val="("/>
                            <m:sepChr m:val=""/>
                            <m:endChr m:val=")"/>
                            <m:grow/>
                            <m:ctrlPr>
                              <a:rPr lang="en-IN" sz="2400" i="1">
                                <a:solidFill>
                                  <a:srgbClr val="78350F"/>
                                </a:solidFill>
                                <a:latin typeface="Cambria Math" panose="02040503050406030204" pitchFamily="18" charset="0"/>
                              </a:rPr>
                            </m:ctrlPr>
                          </m:dPr>
                          <m:e>
                            <m:f>
                              <m:fPr>
                                <m:type m:val="bar"/>
                                <m:ctrlPr>
                                  <a:rPr lang="en-IN" sz="2400" i="1">
                                    <a:solidFill>
                                      <a:srgbClr val="78350F"/>
                                    </a:solidFill>
                                    <a:latin typeface="Cambria Math" panose="02040503050406030204" pitchFamily="18" charset="0"/>
                                  </a:rPr>
                                </m:ctrlPr>
                              </m:fPr>
                              <m:num>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num>
                              <m:den>
                                <m:r>
                                  <a:rPr lang="en-IN" sz="2400" i="1">
                                    <a:solidFill>
                                      <a:srgbClr val="78350F"/>
                                    </a:solidFill>
                                    <a:latin typeface="Cambria Math" panose="02040503050406030204" pitchFamily="18" charset="0"/>
                                  </a:rPr>
                                  <m:t>𝑛</m:t>
                                </m:r>
                              </m:den>
                            </m:f>
                          </m:e>
                        </m:d>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with </a:t>
                </a:r>
                <a14:m>
                  <m:oMath xmlns:m="http://schemas.openxmlformats.org/officeDocument/2006/math">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𝑎</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Shifting the origin to </a:t>
                </a:r>
                <a:r>
                  <a:rPr lang="en-IN" sz="2400">
                    <a:solidFill>
                      <a:srgbClr val="78350F"/>
                    </a:solidFill>
                    <a:latin typeface="Cambria Math" panose="02040503050406030204" pitchFamily="18" charset="0"/>
                  </a:rPr>
                  <a:t>$a$</a:t>
                </a:r>
                <a:r>
                  <a:rPr sz="2400" b="0">
                    <a:solidFill>
                      <a:srgbClr val="78350F"/>
                    </a:solidFill>
                    <a:latin typeface="Arial"/>
                  </a:rPr>
                  <a:t> does not change the variance: </a:t>
                </a:r>
                <a:r>
                  <a:rPr lang="en-IN" sz="2400">
                    <a:solidFill>
                      <a:srgbClr val="78350F"/>
                    </a:solidFill>
                    <a:latin typeface="Cambria Math" panose="02040503050406030204" pitchFamily="18" charset="0"/>
                  </a:rPr>
                  <a:t>$\sigma^2=\frac{\sum y^2}{n}-\left(\frac{\sum y}{n}\right)^2$</a:t>
                </a:r>
                <a:r>
                  <a:rPr sz="2400" b="0">
                    <a:solidFill>
                      <a:srgbClr val="78350F"/>
                    </a:solidFill>
                    <a:latin typeface="Arial"/>
                  </a:rPr>
                  <a:t> with </a:t>
                </a:r>
                <a:r>
                  <a:rPr lang="en-IN" sz="2400">
                    <a:solidFill>
                      <a:srgbClr val="78350F"/>
                    </a:solidFill>
                    <a:latin typeface="Cambria Math" panose="02040503050406030204" pitchFamily="18" charset="0"/>
                  </a:rPr>
                  <a:t>$y=x-a$</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746248"/>
                <a:ext cx="10725912" cy="304190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Put </a:t>
                </a:r>
                <a14:m>
                  <m:oMath xmlns:m="http://schemas.openxmlformats.org/officeDocument/2006/math">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a:rPr lang="en-IN" sz="2400" i="1">
                        <a:solidFill>
                          <a:srgbClr val="111827"/>
                        </a:solidFill>
                        <a:latin typeface="Cambria Math" panose="02040503050406030204" pitchFamily="18" charset="0"/>
                      </a:rPr>
                      <m:t>𝑎</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2</m:t>
                            </m:r>
                          </m:sup>
                        </m:sSubSup>
                      </m:num>
                      <m:den>
                        <m:r>
                          <a:rPr lang="en-IN" sz="2400" i="1">
                            <a:solidFill>
                              <a:srgbClr val="111827"/>
                            </a:solidFill>
                            <a:latin typeface="Cambria Math" panose="02040503050406030204" pitchFamily="18" charset="0"/>
                          </a:rPr>
                          <m:t>𝑛</m:t>
                        </m:r>
                      </m:den>
                    </m:f>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𝑖</m:t>
                                    </m:r>
                                  </m:sub>
                                </m:sSub>
                              </m:num>
                              <m:den>
                                <m:r>
                                  <a:rPr lang="en-IN" sz="2400" i="1">
                                    <a:solidFill>
                                      <a:srgbClr val="111827"/>
                                    </a:solidFill>
                                    <a:latin typeface="Cambria Math" panose="02040503050406030204" pitchFamily="18" charset="0"/>
                                  </a:rPr>
                                  <m:t>𝑛</m:t>
                                </m:r>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𝑛</m:t>
                        </m:r>
                      </m:den>
                    </m:f>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𝑛</m:t>
                                </m:r>
                              </m:den>
                            </m:f>
                          </m:e>
                        </m:d>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σ</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rad>
                  </m:oMath>
                </a14:m>
                <a:r>
                  <a:rPr sz="2400" b="0">
                    <a:solidFill>
                      <a:srgbClr val="111827"/>
                    </a:solidFill>
                    <a:latin typeface="Arial"/>
                  </a:rPr>
                  <a:t>, option (D).</a:t>
                </a:r>
                <a:endParaRPr sz="2400">
                  <a:solidFill>
                    <a:srgbClr val="111827"/>
                  </a:solidFill>
                </a:endParaRPr>
              </a:p>
            </p:txBody>
          </p:sp>
        </mc:Choice>
        <mc:Fallback>
          <p:sp>
            <p:nvSpPr>
              <p:cNvPr id="5" name="Rectangle 4"/>
              <p:cNvSpPr/>
              <p:nvPr/>
            </p:nvSpPr>
            <p:spPr>
              <a:xfrm>
                <a:off x="731520" y="2746248"/>
                <a:ext cx="10725912" cy="304190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Put </a:t>
                </a:r>
                <a:r>
                  <a:rPr lang="en-IN" sz="2400">
                    <a:solidFill>
                      <a:srgbClr val="111827"/>
                    </a:solidFill>
                    <a:latin typeface="Cambria Math" panose="02040503050406030204" pitchFamily="18" charset="0"/>
                  </a:rPr>
                  <a:t>$y_i=x_i-a$</a:t>
                </a:r>
                <a:r>
                  <a:rPr sz="2400" b="0">
                    <a:solidFill>
                      <a:srgbClr val="111827"/>
                    </a:solidFill>
                    <a:latin typeface="Arial"/>
                  </a:rPr>
                  <a:t>: </a:t>
                </a:r>
                <a:r>
                  <a:rPr lang="en-IN" sz="2400">
                    <a:solidFill>
                      <a:srgbClr val="111827"/>
                    </a:solidFill>
                    <a:latin typeface="Cambria Math" panose="02040503050406030204" pitchFamily="18" charset="0"/>
                  </a:rPr>
                  <a:t>$\sum y_i=n$</a:t>
                </a:r>
                <a:r>
                  <a:rPr sz="2400" b="0">
                    <a:solidFill>
                      <a:srgbClr val="111827"/>
                    </a:solidFill>
                    <a:latin typeface="Arial"/>
                  </a:rPr>
                  <a:t> and </a:t>
                </a:r>
                <a:r>
                  <a:rPr lang="en-IN" sz="2400">
                    <a:solidFill>
                      <a:srgbClr val="111827"/>
                    </a:solidFill>
                    <a:latin typeface="Cambria Math" panose="02040503050406030204" pitchFamily="18" charset="0"/>
                  </a:rPr>
                  <a:t>$\sum y_i^2=na$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$\sigma^2=\frac{\sum y_i^2}{n}-\left(\frac{\sum y_i}{n}\right)^2=\frac{na}{n}-\left(\frac{n}{n}\right)^2$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$\sigma^2=a-1$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$\sigma=\sqrt{a-1}$</a:t>
                </a:r>
                <a:r>
                  <a:rPr sz="2400" b="0">
                    <a:solidFill>
                      <a:srgbClr val="111827"/>
                    </a:solidFill>
                    <a:latin typeface="Arial"/>
                  </a:rPr>
                  <a:t>, option (D).</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14:m>
                  <m:oMath xmlns:m="http://schemas.openxmlformats.org/officeDocument/2006/math">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𝑎</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e>
                    </m:rad>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r>
                  <a:rPr lang="en-IN" sz="2800">
                    <a:solidFill>
                      <a:srgbClr val="15803D"/>
                    </a:solidFill>
                    <a:latin typeface="Cambria Math" panose="02040503050406030204" pitchFamily="18" charset="0"/>
                  </a:rPr>
                  <a:t>$\sqrt{a-1}$</a:t>
                </a:r>
                <a:endParaRPr sz="2800">
                  <a:solidFill>
                    <a:srgbClr val="15803D"/>
                  </a:solidFill>
                </a:endParaRPr>
              </a:p>
            </p:txBody>
          </p:sp>
        </mc:Fallback>
      </mc:AlternateContent>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terms of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oMath>
                </a14:m>
                <a:r>
                  <a:rPr sz="2400" b="0">
                    <a:solidFill>
                      <a:srgbClr val="111827"/>
                    </a:solidFill>
                    <a:latin typeface="Arial"/>
                  </a:rPr>
                  <a:t>: mean of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 is </a:t>
                </a:r>
                <a14:m>
                  <m:oMath xmlns:m="http://schemas.openxmlformats.org/officeDocument/2006/math">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1</m:t>
                            </m:r>
                          </m:sub>
                        </m:sSub>
                      </m:num>
                      <m:den>
                        <m:r>
                          <a:rPr lang="en-IN" sz="2400" i="1">
                            <a:solidFill>
                              <a:srgbClr val="111827"/>
                            </a:solidFill>
                            <a:latin typeface="Cambria Math" panose="02040503050406030204" pitchFamily="18" charset="0"/>
                          </a:rPr>
                          <m:t>𝑛</m:t>
                        </m:r>
                      </m:den>
                    </m:f>
                  </m:oMath>
                </a14:m>
                <a:r>
                  <a:rPr sz="2400" b="0">
                    <a:solidFill>
                      <a:srgbClr val="111827"/>
                    </a:solidFill>
                    <a:latin typeface="Arial"/>
                  </a:rPr>
                  <a:t> and mean of </a:t>
                </a:r>
                <a14:m>
                  <m:oMath xmlns:m="http://schemas.openxmlformats.org/officeDocument/2006/math">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is </a:t>
                </a:r>
                <a14:m>
                  <m:oMath xmlns:m="http://schemas.openxmlformats.org/officeDocument/2006/math">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2</m:t>
                            </m:r>
                          </m:sub>
                        </m:sSub>
                      </m:num>
                      <m:den>
                        <m:r>
                          <a:rPr lang="en-IN" sz="2400" i="1">
                            <a:solidFill>
                              <a:srgbClr val="111827"/>
                            </a:solidFill>
                            <a:latin typeface="Cambria Math" panose="02040503050406030204" pitchFamily="18" charset="0"/>
                          </a:rPr>
                          <m:t>𝑛</m:t>
                        </m:r>
                      </m:den>
                    </m:f>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is their 'mean of squares minus square of mean'.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Because </a:t>
                </a:r>
                <a14:m>
                  <m:oMath xmlns:m="http://schemas.openxmlformats.org/officeDocument/2006/math">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the data force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that is why the question says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terms of </a:t>
                </a:r>
                <a:r>
                  <a:rPr lang="en-IN" sz="2400">
                    <a:solidFill>
                      <a:srgbClr val="111827"/>
                    </a:solidFill>
                    <a:latin typeface="Cambria Math" panose="02040503050406030204" pitchFamily="18" charset="0"/>
                  </a:rPr>
                  <a:t>$y=x-a$</a:t>
                </a:r>
                <a:r>
                  <a:rPr sz="2400" b="0">
                    <a:solidFill>
                      <a:srgbClr val="111827"/>
                    </a:solidFill>
                    <a:latin typeface="Arial"/>
                  </a:rPr>
                  <a:t>: mean of </a:t>
                </a:r>
                <a:r>
                  <a:rPr lang="en-IN" sz="2400">
                    <a:solidFill>
                      <a:srgbClr val="111827"/>
                    </a:solidFill>
                    <a:latin typeface="Cambria Math" panose="02040503050406030204" pitchFamily="18" charset="0"/>
                  </a:rPr>
                  <a:t>$y$</a:t>
                </a:r>
                <a:r>
                  <a:rPr sz="2400" b="0">
                    <a:solidFill>
                      <a:srgbClr val="111827"/>
                    </a:solidFill>
                    <a:latin typeface="Arial"/>
                  </a:rPr>
                  <a:t> is </a:t>
                </a:r>
                <a:r>
                  <a:rPr lang="en-IN" sz="2400">
                    <a:solidFill>
                      <a:srgbClr val="111827"/>
                    </a:solidFill>
                    <a:latin typeface="Cambria Math" panose="02040503050406030204" pitchFamily="18" charset="0"/>
                  </a:rPr>
                  <a:t>$\frac{S_1}{n}$</a:t>
                </a:r>
                <a:r>
                  <a:rPr sz="2400" b="0">
                    <a:solidFill>
                      <a:srgbClr val="111827"/>
                    </a:solidFill>
                    <a:latin typeface="Arial"/>
                  </a:rPr>
                  <a:t> and mean of </a:t>
                </a:r>
                <a:r>
                  <a:rPr lang="en-IN" sz="2400">
                    <a:solidFill>
                      <a:srgbClr val="111827"/>
                    </a:solidFill>
                    <a:latin typeface="Cambria Math" panose="02040503050406030204" pitchFamily="18" charset="0"/>
                  </a:rPr>
                  <a:t>$y^2$</a:t>
                </a:r>
                <a:r>
                  <a:rPr sz="2400" b="0">
                    <a:solidFill>
                      <a:srgbClr val="111827"/>
                    </a:solidFill>
                    <a:latin typeface="Arial"/>
                  </a:rPr>
                  <a:t> is </a:t>
                </a:r>
                <a:r>
                  <a:rPr lang="en-IN" sz="2400">
                    <a:solidFill>
                      <a:srgbClr val="111827"/>
                    </a:solidFill>
                    <a:latin typeface="Cambria Math" panose="02040503050406030204" pitchFamily="18" charset="0"/>
                  </a:rPr>
                  <a:t>$\frac{S_2}{n}$</a:t>
                </a:r>
                <a:r>
                  <a:rPr sz="2400" b="0">
                    <a:solidFill>
                      <a:srgbClr val="111827"/>
                    </a:solidFill>
                    <a:latin typeface="Arial"/>
                  </a:rPr>
                  <a:t>; </a:t>
                </a:r>
                <a:r>
                  <a:rPr lang="en-IN" sz="2400">
                    <a:solidFill>
                      <a:srgbClr val="111827"/>
                    </a:solidFill>
                    <a:latin typeface="Cambria Math" panose="02040503050406030204" pitchFamily="18" charset="0"/>
                  </a:rPr>
                  <a:t>$\sigma^2$</a:t>
                </a:r>
                <a:r>
                  <a:rPr sz="2400" b="0">
                    <a:solidFill>
                      <a:srgbClr val="111827"/>
                    </a:solidFill>
                    <a:latin typeface="Arial"/>
                  </a:rPr>
                  <a:t> is their 'mean of squares minus square of mean'.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Because </a:t>
                </a:r>
                <a:r>
                  <a:rPr lang="en-IN" sz="2400">
                    <a:solidFill>
                      <a:srgbClr val="111827"/>
                    </a:solidFill>
                    <a:latin typeface="Cambria Math" panose="02040503050406030204" pitchFamily="18" charset="0"/>
                  </a:rPr>
                  <a:t>$\sigma^2\ge0$</a:t>
                </a:r>
                <a:r>
                  <a:rPr sz="2400" b="0">
                    <a:solidFill>
                      <a:srgbClr val="111827"/>
                    </a:solidFill>
                    <a:latin typeface="Arial"/>
                  </a:rPr>
                  <a:t>, the data force </a:t>
                </a:r>
                <a:r>
                  <a:rPr lang="en-IN" sz="2400">
                    <a:solidFill>
                      <a:srgbClr val="111827"/>
                    </a:solidFill>
                    <a:latin typeface="Cambria Math" panose="02040503050406030204" pitchFamily="18" charset="0"/>
                  </a:rPr>
                  <a:t>$a\ge1$</a:t>
                </a:r>
                <a:r>
                  <a:rPr sz="2400" b="0">
                    <a:solidFill>
                      <a:srgbClr val="111827"/>
                    </a:solidFill>
                    <a:latin typeface="Arial"/>
                  </a:rPr>
                  <a:t>; that is why the question says </a:t>
                </a:r>
                <a:r>
                  <a:rPr lang="en-IN" sz="2400">
                    <a:solidFill>
                      <a:srgbClr val="111827"/>
                    </a:solidFill>
                    <a:latin typeface="Cambria Math" panose="02040503050406030204" pitchFamily="18" charset="0"/>
                  </a:rPr>
                  <a:t>$a&gt;1$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8</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Numerical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Q36 – Q38</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4 marks each (no marks printed in the sheet - JEE Advanced default of 4 assumed)</a:t>
            </a:r>
            <a:endParaRPr sz="2800">
              <a:solidFill>
                <a:srgbClr val="FFFFFF"/>
              </a:solidFill>
            </a:endParaRP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11785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Consider the data on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taking the values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with frequencies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𝑛</m:t>
                        </m:r>
                      </m:sub>
                    </m:sSub>
                  </m:oMath>
                </a14:m>
                <a:r>
                  <a:rPr sz="2400" b="0">
                    <a:solidFill>
                      <a:srgbClr val="111827"/>
                    </a:solidFill>
                    <a:latin typeface="Arial"/>
                  </a:rPr>
                  <a:t> respectively. If the mean of this data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728</m:t>
                        </m:r>
                      </m:num>
                      <m:den>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sup>
                        </m:sSup>
                      </m:den>
                    </m:f>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is equal to ______.</a:t>
                </a:r>
                <a:endParaRPr sz="2400">
                  <a:solidFill>
                    <a:srgbClr val="111827"/>
                  </a:solidFill>
                </a:endParaRPr>
              </a:p>
            </p:txBody>
          </p:sp>
        </mc:Choice>
        <mc:Fallback>
          <p:sp>
            <p:nvSpPr>
              <p:cNvPr id="4" name="Rounded Rectangle 3"/>
              <p:cNvSpPr/>
              <p:nvPr/>
            </p:nvSpPr>
            <p:spPr>
              <a:xfrm>
                <a:off x="731520" y="1280160"/>
                <a:ext cx="10725912" cy="211785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Consider the data on </a:t>
                </a:r>
                <a:r>
                  <a:rPr lang="en-IN" sz="2400">
                    <a:solidFill>
                      <a:srgbClr val="111827"/>
                    </a:solidFill>
                    <a:latin typeface="Cambria Math" panose="02040503050406030204" pitchFamily="18" charset="0"/>
                  </a:rPr>
                  <a:t>$x$</a:t>
                </a:r>
                <a:r>
                  <a:rPr sz="2400" b="0">
                    <a:solidFill>
                      <a:srgbClr val="111827"/>
                    </a:solidFill>
                    <a:latin typeface="Arial"/>
                  </a:rPr>
                  <a:t> taking the values </a:t>
                </a:r>
                <a:r>
                  <a:rPr lang="en-IN" sz="2400">
                    <a:solidFill>
                      <a:srgbClr val="111827"/>
                    </a:solidFill>
                    <a:latin typeface="Cambria Math" panose="02040503050406030204" pitchFamily="18" charset="0"/>
                  </a:rPr>
                  <a:t>$0,2,2^2,2^3,\dots,2^n$</a:t>
                </a:r>
                <a:r>
                  <a:rPr sz="2400" b="0">
                    <a:solidFill>
                      <a:srgbClr val="111827"/>
                    </a:solidFill>
                    <a:latin typeface="Arial"/>
                  </a:rPr>
                  <a:t> with frequencies </a:t>
                </a:r>
                <a:r>
                  <a:rPr lang="en-IN" sz="2400">
                    <a:solidFill>
                      <a:srgbClr val="111827"/>
                    </a:solidFill>
                    <a:latin typeface="Cambria Math" panose="02040503050406030204" pitchFamily="18" charset="0"/>
                  </a:rPr>
                  <a:t>${}^nC_0,{}^nC_1,{}^nC_2,\dots,{}^nC_n$</a:t>
                </a:r>
                <a:r>
                  <a:rPr sz="2400" b="0">
                    <a:solidFill>
                      <a:srgbClr val="111827"/>
                    </a:solidFill>
                    <a:latin typeface="Arial"/>
                  </a:rPr>
                  <a:t> respectively. If the mean of this data is </a:t>
                </a:r>
                <a:r>
                  <a:rPr lang="en-IN" sz="2400">
                    <a:solidFill>
                      <a:srgbClr val="111827"/>
                    </a:solidFill>
                    <a:latin typeface="Cambria Math" panose="02040503050406030204" pitchFamily="18" charset="0"/>
                  </a:rPr>
                  <a:t>$\frac{728}{2^n}$</a:t>
                </a:r>
                <a:r>
                  <a:rPr sz="2400" b="0">
                    <a:solidFill>
                      <a:srgbClr val="111827"/>
                    </a:solidFill>
                    <a:latin typeface="Arial"/>
                  </a:rPr>
                  <a:t>, then </a:t>
                </a:r>
                <a:r>
                  <a:rPr lang="en-IN" sz="2400">
                    <a:solidFill>
                      <a:srgbClr val="111827"/>
                    </a:solidFill>
                    <a:latin typeface="Cambria Math" panose="02040503050406030204" pitchFamily="18" charset="0"/>
                  </a:rPr>
                  <a:t>$n$</a:t>
                </a:r>
                <a:r>
                  <a:rPr sz="2400" b="0">
                    <a:solidFill>
                      <a:srgbClr val="111827"/>
                    </a:solidFill>
                    <a:latin typeface="Arial"/>
                  </a:rPr>
                  <a:t> is equal to ______.</a:t>
                </a:r>
                <a:endParaRPr sz="2400">
                  <a:solidFill>
                    <a:srgbClr val="111827"/>
                  </a:solidFill>
                </a:endParaRPr>
              </a:p>
            </p:txBody>
          </p:sp>
        </mc:Fallback>
      </mc:AlternateContent>
      <p:sp>
        <p:nvSpPr>
          <p:cNvPr id="5" name="Rectangle 4"/>
          <p:cNvSpPr/>
          <p:nvPr/>
        </p:nvSpPr>
        <p:spPr>
          <a:xfrm>
            <a:off x="731520" y="3626611"/>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Mean of a frequency distribution with binomial frequencies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Frequency </a:t>
                </a:r>
                <a14:m>
                  <m:oMath xmlns:m="http://schemas.openxmlformats.org/officeDocument/2006/math">
                    <m:r>
                      <m:rPr>
                        <m:sty m:val="p"/>
                      </m:rPr>
                      <a:rPr lang="en-IN" sz="2400">
                        <a:solidFill>
                          <a:srgbClr val="78350F"/>
                        </a:solidFill>
                        <a:latin typeface="Cambria Math" panose="02040503050406030204" pitchFamily="18" charset="0"/>
                      </a:rPr>
                      <m:t>×</m:t>
                    </m:r>
                  </m:oMath>
                </a14:m>
                <a:r>
                  <a:rPr sz="2400" b="0">
                    <a:solidFill>
                      <a:srgbClr val="78350F"/>
                    </a:solidFill>
                    <a:latin typeface="Arial"/>
                  </a:rPr>
                  <a:t> value gives </a:t>
                </a:r>
                <a14:m>
                  <m:oMath xmlns:m="http://schemas.openxmlformats.org/officeDocument/2006/math">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𝑛</m:t>
                        </m:r>
                      </m:sup>
                    </m:sSup>
                    <m:sSub>
                      <m:e>
                        <m:r>
                          <a:rPr lang="en-IN" sz="2400" i="1">
                            <a:solidFill>
                              <a:srgbClr val="78350F"/>
                            </a:solidFill>
                            <a:latin typeface="Cambria Math" panose="02040503050406030204" pitchFamily="18" charset="0"/>
                          </a:rPr>
                          <m:t>𝐶</m:t>
                        </m:r>
                      </m:e>
                      <m:sub>
                        <m:r>
                          <a:rPr lang="en-IN" sz="2400" i="1">
                            <a:solidFill>
                              <a:srgbClr val="78350F"/>
                            </a:solidFill>
                            <a:latin typeface="Cambria Math" panose="02040503050406030204" pitchFamily="18" charset="0"/>
                          </a:rPr>
                          <m:t>𝑟</m:t>
                        </m:r>
                      </m:sub>
                    </m:sSub>
                    <m:sSup>
                      <m:e>
                        <m:r>
                          <a:rPr lang="en-IN" sz="2400" i="1">
                            <a:solidFill>
                              <a:srgbClr val="78350F"/>
                            </a:solidFill>
                            <a:latin typeface="Cambria Math" panose="02040503050406030204" pitchFamily="18" charset="0"/>
                          </a:rPr>
                          <m:t>2</m:t>
                        </m:r>
                      </m:e>
                      <m:sup>
                        <m:r>
                          <a:rPr lang="en-IN" sz="2400" i="1">
                            <a:solidFill>
                              <a:srgbClr val="78350F"/>
                            </a:solidFill>
                            <a:latin typeface="Cambria Math" panose="02040503050406030204" pitchFamily="18" charset="0"/>
                          </a:rPr>
                          <m:t>𝑟</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3</m:t>
                        </m:r>
                      </m:e>
                      <m:sup>
                        <m:r>
                          <a:rPr lang="en-IN" sz="2400" i="1">
                            <a:solidFill>
                              <a:srgbClr val="78350F"/>
                            </a:solidFill>
                            <a:latin typeface="Cambria Math" panose="02040503050406030204" pitchFamily="18" charset="0"/>
                          </a:rPr>
                          <m:t>𝑛</m:t>
                        </m:r>
                      </m:sup>
                    </m:sSup>
                  </m:oMath>
                </a14:m>
                <a:r>
                  <a:rPr sz="2400" b="0">
                    <a:solidFill>
                      <a:srgbClr val="78350F"/>
                    </a:solidFill>
                    <a:latin typeface="Arial"/>
                  </a:rPr>
                  <a:t> (binomial theorem); the total frequency is </a:t>
                </a:r>
                <a14:m>
                  <m:oMath xmlns:m="http://schemas.openxmlformats.org/officeDocument/2006/math">
                    <m:sSup>
                      <m:e>
                        <m:r>
                          <a:rPr lang="en-IN" sz="2400" i="1">
                            <a:solidFill>
                              <a:srgbClr val="78350F"/>
                            </a:solidFill>
                            <a:latin typeface="Cambria Math" panose="02040503050406030204" pitchFamily="18" charset="0"/>
                          </a:rPr>
                          <m:t>2</m:t>
                        </m:r>
                      </m:e>
                      <m:sup>
                        <m:r>
                          <a:rPr lang="en-IN" sz="2400" i="1">
                            <a:solidFill>
                              <a:srgbClr val="78350F"/>
                            </a:solidFill>
                            <a:latin typeface="Cambria Math" panose="02040503050406030204" pitchFamily="18" charset="0"/>
                          </a:rPr>
                          <m:t>𝑛</m:t>
                        </m:r>
                      </m:sup>
                    </m:sSup>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Frequency </a:t>
                </a:r>
                <a:r>
                  <a:rPr lang="en-IN" sz="2400">
                    <a:solidFill>
                      <a:srgbClr val="78350F"/>
                    </a:solidFill>
                    <a:latin typeface="Cambria Math" panose="02040503050406030204" pitchFamily="18" charset="0"/>
                  </a:rPr>
                  <a:t>$\times$</a:t>
                </a:r>
                <a:r>
                  <a:rPr sz="2400" b="0">
                    <a:solidFill>
                      <a:srgbClr val="78350F"/>
                    </a:solidFill>
                    <a:latin typeface="Arial"/>
                  </a:rPr>
                  <a:t> value gives </a:t>
                </a:r>
                <a:r>
                  <a:rPr lang="en-IN" sz="2400">
                    <a:solidFill>
                      <a:srgbClr val="78350F"/>
                    </a:solidFill>
                    <a:latin typeface="Cambria Math" panose="02040503050406030204" pitchFamily="18" charset="0"/>
                  </a:rPr>
                  <a:t>$\sum{}^nC_r2^r=3^n$</a:t>
                </a:r>
                <a:r>
                  <a:rPr sz="2400" b="0">
                    <a:solidFill>
                      <a:srgbClr val="78350F"/>
                    </a:solidFill>
                    <a:latin typeface="Arial"/>
                  </a:rPr>
                  <a:t> (binomial theorem); the total frequency is </a:t>
                </a:r>
                <a:r>
                  <a:rPr lang="en-IN" sz="2400">
                    <a:solidFill>
                      <a:srgbClr val="78350F"/>
                    </a:solidFill>
                    <a:latin typeface="Cambria Math" panose="02040503050406030204" pitchFamily="18" charset="0"/>
                  </a:rPr>
                  <a:t>$2^n$</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Value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𝑟</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𝑟</m:t>
                        </m:r>
                      </m:sup>
                    </m:sSup>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with frequency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𝑟</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𝑓</m:t>
                        </m:r>
                      </m:e>
                      <m:sub>
                        <m:r>
                          <a:rPr lang="en-IN" sz="2400" i="1">
                            <a:solidFill>
                              <a:srgbClr val="111827"/>
                            </a:solidFill>
                            <a:latin typeface="Cambria Math" panose="02040503050406030204" pitchFamily="18" charset="0"/>
                          </a:rPr>
                          <m:t>𝑖</m:t>
                        </m:r>
                      </m:sub>
                    </m:sSub>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𝑛</m:t>
                        </m:r>
                      </m:sup>
                      <m:e>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𝑟</m:t>
                            </m:r>
                          </m:sup>
                        </m:sSup>
                      </m:e>
                    </m:nary>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𝑟</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𝑓</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𝑛</m:t>
                        </m:r>
                      </m:sup>
                      <m:e>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e>
                    </m:nary>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𝑟</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Mean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728</m:t>
                        </m:r>
                      </m:num>
                      <m:den>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sup>
                        </m:sSup>
                      </m:den>
                    </m:f>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728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729</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Value </a:t>
                </a:r>
                <a:r>
                  <a:rPr lang="en-IN" sz="2400">
                    <a:solidFill>
                      <a:srgbClr val="111827"/>
                    </a:solidFill>
                    <a:latin typeface="Cambria Math" panose="02040503050406030204" pitchFamily="18" charset="0"/>
                  </a:rPr>
                  <a:t>$x_r=2^r$</a:t>
                </a:r>
                <a:r>
                  <a:rPr sz="2400" b="0">
                    <a:solidFill>
                      <a:srgbClr val="111827"/>
                    </a:solidFill>
                    <a:latin typeface="Arial"/>
                  </a:rPr>
                  <a:t> for </a:t>
                </a:r>
                <a:r>
                  <a:rPr lang="en-IN" sz="2400">
                    <a:solidFill>
                      <a:srgbClr val="111827"/>
                    </a:solidFill>
                    <a:latin typeface="Cambria Math" panose="02040503050406030204" pitchFamily="18" charset="0"/>
                  </a:rPr>
                  <a:t>$r=1,\dots,n$</a:t>
                </a:r>
                <a:r>
                  <a:rPr sz="2400" b="0">
                    <a:solidFill>
                      <a:srgbClr val="111827"/>
                    </a:solidFill>
                    <a:latin typeface="Arial"/>
                  </a:rPr>
                  <a:t> (and </a:t>
                </a:r>
                <a:r>
                  <a:rPr lang="en-IN" sz="2400">
                    <a:solidFill>
                      <a:srgbClr val="111827"/>
                    </a:solidFill>
                    <a:latin typeface="Cambria Math" panose="02040503050406030204" pitchFamily="18" charset="0"/>
                  </a:rPr>
                  <a:t>$x_0=0$</a:t>
                </a:r>
                <a:r>
                  <a:rPr sz="2400" b="0">
                    <a:solidFill>
                      <a:srgbClr val="111827"/>
                    </a:solidFill>
                    <a:latin typeface="Arial"/>
                  </a:rPr>
                  <a:t>) with frequency </a:t>
                </a:r>
                <a:r>
                  <a:rPr lang="en-IN" sz="2400">
                    <a:solidFill>
                      <a:srgbClr val="111827"/>
                    </a:solidFill>
                    <a:latin typeface="Cambria Math" panose="02040503050406030204" pitchFamily="18" charset="0"/>
                  </a:rPr>
                  <a:t>${}^nC_r$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 f_ix_i=\sum_{r=1}^{n}2^r\,{}^nC_r=(1+2)^n-{}^nC_0=3^n-1$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 f_i=\sum_{r=0}^{n}{}^nC_r=2^n$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Mean </a:t>
                </a:r>
                <a:r>
                  <a:rPr lang="en-IN" sz="2400">
                    <a:solidFill>
                      <a:srgbClr val="111827"/>
                    </a:solidFill>
                    <a:latin typeface="Cambria Math" panose="02040503050406030204" pitchFamily="18" charset="0"/>
                  </a:rPr>
                  <a:t>$=\frac{3^n-1}{2^n}=\frac{728}{2^n}$</a:t>
                </a:r>
                <a:r>
                  <a:rPr sz="2400" b="0">
                    <a:solidFill>
                      <a:srgbClr val="111827"/>
                    </a:solidFill>
                    <a:latin typeface="Arial"/>
                  </a:rPr>
                  <a:t>, so </a:t>
                </a:r>
                <a:r>
                  <a:rPr lang="en-IN" sz="2400">
                    <a:solidFill>
                      <a:srgbClr val="111827"/>
                    </a:solidFill>
                    <a:latin typeface="Cambria Math" panose="02040503050406030204" pitchFamily="18" charset="0"/>
                  </a:rPr>
                  <a:t>$3^n-1=728$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$3^n=729$</a:t>
                </a:r>
                <a:r>
                  <a:rPr sz="2400" b="0">
                    <a:solidFill>
                      <a:srgbClr val="111827"/>
                    </a:solidFill>
                    <a:latin typeface="Arial"/>
                  </a:rPr>
                  <a:t>, so </a:t>
                </a:r>
                <a:r>
                  <a:rPr lang="en-IN" sz="2400">
                    <a:solidFill>
                      <a:srgbClr val="111827"/>
                    </a:solidFill>
                    <a:latin typeface="Cambria Math" panose="02040503050406030204" pitchFamily="18" charset="0"/>
                  </a:rPr>
                  <a:t>$n=6$</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14:m>
                  <m:oMath xmlns:m="http://schemas.openxmlformats.org/officeDocument/2006/math">
                    <m:r>
                      <a:rPr lang="en-IN" sz="2800" i="1">
                        <a:solidFill>
                          <a:srgbClr val="15803D"/>
                        </a:solidFill>
                        <a:latin typeface="Cambria Math" panose="02040503050406030204" pitchFamily="18" charset="0"/>
                      </a:rPr>
                      <m:t>6</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r>
                  <a:rPr lang="en-IN" sz="2800">
                    <a:solidFill>
                      <a:srgbClr val="15803D"/>
                    </a:solidFill>
                    <a:latin typeface="Cambria Math" panose="02040503050406030204" pitchFamily="18" charset="0"/>
                  </a:rPr>
                  <a:t>$6$</a:t>
                </a:r>
                <a:endParaRPr sz="2800">
                  <a:solidFill>
                    <a:srgbClr val="15803D"/>
                  </a:solidFill>
                </a:endParaRPr>
              </a:p>
            </p:txBody>
          </p:sp>
        </mc:Fallback>
      </mc:AlternateContent>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Probability view: the frequencies </a:t>
                </a:r>
                <a14:m>
                  <m:oMath xmlns:m="http://schemas.openxmlformats.org/officeDocument/2006/math">
                    <m:sSup>
                      <m:e>
                        <m:r>
                          <a:rPr lang="en-IN" sz="2400" i="1">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𝑛</m:t>
                        </m:r>
                      </m:sup>
                    </m:sSup>
                    <m:sSub>
                      <m:e>
                        <m:r>
                          <a:rPr lang="en-IN" sz="2400" i="1">
                            <a:solidFill>
                              <a:srgbClr val="78350F"/>
                            </a:solidFill>
                            <a:latin typeface="Cambria Math" panose="02040503050406030204" pitchFamily="18" charset="0"/>
                          </a:rPr>
                          <m:t>𝐶</m:t>
                        </m:r>
                      </m:e>
                      <m:sub>
                        <m:r>
                          <a:rPr lang="en-IN" sz="2400" i="1">
                            <a:solidFill>
                              <a:srgbClr val="78350F"/>
                            </a:solidFill>
                            <a:latin typeface="Cambria Math" panose="02040503050406030204" pitchFamily="18" charset="0"/>
                          </a:rPr>
                          <m:t>𝑟</m:t>
                        </m:r>
                      </m:sub>
                    </m:sSub>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2</m:t>
                        </m:r>
                      </m:e>
                      <m:sup>
                        <m:r>
                          <a:rPr lang="en-IN" sz="2400" i="1">
                            <a:solidFill>
                              <a:srgbClr val="78350F"/>
                            </a:solidFill>
                            <a:latin typeface="Cambria Math" panose="02040503050406030204" pitchFamily="18" charset="0"/>
                          </a:rPr>
                          <m:t>𝑛</m:t>
                        </m:r>
                      </m:sup>
                    </m:sSup>
                  </m:oMath>
                </a14:m>
                <a:r>
                  <a:rPr sz="2400" b="0">
                    <a:solidFill>
                      <a:srgbClr val="78350F"/>
                    </a:solidFill>
                    <a:latin typeface="Arial"/>
                  </a:rPr>
                  <a:t> are the probabilities of </a:t>
                </a:r>
                <a14:m>
                  <m:oMath xmlns:m="http://schemas.openxmlformats.org/officeDocument/2006/math">
                    <m:r>
                      <a:rPr lang="en-IN" sz="2400" i="1">
                        <a:solidFill>
                          <a:srgbClr val="78350F"/>
                        </a:solidFill>
                        <a:latin typeface="Cambria Math" panose="02040503050406030204" pitchFamily="18" charset="0"/>
                      </a:rPr>
                      <m:t>𝑟</m:t>
                    </m:r>
                  </m:oMath>
                </a14:m>
                <a:r>
                  <a:rPr sz="2400" b="0">
                    <a:solidFill>
                      <a:srgbClr val="78350F"/>
                    </a:solidFill>
                    <a:latin typeface="Arial"/>
                  </a:rPr>
                  <a:t> heads in </a:t>
                </a:r>
                <a14:m>
                  <m:oMath xmlns:m="http://schemas.openxmlformats.org/officeDocument/2006/math">
                    <m:r>
                      <a:rPr lang="en-IN" sz="2400" i="1">
                        <a:solidFill>
                          <a:srgbClr val="78350F"/>
                        </a:solidFill>
                        <a:latin typeface="Cambria Math" panose="02040503050406030204" pitchFamily="18" charset="0"/>
                      </a:rPr>
                      <m:t>𝑛</m:t>
                    </m:r>
                  </m:oMath>
                </a14:m>
                <a:r>
                  <a:rPr sz="2400" b="0">
                    <a:solidFill>
                      <a:srgbClr val="78350F"/>
                    </a:solidFill>
                    <a:latin typeface="Arial"/>
                  </a:rPr>
                  <a:t> fair tosses.</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Probability view: the frequencies </a:t>
                </a:r>
                <a:r>
                  <a:rPr lang="en-IN" sz="2400">
                    <a:solidFill>
                      <a:srgbClr val="78350F"/>
                    </a:solidFill>
                    <a:latin typeface="Cambria Math" panose="02040503050406030204" pitchFamily="18" charset="0"/>
                  </a:rPr>
                  <a:t>${}^nC_r/2^n$</a:t>
                </a:r>
                <a:r>
                  <a:rPr sz="2400" b="0">
                    <a:solidFill>
                      <a:srgbClr val="78350F"/>
                    </a:solidFill>
                    <a:latin typeface="Arial"/>
                  </a:rPr>
                  <a:t> are the probabilities of </a:t>
                </a:r>
                <a:r>
                  <a:rPr lang="en-IN" sz="2400">
                    <a:solidFill>
                      <a:srgbClr val="78350F"/>
                    </a:solidFill>
                    <a:latin typeface="Cambria Math" panose="02040503050406030204" pitchFamily="18" charset="0"/>
                  </a:rPr>
                  <a:t>$r$</a:t>
                </a:r>
                <a:r>
                  <a:rPr sz="2400" b="0">
                    <a:solidFill>
                      <a:srgbClr val="78350F"/>
                    </a:solidFill>
                    <a:latin typeface="Arial"/>
                  </a:rPr>
                  <a:t> heads in </a:t>
                </a:r>
                <a:r>
                  <a:rPr lang="en-IN" sz="2400">
                    <a:solidFill>
                      <a:srgbClr val="78350F"/>
                    </a:solidFill>
                    <a:latin typeface="Cambria Math" panose="02040503050406030204" pitchFamily="18" charset="0"/>
                  </a:rPr>
                  <a:t>$n$</a:t>
                </a:r>
                <a:r>
                  <a:rPr sz="2400" b="0">
                    <a:solidFill>
                      <a:srgbClr val="78350F"/>
                    </a:solidFill>
                    <a:latin typeface="Arial"/>
                  </a:rPr>
                  <a:t> fair tosses.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mean is </a:t>
                </a:r>
                <a14:m>
                  <m:oMath xmlns:m="http://schemas.openxmlformats.org/officeDocument/2006/math">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𝑟</m:t>
                        </m:r>
                      </m:sub>
                      <m:sup>
                        <m:r>
                          <a:rPr lang="en-IN" sz="2400" i="1">
                            <a:solidFill>
                              <a:srgbClr val="111827"/>
                            </a:solidFill>
                            <a:latin typeface="Cambria Math" panose="02040503050406030204" pitchFamily="18" charset="0"/>
                          </a:rPr>
                          <m:t>​</m:t>
                        </m:r>
                      </m:sup>
                      <m:e>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𝑟</m:t>
                                </m:r>
                              </m:sub>
                            </m:sSub>
                          </m:num>
                          <m:den>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sup>
                            </m:sSup>
                          </m:den>
                        </m:f>
                      </m:e>
                    </m:nary>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𝑟</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𝑅</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0</m:t>
                            </m:r>
                          </m:sub>
                        </m:sSub>
                      </m:num>
                      <m:den>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where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the number of heads (the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value is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instead of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0</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𝑅</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2</m:t>
                                </m:r>
                              </m:den>
                            </m:f>
                          </m:e>
                        </m:d>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𝑛</m:t>
                            </m:r>
                          </m:sup>
                        </m:sSup>
                      </m:num>
                      <m:den>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sup>
                        </m:sSup>
                      </m:den>
                    </m:f>
                  </m:oMath>
                </a14:m>
                <a:r>
                  <a:rPr sz="2400" b="0">
                    <a:solidFill>
                      <a:srgbClr val="111827"/>
                    </a:solidFill>
                    <a:latin typeface="Arial"/>
                  </a:rPr>
                  <a:t>, so the mean is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728</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the same answer.</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mean is </a:t>
                </a:r>
                <a:r>
                  <a:rPr lang="en-IN" sz="2400">
                    <a:solidFill>
                      <a:srgbClr val="111827"/>
                    </a:solidFill>
                    <a:latin typeface="Cambria Math" panose="02040503050406030204" pitchFamily="18" charset="0"/>
                  </a:rPr>
                  <a:t>$\sum_{r}\frac{{}^nC_r}{2^n}x_r=E[2^R]-\frac{{}^nC_0}{2^n}\cdot1$</a:t>
                </a:r>
                <a:r>
                  <a:rPr sz="2400" b="0">
                    <a:solidFill>
                      <a:srgbClr val="111827"/>
                    </a:solidFill>
                    <a:latin typeface="Arial"/>
                  </a:rPr>
                  <a:t>, where </a:t>
                </a:r>
                <a:r>
                  <a:rPr lang="en-IN" sz="2400">
                    <a:solidFill>
                      <a:srgbClr val="111827"/>
                    </a:solidFill>
                    <a:latin typeface="Cambria Math" panose="02040503050406030204" pitchFamily="18" charset="0"/>
                  </a:rPr>
                  <a:t>$R$</a:t>
                </a:r>
                <a:r>
                  <a:rPr sz="2400" b="0">
                    <a:solidFill>
                      <a:srgbClr val="111827"/>
                    </a:solidFill>
                    <a:latin typeface="Arial"/>
                  </a:rPr>
                  <a:t> is the number of heads (the </a:t>
                </a:r>
                <a:r>
                  <a:rPr lang="en-IN" sz="2400">
                    <a:solidFill>
                      <a:srgbClr val="111827"/>
                    </a:solidFill>
                    <a:latin typeface="Cambria Math" panose="02040503050406030204" pitchFamily="18" charset="0"/>
                  </a:rPr>
                  <a:t>$r=0$</a:t>
                </a:r>
                <a:r>
                  <a:rPr sz="2400" b="0">
                    <a:solidFill>
                      <a:srgbClr val="111827"/>
                    </a:solidFill>
                    <a:latin typeface="Arial"/>
                  </a:rPr>
                  <a:t> value is </a:t>
                </a:r>
                <a:r>
                  <a:rPr lang="en-IN" sz="2400">
                    <a:solidFill>
                      <a:srgbClr val="111827"/>
                    </a:solidFill>
                    <a:latin typeface="Cambria Math" panose="02040503050406030204" pitchFamily="18" charset="0"/>
                  </a:rPr>
                  <a:t>$0$</a:t>
                </a:r>
                <a:r>
                  <a:rPr sz="2400" b="0">
                    <a:solidFill>
                      <a:srgbClr val="111827"/>
                    </a:solidFill>
                    <a:latin typeface="Arial"/>
                  </a:rPr>
                  <a:t> instead of </a:t>
                </a:r>
                <a:r>
                  <a:rPr lang="en-IN" sz="2400">
                    <a:solidFill>
                      <a:srgbClr val="111827"/>
                    </a:solidFill>
                    <a:latin typeface="Cambria Math" panose="02040503050406030204" pitchFamily="18" charset="0"/>
                  </a:rPr>
                  <a:t>$2^0=1$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$E[2^R]=\left(\frac{1+2}{2}\right)^n=\frac{3^n}{2^n}$</a:t>
                </a:r>
                <a:r>
                  <a:rPr sz="2400" b="0">
                    <a:solidFill>
                      <a:srgbClr val="111827"/>
                    </a:solidFill>
                    <a:latin typeface="Arial"/>
                  </a:rPr>
                  <a:t>, so the mean is </a:t>
                </a:r>
                <a:r>
                  <a:rPr lang="en-IN" sz="2400">
                    <a:solidFill>
                      <a:srgbClr val="111827"/>
                    </a:solidFill>
                    <a:latin typeface="Cambria Math" panose="02040503050406030204" pitchFamily="18" charset="0"/>
                  </a:rPr>
                  <a:t>$\frac{3^n-1}{2^n}$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$3^n-1=728$</a:t>
                </a:r>
                <a:r>
                  <a:rPr sz="2400" b="0">
                    <a:solidFill>
                      <a:srgbClr val="111827"/>
                    </a:solidFill>
                    <a:latin typeface="Arial"/>
                  </a:rPr>
                  <a:t> gives </a:t>
                </a:r>
                <a:r>
                  <a:rPr lang="en-IN" sz="2400">
                    <a:solidFill>
                      <a:srgbClr val="111827"/>
                    </a:solidFill>
                    <a:latin typeface="Cambria Math" panose="02040503050406030204" pitchFamily="18" charset="0"/>
                  </a:rPr>
                  <a:t>$n=6$</a:t>
                </a:r>
                <a:r>
                  <a:rPr sz="2400" b="0">
                    <a:solidFill>
                      <a:srgbClr val="111827"/>
                    </a:solidFill>
                    <a:latin typeface="Arial"/>
                  </a:rPr>
                  <a:t>, the same answer.</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14:m>
                  <m:oMath xmlns:m="http://schemas.openxmlformats.org/officeDocument/2006/math">
                    <m:r>
                      <a:rPr lang="en-IN" sz="2800" i="1">
                        <a:solidFill>
                          <a:srgbClr val="15803D"/>
                        </a:solidFill>
                        <a:latin typeface="Cambria Math" panose="02040503050406030204" pitchFamily="18" charset="0"/>
                      </a:rPr>
                      <m:t>6</m:t>
                    </m:r>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r>
                  <a:rPr lang="en-IN" sz="2800">
                    <a:solidFill>
                      <a:srgbClr val="15803D"/>
                    </a:solidFill>
                    <a:latin typeface="Cambria Math" panose="02040503050406030204" pitchFamily="18" charset="0"/>
                  </a:rPr>
                  <a:t>$6$</a:t>
                </a:r>
                <a:endParaRPr sz="2800">
                  <a:solidFill>
                    <a:srgbClr val="15803D"/>
                  </a:solidFill>
                </a:endParaRPr>
              </a:p>
            </p:txBody>
          </p:sp>
        </mc:Fallback>
      </mc:AlternateContent>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𝑛</m:t>
                        </m:r>
                      </m:sup>
                      <m:e>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e>
                    </m:nary>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𝑟</m:t>
                        </m:r>
                      </m:sub>
                    </m:sSub>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𝑟</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a frequency distribution with binomial frequencies has a closed-form mean for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𝑟</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𝑟</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Watch the special value: the data point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(not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0</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removes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0</m:t>
                        </m:r>
                      </m:sub>
                    </m:sSub>
                  </m:oMath>
                </a14:m>
                <a:r>
                  <a:rPr sz="2400" b="0">
                    <a:solidFill>
                      <a:srgbClr val="111827"/>
                    </a:solidFill>
                    <a:latin typeface="Arial"/>
                  </a:rPr>
                  <a:t> from the numerator.</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$\sum_{r=0}^{n}{}^nC_r\,t^r=(1+t)^n$</a:t>
                </a:r>
                <a:r>
                  <a:rPr sz="2400" b="0">
                    <a:solidFill>
                      <a:srgbClr val="111827"/>
                    </a:solidFill>
                    <a:latin typeface="Arial"/>
                  </a:rPr>
                  <a:t>: a frequency distribution with binomial frequencies has a closed-form mean for </a:t>
                </a:r>
                <a:r>
                  <a:rPr lang="en-IN" sz="2400">
                    <a:solidFill>
                      <a:srgbClr val="111827"/>
                    </a:solidFill>
                    <a:latin typeface="Cambria Math" panose="02040503050406030204" pitchFamily="18" charset="0"/>
                  </a:rPr>
                  <a:t>$x_r=t^r$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Watch the special value: the data point </a:t>
                </a:r>
                <a:r>
                  <a:rPr lang="en-IN" sz="2400">
                    <a:solidFill>
                      <a:srgbClr val="111827"/>
                    </a:solidFill>
                    <a:latin typeface="Cambria Math" panose="02040503050406030204" pitchFamily="18" charset="0"/>
                  </a:rPr>
                  <a:t>$0$</a:t>
                </a:r>
                <a:r>
                  <a:rPr sz="2400" b="0">
                    <a:solidFill>
                      <a:srgbClr val="111827"/>
                    </a:solidFill>
                    <a:latin typeface="Arial"/>
                  </a:rPr>
                  <a:t> (not </a:t>
                </a:r>
                <a:r>
                  <a:rPr lang="en-IN" sz="2400">
                    <a:solidFill>
                      <a:srgbClr val="111827"/>
                    </a:solidFill>
                    <a:latin typeface="Cambria Math" panose="02040503050406030204" pitchFamily="18" charset="0"/>
                  </a:rPr>
                  <a:t>$2^0=1$</a:t>
                </a:r>
                <a:r>
                  <a:rPr sz="2400" b="0">
                    <a:solidFill>
                      <a:srgbClr val="111827"/>
                    </a:solidFill>
                    <a:latin typeface="Arial"/>
                  </a:rPr>
                  <a:t>) removes </a:t>
                </a:r>
                <a:r>
                  <a:rPr lang="en-IN" sz="2400">
                    <a:solidFill>
                      <a:srgbClr val="111827"/>
                    </a:solidFill>
                    <a:latin typeface="Cambria Math" panose="02040503050406030204" pitchFamily="18" charset="0"/>
                  </a:rPr>
                  <a:t>${}^nC_0$</a:t>
                </a:r>
                <a:r>
                  <a:rPr sz="2400" b="0">
                    <a:solidFill>
                      <a:srgbClr val="111827"/>
                    </a:solidFill>
                    <a:latin typeface="Arial"/>
                  </a:rPr>
                  <a:t> from the numerator.</a:t>
                </a:r>
                <a:endParaRPr sz="2400">
                  <a:solidFill>
                    <a:srgbClr val="111827"/>
                  </a:solidFill>
                </a:endParaRPr>
              </a:p>
            </p:txBody>
          </p:sp>
        </mc:Fallback>
      </mc:AlternateContent>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variance of 10 natural numbers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 is less than 10, then the maximum possible value of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is ______.</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variance of 10 natural numbers </a:t>
                </a:r>
                <a:r>
                  <a:rPr lang="en-IN" sz="2400">
                    <a:solidFill>
                      <a:srgbClr val="111827"/>
                    </a:solidFill>
                    <a:latin typeface="Cambria Math" panose="02040503050406030204" pitchFamily="18" charset="0"/>
                  </a:rPr>
                  <a:t>$1,1,1,\dots,1,k$</a:t>
                </a:r>
                <a:r>
                  <a:rPr sz="2400" b="0">
                    <a:solidFill>
                      <a:srgbClr val="111827"/>
                    </a:solidFill>
                    <a:latin typeface="Arial"/>
                  </a:rPr>
                  <a:t> is less than 10, then the maximum possible value of </a:t>
                </a:r>
                <a:r>
                  <a:rPr lang="en-IN" sz="2400">
                    <a:solidFill>
                      <a:srgbClr val="111827"/>
                    </a:solidFill>
                    <a:latin typeface="Cambria Math" panose="02040503050406030204" pitchFamily="18" charset="0"/>
                  </a:rPr>
                  <a:t>$k$</a:t>
                </a:r>
                <a:r>
                  <a:rPr sz="2400" b="0">
                    <a:solidFill>
                      <a:srgbClr val="111827"/>
                    </a:solidFill>
                    <a:latin typeface="Arial"/>
                  </a:rPr>
                  <a:t> is ______.</a:t>
                </a:r>
                <a:endParaRPr sz="2400">
                  <a:solidFill>
                    <a:srgbClr val="111827"/>
                  </a:solidFill>
                </a:endParaRPr>
              </a:p>
            </p:txBody>
          </p:sp>
        </mc:Fallback>
      </mc:AlternateContent>
      <p:sp>
        <p:nvSpPr>
          <p:cNvPr id="5" name="Rectangle 4"/>
          <p:cNvSpPr/>
          <p:nvPr/>
        </p:nvSpPr>
        <p:spPr>
          <a:xfrm>
            <a:off x="731520" y="324612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Variance of a data set with one outlier</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Nine 1s and one </a:t>
                </a:r>
                <a14:m>
                  <m:oMath xmlns:m="http://schemas.openxmlformats.org/officeDocument/2006/math">
                    <m:r>
                      <a:rPr lang="en-IN" sz="2400" i="1">
                        <a:solidFill>
                          <a:srgbClr val="78350F"/>
                        </a:solidFill>
                        <a:latin typeface="Cambria Math" panose="02040503050406030204" pitchFamily="18" charset="0"/>
                      </a:rPr>
                      <m:t>𝑘</m:t>
                    </m:r>
                  </m:oMath>
                </a14:m>
                <a:r>
                  <a:rPr sz="2400" b="0">
                    <a:solidFill>
                      <a:srgbClr val="78350F"/>
                    </a:solidFill>
                    <a:latin typeface="Arial"/>
                  </a:rPr>
                  <a:t>: set up </a:t>
                </a:r>
                <a14:m>
                  <m:oMath xmlns:m="http://schemas.openxmlformats.org/officeDocument/2006/math">
                    <m:sSup>
                      <m:e>
                        <m:r>
                          <a:rPr lang="en-IN" sz="2400" i="1">
                            <a:solidFill>
                              <a:srgbClr val="78350F"/>
                            </a:solidFill>
                            <a:latin typeface="Cambria Math" panose="02040503050406030204" pitchFamily="18" charset="0"/>
                          </a:rPr>
                          <m:t>σ</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&lt;</m:t>
                    </m:r>
                    <m:r>
                      <a:rPr lang="en-IN" sz="2400" i="1">
                        <a:solidFill>
                          <a:srgbClr val="78350F"/>
                        </a:solidFill>
                        <a:latin typeface="Cambria Math" panose="02040503050406030204" pitchFamily="18" charset="0"/>
                      </a:rPr>
                      <m:t>10</m:t>
                    </m:r>
                  </m:oMath>
                </a14:m>
                <a:r>
                  <a:rPr sz="2400" b="0">
                    <a:solidFill>
                      <a:srgbClr val="78350F"/>
                    </a:solidFill>
                    <a:latin typeface="Arial"/>
                  </a:rPr>
                  <a:t> and solve the quadratic inequality, then take the largest integer.</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Nine 1s and one </a:t>
                </a:r>
                <a:r>
                  <a:rPr lang="en-IN" sz="2400">
                    <a:solidFill>
                      <a:srgbClr val="78350F"/>
                    </a:solidFill>
                    <a:latin typeface="Cambria Math" panose="02040503050406030204" pitchFamily="18" charset="0"/>
                  </a:rPr>
                  <a:t>$k$</a:t>
                </a:r>
                <a:r>
                  <a:rPr sz="2400" b="0">
                    <a:solidFill>
                      <a:srgbClr val="78350F"/>
                    </a:solidFill>
                    <a:latin typeface="Arial"/>
                  </a:rPr>
                  <a:t>: set up </a:t>
                </a:r>
                <a:r>
                  <a:rPr lang="en-IN" sz="2400">
                    <a:solidFill>
                      <a:srgbClr val="78350F"/>
                    </a:solidFill>
                    <a:latin typeface="Cambria Math" panose="02040503050406030204" pitchFamily="18" charset="0"/>
                  </a:rPr>
                  <a:t>$\sigma^2&lt;10$</a:t>
                </a:r>
                <a:r>
                  <a:rPr sz="2400" b="0">
                    <a:solidFill>
                      <a:srgbClr val="78350F"/>
                    </a:solidFill>
                    <a:latin typeface="Arial"/>
                  </a:rPr>
                  <a:t> and solve the quadratic inequality, then take the largest integer.</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2</m:t>
                            </m:r>
                          </m:sup>
                        </m:sSubSup>
                      </m:num>
                      <m:den>
                        <m:r>
                          <a:rPr lang="en-IN" sz="2400" i="1">
                            <a:solidFill>
                              <a:srgbClr val="111827"/>
                            </a:solidFill>
                            <a:latin typeface="Cambria Math" panose="02040503050406030204" pitchFamily="18" charset="0"/>
                          </a:rPr>
                          <m:t>10</m:t>
                        </m:r>
                      </m:den>
                    </m:f>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num>
                              <m:den>
                                <m:r>
                                  <a:rPr lang="en-IN" sz="2400" i="1">
                                    <a:solidFill>
                                      <a:srgbClr val="111827"/>
                                    </a:solidFill>
                                    <a:latin typeface="Cambria Math" panose="02040503050406030204" pitchFamily="18" charset="0"/>
                                  </a:rPr>
                                  <m:t>10</m:t>
                                </m:r>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10</m:t>
                        </m:r>
                      </m:den>
                    </m:f>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num>
                              <m:den>
                                <m:r>
                                  <a:rPr lang="en-IN" sz="2400" i="1">
                                    <a:solidFill>
                                      <a:srgbClr val="111827"/>
                                    </a:solidFill>
                                    <a:latin typeface="Cambria Math" panose="02040503050406030204" pitchFamily="18" charset="0"/>
                                  </a:rPr>
                                  <m:t>10</m:t>
                                </m:r>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10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Multiply by 100: </a:t>
                </a:r>
                <a14:m>
                  <m:oMath xmlns:m="http://schemas.openxmlformats.org/officeDocument/2006/math">
                    <m:r>
                      <a:rPr lang="en-IN" sz="2400" i="1">
                        <a:solidFill>
                          <a:srgbClr val="111827"/>
                        </a:solidFill>
                        <a:latin typeface="Cambria Math" panose="02040503050406030204" pitchFamily="18" charset="0"/>
                      </a:rPr>
                      <m:t>90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1000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9</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991</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i.e. </a:t>
                </a:r>
                <a14:m>
                  <m:oMath xmlns:m="http://schemas.openxmlformats.org/officeDocument/2006/math">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&lt;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991</m:t>
                        </m:r>
                      </m:num>
                      <m:den>
                        <m:r>
                          <a:rPr lang="en-IN" sz="2400" i="1">
                            <a:solidFill>
                              <a:srgbClr val="111827"/>
                            </a:solidFill>
                            <a:latin typeface="Cambria Math" panose="02040503050406030204" pitchFamily="18" charset="0"/>
                          </a:rPr>
                          <m:t>9</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$\sigma^2=\frac{\sum x_i^2}{10}-\left(\frac{\sum x_i}{10}\right)^2=\frac{9+k^2}{10}-\left(\frac{9+k}{10}\right)^2&lt;10$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Multiply by 100: </a:t>
                </a:r>
                <a:r>
                  <a:rPr lang="en-IN" sz="2400">
                    <a:solidFill>
                      <a:srgbClr val="111827"/>
                    </a:solidFill>
                    <a:latin typeface="Cambria Math" panose="02040503050406030204" pitchFamily="18" charset="0"/>
                  </a:rPr>
                  <a:t>$90+10k^2-81-18k-k^2&lt;1000$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$9k^2-18k-991&lt;0$</a:t>
                </a:r>
                <a:r>
                  <a:rPr sz="2400" b="0">
                    <a:solidFill>
                      <a:srgbClr val="111827"/>
                    </a:solidFill>
                    <a:latin typeface="Arial"/>
                  </a:rPr>
                  <a:t>, i.e. </a:t>
                </a:r>
                <a:r>
                  <a:rPr lang="en-IN" sz="2400">
                    <a:solidFill>
                      <a:srgbClr val="111827"/>
                    </a:solidFill>
                    <a:latin typeface="Cambria Math" panose="02040503050406030204" pitchFamily="18" charset="0"/>
                  </a:rPr>
                  <a:t>$k^2-2k&lt;\frac{991}{9}$</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&lt;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1000</m:t>
                        </m:r>
                      </m:num>
                      <m:den>
                        <m:r>
                          <a:rPr lang="en-IN" sz="2400" i="1">
                            <a:solidFill>
                              <a:srgbClr val="111827"/>
                            </a:solidFill>
                            <a:latin typeface="Cambria Math" panose="02040503050406030204" pitchFamily="18" charset="0"/>
                          </a:rPr>
                          <m:t>9</m:t>
                        </m:r>
                      </m:den>
                    </m:f>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10</m:t>
                            </m:r>
                          </m:e>
                        </m:rad>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10.54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11.54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is a natural number, so the maximum is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$(k-1)^2&lt;\frac{1000}{9}$</a:t>
                </a:r>
                <a:r>
                  <a:rPr sz="2400" b="0">
                    <a:solidFill>
                      <a:srgbClr val="111827"/>
                    </a:solidFill>
                    <a:latin typeface="Arial"/>
                  </a:rPr>
                  <a:t>, so </a:t>
                </a:r>
                <a:r>
                  <a:rPr lang="en-IN" sz="2400">
                    <a:solidFill>
                      <a:srgbClr val="111827"/>
                    </a:solidFill>
                    <a:latin typeface="Cambria Math" panose="02040503050406030204" pitchFamily="18" charset="0"/>
                  </a:rPr>
                  <a:t>$|k-1|&lt;\frac{10\sqrt{10}}{3}\approx10.54$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$k&lt;11.54$</a:t>
                </a:r>
                <a:r>
                  <a:rPr sz="2400" b="0">
                    <a:solidFill>
                      <a:srgbClr val="111827"/>
                    </a:solidFill>
                    <a:latin typeface="Arial"/>
                  </a:rPr>
                  <a:t>; </a:t>
                </a:r>
                <a:r>
                  <a:rPr lang="en-IN" sz="2400">
                    <a:solidFill>
                      <a:srgbClr val="111827"/>
                    </a:solidFill>
                    <a:latin typeface="Cambria Math" panose="02040503050406030204" pitchFamily="18" charset="0"/>
                  </a:rPr>
                  <a:t>$k$</a:t>
                </a:r>
                <a:r>
                  <a:rPr sz="2400" b="0">
                    <a:solidFill>
                      <a:srgbClr val="111827"/>
                    </a:solidFill>
                    <a:latin typeface="Arial"/>
                  </a:rPr>
                  <a:t> is a natural number, so the maximum is </a:t>
                </a:r>
                <a:r>
                  <a:rPr lang="en-IN" sz="2400">
                    <a:solidFill>
                      <a:srgbClr val="111827"/>
                    </a:solidFill>
                    <a:latin typeface="Cambria Math" panose="02040503050406030204" pitchFamily="18" charset="0"/>
                  </a:rPr>
                  <a:t>$k=11$</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14:m>
                  <m:oMath xmlns:m="http://schemas.openxmlformats.org/officeDocument/2006/math">
                    <m:r>
                      <a:rPr lang="en-IN" sz="2800" i="1">
                        <a:solidFill>
                          <a:srgbClr val="15803D"/>
                        </a:solidFill>
                        <a:latin typeface="Cambria Math" panose="02040503050406030204" pitchFamily="18" charset="0"/>
                      </a:rPr>
                      <m:t>11</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r>
                  <a:rPr lang="en-IN" sz="2800">
                    <a:solidFill>
                      <a:srgbClr val="15803D"/>
                    </a:solidFill>
                    <a:latin typeface="Cambria Math" panose="02040503050406030204" pitchFamily="18" charset="0"/>
                  </a:rPr>
                  <a:t>$11$</a:t>
                </a:r>
                <a:endParaRPr sz="2800">
                  <a:solidFill>
                    <a:srgbClr val="15803D"/>
                  </a:solidFill>
                </a:endParaRPr>
              </a:p>
            </p:txBody>
          </p:sp>
        </mc:Fallback>
      </mc:AlternateContent>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Two-point distribution: values </a:t>
                </a:r>
                <a14:m>
                  <m:oMath xmlns:m="http://schemas.openxmlformats.org/officeDocument/2006/math">
                    <m:r>
                      <a:rPr lang="en-IN" sz="2400" i="1">
                        <a:solidFill>
                          <a:srgbClr val="78350F"/>
                        </a:solidFill>
                        <a:latin typeface="Cambria Math" panose="02040503050406030204" pitchFamily="18" charset="0"/>
                      </a:rPr>
                      <m:t>1</m:t>
                    </m:r>
                  </m:oMath>
                </a14:m>
                <a:r>
                  <a:rPr sz="2400" b="0">
                    <a:solidFill>
                      <a:srgbClr val="78350F"/>
                    </a:solidFill>
                    <a:latin typeface="Arial"/>
                  </a:rPr>
                  <a:t> (probability </a:t>
                </a:r>
                <a14:m>
                  <m:oMath xmlns:m="http://schemas.openxmlformats.org/officeDocument/2006/math">
                    <m:r>
                      <a:rPr lang="en-IN" sz="2400" i="1">
                        <a:solidFill>
                          <a:srgbClr val="78350F"/>
                        </a:solidFill>
                        <a:latin typeface="Cambria Math" panose="02040503050406030204" pitchFamily="18" charset="0"/>
                      </a:rPr>
                      <m:t>0.9</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𝑘</m:t>
                    </m:r>
                  </m:oMath>
                </a14:m>
                <a:r>
                  <a:rPr sz="2400" b="0">
                    <a:solidFill>
                      <a:srgbClr val="78350F"/>
                    </a:solidFill>
                    <a:latin typeface="Arial"/>
                  </a:rPr>
                  <a:t> (probability </a:t>
                </a:r>
                <a14:m>
                  <m:oMath xmlns:m="http://schemas.openxmlformats.org/officeDocument/2006/math">
                    <m:r>
                      <a:rPr lang="en-IN" sz="2400" i="1">
                        <a:solidFill>
                          <a:srgbClr val="78350F"/>
                        </a:solidFill>
                        <a:latin typeface="Cambria Math" panose="02040503050406030204" pitchFamily="18" charset="0"/>
                      </a:rPr>
                      <m:t>0.1</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Two-point distribution: values </a:t>
                </a:r>
                <a:r>
                  <a:rPr lang="en-IN" sz="2400">
                    <a:solidFill>
                      <a:srgbClr val="78350F"/>
                    </a:solidFill>
                    <a:latin typeface="Cambria Math" panose="02040503050406030204" pitchFamily="18" charset="0"/>
                  </a:rPr>
                  <a:t>$1$</a:t>
                </a:r>
                <a:r>
                  <a:rPr sz="2400" b="0">
                    <a:solidFill>
                      <a:srgbClr val="78350F"/>
                    </a:solidFill>
                    <a:latin typeface="Arial"/>
                  </a:rPr>
                  <a:t> (probability </a:t>
                </a:r>
                <a:r>
                  <a:rPr lang="en-IN" sz="2400">
                    <a:solidFill>
                      <a:srgbClr val="78350F"/>
                    </a:solidFill>
                    <a:latin typeface="Cambria Math" panose="02040503050406030204" pitchFamily="18" charset="0"/>
                  </a:rPr>
                  <a:t>$0.9$</a:t>
                </a:r>
                <a:r>
                  <a:rPr sz="2400" b="0">
                    <a:solidFill>
                      <a:srgbClr val="78350F"/>
                    </a:solidFill>
                    <a:latin typeface="Arial"/>
                  </a:rPr>
                  <a:t>) and </a:t>
                </a:r>
                <a:r>
                  <a:rPr lang="en-IN" sz="2400">
                    <a:solidFill>
                      <a:srgbClr val="78350F"/>
                    </a:solidFill>
                    <a:latin typeface="Cambria Math" panose="02040503050406030204" pitchFamily="18" charset="0"/>
                  </a:rPr>
                  <a:t>$k$</a:t>
                </a:r>
                <a:r>
                  <a:rPr sz="2400" b="0">
                    <a:solidFill>
                      <a:srgbClr val="78350F"/>
                    </a:solidFill>
                    <a:latin typeface="Arial"/>
                  </a:rPr>
                  <a:t> (probability </a:t>
                </a:r>
                <a:r>
                  <a:rPr lang="en-IN" sz="2400">
                    <a:solidFill>
                      <a:srgbClr val="78350F"/>
                    </a:solidFill>
                    <a:latin typeface="Cambria Math" panose="02040503050406030204" pitchFamily="18" charset="0"/>
                  </a:rPr>
                  <a:t>$0.1$</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two values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𝑤</m:t>
                    </m:r>
                  </m:oMath>
                </a14:m>
                <a:r>
                  <a:rPr sz="2400" b="0">
                    <a:solidFill>
                      <a:srgbClr val="111827"/>
                    </a:solidFill>
                    <a:latin typeface="Arial"/>
                  </a:rPr>
                  <a:t> with proportions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𝑤</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a:t>
                </a:r>
                <a14:m>
                  <m:oMath xmlns:m="http://schemas.openxmlformats.org/officeDocument/2006/math">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0.9</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0.09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0.09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10</m:t>
                    </m:r>
                  </m:oMath>
                </a14:m>
                <a:r>
                  <a:rPr sz="2400" b="0">
                    <a:solidFill>
                      <a:srgbClr val="111827"/>
                    </a:solidFill>
                    <a:latin typeface="Arial"/>
                  </a:rPr>
                  <a:t> gives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&lt;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1000</m:t>
                        </m:r>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111.1</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oMath>
                </a14:m>
                <a:r>
                  <a:rPr sz="2400" b="0">
                    <a:solidFill>
                      <a:srgbClr val="111827"/>
                    </a:solidFill>
                    <a:latin typeface="Arial"/>
                  </a:rPr>
                  <a:t> (as </a:t>
                </a:r>
                <a14:m>
                  <m:oMath xmlns:m="http://schemas.openxmlformats.org/officeDocument/2006/math">
                    <m:r>
                      <a:rPr lang="en-IN" sz="2400" i="1">
                        <a:solidFill>
                          <a:srgbClr val="111827"/>
                        </a:solidFill>
                        <a:latin typeface="Cambria Math" panose="02040503050406030204" pitchFamily="18" charset="0"/>
                      </a:rPr>
                      <m:t>11.54</m:t>
                    </m:r>
                  </m:oMath>
                </a14:m>
                <a:r>
                  <a:rPr sz="2400" b="0">
                    <a:solidFill>
                      <a:srgbClr val="111827"/>
                    </a:solidFill>
                    <a:latin typeface="Arial"/>
                  </a:rPr>
                  <a:t> is the bound). Maximum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oMath>
                </a14:m>
                <a:r>
                  <a:rPr sz="2400" b="0">
                    <a:solidFill>
                      <a:srgbClr val="111827"/>
                    </a:solidFill>
                    <a:latin typeface="Arial"/>
                  </a:rPr>
                  <a:t>, the same answer.</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two values </a:t>
                </a:r>
                <a:r>
                  <a:rPr lang="en-IN" sz="2400">
                    <a:solidFill>
                      <a:srgbClr val="111827"/>
                    </a:solidFill>
                    <a:latin typeface="Cambria Math" panose="02040503050406030204" pitchFamily="18" charset="0"/>
                  </a:rPr>
                  <a:t>$u,w$</a:t>
                </a:r>
                <a:r>
                  <a:rPr sz="2400" b="0">
                    <a:solidFill>
                      <a:srgbClr val="111827"/>
                    </a:solidFill>
                    <a:latin typeface="Arial"/>
                  </a:rPr>
                  <a:t> with proportions </a:t>
                </a:r>
                <a:r>
                  <a:rPr lang="en-IN" sz="2400">
                    <a:solidFill>
                      <a:srgbClr val="111827"/>
                    </a:solidFill>
                    <a:latin typeface="Cambria Math" panose="02040503050406030204" pitchFamily="18" charset="0"/>
                  </a:rPr>
                  <a:t>$p,1-p$</a:t>
                </a:r>
                <a:r>
                  <a:rPr sz="2400" b="0">
                    <a:solidFill>
                      <a:srgbClr val="111827"/>
                    </a:solidFill>
                    <a:latin typeface="Arial"/>
                  </a:rPr>
                  <a:t>: </a:t>
                </a:r>
                <a:r>
                  <a:rPr lang="en-IN" sz="2400">
                    <a:solidFill>
                      <a:srgbClr val="111827"/>
                    </a:solidFill>
                    <a:latin typeface="Cambria Math" panose="02040503050406030204" pitchFamily="18" charset="0"/>
                  </a:rPr>
                  <a:t>$\sigma^2=p(1-p)(u-w)^2$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a:t>
                </a:r>
                <a:r>
                  <a:rPr lang="en-IN" sz="2400">
                    <a:solidFill>
                      <a:srgbClr val="111827"/>
                    </a:solidFill>
                    <a:latin typeface="Cambria Math" panose="02040503050406030204" pitchFamily="18" charset="0"/>
                  </a:rPr>
                  <a:t>$\sigma^2=(0.9)(0.1)(k-1)^2=0.09(k-1)^2$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$0.09(k-1)^2&lt;10$</a:t>
                </a:r>
                <a:r>
                  <a:rPr sz="2400" b="0">
                    <a:solidFill>
                      <a:srgbClr val="111827"/>
                    </a:solidFill>
                    <a:latin typeface="Arial"/>
                  </a:rPr>
                  <a:t> gives </a:t>
                </a:r>
                <a:r>
                  <a:rPr lang="en-IN" sz="2400">
                    <a:solidFill>
                      <a:srgbClr val="111827"/>
                    </a:solidFill>
                    <a:latin typeface="Cambria Math" panose="02040503050406030204" pitchFamily="18" charset="0"/>
                  </a:rPr>
                  <a:t>$(k-1)^2&lt;\frac{1000}{9}\approx111.1$</a:t>
                </a:r>
                <a:r>
                  <a:rPr sz="2400" b="0">
                    <a:solidFill>
                      <a:srgbClr val="111827"/>
                    </a:solidFill>
                    <a:latin typeface="Arial"/>
                  </a:rPr>
                  <a:t>, so </a:t>
                </a:r>
                <a:r>
                  <a:rPr lang="en-IN" sz="2400">
                    <a:solidFill>
                      <a:srgbClr val="111827"/>
                    </a:solidFill>
                    <a:latin typeface="Cambria Math" panose="02040503050406030204" pitchFamily="18" charset="0"/>
                  </a:rPr>
                  <a:t>$k-1\le10$</a:t>
                </a:r>
                <a:r>
                  <a:rPr sz="2400" b="0">
                    <a:solidFill>
                      <a:srgbClr val="111827"/>
                    </a:solidFill>
                    <a:latin typeface="Arial"/>
                  </a:rPr>
                  <a:t> and </a:t>
                </a:r>
                <a:r>
                  <a:rPr lang="en-IN" sz="2400">
                    <a:solidFill>
                      <a:srgbClr val="111827"/>
                    </a:solidFill>
                    <a:latin typeface="Cambria Math" panose="02040503050406030204" pitchFamily="18" charset="0"/>
                  </a:rPr>
                  <a:t>$k\le11$</a:t>
                </a:r>
                <a:r>
                  <a:rPr sz="2400" b="0">
                    <a:solidFill>
                      <a:srgbClr val="111827"/>
                    </a:solidFill>
                    <a:latin typeface="Arial"/>
                  </a:rPr>
                  <a:t> (as </a:t>
                </a:r>
                <a:r>
                  <a:rPr lang="en-IN" sz="2400">
                    <a:solidFill>
                      <a:srgbClr val="111827"/>
                    </a:solidFill>
                    <a:latin typeface="Cambria Math" panose="02040503050406030204" pitchFamily="18" charset="0"/>
                  </a:rPr>
                  <a:t>$11.54$</a:t>
                </a:r>
                <a:r>
                  <a:rPr sz="2400" b="0">
                    <a:solidFill>
                      <a:srgbClr val="111827"/>
                    </a:solidFill>
                    <a:latin typeface="Arial"/>
                  </a:rPr>
                  <a:t> is the bound). Maximum </a:t>
                </a:r>
                <a:r>
                  <a:rPr lang="en-IN" sz="2400">
                    <a:solidFill>
                      <a:srgbClr val="111827"/>
                    </a:solidFill>
                    <a:latin typeface="Cambria Math" panose="02040503050406030204" pitchFamily="18" charset="0"/>
                  </a:rPr>
                  <a:t>$k=11$</a:t>
                </a:r>
                <a:r>
                  <a:rPr sz="2400" b="0">
                    <a:solidFill>
                      <a:srgbClr val="111827"/>
                    </a:solidFill>
                    <a:latin typeface="Arial"/>
                  </a:rPr>
                  <a:t>, the same answer.</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14:m>
                  <m:oMath xmlns:m="http://schemas.openxmlformats.org/officeDocument/2006/math">
                    <m:r>
                      <a:rPr lang="en-IN" sz="2800" i="1">
                        <a:solidFill>
                          <a:srgbClr val="15803D"/>
                        </a:solidFill>
                        <a:latin typeface="Cambria Math" panose="02040503050406030204" pitchFamily="18" charset="0"/>
                      </a:rPr>
                      <m:t>11</m:t>
                    </m:r>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r>
                  <a:rPr lang="en-IN" sz="2800">
                    <a:solidFill>
                      <a:srgbClr val="15803D"/>
                    </a:solidFill>
                    <a:latin typeface="Cambria Math" panose="02040503050406030204" pitchFamily="18" charset="0"/>
                  </a:rPr>
                  <a:t>$11$</a:t>
                </a:r>
                <a:endParaRPr sz="2800">
                  <a:solidFill>
                    <a:srgbClr val="15803D"/>
                  </a:solidFill>
                </a:endParaRPr>
              </a:p>
            </p:txBody>
          </p:sp>
        </mc:Fallback>
      </mc:AlternateContent>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Data with proportion </a:t>
                </a:r>
                <a14:m>
                  <m:oMath xmlns:m="http://schemas.openxmlformats.org/officeDocument/2006/math">
                    <m:r>
                      <a:rPr lang="en-IN" sz="2400" i="1">
                        <a:solidFill>
                          <a:srgbClr val="111827"/>
                        </a:solidFill>
                        <a:latin typeface="Cambria Math" panose="02040503050406030204" pitchFamily="18" charset="0"/>
                      </a:rPr>
                      <m:t>𝑝</m:t>
                    </m:r>
                  </m:oMath>
                </a14:m>
                <a:r>
                  <a:rPr sz="2400" b="0">
                    <a:solidFill>
                      <a:srgbClr val="111827"/>
                    </a:solidFill>
                    <a:latin typeface="Arial"/>
                  </a:rPr>
                  <a:t> at one value and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oMath>
                </a14:m>
                <a:r>
                  <a:rPr sz="2400" b="0">
                    <a:solidFill>
                      <a:srgbClr val="111827"/>
                    </a:solidFill>
                    <a:latin typeface="Arial"/>
                  </a:rPr>
                  <a:t> at another: </a:t>
                </a:r>
                <a14:m>
                  <m:oMath xmlns:m="http://schemas.openxmlformats.org/officeDocument/2006/math">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𝑑</m:t>
                    </m:r>
                  </m:oMath>
                </a14:m>
                <a:r>
                  <a:rPr sz="2400" b="0">
                    <a:solidFill>
                      <a:srgbClr val="111827"/>
                    </a:solidFill>
                    <a:latin typeface="Arial"/>
                  </a:rPr>
                  <a:t> the gap.</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must be a natural number, check the boundary: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oMath>
                </a14:m>
                <a:r>
                  <a:rPr sz="2400" b="0">
                    <a:solidFill>
                      <a:srgbClr val="111827"/>
                    </a:solidFill>
                    <a:latin typeface="Arial"/>
                  </a:rPr>
                  <a:t> gives </a:t>
                </a:r>
                <a14:m>
                  <m:oMath xmlns:m="http://schemas.openxmlformats.org/officeDocument/2006/math">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(less than 10);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10.89</m:t>
                    </m:r>
                  </m:oMath>
                </a14:m>
                <a:r>
                  <a:rPr sz="2400" b="0">
                    <a:solidFill>
                      <a:srgbClr val="111827"/>
                    </a:solidFill>
                    <a:latin typeface="Arial"/>
                  </a:rPr>
                  <a:t> (not less than 10).</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Data with proportion </a:t>
                </a:r>
                <a:r>
                  <a:rPr lang="en-IN" sz="2400">
                    <a:solidFill>
                      <a:srgbClr val="111827"/>
                    </a:solidFill>
                    <a:latin typeface="Cambria Math" panose="02040503050406030204" pitchFamily="18" charset="0"/>
                  </a:rPr>
                  <a:t>$p$</a:t>
                </a:r>
                <a:r>
                  <a:rPr sz="2400" b="0">
                    <a:solidFill>
                      <a:srgbClr val="111827"/>
                    </a:solidFill>
                    <a:latin typeface="Arial"/>
                  </a:rPr>
                  <a:t> at one value and </a:t>
                </a:r>
                <a:r>
                  <a:rPr lang="en-IN" sz="2400">
                    <a:solidFill>
                      <a:srgbClr val="111827"/>
                    </a:solidFill>
                    <a:latin typeface="Cambria Math" panose="02040503050406030204" pitchFamily="18" charset="0"/>
                  </a:rPr>
                  <a:t>$1-p$</a:t>
                </a:r>
                <a:r>
                  <a:rPr sz="2400" b="0">
                    <a:solidFill>
                      <a:srgbClr val="111827"/>
                    </a:solidFill>
                    <a:latin typeface="Arial"/>
                  </a:rPr>
                  <a:t> at another: </a:t>
                </a:r>
                <a:r>
                  <a:rPr lang="en-IN" sz="2400">
                    <a:solidFill>
                      <a:srgbClr val="111827"/>
                    </a:solidFill>
                    <a:latin typeface="Cambria Math" panose="02040503050406030204" pitchFamily="18" charset="0"/>
                  </a:rPr>
                  <a:t>$\sigma^2=p(1-p)d^2$</a:t>
                </a:r>
                <a:r>
                  <a:rPr sz="2400" b="0">
                    <a:solidFill>
                      <a:srgbClr val="111827"/>
                    </a:solidFill>
                    <a:latin typeface="Arial"/>
                  </a:rPr>
                  <a:t> with </a:t>
                </a:r>
                <a:r>
                  <a:rPr lang="en-IN" sz="2400">
                    <a:solidFill>
                      <a:srgbClr val="111827"/>
                    </a:solidFill>
                    <a:latin typeface="Cambria Math" panose="02040503050406030204" pitchFamily="18" charset="0"/>
                  </a:rPr>
                  <a:t>$d$</a:t>
                </a:r>
                <a:r>
                  <a:rPr sz="2400" b="0">
                    <a:solidFill>
                      <a:srgbClr val="111827"/>
                    </a:solidFill>
                    <a:latin typeface="Arial"/>
                  </a:rPr>
                  <a:t> the gap.</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$k$</a:t>
                </a:r>
                <a:r>
                  <a:rPr sz="2400" b="0">
                    <a:solidFill>
                      <a:srgbClr val="111827"/>
                    </a:solidFill>
                    <a:latin typeface="Arial"/>
                  </a:rPr>
                  <a:t> must be a natural number, check the boundary: </a:t>
                </a:r>
                <a:r>
                  <a:rPr lang="en-IN" sz="2400">
                    <a:solidFill>
                      <a:srgbClr val="111827"/>
                    </a:solidFill>
                    <a:latin typeface="Cambria Math" panose="02040503050406030204" pitchFamily="18" charset="0"/>
                  </a:rPr>
                  <a:t>$k=11$</a:t>
                </a:r>
                <a:r>
                  <a:rPr sz="2400" b="0">
                    <a:solidFill>
                      <a:srgbClr val="111827"/>
                    </a:solidFill>
                    <a:latin typeface="Arial"/>
                  </a:rPr>
                  <a:t> gives </a:t>
                </a:r>
                <a:r>
                  <a:rPr lang="en-IN" sz="2400">
                    <a:solidFill>
                      <a:srgbClr val="111827"/>
                    </a:solidFill>
                    <a:latin typeface="Cambria Math" panose="02040503050406030204" pitchFamily="18" charset="0"/>
                  </a:rPr>
                  <a:t>$\sigma^2=9$</a:t>
                </a:r>
                <a:r>
                  <a:rPr sz="2400" b="0">
                    <a:solidFill>
                      <a:srgbClr val="111827"/>
                    </a:solidFill>
                    <a:latin typeface="Arial"/>
                  </a:rPr>
                  <a:t> (less than 10); </a:t>
                </a:r>
                <a:r>
                  <a:rPr lang="en-IN" sz="2400">
                    <a:solidFill>
                      <a:srgbClr val="111827"/>
                    </a:solidFill>
                    <a:latin typeface="Cambria Math" panose="02040503050406030204" pitchFamily="18" charset="0"/>
                  </a:rPr>
                  <a:t>$k=12$</a:t>
                </a:r>
                <a:r>
                  <a:rPr sz="2400" b="0">
                    <a:solidFill>
                      <a:srgbClr val="111827"/>
                    </a:solidFill>
                    <a:latin typeface="Arial"/>
                  </a:rPr>
                  <a:t> gives </a:t>
                </a:r>
                <a:r>
                  <a:rPr lang="en-IN" sz="2400">
                    <a:solidFill>
                      <a:srgbClr val="111827"/>
                    </a:solidFill>
                    <a:latin typeface="Cambria Math" panose="02040503050406030204" pitchFamily="18" charset="0"/>
                  </a:rPr>
                  <a:t>$10.89$</a:t>
                </a:r>
                <a:r>
                  <a:rPr sz="2400" b="0">
                    <a:solidFill>
                      <a:srgbClr val="111827"/>
                    </a:solidFill>
                    <a:latin typeface="Arial"/>
                  </a:rPr>
                  <a:t> (not less than 10).</a:t>
                </a:r>
                <a:endParaRPr sz="2400">
                  <a:solidFill>
                    <a:srgbClr val="111827"/>
                  </a:solidFill>
                </a:endParaRPr>
              </a:p>
            </p:txBody>
          </p:sp>
        </mc:Fallback>
      </mc:AlternateContent>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379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sSub>
                      <m:e>
                        <m:r>
                          <a:rPr lang="en-IN" sz="2400" i="1">
                            <a:solidFill>
                              <a:srgbClr val="111827"/>
                            </a:solidFill>
                            <a:latin typeface="Cambria Math" panose="02040503050406030204" pitchFamily="18" charset="0"/>
                          </a:rPr>
                          <m:t>𝑋</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𝑋</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𝑋</m:t>
                        </m:r>
                      </m:e>
                      <m:sub>
                        <m:r>
                          <a:rPr lang="en-IN" sz="2400" i="1">
                            <a:solidFill>
                              <a:srgbClr val="111827"/>
                            </a:solidFill>
                            <a:latin typeface="Cambria Math" panose="02040503050406030204" pitchFamily="18" charset="0"/>
                          </a:rPr>
                          <m:t>18</m:t>
                        </m:r>
                      </m:sub>
                    </m:sSub>
                  </m:oMath>
                </a14:m>
                <a:r>
                  <a:rPr sz="2400" b="0">
                    <a:solidFill>
                      <a:srgbClr val="111827"/>
                    </a:solidFill>
                    <a:latin typeface="Arial"/>
                  </a:rPr>
                  <a:t> be eighteen observations such that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18</m:t>
                        </m:r>
                      </m:sup>
                      <m:e>
                        <m:r>
                          <m:rPr>
                            <m:sty m:val="p"/>
                          </m:rPr>
                          <a:rPr lang="en-IN" sz="2400">
                            <a:solidFill>
                              <a:srgbClr val="111827"/>
                            </a:solidFill>
                            <a:latin typeface="Cambria Math" panose="02040503050406030204" pitchFamily="18" charset="0"/>
                          </a:rPr>
                          <m:t>(</m:t>
                        </m:r>
                      </m:e>
                    </m:nary>
                    <m:sSub>
                      <m:e>
                        <m:r>
                          <a:rPr lang="en-IN" sz="2400" i="1">
                            <a:solidFill>
                              <a:srgbClr val="111827"/>
                            </a:solidFill>
                            <a:latin typeface="Cambria Math" panose="02040503050406030204" pitchFamily="18" charset="0"/>
                          </a:rPr>
                          <m:t>𝑋</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oMath>
                </a14:m>
                <a:r>
                  <a:rPr sz="2400" b="0">
                    <a:solidFill>
                      <a:srgbClr val="111827"/>
                    </a:solidFill>
                    <a:latin typeface="Arial"/>
                  </a:rPr>
                  <a:t> and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18</m:t>
                        </m:r>
                      </m:sup>
                      <m:e>
                        <m:r>
                          <m:rPr>
                            <m:sty m:val="p"/>
                          </m:rPr>
                          <a:rPr lang="en-IN" sz="2400">
                            <a:solidFill>
                              <a:srgbClr val="111827"/>
                            </a:solidFill>
                            <a:latin typeface="Cambria Math" panose="02040503050406030204" pitchFamily="18" charset="0"/>
                          </a:rPr>
                          <m:t>(</m:t>
                        </m:r>
                      </m:e>
                    </m:nary>
                    <m:sSub>
                      <m:e>
                        <m:r>
                          <a:rPr lang="en-IN" sz="2400" i="1">
                            <a:solidFill>
                              <a:srgbClr val="111827"/>
                            </a:solidFill>
                            <a:latin typeface="Cambria Math" panose="02040503050406030204" pitchFamily="18" charset="0"/>
                          </a:rPr>
                          <m:t>𝑋</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90</m:t>
                    </m:r>
                  </m:oMath>
                </a14:m>
                <a:r>
                  <a:rPr sz="2400" b="0">
                    <a:solidFill>
                      <a:srgbClr val="111827"/>
                    </a:solidFill>
                    <a:latin typeface="Arial"/>
                  </a:rPr>
                  <a:t>, where </a:t>
                </a:r>
                <a14:m>
                  <m:oMath xmlns:m="http://schemas.openxmlformats.org/officeDocument/2006/math">
                    <m:r>
                      <a:rPr lang="en-IN" sz="2400" i="1">
                        <a:solidFill>
                          <a:srgbClr val="111827"/>
                        </a:solidFill>
                        <a:latin typeface="Cambria Math" panose="02040503050406030204" pitchFamily="18" charset="0"/>
                      </a:rPr>
                      <m:t>α</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β</m:t>
                    </m:r>
                  </m:oMath>
                </a14:m>
                <a:r>
                  <a:rPr sz="2400" b="0">
                    <a:solidFill>
                      <a:srgbClr val="111827"/>
                    </a:solidFill>
                    <a:latin typeface="Arial"/>
                  </a:rPr>
                  <a:t> are distinct real numbers. If the standard deviation of these observations is 1, then the value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______.</a:t>
                </a:r>
                <a:endParaRPr sz="2400">
                  <a:solidFill>
                    <a:srgbClr val="111827"/>
                  </a:solidFill>
                </a:endParaRPr>
              </a:p>
            </p:txBody>
          </p:sp>
        </mc:Choice>
        <mc:Fallback>
          <p:sp>
            <p:nvSpPr>
              <p:cNvPr id="4" name="Rounded Rectangle 3"/>
              <p:cNvSpPr/>
              <p:nvPr/>
            </p:nvSpPr>
            <p:spPr>
              <a:xfrm>
                <a:off x="731520" y="1280160"/>
                <a:ext cx="10725912" cy="2379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$X_1,X_2,\dots,X_{18}$</a:t>
                </a:r>
                <a:r>
                  <a:rPr sz="2400" b="0">
                    <a:solidFill>
                      <a:srgbClr val="111827"/>
                    </a:solidFill>
                    <a:latin typeface="Arial"/>
                  </a:rPr>
                  <a:t> be eighteen observations such that </a:t>
                </a:r>
                <a:r>
                  <a:rPr lang="en-IN" sz="2400">
                    <a:solidFill>
                      <a:srgbClr val="111827"/>
                    </a:solidFill>
                    <a:latin typeface="Cambria Math" panose="02040503050406030204" pitchFamily="18" charset="0"/>
                  </a:rPr>
                  <a:t>$\sum_{i=1}^{18}(X_i-\alpha)=36$</a:t>
                </a:r>
                <a:r>
                  <a:rPr sz="2400" b="0">
                    <a:solidFill>
                      <a:srgbClr val="111827"/>
                    </a:solidFill>
                    <a:latin typeface="Arial"/>
                  </a:rPr>
                  <a:t> and </a:t>
                </a:r>
                <a:r>
                  <a:rPr lang="en-IN" sz="2400">
                    <a:solidFill>
                      <a:srgbClr val="111827"/>
                    </a:solidFill>
                    <a:latin typeface="Cambria Math" panose="02040503050406030204" pitchFamily="18" charset="0"/>
                  </a:rPr>
                  <a:t>$\sum_{i=1}^{18}(X_i-\beta)^2=90$</a:t>
                </a:r>
                <a:r>
                  <a:rPr sz="2400" b="0">
                    <a:solidFill>
                      <a:srgbClr val="111827"/>
                    </a:solidFill>
                    <a:latin typeface="Arial"/>
                  </a:rPr>
                  <a:t>, where </a:t>
                </a:r>
                <a:r>
                  <a:rPr lang="en-IN" sz="2400">
                    <a:solidFill>
                      <a:srgbClr val="111827"/>
                    </a:solidFill>
                    <a:latin typeface="Cambria Math" panose="02040503050406030204" pitchFamily="18" charset="0"/>
                  </a:rPr>
                  <a:t>$\alpha$</a:t>
                </a:r>
                <a:r>
                  <a:rPr sz="2400" b="0">
                    <a:solidFill>
                      <a:srgbClr val="111827"/>
                    </a:solidFill>
                    <a:latin typeface="Arial"/>
                  </a:rPr>
                  <a:t> and </a:t>
                </a:r>
                <a:r>
                  <a:rPr lang="en-IN" sz="2400">
                    <a:solidFill>
                      <a:srgbClr val="111827"/>
                    </a:solidFill>
                    <a:latin typeface="Cambria Math" panose="02040503050406030204" pitchFamily="18" charset="0"/>
                  </a:rPr>
                  <a:t>$\beta$</a:t>
                </a:r>
                <a:r>
                  <a:rPr sz="2400" b="0">
                    <a:solidFill>
                      <a:srgbClr val="111827"/>
                    </a:solidFill>
                    <a:latin typeface="Arial"/>
                  </a:rPr>
                  <a:t> are distinct real numbers. If the standard deviation of these observations is 1, then the value of </a:t>
                </a:r>
                <a:r>
                  <a:rPr lang="en-IN" sz="2400">
                    <a:solidFill>
                      <a:srgbClr val="111827"/>
                    </a:solidFill>
                    <a:latin typeface="Cambria Math" panose="02040503050406030204" pitchFamily="18" charset="0"/>
                  </a:rPr>
                  <a:t>$|\alpha-\beta|$</a:t>
                </a:r>
                <a:r>
                  <a:rPr sz="2400" b="0">
                    <a:solidFill>
                      <a:srgbClr val="111827"/>
                    </a:solidFill>
                    <a:latin typeface="Arial"/>
                  </a:rPr>
                  <a:t> is ______.</a:t>
                </a:r>
                <a:endParaRPr sz="2400">
                  <a:solidFill>
                    <a:srgbClr val="111827"/>
                  </a:solidFill>
                </a:endParaRPr>
              </a:p>
            </p:txBody>
          </p:sp>
        </mc:Fallback>
      </mc:AlternateContent>
      <p:sp>
        <p:nvSpPr>
          <p:cNvPr id="5" name="Rectangle 4"/>
          <p:cNvSpPr/>
          <p:nvPr/>
        </p:nvSpPr>
        <p:spPr>
          <a:xfrm>
            <a:off x="731520" y="3888739"/>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Variance and sums of squares about two different points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first condition fixes the mean as </a:t>
                </a:r>
                <a14:m>
                  <m:oMath xmlns:m="http://schemas.openxmlformats.org/officeDocument/2006/math">
                    <m:r>
                      <a:rPr lang="en-IN" sz="2400" i="1">
                        <a:solidFill>
                          <a:srgbClr val="78350F"/>
                        </a:solidFill>
                        <a:latin typeface="Cambria Math" panose="02040503050406030204" pitchFamily="18" charset="0"/>
                      </a:rPr>
                      <m:t>α</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oMath>
                </a14:m>
                <a:r>
                  <a:rPr sz="2400" b="0">
                    <a:solidFill>
                      <a:srgbClr val="78350F"/>
                    </a:solidFill>
                    <a:latin typeface="Arial"/>
                  </a:rPr>
                  <a:t>; the second is the sum of squares about </a:t>
                </a:r>
                <a14:m>
                  <m:oMath xmlns:m="http://schemas.openxmlformats.org/officeDocument/2006/math">
                    <m:r>
                      <a:rPr lang="en-IN" sz="2400" i="1">
                        <a:solidFill>
                          <a:srgbClr val="78350F"/>
                        </a:solidFill>
                        <a:latin typeface="Cambria Math" panose="02040503050406030204" pitchFamily="18" charset="0"/>
                      </a:rPr>
                      <m:t>β</m:t>
                    </m:r>
                  </m:oMath>
                </a14:m>
                <a:r>
                  <a:rPr sz="2400" b="0">
                    <a:solidFill>
                      <a:srgbClr val="78350F"/>
                    </a:solidFill>
                    <a:latin typeface="Arial"/>
                  </a:rPr>
                  <a:t>, linked to the variance by the parallel-axis identity.</a:t>
                </a:r>
                <a:endParaRPr sz="2400">
                  <a:solidFill>
                    <a:srgbClr val="78350F"/>
                  </a:solidFill>
                </a:endParaRPr>
              </a:p>
            </p:txBody>
          </p:sp>
        </mc:Choice>
        <mc:Fallback>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first condition fixes the mean as </a:t>
                </a:r>
                <a:r>
                  <a:rPr lang="en-IN" sz="2400">
                    <a:solidFill>
                      <a:srgbClr val="78350F"/>
                    </a:solidFill>
                    <a:latin typeface="Cambria Math" panose="02040503050406030204" pitchFamily="18" charset="0"/>
                  </a:rPr>
                  <a:t>$\alpha+2$</a:t>
                </a:r>
                <a:r>
                  <a:rPr sz="2400" b="0">
                    <a:solidFill>
                      <a:srgbClr val="78350F"/>
                    </a:solidFill>
                    <a:latin typeface="Arial"/>
                  </a:rPr>
                  <a:t>; the second is the sum of squares about </a:t>
                </a:r>
                <a:r>
                  <a:rPr lang="en-IN" sz="2400">
                    <a:solidFill>
                      <a:srgbClr val="78350F"/>
                    </a:solidFill>
                    <a:latin typeface="Cambria Math" panose="02040503050406030204" pitchFamily="18" charset="0"/>
                  </a:rPr>
                  <a:t>$\beta$</a:t>
                </a:r>
                <a:r>
                  <a:rPr sz="2400" b="0">
                    <a:solidFill>
                      <a:srgbClr val="78350F"/>
                    </a:solidFill>
                    <a:latin typeface="Arial"/>
                  </a:rPr>
                  <a:t>, linked to the variance by the parallel-axis identity.</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𝑋</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oMath>
                </a14:m>
                <a:r>
                  <a:rPr sz="2400" b="0">
                    <a:solidFill>
                      <a:srgbClr val="111827"/>
                    </a:solidFill>
                    <a:latin typeface="Arial"/>
                  </a:rPr>
                  <a:t> gives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𝑋</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r>
                      <a:rPr lang="en-IN" sz="2400" i="1">
                        <a:solidFill>
                          <a:srgbClr val="111827"/>
                        </a:solidFill>
                        <a:latin typeface="Cambria Math" panose="02040503050406030204" pitchFamily="18" charset="0"/>
                      </a:rPr>
                      <m:t>α</m:t>
                    </m:r>
                  </m:oMath>
                </a14:m>
                <a:r>
                  <a:rPr sz="2400" b="0">
                    <a:solidFill>
                      <a:srgbClr val="111827"/>
                    </a:solidFill>
                    <a:latin typeface="Arial"/>
                  </a:rPr>
                  <a:t>, so the mean is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𝑋</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𝑋</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90</m:t>
                    </m:r>
                  </m:oMath>
                </a14:m>
                <a:r>
                  <a:rPr sz="2400" b="0">
                    <a:solidFill>
                      <a:srgbClr val="111827"/>
                    </a:solidFill>
                    <a:latin typeface="Arial"/>
                  </a:rPr>
                  <a:t> gives </a:t>
                </a:r>
                <a14:m>
                  <m:oMath xmlns:m="http://schemas.openxmlformats.org/officeDocument/2006/math">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𝑋</m:t>
                        </m:r>
                      </m:e>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𝑋</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Variance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𝑋</m:t>
                            </m:r>
                          </m:e>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2</m:t>
                            </m:r>
                          </m:sup>
                        </m:sSubSup>
                      </m:num>
                      <m:den>
                        <m:r>
                          <a:rPr lang="en-IN" sz="2400" i="1">
                            <a:solidFill>
                              <a:srgbClr val="111827"/>
                            </a:solidFill>
                            <a:latin typeface="Cambria Math" panose="02040503050406030204" pitchFamily="18" charset="0"/>
                          </a:rPr>
                          <m:t>18</m:t>
                        </m:r>
                      </m:den>
                    </m:f>
                    <m:r>
                      <m:rPr>
                        <m:sty m:val="p"/>
                      </m:rPr>
                      <a:rPr lang="en-IN" sz="2400">
                        <a:solidFill>
                          <a:srgbClr val="111827"/>
                        </a:solidFill>
                        <a:latin typeface="Cambria Math" panose="02040503050406030204" pitchFamily="18" charset="0"/>
                      </a:rPr>
                      <m:t>−</m:t>
                    </m:r>
                    <m:sSup>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𝑋</m:t>
                            </m:r>
                          </m:e>
                        </m:acc>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$\sum(X_i-\alpha)=36$</a:t>
                </a:r>
                <a:r>
                  <a:rPr sz="2400" b="0">
                    <a:solidFill>
                      <a:srgbClr val="111827"/>
                    </a:solidFill>
                    <a:latin typeface="Arial"/>
                  </a:rPr>
                  <a:t> gives </a:t>
                </a:r>
                <a:r>
                  <a:rPr lang="en-IN" sz="2400">
                    <a:solidFill>
                      <a:srgbClr val="111827"/>
                    </a:solidFill>
                    <a:latin typeface="Cambria Math" panose="02040503050406030204" pitchFamily="18" charset="0"/>
                  </a:rPr>
                  <a:t>$\sum X_i=36+18\alpha$</a:t>
                </a:r>
                <a:r>
                  <a:rPr sz="2400" b="0">
                    <a:solidFill>
                      <a:srgbClr val="111827"/>
                    </a:solidFill>
                    <a:latin typeface="Arial"/>
                  </a:rPr>
                  <a:t>, so the mean is </a:t>
                </a:r>
                <a:r>
                  <a:rPr lang="en-IN" sz="2400">
                    <a:solidFill>
                      <a:srgbClr val="111827"/>
                    </a:solidFill>
                    <a:latin typeface="Cambria Math" panose="02040503050406030204" pitchFamily="18" charset="0"/>
                  </a:rPr>
                  <a:t>$\bar{X}=\alpha+2$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$\sum(X_i-\beta)^2=90$</a:t>
                </a:r>
                <a:r>
                  <a:rPr sz="2400" b="0">
                    <a:solidFill>
                      <a:srgbClr val="111827"/>
                    </a:solidFill>
                    <a:latin typeface="Arial"/>
                  </a:rPr>
                  <a:t> gives </a:t>
                </a:r>
                <a:r>
                  <a:rPr lang="en-IN" sz="2400">
                    <a:solidFill>
                      <a:srgbClr val="111827"/>
                    </a:solidFill>
                    <a:latin typeface="Cambria Math" panose="02040503050406030204" pitchFamily="18" charset="0"/>
                  </a:rPr>
                  <a:t>$\sum X_i^2=90+2\beta\sum X_i-18\beta^2=90+2\beta(36+18\alpha)-18\beta^2$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Variance </a:t>
                </a:r>
                <a:r>
                  <a:rPr lang="en-IN" sz="2400">
                    <a:solidFill>
                      <a:srgbClr val="111827"/>
                    </a:solidFill>
                    <a:latin typeface="Cambria Math" panose="02040503050406030204" pitchFamily="18" charset="0"/>
                  </a:rPr>
                  <a:t>$1=\frac{\sum X_i^2}{18}-\bar{X}^2=5+2\beta(2+\alpha)-\beta^2-(\alpha+2)^2$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Rearranged: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i.e.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giving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Rearranged: </a:t>
                </a:r>
                <a:r>
                  <a:rPr lang="en-IN" sz="2400">
                    <a:solidFill>
                      <a:srgbClr val="111827"/>
                    </a:solidFill>
                    <a:latin typeface="Cambria Math" panose="02040503050406030204" pitchFamily="18" charset="0"/>
                  </a:rPr>
                  <a:t>$(\alpha+2)^2-2\beta(\alpha+2)+\beta^2=4$</a:t>
                </a:r>
                <a:r>
                  <a:rPr sz="2400" b="0">
                    <a:solidFill>
                      <a:srgbClr val="111827"/>
                    </a:solidFill>
                    <a:latin typeface="Arial"/>
                  </a:rPr>
                  <a:t>, i.e. </a:t>
                </a:r>
                <a:r>
                  <a:rPr lang="en-IN" sz="2400">
                    <a:solidFill>
                      <a:srgbClr val="111827"/>
                    </a:solidFill>
                    <a:latin typeface="Cambria Math" panose="02040503050406030204" pitchFamily="18" charset="0"/>
                  </a:rPr>
                  <a:t>$(\alpha+2-\beta)^2=4$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$\alpha-\beta+2=\pm2$</a:t>
                </a:r>
                <a:r>
                  <a:rPr sz="2400" b="0">
                    <a:solidFill>
                      <a:srgbClr val="111827"/>
                    </a:solidFill>
                    <a:latin typeface="Arial"/>
                  </a:rPr>
                  <a:t>, giving </a:t>
                </a:r>
                <a:r>
                  <a:rPr lang="en-IN" sz="2400">
                    <a:solidFill>
                      <a:srgbClr val="111827"/>
                    </a:solidFill>
                    <a:latin typeface="Cambria Math" panose="02040503050406030204" pitchFamily="18" charset="0"/>
                  </a:rPr>
                  <a:t>$\alpha-\beta=0$</a:t>
                </a:r>
                <a:r>
                  <a:rPr sz="2400" b="0">
                    <a:solidFill>
                      <a:srgbClr val="111827"/>
                    </a:solidFill>
                    <a:latin typeface="Arial"/>
                  </a:rPr>
                  <a:t> or </a:t>
                </a:r>
                <a:r>
                  <a:rPr lang="en-IN" sz="2400">
                    <a:solidFill>
                      <a:srgbClr val="111827"/>
                    </a:solidFill>
                    <a:latin typeface="Cambria Math" panose="02040503050406030204" pitchFamily="18" charset="0"/>
                  </a:rPr>
                  <a:t>$\alpha-\beta=-4$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$\alpha\ne\beta$</a:t>
                </a:r>
                <a:r>
                  <a:rPr sz="2400" b="0">
                    <a:solidFill>
                      <a:srgbClr val="111827"/>
                    </a:solidFill>
                    <a:latin typeface="Arial"/>
                  </a:rPr>
                  <a:t>, </a:t>
                </a:r>
                <a:r>
                  <a:rPr lang="en-IN" sz="2400">
                    <a:solidFill>
                      <a:srgbClr val="111827"/>
                    </a:solidFill>
                    <a:latin typeface="Cambria Math" panose="02040503050406030204" pitchFamily="18" charset="0"/>
                  </a:rPr>
                  <a:t>$\alpha-\beta=-4$</a:t>
                </a:r>
                <a:r>
                  <a:rPr sz="2400" b="0">
                    <a:solidFill>
                      <a:srgbClr val="111827"/>
                    </a:solidFill>
                    <a:latin typeface="Arial"/>
                  </a:rPr>
                  <a:t> and </a:t>
                </a:r>
                <a:r>
                  <a:rPr lang="en-IN" sz="2400">
                    <a:solidFill>
                      <a:srgbClr val="111827"/>
                    </a:solidFill>
                    <a:latin typeface="Cambria Math" panose="02040503050406030204" pitchFamily="18" charset="0"/>
                  </a:rPr>
                  <a:t>$|\alpha-\beta|=4$</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14:m>
                  <m:oMath xmlns:m="http://schemas.openxmlformats.org/officeDocument/2006/math">
                    <m:r>
                      <a:rPr lang="en-IN" sz="2800" i="1">
                        <a:solidFill>
                          <a:srgbClr val="15803D"/>
                        </a:solidFill>
                        <a:latin typeface="Cambria Math" panose="02040503050406030204" pitchFamily="18" charset="0"/>
                      </a:rPr>
                      <m:t>4</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r>
                  <a:rPr lang="en-IN" sz="2800">
                    <a:solidFill>
                      <a:srgbClr val="15803D"/>
                    </a:solidFill>
                    <a:latin typeface="Cambria Math" panose="02040503050406030204" pitchFamily="18" charset="0"/>
                  </a:rPr>
                  <a:t>$4$</a:t>
                </a:r>
                <a:endParaRPr sz="2800">
                  <a:solidFill>
                    <a:srgbClr val="15803D"/>
                  </a:solidFill>
                </a:endParaRPr>
              </a:p>
            </p:txBody>
          </p:sp>
        </mc:Fallback>
      </mc:AlternateContent>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Parallel-axis identity: </a:t>
                </a:r>
                <a14:m>
                  <m:oMath xmlns:m="http://schemas.openxmlformats.org/officeDocument/2006/math">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𝑋</m:t>
                        </m:r>
                      </m:e>
                      <m:sub>
                        <m:r>
                          <a:rPr lang="en-IN" sz="2400" i="1">
                            <a:solidFill>
                              <a:srgbClr val="78350F"/>
                            </a:solidFill>
                            <a:latin typeface="Cambria Math" panose="02040503050406030204" pitchFamily="18" charset="0"/>
                          </a:rPr>
                          <m:t>𝑖</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β</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𝑋</m:t>
                        </m:r>
                      </m:e>
                      <m:sub>
                        <m:r>
                          <a:rPr lang="en-IN" sz="2400" i="1">
                            <a:solidFill>
                              <a:srgbClr val="78350F"/>
                            </a:solidFill>
                            <a:latin typeface="Cambria Math" panose="02040503050406030204" pitchFamily="18" charset="0"/>
                          </a:rPr>
                          <m:t>𝑖</m:t>
                        </m:r>
                      </m:sub>
                    </m:sSub>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𝑋</m:t>
                        </m:r>
                      </m:e>
                    </m:acc>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𝑋</m:t>
                        </m:r>
                      </m:e>
                    </m:acc>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β</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Parallel-axis identity: </a:t>
                </a:r>
                <a:r>
                  <a:rPr lang="en-IN" sz="2400">
                    <a:solidFill>
                      <a:srgbClr val="78350F"/>
                    </a:solidFill>
                    <a:latin typeface="Cambria Math" panose="02040503050406030204" pitchFamily="18" charset="0"/>
                  </a:rPr>
                  <a:t>$\sum(X_i-\beta)^2=\sum(X_i-\bar{X})^2+n(\bar{X}-\beta)^2$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Mean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𝑋</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(from the first condition) and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𝑋</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𝑋</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90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𝑋</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𝑋</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𝑋</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or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distinct numbers give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the same answer.</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Mean </a:t>
                </a:r>
                <a:r>
                  <a:rPr lang="en-IN" sz="2400">
                    <a:solidFill>
                      <a:srgbClr val="111827"/>
                    </a:solidFill>
                    <a:latin typeface="Cambria Math" panose="02040503050406030204" pitchFamily="18" charset="0"/>
                  </a:rPr>
                  <a:t>$\bar{X}=\alpha+2$</a:t>
                </a:r>
                <a:r>
                  <a:rPr sz="2400" b="0">
                    <a:solidFill>
                      <a:srgbClr val="111827"/>
                    </a:solidFill>
                    <a:latin typeface="Arial"/>
                  </a:rPr>
                  <a:t> (from the first condition) and </a:t>
                </a:r>
                <a:r>
                  <a:rPr lang="en-IN" sz="2400">
                    <a:solidFill>
                      <a:srgbClr val="111827"/>
                    </a:solidFill>
                    <a:latin typeface="Cambria Math" panose="02040503050406030204" pitchFamily="18" charset="0"/>
                  </a:rPr>
                  <a:t>$\sum(X_i-\bar{X})^2=18\sigma^2=18$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$90=18+18(\bar{X}-\beta)^2$</a:t>
                </a:r>
                <a:r>
                  <a:rPr sz="2400" b="0">
                    <a:solidFill>
                      <a:srgbClr val="111827"/>
                    </a:solidFill>
                    <a:latin typeface="Arial"/>
                  </a:rPr>
                  <a:t>, so </a:t>
                </a:r>
                <a:r>
                  <a:rPr lang="en-IN" sz="2400">
                    <a:solidFill>
                      <a:srgbClr val="111827"/>
                    </a:solidFill>
                    <a:latin typeface="Cambria Math" panose="02040503050406030204" pitchFamily="18" charset="0"/>
                  </a:rPr>
                  <a:t>$(\bar{X}-\beta)^2=4$</a:t>
                </a:r>
                <a:r>
                  <a:rPr sz="2400" b="0">
                    <a:solidFill>
                      <a:srgbClr val="111827"/>
                    </a:solidFill>
                    <a:latin typeface="Arial"/>
                  </a:rPr>
                  <a:t> and </a:t>
                </a:r>
                <a:r>
                  <a:rPr lang="en-IN" sz="2400">
                    <a:solidFill>
                      <a:srgbClr val="111827"/>
                    </a:solidFill>
                    <a:latin typeface="Cambria Math" panose="02040503050406030204" pitchFamily="18" charset="0"/>
                  </a:rPr>
                  <a:t>$\bar{X}-\beta=\pm2$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$\alpha+2-\beta=\pm2$</a:t>
                </a:r>
                <a:r>
                  <a:rPr sz="2400" b="0">
                    <a:solidFill>
                      <a:srgbClr val="111827"/>
                    </a:solidFill>
                    <a:latin typeface="Arial"/>
                  </a:rPr>
                  <a:t>, so </a:t>
                </a:r>
                <a:r>
                  <a:rPr lang="en-IN" sz="2400">
                    <a:solidFill>
                      <a:srgbClr val="111827"/>
                    </a:solidFill>
                    <a:latin typeface="Cambria Math" panose="02040503050406030204" pitchFamily="18" charset="0"/>
                  </a:rPr>
                  <a:t>$\alpha-\beta=0$</a:t>
                </a:r>
                <a:r>
                  <a:rPr sz="2400" b="0">
                    <a:solidFill>
                      <a:srgbClr val="111827"/>
                    </a:solidFill>
                    <a:latin typeface="Arial"/>
                  </a:rPr>
                  <a:t> or </a:t>
                </a:r>
                <a:r>
                  <a:rPr lang="en-IN" sz="2400">
                    <a:solidFill>
                      <a:srgbClr val="111827"/>
                    </a:solidFill>
                    <a:latin typeface="Cambria Math" panose="02040503050406030204" pitchFamily="18" charset="0"/>
                  </a:rPr>
                  <a:t>$-4$</a:t>
                </a:r>
                <a:r>
                  <a:rPr sz="2400" b="0">
                    <a:solidFill>
                      <a:srgbClr val="111827"/>
                    </a:solidFill>
                    <a:latin typeface="Arial"/>
                  </a:rPr>
                  <a:t>; distinct numbers give </a:t>
                </a:r>
                <a:r>
                  <a:rPr lang="en-IN" sz="2400">
                    <a:solidFill>
                      <a:srgbClr val="111827"/>
                    </a:solidFill>
                    <a:latin typeface="Cambria Math" panose="02040503050406030204" pitchFamily="18" charset="0"/>
                  </a:rPr>
                  <a:t>$|\alpha-\beta|=4$</a:t>
                </a:r>
                <a:r>
                  <a:rPr sz="2400" b="0">
                    <a:solidFill>
                      <a:srgbClr val="111827"/>
                    </a:solidFill>
                    <a:latin typeface="Arial"/>
                  </a:rPr>
                  <a:t>, the same answer.</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14:m>
                  <m:oMath xmlns:m="http://schemas.openxmlformats.org/officeDocument/2006/math">
                    <m:r>
                      <a:rPr lang="en-IN" sz="2800" i="1">
                        <a:solidFill>
                          <a:srgbClr val="15803D"/>
                        </a:solidFill>
                        <a:latin typeface="Cambria Math" panose="02040503050406030204" pitchFamily="18" charset="0"/>
                      </a:rPr>
                      <m:t>4</m:t>
                    </m:r>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r>
                  <a:rPr lang="en-IN" sz="2800">
                    <a:solidFill>
                      <a:srgbClr val="15803D"/>
                    </a:solidFill>
                    <a:latin typeface="Cambria Math" panose="02040503050406030204" pitchFamily="18" charset="0"/>
                  </a:rPr>
                  <a:t>$4$</a:t>
                </a:r>
                <a:endParaRPr sz="2800">
                  <a:solidFill>
                    <a:srgbClr val="15803D"/>
                  </a:solidFill>
                </a:endParaRPr>
              </a:p>
            </p:txBody>
          </p:sp>
        </mc:Fallback>
      </mc:AlternateContent>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Parallel-axis (Koenig) identity: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the sum of squares about any point is minimised at the mean.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It turns every 'sum of squares about a point' condition into </a:t>
                </a:r>
                <a14:m>
                  <m:oMath xmlns:m="http://schemas.openxmlformats.org/officeDocument/2006/math">
                    <m:r>
                      <a:rPr lang="en-IN" sz="2400" i="1">
                        <a:solidFill>
                          <a:srgbClr val="111827"/>
                        </a:solidFill>
                        <a:latin typeface="Cambria Math" panose="02040503050406030204" pitchFamily="18" charset="0"/>
                      </a:rPr>
                      <m:t>𝑛</m:t>
                    </m:r>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Parallel-axis (Koenig) identity: </a:t>
                </a:r>
                <a:r>
                  <a:rPr lang="en-IN" sz="2400">
                    <a:solidFill>
                      <a:srgbClr val="111827"/>
                    </a:solidFill>
                    <a:latin typeface="Cambria Math" panose="02040503050406030204" pitchFamily="18" charset="0"/>
                  </a:rPr>
                  <a:t>$\sum(x_i-c)^2=\sum(x_i-\bar{x})^2+n(\bar{x}-c)^2$</a:t>
                </a:r>
                <a:r>
                  <a:rPr sz="2400" b="0">
                    <a:solidFill>
                      <a:srgbClr val="111827"/>
                    </a:solidFill>
                    <a:latin typeface="Arial"/>
                  </a:rPr>
                  <a:t>; the sum of squares about any point is minimised at the mean.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It turns every 'sum of squares about a point' condition into </a:t>
                </a:r>
                <a:r>
                  <a:rPr lang="en-IN" sz="2400">
                    <a:solidFill>
                      <a:srgbClr val="111827"/>
                    </a:solidFill>
                    <a:latin typeface="Cambria Math" panose="02040503050406030204" pitchFamily="18" charset="0"/>
                  </a:rPr>
                  <a:t>$n\sigma^2+n(\bar{x}-c)^2$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9</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Single Correct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Q39</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4 marks each (no marks printed in the sheet - JEE Advanced default of 4 assumed)</a:t>
            </a:r>
            <a:endParaRPr sz="2800">
              <a:solidFill>
                <a:srgbClr val="FFFFFF"/>
              </a:solidFill>
            </a:endParaRP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8153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in a series of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oMath>
                </a14:m>
                <a:r>
                  <a:rPr sz="2400" b="0">
                    <a:solidFill>
                      <a:srgbClr val="111827"/>
                    </a:solidFill>
                    <a:latin typeface="Arial"/>
                  </a:rPr>
                  <a:t> observations, half of them be equal to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and the remaining half be equal to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oMath>
                </a14:m>
                <a:r>
                  <a:rPr sz="2400" b="0">
                    <a:solidFill>
                      <a:srgbClr val="111827"/>
                    </a:solidFill>
                    <a:latin typeface="Arial"/>
                  </a:rPr>
                  <a:t>. Also by adding a constant </a:t>
                </a:r>
                <a14:m>
                  <m:oMath xmlns:m="http://schemas.openxmlformats.org/officeDocument/2006/math">
                    <m:r>
                      <a:rPr lang="en-IN" sz="2400" i="1">
                        <a:solidFill>
                          <a:srgbClr val="111827"/>
                        </a:solidFill>
                        <a:latin typeface="Cambria Math" panose="02040503050406030204" pitchFamily="18" charset="0"/>
                      </a:rPr>
                      <m:t>𝑏</m:t>
                    </m:r>
                  </m:oMath>
                </a14:m>
                <a:r>
                  <a:rPr sz="2400" b="0">
                    <a:solidFill>
                      <a:srgbClr val="111827"/>
                    </a:solidFill>
                    <a:latin typeface="Arial"/>
                  </a:rPr>
                  <a:t> in each of these observations, the mean and standard deviation of the new set become 5 and 20 respectively. Then the value of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is equal to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425   (B) 925   (C) 650   (D) 250</a:t>
                </a:r>
                <a:endParaRPr sz="2400">
                  <a:solidFill>
                    <a:srgbClr val="111827"/>
                  </a:solidFill>
                </a:endParaRPr>
              </a:p>
            </p:txBody>
          </p:sp>
        </mc:Choice>
        <mc:Fallback>
          <p:sp>
            <p:nvSpPr>
              <p:cNvPr id="4" name="Rounded Rectangle 3"/>
              <p:cNvSpPr/>
              <p:nvPr/>
            </p:nvSpPr>
            <p:spPr>
              <a:xfrm>
                <a:off x="731520" y="1280160"/>
                <a:ext cx="10725912" cy="28153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in a series of </a:t>
                </a:r>
                <a:r>
                  <a:rPr lang="en-IN" sz="2400">
                    <a:solidFill>
                      <a:srgbClr val="111827"/>
                    </a:solidFill>
                    <a:latin typeface="Cambria Math" panose="02040503050406030204" pitchFamily="18" charset="0"/>
                  </a:rPr>
                  <a:t>$2n$</a:t>
                </a:r>
                <a:r>
                  <a:rPr sz="2400" b="0">
                    <a:solidFill>
                      <a:srgbClr val="111827"/>
                    </a:solidFill>
                    <a:latin typeface="Arial"/>
                  </a:rPr>
                  <a:t> observations, half of them be equal to </a:t>
                </a:r>
                <a:r>
                  <a:rPr lang="en-IN" sz="2400">
                    <a:solidFill>
                      <a:srgbClr val="111827"/>
                    </a:solidFill>
                    <a:latin typeface="Cambria Math" panose="02040503050406030204" pitchFamily="18" charset="0"/>
                  </a:rPr>
                  <a:t>$a$</a:t>
                </a:r>
                <a:r>
                  <a:rPr sz="2400" b="0">
                    <a:solidFill>
                      <a:srgbClr val="111827"/>
                    </a:solidFill>
                    <a:latin typeface="Arial"/>
                  </a:rPr>
                  <a:t> and the remaining half be equal to </a:t>
                </a:r>
                <a:r>
                  <a:rPr lang="en-IN" sz="2400">
                    <a:solidFill>
                      <a:srgbClr val="111827"/>
                    </a:solidFill>
                    <a:latin typeface="Cambria Math" panose="02040503050406030204" pitchFamily="18" charset="0"/>
                  </a:rPr>
                  <a:t>$-a$</a:t>
                </a:r>
                <a:r>
                  <a:rPr sz="2400" b="0">
                    <a:solidFill>
                      <a:srgbClr val="111827"/>
                    </a:solidFill>
                    <a:latin typeface="Arial"/>
                  </a:rPr>
                  <a:t>. Also by adding a constant </a:t>
                </a:r>
                <a:r>
                  <a:rPr lang="en-IN" sz="2400">
                    <a:solidFill>
                      <a:srgbClr val="111827"/>
                    </a:solidFill>
                    <a:latin typeface="Cambria Math" panose="02040503050406030204" pitchFamily="18" charset="0"/>
                  </a:rPr>
                  <a:t>$b$</a:t>
                </a:r>
                <a:r>
                  <a:rPr sz="2400" b="0">
                    <a:solidFill>
                      <a:srgbClr val="111827"/>
                    </a:solidFill>
                    <a:latin typeface="Arial"/>
                  </a:rPr>
                  <a:t> in each of these observations, the mean and standard deviation of the new set become 5 and 20 respectively. Then the value of </a:t>
                </a:r>
                <a:r>
                  <a:rPr lang="en-IN" sz="2400">
                    <a:solidFill>
                      <a:srgbClr val="111827"/>
                    </a:solidFill>
                    <a:latin typeface="Cambria Math" panose="02040503050406030204" pitchFamily="18" charset="0"/>
                  </a:rPr>
                  <a:t>$a^2+b^2$</a:t>
                </a:r>
                <a:r>
                  <a:rPr sz="2400" b="0">
                    <a:solidFill>
                      <a:srgbClr val="111827"/>
                    </a:solidFill>
                    <a:latin typeface="Arial"/>
                  </a:rPr>
                  <a:t> is equal to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425   (B) 925   (C) 650   (D) 250</a:t>
                </a:r>
                <a:endParaRPr sz="2400">
                  <a:solidFill>
                    <a:srgbClr val="111827"/>
                  </a:solidFill>
                </a:endParaRPr>
              </a:p>
            </p:txBody>
          </p:sp>
        </mc:Fallback>
      </mc:AlternateContent>
      <p:sp>
        <p:nvSpPr>
          <p:cNvPr id="5" name="Rectangle 4"/>
          <p:cNvSpPr/>
          <p:nvPr/>
        </p:nvSpPr>
        <p:spPr>
          <a:xfrm>
            <a:off x="731520" y="4324095"/>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Mean and standard deviation of a symmetric two-valued data set</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original mean is 0 and the s.d. is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adding </a:t>
                </a:r>
                <a14:m>
                  <m:oMath xmlns:m="http://schemas.openxmlformats.org/officeDocument/2006/math">
                    <m:r>
                      <a:rPr lang="en-IN" sz="2400" i="1">
                        <a:solidFill>
                          <a:srgbClr val="78350F"/>
                        </a:solidFill>
                        <a:latin typeface="Cambria Math" panose="02040503050406030204" pitchFamily="18" charset="0"/>
                      </a:rPr>
                      <m:t>𝑏</m:t>
                    </m:r>
                  </m:oMath>
                </a14:m>
                <a:r>
                  <a:rPr sz="2400" b="0">
                    <a:solidFill>
                      <a:srgbClr val="78350F"/>
                    </a:solidFill>
                    <a:latin typeface="Arial"/>
                  </a:rPr>
                  <a:t> shifts the mean to </a:t>
                </a:r>
                <a14:m>
                  <m:oMath xmlns:m="http://schemas.openxmlformats.org/officeDocument/2006/math">
                    <m:r>
                      <a:rPr lang="en-IN" sz="2400" i="1">
                        <a:solidFill>
                          <a:srgbClr val="78350F"/>
                        </a:solidFill>
                        <a:latin typeface="Cambria Math" panose="02040503050406030204" pitchFamily="18" charset="0"/>
                      </a:rPr>
                      <m:t>𝑏</m:t>
                    </m:r>
                  </m:oMath>
                </a14:m>
                <a:r>
                  <a:rPr sz="2400" b="0">
                    <a:solidFill>
                      <a:srgbClr val="78350F"/>
                    </a:solidFill>
                    <a:latin typeface="Arial"/>
                  </a:rPr>
                  <a:t> without changing the s.d.</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original mean is 0 and the s.d. is </a:t>
                </a:r>
                <a:r>
                  <a:rPr lang="en-IN" sz="2400">
                    <a:solidFill>
                      <a:srgbClr val="78350F"/>
                    </a:solidFill>
                    <a:latin typeface="Cambria Math" panose="02040503050406030204" pitchFamily="18" charset="0"/>
                  </a:rPr>
                  <a:t>$|a|$</a:t>
                </a:r>
                <a:r>
                  <a:rPr sz="2400" b="0">
                    <a:solidFill>
                      <a:srgbClr val="78350F"/>
                    </a:solidFill>
                    <a:latin typeface="Arial"/>
                  </a:rPr>
                  <a:t>; adding </a:t>
                </a:r>
                <a:r>
                  <a:rPr lang="en-IN" sz="2400">
                    <a:solidFill>
                      <a:srgbClr val="78350F"/>
                    </a:solidFill>
                    <a:latin typeface="Cambria Math" panose="02040503050406030204" pitchFamily="18" charset="0"/>
                  </a:rPr>
                  <a:t>$b$</a:t>
                </a:r>
                <a:r>
                  <a:rPr sz="2400" b="0">
                    <a:solidFill>
                      <a:srgbClr val="78350F"/>
                    </a:solidFill>
                    <a:latin typeface="Arial"/>
                  </a:rPr>
                  <a:t> shifts the mean to </a:t>
                </a:r>
                <a:r>
                  <a:rPr lang="en-IN" sz="2400">
                    <a:solidFill>
                      <a:srgbClr val="78350F"/>
                    </a:solidFill>
                    <a:latin typeface="Cambria Math" panose="02040503050406030204" pitchFamily="18" charset="0"/>
                  </a:rPr>
                  <a:t>$b$</a:t>
                </a:r>
                <a:r>
                  <a:rPr sz="2400" b="0">
                    <a:solidFill>
                      <a:srgbClr val="78350F"/>
                    </a:solidFill>
                    <a:latin typeface="Arial"/>
                  </a:rPr>
                  <a:t> without changing the s.d.</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of each): mean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2</m:t>
                            </m:r>
                          </m:sup>
                        </m:sSubSup>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den>
                    </m:f>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Adding </a:t>
                </a:r>
                <a14:m>
                  <m:oMath xmlns:m="http://schemas.openxmlformats.org/officeDocument/2006/math">
                    <m:r>
                      <a:rPr lang="en-IN" sz="2400" i="1">
                        <a:solidFill>
                          <a:srgbClr val="111827"/>
                        </a:solidFill>
                        <a:latin typeface="Cambria Math" panose="02040503050406030204" pitchFamily="18" charset="0"/>
                      </a:rPr>
                      <m:t>𝑏</m:t>
                    </m:r>
                  </m:oMath>
                </a14:m>
                <a:r>
                  <a:rPr sz="2400" b="0">
                    <a:solidFill>
                      <a:srgbClr val="111827"/>
                    </a:solidFill>
                    <a:latin typeface="Arial"/>
                  </a:rPr>
                  <a:t> to each observation: new mean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standard deviation is unchanged by adding a constant: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425</m:t>
                    </m:r>
                  </m:oMath>
                </a14:m>
                <a:r>
                  <a:rPr sz="2400" b="0">
                    <a:solidFill>
                      <a:srgbClr val="111827"/>
                    </a:solidFill>
                    <a:latin typeface="Arial"/>
                  </a:rPr>
                  <a:t>, option (A).</a:t>
                </a:r>
                <a:endParaRPr sz="2400">
                  <a:solidFill>
                    <a:srgbClr val="111827"/>
                  </a:solidFill>
                </a:endParaRPr>
              </a:p>
            </p:txBody>
          </p:sp>
        </mc:Choice>
        <mc:Fallback>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$a,\dots,a,-a,\dots,-a$</a:t>
                </a:r>
                <a:r>
                  <a:rPr sz="2400" b="0">
                    <a:solidFill>
                      <a:srgbClr val="111827"/>
                    </a:solidFill>
                    <a:latin typeface="Arial"/>
                  </a:rPr>
                  <a:t> (</a:t>
                </a:r>
                <a:r>
                  <a:rPr lang="en-IN" sz="2400">
                    <a:solidFill>
                      <a:srgbClr val="111827"/>
                    </a:solidFill>
                    <a:latin typeface="Cambria Math" panose="02040503050406030204" pitchFamily="18" charset="0"/>
                  </a:rPr>
                  <a:t>$n$</a:t>
                </a:r>
                <a:r>
                  <a:rPr sz="2400" b="0">
                    <a:solidFill>
                      <a:srgbClr val="111827"/>
                    </a:solidFill>
                    <a:latin typeface="Arial"/>
                  </a:rPr>
                  <a:t> of each): mean </a:t>
                </a:r>
                <a:r>
                  <a:rPr lang="en-IN" sz="2400">
                    <a:solidFill>
                      <a:srgbClr val="111827"/>
                    </a:solidFill>
                    <a:latin typeface="Cambria Math" panose="02040503050406030204" pitchFamily="18" charset="0"/>
                  </a:rPr>
                  <a:t>$\bar{x}=0$</a:t>
                </a:r>
                <a:r>
                  <a:rPr sz="2400" b="0">
                    <a:solidFill>
                      <a:srgbClr val="111827"/>
                    </a:solidFill>
                    <a:latin typeface="Arial"/>
                  </a:rPr>
                  <a:t> and </a:t>
                </a:r>
                <a:r>
                  <a:rPr lang="en-IN" sz="2400">
                    <a:solidFill>
                      <a:srgbClr val="111827"/>
                    </a:solidFill>
                    <a:latin typeface="Cambria Math" panose="02040503050406030204" pitchFamily="18" charset="0"/>
                  </a:rPr>
                  <a:t>$\sigma^2=\frac{\sum x_i^2}{2n}-0=\frac{2na^2}{2n}=a^2$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Adding </a:t>
                </a:r>
                <a:r>
                  <a:rPr lang="en-IN" sz="2400">
                    <a:solidFill>
                      <a:srgbClr val="111827"/>
                    </a:solidFill>
                    <a:latin typeface="Cambria Math" panose="02040503050406030204" pitchFamily="18" charset="0"/>
                  </a:rPr>
                  <a:t>$b$</a:t>
                </a:r>
                <a:r>
                  <a:rPr sz="2400" b="0">
                    <a:solidFill>
                      <a:srgbClr val="111827"/>
                    </a:solidFill>
                    <a:latin typeface="Arial"/>
                  </a:rPr>
                  <a:t> to each observation: new mean </a:t>
                </a:r>
                <a:r>
                  <a:rPr lang="en-IN" sz="2400">
                    <a:solidFill>
                      <a:srgbClr val="111827"/>
                    </a:solidFill>
                    <a:latin typeface="Cambria Math" panose="02040503050406030204" pitchFamily="18" charset="0"/>
                  </a:rPr>
                  <a:t>$=0+b=5$</a:t>
                </a:r>
                <a:r>
                  <a:rPr sz="2400" b="0">
                    <a:solidFill>
                      <a:srgbClr val="111827"/>
                    </a:solidFill>
                    <a:latin typeface="Arial"/>
                  </a:rPr>
                  <a:t>, so </a:t>
                </a:r>
                <a:r>
                  <a:rPr lang="en-IN" sz="2400">
                    <a:solidFill>
                      <a:srgbClr val="111827"/>
                    </a:solidFill>
                    <a:latin typeface="Cambria Math" panose="02040503050406030204" pitchFamily="18" charset="0"/>
                  </a:rPr>
                  <a:t>$b=5$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standard deviation is unchanged by adding a constant: </a:t>
                </a:r>
                <a:r>
                  <a:rPr lang="en-IN" sz="2400">
                    <a:solidFill>
                      <a:srgbClr val="111827"/>
                    </a:solidFill>
                    <a:latin typeface="Cambria Math" panose="02040503050406030204" pitchFamily="18" charset="0"/>
                  </a:rPr>
                  <a:t>$|a|=20$</a:t>
                </a:r>
                <a:r>
                  <a:rPr sz="2400" b="0">
                    <a:solidFill>
                      <a:srgbClr val="111827"/>
                    </a:solidFill>
                    <a:latin typeface="Arial"/>
                  </a:rPr>
                  <a:t>, so </a:t>
                </a:r>
                <a:r>
                  <a:rPr lang="en-IN" sz="2400">
                    <a:solidFill>
                      <a:srgbClr val="111827"/>
                    </a:solidFill>
                    <a:latin typeface="Cambria Math" panose="02040503050406030204" pitchFamily="18" charset="0"/>
                  </a:rPr>
                  <a:t>$a^2=400$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$a^2+b^2=400+25=425$</a:t>
                </a:r>
                <a:r>
                  <a:rPr sz="2400" b="0">
                    <a:solidFill>
                      <a:srgbClr val="111827"/>
                    </a:solidFill>
                    <a:latin typeface="Arial"/>
                  </a:rPr>
                  <a:t>, option (A).</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425</a:t>
            </a:r>
            <a:endParaRPr sz="2800">
              <a:solidFill>
                <a:srgbClr val="15803D"/>
              </a:solidFill>
            </a:endParaRP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Data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in equal numbers: mean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σ</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after adding </a:t>
                </a:r>
                <a14:m>
                  <m:oMath xmlns:m="http://schemas.openxmlformats.org/officeDocument/2006/math">
                    <m:r>
                      <a:rPr lang="en-IN" sz="2400" i="1">
                        <a:solidFill>
                          <a:srgbClr val="111827"/>
                        </a:solidFill>
                        <a:latin typeface="Cambria Math" panose="02040503050406030204" pitchFamily="18" charset="0"/>
                      </a:rPr>
                      <m:t>𝑏</m:t>
                    </m:r>
                  </m:oMath>
                </a14:m>
                <a:r>
                  <a:rPr sz="2400" b="0">
                    <a:solidFill>
                      <a:srgbClr val="111827"/>
                    </a:solidFill>
                    <a:latin typeface="Arial"/>
                  </a:rPr>
                  <a:t>: mean </a:t>
                </a:r>
                <a14:m>
                  <m:oMath xmlns:m="http://schemas.openxmlformats.org/officeDocument/2006/math">
                    <m:r>
                      <a:rPr lang="en-IN" sz="2400" i="1">
                        <a:solidFill>
                          <a:srgbClr val="111827"/>
                        </a:solidFill>
                        <a:latin typeface="Cambria Math" panose="02040503050406030204" pitchFamily="18" charset="0"/>
                      </a:rPr>
                      <m:t>𝑏</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σ</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 shift only moves the mean).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Reading the answer: the two given numbers (mean and s.d.) directly equal </a:t>
                </a:r>
                <a14:m>
                  <m:oMath xmlns:m="http://schemas.openxmlformats.org/officeDocument/2006/math">
                    <m:r>
                      <a:rPr lang="en-IN" sz="2400" i="1">
                        <a:solidFill>
                          <a:srgbClr val="111827"/>
                        </a:solidFill>
                        <a:latin typeface="Cambria Math" panose="02040503050406030204" pitchFamily="18" charset="0"/>
                      </a:rPr>
                      <m:t>𝑏</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Data </a:t>
                </a:r>
                <a:r>
                  <a:rPr lang="en-IN" sz="2400">
                    <a:solidFill>
                      <a:srgbClr val="111827"/>
                    </a:solidFill>
                    <a:latin typeface="Cambria Math" panose="02040503050406030204" pitchFamily="18" charset="0"/>
                  </a:rPr>
                  <a:t>$\{a,-a\}$</a:t>
                </a:r>
                <a:r>
                  <a:rPr sz="2400" b="0">
                    <a:solidFill>
                      <a:srgbClr val="111827"/>
                    </a:solidFill>
                    <a:latin typeface="Arial"/>
                  </a:rPr>
                  <a:t> in equal numbers: mean </a:t>
                </a:r>
                <a:r>
                  <a:rPr lang="en-IN" sz="2400">
                    <a:solidFill>
                      <a:srgbClr val="111827"/>
                    </a:solidFill>
                    <a:latin typeface="Cambria Math" panose="02040503050406030204" pitchFamily="18" charset="0"/>
                  </a:rPr>
                  <a:t>$0$</a:t>
                </a:r>
                <a:r>
                  <a:rPr sz="2400" b="0">
                    <a:solidFill>
                      <a:srgbClr val="111827"/>
                    </a:solidFill>
                    <a:latin typeface="Arial"/>
                  </a:rPr>
                  <a:t>, </a:t>
                </a:r>
                <a:r>
                  <a:rPr lang="en-IN" sz="2400">
                    <a:solidFill>
                      <a:srgbClr val="111827"/>
                    </a:solidFill>
                    <a:latin typeface="Cambria Math" panose="02040503050406030204" pitchFamily="18" charset="0"/>
                  </a:rPr>
                  <a:t>$\sigma=|a|$</a:t>
                </a:r>
                <a:r>
                  <a:rPr sz="2400" b="0">
                    <a:solidFill>
                      <a:srgbClr val="111827"/>
                    </a:solidFill>
                    <a:latin typeface="Arial"/>
                  </a:rPr>
                  <a:t>; after adding </a:t>
                </a:r>
                <a:r>
                  <a:rPr lang="en-IN" sz="2400">
                    <a:solidFill>
                      <a:srgbClr val="111827"/>
                    </a:solidFill>
                    <a:latin typeface="Cambria Math" panose="02040503050406030204" pitchFamily="18" charset="0"/>
                  </a:rPr>
                  <a:t>$b$</a:t>
                </a:r>
                <a:r>
                  <a:rPr sz="2400" b="0">
                    <a:solidFill>
                      <a:srgbClr val="111827"/>
                    </a:solidFill>
                    <a:latin typeface="Arial"/>
                  </a:rPr>
                  <a:t>: mean </a:t>
                </a:r>
                <a:r>
                  <a:rPr lang="en-IN" sz="2400">
                    <a:solidFill>
                      <a:srgbClr val="111827"/>
                    </a:solidFill>
                    <a:latin typeface="Cambria Math" panose="02040503050406030204" pitchFamily="18" charset="0"/>
                  </a:rPr>
                  <a:t>$b$</a:t>
                </a:r>
                <a:r>
                  <a:rPr sz="2400" b="0">
                    <a:solidFill>
                      <a:srgbClr val="111827"/>
                    </a:solidFill>
                    <a:latin typeface="Arial"/>
                  </a:rPr>
                  <a:t>, </a:t>
                </a:r>
                <a:r>
                  <a:rPr lang="en-IN" sz="2400">
                    <a:solidFill>
                      <a:srgbClr val="111827"/>
                    </a:solidFill>
                    <a:latin typeface="Cambria Math" panose="02040503050406030204" pitchFamily="18" charset="0"/>
                  </a:rPr>
                  <a:t>$\sigma=|a|$</a:t>
                </a:r>
                <a:r>
                  <a:rPr sz="2400" b="0">
                    <a:solidFill>
                      <a:srgbClr val="111827"/>
                    </a:solidFill>
                    <a:latin typeface="Arial"/>
                  </a:rPr>
                  <a:t> (a shift only moves the mean).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Reading the answer: the two given numbers (mean and s.d.) directly equal </a:t>
                </a:r>
                <a:r>
                  <a:rPr lang="en-IN" sz="2400">
                    <a:solidFill>
                      <a:srgbClr val="111827"/>
                    </a:solidFill>
                    <a:latin typeface="Cambria Math" panose="02040503050406030204" pitchFamily="18" charset="0"/>
                  </a:rPr>
                  <a:t>$b$</a:t>
                </a:r>
                <a:r>
                  <a:rPr sz="2400" b="0">
                    <a:solidFill>
                      <a:srgbClr val="111827"/>
                    </a:solidFill>
                    <a:latin typeface="Arial"/>
                  </a:rPr>
                  <a:t> and </a:t>
                </a:r>
                <a:r>
                  <a:rPr lang="en-IN" sz="2400">
                    <a:solidFill>
                      <a:srgbClr val="111827"/>
                    </a:solidFill>
                    <a:latin typeface="Cambria Math" panose="02040503050406030204" pitchFamily="18" charset="0"/>
                  </a:rPr>
                  <a:t>$|a|$</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10</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Numerical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Q40 – Q42</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4 marks each (no marks printed in the sheet - JEE Advanced default of 4 assumed)</a:t>
            </a:r>
            <a:endParaRPr sz="2800">
              <a:solidFill>
                <a:srgbClr val="FFFFFF"/>
              </a:solidFill>
            </a:endParaRP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731520" y="1280160"/>
            <a:ext cx="10725912" cy="2379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mean age of 25 teachers in a school is 40 years. A teacher retires at the age of 60 years and a new teacher is appointed in his place. If the mean age of the teachers in this school now is 39 years, then the age (in years) of the newly appointed teacher is ______.</a:t>
            </a:r>
            <a:endParaRPr sz="2400">
              <a:solidFill>
                <a:srgbClr val="111827"/>
              </a:solidFill>
            </a:endParaRPr>
          </a:p>
        </p:txBody>
      </p:sp>
      <p:sp>
        <p:nvSpPr>
          <p:cNvPr id="5" name="Rectangle 4"/>
          <p:cNvSpPr/>
          <p:nvPr/>
        </p:nvSpPr>
        <p:spPr>
          <a:xfrm>
            <a:off x="731520" y="3888739"/>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Mean of a data set after replacing one observation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Sum of ages before and after differ by (new age)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60</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Sum of ages before and after differ by (new age) </a:t>
                </a:r>
                <a:r>
                  <a:rPr lang="en-IN" sz="2400">
                    <a:solidFill>
                      <a:srgbClr val="78350F"/>
                    </a:solidFill>
                    <a:latin typeface="Cambria Math" panose="02040503050406030204" pitchFamily="18" charset="0"/>
                  </a:rPr>
                  <a:t>$-60$</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Sum of ages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the new teacher be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years old; the new sum is </a:t>
                </a:r>
                <a14:m>
                  <m:oMath xmlns:m="http://schemas.openxmlformats.org/officeDocument/2006/math">
                    <m:r>
                      <a:rPr lang="en-IN" sz="2400" i="1">
                        <a:solidFill>
                          <a:srgbClr val="111827"/>
                        </a:solidFill>
                        <a:latin typeface="Cambria Math" panose="02040503050406030204" pitchFamily="18" charset="0"/>
                      </a:rPr>
                      <m:t>1000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with the same 25 teachers.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25</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39</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940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975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Sum of ages </a:t>
                </a:r>
                <a:r>
                  <a:rPr lang="en-IN" sz="2400">
                    <a:solidFill>
                      <a:srgbClr val="111827"/>
                    </a:solidFill>
                    <a:latin typeface="Cambria Math" panose="02040503050406030204" pitchFamily="18" charset="0"/>
                  </a:rPr>
                  <a:t>$=25\times40=1000$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the new teacher be </a:t>
                </a:r>
                <a:r>
                  <a:rPr lang="en-IN" sz="2400">
                    <a:solidFill>
                      <a:srgbClr val="111827"/>
                    </a:solidFill>
                    <a:latin typeface="Cambria Math" panose="02040503050406030204" pitchFamily="18" charset="0"/>
                  </a:rPr>
                  <a:t>$x$</a:t>
                </a:r>
                <a:r>
                  <a:rPr sz="2400" b="0">
                    <a:solidFill>
                      <a:srgbClr val="111827"/>
                    </a:solidFill>
                    <a:latin typeface="Arial"/>
                  </a:rPr>
                  <a:t> years old; the new sum is </a:t>
                </a:r>
                <a:r>
                  <a:rPr lang="en-IN" sz="2400">
                    <a:solidFill>
                      <a:srgbClr val="111827"/>
                    </a:solidFill>
                    <a:latin typeface="Cambria Math" panose="02040503050406030204" pitchFamily="18" charset="0"/>
                  </a:rPr>
                  <a:t>$1000-60+x$</a:t>
                </a:r>
                <a:r>
                  <a:rPr sz="2400" b="0">
                    <a:solidFill>
                      <a:srgbClr val="111827"/>
                    </a:solidFill>
                    <a:latin typeface="Arial"/>
                  </a:rPr>
                  <a:t> with the same 25 teachers.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$\frac{1000-60+x}{25}=39$</a:t>
                </a:r>
                <a:r>
                  <a:rPr sz="2400" b="0">
                    <a:solidFill>
                      <a:srgbClr val="111827"/>
                    </a:solidFill>
                    <a:latin typeface="Arial"/>
                  </a:rPr>
                  <a:t>, so </a:t>
                </a:r>
                <a:r>
                  <a:rPr lang="en-IN" sz="2400">
                    <a:solidFill>
                      <a:srgbClr val="111827"/>
                    </a:solidFill>
                    <a:latin typeface="Cambria Math" panose="02040503050406030204" pitchFamily="18" charset="0"/>
                  </a:rPr>
                  <a:t>$940+x=975$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$x=35$</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14:m>
                  <m:oMath xmlns:m="http://schemas.openxmlformats.org/officeDocument/2006/math">
                    <m:r>
                      <a:rPr lang="en-IN" sz="2800" i="1">
                        <a:solidFill>
                          <a:srgbClr val="15803D"/>
                        </a:solidFill>
                        <a:latin typeface="Cambria Math" panose="02040503050406030204" pitchFamily="18" charset="0"/>
                      </a:rPr>
                      <m:t>35</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r>
                  <a:rPr lang="en-IN" sz="2800">
                    <a:solidFill>
                      <a:srgbClr val="15803D"/>
                    </a:solidFill>
                    <a:latin typeface="Cambria Math" panose="02040503050406030204" pitchFamily="18" charset="0"/>
                  </a:rPr>
                  <a:t>$35$</a:t>
                </a:r>
                <a:endParaRPr sz="2800">
                  <a:solidFill>
                    <a:srgbClr val="15803D"/>
                  </a:solidFill>
                </a:endParaRPr>
              </a:p>
            </p:txBody>
          </p:sp>
        </mc:Fallback>
      </mc:AlternateContent>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Replacing one observation </a:t>
                </a:r>
                <a14:m>
                  <m:oMath xmlns:m="http://schemas.openxmlformats.org/officeDocument/2006/math">
                    <m:r>
                      <a:rPr lang="en-IN" sz="2400" i="1">
                        <a:solidFill>
                          <a:srgbClr val="111827"/>
                        </a:solidFill>
                        <a:latin typeface="Cambria Math" panose="02040503050406030204" pitchFamily="18" charset="0"/>
                      </a:rPr>
                      <m:t>𝑏</m:t>
                    </m:r>
                  </m:oMath>
                </a14:m>
                <a:r>
                  <a:rPr sz="2400" b="0">
                    <a:solidFill>
                      <a:srgbClr val="111827"/>
                    </a:solidFill>
                    <a:latin typeface="Arial"/>
                  </a:rPr>
                  <a:t> by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changes the mean by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𝑛</m:t>
                        </m:r>
                      </m:den>
                    </m:f>
                  </m:oMath>
                </a14:m>
                <a:r>
                  <a:rPr sz="2400" b="0">
                    <a:solidFill>
                      <a:srgbClr val="111827"/>
                    </a:solidFill>
                    <a:latin typeface="Arial"/>
                  </a:rPr>
                  <a:t>: here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num>
                      <m:den>
                        <m:r>
                          <a:rPr lang="en-IN" sz="2400" i="1">
                            <a:solidFill>
                              <a:srgbClr val="111827"/>
                            </a:solidFill>
                            <a:latin typeface="Cambria Math" panose="02040503050406030204" pitchFamily="18" charset="0"/>
                          </a:rPr>
                          <m:t>25</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This direct change formula avoids computing the full sums.</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Replacing one observation </a:t>
                </a:r>
                <a:r>
                  <a:rPr lang="en-IN" sz="2400">
                    <a:solidFill>
                      <a:srgbClr val="111827"/>
                    </a:solidFill>
                    <a:latin typeface="Cambria Math" panose="02040503050406030204" pitchFamily="18" charset="0"/>
                  </a:rPr>
                  <a:t>$b$</a:t>
                </a:r>
                <a:r>
                  <a:rPr sz="2400" b="0">
                    <a:solidFill>
                      <a:srgbClr val="111827"/>
                    </a:solidFill>
                    <a:latin typeface="Arial"/>
                  </a:rPr>
                  <a:t> by </a:t>
                </a:r>
                <a:r>
                  <a:rPr lang="en-IN" sz="2400">
                    <a:solidFill>
                      <a:srgbClr val="111827"/>
                    </a:solidFill>
                    <a:latin typeface="Cambria Math" panose="02040503050406030204" pitchFamily="18" charset="0"/>
                  </a:rPr>
                  <a:t>$a$</a:t>
                </a:r>
                <a:r>
                  <a:rPr sz="2400" b="0">
                    <a:solidFill>
                      <a:srgbClr val="111827"/>
                    </a:solidFill>
                    <a:latin typeface="Arial"/>
                  </a:rPr>
                  <a:t> changes the mean by </a:t>
                </a:r>
                <a:r>
                  <a:rPr lang="en-IN" sz="2400">
                    <a:solidFill>
                      <a:srgbClr val="111827"/>
                    </a:solidFill>
                    <a:latin typeface="Cambria Math" panose="02040503050406030204" pitchFamily="18" charset="0"/>
                  </a:rPr>
                  <a:t>$\frac{a-b}{n}$</a:t>
                </a:r>
                <a:r>
                  <a:rPr sz="2400" b="0">
                    <a:solidFill>
                      <a:srgbClr val="111827"/>
                    </a:solidFill>
                    <a:latin typeface="Arial"/>
                  </a:rPr>
                  <a:t>: here </a:t>
                </a:r>
                <a:r>
                  <a:rPr lang="en-IN" sz="2400">
                    <a:solidFill>
                      <a:srgbClr val="111827"/>
                    </a:solidFill>
                    <a:latin typeface="Cambria Math" panose="02040503050406030204" pitchFamily="18" charset="0"/>
                  </a:rPr>
                  <a:t>$\frac{x-60}{25}=39-40=-1$</a:t>
                </a:r>
                <a:r>
                  <a:rPr sz="2400" b="0">
                    <a:solidFill>
                      <a:srgbClr val="111827"/>
                    </a:solidFill>
                    <a:latin typeface="Arial"/>
                  </a:rPr>
                  <a:t>, so </a:t>
                </a:r>
                <a:r>
                  <a:rPr lang="en-IN" sz="2400">
                    <a:solidFill>
                      <a:srgbClr val="111827"/>
                    </a:solidFill>
                    <a:latin typeface="Cambria Math" panose="02040503050406030204" pitchFamily="18" charset="0"/>
                  </a:rPr>
                  <a:t>$x=35$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This direct change formula avoids computing the full sums.</a:t>
                </a:r>
                <a:endParaRPr sz="2400">
                  <a:solidFill>
                    <a:srgbClr val="111827"/>
                  </a:solidFill>
                </a:endParaRPr>
              </a:p>
            </p:txBody>
          </p:sp>
        </mc:Fallback>
      </mc:AlternateContent>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7518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Consider a set of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𝑛</m:t>
                    </m:r>
                  </m:oMath>
                </a14:m>
                <a:r>
                  <a:rPr sz="2400" b="0">
                    <a:solidFill>
                      <a:srgbClr val="111827"/>
                    </a:solidFill>
                    <a:latin typeface="Arial"/>
                  </a:rPr>
                  <a:t> numbers having variance 4. In this set, the mean of the first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oMath>
                </a14:m>
                <a:r>
                  <a:rPr sz="2400" b="0">
                    <a:solidFill>
                      <a:srgbClr val="111827"/>
                    </a:solidFill>
                    <a:latin typeface="Arial"/>
                  </a:rPr>
                  <a:t> numbers is 6 and the mean of the remaining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numbers is 3. A new set is constructed by adding 1 into each of the first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oMath>
                </a14:m>
                <a:r>
                  <a:rPr sz="2400" b="0">
                    <a:solidFill>
                      <a:srgbClr val="111827"/>
                    </a:solidFill>
                    <a:latin typeface="Arial"/>
                  </a:rPr>
                  <a:t> numbers, and subtracting 1 from each of the remaining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numbers. If the variance of the new set is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𝑘</m:t>
                    </m:r>
                  </m:oMath>
                </a14:m>
                <a:r>
                  <a:rPr sz="2400" b="0">
                    <a:solidFill>
                      <a:srgbClr val="111827"/>
                    </a:solidFill>
                    <a:latin typeface="Arial"/>
                  </a:rPr>
                  <a:t> is equal to ______.</a:t>
                </a:r>
                <a:endParaRPr sz="2400">
                  <a:solidFill>
                    <a:srgbClr val="111827"/>
                  </a:solidFill>
                </a:endParaRPr>
              </a:p>
            </p:txBody>
          </p:sp>
        </mc:Choice>
        <mc:Fallback>
          <p:sp>
            <p:nvSpPr>
              <p:cNvPr id="4" name="Rounded Rectangle 3"/>
              <p:cNvSpPr/>
              <p:nvPr/>
            </p:nvSpPr>
            <p:spPr>
              <a:xfrm>
                <a:off x="731520" y="1280160"/>
                <a:ext cx="10725912" cy="27518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Consider a set of </a:t>
                </a:r>
                <a:r>
                  <a:rPr lang="en-IN" sz="2400">
                    <a:solidFill>
                      <a:srgbClr val="111827"/>
                    </a:solidFill>
                    <a:latin typeface="Cambria Math" panose="02040503050406030204" pitchFamily="18" charset="0"/>
                  </a:rPr>
                  <a:t>$3n$</a:t>
                </a:r>
                <a:r>
                  <a:rPr sz="2400" b="0">
                    <a:solidFill>
                      <a:srgbClr val="111827"/>
                    </a:solidFill>
                    <a:latin typeface="Arial"/>
                  </a:rPr>
                  <a:t> numbers having variance 4. In this set, the mean of the first </a:t>
                </a:r>
                <a:r>
                  <a:rPr lang="en-IN" sz="2400">
                    <a:solidFill>
                      <a:srgbClr val="111827"/>
                    </a:solidFill>
                    <a:latin typeface="Cambria Math" panose="02040503050406030204" pitchFamily="18" charset="0"/>
                  </a:rPr>
                  <a:t>$2n$</a:t>
                </a:r>
                <a:r>
                  <a:rPr sz="2400" b="0">
                    <a:solidFill>
                      <a:srgbClr val="111827"/>
                    </a:solidFill>
                    <a:latin typeface="Arial"/>
                  </a:rPr>
                  <a:t> numbers is 6 and the mean of the remaining </a:t>
                </a:r>
                <a:r>
                  <a:rPr lang="en-IN" sz="2400">
                    <a:solidFill>
                      <a:srgbClr val="111827"/>
                    </a:solidFill>
                    <a:latin typeface="Cambria Math" panose="02040503050406030204" pitchFamily="18" charset="0"/>
                  </a:rPr>
                  <a:t>$n$</a:t>
                </a:r>
                <a:r>
                  <a:rPr sz="2400" b="0">
                    <a:solidFill>
                      <a:srgbClr val="111827"/>
                    </a:solidFill>
                    <a:latin typeface="Arial"/>
                  </a:rPr>
                  <a:t> numbers is 3. A new set is constructed by adding 1 into each of the first </a:t>
                </a:r>
                <a:r>
                  <a:rPr lang="en-IN" sz="2400">
                    <a:solidFill>
                      <a:srgbClr val="111827"/>
                    </a:solidFill>
                    <a:latin typeface="Cambria Math" panose="02040503050406030204" pitchFamily="18" charset="0"/>
                  </a:rPr>
                  <a:t>$2n$</a:t>
                </a:r>
                <a:r>
                  <a:rPr sz="2400" b="0">
                    <a:solidFill>
                      <a:srgbClr val="111827"/>
                    </a:solidFill>
                    <a:latin typeface="Arial"/>
                  </a:rPr>
                  <a:t> numbers, and subtracting 1 from each of the remaining </a:t>
                </a:r>
                <a:r>
                  <a:rPr lang="en-IN" sz="2400">
                    <a:solidFill>
                      <a:srgbClr val="111827"/>
                    </a:solidFill>
                    <a:latin typeface="Cambria Math" panose="02040503050406030204" pitchFamily="18" charset="0"/>
                  </a:rPr>
                  <a:t>$n$</a:t>
                </a:r>
                <a:r>
                  <a:rPr sz="2400" b="0">
                    <a:solidFill>
                      <a:srgbClr val="111827"/>
                    </a:solidFill>
                    <a:latin typeface="Arial"/>
                  </a:rPr>
                  <a:t> numbers. If the variance of the new set is </a:t>
                </a:r>
                <a:r>
                  <a:rPr lang="en-IN" sz="2400">
                    <a:solidFill>
                      <a:srgbClr val="111827"/>
                    </a:solidFill>
                    <a:latin typeface="Cambria Math" panose="02040503050406030204" pitchFamily="18" charset="0"/>
                  </a:rPr>
                  <a:t>$k$</a:t>
                </a:r>
                <a:r>
                  <a:rPr sz="2400" b="0">
                    <a:solidFill>
                      <a:srgbClr val="111827"/>
                    </a:solidFill>
                    <a:latin typeface="Arial"/>
                  </a:rPr>
                  <a:t>, then </a:t>
                </a:r>
                <a:r>
                  <a:rPr lang="en-IN" sz="2400">
                    <a:solidFill>
                      <a:srgbClr val="111827"/>
                    </a:solidFill>
                    <a:latin typeface="Cambria Math" panose="02040503050406030204" pitchFamily="18" charset="0"/>
                  </a:rPr>
                  <a:t>$9k$</a:t>
                </a:r>
                <a:r>
                  <a:rPr sz="2400" b="0">
                    <a:solidFill>
                      <a:srgbClr val="111827"/>
                    </a:solidFill>
                    <a:latin typeface="Arial"/>
                  </a:rPr>
                  <a:t> is equal to ______.</a:t>
                </a:r>
                <a:endParaRPr sz="2400">
                  <a:solidFill>
                    <a:srgbClr val="111827"/>
                  </a:solidFill>
                </a:endParaRPr>
              </a:p>
            </p:txBody>
          </p:sp>
        </mc:Fallback>
      </mc:AlternateContent>
      <p:sp>
        <p:nvSpPr>
          <p:cNvPr id="5" name="Rectangle 4"/>
          <p:cNvSpPr/>
          <p:nvPr/>
        </p:nvSpPr>
        <p:spPr>
          <a:xfrm>
            <a:off x="731520" y="4260596"/>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Variance after shifting two groups in opposite directions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Find the overall mean </a:t>
                </a:r>
                <a14:m>
                  <m:oMath xmlns:m="http://schemas.openxmlformats.org/officeDocument/2006/math">
                    <m:r>
                      <a:rPr lang="en-IN" sz="2400" i="1">
                        <a:solidFill>
                          <a:srgbClr val="78350F"/>
                        </a:solidFill>
                        <a:latin typeface="Cambria Math" panose="02040503050406030204" pitchFamily="18" charset="0"/>
                      </a:rPr>
                      <m:t>5</m:t>
                    </m:r>
                  </m:oMath>
                </a14:m>
                <a:r>
                  <a:rPr sz="2400" b="0">
                    <a:solidFill>
                      <a:srgbClr val="78350F"/>
                    </a:solidFill>
                    <a:latin typeface="Arial"/>
                  </a:rPr>
                  <a:t> and </a:t>
                </a:r>
                <a14:m>
                  <m:oMath xmlns:m="http://schemas.openxmlformats.org/officeDocument/2006/math">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then recompute the sums after the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shifts.</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Find the overall mean </a:t>
                </a:r>
                <a:r>
                  <a:rPr lang="en-IN" sz="2400">
                    <a:solidFill>
                      <a:srgbClr val="78350F"/>
                    </a:solidFill>
                    <a:latin typeface="Cambria Math" panose="02040503050406030204" pitchFamily="18" charset="0"/>
                  </a:rPr>
                  <a:t>$5$</a:t>
                </a:r>
                <a:r>
                  <a:rPr sz="2400" b="0">
                    <a:solidFill>
                      <a:srgbClr val="78350F"/>
                    </a:solidFill>
                    <a:latin typeface="Arial"/>
                  </a:rPr>
                  <a:t> and </a:t>
                </a:r>
                <a:r>
                  <a:rPr lang="en-IN" sz="2400">
                    <a:solidFill>
                      <a:srgbClr val="78350F"/>
                    </a:solidFill>
                    <a:latin typeface="Cambria Math" panose="02040503050406030204" pitchFamily="18" charset="0"/>
                  </a:rPr>
                  <a:t>$\sum x^2$</a:t>
                </a:r>
                <a:r>
                  <a:rPr sz="2400" b="0">
                    <a:solidFill>
                      <a:srgbClr val="78350F"/>
                    </a:solidFill>
                    <a:latin typeface="Arial"/>
                  </a:rPr>
                  <a:t>; then recompute the sums after the </a:t>
                </a:r>
                <a:r>
                  <a:rPr lang="en-IN" sz="2400">
                    <a:solidFill>
                      <a:srgbClr val="78350F"/>
                    </a:solidFill>
                    <a:latin typeface="Cambria Math" panose="02040503050406030204" pitchFamily="18" charset="0"/>
                  </a:rPr>
                  <a:t>$\pm1$</a:t>
                </a:r>
                <a:r>
                  <a:rPr sz="2400" b="0">
                    <a:solidFill>
                      <a:srgbClr val="78350F"/>
                    </a:solidFill>
                    <a:latin typeface="Arial"/>
                  </a:rPr>
                  <a:t> shifts.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Overall mean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𝑛</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Variance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𝑛</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the first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oMath>
                </a14:m>
                <a:r>
                  <a:rPr sz="2400" b="0">
                    <a:solidFill>
                      <a:srgbClr val="111827"/>
                    </a:solidFill>
                    <a:latin typeface="Arial"/>
                  </a:rPr>
                  <a:t> numbers, </a:t>
                </a:r>
                <a14:m>
                  <m:oMath xmlns:m="http://schemas.openxmlformats.org/officeDocument/2006/math">
                    <m:r>
                      <a:rPr lang="en-IN" sz="2400" i="1">
                        <a:solidFill>
                          <a:srgbClr val="111827"/>
                        </a:solidFill>
                        <a:latin typeface="Cambria Math" panose="02040503050406030204" pitchFamily="18" charset="0"/>
                      </a:rPr>
                      <m:t>𝑏</m:t>
                    </m:r>
                  </m:oMath>
                </a14:m>
                <a:r>
                  <a:rPr sz="2400" b="0">
                    <a:solidFill>
                      <a:srgbClr val="111827"/>
                    </a:solidFill>
                    <a:latin typeface="Arial"/>
                  </a:rPr>
                  <a:t> the last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87</m:t>
                    </m:r>
                    <m:r>
                      <a:rPr lang="en-IN" sz="2400" i="1">
                        <a:solidFill>
                          <a:srgbClr val="111827"/>
                        </a:solidFill>
                        <a:latin typeface="Cambria Math" panose="02040503050406030204" pitchFamily="18" charset="0"/>
                      </a:rPr>
                      <m:t>𝑛</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New set: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a:rPr lang="en-IN" sz="2400" i="1">
                        <a:solidFill>
                          <a:srgbClr val="111827"/>
                        </a:solidFill>
                        <a:latin typeface="Cambria Math" panose="02040503050406030204" pitchFamily="18" charset="0"/>
                      </a:rPr>
                      <m:t>𝑛</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oMath>
                </a14:m>
                <a:r>
                  <a:rPr sz="2400" b="0">
                    <a:solidFill>
                      <a:srgbClr val="111827"/>
                    </a:solidFill>
                    <a:latin typeface="Arial"/>
                  </a:rPr>
                  <a:t>; the new total is </a:t>
                </a:r>
                <a14:m>
                  <m:oMath xmlns:m="http://schemas.openxmlformats.org/officeDocument/2006/math">
                    <m:r>
                      <a:rPr lang="en-IN" sz="2400" i="1">
                        <a:solidFill>
                          <a:srgbClr val="111827"/>
                        </a:solidFill>
                        <a:latin typeface="Cambria Math" panose="02040503050406030204" pitchFamily="18" charset="0"/>
                      </a:rPr>
                      <m:t>16</m:t>
                    </m:r>
                    <m:r>
                      <a:rPr lang="en-IN" sz="2400" i="1">
                        <a:solidFill>
                          <a:srgbClr val="111827"/>
                        </a:solidFill>
                        <a:latin typeface="Cambria Math" panose="02040503050406030204" pitchFamily="18" charset="0"/>
                      </a:rPr>
                      <m:t>𝑛</m:t>
                    </m:r>
                  </m:oMath>
                </a14:m>
                <a:r>
                  <a:rPr sz="2400" b="0">
                    <a:solidFill>
                      <a:srgbClr val="111827"/>
                    </a:solidFill>
                    <a:latin typeface="Arial"/>
                  </a:rPr>
                  <a:t>, so the new mean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16</m:t>
                        </m:r>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𝑛</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16</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Overall mean </a:t>
                </a:r>
                <a:r>
                  <a:rPr lang="en-IN" sz="2400">
                    <a:solidFill>
                      <a:srgbClr val="111827"/>
                    </a:solidFill>
                    <a:latin typeface="Cambria Math" panose="02040503050406030204" pitchFamily="18" charset="0"/>
                  </a:rPr>
                  <a:t>$\bar{x}=\frac{2n\cdot6+n\cdot3}{3n}=5$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Variance </a:t>
                </a:r>
                <a:r>
                  <a:rPr lang="en-IN" sz="2400">
                    <a:solidFill>
                      <a:srgbClr val="111827"/>
                    </a:solidFill>
                    <a:latin typeface="Cambria Math" panose="02040503050406030204" pitchFamily="18" charset="0"/>
                  </a:rPr>
                  <a:t>$4=\frac{\sum a^2+\sum b^2}{3n}-25$</a:t>
                </a:r>
                <a:r>
                  <a:rPr sz="2400" b="0">
                    <a:solidFill>
                      <a:srgbClr val="111827"/>
                    </a:solidFill>
                    <a:latin typeface="Arial"/>
                  </a:rPr>
                  <a:t> (with </a:t>
                </a:r>
                <a:r>
                  <a:rPr lang="en-IN" sz="2400">
                    <a:solidFill>
                      <a:srgbClr val="111827"/>
                    </a:solidFill>
                    <a:latin typeface="Cambria Math" panose="02040503050406030204" pitchFamily="18" charset="0"/>
                  </a:rPr>
                  <a:t>$a$</a:t>
                </a:r>
                <a:r>
                  <a:rPr sz="2400" b="0">
                    <a:solidFill>
                      <a:srgbClr val="111827"/>
                    </a:solidFill>
                    <a:latin typeface="Arial"/>
                  </a:rPr>
                  <a:t> the first </a:t>
                </a:r>
                <a:r>
                  <a:rPr lang="en-IN" sz="2400">
                    <a:solidFill>
                      <a:srgbClr val="111827"/>
                    </a:solidFill>
                    <a:latin typeface="Cambria Math" panose="02040503050406030204" pitchFamily="18" charset="0"/>
                  </a:rPr>
                  <a:t>$2n$</a:t>
                </a:r>
                <a:r>
                  <a:rPr sz="2400" b="0">
                    <a:solidFill>
                      <a:srgbClr val="111827"/>
                    </a:solidFill>
                    <a:latin typeface="Arial"/>
                  </a:rPr>
                  <a:t> numbers, </a:t>
                </a:r>
                <a:r>
                  <a:rPr lang="en-IN" sz="2400">
                    <a:solidFill>
                      <a:srgbClr val="111827"/>
                    </a:solidFill>
                    <a:latin typeface="Cambria Math" panose="02040503050406030204" pitchFamily="18" charset="0"/>
                  </a:rPr>
                  <a:t>$b$</a:t>
                </a:r>
                <a:r>
                  <a:rPr sz="2400" b="0">
                    <a:solidFill>
                      <a:srgbClr val="111827"/>
                    </a:solidFill>
                    <a:latin typeface="Arial"/>
                  </a:rPr>
                  <a:t> the last </a:t>
                </a:r>
                <a:r>
                  <a:rPr lang="en-IN" sz="2400">
                    <a:solidFill>
                      <a:srgbClr val="111827"/>
                    </a:solidFill>
                    <a:latin typeface="Cambria Math" panose="02040503050406030204" pitchFamily="18" charset="0"/>
                  </a:rPr>
                  <a:t>$n$</a:t>
                </a:r>
                <a:r>
                  <a:rPr sz="2400" b="0">
                    <a:solidFill>
                      <a:srgbClr val="111827"/>
                    </a:solidFill>
                    <a:latin typeface="Arial"/>
                  </a:rPr>
                  <a:t>), so </a:t>
                </a:r>
                <a:r>
                  <a:rPr lang="en-IN" sz="2400">
                    <a:solidFill>
                      <a:srgbClr val="111827"/>
                    </a:solidFill>
                    <a:latin typeface="Cambria Math" panose="02040503050406030204" pitchFamily="18" charset="0"/>
                  </a:rPr>
                  <a:t>$\sum a^2+\sum b^2=87n$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New set: </a:t>
                </a:r>
                <a:r>
                  <a:rPr lang="en-IN" sz="2400">
                    <a:solidFill>
                      <a:srgbClr val="111827"/>
                    </a:solidFill>
                    <a:latin typeface="Cambria Math" panose="02040503050406030204" pitchFamily="18" charset="0"/>
                  </a:rPr>
                  <a:t>$\sum(a+1)=12n+2n=14n$</a:t>
                </a:r>
                <a:r>
                  <a:rPr sz="2400" b="0">
                    <a:solidFill>
                      <a:srgbClr val="111827"/>
                    </a:solidFill>
                    <a:latin typeface="Arial"/>
                  </a:rPr>
                  <a:t> and </a:t>
                </a:r>
                <a:r>
                  <a:rPr lang="en-IN" sz="2400">
                    <a:solidFill>
                      <a:srgbClr val="111827"/>
                    </a:solidFill>
                    <a:latin typeface="Cambria Math" panose="02040503050406030204" pitchFamily="18" charset="0"/>
                  </a:rPr>
                  <a:t>$\sum(b-1)=3n-n=2n$</a:t>
                </a:r>
                <a:r>
                  <a:rPr sz="2400" b="0">
                    <a:solidFill>
                      <a:srgbClr val="111827"/>
                    </a:solidFill>
                    <a:latin typeface="Arial"/>
                  </a:rPr>
                  <a:t>; the new total is </a:t>
                </a:r>
                <a:r>
                  <a:rPr lang="en-IN" sz="2400">
                    <a:solidFill>
                      <a:srgbClr val="111827"/>
                    </a:solidFill>
                    <a:latin typeface="Cambria Math" panose="02040503050406030204" pitchFamily="18" charset="0"/>
                  </a:rPr>
                  <a:t>$16n$</a:t>
                </a:r>
                <a:r>
                  <a:rPr sz="2400" b="0">
                    <a:solidFill>
                      <a:srgbClr val="111827"/>
                    </a:solidFill>
                    <a:latin typeface="Arial"/>
                  </a:rPr>
                  <a:t>, so the new mean is </a:t>
                </a:r>
                <a:r>
                  <a:rPr lang="en-IN" sz="2400">
                    <a:solidFill>
                      <a:srgbClr val="111827"/>
                    </a:solidFill>
                    <a:latin typeface="Cambria Math" panose="02040503050406030204" pitchFamily="18" charset="0"/>
                  </a:rPr>
                  <a:t>$\frac{16n}{3n}=\frac{16}{3}$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New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squares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87</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108</m:t>
                    </m:r>
                    <m:r>
                      <a:rPr lang="en-IN" sz="2400" i="1">
                        <a:solidFill>
                          <a:srgbClr val="111827"/>
                        </a:solidFill>
                        <a:latin typeface="Cambria Math" panose="02040503050406030204" pitchFamily="18" charset="0"/>
                      </a:rPr>
                      <m:t>𝑛</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108</m:t>
                        </m:r>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𝑛</m:t>
                        </m:r>
                      </m:den>
                    </m:f>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16</m:t>
                                </m:r>
                              </m:num>
                              <m:den>
                                <m:r>
                                  <a:rPr lang="en-IN" sz="2400" i="1">
                                    <a:solidFill>
                                      <a:srgbClr val="111827"/>
                                    </a:solidFill>
                                    <a:latin typeface="Cambria Math" panose="02040503050406030204" pitchFamily="18" charset="0"/>
                                  </a:rPr>
                                  <m:t>3</m:t>
                                </m:r>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256</m:t>
                        </m:r>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68</m:t>
                        </m:r>
                      </m:num>
                      <m:den>
                        <m:r>
                          <a:rPr lang="en-IN" sz="2400" i="1">
                            <a:solidFill>
                              <a:srgbClr val="111827"/>
                            </a:solidFill>
                            <a:latin typeface="Cambria Math" panose="02040503050406030204" pitchFamily="18" charset="0"/>
                          </a:rPr>
                          <m:t>9</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68</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New </a:t>
                </a:r>
                <a:r>
                  <a:rPr lang="en-IN" sz="2400">
                    <a:solidFill>
                      <a:srgbClr val="111827"/>
                    </a:solidFill>
                    <a:latin typeface="Cambria Math" panose="02040503050406030204" pitchFamily="18" charset="0"/>
                  </a:rPr>
                  <a:t>$\sum$</a:t>
                </a:r>
                <a:r>
                  <a:rPr sz="2400" b="0">
                    <a:solidFill>
                      <a:srgbClr val="111827"/>
                    </a:solidFill>
                    <a:latin typeface="Arial"/>
                  </a:rPr>
                  <a:t> squares </a:t>
                </a:r>
                <a:r>
                  <a:rPr lang="en-IN" sz="2400">
                    <a:solidFill>
                      <a:srgbClr val="111827"/>
                    </a:solidFill>
                    <a:latin typeface="Cambria Math" panose="02040503050406030204" pitchFamily="18" charset="0"/>
                  </a:rPr>
                  <a:t>$=\sum a^2+2\sum a+2n+\sum b^2-2\sum b+n=87n+24n+2n-6n+n=108n$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$k=\frac{108n}{3n}-\left(\frac{16}{3}\right)^2=36-\frac{256}{9}=\frac{68}{9}$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$9k=68$</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14:m>
                  <m:oMath xmlns:m="http://schemas.openxmlformats.org/officeDocument/2006/math">
                    <m:r>
                      <a:rPr lang="en-IN" sz="2800" i="1">
                        <a:solidFill>
                          <a:srgbClr val="15803D"/>
                        </a:solidFill>
                        <a:latin typeface="Cambria Math" panose="02040503050406030204" pitchFamily="18" charset="0"/>
                      </a:rPr>
                      <m:t>68</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r>
                  <a:rPr lang="en-IN" sz="2800">
                    <a:solidFill>
                      <a:srgbClr val="15803D"/>
                    </a:solidFill>
                    <a:latin typeface="Cambria Math" panose="02040503050406030204" pitchFamily="18" charset="0"/>
                  </a:rPr>
                  <a:t>$68$</a:t>
                </a:r>
                <a:endParaRPr sz="2800">
                  <a:solidFill>
                    <a:srgbClr val="15803D"/>
                  </a:solidFill>
                </a:endParaRPr>
              </a:p>
            </p:txBody>
          </p:sp>
        </mc:Fallback>
      </mc:AlternateContent>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Take deviations from the old mean 5; the shifts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then add simply.</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Take deviations from the old mean 5; the shifts </a:t>
                </a:r>
                <a:r>
                  <a:rPr lang="en-IN" sz="2400">
                    <a:solidFill>
                      <a:srgbClr val="78350F"/>
                    </a:solidFill>
                    <a:latin typeface="Cambria Math" panose="02040503050406030204" pitchFamily="18" charset="0"/>
                  </a:rPr>
                  <a:t>$\pm1$</a:t>
                </a:r>
                <a:r>
                  <a:rPr sz="2400" b="0">
                    <a:solidFill>
                      <a:srgbClr val="78350F"/>
                    </a:solidFill>
                    <a:latin typeface="Arial"/>
                  </a:rPr>
                  <a:t> then add simply.</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With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a:rPr lang="en-IN" sz="2400" i="1">
                        <a:solidFill>
                          <a:srgbClr val="111827"/>
                        </a:solidFill>
                        <a:latin typeface="Cambria Math" panose="02040503050406030204" pitchFamily="18" charset="0"/>
                      </a:rPr>
                      <m:t>𝑛</m:t>
                    </m:r>
                  </m:oMath>
                </a14:m>
                <a:r>
                  <a:rPr sz="2400" b="0">
                    <a:solidFill>
                      <a:srgbClr val="111827"/>
                    </a:solidFill>
                    <a:latin typeface="Arial"/>
                  </a:rPr>
                  <a:t>; first group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oMath>
                </a14:m>
                <a:r>
                  <a:rPr sz="2400" b="0">
                    <a:solidFill>
                      <a:srgbClr val="111827"/>
                    </a:solidFill>
                    <a:latin typeface="Arial"/>
                  </a:rPr>
                  <a:t>, last group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After the shift the deviations become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(first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(last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𝑑</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With </a:t>
                </a:r>
                <a:r>
                  <a:rPr lang="en-IN" sz="2400">
                    <a:solidFill>
                      <a:srgbClr val="111827"/>
                    </a:solidFill>
                    <a:latin typeface="Cambria Math" panose="02040503050406030204" pitchFamily="18" charset="0"/>
                  </a:rPr>
                  <a:t>$d=x-5$</a:t>
                </a:r>
                <a:r>
                  <a:rPr sz="2400" b="0">
                    <a:solidFill>
                      <a:srgbClr val="111827"/>
                    </a:solidFill>
                    <a:latin typeface="Arial"/>
                  </a:rPr>
                  <a:t>: </a:t>
                </a:r>
                <a:r>
                  <a:rPr lang="en-IN" sz="2400">
                    <a:solidFill>
                      <a:srgbClr val="111827"/>
                    </a:solidFill>
                    <a:latin typeface="Cambria Math" panose="02040503050406030204" pitchFamily="18" charset="0"/>
                  </a:rPr>
                  <a:t>$\sum d^2=3n\times4=12n$</a:t>
                </a:r>
                <a:r>
                  <a:rPr sz="2400" b="0">
                    <a:solidFill>
                      <a:srgbClr val="111827"/>
                    </a:solidFill>
                    <a:latin typeface="Arial"/>
                  </a:rPr>
                  <a:t>; first group </a:t>
                </a:r>
                <a:r>
                  <a:rPr lang="en-IN" sz="2400">
                    <a:solidFill>
                      <a:srgbClr val="111827"/>
                    </a:solidFill>
                    <a:latin typeface="Cambria Math" panose="02040503050406030204" pitchFamily="18" charset="0"/>
                  </a:rPr>
                  <a:t>$\sum d=2n(6-5)=2n$</a:t>
                </a:r>
                <a:r>
                  <a:rPr sz="2400" b="0">
                    <a:solidFill>
                      <a:srgbClr val="111827"/>
                    </a:solidFill>
                    <a:latin typeface="Arial"/>
                  </a:rPr>
                  <a:t>, last group </a:t>
                </a:r>
                <a:r>
                  <a:rPr lang="en-IN" sz="2400">
                    <a:solidFill>
                      <a:srgbClr val="111827"/>
                    </a:solidFill>
                    <a:latin typeface="Cambria Math" panose="02040503050406030204" pitchFamily="18" charset="0"/>
                  </a:rPr>
                  <a:t>$\sum d=n(3-5)=-2n$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After the shift the deviations become </a:t>
                </a:r>
                <a:r>
                  <a:rPr lang="en-IN" sz="2400">
                    <a:solidFill>
                      <a:srgbClr val="111827"/>
                    </a:solidFill>
                    <a:latin typeface="Cambria Math" panose="02040503050406030204" pitchFamily="18" charset="0"/>
                  </a:rPr>
                  <a:t>$d+1$</a:t>
                </a:r>
                <a:r>
                  <a:rPr sz="2400" b="0">
                    <a:solidFill>
                      <a:srgbClr val="111827"/>
                    </a:solidFill>
                    <a:latin typeface="Arial"/>
                  </a:rPr>
                  <a:t> (first </a:t>
                </a:r>
                <a:r>
                  <a:rPr lang="en-IN" sz="2400">
                    <a:solidFill>
                      <a:srgbClr val="111827"/>
                    </a:solidFill>
                    <a:latin typeface="Cambria Math" panose="02040503050406030204" pitchFamily="18" charset="0"/>
                  </a:rPr>
                  <a:t>$2n$</a:t>
                </a:r>
                <a:r>
                  <a:rPr sz="2400" b="0">
                    <a:solidFill>
                      <a:srgbClr val="111827"/>
                    </a:solidFill>
                    <a:latin typeface="Arial"/>
                  </a:rPr>
                  <a:t>) and </a:t>
                </a:r>
                <a:r>
                  <a:rPr lang="en-IN" sz="2400">
                    <a:solidFill>
                      <a:srgbClr val="111827"/>
                    </a:solidFill>
                    <a:latin typeface="Cambria Math" panose="02040503050406030204" pitchFamily="18" charset="0"/>
                  </a:rPr>
                  <a:t>$d-1$</a:t>
                </a:r>
                <a:r>
                  <a:rPr sz="2400" b="0">
                    <a:solidFill>
                      <a:srgbClr val="111827"/>
                    </a:solidFill>
                    <a:latin typeface="Arial"/>
                  </a:rPr>
                  <a:t> (last </a:t>
                </a:r>
                <a:r>
                  <a:rPr lang="en-IN" sz="2400">
                    <a:solidFill>
                      <a:srgbClr val="111827"/>
                    </a:solidFill>
                    <a:latin typeface="Cambria Math" panose="02040503050406030204" pitchFamily="18" charset="0"/>
                  </a:rPr>
                  <a:t>$n$</a:t>
                </a:r>
                <a:r>
                  <a:rPr sz="2400" b="0">
                    <a:solidFill>
                      <a:srgbClr val="111827"/>
                    </a:solidFill>
                    <a:latin typeface="Arial"/>
                  </a:rPr>
                  <a:t>): </a:t>
                </a:r>
                <a:r>
                  <a:rPr lang="en-IN" sz="2400">
                    <a:solidFill>
                      <a:srgbClr val="111827"/>
                    </a:solidFill>
                    <a:latin typeface="Cambria Math" panose="02040503050406030204" pitchFamily="18" charset="0"/>
                  </a:rPr>
                  <a:t>$\sum d'=(2n+2n)+(-2n-n)=n$</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𝑑</m:t>
                        </m:r>
                      </m:e>
                      <m:sup>
                        <m:r>
                          <m:rPr>
                            <m:sty m:val="p"/>
                          </m:rPr>
                          <a:rPr lang="en-IN" sz="2400">
                            <a:solidFill>
                              <a:srgbClr val="111827"/>
                            </a:solidFill>
                            <a:latin typeface="Cambria Math" panose="02040503050406030204" pitchFamily="18" charset="0"/>
                          </a:rPr>
                          <m:t>′</m:t>
                        </m:r>
                      </m:sup>
                    </m:sSup>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
                      <m:dPr>
                        <m:begChr m:val="("/>
                        <m:sepChr m:val=""/>
                        <m:endChr m:val=")"/>
                        <m:grow/>
                        <m:ctrlPr>
                          <a:rPr lang="en-IN" sz="2400" i="1">
                            <a:solidFill>
                              <a:srgbClr val="111827"/>
                            </a:solidFill>
                            <a:latin typeface="Cambria Math" panose="02040503050406030204" pitchFamily="18" charset="0"/>
                          </a:rPr>
                        </m:ctrlPr>
                      </m:dPr>
                      <m:e>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m:t>
                            </m:r>
                          </m:sup>
                          <m:e>
                            <m:r>
                              <a:rPr lang="en-IN" sz="2400" i="1">
                                <a:solidFill>
                                  <a:srgbClr val="111827"/>
                                </a:solidFill>
                                <a:latin typeface="Cambria Math" panose="02040503050406030204" pitchFamily="18" charset="0"/>
                              </a:rPr>
                              <m:t>𝑑</m:t>
                            </m:r>
                          </m:e>
                        </m:nary>
                        <m:r>
                          <m:rPr>
                            <m:sty m:val="p"/>
                          </m:rPr>
                          <a:rPr lang="en-IN" sz="2400">
                            <a:solidFill>
                              <a:srgbClr val="111827"/>
                            </a:solidFill>
                            <a:latin typeface="Cambria Math" panose="02040503050406030204" pitchFamily="18" charset="0"/>
                          </a:rPr>
                          <m:t>−</m:t>
                        </m:r>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2</m:t>
                            </m:r>
                          </m:sub>
                          <m:sup>
                            <m:r>
                              <a:rPr lang="en-IN" sz="2400" i="1">
                                <a:solidFill>
                                  <a:srgbClr val="111827"/>
                                </a:solidFill>
                                <a:latin typeface="Cambria Math" panose="02040503050406030204" pitchFamily="18" charset="0"/>
                              </a:rPr>
                              <m:t>​</m:t>
                            </m:r>
                          </m:sup>
                          <m:e>
                            <m:r>
                              <a:rPr lang="en-IN" sz="2400" i="1">
                                <a:solidFill>
                                  <a:srgbClr val="111827"/>
                                </a:solidFill>
                                <a:latin typeface="Cambria Math" panose="02040503050406030204" pitchFamily="18" charset="0"/>
                              </a:rPr>
                              <m:t>𝑑</m:t>
                            </m:r>
                          </m:e>
                        </m:nary>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23</m:t>
                    </m:r>
                    <m:r>
                      <a:rPr lang="en-IN" sz="2400" i="1">
                        <a:solidFill>
                          <a:srgbClr val="111827"/>
                        </a:solidFill>
                        <a:latin typeface="Cambria Math" panose="02040503050406030204" pitchFamily="18" charset="0"/>
                      </a:rPr>
                      <m:t>𝑛</m:t>
                    </m:r>
                  </m:oMath>
                </a14:m>
                <a:r>
                  <a:rPr sz="2400" b="0">
                    <a:solidFill>
                      <a:srgbClr val="111827"/>
                    </a:solidFill>
                    <a:latin typeface="Arial"/>
                  </a:rPr>
                  <a:t> (sums over group 1 and group 2).</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New mean deviation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𝑛</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23</m:t>
                        </m:r>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𝑛</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23</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68</m:t>
                        </m:r>
                      </m:num>
                      <m:den>
                        <m:r>
                          <a:rPr lang="en-IN" sz="2400" i="1">
                            <a:solidFill>
                              <a:srgbClr val="111827"/>
                            </a:solidFill>
                            <a:latin typeface="Cambria Math" panose="02040503050406030204" pitchFamily="18" charset="0"/>
                          </a:rPr>
                          <m:t>9</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68</m:t>
                    </m:r>
                  </m:oMath>
                </a14:m>
                <a:r>
                  <a:rPr sz="2400" b="0">
                    <a:solidFill>
                      <a:srgbClr val="111827"/>
                    </a:solidFill>
                    <a:latin typeface="Arial"/>
                  </a:rPr>
                  <a:t>, the same answer.</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 d'^2=\sum d^2+2\left(\sum_{1}d-\sum_{2}d\right)+3n=12n+2(2n+2n)+3n=23n$</a:t>
                </a:r>
                <a:r>
                  <a:rPr sz="2400" b="0">
                    <a:solidFill>
                      <a:srgbClr val="111827"/>
                    </a:solidFill>
                    <a:latin typeface="Arial"/>
                  </a:rPr>
                  <a:t> (sums over group 1 and group 2).</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New mean deviation </a:t>
                </a:r>
                <a:r>
                  <a:rPr lang="en-IN" sz="2400">
                    <a:solidFill>
                      <a:srgbClr val="111827"/>
                    </a:solidFill>
                    <a:latin typeface="Cambria Math" panose="02040503050406030204" pitchFamily="18" charset="0"/>
                  </a:rPr>
                  <a:t>$=\frac{n}{3n}=\frac13$</a:t>
                </a:r>
                <a:r>
                  <a:rPr sz="2400" b="0">
                    <a:solidFill>
                      <a:srgbClr val="111827"/>
                    </a:solidFill>
                    <a:latin typeface="Arial"/>
                  </a:rPr>
                  <a:t>, so </a:t>
                </a:r>
                <a:r>
                  <a:rPr lang="en-IN" sz="2400">
                    <a:solidFill>
                      <a:srgbClr val="111827"/>
                    </a:solidFill>
                    <a:latin typeface="Cambria Math" panose="02040503050406030204" pitchFamily="18" charset="0"/>
                  </a:rPr>
                  <a:t>$k=\frac{23n}{3n}-\frac19=\frac{23}{3}-\frac19=\frac{68}{9}$</a:t>
                </a:r>
                <a:r>
                  <a:rPr sz="2400" b="0">
                    <a:solidFill>
                      <a:srgbClr val="111827"/>
                    </a:solidFill>
                    <a:latin typeface="Arial"/>
                  </a:rPr>
                  <a:t> and </a:t>
                </a:r>
                <a:r>
                  <a:rPr lang="en-IN" sz="2400">
                    <a:solidFill>
                      <a:srgbClr val="111827"/>
                    </a:solidFill>
                    <a:latin typeface="Cambria Math" panose="02040503050406030204" pitchFamily="18" charset="0"/>
                  </a:rPr>
                  <a:t>$9k=68$</a:t>
                </a:r>
                <a:r>
                  <a:rPr sz="2400" b="0">
                    <a:solidFill>
                      <a:srgbClr val="111827"/>
                    </a:solidFill>
                    <a:latin typeface="Arial"/>
                  </a:rPr>
                  <a:t>, the same answer.</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14:m>
                  <m:oMath xmlns:m="http://schemas.openxmlformats.org/officeDocument/2006/math">
                    <m:r>
                      <a:rPr lang="en-IN" sz="2800" i="1">
                        <a:solidFill>
                          <a:srgbClr val="15803D"/>
                        </a:solidFill>
                        <a:latin typeface="Cambria Math" panose="02040503050406030204" pitchFamily="18" charset="0"/>
                      </a:rPr>
                      <m:t>68</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r>
                  <a:rPr lang="en-IN" sz="2800">
                    <a:solidFill>
                      <a:srgbClr val="15803D"/>
                    </a:solidFill>
                    <a:latin typeface="Cambria Math" panose="02040503050406030204" pitchFamily="18" charset="0"/>
                  </a:rPr>
                  <a:t>$68$</a:t>
                </a:r>
                <a:endParaRPr sz="2800">
                  <a:solidFill>
                    <a:srgbClr val="15803D"/>
                  </a:solidFill>
                </a:endParaRPr>
              </a:p>
            </p:txBody>
          </p:sp>
        </mc:Fallback>
      </mc:AlternateContent>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Group shifts: the new variance is not simply the old one plus a constant, because the shifts differ between groups; recompute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(as above) to stay safe.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Opposite shifts on two groups change the spread (variance can rise or fall) even though the total shift is not zero overall.</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Group shifts: the new variance is not simply the old one plus a constant, because the shifts differ between groups; recompute </a:t>
                </a:r>
                <a:r>
                  <a:rPr lang="en-IN" sz="2400">
                    <a:solidFill>
                      <a:srgbClr val="111827"/>
                    </a:solidFill>
                    <a:latin typeface="Cambria Math" panose="02040503050406030204" pitchFamily="18" charset="0"/>
                  </a:rPr>
                  <a:t>$\sum x$</a:t>
                </a:r>
                <a:r>
                  <a:rPr sz="2400" b="0">
                    <a:solidFill>
                      <a:srgbClr val="111827"/>
                    </a:solidFill>
                    <a:latin typeface="Arial"/>
                  </a:rPr>
                  <a:t> and </a:t>
                </a:r>
                <a:r>
                  <a:rPr lang="en-IN" sz="2400">
                    <a:solidFill>
                      <a:srgbClr val="111827"/>
                    </a:solidFill>
                    <a:latin typeface="Cambria Math" panose="02040503050406030204" pitchFamily="18" charset="0"/>
                  </a:rPr>
                  <a:t>$\sum x^2$</a:t>
                </a:r>
                <a:r>
                  <a:rPr sz="2400" b="0">
                    <a:solidFill>
                      <a:srgbClr val="111827"/>
                    </a:solidFill>
                    <a:latin typeface="Arial"/>
                  </a:rPr>
                  <a:t> (as above) to stay safe.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Opposite shifts on two groups change the spread (variance can rise or fall) even though the total shift is not zero overall.</a:t>
                </a:r>
                <a:endParaRPr sz="2400">
                  <a:solidFill>
                    <a:srgbClr val="111827"/>
                  </a:solidFill>
                </a:endParaRPr>
              </a:p>
            </p:txBody>
          </p:sp>
        </mc:Fallback>
      </mc:AlternateContent>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48970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Consider the statistics of two sets of observations as follows : Observation I: size 10, mean 2, variance 2; Observation II: size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mean 3, variance 1. If the variance of the combined set of these two observations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17</m:t>
                        </m:r>
                      </m:num>
                      <m:den>
                        <m:r>
                          <a:rPr lang="en-IN" sz="2400" i="1">
                            <a:solidFill>
                              <a:srgbClr val="111827"/>
                            </a:solidFill>
                            <a:latin typeface="Cambria Math" panose="02040503050406030204" pitchFamily="18" charset="0"/>
                          </a:rPr>
                          <m:t>9</m:t>
                        </m:r>
                      </m:den>
                    </m:f>
                  </m:oMath>
                </a14:m>
                <a:r>
                  <a:rPr sz="2400" b="0">
                    <a:solidFill>
                      <a:srgbClr val="111827"/>
                    </a:solidFill>
                    <a:latin typeface="Arial"/>
                  </a:rPr>
                  <a:t>, then the value of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is equal to ______.</a:t>
                </a:r>
                <a:endParaRPr sz="2400">
                  <a:solidFill>
                    <a:srgbClr val="111827"/>
                  </a:solidFill>
                </a:endParaRPr>
              </a:p>
            </p:txBody>
          </p:sp>
        </mc:Choice>
        <mc:Fallback>
          <p:sp>
            <p:nvSpPr>
              <p:cNvPr id="4" name="Rounded Rectangle 3"/>
              <p:cNvSpPr/>
              <p:nvPr/>
            </p:nvSpPr>
            <p:spPr>
              <a:xfrm>
                <a:off x="731520" y="1280160"/>
                <a:ext cx="10725912" cy="248970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Consider the statistics of two sets of observations as follows : Observation I: size 10, mean 2, variance 2; Observation II: size </a:t>
                </a:r>
                <a:r>
                  <a:rPr lang="en-IN" sz="2400">
                    <a:solidFill>
                      <a:srgbClr val="111827"/>
                    </a:solidFill>
                    <a:latin typeface="Cambria Math" panose="02040503050406030204" pitchFamily="18" charset="0"/>
                  </a:rPr>
                  <a:t>$n$</a:t>
                </a:r>
                <a:r>
                  <a:rPr sz="2400" b="0">
                    <a:solidFill>
                      <a:srgbClr val="111827"/>
                    </a:solidFill>
                    <a:latin typeface="Arial"/>
                  </a:rPr>
                  <a:t>, mean 3, variance 1. If the variance of the combined set of these two observations is </a:t>
                </a:r>
                <a:r>
                  <a:rPr lang="en-IN" sz="2400">
                    <a:solidFill>
                      <a:srgbClr val="111827"/>
                    </a:solidFill>
                    <a:latin typeface="Cambria Math" panose="02040503050406030204" pitchFamily="18" charset="0"/>
                  </a:rPr>
                  <a:t>$\frac{17}{9}$</a:t>
                </a:r>
                <a:r>
                  <a:rPr sz="2400" b="0">
                    <a:solidFill>
                      <a:srgbClr val="111827"/>
                    </a:solidFill>
                    <a:latin typeface="Arial"/>
                  </a:rPr>
                  <a:t>, then the value of </a:t>
                </a:r>
                <a:r>
                  <a:rPr lang="en-IN" sz="2400">
                    <a:solidFill>
                      <a:srgbClr val="111827"/>
                    </a:solidFill>
                    <a:latin typeface="Cambria Math" panose="02040503050406030204" pitchFamily="18" charset="0"/>
                  </a:rPr>
                  <a:t>$n$</a:t>
                </a:r>
                <a:r>
                  <a:rPr sz="2400" b="0">
                    <a:solidFill>
                      <a:srgbClr val="111827"/>
                    </a:solidFill>
                    <a:latin typeface="Arial"/>
                  </a:rPr>
                  <a:t> is equal to ______.</a:t>
                </a:r>
                <a:endParaRPr sz="2400">
                  <a:solidFill>
                    <a:srgbClr val="111827"/>
                  </a:solidFill>
                </a:endParaRPr>
              </a:p>
            </p:txBody>
          </p:sp>
        </mc:Fallback>
      </mc:AlternateContent>
      <p:sp>
        <p:nvSpPr>
          <p:cNvPr id="5" name="Rectangle 4"/>
          <p:cNvSpPr/>
          <p:nvPr/>
        </p:nvSpPr>
        <p:spPr>
          <a:xfrm>
            <a:off x="731520" y="3998467"/>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Variance of combined data sets with unknown size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Pool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oMath>
                </a14:m>
                <a:r>
                  <a:rPr sz="2400" b="0">
                    <a:solidFill>
                      <a:srgbClr val="78350F"/>
                    </a:solidFill>
                    <a:latin typeface="Arial"/>
                  </a:rPr>
                  <a:t> and </a:t>
                </a:r>
                <a14:m>
                  <m:oMath xmlns:m="http://schemas.openxmlformats.org/officeDocument/2006/math">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of both sets and equate the combined variance to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17</m:t>
                        </m:r>
                      </m:num>
                      <m:den>
                        <m:r>
                          <a:rPr lang="en-IN" sz="2400" i="1">
                            <a:solidFill>
                              <a:srgbClr val="78350F"/>
                            </a:solidFill>
                            <a:latin typeface="Cambria Math" panose="02040503050406030204" pitchFamily="18" charset="0"/>
                          </a:rPr>
                          <m:t>9</m:t>
                        </m:r>
                      </m:den>
                    </m:f>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Pool </a:t>
                </a:r>
                <a:r>
                  <a:rPr lang="en-IN" sz="2400">
                    <a:solidFill>
                      <a:srgbClr val="78350F"/>
                    </a:solidFill>
                    <a:latin typeface="Cambria Math" panose="02040503050406030204" pitchFamily="18" charset="0"/>
                  </a:rPr>
                  <a:t>$\sum x$</a:t>
                </a:r>
                <a:r>
                  <a:rPr sz="2400" b="0">
                    <a:solidFill>
                      <a:srgbClr val="78350F"/>
                    </a:solidFill>
                    <a:latin typeface="Arial"/>
                  </a:rPr>
                  <a:t> and </a:t>
                </a:r>
                <a:r>
                  <a:rPr lang="en-IN" sz="2400">
                    <a:solidFill>
                      <a:srgbClr val="78350F"/>
                    </a:solidFill>
                    <a:latin typeface="Cambria Math" panose="02040503050406030204" pitchFamily="18" charset="0"/>
                  </a:rPr>
                  <a:t>$\sum x^2$</a:t>
                </a:r>
                <a:r>
                  <a:rPr sz="2400" b="0">
                    <a:solidFill>
                      <a:srgbClr val="78350F"/>
                    </a:solidFill>
                    <a:latin typeface="Arial"/>
                  </a:rPr>
                  <a:t> of both sets and equate the combined variance to </a:t>
                </a:r>
                <a:r>
                  <a:rPr lang="en-IN" sz="2400">
                    <a:solidFill>
                      <a:srgbClr val="78350F"/>
                    </a:solidFill>
                    <a:latin typeface="Cambria Math" panose="02040503050406030204" pitchFamily="18" charset="0"/>
                  </a:rPr>
                  <a:t>$\frac{17}{9}$</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Set I: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2</m:t>
                            </m:r>
                          </m:sup>
                        </m:sSubSup>
                      </m:num>
                      <m:den>
                        <m:r>
                          <a:rPr lang="en-IN" sz="2400" i="1">
                            <a:solidFill>
                              <a:srgbClr val="111827"/>
                            </a:solidFill>
                            <a:latin typeface="Cambria Math" panose="02040503050406030204" pitchFamily="18" charset="0"/>
                          </a:rPr>
                          <m:t>10</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Set II: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𝑛</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2</m:t>
                            </m:r>
                          </m:sup>
                        </m:sSubSup>
                      </m:num>
                      <m:den>
                        <m:r>
                          <a:rPr lang="en-IN" sz="2400" i="1">
                            <a:solidFill>
                              <a:srgbClr val="111827"/>
                            </a:solidFill>
                            <a:latin typeface="Cambria Math" panose="02040503050406030204" pitchFamily="18" charset="0"/>
                          </a:rPr>
                          <m:t>𝑛</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a:rPr lang="en-IN" sz="2400" i="1">
                        <a:solidFill>
                          <a:srgbClr val="111827"/>
                        </a:solidFill>
                        <a:latin typeface="Cambria Math" panose="02040503050406030204" pitchFamily="18" charset="0"/>
                      </a:rPr>
                      <m:t>𝑛</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Combined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observations):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𝑛</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a:rPr lang="en-IN" sz="2400" i="1">
                        <a:solidFill>
                          <a:srgbClr val="111827"/>
                        </a:solidFill>
                        <a:latin typeface="Cambria Math" panose="02040503050406030204" pitchFamily="18" charset="0"/>
                      </a:rPr>
                      <m:t>𝑛</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Set I: </a:t>
                </a:r>
                <a:r>
                  <a:rPr lang="en-IN" sz="2400">
                    <a:solidFill>
                      <a:srgbClr val="111827"/>
                    </a:solidFill>
                    <a:latin typeface="Cambria Math" panose="02040503050406030204" pitchFamily="18" charset="0"/>
                  </a:rPr>
                  <a:t>$\sum x_i=10\times2=20$</a:t>
                </a:r>
                <a:r>
                  <a:rPr sz="2400" b="0">
                    <a:solidFill>
                      <a:srgbClr val="111827"/>
                    </a:solidFill>
                    <a:latin typeface="Arial"/>
                  </a:rPr>
                  <a:t>; </a:t>
                </a:r>
                <a:r>
                  <a:rPr lang="en-IN" sz="2400">
                    <a:solidFill>
                      <a:srgbClr val="111827"/>
                    </a:solidFill>
                    <a:latin typeface="Cambria Math" panose="02040503050406030204" pitchFamily="18" charset="0"/>
                  </a:rPr>
                  <a:t>$\sigma^2=\frac{\sum x_i^2}{10}-4=2$</a:t>
                </a:r>
                <a:r>
                  <a:rPr sz="2400" b="0">
                    <a:solidFill>
                      <a:srgbClr val="111827"/>
                    </a:solidFill>
                    <a:latin typeface="Arial"/>
                  </a:rPr>
                  <a:t>, so </a:t>
                </a:r>
                <a:r>
                  <a:rPr lang="en-IN" sz="2400">
                    <a:solidFill>
                      <a:srgbClr val="111827"/>
                    </a:solidFill>
                    <a:latin typeface="Cambria Math" panose="02040503050406030204" pitchFamily="18" charset="0"/>
                  </a:rPr>
                  <a:t>$\sum x_i^2=60$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Set II: </a:t>
                </a:r>
                <a:r>
                  <a:rPr lang="en-IN" sz="2400">
                    <a:solidFill>
                      <a:srgbClr val="111827"/>
                    </a:solidFill>
                    <a:latin typeface="Cambria Math" panose="02040503050406030204" pitchFamily="18" charset="0"/>
                  </a:rPr>
                  <a:t>$\sum x_i=3n$</a:t>
                </a:r>
                <a:r>
                  <a:rPr sz="2400" b="0">
                    <a:solidFill>
                      <a:srgbClr val="111827"/>
                    </a:solidFill>
                    <a:latin typeface="Arial"/>
                  </a:rPr>
                  <a:t>; </a:t>
                </a:r>
                <a:r>
                  <a:rPr lang="en-IN" sz="2400">
                    <a:solidFill>
                      <a:srgbClr val="111827"/>
                    </a:solidFill>
                    <a:latin typeface="Cambria Math" panose="02040503050406030204" pitchFamily="18" charset="0"/>
                  </a:rPr>
                  <a:t>$\sigma^2=\frac{\sum x_i^2}{n}-9=1$</a:t>
                </a:r>
                <a:r>
                  <a:rPr sz="2400" b="0">
                    <a:solidFill>
                      <a:srgbClr val="111827"/>
                    </a:solidFill>
                    <a:latin typeface="Arial"/>
                  </a:rPr>
                  <a:t>, so </a:t>
                </a:r>
                <a:r>
                  <a:rPr lang="en-IN" sz="2400">
                    <a:solidFill>
                      <a:srgbClr val="111827"/>
                    </a:solidFill>
                    <a:latin typeface="Cambria Math" panose="02040503050406030204" pitchFamily="18" charset="0"/>
                  </a:rPr>
                  <a:t>$\sum x_i^2=10n$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Combined (</a:t>
                </a:r>
                <a:r>
                  <a:rPr lang="en-IN" sz="2400">
                    <a:solidFill>
                      <a:srgbClr val="111827"/>
                    </a:solidFill>
                    <a:latin typeface="Cambria Math" panose="02040503050406030204" pitchFamily="18" charset="0"/>
                  </a:rPr>
                  <a:t>$n+10$</a:t>
                </a:r>
                <a:r>
                  <a:rPr sz="2400" b="0">
                    <a:solidFill>
                      <a:srgbClr val="111827"/>
                    </a:solidFill>
                    <a:latin typeface="Arial"/>
                  </a:rPr>
                  <a:t> observations): </a:t>
                </a:r>
                <a:r>
                  <a:rPr lang="en-IN" sz="2400">
                    <a:solidFill>
                      <a:srgbClr val="111827"/>
                    </a:solidFill>
                    <a:latin typeface="Cambria Math" panose="02040503050406030204" pitchFamily="18" charset="0"/>
                  </a:rPr>
                  <a:t>$\sum x=20+3n$</a:t>
                </a:r>
                <a:r>
                  <a:rPr sz="2400" b="0">
                    <a:solidFill>
                      <a:srgbClr val="111827"/>
                    </a:solidFill>
                    <a:latin typeface="Arial"/>
                  </a:rPr>
                  <a:t> and </a:t>
                </a:r>
                <a:r>
                  <a:rPr lang="en-IN" sz="2400">
                    <a:solidFill>
                      <a:srgbClr val="111827"/>
                    </a:solidFill>
                    <a:latin typeface="Cambria Math" panose="02040503050406030204" pitchFamily="18" charset="0"/>
                  </a:rPr>
                  <a:t>$\sum x^2=60+10n$</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den>
                    </m:f>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17</m:t>
                        </m:r>
                      </m:num>
                      <m:den>
                        <m:r>
                          <a:rPr lang="en-IN" sz="2400" i="1">
                            <a:solidFill>
                              <a:srgbClr val="111827"/>
                            </a:solidFill>
                            <a:latin typeface="Cambria Math" panose="02040503050406030204" pitchFamily="18" charset="0"/>
                          </a:rPr>
                          <m:t>9</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Solving this equation gives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(check: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110</m:t>
                        </m:r>
                      </m:num>
                      <m:den>
                        <m:r>
                          <a:rPr lang="en-IN" sz="2400" i="1">
                            <a:solidFill>
                              <a:srgbClr val="111827"/>
                            </a:solidFill>
                            <a:latin typeface="Cambria Math" panose="02040503050406030204" pitchFamily="18" charset="0"/>
                          </a:rPr>
                          <m:t>15</m:t>
                        </m:r>
                      </m:den>
                    </m:f>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35</m:t>
                                </m:r>
                              </m:num>
                              <m:den>
                                <m:r>
                                  <a:rPr lang="en-IN" sz="2400" i="1">
                                    <a:solidFill>
                                      <a:srgbClr val="111827"/>
                                    </a:solidFill>
                                    <a:latin typeface="Cambria Math" panose="02040503050406030204" pitchFamily="18" charset="0"/>
                                  </a:rPr>
                                  <m:t>15</m:t>
                                </m:r>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22</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49</m:t>
                        </m:r>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17</m:t>
                        </m:r>
                      </m:num>
                      <m:den>
                        <m:r>
                          <a:rPr lang="en-IN" sz="2400" i="1">
                            <a:solidFill>
                              <a:srgbClr val="111827"/>
                            </a:solidFill>
                            <a:latin typeface="Cambria Math" panose="02040503050406030204" pitchFamily="18" charset="0"/>
                          </a:rPr>
                          <m:t>9</m:t>
                        </m:r>
                      </m:den>
                    </m:f>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$\sigma^2=\frac{60+10n}{n+10}-\left(\frac{20+3n}{n+10}\right)^2=\frac{17}{9}$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Solving this equation gives </a:t>
                </a:r>
                <a:r>
                  <a:rPr lang="en-IN" sz="2400">
                    <a:solidFill>
                      <a:srgbClr val="111827"/>
                    </a:solidFill>
                    <a:latin typeface="Cambria Math" panose="02040503050406030204" pitchFamily="18" charset="0"/>
                  </a:rPr>
                  <a:t>$n=5$</a:t>
                </a:r>
                <a:r>
                  <a:rPr sz="2400" b="0">
                    <a:solidFill>
                      <a:srgbClr val="111827"/>
                    </a:solidFill>
                    <a:latin typeface="Arial"/>
                  </a:rPr>
                  <a:t> (check: </a:t>
                </a:r>
                <a:r>
                  <a:rPr lang="en-IN" sz="2400">
                    <a:solidFill>
                      <a:srgbClr val="111827"/>
                    </a:solidFill>
                    <a:latin typeface="Cambria Math" panose="02040503050406030204" pitchFamily="18" charset="0"/>
                  </a:rPr>
                  <a:t>$\frac{110}{15}-\left(\frac{35}{15}\right)^2=\frac{22}{3}-\frac{49}{9}=\frac{17}{9}$</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14:m>
                  <m:oMath xmlns:m="http://schemas.openxmlformats.org/officeDocument/2006/math">
                    <m:r>
                      <a:rPr lang="en-IN" sz="2800" i="1">
                        <a:solidFill>
                          <a:srgbClr val="15803D"/>
                        </a:solidFill>
                        <a:latin typeface="Cambria Math" panose="02040503050406030204" pitchFamily="18" charset="0"/>
                      </a:rPr>
                      <m:t>5</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r>
                  <a:rPr lang="en-IN" sz="2800">
                    <a:solidFill>
                      <a:srgbClr val="15803D"/>
                    </a:solidFill>
                    <a:latin typeface="Cambria Math" panose="02040503050406030204" pitchFamily="18" charset="0"/>
                  </a:rPr>
                  <a:t>$5$</a:t>
                </a:r>
                <a:endParaRPr sz="2800">
                  <a:solidFill>
                    <a:srgbClr val="15803D"/>
                  </a:solidFill>
                </a:endParaRPr>
              </a:p>
            </p:txBody>
          </p:sp>
        </mc:Fallback>
      </mc:AlternateContent>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p:sp>
        <p:nvSpPr>
          <p:cNvPr id="5" name="Rounded Rectangle 4"/>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the within plus between decomposition.</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r>
                          <a:rPr lang="en-IN" sz="2400" i="1">
                            <a:solidFill>
                              <a:srgbClr val="111827"/>
                            </a:solidFill>
                            <a:latin typeface="Cambria Math" panose="02040503050406030204" pitchFamily="18" charset="0"/>
                          </a:rPr>
                          <m:t>𝑛</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r>
                          <a:rPr lang="en-IN" sz="2400" i="1">
                            <a:solidFill>
                              <a:srgbClr val="111827"/>
                            </a:solidFill>
                            <a:latin typeface="Cambria Math" panose="02040503050406030204" pitchFamily="18" charset="0"/>
                          </a:rPr>
                          <m:t>𝑛</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17</m:t>
                        </m:r>
                      </m:num>
                      <m:den>
                        <m:r>
                          <a:rPr lang="en-IN" sz="2400" i="1">
                            <a:solidFill>
                              <a:srgbClr val="111827"/>
                            </a:solidFill>
                            <a:latin typeface="Cambria Math" panose="02040503050406030204" pitchFamily="18" charset="0"/>
                          </a:rPr>
                          <m:t>9</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Clearing denominators: </a:t>
                </a:r>
                <a14:m>
                  <m:oMath xmlns:m="http://schemas.openxmlformats.org/officeDocument/2006/math">
                    <m:r>
                      <a:rPr lang="en-IN" sz="2400" i="1">
                        <a:solidFill>
                          <a:srgbClr val="111827"/>
                        </a:solidFill>
                        <a:latin typeface="Cambria Math" panose="02040503050406030204" pitchFamily="18" charset="0"/>
                      </a:rPr>
                      <m:t>9</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a:rPr lang="en-IN" sz="2400" i="1">
                            <a:solidFill>
                              <a:srgbClr val="111827"/>
                            </a:solidFill>
                            <a:latin typeface="Cambria Math" panose="02040503050406030204" pitchFamily="18" charset="0"/>
                          </a:rPr>
                          <m:t>𝑛</m:t>
                        </m:r>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9</m:t>
                    </m:r>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360</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340</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1700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This reduces to </a:t>
                </a:r>
                <a14:m>
                  <m:oMath xmlns:m="http://schemas.openxmlformats.org/officeDocument/2006/math">
                    <m:r>
                      <a:rPr lang="en-IN" sz="2400" i="1">
                        <a:solidFill>
                          <a:srgbClr val="111827"/>
                        </a:solidFill>
                        <a:latin typeface="Cambria Math" panose="02040503050406030204" pitchFamily="18" charset="0"/>
                      </a:rPr>
                      <m:t>8</m:t>
                    </m:r>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(positive), the same answer.</a:t>
                </a:r>
                <a:endParaRPr sz="2400">
                  <a:solidFill>
                    <a:srgbClr val="111827"/>
                  </a:solidFill>
                </a:endParaRPr>
              </a:p>
            </p:txBody>
          </p:sp>
        </mc:Choice>
        <mc:Fallback>
          <p:sp>
            <p:nvSpPr>
              <p:cNvPr id="6" name="Rectangle 5"/>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$\sigma^2=\frac{10\cdot2+n\cdot1}{n+10}+\frac{10n}{(n+10)^2}(3-2)^2=\frac{20+n}{n+10}+\frac{10n}{(n+10)^2}=\frac{17}{9}$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Clearing denominators: </a:t>
                </a:r>
                <a:r>
                  <a:rPr lang="en-IN" sz="2400">
                    <a:solidFill>
                      <a:srgbClr val="111827"/>
                    </a:solidFill>
                    <a:latin typeface="Cambria Math" panose="02040503050406030204" pitchFamily="18" charset="0"/>
                  </a:rPr>
                  <a:t>$9\left[(20+n)(n+10)+10n\right]=17(n+10)^2$</a:t>
                </a:r>
                <a:r>
                  <a:rPr sz="2400" b="0">
                    <a:solidFill>
                      <a:srgbClr val="111827"/>
                    </a:solidFill>
                    <a:latin typeface="Arial"/>
                  </a:rPr>
                  <a:t>, i.e. </a:t>
                </a:r>
                <a:r>
                  <a:rPr lang="en-IN" sz="2400">
                    <a:solidFill>
                      <a:srgbClr val="111827"/>
                    </a:solidFill>
                    <a:latin typeface="Cambria Math" panose="02040503050406030204" pitchFamily="18" charset="0"/>
                  </a:rPr>
                  <a:t>$9n^2+360n+1800=17n^2+340n+1700$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This reduces to </a:t>
                </a:r>
                <a:r>
                  <a:rPr lang="en-IN" sz="2400">
                    <a:solidFill>
                      <a:srgbClr val="111827"/>
                    </a:solidFill>
                    <a:latin typeface="Cambria Math" panose="02040503050406030204" pitchFamily="18" charset="0"/>
                  </a:rPr>
                  <a:t>$8n^2-20n-100=0$</a:t>
                </a:r>
                <a:r>
                  <a:rPr sz="2400" b="0">
                    <a:solidFill>
                      <a:srgbClr val="111827"/>
                    </a:solidFill>
                    <a:latin typeface="Arial"/>
                  </a:rPr>
                  <a:t>, i.e. </a:t>
                </a:r>
                <a:r>
                  <a:rPr lang="en-IN" sz="2400">
                    <a:solidFill>
                      <a:srgbClr val="111827"/>
                    </a:solidFill>
                    <a:latin typeface="Cambria Math" panose="02040503050406030204" pitchFamily="18" charset="0"/>
                  </a:rPr>
                  <a:t>$2n^2-5n-25=0$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$(2n+5)(n-5)=0$</a:t>
                </a:r>
                <a:r>
                  <a:rPr sz="2400" b="0">
                    <a:solidFill>
                      <a:srgbClr val="111827"/>
                    </a:solidFill>
                    <a:latin typeface="Arial"/>
                  </a:rPr>
                  <a:t>, so </a:t>
                </a:r>
                <a:r>
                  <a:rPr lang="en-IN" sz="2400">
                    <a:solidFill>
                      <a:srgbClr val="111827"/>
                    </a:solidFill>
                    <a:latin typeface="Cambria Math" panose="02040503050406030204" pitchFamily="18" charset="0"/>
                  </a:rPr>
                  <a:t>$n=5$</a:t>
                </a:r>
                <a:r>
                  <a:rPr sz="2400" b="0">
                    <a:solidFill>
                      <a:srgbClr val="111827"/>
                    </a:solidFill>
                    <a:latin typeface="Arial"/>
                  </a:rPr>
                  <a:t> (positive), the same answer.</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14:m>
                  <m:oMath xmlns:m="http://schemas.openxmlformats.org/officeDocument/2006/math">
                    <m:r>
                      <a:rPr lang="en-IN" sz="2800" i="1">
                        <a:solidFill>
                          <a:srgbClr val="15803D"/>
                        </a:solidFill>
                        <a:latin typeface="Cambria Math" panose="02040503050406030204" pitchFamily="18" charset="0"/>
                      </a:rPr>
                      <m:t>5</m:t>
                    </m:r>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r>
                  <a:rPr lang="en-IN" sz="2800">
                    <a:solidFill>
                      <a:srgbClr val="15803D"/>
                    </a:solidFill>
                    <a:latin typeface="Cambria Math" panose="02040503050406030204" pitchFamily="18" charset="0"/>
                  </a:rPr>
                  <a:t>$5$</a:t>
                </a:r>
                <a:endParaRPr sz="2800">
                  <a:solidFill>
                    <a:srgbClr val="15803D"/>
                  </a:solidFill>
                </a:endParaRPr>
              </a:p>
            </p:txBody>
          </p:sp>
        </mc:Fallback>
      </mc:AlternateContent>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Combined variance of two groups: </a:t>
                </a:r>
                <a14:m>
                  <m:oMath xmlns:m="http://schemas.openxmlformats.org/officeDocument/2006/math">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sSubSup>
                          <m:e>
                            <m:r>
                              <a:rPr lang="en-IN" sz="2400" i="1">
                                <a:solidFill>
                                  <a:srgbClr val="111827"/>
                                </a:solidFill>
                                <a:latin typeface="Cambria Math" panose="02040503050406030204" pitchFamily="18" charset="0"/>
                              </a:rPr>
                              <m:t>σ</m:t>
                            </m:r>
                          </m:e>
                          <m:sub>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sSubSup>
                          <m:e>
                            <m:r>
                              <a:rPr lang="en-IN" sz="2400" i="1">
                                <a:solidFill>
                                  <a:srgbClr val="111827"/>
                                </a:solidFill>
                                <a:latin typeface="Cambria Math" panose="02040503050406030204" pitchFamily="18" charset="0"/>
                              </a:rPr>
                              <m:t>σ</m:t>
                            </m:r>
                          </m:e>
                          <m:sub>
                            <m:r>
                              <a:rPr lang="en-IN" sz="2400" i="1">
                                <a:solidFill>
                                  <a:srgbClr val="111827"/>
                                </a:solidFill>
                                <a:latin typeface="Cambria Math" panose="02040503050406030204" pitchFamily="18" charset="0"/>
                              </a:rPr>
                              <m:t>2</m:t>
                            </m:r>
                          </m:sub>
                          <m:sup>
                            <m:r>
                              <a:rPr lang="en-IN" sz="2400" i="1">
                                <a:solidFill>
                                  <a:srgbClr val="111827"/>
                                </a:solidFill>
                                <a:latin typeface="Cambria Math" panose="02040503050406030204" pitchFamily="18" charset="0"/>
                              </a:rPr>
                              <m:t>2</m:t>
                            </m:r>
                          </m:sup>
                        </m:sSubSup>
                      </m:num>
                      <m:den>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e>
                          <m:sub>
                            <m:r>
                              <a:rPr lang="en-IN" sz="2400" i="1">
                                <a:solidFill>
                                  <a:srgbClr val="111827"/>
                                </a:solidFill>
                                <a:latin typeface="Cambria Math" panose="02040503050406030204" pitchFamily="18" charset="0"/>
                              </a:rPr>
                              <m:t>2</m:t>
                            </m:r>
                          </m:sub>
                        </m:sSub>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num>
                      <m:den>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the unknown is a group size, the equation is a quadratic in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the positive root is the answer.</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Combined variance of two groups: </a:t>
                </a:r>
                <a:r>
                  <a:rPr lang="en-IN" sz="2400">
                    <a:solidFill>
                      <a:srgbClr val="111827"/>
                    </a:solidFill>
                    <a:latin typeface="Cambria Math" panose="02040503050406030204" pitchFamily="18" charset="0"/>
                  </a:rPr>
                  <a:t>$\sigma^2=\frac{n_1\sigma_1^2+n_2\sigma_2^2}{n_1+n_2}+\frac{n_1n_2(\bar{x}_1-\bar{x}_2)^2}{(n_1+n_2)^2}$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the unknown is a group size, the equation is a quadratic in </a:t>
                </a:r>
                <a:r>
                  <a:rPr lang="en-IN" sz="2400">
                    <a:solidFill>
                      <a:srgbClr val="111827"/>
                    </a:solidFill>
                    <a:latin typeface="Cambria Math" panose="02040503050406030204" pitchFamily="18" charset="0"/>
                  </a:rPr>
                  <a:t>$n$</a:t>
                </a:r>
                <a:r>
                  <a:rPr sz="2400" b="0">
                    <a:solidFill>
                      <a:srgbClr val="111827"/>
                    </a:solidFill>
                    <a:latin typeface="Arial"/>
                  </a:rPr>
                  <a:t>; the positive root is the answer.</a:t>
                </a:r>
                <a:endParaRPr sz="2400">
                  <a:solidFill>
                    <a:srgbClr val="111827"/>
                  </a:solidFill>
                </a:endParaRPr>
              </a:p>
            </p:txBody>
          </p:sp>
        </mc:Fallback>
      </mc:AlternateContent>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11</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Single Correct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Q43 – Q48</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4 marks each (no marks printed in the sheet - JEE Advanced default of 4 assumed)</a:t>
            </a:r>
            <a:endParaRPr sz="2800">
              <a:solidFill>
                <a:srgbClr val="FFFFFF"/>
              </a:solidFill>
            </a:endParaRP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3776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Consider three observations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𝑐</m:t>
                    </m:r>
                  </m:oMath>
                </a14:m>
                <a:r>
                  <a:rPr sz="2400" b="0">
                    <a:solidFill>
                      <a:srgbClr val="111827"/>
                    </a:solidFill>
                    <a:latin typeface="Arial"/>
                  </a:rPr>
                  <a:t> such that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If the standard deviation of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𝑑</m:t>
                    </m:r>
                  </m:oMath>
                </a14:m>
                <a:r>
                  <a:rPr sz="2400" b="0">
                    <a:solidFill>
                      <a:srgbClr val="111827"/>
                    </a:solidFill>
                    <a:latin typeface="Arial"/>
                  </a:rPr>
                  <a:t>, then which of the following is true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14:m>
                  <m:oMath xmlns:m="http://schemas.openxmlformats.org/officeDocument/2006/math">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14:m>
                  <m:oMath xmlns:m="http://schemas.openxmlformats.org/officeDocument/2006/math">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t>
                </a:r>
                <a14:m>
                  <m:oMath xmlns:m="http://schemas.openxmlformats.org/officeDocument/2006/math">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oMath>
                </a14:m>
                <a:endParaRPr sz="2400">
                  <a:solidFill>
                    <a:srgbClr val="111827"/>
                  </a:solidFill>
                </a:endParaRPr>
              </a:p>
            </p:txBody>
          </p:sp>
        </mc:Choice>
        <mc:Fallback>
          <p:sp>
            <p:nvSpPr>
              <p:cNvPr id="4" name="Rounded Rectangle 3"/>
              <p:cNvSpPr/>
              <p:nvPr/>
            </p:nvSpPr>
            <p:spPr>
              <a:xfrm>
                <a:off x="731520" y="1280160"/>
                <a:ext cx="10725912" cy="33776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Consider three observations </a:t>
                </a:r>
                <a:r>
                  <a:rPr lang="en-IN" sz="2400">
                    <a:solidFill>
                      <a:srgbClr val="111827"/>
                    </a:solidFill>
                    <a:latin typeface="Cambria Math" panose="02040503050406030204" pitchFamily="18" charset="0"/>
                  </a:rPr>
                  <a:t>$a,b$</a:t>
                </a:r>
                <a:r>
                  <a:rPr sz="2400" b="0">
                    <a:solidFill>
                      <a:srgbClr val="111827"/>
                    </a:solidFill>
                    <a:latin typeface="Arial"/>
                  </a:rPr>
                  <a:t> and </a:t>
                </a:r>
                <a:r>
                  <a:rPr lang="en-IN" sz="2400">
                    <a:solidFill>
                      <a:srgbClr val="111827"/>
                    </a:solidFill>
                    <a:latin typeface="Cambria Math" panose="02040503050406030204" pitchFamily="18" charset="0"/>
                  </a:rPr>
                  <a:t>$c$</a:t>
                </a:r>
                <a:r>
                  <a:rPr sz="2400" b="0">
                    <a:solidFill>
                      <a:srgbClr val="111827"/>
                    </a:solidFill>
                    <a:latin typeface="Arial"/>
                  </a:rPr>
                  <a:t> such that </a:t>
                </a:r>
                <a:r>
                  <a:rPr lang="en-IN" sz="2400">
                    <a:solidFill>
                      <a:srgbClr val="111827"/>
                    </a:solidFill>
                    <a:latin typeface="Cambria Math" panose="02040503050406030204" pitchFamily="18" charset="0"/>
                  </a:rPr>
                  <a:t>$b=a+c$</a:t>
                </a:r>
                <a:r>
                  <a:rPr sz="2400" b="0">
                    <a:solidFill>
                      <a:srgbClr val="111827"/>
                    </a:solidFill>
                    <a:latin typeface="Arial"/>
                  </a:rPr>
                  <a:t>. If the standard deviation of </a:t>
                </a:r>
                <a:r>
                  <a:rPr lang="en-IN" sz="2400">
                    <a:solidFill>
                      <a:srgbClr val="111827"/>
                    </a:solidFill>
                    <a:latin typeface="Cambria Math" panose="02040503050406030204" pitchFamily="18" charset="0"/>
                  </a:rPr>
                  <a:t>$a+2,b+2,c+2$</a:t>
                </a:r>
                <a:r>
                  <a:rPr sz="2400" b="0">
                    <a:solidFill>
                      <a:srgbClr val="111827"/>
                    </a:solidFill>
                    <a:latin typeface="Arial"/>
                  </a:rPr>
                  <a:t> is </a:t>
                </a:r>
                <a:r>
                  <a:rPr lang="en-IN" sz="2400">
                    <a:solidFill>
                      <a:srgbClr val="111827"/>
                    </a:solidFill>
                    <a:latin typeface="Cambria Math" panose="02040503050406030204" pitchFamily="18" charset="0"/>
                  </a:rPr>
                  <a:t>$d$</a:t>
                </a:r>
                <a:r>
                  <a:rPr sz="2400" b="0">
                    <a:solidFill>
                      <a:srgbClr val="111827"/>
                    </a:solidFill>
                    <a:latin typeface="Arial"/>
                  </a:rPr>
                  <a:t>, then which of the following is true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$b^2=a^2+c^2+3d^2$</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r>
                  <a:rPr lang="en-IN" sz="2400">
                    <a:solidFill>
                      <a:srgbClr val="111827"/>
                    </a:solidFill>
                    <a:latin typeface="Cambria Math" panose="02040503050406030204" pitchFamily="18" charset="0"/>
                  </a:rPr>
                  <a:t>$b^2=3(a^2+c^2)-9d^2$</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r>
                  <a:rPr lang="en-IN" sz="2400">
                    <a:solidFill>
                      <a:srgbClr val="111827"/>
                    </a:solidFill>
                    <a:latin typeface="Cambria Math" panose="02040503050406030204" pitchFamily="18" charset="0"/>
                  </a:rPr>
                  <a:t>$b^2=3(a^2+c^2)+9d^2$</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t>
                </a:r>
                <a:r>
                  <a:rPr lang="en-IN" sz="2400">
                    <a:solidFill>
                      <a:srgbClr val="111827"/>
                    </a:solidFill>
                    <a:latin typeface="Cambria Math" panose="02040503050406030204" pitchFamily="18" charset="0"/>
                  </a:rPr>
                  <a:t>$b^2=3(a^2+c^2+d^2)$</a:t>
                </a:r>
                <a:endParaRPr sz="2400">
                  <a:solidFill>
                    <a:srgbClr val="111827"/>
                  </a:solidFill>
                </a:endParaRPr>
              </a:p>
            </p:txBody>
          </p:sp>
        </mc:Fallback>
      </mc:AlternateContent>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ectangle 3"/>
          <p:cNvSpPr/>
          <p:nvPr/>
        </p:nvSpPr>
        <p:spPr>
          <a:xfrm>
            <a:off x="731520" y="128016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Standard deviation of three observations with a relation among them</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365760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s.d. of </a:t>
                </a:r>
                <a14:m>
                  <m:oMath xmlns:m="http://schemas.openxmlformats.org/officeDocument/2006/math">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𝑐</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oMath>
                </a14:m>
                <a:r>
                  <a:rPr sz="2400" b="0">
                    <a:solidFill>
                      <a:srgbClr val="78350F"/>
                    </a:solidFill>
                    <a:latin typeface="Arial"/>
                  </a:rPr>
                  <a:t> equals that of </a:t>
                </a:r>
                <a14:m>
                  <m:oMath xmlns:m="http://schemas.openxmlformats.org/officeDocument/2006/math">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𝑐</m:t>
                    </m:r>
                  </m:oMath>
                </a14:m>
                <a:r>
                  <a:rPr sz="2400" b="0">
                    <a:solidFill>
                      <a:srgbClr val="78350F"/>
                    </a:solidFill>
                    <a:latin typeface="Arial"/>
                  </a:rPr>
                  <a:t>; the mean is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𝑐</m:t>
                        </m:r>
                      </m:num>
                      <m:den>
                        <m:r>
                          <a:rPr lang="en-IN" sz="2400" i="1">
                            <a:solidFill>
                              <a:srgbClr val="78350F"/>
                            </a:solidFill>
                            <a:latin typeface="Cambria Math" panose="02040503050406030204" pitchFamily="18" charset="0"/>
                          </a:rPr>
                          <m:t>3</m:t>
                        </m:r>
                      </m:den>
                    </m:f>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𝑏</m:t>
                        </m:r>
                      </m:num>
                      <m:den>
                        <m:r>
                          <a:rPr lang="en-IN" sz="2400" i="1">
                            <a:solidFill>
                              <a:srgbClr val="78350F"/>
                            </a:solidFill>
                            <a:latin typeface="Cambria Math" panose="02040503050406030204" pitchFamily="18" charset="0"/>
                          </a:rPr>
                          <m:t>3</m:t>
                        </m:r>
                      </m:den>
                    </m:f>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365760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s.d. of </a:t>
                </a:r>
                <a:r>
                  <a:rPr lang="en-IN" sz="2400">
                    <a:solidFill>
                      <a:srgbClr val="78350F"/>
                    </a:solidFill>
                    <a:latin typeface="Cambria Math" panose="02040503050406030204" pitchFamily="18" charset="0"/>
                  </a:rPr>
                  <a:t>$a+2,b+2,c+2$</a:t>
                </a:r>
                <a:r>
                  <a:rPr sz="2400" b="0">
                    <a:solidFill>
                      <a:srgbClr val="78350F"/>
                    </a:solidFill>
                    <a:latin typeface="Arial"/>
                  </a:rPr>
                  <a:t> equals that of </a:t>
                </a:r>
                <a:r>
                  <a:rPr lang="en-IN" sz="2400">
                    <a:solidFill>
                      <a:srgbClr val="78350F"/>
                    </a:solidFill>
                    <a:latin typeface="Cambria Math" panose="02040503050406030204" pitchFamily="18" charset="0"/>
                  </a:rPr>
                  <a:t>$a,b,c$</a:t>
                </a:r>
                <a:r>
                  <a:rPr sz="2400" b="0">
                    <a:solidFill>
                      <a:srgbClr val="78350F"/>
                    </a:solidFill>
                    <a:latin typeface="Arial"/>
                  </a:rPr>
                  <a:t>; the mean is </a:t>
                </a:r>
                <a:r>
                  <a:rPr lang="en-IN" sz="2400">
                    <a:solidFill>
                      <a:srgbClr val="78350F"/>
                    </a:solidFill>
                    <a:latin typeface="Cambria Math" panose="02040503050406030204" pitchFamily="18" charset="0"/>
                  </a:rPr>
                  <a:t>$\frac{a+b+c}{3}=\frac{2b}{3}$</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5123688"/>
                <a:ext cx="10725912" cy="1551431"/>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Adding 2 does not change the standard deviation, so </a:t>
                </a:r>
                <a14:m>
                  <m:oMath xmlns:m="http://schemas.openxmlformats.org/officeDocument/2006/math">
                    <m:r>
                      <a:rPr lang="en-IN" sz="2400" i="1">
                        <a:solidFill>
                          <a:srgbClr val="111827"/>
                        </a:solidFill>
                        <a:latin typeface="Cambria Math" panose="02040503050406030204" pitchFamily="18" charset="0"/>
                      </a:rPr>
                      <m:t>𝑑</m:t>
                    </m:r>
                  </m:oMath>
                </a14:m>
                <a:r>
                  <a:rPr sz="2400" b="0">
                    <a:solidFill>
                      <a:srgbClr val="111827"/>
                    </a:solidFill>
                    <a:latin typeface="Arial"/>
                  </a:rPr>
                  <a:t> is the s.d. of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5123688"/>
                <a:ext cx="10725912" cy="1551431"/>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Adding 2 does not change the standard deviation, so </a:t>
                </a:r>
                <a:r>
                  <a:rPr lang="en-IN" sz="2400">
                    <a:solidFill>
                      <a:srgbClr val="111827"/>
                    </a:solidFill>
                    <a:latin typeface="Cambria Math" panose="02040503050406030204" pitchFamily="18" charset="0"/>
                  </a:rPr>
                  <a:t>$d$</a:t>
                </a:r>
                <a:r>
                  <a:rPr sz="2400" b="0">
                    <a:solidFill>
                      <a:srgbClr val="111827"/>
                    </a:solidFill>
                    <a:latin typeface="Arial"/>
                  </a:rPr>
                  <a:t> is the s.d. of </a:t>
                </a:r>
                <a:r>
                  <a:rPr lang="en-IN" sz="2400">
                    <a:solidFill>
                      <a:srgbClr val="111827"/>
                    </a:solidFill>
                    <a:latin typeface="Cambria Math" panose="02040503050406030204" pitchFamily="18" charset="0"/>
                  </a:rPr>
                  <a:t>$a,b,c$</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Mean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(as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3</m:t>
                                </m:r>
                              </m:den>
                            </m:f>
                          </m:e>
                        </m:d>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Multiply by 9: </a:t>
                </a:r>
                <a14:m>
                  <m:oMath xmlns:m="http://schemas.openxmlformats.org/officeDocument/2006/math">
                    <m:r>
                      <a:rPr lang="en-IN" sz="2400" i="1">
                        <a:solidFill>
                          <a:srgbClr val="111827"/>
                        </a:solidFill>
                        <a:latin typeface="Cambria Math" panose="02040503050406030204" pitchFamily="18" charset="0"/>
                      </a:rPr>
                      <m:t>9</m:t>
                    </m:r>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option (B).</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Mean </a:t>
                </a:r>
                <a:r>
                  <a:rPr lang="en-IN" sz="2400">
                    <a:solidFill>
                      <a:srgbClr val="111827"/>
                    </a:solidFill>
                    <a:latin typeface="Cambria Math" panose="02040503050406030204" pitchFamily="18" charset="0"/>
                  </a:rPr>
                  <a:t>$\bar{x}=\frac{a+b+c}{3}=\frac{2b}{3}$</a:t>
                </a:r>
                <a:r>
                  <a:rPr sz="2400" b="0">
                    <a:solidFill>
                      <a:srgbClr val="111827"/>
                    </a:solidFill>
                    <a:latin typeface="Arial"/>
                  </a:rPr>
                  <a:t> (as </a:t>
                </a:r>
                <a:r>
                  <a:rPr lang="en-IN" sz="2400">
                    <a:solidFill>
                      <a:srgbClr val="111827"/>
                    </a:solidFill>
                    <a:latin typeface="Cambria Math" panose="02040503050406030204" pitchFamily="18" charset="0"/>
                  </a:rPr>
                  <a:t>$a+c=b$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$d^2=\frac{a^2+b^2+c^2}{3}-\left(\frac{2b}{3}\right)^2$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Multiply by 9: </a:t>
                </a:r>
                <a:r>
                  <a:rPr lang="en-IN" sz="2400">
                    <a:solidFill>
                      <a:srgbClr val="111827"/>
                    </a:solidFill>
                    <a:latin typeface="Cambria Math" panose="02040503050406030204" pitchFamily="18" charset="0"/>
                  </a:rPr>
                  <a:t>$9d^2=3(a^2+b^2+c^2)-4b^2$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$b^2=3a^2+3c^2-9d^2=3(a^2+c^2)-9d^2$</a:t>
                </a:r>
                <a:r>
                  <a:rPr sz="2400" b="0">
                    <a:solidFill>
                      <a:srgbClr val="111827"/>
                    </a:solidFill>
                    <a:latin typeface="Arial"/>
                  </a:rPr>
                  <a:t>, option (B).</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14:m>
                  <m:oMath xmlns:m="http://schemas.openxmlformats.org/officeDocument/2006/math">
                    <m:sSup>
                      <m:e>
                        <m:r>
                          <a:rPr lang="en-IN" sz="2800" i="1">
                            <a:solidFill>
                              <a:srgbClr val="15803D"/>
                            </a:solidFill>
                            <a:latin typeface="Cambria Math" panose="02040503050406030204" pitchFamily="18" charset="0"/>
                          </a:rPr>
                          <m:t>𝑏</m:t>
                        </m:r>
                      </m:e>
                      <m:sup>
                        <m:r>
                          <a:rPr lang="en-IN" sz="2800" i="1">
                            <a:solidFill>
                              <a:srgbClr val="15803D"/>
                            </a:solidFill>
                            <a:latin typeface="Cambria Math" panose="02040503050406030204" pitchFamily="18" charset="0"/>
                          </a:rPr>
                          <m:t>2</m:t>
                        </m:r>
                      </m:sup>
                    </m:sSup>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3</m:t>
                    </m:r>
                    <m:r>
                      <m:rPr>
                        <m:sty m:val="p"/>
                      </m:rPr>
                      <a:rPr lang="en-IN" sz="2800">
                        <a:solidFill>
                          <a:srgbClr val="15803D"/>
                        </a:solidFill>
                        <a:latin typeface="Cambria Math" panose="02040503050406030204" pitchFamily="18" charset="0"/>
                      </a:rPr>
                      <m:t>(</m:t>
                    </m:r>
                    <m:sSup>
                      <m:e>
                        <m:r>
                          <a:rPr lang="en-IN" sz="2800" i="1">
                            <a:solidFill>
                              <a:srgbClr val="15803D"/>
                            </a:solidFill>
                            <a:latin typeface="Cambria Math" panose="02040503050406030204" pitchFamily="18" charset="0"/>
                          </a:rPr>
                          <m:t>𝑎</m:t>
                        </m:r>
                      </m:e>
                      <m:sup>
                        <m:r>
                          <a:rPr lang="en-IN" sz="2800" i="1">
                            <a:solidFill>
                              <a:srgbClr val="15803D"/>
                            </a:solidFill>
                            <a:latin typeface="Cambria Math" panose="02040503050406030204" pitchFamily="18" charset="0"/>
                          </a:rPr>
                          <m:t>2</m:t>
                        </m:r>
                      </m:sup>
                    </m:sSup>
                    <m:r>
                      <m:rPr>
                        <m:sty m:val="p"/>
                      </m:rPr>
                      <a:rPr lang="en-IN" sz="2800">
                        <a:solidFill>
                          <a:srgbClr val="15803D"/>
                        </a:solidFill>
                        <a:latin typeface="Cambria Math" panose="02040503050406030204" pitchFamily="18" charset="0"/>
                      </a:rPr>
                      <m:t>+</m:t>
                    </m:r>
                    <m:sSup>
                      <m:e>
                        <m:r>
                          <a:rPr lang="en-IN" sz="2800" i="1">
                            <a:solidFill>
                              <a:srgbClr val="15803D"/>
                            </a:solidFill>
                            <a:latin typeface="Cambria Math" panose="02040503050406030204" pitchFamily="18" charset="0"/>
                          </a:rPr>
                          <m:t>𝑐</m:t>
                        </m:r>
                      </m:e>
                      <m:sup>
                        <m:r>
                          <a:rPr lang="en-IN" sz="2800" i="1">
                            <a:solidFill>
                              <a:srgbClr val="15803D"/>
                            </a:solidFill>
                            <a:latin typeface="Cambria Math" panose="02040503050406030204" pitchFamily="18" charset="0"/>
                          </a:rPr>
                          <m:t>2</m:t>
                        </m:r>
                      </m:sup>
                    </m:sSup>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9</m:t>
                    </m:r>
                    <m:sSup>
                      <m:e>
                        <m:r>
                          <a:rPr lang="en-IN" sz="2800" i="1">
                            <a:solidFill>
                              <a:srgbClr val="15803D"/>
                            </a:solidFill>
                            <a:latin typeface="Cambria Math" panose="02040503050406030204" pitchFamily="18" charset="0"/>
                          </a:rPr>
                          <m:t>𝑑</m:t>
                        </m:r>
                      </m:e>
                      <m:sup>
                        <m:r>
                          <a:rPr lang="en-IN" sz="2800" i="1">
                            <a:solidFill>
                              <a:srgbClr val="15803D"/>
                            </a:solidFill>
                            <a:latin typeface="Cambria Math" panose="02040503050406030204" pitchFamily="18" charset="0"/>
                          </a:rPr>
                          <m:t>2</m:t>
                        </m:r>
                      </m:sup>
                    </m:sSup>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r>
                  <a:rPr lang="en-IN" sz="2800">
                    <a:solidFill>
                      <a:srgbClr val="15803D"/>
                    </a:solidFill>
                    <a:latin typeface="Cambria Math" panose="02040503050406030204" pitchFamily="18" charset="0"/>
                  </a:rPr>
                  <a:t>$b^2=3(a^2+c^2)-9d^2$</a:t>
                </a:r>
                <a:endParaRPr sz="2800">
                  <a:solidFill>
                    <a:srgbClr val="15803D"/>
                  </a:solidFill>
                </a:endParaRPr>
              </a:p>
            </p:txBody>
          </p:sp>
        </mc:Fallback>
      </mc:AlternateContent>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Test with numbers: choose </a:t>
                </a:r>
                <a14:m>
                  <m:oMath xmlns:m="http://schemas.openxmlformats.org/officeDocument/2006/math">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𝑐</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Test with numbers: choose </a:t>
                </a:r>
                <a:r>
                  <a:rPr lang="en-IN" sz="2400">
                    <a:solidFill>
                      <a:srgbClr val="78350F"/>
                    </a:solidFill>
                    <a:latin typeface="Cambria Math" panose="02040503050406030204" pitchFamily="18" charset="0"/>
                  </a:rPr>
                  <a:t>$a=1$</a:t>
                </a:r>
                <a:r>
                  <a:rPr sz="2400" b="0">
                    <a:solidFill>
                      <a:srgbClr val="78350F"/>
                    </a:solidFill>
                    <a:latin typeface="Arial"/>
                  </a:rPr>
                  <a:t>, </a:t>
                </a:r>
                <a:r>
                  <a:rPr lang="en-IN" sz="2400">
                    <a:solidFill>
                      <a:srgbClr val="78350F"/>
                    </a:solidFill>
                    <a:latin typeface="Cambria Math" panose="02040503050406030204" pitchFamily="18" charset="0"/>
                  </a:rPr>
                  <a:t>$c=1$</a:t>
                </a:r>
                <a:r>
                  <a:rPr sz="2400" b="0">
                    <a:solidFill>
                      <a:srgbClr val="78350F"/>
                    </a:solidFill>
                    <a:latin typeface="Arial"/>
                  </a:rPr>
                  <a:t>, </a:t>
                </a:r>
                <a:r>
                  <a:rPr lang="en-IN" sz="2400">
                    <a:solidFill>
                      <a:srgbClr val="78350F"/>
                    </a:solidFill>
                    <a:latin typeface="Cambria Math" panose="02040503050406030204" pitchFamily="18" charset="0"/>
                  </a:rPr>
                  <a:t>$b=2$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Data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shifted by 2: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with mean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and variance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34</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100</m:t>
                        </m:r>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9</m:t>
                        </m:r>
                      </m:den>
                    </m:f>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9</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Option (B):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 Option (A):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Only (B) matches, the same answer.</a:t>
                </a:r>
                <a:endParaRPr sz="2400">
                  <a:solidFill>
                    <a:srgbClr val="111827"/>
                  </a:solidFill>
                </a:endParaRPr>
              </a:p>
            </p:txBody>
          </p:sp>
        </mc:Choice>
        <mc:Fallback>
          <p:sp>
            <p:nvSpPr>
              <p:cNvPr id="6" name="Rectangle 5"/>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Data </a:t>
                </a:r>
                <a:r>
                  <a:rPr lang="en-IN" sz="2400">
                    <a:solidFill>
                      <a:srgbClr val="111827"/>
                    </a:solidFill>
                    <a:latin typeface="Cambria Math" panose="02040503050406030204" pitchFamily="18" charset="0"/>
                  </a:rPr>
                  <a:t>$1,2,1$</a:t>
                </a:r>
                <a:r>
                  <a:rPr sz="2400" b="0">
                    <a:solidFill>
                      <a:srgbClr val="111827"/>
                    </a:solidFill>
                    <a:latin typeface="Arial"/>
                  </a:rPr>
                  <a:t> shifted by 2: </a:t>
                </a:r>
                <a:r>
                  <a:rPr lang="en-IN" sz="2400">
                    <a:solidFill>
                      <a:srgbClr val="111827"/>
                    </a:solidFill>
                    <a:latin typeface="Cambria Math" panose="02040503050406030204" pitchFamily="18" charset="0"/>
                  </a:rPr>
                  <a:t>$3,4,3$</a:t>
                </a:r>
                <a:r>
                  <a:rPr sz="2400" b="0">
                    <a:solidFill>
                      <a:srgbClr val="111827"/>
                    </a:solidFill>
                    <a:latin typeface="Arial"/>
                  </a:rPr>
                  <a:t> with mean </a:t>
                </a:r>
                <a:r>
                  <a:rPr lang="en-IN" sz="2400">
                    <a:solidFill>
                      <a:srgbClr val="111827"/>
                    </a:solidFill>
                    <a:latin typeface="Cambria Math" panose="02040503050406030204" pitchFamily="18" charset="0"/>
                  </a:rPr>
                  <a:t>$\frac{10}{3}$</a:t>
                </a:r>
                <a:r>
                  <a:rPr sz="2400" b="0">
                    <a:solidFill>
                      <a:srgbClr val="111827"/>
                    </a:solidFill>
                    <a:latin typeface="Arial"/>
                  </a:rPr>
                  <a:t> and variance </a:t>
                </a:r>
                <a:r>
                  <a:rPr lang="en-IN" sz="2400">
                    <a:solidFill>
                      <a:srgbClr val="111827"/>
                    </a:solidFill>
                    <a:latin typeface="Cambria Math" panose="02040503050406030204" pitchFamily="18" charset="0"/>
                  </a:rPr>
                  <a:t>$\frac{34}{3}-\frac{100}{9}=\frac{2}{9}$</a:t>
                </a:r>
                <a:r>
                  <a:rPr sz="2400" b="0">
                    <a:solidFill>
                      <a:srgbClr val="111827"/>
                    </a:solidFill>
                    <a:latin typeface="Arial"/>
                  </a:rPr>
                  <a:t>, so </a:t>
                </a:r>
                <a:r>
                  <a:rPr lang="en-IN" sz="2400">
                    <a:solidFill>
                      <a:srgbClr val="111827"/>
                    </a:solidFill>
                    <a:latin typeface="Cambria Math" panose="02040503050406030204" pitchFamily="18" charset="0"/>
                  </a:rPr>
                  <a:t>$d^2=\frac{2}{9}$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$b^2=4$</a:t>
                </a:r>
                <a:r>
                  <a:rPr sz="2400" b="0">
                    <a:solidFill>
                      <a:srgbClr val="111827"/>
                    </a:solidFill>
                    <a:latin typeface="Arial"/>
                  </a:rPr>
                  <a:t>. Option (B): </a:t>
                </a:r>
                <a:r>
                  <a:rPr lang="en-IN" sz="2400">
                    <a:solidFill>
                      <a:srgbClr val="111827"/>
                    </a:solidFill>
                    <a:latin typeface="Cambria Math" panose="02040503050406030204" pitchFamily="18" charset="0"/>
                  </a:rPr>
                  <a:t>$3(1+1)-9\cdot\frac{2}{9}=6-2=4$</a:t>
                </a:r>
                <a:r>
                  <a:rPr sz="2400" b="0">
                    <a:solidFill>
                      <a:srgbClr val="111827"/>
                    </a:solidFill>
                    <a:latin typeface="Arial"/>
                  </a:rPr>
                  <a:t> ✓. Option (A): </a:t>
                </a:r>
                <a:r>
                  <a:rPr lang="en-IN" sz="2400">
                    <a:solidFill>
                      <a:srgbClr val="111827"/>
                    </a:solidFill>
                    <a:latin typeface="Cambria Math" panose="02040503050406030204" pitchFamily="18" charset="0"/>
                  </a:rPr>
                  <a:t>$1+1+3\cdot\frac{2}{9}\ne4$</a:t>
                </a:r>
                <a:r>
                  <a:rPr sz="2400" b="0">
                    <a:solidFill>
                      <a:srgbClr val="111827"/>
                    </a:solidFill>
                    <a:latin typeface="Arial"/>
                  </a:rPr>
                  <a:t>; (C): </a:t>
                </a:r>
                <a:r>
                  <a:rPr lang="en-IN" sz="2400">
                    <a:solidFill>
                      <a:srgbClr val="111827"/>
                    </a:solidFill>
                    <a:latin typeface="Cambria Math" panose="02040503050406030204" pitchFamily="18" charset="0"/>
                  </a:rPr>
                  <a:t>$6+2=8\ne4$</a:t>
                </a:r>
                <a:r>
                  <a:rPr sz="2400" b="0">
                    <a:solidFill>
                      <a:srgbClr val="111827"/>
                    </a:solidFill>
                    <a:latin typeface="Arial"/>
                  </a:rPr>
                  <a:t>; (D): </a:t>
                </a:r>
                <a:r>
                  <a:rPr lang="en-IN" sz="2400">
                    <a:solidFill>
                      <a:srgbClr val="111827"/>
                    </a:solidFill>
                    <a:latin typeface="Cambria Math" panose="02040503050406030204" pitchFamily="18" charset="0"/>
                  </a:rPr>
                  <a:t>$3(2+\frac29)\ne4$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Only (B) matches, the same answer.</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14:m>
                  <m:oMath xmlns:m="http://schemas.openxmlformats.org/officeDocument/2006/math">
                    <m:sSup>
                      <m:e>
                        <m:r>
                          <a:rPr lang="en-IN" sz="2800" i="1">
                            <a:solidFill>
                              <a:srgbClr val="15803D"/>
                            </a:solidFill>
                            <a:latin typeface="Cambria Math" panose="02040503050406030204" pitchFamily="18" charset="0"/>
                          </a:rPr>
                          <m:t>𝑏</m:t>
                        </m:r>
                      </m:e>
                      <m:sup>
                        <m:r>
                          <a:rPr lang="en-IN" sz="2800" i="1">
                            <a:solidFill>
                              <a:srgbClr val="15803D"/>
                            </a:solidFill>
                            <a:latin typeface="Cambria Math" panose="02040503050406030204" pitchFamily="18" charset="0"/>
                          </a:rPr>
                          <m:t>2</m:t>
                        </m:r>
                      </m:sup>
                    </m:sSup>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3</m:t>
                    </m:r>
                    <m:r>
                      <m:rPr>
                        <m:sty m:val="p"/>
                      </m:rPr>
                      <a:rPr lang="en-IN" sz="2800">
                        <a:solidFill>
                          <a:srgbClr val="15803D"/>
                        </a:solidFill>
                        <a:latin typeface="Cambria Math" panose="02040503050406030204" pitchFamily="18" charset="0"/>
                      </a:rPr>
                      <m:t>(</m:t>
                    </m:r>
                    <m:sSup>
                      <m:e>
                        <m:r>
                          <a:rPr lang="en-IN" sz="2800" i="1">
                            <a:solidFill>
                              <a:srgbClr val="15803D"/>
                            </a:solidFill>
                            <a:latin typeface="Cambria Math" panose="02040503050406030204" pitchFamily="18" charset="0"/>
                          </a:rPr>
                          <m:t>𝑎</m:t>
                        </m:r>
                      </m:e>
                      <m:sup>
                        <m:r>
                          <a:rPr lang="en-IN" sz="2800" i="1">
                            <a:solidFill>
                              <a:srgbClr val="15803D"/>
                            </a:solidFill>
                            <a:latin typeface="Cambria Math" panose="02040503050406030204" pitchFamily="18" charset="0"/>
                          </a:rPr>
                          <m:t>2</m:t>
                        </m:r>
                      </m:sup>
                    </m:sSup>
                    <m:r>
                      <m:rPr>
                        <m:sty m:val="p"/>
                      </m:rPr>
                      <a:rPr lang="en-IN" sz="2800">
                        <a:solidFill>
                          <a:srgbClr val="15803D"/>
                        </a:solidFill>
                        <a:latin typeface="Cambria Math" panose="02040503050406030204" pitchFamily="18" charset="0"/>
                      </a:rPr>
                      <m:t>+</m:t>
                    </m:r>
                    <m:sSup>
                      <m:e>
                        <m:r>
                          <a:rPr lang="en-IN" sz="2800" i="1">
                            <a:solidFill>
                              <a:srgbClr val="15803D"/>
                            </a:solidFill>
                            <a:latin typeface="Cambria Math" panose="02040503050406030204" pitchFamily="18" charset="0"/>
                          </a:rPr>
                          <m:t>𝑐</m:t>
                        </m:r>
                      </m:e>
                      <m:sup>
                        <m:r>
                          <a:rPr lang="en-IN" sz="2800" i="1">
                            <a:solidFill>
                              <a:srgbClr val="15803D"/>
                            </a:solidFill>
                            <a:latin typeface="Cambria Math" panose="02040503050406030204" pitchFamily="18" charset="0"/>
                          </a:rPr>
                          <m:t>2</m:t>
                        </m:r>
                      </m:sup>
                    </m:sSup>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9</m:t>
                    </m:r>
                    <m:sSup>
                      <m:e>
                        <m:r>
                          <a:rPr lang="en-IN" sz="2800" i="1">
                            <a:solidFill>
                              <a:srgbClr val="15803D"/>
                            </a:solidFill>
                            <a:latin typeface="Cambria Math" panose="02040503050406030204" pitchFamily="18" charset="0"/>
                          </a:rPr>
                          <m:t>𝑑</m:t>
                        </m:r>
                      </m:e>
                      <m:sup>
                        <m:r>
                          <a:rPr lang="en-IN" sz="2800" i="1">
                            <a:solidFill>
                              <a:srgbClr val="15803D"/>
                            </a:solidFill>
                            <a:latin typeface="Cambria Math" panose="02040503050406030204" pitchFamily="18" charset="0"/>
                          </a:rPr>
                          <m:t>2</m:t>
                        </m:r>
                      </m:sup>
                    </m:sSup>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r>
                  <a:rPr lang="en-IN" sz="2800">
                    <a:solidFill>
                      <a:srgbClr val="15803D"/>
                    </a:solidFill>
                    <a:latin typeface="Cambria Math" panose="02040503050406030204" pitchFamily="18" charset="0"/>
                  </a:rPr>
                  <a:t>$b^2=3(a^2+c^2)-9d^2$</a:t>
                </a:r>
                <a:endParaRPr sz="2800">
                  <a:solidFill>
                    <a:srgbClr val="15803D"/>
                  </a:solidFill>
                </a:endParaRPr>
              </a:p>
            </p:txBody>
          </p:sp>
        </mc:Fallback>
      </mc:AlternateContent>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Eliminating a variable using a given relation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before expanding keeps the algebra to one line.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Plugging a simple numerical case is a fast way to discriminate between algebraic options.</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Eliminating a variable using a given relation (</a:t>
                </a:r>
                <a:r>
                  <a:rPr lang="en-IN" sz="2400">
                    <a:solidFill>
                      <a:srgbClr val="111827"/>
                    </a:solidFill>
                    <a:latin typeface="Cambria Math" panose="02040503050406030204" pitchFamily="18" charset="0"/>
                  </a:rPr>
                  <a:t>$b=a+c$</a:t>
                </a:r>
                <a:r>
                  <a:rPr sz="2400" b="0">
                    <a:solidFill>
                      <a:srgbClr val="111827"/>
                    </a:solidFill>
                    <a:latin typeface="Arial"/>
                  </a:rPr>
                  <a:t>) before expanding keeps the algebra to one line.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Plugging a simple numerical case is a fast way to discriminate between algebraic options.</a:t>
                </a:r>
                <a:endParaRPr sz="2400">
                  <a:solidFill>
                    <a:srgbClr val="111827"/>
                  </a:solidFill>
                </a:endParaRPr>
              </a:p>
            </p:txBody>
          </p:sp>
        </mc:Fallback>
      </mc:AlternateContent>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mean of 6 distinct observations is </a:t>
                </a:r>
                <a14:m>
                  <m:oMath xmlns:m="http://schemas.openxmlformats.org/officeDocument/2006/math">
                    <m:r>
                      <a:rPr lang="en-IN" sz="2400" i="1">
                        <a:solidFill>
                          <a:srgbClr val="111827"/>
                        </a:solidFill>
                        <a:latin typeface="Cambria Math" panose="02040503050406030204" pitchFamily="18" charset="0"/>
                      </a:rPr>
                      <m:t>6.5</m:t>
                    </m:r>
                  </m:oMath>
                </a14:m>
                <a:r>
                  <a:rPr sz="2400" b="0">
                    <a:solidFill>
                      <a:srgbClr val="111827"/>
                    </a:solidFill>
                    <a:latin typeface="Arial"/>
                  </a:rPr>
                  <a:t> and their variance is </a:t>
                </a:r>
                <a14:m>
                  <m:oMath xmlns:m="http://schemas.openxmlformats.org/officeDocument/2006/math">
                    <m:r>
                      <a:rPr lang="en-IN" sz="2400" i="1">
                        <a:solidFill>
                          <a:srgbClr val="111827"/>
                        </a:solidFill>
                        <a:latin typeface="Cambria Math" panose="02040503050406030204" pitchFamily="18" charset="0"/>
                      </a:rPr>
                      <m:t>10.25</m:t>
                    </m:r>
                  </m:oMath>
                </a14:m>
                <a:r>
                  <a:rPr sz="2400" b="0">
                    <a:solidFill>
                      <a:srgbClr val="111827"/>
                    </a:solidFill>
                    <a:latin typeface="Arial"/>
                  </a:rPr>
                  <a:t>. If 4 out of 6 observations are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then the remaining two observations are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oMath>
                </a14:m>
                <a:endParaRPr sz="2400">
                  <a:solidFill>
                    <a:srgbClr val="111827"/>
                  </a:solidFill>
                </a:endParaRPr>
              </a:p>
            </p:txBody>
          </p:sp>
        </mc:Choice>
        <mc:Fallback>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mean of 6 distinct observations is </a:t>
                </a:r>
                <a:r>
                  <a:rPr lang="en-IN" sz="2400">
                    <a:solidFill>
                      <a:srgbClr val="111827"/>
                    </a:solidFill>
                    <a:latin typeface="Cambria Math" panose="02040503050406030204" pitchFamily="18" charset="0"/>
                  </a:rPr>
                  <a:t>$6.5$</a:t>
                </a:r>
                <a:r>
                  <a:rPr sz="2400" b="0">
                    <a:solidFill>
                      <a:srgbClr val="111827"/>
                    </a:solidFill>
                    <a:latin typeface="Arial"/>
                  </a:rPr>
                  <a:t> and their variance is </a:t>
                </a:r>
                <a:r>
                  <a:rPr lang="en-IN" sz="2400">
                    <a:solidFill>
                      <a:srgbClr val="111827"/>
                    </a:solidFill>
                    <a:latin typeface="Cambria Math" panose="02040503050406030204" pitchFamily="18" charset="0"/>
                  </a:rPr>
                  <a:t>$10.25$</a:t>
                </a:r>
                <a:r>
                  <a:rPr sz="2400" b="0">
                    <a:solidFill>
                      <a:srgbClr val="111827"/>
                    </a:solidFill>
                    <a:latin typeface="Arial"/>
                  </a:rPr>
                  <a:t>. If 4 out of 6 observations are </a:t>
                </a:r>
                <a:r>
                  <a:rPr lang="en-IN" sz="2400">
                    <a:solidFill>
                      <a:srgbClr val="111827"/>
                    </a:solidFill>
                    <a:latin typeface="Cambria Math" panose="02040503050406030204" pitchFamily="18" charset="0"/>
                  </a:rPr>
                  <a:t>$2,4,5$</a:t>
                </a:r>
                <a:r>
                  <a:rPr sz="2400" b="0">
                    <a:solidFill>
                      <a:srgbClr val="111827"/>
                    </a:solidFill>
                    <a:latin typeface="Arial"/>
                  </a:rPr>
                  <a:t> and </a:t>
                </a:r>
                <a:r>
                  <a:rPr lang="en-IN" sz="2400">
                    <a:solidFill>
                      <a:srgbClr val="111827"/>
                    </a:solidFill>
                    <a:latin typeface="Cambria Math" panose="02040503050406030204" pitchFamily="18" charset="0"/>
                  </a:rPr>
                  <a:t>$7$</a:t>
                </a:r>
                <a:r>
                  <a:rPr sz="2400" b="0">
                    <a:solidFill>
                      <a:srgbClr val="111827"/>
                    </a:solidFill>
                    <a:latin typeface="Arial"/>
                  </a:rPr>
                  <a:t>, then the remaining two observations are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$3,18$</a:t>
                </a:r>
                <a:r>
                  <a:rPr sz="2400" b="0">
                    <a:solidFill>
                      <a:srgbClr val="111827"/>
                    </a:solidFill>
                    <a:latin typeface="Arial"/>
                  </a:rPr>
                  <a:t>   (B) </a:t>
                </a:r>
                <a:r>
                  <a:rPr lang="en-IN" sz="2400">
                    <a:solidFill>
                      <a:srgbClr val="111827"/>
                    </a:solidFill>
                    <a:latin typeface="Cambria Math" panose="02040503050406030204" pitchFamily="18" charset="0"/>
                  </a:rPr>
                  <a:t>$1,20$</a:t>
                </a:r>
                <a:r>
                  <a:rPr sz="2400" b="0">
                    <a:solidFill>
                      <a:srgbClr val="111827"/>
                    </a:solidFill>
                    <a:latin typeface="Arial"/>
                  </a:rPr>
                  <a:t>   (C) </a:t>
                </a:r>
                <a:r>
                  <a:rPr lang="en-IN" sz="2400">
                    <a:solidFill>
                      <a:srgbClr val="111827"/>
                    </a:solidFill>
                    <a:latin typeface="Cambria Math" panose="02040503050406030204" pitchFamily="18" charset="0"/>
                  </a:rPr>
                  <a:t>$10,11$</a:t>
                </a:r>
                <a:r>
                  <a:rPr sz="2400" b="0">
                    <a:solidFill>
                      <a:srgbClr val="111827"/>
                    </a:solidFill>
                    <a:latin typeface="Arial"/>
                  </a:rPr>
                  <a:t>   (D) </a:t>
                </a:r>
                <a:r>
                  <a:rPr lang="en-IN" sz="2400">
                    <a:solidFill>
                      <a:srgbClr val="111827"/>
                    </a:solidFill>
                    <a:latin typeface="Cambria Math" panose="02040503050406030204" pitchFamily="18" charset="0"/>
                  </a:rPr>
                  <a:t>$8,13$</a:t>
                </a:r>
                <a:endParaRPr sz="2400">
                  <a:solidFill>
                    <a:srgbClr val="111827"/>
                  </a:solidFill>
                </a:endParaRPr>
              </a:p>
            </p:txBody>
          </p:sp>
        </mc:Fallback>
      </mc:AlternateContent>
      <p:sp>
        <p:nvSpPr>
          <p:cNvPr id="5" name="Rectangle 4"/>
          <p:cNvSpPr/>
          <p:nvPr/>
        </p:nvSpPr>
        <p:spPr>
          <a:xfrm>
            <a:off x="731520" y="3580383"/>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Finding two missing observations from mean and variance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oMath>
                </a14:m>
                <a:r>
                  <a:rPr sz="2400" b="0">
                    <a:solidFill>
                      <a:srgbClr val="78350F"/>
                    </a:solidFill>
                    <a:latin typeface="Arial"/>
                  </a:rPr>
                  <a:t> from the mean and </a:t>
                </a:r>
                <a14:m>
                  <m:oMath xmlns:m="http://schemas.openxmlformats.org/officeDocument/2006/math">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𝑦</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from the variance.</a:t>
                </a:r>
                <a:endParaRPr sz="2400">
                  <a:solidFill>
                    <a:srgbClr val="78350F"/>
                  </a:solidFill>
                </a:endParaRPr>
              </a:p>
            </p:txBody>
          </p:sp>
        </mc:Choice>
        <mc:Fallback>
          <p:sp>
            <p:nvSpPr>
              <p:cNvPr id="4" name="Rounded Rectangle 3"/>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$x+y$</a:t>
                </a:r>
                <a:r>
                  <a:rPr sz="2400" b="0">
                    <a:solidFill>
                      <a:srgbClr val="78350F"/>
                    </a:solidFill>
                    <a:latin typeface="Arial"/>
                  </a:rPr>
                  <a:t> from the mean and </a:t>
                </a:r>
                <a:r>
                  <a:rPr lang="en-IN" sz="2400">
                    <a:solidFill>
                      <a:srgbClr val="78350F"/>
                    </a:solidFill>
                    <a:latin typeface="Cambria Math" panose="02040503050406030204" pitchFamily="18" charset="0"/>
                  </a:rPr>
                  <a:t>$x^2+y^2$</a:t>
                </a:r>
                <a:r>
                  <a:rPr sz="2400" b="0">
                    <a:solidFill>
                      <a:srgbClr val="78350F"/>
                    </a:solidFill>
                    <a:latin typeface="Arial"/>
                  </a:rPr>
                  <a:t> from the variance.</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Mean </a:t>
                </a:r>
                <a14:m>
                  <m:oMath xmlns:m="http://schemas.openxmlformats.org/officeDocument/2006/math">
                    <m:r>
                      <a:rPr lang="en-IN" sz="2400" i="1">
                        <a:solidFill>
                          <a:srgbClr val="111827"/>
                        </a:solidFill>
                        <a:latin typeface="Cambria Math" panose="02040503050406030204" pitchFamily="18" charset="0"/>
                      </a:rPr>
                      <m:t>6.5</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6.5</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oMath>
                </a14:m>
                <a:r>
                  <a:rPr sz="2400" b="0">
                    <a:solidFill>
                      <a:srgbClr val="111827"/>
                    </a:solidFill>
                    <a:latin typeface="Arial"/>
                  </a:rPr>
                  <a:t> ... (i).</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Variance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2</m:t>
                            </m:r>
                          </m:sup>
                        </m:sSubSup>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6.5</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10.25</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42.25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315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4</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7</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94</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441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110</m:t>
                    </m:r>
                  </m:oMath>
                </a14:m>
                <a:r>
                  <a:rPr sz="2400" b="0">
                    <a:solidFill>
                      <a:srgbClr val="111827"/>
                    </a:solidFill>
                    <a:latin typeface="Arial"/>
                  </a:rPr>
                  <a:t> ... (ii).</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From (i) and (ii): </a:t>
                </a:r>
                <a14:m>
                  <m:oMath xmlns:m="http://schemas.openxmlformats.org/officeDocument/2006/math">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11</m:t>
                    </m:r>
                  </m:oMath>
                </a14:m>
                <a:r>
                  <a:rPr sz="2400" b="0">
                    <a:solidFill>
                      <a:srgbClr val="111827"/>
                    </a:solidFill>
                    <a:latin typeface="Arial"/>
                  </a:rPr>
                  <a:t>; the observations are </a:t>
                </a:r>
                <a14:m>
                  <m:oMath xmlns:m="http://schemas.openxmlformats.org/officeDocument/2006/math">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oMath>
                </a14:m>
                <a:r>
                  <a:rPr sz="2400" b="0">
                    <a:solidFill>
                      <a:srgbClr val="111827"/>
                    </a:solidFill>
                    <a:latin typeface="Arial"/>
                  </a:rPr>
                  <a:t>, option (C).</a:t>
                </a:r>
                <a:endParaRPr sz="2400">
                  <a:solidFill>
                    <a:srgbClr val="111827"/>
                  </a:solidFill>
                </a:endParaRPr>
              </a:p>
            </p:txBody>
          </p:sp>
        </mc:Choice>
        <mc:Fallback>
          <p:sp>
            <p:nvSpPr>
              <p:cNvPr id="5" name="Rectangle 4"/>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Mean </a:t>
                </a:r>
                <a:r>
                  <a:rPr lang="en-IN" sz="2400">
                    <a:solidFill>
                      <a:srgbClr val="111827"/>
                    </a:solidFill>
                    <a:latin typeface="Cambria Math" panose="02040503050406030204" pitchFamily="18" charset="0"/>
                  </a:rPr>
                  <a:t>$6.5$</a:t>
                </a:r>
                <a:r>
                  <a:rPr sz="2400" b="0">
                    <a:solidFill>
                      <a:srgbClr val="111827"/>
                    </a:solidFill>
                    <a:latin typeface="Arial"/>
                  </a:rPr>
                  <a:t>: </a:t>
                </a:r>
                <a:r>
                  <a:rPr lang="en-IN" sz="2400">
                    <a:solidFill>
                      <a:srgbClr val="111827"/>
                    </a:solidFill>
                    <a:latin typeface="Cambria Math" panose="02040503050406030204" pitchFamily="18" charset="0"/>
                  </a:rPr>
                  <a:t>$\frac{18+x+y}{6}=6.5$</a:t>
                </a:r>
                <a:r>
                  <a:rPr sz="2400" b="0">
                    <a:solidFill>
                      <a:srgbClr val="111827"/>
                    </a:solidFill>
                    <a:latin typeface="Arial"/>
                  </a:rPr>
                  <a:t>, so </a:t>
                </a:r>
                <a:r>
                  <a:rPr lang="en-IN" sz="2400">
                    <a:solidFill>
                      <a:srgbClr val="111827"/>
                    </a:solidFill>
                    <a:latin typeface="Cambria Math" panose="02040503050406030204" pitchFamily="18" charset="0"/>
                  </a:rPr>
                  <a:t>$x+y=21$</a:t>
                </a:r>
                <a:r>
                  <a:rPr sz="2400" b="0">
                    <a:solidFill>
                      <a:srgbClr val="111827"/>
                    </a:solidFill>
                    <a:latin typeface="Arial"/>
                  </a:rPr>
                  <a:t> ... (i).</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Variance </a:t>
                </a:r>
                <a:r>
                  <a:rPr lang="en-IN" sz="2400">
                    <a:solidFill>
                      <a:srgbClr val="111827"/>
                    </a:solidFill>
                    <a:latin typeface="Cambria Math" panose="02040503050406030204" pitchFamily="18" charset="0"/>
                  </a:rPr>
                  <a:t>$=\frac{\sum x_i^2}{6}-6.5^2=10.25$</a:t>
                </a:r>
                <a:r>
                  <a:rPr sz="2400" b="0">
                    <a:solidFill>
                      <a:srgbClr val="111827"/>
                    </a:solidFill>
                    <a:latin typeface="Arial"/>
                  </a:rPr>
                  <a:t>, so </a:t>
                </a:r>
                <a:r>
                  <a:rPr lang="en-IN" sz="2400">
                    <a:solidFill>
                      <a:srgbClr val="111827"/>
                    </a:solidFill>
                    <a:latin typeface="Cambria Math" panose="02040503050406030204" pitchFamily="18" charset="0"/>
                  </a:rPr>
                  <a:t>$\sum x_i^2=6(10.25+42.25)=315$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$2^2+4^2+5^2+7^2=94$</a:t>
                </a:r>
                <a:r>
                  <a:rPr sz="2400" b="0">
                    <a:solidFill>
                      <a:srgbClr val="111827"/>
                    </a:solidFill>
                    <a:latin typeface="Arial"/>
                  </a:rPr>
                  <a:t>, so </a:t>
                </a:r>
                <a:r>
                  <a:rPr lang="en-IN" sz="2400">
                    <a:solidFill>
                      <a:srgbClr val="111827"/>
                    </a:solidFill>
                    <a:latin typeface="Cambria Math" panose="02040503050406030204" pitchFamily="18" charset="0"/>
                  </a:rPr>
                  <a:t>$x^2+y^2=221$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$2xy=(x+y)^2-(x^2+y^2)=441-221=220$</a:t>
                </a:r>
                <a:r>
                  <a:rPr sz="2400" b="0">
                    <a:solidFill>
                      <a:srgbClr val="111827"/>
                    </a:solidFill>
                    <a:latin typeface="Arial"/>
                  </a:rPr>
                  <a:t>, so </a:t>
                </a:r>
                <a:r>
                  <a:rPr lang="en-IN" sz="2400">
                    <a:solidFill>
                      <a:srgbClr val="111827"/>
                    </a:solidFill>
                    <a:latin typeface="Cambria Math" panose="02040503050406030204" pitchFamily="18" charset="0"/>
                  </a:rPr>
                  <a:t>$xy=110$</a:t>
                </a:r>
                <a:r>
                  <a:rPr sz="2400" b="0">
                    <a:solidFill>
                      <a:srgbClr val="111827"/>
                    </a:solidFill>
                    <a:latin typeface="Arial"/>
                  </a:rPr>
                  <a:t> ... (ii).</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From (i) and (ii): </a:t>
                </a:r>
                <a:r>
                  <a:rPr lang="en-IN" sz="2400">
                    <a:solidFill>
                      <a:srgbClr val="111827"/>
                    </a:solidFill>
                    <a:latin typeface="Cambria Math" panose="02040503050406030204" pitchFamily="18" charset="0"/>
                  </a:rPr>
                  <a:t>$t^2-21t+110=0$</a:t>
                </a:r>
                <a:r>
                  <a:rPr sz="2400" b="0">
                    <a:solidFill>
                      <a:srgbClr val="111827"/>
                    </a:solidFill>
                    <a:latin typeface="Arial"/>
                  </a:rPr>
                  <a:t>, so </a:t>
                </a:r>
                <a:r>
                  <a:rPr lang="en-IN" sz="2400">
                    <a:solidFill>
                      <a:srgbClr val="111827"/>
                    </a:solidFill>
                    <a:latin typeface="Cambria Math" panose="02040503050406030204" pitchFamily="18" charset="0"/>
                  </a:rPr>
                  <a:t>$t=10$</a:t>
                </a:r>
                <a:r>
                  <a:rPr sz="2400" b="0">
                    <a:solidFill>
                      <a:srgbClr val="111827"/>
                    </a:solidFill>
                    <a:latin typeface="Arial"/>
                  </a:rPr>
                  <a:t> or </a:t>
                </a:r>
                <a:r>
                  <a:rPr lang="en-IN" sz="2400">
                    <a:solidFill>
                      <a:srgbClr val="111827"/>
                    </a:solidFill>
                    <a:latin typeface="Cambria Math" panose="02040503050406030204" pitchFamily="18" charset="0"/>
                  </a:rPr>
                  <a:t>$11$</a:t>
                </a:r>
                <a:r>
                  <a:rPr sz="2400" b="0">
                    <a:solidFill>
                      <a:srgbClr val="111827"/>
                    </a:solidFill>
                    <a:latin typeface="Arial"/>
                  </a:rPr>
                  <a:t>; the observations are </a:t>
                </a:r>
                <a:r>
                  <a:rPr lang="en-IN" sz="2400">
                    <a:solidFill>
                      <a:srgbClr val="111827"/>
                    </a:solidFill>
                    <a:latin typeface="Cambria Math" panose="02040503050406030204" pitchFamily="18" charset="0"/>
                  </a:rPr>
                  <a:t>$10,11$</a:t>
                </a:r>
                <a:r>
                  <a:rPr sz="2400" b="0">
                    <a:solidFill>
                      <a:srgbClr val="111827"/>
                    </a:solidFill>
                    <a:latin typeface="Arial"/>
                  </a:rPr>
                  <a:t>, option (C).</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14:m>
                  <m:oMath xmlns:m="http://schemas.openxmlformats.org/officeDocument/2006/math">
                    <m:r>
                      <a:rPr lang="en-IN" sz="2800" i="1">
                        <a:solidFill>
                          <a:srgbClr val="15803D"/>
                        </a:solidFill>
                        <a:latin typeface="Cambria Math" panose="02040503050406030204" pitchFamily="18" charset="0"/>
                      </a:rPr>
                      <m:t>10</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11</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r>
                  <a:rPr lang="en-IN" sz="2800">
                    <a:solidFill>
                      <a:srgbClr val="15803D"/>
                    </a:solidFill>
                    <a:latin typeface="Cambria Math" panose="02040503050406030204" pitchFamily="18" charset="0"/>
                  </a:rPr>
                  <a:t>$10,11$</a:t>
                </a:r>
                <a:endParaRPr sz="2800">
                  <a:solidFill>
                    <a:srgbClr val="15803D"/>
                  </a:solidFill>
                </a:endParaRPr>
              </a:p>
            </p:txBody>
          </p:sp>
        </mc:Fallback>
      </mc:AlternateContent>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p:sp>
        <p:nvSpPr>
          <p:cNvPr id="5" name="Rounded Rectangle 4"/>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Deviations from the mean 6.5.</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Deviations of the known values: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0.5</m:t>
                    </m:r>
                  </m:oMath>
                </a14:m>
                <a:r>
                  <a:rPr sz="2400" b="0">
                    <a:solidFill>
                      <a:srgbClr val="111827"/>
                    </a:solidFill>
                    <a:latin typeface="Arial"/>
                  </a:rPr>
                  <a:t> (sum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so the other two deviations satisfy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61.5</m:t>
                    </m:r>
                  </m:oMath>
                </a14:m>
                <a:r>
                  <a:rPr sz="2400" b="0">
                    <a:solidFill>
                      <a:srgbClr val="111827"/>
                    </a:solidFill>
                    <a:latin typeface="Arial"/>
                  </a:rPr>
                  <a:t>; known squares </a:t>
                </a:r>
                <a14:m>
                  <m:oMath xmlns:m="http://schemas.openxmlformats.org/officeDocument/2006/math">
                    <m:r>
                      <a:rPr lang="en-IN" sz="2400" i="1">
                        <a:solidFill>
                          <a:srgbClr val="111827"/>
                        </a:solidFill>
                        <a:latin typeface="Cambria Math" panose="02040503050406030204" pitchFamily="18" charset="0"/>
                      </a:rPr>
                      <m:t>20.25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29</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𝑢</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𝑣</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𝑢</m:t>
                    </m:r>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32.5</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15.75</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15.75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4.5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observations are </a:t>
                </a:r>
                <a14:m>
                  <m:oMath xmlns:m="http://schemas.openxmlformats.org/officeDocument/2006/math">
                    <m:r>
                      <a:rPr lang="en-IN" sz="2400" i="1">
                        <a:solidFill>
                          <a:srgbClr val="111827"/>
                        </a:solidFill>
                        <a:latin typeface="Cambria Math" panose="02040503050406030204" pitchFamily="18" charset="0"/>
                      </a:rPr>
                      <m:t>6.5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6.5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oMath>
                </a14:m>
                <a:r>
                  <a:rPr sz="2400" b="0">
                    <a:solidFill>
                      <a:srgbClr val="111827"/>
                    </a:solidFill>
                    <a:latin typeface="Arial"/>
                  </a:rPr>
                  <a:t>, the same answer.</a:t>
                </a:r>
                <a:endParaRPr sz="2400">
                  <a:solidFill>
                    <a:srgbClr val="111827"/>
                  </a:solidFill>
                </a:endParaRPr>
              </a:p>
            </p:txBody>
          </p:sp>
        </mc:Choice>
        <mc:Fallback>
          <p:sp>
            <p:nvSpPr>
              <p:cNvPr id="6" name="Rectangle 5"/>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Deviations of the known values: </a:t>
                </a:r>
                <a:r>
                  <a:rPr lang="en-IN" sz="2400">
                    <a:solidFill>
                      <a:srgbClr val="111827"/>
                    </a:solidFill>
                    <a:latin typeface="Cambria Math" panose="02040503050406030204" pitchFamily="18" charset="0"/>
                  </a:rPr>
                  <a:t>$-4.5,-2.5,-1.5,0.5$</a:t>
                </a:r>
                <a:r>
                  <a:rPr sz="2400" b="0">
                    <a:solidFill>
                      <a:srgbClr val="111827"/>
                    </a:solidFill>
                    <a:latin typeface="Arial"/>
                  </a:rPr>
                  <a:t> (sum </a:t>
                </a:r>
                <a:r>
                  <a:rPr lang="en-IN" sz="2400">
                    <a:solidFill>
                      <a:srgbClr val="111827"/>
                    </a:solidFill>
                    <a:latin typeface="Cambria Math" panose="02040503050406030204" pitchFamily="18" charset="0"/>
                  </a:rPr>
                  <a:t>$-8$</a:t>
                </a:r>
                <a:r>
                  <a:rPr sz="2400" b="0">
                    <a:solidFill>
                      <a:srgbClr val="111827"/>
                    </a:solidFill>
                    <a:latin typeface="Arial"/>
                  </a:rPr>
                  <a:t>), so the other two deviations satisfy </a:t>
                </a:r>
                <a:r>
                  <a:rPr lang="en-IN" sz="2400">
                    <a:solidFill>
                      <a:srgbClr val="111827"/>
                    </a:solidFill>
                    <a:latin typeface="Cambria Math" panose="02040503050406030204" pitchFamily="18" charset="0"/>
                  </a:rPr>
                  <a:t>$u+v=8$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 d^2=6\times10.25=61.5$</a:t>
                </a:r>
                <a:r>
                  <a:rPr sz="2400" b="0">
                    <a:solidFill>
                      <a:srgbClr val="111827"/>
                    </a:solidFill>
                    <a:latin typeface="Arial"/>
                  </a:rPr>
                  <a:t>; known squares </a:t>
                </a:r>
                <a:r>
                  <a:rPr lang="en-IN" sz="2400">
                    <a:solidFill>
                      <a:srgbClr val="111827"/>
                    </a:solidFill>
                    <a:latin typeface="Cambria Math" panose="02040503050406030204" pitchFamily="18" charset="0"/>
                  </a:rPr>
                  <a:t>$20.25+6.25+2.25+0.25=29$</a:t>
                </a:r>
                <a:r>
                  <a:rPr sz="2400" b="0">
                    <a:solidFill>
                      <a:srgbClr val="111827"/>
                    </a:solidFill>
                    <a:latin typeface="Arial"/>
                  </a:rPr>
                  <a:t>, so </a:t>
                </a:r>
                <a:r>
                  <a:rPr lang="en-IN" sz="2400">
                    <a:solidFill>
                      <a:srgbClr val="111827"/>
                    </a:solidFill>
                    <a:latin typeface="Cambria Math" panose="02040503050406030204" pitchFamily="18" charset="0"/>
                  </a:rPr>
                  <a:t>$u^2+v^2=32.5$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$uv=\frac{64-32.5}{2}=15.75$</a:t>
                </a:r>
                <a:r>
                  <a:rPr sz="2400" b="0">
                    <a:solidFill>
                      <a:srgbClr val="111827"/>
                    </a:solidFill>
                    <a:latin typeface="Arial"/>
                  </a:rPr>
                  <a:t>; </a:t>
                </a:r>
                <a:r>
                  <a:rPr lang="en-IN" sz="2400">
                    <a:solidFill>
                      <a:srgbClr val="111827"/>
                    </a:solidFill>
                    <a:latin typeface="Cambria Math" panose="02040503050406030204" pitchFamily="18" charset="0"/>
                  </a:rPr>
                  <a:t>$t^2-8t+15.75=0$</a:t>
                </a:r>
                <a:r>
                  <a:rPr sz="2400" b="0">
                    <a:solidFill>
                      <a:srgbClr val="111827"/>
                    </a:solidFill>
                    <a:latin typeface="Arial"/>
                  </a:rPr>
                  <a:t> gives </a:t>
                </a:r>
                <a:r>
                  <a:rPr lang="en-IN" sz="2400">
                    <a:solidFill>
                      <a:srgbClr val="111827"/>
                    </a:solidFill>
                    <a:latin typeface="Cambria Math" panose="02040503050406030204" pitchFamily="18" charset="0"/>
                  </a:rPr>
                  <a:t>$t=3.5$</a:t>
                </a:r>
                <a:r>
                  <a:rPr sz="2400" b="0">
                    <a:solidFill>
                      <a:srgbClr val="111827"/>
                    </a:solidFill>
                    <a:latin typeface="Arial"/>
                  </a:rPr>
                  <a:t> or </a:t>
                </a:r>
                <a:r>
                  <a:rPr lang="en-IN" sz="2400">
                    <a:solidFill>
                      <a:srgbClr val="111827"/>
                    </a:solidFill>
                    <a:latin typeface="Cambria Math" panose="02040503050406030204" pitchFamily="18" charset="0"/>
                  </a:rPr>
                  <a:t>$4.5$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observations are </a:t>
                </a:r>
                <a:r>
                  <a:rPr lang="en-IN" sz="2400">
                    <a:solidFill>
                      <a:srgbClr val="111827"/>
                    </a:solidFill>
                    <a:latin typeface="Cambria Math" panose="02040503050406030204" pitchFamily="18" charset="0"/>
                  </a:rPr>
                  <a:t>$6.5+3.5=10$</a:t>
                </a:r>
                <a:r>
                  <a:rPr sz="2400" b="0">
                    <a:solidFill>
                      <a:srgbClr val="111827"/>
                    </a:solidFill>
                    <a:latin typeface="Arial"/>
                  </a:rPr>
                  <a:t> and </a:t>
                </a:r>
                <a:r>
                  <a:rPr lang="en-IN" sz="2400">
                    <a:solidFill>
                      <a:srgbClr val="111827"/>
                    </a:solidFill>
                    <a:latin typeface="Cambria Math" panose="02040503050406030204" pitchFamily="18" charset="0"/>
                  </a:rPr>
                  <a:t>$6.5+4.5=11$</a:t>
                </a:r>
                <a:r>
                  <a:rPr sz="2400" b="0">
                    <a:solidFill>
                      <a:srgbClr val="111827"/>
                    </a:solidFill>
                    <a:latin typeface="Arial"/>
                  </a:rPr>
                  <a:t>, the same answer.</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14:m>
                  <m:oMath xmlns:m="http://schemas.openxmlformats.org/officeDocument/2006/math">
                    <m:r>
                      <a:rPr lang="en-IN" sz="2800" i="1">
                        <a:solidFill>
                          <a:srgbClr val="15803D"/>
                        </a:solidFill>
                        <a:latin typeface="Cambria Math" panose="02040503050406030204" pitchFamily="18" charset="0"/>
                      </a:rPr>
                      <m:t>10</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11</m:t>
                    </m:r>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r>
                  <a:rPr lang="en-IN" sz="2800">
                    <a:solidFill>
                      <a:srgbClr val="15803D"/>
                    </a:solidFill>
                    <a:latin typeface="Cambria Math" panose="02040503050406030204" pitchFamily="18" charset="0"/>
                  </a:rPr>
                  <a:t>$10,11$</a:t>
                </a:r>
                <a:endParaRPr sz="2800">
                  <a:solidFill>
                    <a:srgbClr val="15803D"/>
                  </a:solidFill>
                </a:endParaRPr>
              </a:p>
            </p:txBody>
          </p:sp>
        </mc:Fallback>
      </mc:AlternateContent>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Missing pair with known sum and sum of squares: they are the roots of </a:t>
                </a:r>
                <a14:m>
                  <m:oMath xmlns:m="http://schemas.openxmlformats.org/officeDocument/2006/math">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𝑠</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distinctness (the question says 6 distinct observations): </a:t>
                </a:r>
                <a14:m>
                  <m:oMath xmlns:m="http://schemas.openxmlformats.org/officeDocument/2006/math">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oMath>
                </a14:m>
                <a:r>
                  <a:rPr sz="2400" b="0">
                    <a:solidFill>
                      <a:srgbClr val="111827"/>
                    </a:solidFill>
                    <a:latin typeface="Arial"/>
                  </a:rPr>
                  <a:t> are distinct from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Missing pair with known sum and sum of squares: they are the roots of </a:t>
                </a:r>
                <a:r>
                  <a:rPr lang="en-IN" sz="2400">
                    <a:solidFill>
                      <a:srgbClr val="111827"/>
                    </a:solidFill>
                    <a:latin typeface="Cambria Math" panose="02040503050406030204" pitchFamily="18" charset="0"/>
                  </a:rPr>
                  <a:t>$t^2-st+p=0$</a:t>
                </a:r>
                <a:r>
                  <a:rPr sz="2400" b="0">
                    <a:solidFill>
                      <a:srgbClr val="111827"/>
                    </a:solidFill>
                    <a:latin typeface="Arial"/>
                  </a:rPr>
                  <a:t> with </a:t>
                </a:r>
                <a:r>
                  <a:rPr lang="en-IN" sz="2400">
                    <a:solidFill>
                      <a:srgbClr val="111827"/>
                    </a:solidFill>
                    <a:latin typeface="Cambria Math" panose="02040503050406030204" pitchFamily="18" charset="0"/>
                  </a:rPr>
                  <a:t>$p=\frac{s^2-q}{2}$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distinctness (the question says 6 distinct observations): </a:t>
                </a:r>
                <a:r>
                  <a:rPr lang="en-IN" sz="2400">
                    <a:solidFill>
                      <a:srgbClr val="111827"/>
                    </a:solidFill>
                    <a:latin typeface="Cambria Math" panose="02040503050406030204" pitchFamily="18" charset="0"/>
                  </a:rPr>
                  <a:t>$10,11$</a:t>
                </a:r>
                <a:r>
                  <a:rPr sz="2400" b="0">
                    <a:solidFill>
                      <a:srgbClr val="111827"/>
                    </a:solidFill>
                    <a:latin typeface="Arial"/>
                  </a:rPr>
                  <a:t> are distinct from </a:t>
                </a:r>
                <a:r>
                  <a:rPr lang="en-IN" sz="2400">
                    <a:solidFill>
                      <a:srgbClr val="111827"/>
                    </a:solidFill>
                    <a:latin typeface="Cambria Math" panose="02040503050406030204" pitchFamily="18" charset="0"/>
                  </a:rPr>
                  <a:t>$2,4,5,7$</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18135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mean and variance of six observations </a:t>
                </a:r>
                <a14:m>
                  <m:oMath xmlns:m="http://schemas.openxmlformats.org/officeDocument/2006/math">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are 10 and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respectively, then the value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equal to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11   (B) 1   (C) 7   (D) 9</a:t>
                </a:r>
                <a:endParaRPr sz="2400">
                  <a:solidFill>
                    <a:srgbClr val="111827"/>
                  </a:solidFill>
                </a:endParaRPr>
              </a:p>
            </p:txBody>
          </p:sp>
        </mc:Choice>
        <mc:Fallback>
          <p:sp>
            <p:nvSpPr>
              <p:cNvPr id="4" name="Rounded Rectangle 3"/>
              <p:cNvSpPr/>
              <p:nvPr/>
            </p:nvSpPr>
            <p:spPr>
              <a:xfrm>
                <a:off x="731520" y="1280160"/>
                <a:ext cx="10725912" cy="218135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mean and variance of six observations </a:t>
                </a:r>
                <a:r>
                  <a:rPr lang="en-IN" sz="2400">
                    <a:solidFill>
                      <a:srgbClr val="111827"/>
                    </a:solidFill>
                    <a:latin typeface="Cambria Math" panose="02040503050406030204" pitchFamily="18" charset="0"/>
                  </a:rPr>
                  <a:t>$7,10,11,15,a,b$</a:t>
                </a:r>
                <a:r>
                  <a:rPr sz="2400" b="0">
                    <a:solidFill>
                      <a:srgbClr val="111827"/>
                    </a:solidFill>
                    <a:latin typeface="Arial"/>
                  </a:rPr>
                  <a:t> are 10 and </a:t>
                </a:r>
                <a:r>
                  <a:rPr lang="en-IN" sz="2400">
                    <a:solidFill>
                      <a:srgbClr val="111827"/>
                    </a:solidFill>
                    <a:latin typeface="Cambria Math" panose="02040503050406030204" pitchFamily="18" charset="0"/>
                  </a:rPr>
                  <a:t>$\frac{20}{3}$</a:t>
                </a:r>
                <a:r>
                  <a:rPr sz="2400" b="0">
                    <a:solidFill>
                      <a:srgbClr val="111827"/>
                    </a:solidFill>
                    <a:latin typeface="Arial"/>
                  </a:rPr>
                  <a:t>, respectively, then the value of </a:t>
                </a:r>
                <a:r>
                  <a:rPr lang="en-IN" sz="2400">
                    <a:solidFill>
                      <a:srgbClr val="111827"/>
                    </a:solidFill>
                    <a:latin typeface="Cambria Math" panose="02040503050406030204" pitchFamily="18" charset="0"/>
                  </a:rPr>
                  <a:t>$|a-b|$</a:t>
                </a:r>
                <a:r>
                  <a:rPr sz="2400" b="0">
                    <a:solidFill>
                      <a:srgbClr val="111827"/>
                    </a:solidFill>
                    <a:latin typeface="Arial"/>
                  </a:rPr>
                  <a:t> is equal to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11   (B) 1   (C) 7   (D) 9</a:t>
                </a:r>
                <a:endParaRPr sz="2400">
                  <a:solidFill>
                    <a:srgbClr val="111827"/>
                  </a:solidFill>
                </a:endParaRPr>
              </a:p>
            </p:txBody>
          </p:sp>
        </mc:Fallback>
      </mc:AlternateContent>
      <p:sp>
        <p:nvSpPr>
          <p:cNvPr id="5" name="Rectangle 4"/>
          <p:cNvSpPr/>
          <p:nvPr/>
        </p:nvSpPr>
        <p:spPr>
          <a:xfrm>
            <a:off x="731520" y="3690111"/>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Finding two missing observations from mean and variance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Mean gives </a:t>
                </a:r>
                <a14:m>
                  <m:oMath xmlns:m="http://schemas.openxmlformats.org/officeDocument/2006/math">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oMath>
                </a14:m>
                <a:r>
                  <a:rPr sz="2400" b="0">
                    <a:solidFill>
                      <a:srgbClr val="78350F"/>
                    </a:solidFill>
                    <a:latin typeface="Arial"/>
                  </a:rPr>
                  <a:t>, variance gives </a:t>
                </a:r>
                <a14:m>
                  <m:oMath xmlns:m="http://schemas.openxmlformats.org/officeDocument/2006/math">
                    <m:sSup>
                      <m:e>
                        <m:r>
                          <a:rPr lang="en-IN" sz="2400" i="1">
                            <a:solidFill>
                              <a:srgbClr val="78350F"/>
                            </a:solidFill>
                            <a:latin typeface="Cambria Math" panose="02040503050406030204" pitchFamily="18" charset="0"/>
                          </a:rPr>
                          <m:t>𝑎</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𝑏</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then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Mean gives </a:t>
                </a:r>
                <a:r>
                  <a:rPr lang="en-IN" sz="2400">
                    <a:solidFill>
                      <a:srgbClr val="78350F"/>
                    </a:solidFill>
                    <a:latin typeface="Cambria Math" panose="02040503050406030204" pitchFamily="18" charset="0"/>
                  </a:rPr>
                  <a:t>$a+b$</a:t>
                </a:r>
                <a:r>
                  <a:rPr sz="2400" b="0">
                    <a:solidFill>
                      <a:srgbClr val="78350F"/>
                    </a:solidFill>
                    <a:latin typeface="Arial"/>
                  </a:rPr>
                  <a:t>, variance gives </a:t>
                </a:r>
                <a:r>
                  <a:rPr lang="en-IN" sz="2400">
                    <a:solidFill>
                      <a:srgbClr val="78350F"/>
                    </a:solidFill>
                    <a:latin typeface="Cambria Math" panose="02040503050406030204" pitchFamily="18" charset="0"/>
                  </a:rPr>
                  <a:t>$a^2+b^2$</a:t>
                </a:r>
                <a:r>
                  <a:rPr sz="2400" b="0">
                    <a:solidFill>
                      <a:srgbClr val="78350F"/>
                    </a:solidFill>
                    <a:latin typeface="Arial"/>
                  </a:rPr>
                  <a:t>, then </a:t>
                </a:r>
                <a:r>
                  <a:rPr lang="en-IN" sz="2400">
                    <a:solidFill>
                      <a:srgbClr val="78350F"/>
                    </a:solidFill>
                    <a:latin typeface="Cambria Math" panose="02040503050406030204" pitchFamily="18" charset="0"/>
                  </a:rPr>
                  <a:t>$(a-b)^2$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Mean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43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Variance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7</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10</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11</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15</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640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49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495</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144</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option (B).</a:t>
                </a:r>
                <a:endParaRPr sz="2400">
                  <a:solidFill>
                    <a:srgbClr val="111827"/>
                  </a:solidFill>
                </a:endParaRPr>
              </a:p>
            </p:txBody>
          </p:sp>
        </mc:Choice>
        <mc:Fallback>
          <p:sp>
            <p:nvSpPr>
              <p:cNvPr id="5" name="Rectangle 4"/>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Mean </a:t>
                </a:r>
                <a:r>
                  <a:rPr lang="en-IN" sz="2400">
                    <a:solidFill>
                      <a:srgbClr val="111827"/>
                    </a:solidFill>
                    <a:latin typeface="Cambria Math" panose="02040503050406030204" pitchFamily="18" charset="0"/>
                  </a:rPr>
                  <a:t>$=\frac{7+10+11+15+a+b}{6}=10$</a:t>
                </a:r>
                <a:r>
                  <a:rPr sz="2400" b="0">
                    <a:solidFill>
                      <a:srgbClr val="111827"/>
                    </a:solidFill>
                    <a:latin typeface="Arial"/>
                  </a:rPr>
                  <a:t>, so </a:t>
                </a:r>
                <a:r>
                  <a:rPr lang="en-IN" sz="2400">
                    <a:solidFill>
                      <a:srgbClr val="111827"/>
                    </a:solidFill>
                    <a:latin typeface="Cambria Math" panose="02040503050406030204" pitchFamily="18" charset="0"/>
                  </a:rPr>
                  <a:t>$43+a+b=60$</a:t>
                </a:r>
                <a:r>
                  <a:rPr sz="2400" b="0">
                    <a:solidFill>
                      <a:srgbClr val="111827"/>
                    </a:solidFill>
                    <a:latin typeface="Arial"/>
                  </a:rPr>
                  <a:t> and </a:t>
                </a:r>
                <a:r>
                  <a:rPr lang="en-IN" sz="2400">
                    <a:solidFill>
                      <a:srgbClr val="111827"/>
                    </a:solidFill>
                    <a:latin typeface="Cambria Math" panose="02040503050406030204" pitchFamily="18" charset="0"/>
                  </a:rPr>
                  <a:t>$a+b=17$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Variance </a:t>
                </a:r>
                <a:r>
                  <a:rPr lang="en-IN" sz="2400">
                    <a:solidFill>
                      <a:srgbClr val="111827"/>
                    </a:solidFill>
                    <a:latin typeface="Cambria Math" panose="02040503050406030204" pitchFamily="18" charset="0"/>
                  </a:rPr>
                  <a:t>$=\frac{7^2+10^2+11^2+15^2+a^2+b^2}{6}-100=\frac{20}{3}$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 x_i^2=6\left(100+\frac{20}{3}\right)=640$</a:t>
                </a:r>
                <a:r>
                  <a:rPr sz="2400" b="0">
                    <a:solidFill>
                      <a:srgbClr val="111827"/>
                    </a:solidFill>
                    <a:latin typeface="Arial"/>
                  </a:rPr>
                  <a:t> and </a:t>
                </a:r>
                <a:r>
                  <a:rPr lang="en-IN" sz="2400">
                    <a:solidFill>
                      <a:srgbClr val="111827"/>
                    </a:solidFill>
                    <a:latin typeface="Cambria Math" panose="02040503050406030204" pitchFamily="18" charset="0"/>
                  </a:rPr>
                  <a:t>$49+100+121+225=495$</a:t>
                </a:r>
                <a:r>
                  <a:rPr sz="2400" b="0">
                    <a:solidFill>
                      <a:srgbClr val="111827"/>
                    </a:solidFill>
                    <a:latin typeface="Arial"/>
                  </a:rPr>
                  <a:t>, so </a:t>
                </a:r>
                <a:r>
                  <a:rPr lang="en-IN" sz="2400">
                    <a:solidFill>
                      <a:srgbClr val="111827"/>
                    </a:solidFill>
                    <a:latin typeface="Cambria Math" panose="02040503050406030204" pitchFamily="18" charset="0"/>
                  </a:rPr>
                  <a:t>$a^2+b^2=145$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$2ab=(a+b)^2-(a^2+b^2)=289-145=144$</a:t>
                </a:r>
                <a:r>
                  <a:rPr sz="2400" b="0">
                    <a:solidFill>
                      <a:srgbClr val="111827"/>
                    </a:solidFill>
                    <a:latin typeface="Arial"/>
                  </a:rPr>
                  <a:t>, so </a:t>
                </a:r>
                <a:r>
                  <a:rPr lang="en-IN" sz="2400">
                    <a:solidFill>
                      <a:srgbClr val="111827"/>
                    </a:solidFill>
                    <a:latin typeface="Cambria Math" panose="02040503050406030204" pitchFamily="18" charset="0"/>
                  </a:rPr>
                  <a:t>$ab=72$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$(a-b)^2=(a+b)^2-4ab=289-288=1$</a:t>
                </a:r>
                <a:r>
                  <a:rPr sz="2400" b="0">
                    <a:solidFill>
                      <a:srgbClr val="111827"/>
                    </a:solidFill>
                    <a:latin typeface="Arial"/>
                  </a:rPr>
                  <a:t>, so </a:t>
                </a:r>
                <a:r>
                  <a:rPr lang="en-IN" sz="2400">
                    <a:solidFill>
                      <a:srgbClr val="111827"/>
                    </a:solidFill>
                    <a:latin typeface="Cambria Math" panose="02040503050406030204" pitchFamily="18" charset="0"/>
                  </a:rPr>
                  <a:t>$|a-b|=1$</a:t>
                </a:r>
                <a:r>
                  <a:rPr sz="2400" b="0">
                    <a:solidFill>
                      <a:srgbClr val="111827"/>
                    </a:solidFill>
                    <a:latin typeface="Arial"/>
                  </a:rPr>
                  <a:t>, option (B).</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1</a:t>
            </a:r>
            <a:endParaRPr sz="2800">
              <a:solidFill>
                <a:srgbClr val="15803D"/>
              </a:solidFill>
            </a:endParaRP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p:sp>
        <p:nvSpPr>
          <p:cNvPr id="5" name="Rounded Rectangle 4"/>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Deviations from the mean 10.</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Known deviations: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with sum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for the unknowns.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m:t>
                    </m:r>
                  </m:oMath>
                </a14:m>
                <a:r>
                  <a:rPr sz="2400" b="0">
                    <a:solidFill>
                      <a:srgbClr val="111827"/>
                    </a:solidFill>
                    <a:latin typeface="Arial"/>
                  </a:rPr>
                  <a:t>; known squares </a:t>
                </a:r>
                <a14:m>
                  <m:oMath xmlns:m="http://schemas.openxmlformats.org/officeDocument/2006/math">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𝑢</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𝑣</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𝑣</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the same answer.</a:t>
                </a:r>
                <a:endParaRPr sz="2400">
                  <a:solidFill>
                    <a:srgbClr val="111827"/>
                  </a:solidFill>
                </a:endParaRPr>
              </a:p>
            </p:txBody>
          </p:sp>
        </mc:Choice>
        <mc:Fallback>
          <p:sp>
            <p:nvSpPr>
              <p:cNvPr id="6" name="Rectangle 5"/>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Known deviations: </a:t>
                </a:r>
                <a:r>
                  <a:rPr lang="en-IN" sz="2400">
                    <a:solidFill>
                      <a:srgbClr val="111827"/>
                    </a:solidFill>
                    <a:latin typeface="Cambria Math" panose="02040503050406030204" pitchFamily="18" charset="0"/>
                  </a:rPr>
                  <a:t>$-3,0,1,5$</a:t>
                </a:r>
                <a:r>
                  <a:rPr sz="2400" b="0">
                    <a:solidFill>
                      <a:srgbClr val="111827"/>
                    </a:solidFill>
                    <a:latin typeface="Arial"/>
                  </a:rPr>
                  <a:t> with sum </a:t>
                </a:r>
                <a:r>
                  <a:rPr lang="en-IN" sz="2400">
                    <a:solidFill>
                      <a:srgbClr val="111827"/>
                    </a:solidFill>
                    <a:latin typeface="Cambria Math" panose="02040503050406030204" pitchFamily="18" charset="0"/>
                  </a:rPr>
                  <a:t>$3$</a:t>
                </a:r>
                <a:r>
                  <a:rPr sz="2400" b="0">
                    <a:solidFill>
                      <a:srgbClr val="111827"/>
                    </a:solidFill>
                    <a:latin typeface="Arial"/>
                  </a:rPr>
                  <a:t>, so </a:t>
                </a:r>
                <a:r>
                  <a:rPr lang="en-IN" sz="2400">
                    <a:solidFill>
                      <a:srgbClr val="111827"/>
                    </a:solidFill>
                    <a:latin typeface="Cambria Math" panose="02040503050406030204" pitchFamily="18" charset="0"/>
                  </a:rPr>
                  <a:t>$u+v=-3$</a:t>
                </a:r>
                <a:r>
                  <a:rPr sz="2400" b="0">
                    <a:solidFill>
                      <a:srgbClr val="111827"/>
                    </a:solidFill>
                    <a:latin typeface="Arial"/>
                  </a:rPr>
                  <a:t> for the unknowns.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 d^2=6\times\frac{20}{3}=40$</a:t>
                </a:r>
                <a:r>
                  <a:rPr sz="2400" b="0">
                    <a:solidFill>
                      <a:srgbClr val="111827"/>
                    </a:solidFill>
                    <a:latin typeface="Arial"/>
                  </a:rPr>
                  <a:t>; known squares </a:t>
                </a:r>
                <a:r>
                  <a:rPr lang="en-IN" sz="2400">
                    <a:solidFill>
                      <a:srgbClr val="111827"/>
                    </a:solidFill>
                    <a:latin typeface="Cambria Math" panose="02040503050406030204" pitchFamily="18" charset="0"/>
                  </a:rPr>
                  <a:t>$9+0+1+25=35$</a:t>
                </a:r>
                <a:r>
                  <a:rPr sz="2400" b="0">
                    <a:solidFill>
                      <a:srgbClr val="111827"/>
                    </a:solidFill>
                    <a:latin typeface="Arial"/>
                  </a:rPr>
                  <a:t>, so </a:t>
                </a:r>
                <a:r>
                  <a:rPr lang="en-IN" sz="2400">
                    <a:solidFill>
                      <a:srgbClr val="111827"/>
                    </a:solidFill>
                    <a:latin typeface="Cambria Math" panose="02040503050406030204" pitchFamily="18" charset="0"/>
                  </a:rPr>
                  <a:t>$u^2+v^2=5$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$(u-v)^2=2\cdot5-9=1$</a:t>
                </a:r>
                <a:r>
                  <a:rPr sz="2400" b="0">
                    <a:solidFill>
                      <a:srgbClr val="111827"/>
                    </a:solidFill>
                    <a:latin typeface="Arial"/>
                  </a:rPr>
                  <a:t>, so </a:t>
                </a:r>
                <a:r>
                  <a:rPr lang="en-IN" sz="2400">
                    <a:solidFill>
                      <a:srgbClr val="111827"/>
                    </a:solidFill>
                    <a:latin typeface="Cambria Math" panose="02040503050406030204" pitchFamily="18" charset="0"/>
                  </a:rPr>
                  <a:t>$|a-b|=1$</a:t>
                </a:r>
                <a:r>
                  <a:rPr sz="2400" b="0">
                    <a:solidFill>
                      <a:srgbClr val="111827"/>
                    </a:solidFill>
                    <a:latin typeface="Arial"/>
                  </a:rPr>
                  <a:t>, the same answer.</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1</a:t>
            </a:r>
            <a:endParaRPr sz="2800">
              <a:solidFill>
                <a:srgbClr val="15803D"/>
              </a:solidFill>
            </a:endParaRP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e>
                    </m:rad>
                  </m:oMath>
                </a14:m>
                <a:r>
                  <a:rPr sz="2400" b="0">
                    <a:solidFill>
                      <a:srgbClr val="111827"/>
                    </a:solidFill>
                    <a:latin typeface="Arial"/>
                  </a:rPr>
                  <a:t>: only the sum and the sum of squares of the two unknowns are needed.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64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145</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$|a-b|=\sqrt{2(a^2+b^2)-(a+b)^2}$</a:t>
                </a:r>
                <a:r>
                  <a:rPr sz="2400" b="0">
                    <a:solidFill>
                      <a:srgbClr val="111827"/>
                    </a:solidFill>
                    <a:latin typeface="Arial"/>
                  </a:rPr>
                  <a:t>: only the sum and the sum of squares of the two unknowns are needed.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a:t>
                </a:r>
                <a:r>
                  <a:rPr lang="en-IN" sz="2400">
                    <a:solidFill>
                      <a:srgbClr val="111827"/>
                    </a:solidFill>
                    <a:latin typeface="Cambria Math" panose="02040503050406030204" pitchFamily="18" charset="0"/>
                  </a:rPr>
                  <a:t>$a,b=8,9$</a:t>
                </a:r>
                <a:r>
                  <a:rPr sz="2400" b="0">
                    <a:solidFill>
                      <a:srgbClr val="111827"/>
                    </a:solidFill>
                    <a:latin typeface="Arial"/>
                  </a:rPr>
                  <a:t> (</a:t>
                </a:r>
                <a:r>
                  <a:rPr lang="en-IN" sz="2400">
                    <a:solidFill>
                      <a:srgbClr val="111827"/>
                    </a:solidFill>
                    <a:latin typeface="Cambria Math" panose="02040503050406030204" pitchFamily="18" charset="0"/>
                  </a:rPr>
                  <a:t>$8+9=17$</a:t>
                </a:r>
                <a:r>
                  <a:rPr sz="2400" b="0">
                    <a:solidFill>
                      <a:srgbClr val="111827"/>
                    </a:solidFill>
                    <a:latin typeface="Arial"/>
                  </a:rPr>
                  <a:t>, </a:t>
                </a:r>
                <a:r>
                  <a:rPr lang="en-IN" sz="2400">
                    <a:solidFill>
                      <a:srgbClr val="111827"/>
                    </a:solidFill>
                    <a:latin typeface="Cambria Math" panose="02040503050406030204" pitchFamily="18" charset="0"/>
                  </a:rPr>
                  <a:t>$64+81=145$</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44348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first of the two samples in a group has 100 items with mean 15 and standard deviation 3. If the whole group has 250 items with mean </a:t>
                </a:r>
                <a14:m>
                  <m:oMath xmlns:m="http://schemas.openxmlformats.org/officeDocument/2006/math">
                    <m:r>
                      <a:rPr lang="en-IN" sz="2400" i="1">
                        <a:solidFill>
                          <a:srgbClr val="111827"/>
                        </a:solidFill>
                        <a:latin typeface="Cambria Math" panose="02040503050406030204" pitchFamily="18" charset="0"/>
                      </a:rPr>
                      <m:t>15.6</m:t>
                    </m:r>
                  </m:oMath>
                </a14:m>
                <a:r>
                  <a:rPr sz="2400" b="0">
                    <a:solidFill>
                      <a:srgbClr val="111827"/>
                    </a:solidFill>
                    <a:latin typeface="Arial"/>
                  </a:rPr>
                  <a:t> and standard deviation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13.44</m:t>
                        </m:r>
                      </m:e>
                    </m:rad>
                  </m:oMath>
                </a14:m>
                <a:r>
                  <a:rPr sz="2400" b="0">
                    <a:solidFill>
                      <a:srgbClr val="111827"/>
                    </a:solidFill>
                    <a:latin typeface="Arial"/>
                  </a:rPr>
                  <a:t>, then the standard deviation of the second sample is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6   (B) 4   (C) 5   (D) 8</a:t>
                </a:r>
                <a:endParaRPr sz="2400">
                  <a:solidFill>
                    <a:srgbClr val="111827"/>
                  </a:solidFill>
                </a:endParaRPr>
              </a:p>
            </p:txBody>
          </p:sp>
        </mc:Choice>
        <mc:Fallback>
          <p:sp>
            <p:nvSpPr>
              <p:cNvPr id="4" name="Rounded Rectangle 3"/>
              <p:cNvSpPr/>
              <p:nvPr/>
            </p:nvSpPr>
            <p:spPr>
              <a:xfrm>
                <a:off x="731520" y="1280160"/>
                <a:ext cx="10725912" cy="244348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first of the two samples in a group has 100 items with mean 15 and standard deviation 3. If the whole group has 250 items with mean </a:t>
                </a:r>
                <a:r>
                  <a:rPr lang="en-IN" sz="2400">
                    <a:solidFill>
                      <a:srgbClr val="111827"/>
                    </a:solidFill>
                    <a:latin typeface="Cambria Math" panose="02040503050406030204" pitchFamily="18" charset="0"/>
                  </a:rPr>
                  <a:t>$15.6$</a:t>
                </a:r>
                <a:r>
                  <a:rPr sz="2400" b="0">
                    <a:solidFill>
                      <a:srgbClr val="111827"/>
                    </a:solidFill>
                    <a:latin typeface="Arial"/>
                  </a:rPr>
                  <a:t> and standard deviation </a:t>
                </a:r>
                <a:r>
                  <a:rPr lang="en-IN" sz="2400">
                    <a:solidFill>
                      <a:srgbClr val="111827"/>
                    </a:solidFill>
                    <a:latin typeface="Cambria Math" panose="02040503050406030204" pitchFamily="18" charset="0"/>
                  </a:rPr>
                  <a:t>$\sqrt{13.44}$</a:t>
                </a:r>
                <a:r>
                  <a:rPr sz="2400" b="0">
                    <a:solidFill>
                      <a:srgbClr val="111827"/>
                    </a:solidFill>
                    <a:latin typeface="Arial"/>
                  </a:rPr>
                  <a:t>, then the standard deviation of the second sample is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6   (B) 4   (C) 5   (D) 8</a:t>
                </a:r>
                <a:endParaRPr sz="2400">
                  <a:solidFill>
                    <a:srgbClr val="111827"/>
                  </a:solidFill>
                </a:endParaRPr>
              </a:p>
            </p:txBody>
          </p:sp>
        </mc:Fallback>
      </mc:AlternateContent>
      <p:sp>
        <p:nvSpPr>
          <p:cNvPr id="5" name="Rectangle 4"/>
          <p:cNvSpPr/>
          <p:nvPr/>
        </p:nvSpPr>
        <p:spPr>
          <a:xfrm>
            <a:off x="731520" y="3952239"/>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Standard deviation of a combined sample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Get the second mean from the combined mean, then the second </a:t>
                </a:r>
                <a14:m>
                  <m:oMath xmlns:m="http://schemas.openxmlformats.org/officeDocument/2006/math">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from the combined </a:t>
                </a:r>
                <a14:m>
                  <m:oMath xmlns:m="http://schemas.openxmlformats.org/officeDocument/2006/math">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Get the second mean from the combined mean, then the second </a:t>
                </a:r>
                <a:r>
                  <a:rPr lang="en-IN" sz="2400">
                    <a:solidFill>
                      <a:srgbClr val="78350F"/>
                    </a:solidFill>
                    <a:latin typeface="Cambria Math" panose="02040503050406030204" pitchFamily="18" charset="0"/>
                  </a:rPr>
                  <a:t>$\sum x^2$</a:t>
                </a:r>
                <a:r>
                  <a:rPr sz="2400" b="0">
                    <a:solidFill>
                      <a:srgbClr val="78350F"/>
                    </a:solidFill>
                    <a:latin typeface="Arial"/>
                  </a:rPr>
                  <a:t> from the combined </a:t>
                </a:r>
                <a:r>
                  <a:rPr lang="en-IN" sz="2400">
                    <a:solidFill>
                      <a:srgbClr val="78350F"/>
                    </a:solidFill>
                    <a:latin typeface="Cambria Math" panose="02040503050406030204" pitchFamily="18" charset="0"/>
                  </a:rPr>
                  <a:t>$\sum x^2$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Second sample has </a:t>
                </a:r>
                <a14:m>
                  <m:oMath xmlns:m="http://schemas.openxmlformats.org/officeDocument/2006/math">
                    <m:r>
                      <a:rPr lang="en-IN" sz="2400" i="1">
                        <a:solidFill>
                          <a:srgbClr val="111827"/>
                        </a:solidFill>
                        <a:latin typeface="Cambria Math" panose="02040503050406030204" pitchFamily="18" charset="0"/>
                      </a:rPr>
                      <m:t>250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150</m:t>
                    </m:r>
                  </m:oMath>
                </a14:m>
                <a:r>
                  <a:rPr sz="2400" b="0">
                    <a:solidFill>
                      <a:srgbClr val="111827"/>
                    </a:solidFill>
                    <a:latin typeface="Arial"/>
                  </a:rPr>
                  <a:t> items. </a:t>
                </a:r>
                <a14:m>
                  <m:oMath xmlns:m="http://schemas.openxmlformats.org/officeDocument/2006/math">
                    <m:r>
                      <a:rPr lang="en-IN" sz="2400" i="1">
                        <a:solidFill>
                          <a:srgbClr val="111827"/>
                        </a:solidFill>
                        <a:latin typeface="Cambria Math" panose="02040503050406030204" pitchFamily="18" charset="0"/>
                      </a:rPr>
                      <m:t>15.6</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150</m:t>
                        </m:r>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e>
                          <m:sub>
                            <m:r>
                              <a:rPr lang="en-IN" sz="2400" i="1">
                                <a:solidFill>
                                  <a:srgbClr val="111827"/>
                                </a:solidFill>
                                <a:latin typeface="Cambria Math" panose="02040503050406030204" pitchFamily="18" charset="0"/>
                              </a:rPr>
                              <m:t>2</m:t>
                            </m:r>
                          </m:sub>
                        </m:sSub>
                      </m:num>
                      <m:den>
                        <m:r>
                          <a:rPr lang="en-IN" sz="2400" i="1">
                            <a:solidFill>
                              <a:srgbClr val="111827"/>
                            </a:solidFill>
                            <a:latin typeface="Cambria Math" panose="02040503050406030204" pitchFamily="18" charset="0"/>
                          </a:rPr>
                          <m:t>250</m:t>
                        </m:r>
                      </m:den>
                    </m:f>
                  </m:oMath>
                </a14:m>
                <a:r>
                  <a:rPr sz="2400" b="0">
                    <a:solidFill>
                      <a:srgbClr val="111827"/>
                    </a:solidFill>
                    <a:latin typeface="Arial"/>
                  </a:rPr>
                  <a:t> gives </a:t>
                </a:r>
                <a14:m>
                  <m:oMath xmlns:m="http://schemas.openxmlformats.org/officeDocument/2006/math">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Combined variance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13.44</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250</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15.6</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13.44</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13.44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243.36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64200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First sample: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𝐼</m:t>
                            </m:r>
                          </m:sub>
                          <m:sup>
                            <m:r>
                              <a:rPr lang="en-IN" sz="2400" i="1">
                                <a:solidFill>
                                  <a:srgbClr val="111827"/>
                                </a:solidFill>
                                <a:latin typeface="Cambria Math" panose="02040503050406030204" pitchFamily="18" charset="0"/>
                              </a:rPr>
                              <m:t>2</m:t>
                            </m:r>
                          </m:sup>
                        </m:sSubSup>
                      </m:num>
                      <m:den>
                        <m:r>
                          <a:rPr lang="en-IN" sz="2400" i="1">
                            <a:solidFill>
                              <a:srgbClr val="111827"/>
                            </a:solidFill>
                            <a:latin typeface="Cambria Math" panose="02040503050406030204" pitchFamily="18" charset="0"/>
                          </a:rPr>
                          <m:t>100</m:t>
                        </m:r>
                      </m:den>
                    </m:f>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15</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𝐼</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23400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Second sample has </a:t>
                </a:r>
                <a:r>
                  <a:rPr lang="en-IN" sz="2400">
                    <a:solidFill>
                      <a:srgbClr val="111827"/>
                    </a:solidFill>
                    <a:latin typeface="Cambria Math" panose="02040503050406030204" pitchFamily="18" charset="0"/>
                  </a:rPr>
                  <a:t>$250-100=150$</a:t>
                </a:r>
                <a:r>
                  <a:rPr sz="2400" b="0">
                    <a:solidFill>
                      <a:srgbClr val="111827"/>
                    </a:solidFill>
                    <a:latin typeface="Arial"/>
                  </a:rPr>
                  <a:t> items. </a:t>
                </a:r>
                <a:r>
                  <a:rPr lang="en-IN" sz="2400">
                    <a:solidFill>
                      <a:srgbClr val="111827"/>
                    </a:solidFill>
                    <a:latin typeface="Cambria Math" panose="02040503050406030204" pitchFamily="18" charset="0"/>
                  </a:rPr>
                  <a:t>$15.6=\frac{100\times15+150\bar{x}_2}{250}$</a:t>
                </a:r>
                <a:r>
                  <a:rPr sz="2400" b="0">
                    <a:solidFill>
                      <a:srgbClr val="111827"/>
                    </a:solidFill>
                    <a:latin typeface="Arial"/>
                  </a:rPr>
                  <a:t> gives </a:t>
                </a:r>
                <a:r>
                  <a:rPr lang="en-IN" sz="2400">
                    <a:solidFill>
                      <a:srgbClr val="111827"/>
                    </a:solidFill>
                    <a:latin typeface="Cambria Math" panose="02040503050406030204" pitchFamily="18" charset="0"/>
                  </a:rPr>
                  <a:t>$\bar{x}_2=16$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Combined variance </a:t>
                </a:r>
                <a:r>
                  <a:rPr lang="en-IN" sz="2400">
                    <a:solidFill>
                      <a:srgbClr val="111827"/>
                    </a:solidFill>
                    <a:latin typeface="Cambria Math" panose="02040503050406030204" pitchFamily="18" charset="0"/>
                  </a:rPr>
                  <a:t>$=13.44$</a:t>
                </a:r>
                <a:r>
                  <a:rPr sz="2400" b="0">
                    <a:solidFill>
                      <a:srgbClr val="111827"/>
                    </a:solidFill>
                    <a:latin typeface="Arial"/>
                  </a:rPr>
                  <a:t>: </a:t>
                </a:r>
                <a:r>
                  <a:rPr lang="en-IN" sz="2400">
                    <a:solidFill>
                      <a:srgbClr val="111827"/>
                    </a:solidFill>
                    <a:latin typeface="Cambria Math" panose="02040503050406030204" pitchFamily="18" charset="0"/>
                  </a:rPr>
                  <a:t>$\frac{\sum x^2}{250}-(15.6)^2=13.44$</a:t>
                </a:r>
                <a:r>
                  <a:rPr sz="2400" b="0">
                    <a:solidFill>
                      <a:srgbClr val="111827"/>
                    </a:solidFill>
                    <a:latin typeface="Arial"/>
                  </a:rPr>
                  <a:t>, so </a:t>
                </a:r>
                <a:r>
                  <a:rPr lang="en-IN" sz="2400">
                    <a:solidFill>
                      <a:srgbClr val="111827"/>
                    </a:solidFill>
                    <a:latin typeface="Cambria Math" panose="02040503050406030204" pitchFamily="18" charset="0"/>
                  </a:rPr>
                  <a:t>$\sum x^2=250(13.44+243.36)=64200$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First sample: </a:t>
                </a:r>
                <a:r>
                  <a:rPr lang="en-IN" sz="2400">
                    <a:solidFill>
                      <a:srgbClr val="111827"/>
                    </a:solidFill>
                    <a:latin typeface="Cambria Math" panose="02040503050406030204" pitchFamily="18" charset="0"/>
                  </a:rPr>
                  <a:t>$\frac{\sum x_I^2}{100}-15^2=9$</a:t>
                </a:r>
                <a:r>
                  <a:rPr sz="2400" b="0">
                    <a:solidFill>
                      <a:srgbClr val="111827"/>
                    </a:solidFill>
                    <a:latin typeface="Arial"/>
                  </a:rPr>
                  <a:t>, so </a:t>
                </a:r>
                <a:r>
                  <a:rPr lang="en-IN" sz="2400">
                    <a:solidFill>
                      <a:srgbClr val="111827"/>
                    </a:solidFill>
                    <a:latin typeface="Cambria Math" panose="02040503050406030204" pitchFamily="18" charset="0"/>
                  </a:rPr>
                  <a:t>$\sum x_I^2=23400$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Second sample: </a:t>
                </a:r>
                <a14:m>
                  <m:oMath xmlns:m="http://schemas.openxmlformats.org/officeDocument/2006/math">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𝐼</m:t>
                        </m:r>
                        <m:r>
                          <a:rPr lang="en-IN" sz="2400" i="1">
                            <a:solidFill>
                              <a:srgbClr val="111827"/>
                            </a:solidFill>
                            <a:latin typeface="Cambria Math" panose="02040503050406030204" pitchFamily="18" charset="0"/>
                          </a:rPr>
                          <m:t>𝐼</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64200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23400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40800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Sup>
                      <m:e>
                        <m:r>
                          <a:rPr lang="en-IN" sz="2400" i="1">
                            <a:solidFill>
                              <a:srgbClr val="111827"/>
                            </a:solidFill>
                            <a:latin typeface="Cambria Math" panose="02040503050406030204" pitchFamily="18" charset="0"/>
                          </a:rPr>
                          <m:t>σ</m:t>
                        </m:r>
                      </m:e>
                      <m:sub>
                        <m:r>
                          <a:rPr lang="en-IN" sz="2400" i="1">
                            <a:solidFill>
                              <a:srgbClr val="111827"/>
                            </a:solidFill>
                            <a:latin typeface="Cambria Math" panose="02040503050406030204" pitchFamily="18" charset="0"/>
                          </a:rPr>
                          <m:t>2</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40800</m:t>
                        </m:r>
                      </m:num>
                      <m:den>
                        <m:r>
                          <a:rPr lang="en-IN" sz="2400" i="1">
                            <a:solidFill>
                              <a:srgbClr val="111827"/>
                            </a:solidFill>
                            <a:latin typeface="Cambria Math" panose="02040503050406030204" pitchFamily="18" charset="0"/>
                          </a:rPr>
                          <m:t>150</m:t>
                        </m:r>
                      </m:den>
                    </m:f>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16</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272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σ</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option (B).</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Second sample: </a:t>
                </a:r>
                <a:r>
                  <a:rPr lang="en-IN" sz="2400">
                    <a:solidFill>
                      <a:srgbClr val="111827"/>
                    </a:solidFill>
                    <a:latin typeface="Cambria Math" panose="02040503050406030204" pitchFamily="18" charset="0"/>
                  </a:rPr>
                  <a:t>$\sum x_{II}^2=64200-23400=40800$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$\sigma_2^2=\frac{40800}{150}-16^2=272-256=16$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$\sigma_2=4$</a:t>
                </a:r>
                <a:r>
                  <a:rPr sz="2400" b="0">
                    <a:solidFill>
                      <a:srgbClr val="111827"/>
                    </a:solidFill>
                    <a:latin typeface="Arial"/>
                  </a:rPr>
                  <a:t>, option (B).</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4</a:t>
            </a:r>
            <a:endParaRPr sz="2800">
              <a:solidFill>
                <a:srgbClr val="15803D"/>
              </a:solidFill>
            </a:endParaRP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the combined-variance (within plus between) formula directly.</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250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13.44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150</m:t>
                    </m:r>
                    <m:sSubSup>
                      <m:e>
                        <m:r>
                          <a:rPr lang="en-IN" sz="2400" i="1">
                            <a:solidFill>
                              <a:srgbClr val="111827"/>
                            </a:solidFill>
                            <a:latin typeface="Cambria Math" panose="02040503050406030204" pitchFamily="18" charset="0"/>
                          </a:rPr>
                          <m:t>σ</m:t>
                        </m:r>
                      </m:e>
                      <m:sub>
                        <m:r>
                          <a:rPr lang="en-IN" sz="2400" i="1">
                            <a:solidFill>
                              <a:srgbClr val="111827"/>
                            </a:solidFill>
                            <a:latin typeface="Cambria Math" panose="02040503050406030204" pitchFamily="18" charset="0"/>
                          </a:rPr>
                          <m:t>2</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150</m:t>
                        </m:r>
                      </m:num>
                      <m:den>
                        <m:r>
                          <a:rPr lang="en-IN" sz="2400" i="1">
                            <a:solidFill>
                              <a:srgbClr val="111827"/>
                            </a:solidFill>
                            <a:latin typeface="Cambria Math" panose="02040503050406030204" pitchFamily="18" charset="0"/>
                          </a:rPr>
                          <m:t>250</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3360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150</m:t>
                    </m:r>
                    <m:sSubSup>
                      <m:e>
                        <m:r>
                          <a:rPr lang="en-IN" sz="2400" i="1">
                            <a:solidFill>
                              <a:srgbClr val="111827"/>
                            </a:solidFill>
                            <a:latin typeface="Cambria Math" panose="02040503050406030204" pitchFamily="18" charset="0"/>
                          </a:rPr>
                          <m:t>σ</m:t>
                        </m:r>
                      </m:e>
                      <m:sub>
                        <m:r>
                          <a:rPr lang="en-IN" sz="2400" i="1">
                            <a:solidFill>
                              <a:srgbClr val="111827"/>
                            </a:solidFill>
                            <a:latin typeface="Cambria Math" panose="02040503050406030204" pitchFamily="18" charset="0"/>
                          </a:rPr>
                          <m:t>2</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150</m:t>
                    </m:r>
                    <m:sSubSup>
                      <m:e>
                        <m:r>
                          <a:rPr lang="en-IN" sz="2400" i="1">
                            <a:solidFill>
                              <a:srgbClr val="111827"/>
                            </a:solidFill>
                            <a:latin typeface="Cambria Math" panose="02040503050406030204" pitchFamily="18" charset="0"/>
                          </a:rPr>
                          <m:t>σ</m:t>
                        </m:r>
                      </m:e>
                      <m:sub>
                        <m:r>
                          <a:rPr lang="en-IN" sz="2400" i="1">
                            <a:solidFill>
                              <a:srgbClr val="111827"/>
                            </a:solidFill>
                            <a:latin typeface="Cambria Math" panose="02040503050406030204" pitchFamily="18" charset="0"/>
                          </a:rPr>
                          <m:t>2</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2400</m:t>
                    </m:r>
                  </m:oMath>
                </a14:m>
                <a:r>
                  <a:rPr sz="2400" b="0">
                    <a:solidFill>
                      <a:srgbClr val="111827"/>
                    </a:solidFill>
                    <a:latin typeface="Arial"/>
                  </a:rPr>
                  <a:t> and </a:t>
                </a:r>
                <a14:m>
                  <m:oMath xmlns:m="http://schemas.openxmlformats.org/officeDocument/2006/math">
                    <m:sSubSup>
                      <m:e>
                        <m:r>
                          <a:rPr lang="en-IN" sz="2400" i="1">
                            <a:solidFill>
                              <a:srgbClr val="111827"/>
                            </a:solidFill>
                            <a:latin typeface="Cambria Math" panose="02040503050406030204" pitchFamily="18" charset="0"/>
                          </a:rPr>
                          <m:t>σ</m:t>
                        </m:r>
                      </m:e>
                      <m:sub>
                        <m:r>
                          <a:rPr lang="en-IN" sz="2400" i="1">
                            <a:solidFill>
                              <a:srgbClr val="111827"/>
                            </a:solidFill>
                            <a:latin typeface="Cambria Math" panose="02040503050406030204" pitchFamily="18" charset="0"/>
                          </a:rPr>
                          <m:t>2</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σ</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the same answer.</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$250\times13.44=100\times9+150\sigma_2^2+\frac{100\times150}{250}(15-16)^2$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$3360=900+150\sigma_2^2+60$</a:t>
                </a:r>
                <a:r>
                  <a:rPr sz="2400" b="0">
                    <a:solidFill>
                      <a:srgbClr val="111827"/>
                    </a:solidFill>
                    <a:latin typeface="Arial"/>
                  </a:rPr>
                  <a:t>, so </a:t>
                </a:r>
                <a:r>
                  <a:rPr lang="en-IN" sz="2400">
                    <a:solidFill>
                      <a:srgbClr val="111827"/>
                    </a:solidFill>
                    <a:latin typeface="Cambria Math" panose="02040503050406030204" pitchFamily="18" charset="0"/>
                  </a:rPr>
                  <a:t>$150\sigma_2^2=2400$</a:t>
                </a:r>
                <a:r>
                  <a:rPr sz="2400" b="0">
                    <a:solidFill>
                      <a:srgbClr val="111827"/>
                    </a:solidFill>
                    <a:latin typeface="Arial"/>
                  </a:rPr>
                  <a:t> and </a:t>
                </a:r>
                <a:r>
                  <a:rPr lang="en-IN" sz="2400">
                    <a:solidFill>
                      <a:srgbClr val="111827"/>
                    </a:solidFill>
                    <a:latin typeface="Cambria Math" panose="02040503050406030204" pitchFamily="18" charset="0"/>
                  </a:rPr>
                  <a:t>$\sigma_2^2=16$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$\sigma_2=4$</a:t>
                </a:r>
                <a:r>
                  <a:rPr sz="2400" b="0">
                    <a:solidFill>
                      <a:srgbClr val="111827"/>
                    </a:solidFill>
                    <a:latin typeface="Arial"/>
                  </a:rPr>
                  <a:t>, the same answer.</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4</a:t>
            </a:r>
            <a:endParaRPr sz="2800">
              <a:solidFill>
                <a:srgbClr val="15803D"/>
              </a:solidFill>
            </a:endParaRP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𝑁</m:t>
                    </m:r>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sSubSup>
                      <m:e>
                        <m:r>
                          <a:rPr lang="en-IN" sz="2400" i="1">
                            <a:solidFill>
                              <a:srgbClr val="111827"/>
                            </a:solidFill>
                            <a:latin typeface="Cambria Math" panose="02040503050406030204" pitchFamily="18" charset="0"/>
                          </a:rPr>
                          <m:t>σ</m:t>
                        </m:r>
                      </m:e>
                      <m:sub>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sSubSup>
                      <m:e>
                        <m:r>
                          <a:rPr lang="en-IN" sz="2400" i="1">
                            <a:solidFill>
                              <a:srgbClr val="111827"/>
                            </a:solidFill>
                            <a:latin typeface="Cambria Math" panose="02040503050406030204" pitchFamily="18" charset="0"/>
                          </a:rPr>
                          <m:t>σ</m:t>
                        </m:r>
                      </m:e>
                      <m:sub>
                        <m:r>
                          <a:rPr lang="en-IN" sz="2400" i="1">
                            <a:solidFill>
                              <a:srgbClr val="111827"/>
                            </a:solidFill>
                            <a:latin typeface="Cambria Math" panose="02040503050406030204" pitchFamily="18" charset="0"/>
                          </a:rPr>
                          <m:t>2</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num>
                      <m:den>
                        <m:r>
                          <a:rPr lang="en-IN" sz="2400" i="1">
                            <a:solidFill>
                              <a:srgbClr val="111827"/>
                            </a:solidFill>
                            <a:latin typeface="Cambria Math" panose="02040503050406030204" pitchFamily="18" charset="0"/>
                          </a:rPr>
                          <m:t>𝑁</m:t>
                        </m:r>
                      </m:den>
                    </m:f>
                    <m:r>
                      <m:rPr>
                        <m:sty m:val="p"/>
                      </m:rPr>
                      <a:rPr lang="en-IN" sz="2400">
                        <a:solidFill>
                          <a:srgbClr val="111827"/>
                        </a:solidFill>
                        <a:latin typeface="Cambria Math" panose="02040503050406030204" pitchFamily="18" charset="0"/>
                      </a:rPr>
                      <m:t>(</m:t>
                    </m:r>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e>
                      <m:sub>
                        <m:r>
                          <a:rPr lang="en-IN" sz="2400" i="1">
                            <a:solidFill>
                              <a:srgbClr val="111827"/>
                            </a:solidFill>
                            <a:latin typeface="Cambria Math" panose="02040503050406030204" pitchFamily="18" charset="0"/>
                          </a:rPr>
                          <m:t>2</m:t>
                        </m:r>
                      </m:sub>
                    </m:sSub>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total variation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within-group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between-group.</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unknown group's mean always comes first from the weighted-mean relation.</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$N\sigma^2=n_1\sigma_1^2+n_2\sigma_2^2+\frac{n_1n_2}{N}(\bar{x}_1-\bar{x}_2)^2$</a:t>
                </a:r>
                <a:r>
                  <a:rPr sz="2400" b="0">
                    <a:solidFill>
                      <a:srgbClr val="111827"/>
                    </a:solidFill>
                    <a:latin typeface="Arial"/>
                  </a:rPr>
                  <a:t>: total variation </a:t>
                </a:r>
                <a:r>
                  <a:rPr lang="en-IN" sz="2400">
                    <a:solidFill>
                      <a:srgbClr val="111827"/>
                    </a:solidFill>
                    <a:latin typeface="Cambria Math" panose="02040503050406030204" pitchFamily="18" charset="0"/>
                  </a:rPr>
                  <a:t>$=$</a:t>
                </a:r>
                <a:r>
                  <a:rPr sz="2400" b="0">
                    <a:solidFill>
                      <a:srgbClr val="111827"/>
                    </a:solidFill>
                    <a:latin typeface="Arial"/>
                  </a:rPr>
                  <a:t> within-group </a:t>
                </a:r>
                <a:r>
                  <a:rPr lang="en-IN" sz="2400">
                    <a:solidFill>
                      <a:srgbClr val="111827"/>
                    </a:solidFill>
                    <a:latin typeface="Cambria Math" panose="02040503050406030204" pitchFamily="18" charset="0"/>
                  </a:rPr>
                  <a:t>$+$</a:t>
                </a:r>
                <a:r>
                  <a:rPr sz="2400" b="0">
                    <a:solidFill>
                      <a:srgbClr val="111827"/>
                    </a:solidFill>
                    <a:latin typeface="Arial"/>
                  </a:rPr>
                  <a:t> between-group.</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unknown group's mean always comes first from the weighted-mean relation.</a:t>
                </a:r>
                <a:endParaRPr sz="2400">
                  <a:solidFill>
                    <a:srgbClr val="111827"/>
                  </a:solidFill>
                </a:endParaRPr>
              </a:p>
            </p:txBody>
          </p:sp>
        </mc:Fallback>
      </mc:AlternateContent>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18135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mean and variance of the following data : </a:t>
                </a:r>
                <a14:m>
                  <m:oMath xmlns:m="http://schemas.openxmlformats.org/officeDocument/2006/math">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 are 9 and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37</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respectively, then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is equal to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12   (B) 24   (C) 16   (D) 32</a:t>
                </a:r>
                <a:endParaRPr sz="2400">
                  <a:solidFill>
                    <a:srgbClr val="111827"/>
                  </a:solidFill>
                </a:endParaRPr>
              </a:p>
            </p:txBody>
          </p:sp>
        </mc:Choice>
        <mc:Fallback>
          <p:sp>
            <p:nvSpPr>
              <p:cNvPr id="4" name="Rounded Rectangle 3"/>
              <p:cNvSpPr/>
              <p:nvPr/>
            </p:nvSpPr>
            <p:spPr>
              <a:xfrm>
                <a:off x="731520" y="1280160"/>
                <a:ext cx="10725912" cy="218135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mean and variance of the following data : </a:t>
                </a:r>
                <a:r>
                  <a:rPr lang="en-IN" sz="2400">
                    <a:solidFill>
                      <a:srgbClr val="111827"/>
                    </a:solidFill>
                    <a:latin typeface="Cambria Math" panose="02040503050406030204" pitchFamily="18" charset="0"/>
                  </a:rPr>
                  <a:t>$6,10,7,13,a,12,b,12$</a:t>
                </a:r>
                <a:r>
                  <a:rPr sz="2400" b="0">
                    <a:solidFill>
                      <a:srgbClr val="111827"/>
                    </a:solidFill>
                    <a:latin typeface="Arial"/>
                  </a:rPr>
                  <a:t> are 9 and </a:t>
                </a:r>
                <a:r>
                  <a:rPr lang="en-IN" sz="2400">
                    <a:solidFill>
                      <a:srgbClr val="111827"/>
                    </a:solidFill>
                    <a:latin typeface="Cambria Math" panose="02040503050406030204" pitchFamily="18" charset="0"/>
                  </a:rPr>
                  <a:t>$\frac{37}{4}$</a:t>
                </a:r>
                <a:r>
                  <a:rPr sz="2400" b="0">
                    <a:solidFill>
                      <a:srgbClr val="111827"/>
                    </a:solidFill>
                    <a:latin typeface="Arial"/>
                  </a:rPr>
                  <a:t> respectively, then </a:t>
                </a:r>
                <a:r>
                  <a:rPr lang="en-IN" sz="2400">
                    <a:solidFill>
                      <a:srgbClr val="111827"/>
                    </a:solidFill>
                    <a:latin typeface="Cambria Math" panose="02040503050406030204" pitchFamily="18" charset="0"/>
                  </a:rPr>
                  <a:t>$(a-b)^2$</a:t>
                </a:r>
                <a:r>
                  <a:rPr sz="2400" b="0">
                    <a:solidFill>
                      <a:srgbClr val="111827"/>
                    </a:solidFill>
                    <a:latin typeface="Arial"/>
                  </a:rPr>
                  <a:t> is equal to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12   (B) 24   (C) 16   (D) 32</a:t>
                </a:r>
                <a:endParaRPr sz="2400">
                  <a:solidFill>
                    <a:srgbClr val="111827"/>
                  </a:solidFill>
                </a:endParaRPr>
              </a:p>
            </p:txBody>
          </p:sp>
        </mc:Fallback>
      </mc:AlternateContent>
      <p:sp>
        <p:nvSpPr>
          <p:cNvPr id="5" name="Rectangle 4"/>
          <p:cNvSpPr/>
          <p:nvPr/>
        </p:nvSpPr>
        <p:spPr>
          <a:xfrm>
            <a:off x="731520" y="3690111"/>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Finding two missing observations from mean and variance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Mean gives </a:t>
                </a:r>
                <a14:m>
                  <m:oMath xmlns:m="http://schemas.openxmlformats.org/officeDocument/2006/math">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12</m:t>
                    </m:r>
                  </m:oMath>
                </a14:m>
                <a:r>
                  <a:rPr sz="2400" b="0">
                    <a:solidFill>
                      <a:srgbClr val="78350F"/>
                    </a:solidFill>
                    <a:latin typeface="Arial"/>
                  </a:rPr>
                  <a:t>; variance gives </a:t>
                </a:r>
                <a14:m>
                  <m:oMath xmlns:m="http://schemas.openxmlformats.org/officeDocument/2006/math">
                    <m:sSup>
                      <m:e>
                        <m:r>
                          <a:rPr lang="en-IN" sz="2400" i="1">
                            <a:solidFill>
                              <a:srgbClr val="78350F"/>
                            </a:solidFill>
                            <a:latin typeface="Cambria Math" panose="02040503050406030204" pitchFamily="18" charset="0"/>
                          </a:rPr>
                          <m:t>𝑎</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𝑏</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80</m:t>
                    </m:r>
                  </m:oMath>
                </a14:m>
                <a:r>
                  <a:rPr sz="2400" b="0">
                    <a:solidFill>
                      <a:srgbClr val="78350F"/>
                    </a:solidFill>
                    <a:latin typeface="Arial"/>
                  </a:rPr>
                  <a:t>; use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𝑎</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𝑏</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Mean gives </a:t>
                </a:r>
                <a:r>
                  <a:rPr lang="en-IN" sz="2400">
                    <a:solidFill>
                      <a:srgbClr val="78350F"/>
                    </a:solidFill>
                    <a:latin typeface="Cambria Math" panose="02040503050406030204" pitchFamily="18" charset="0"/>
                  </a:rPr>
                  <a:t>$a+b=12$</a:t>
                </a:r>
                <a:r>
                  <a:rPr sz="2400" b="0">
                    <a:solidFill>
                      <a:srgbClr val="78350F"/>
                    </a:solidFill>
                    <a:latin typeface="Arial"/>
                  </a:rPr>
                  <a:t>; variance gives </a:t>
                </a:r>
                <a:r>
                  <a:rPr lang="en-IN" sz="2400">
                    <a:solidFill>
                      <a:srgbClr val="78350F"/>
                    </a:solidFill>
                    <a:latin typeface="Cambria Math" panose="02040503050406030204" pitchFamily="18" charset="0"/>
                  </a:rPr>
                  <a:t>$a^2+b^2=80$</a:t>
                </a:r>
                <a:r>
                  <a:rPr sz="2400" b="0">
                    <a:solidFill>
                      <a:srgbClr val="78350F"/>
                    </a:solidFill>
                    <a:latin typeface="Arial"/>
                  </a:rPr>
                  <a:t>; use </a:t>
                </a:r>
                <a:r>
                  <a:rPr lang="en-IN" sz="2400">
                    <a:solidFill>
                      <a:srgbClr val="78350F"/>
                    </a:solidFill>
                    <a:latin typeface="Cambria Math" panose="02040503050406030204" pitchFamily="18" charset="0"/>
                  </a:rPr>
                  <a:t>$(a-b)^2=2(a^2+b^2)-(a+b)^2$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Mean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num>
                      <m:den>
                        <m:r>
                          <a:rPr lang="en-IN" sz="2400" i="1">
                            <a:solidFill>
                              <a:srgbClr val="111827"/>
                            </a:solidFill>
                            <a:latin typeface="Cambria Math" panose="02040503050406030204" pitchFamily="18" charset="0"/>
                          </a:rPr>
                          <m:t>8</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72</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Variance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6</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10</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7</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13</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12</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12</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8</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37</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642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8</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37</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361</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642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722</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 option (C).</a:t>
                </a:r>
                <a:endParaRPr sz="2400">
                  <a:solidFill>
                    <a:srgbClr val="111827"/>
                  </a:solidFill>
                </a:endParaRPr>
              </a:p>
            </p:txBody>
          </p:sp>
        </mc:Choice>
        <mc:Fallback>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Mean </a:t>
                </a:r>
                <a:r>
                  <a:rPr lang="en-IN" sz="2400">
                    <a:solidFill>
                      <a:srgbClr val="111827"/>
                    </a:solidFill>
                    <a:latin typeface="Cambria Math" panose="02040503050406030204" pitchFamily="18" charset="0"/>
                  </a:rPr>
                  <a:t>$=\frac{6+10+7+13+a+12+b+12}{8}=9$</a:t>
                </a:r>
                <a:r>
                  <a:rPr sz="2400" b="0">
                    <a:solidFill>
                      <a:srgbClr val="111827"/>
                    </a:solidFill>
                    <a:latin typeface="Arial"/>
                  </a:rPr>
                  <a:t>, so </a:t>
                </a:r>
                <a:r>
                  <a:rPr lang="en-IN" sz="2400">
                    <a:solidFill>
                      <a:srgbClr val="111827"/>
                    </a:solidFill>
                    <a:latin typeface="Cambria Math" panose="02040503050406030204" pitchFamily="18" charset="0"/>
                  </a:rPr>
                  <a:t>$60+a+b=72$</a:t>
                </a:r>
                <a:r>
                  <a:rPr sz="2400" b="0">
                    <a:solidFill>
                      <a:srgbClr val="111827"/>
                    </a:solidFill>
                    <a:latin typeface="Arial"/>
                  </a:rPr>
                  <a:t> and </a:t>
                </a:r>
                <a:r>
                  <a:rPr lang="en-IN" sz="2400">
                    <a:solidFill>
                      <a:srgbClr val="111827"/>
                    </a:solidFill>
                    <a:latin typeface="Cambria Math" panose="02040503050406030204" pitchFamily="18" charset="0"/>
                  </a:rPr>
                  <a:t>$a+b=12$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Variance </a:t>
                </a:r>
                <a:r>
                  <a:rPr lang="en-IN" sz="2400">
                    <a:solidFill>
                      <a:srgbClr val="111827"/>
                    </a:solidFill>
                    <a:latin typeface="Cambria Math" panose="02040503050406030204" pitchFamily="18" charset="0"/>
                  </a:rPr>
                  <a:t>$=\frac{6^2+10^2+7^2+13^2+a^2+12^2+b^2+12^2}{8}-81=\frac{37}{4}$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$\frac{642+a^2+b^2}{8}=81+\frac{37}{4}=\frac{361}{4}$</a:t>
                </a:r>
                <a:r>
                  <a:rPr sz="2400" b="0">
                    <a:solidFill>
                      <a:srgbClr val="111827"/>
                    </a:solidFill>
                    <a:latin typeface="Arial"/>
                  </a:rPr>
                  <a:t>, so </a:t>
                </a:r>
                <a:r>
                  <a:rPr lang="en-IN" sz="2400">
                    <a:solidFill>
                      <a:srgbClr val="111827"/>
                    </a:solidFill>
                    <a:latin typeface="Cambria Math" panose="02040503050406030204" pitchFamily="18" charset="0"/>
                  </a:rPr>
                  <a:t>$642+a^2+b^2=722$</a:t>
                </a:r>
                <a:r>
                  <a:rPr sz="2400" b="0">
                    <a:solidFill>
                      <a:srgbClr val="111827"/>
                    </a:solidFill>
                    <a:latin typeface="Arial"/>
                  </a:rPr>
                  <a:t> and </a:t>
                </a:r>
                <a:r>
                  <a:rPr lang="en-IN" sz="2400">
                    <a:solidFill>
                      <a:srgbClr val="111827"/>
                    </a:solidFill>
                    <a:latin typeface="Cambria Math" panose="02040503050406030204" pitchFamily="18" charset="0"/>
                  </a:rPr>
                  <a:t>$a^2+b^2=80$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$(a-b)^2+(a+b)^2=2(a^2+b^2)$</a:t>
                </a:r>
                <a:r>
                  <a:rPr sz="2400" b="0">
                    <a:solidFill>
                      <a:srgbClr val="111827"/>
                    </a:solidFill>
                    <a:latin typeface="Arial"/>
                  </a:rPr>
                  <a:t>, so </a:t>
                </a:r>
                <a:r>
                  <a:rPr lang="en-IN" sz="2400">
                    <a:solidFill>
                      <a:srgbClr val="111827"/>
                    </a:solidFill>
                    <a:latin typeface="Cambria Math" panose="02040503050406030204" pitchFamily="18" charset="0"/>
                  </a:rPr>
                  <a:t>$(a-b)^2=160-144=16$</a:t>
                </a:r>
                <a:r>
                  <a:rPr sz="2400" b="0">
                    <a:solidFill>
                      <a:srgbClr val="111827"/>
                    </a:solidFill>
                    <a:latin typeface="Arial"/>
                  </a:rPr>
                  <a:t>, option (C).</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16</a:t>
            </a:r>
            <a:endParaRPr sz="2800">
              <a:solidFill>
                <a:srgbClr val="15803D"/>
              </a:solidFill>
            </a:endParaRP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p:sp>
        <p:nvSpPr>
          <p:cNvPr id="5" name="Rounded Rectangle 4"/>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Deviations from the mean 9.</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Known deviations: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with sum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37</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74</m:t>
                    </m:r>
                  </m:oMath>
                </a14:m>
                <a:r>
                  <a:rPr sz="2400" b="0">
                    <a:solidFill>
                      <a:srgbClr val="111827"/>
                    </a:solidFill>
                    <a:latin typeface="Arial"/>
                  </a:rPr>
                  <a:t>; known squares </a:t>
                </a:r>
                <a14:m>
                  <m:oMath xmlns:m="http://schemas.openxmlformats.org/officeDocument/2006/math">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48</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𝑢</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𝑣</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𝑣</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 the same answer.</a:t>
                </a:r>
                <a:endParaRPr sz="2400">
                  <a:solidFill>
                    <a:srgbClr val="111827"/>
                  </a:solidFill>
                </a:endParaRPr>
              </a:p>
            </p:txBody>
          </p:sp>
        </mc:Choice>
        <mc:Fallback>
          <p:sp>
            <p:nvSpPr>
              <p:cNvPr id="6" name="Rectangle 5"/>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Known deviations: </a:t>
                </a:r>
                <a:r>
                  <a:rPr lang="en-IN" sz="2400">
                    <a:solidFill>
                      <a:srgbClr val="111827"/>
                    </a:solidFill>
                    <a:latin typeface="Cambria Math" panose="02040503050406030204" pitchFamily="18" charset="0"/>
                  </a:rPr>
                  <a:t>$-3,1,-2,4,3,3$</a:t>
                </a:r>
                <a:r>
                  <a:rPr sz="2400" b="0">
                    <a:solidFill>
                      <a:srgbClr val="111827"/>
                    </a:solidFill>
                    <a:latin typeface="Arial"/>
                  </a:rPr>
                  <a:t> with sum </a:t>
                </a:r>
                <a:r>
                  <a:rPr lang="en-IN" sz="2400">
                    <a:solidFill>
                      <a:srgbClr val="111827"/>
                    </a:solidFill>
                    <a:latin typeface="Cambria Math" panose="02040503050406030204" pitchFamily="18" charset="0"/>
                  </a:rPr>
                  <a:t>$6$</a:t>
                </a:r>
                <a:r>
                  <a:rPr sz="2400" b="0">
                    <a:solidFill>
                      <a:srgbClr val="111827"/>
                    </a:solidFill>
                    <a:latin typeface="Arial"/>
                  </a:rPr>
                  <a:t>, so </a:t>
                </a:r>
                <a:r>
                  <a:rPr lang="en-IN" sz="2400">
                    <a:solidFill>
                      <a:srgbClr val="111827"/>
                    </a:solidFill>
                    <a:latin typeface="Cambria Math" panose="02040503050406030204" pitchFamily="18" charset="0"/>
                  </a:rPr>
                  <a:t>$u+v=-6$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 d^2=8\times\frac{37}{4}=74$</a:t>
                </a:r>
                <a:r>
                  <a:rPr sz="2400" b="0">
                    <a:solidFill>
                      <a:srgbClr val="111827"/>
                    </a:solidFill>
                    <a:latin typeface="Arial"/>
                  </a:rPr>
                  <a:t>; known squares </a:t>
                </a:r>
                <a:r>
                  <a:rPr lang="en-IN" sz="2400">
                    <a:solidFill>
                      <a:srgbClr val="111827"/>
                    </a:solidFill>
                    <a:latin typeface="Cambria Math" panose="02040503050406030204" pitchFamily="18" charset="0"/>
                  </a:rPr>
                  <a:t>$9+1+4+16+9+9=48$</a:t>
                </a:r>
                <a:r>
                  <a:rPr sz="2400" b="0">
                    <a:solidFill>
                      <a:srgbClr val="111827"/>
                    </a:solidFill>
                    <a:latin typeface="Arial"/>
                  </a:rPr>
                  <a:t>, so </a:t>
                </a:r>
                <a:r>
                  <a:rPr lang="en-IN" sz="2400">
                    <a:solidFill>
                      <a:srgbClr val="111827"/>
                    </a:solidFill>
                    <a:latin typeface="Cambria Math" panose="02040503050406030204" pitchFamily="18" charset="0"/>
                  </a:rPr>
                  <a:t>$u^2+v^2=26$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$(u-v)^2=2\cdot26-36=16$</a:t>
                </a:r>
                <a:r>
                  <a:rPr sz="2400" b="0">
                    <a:solidFill>
                      <a:srgbClr val="111827"/>
                    </a:solidFill>
                    <a:latin typeface="Arial"/>
                  </a:rPr>
                  <a:t>, so </a:t>
                </a:r>
                <a:r>
                  <a:rPr lang="en-IN" sz="2400">
                    <a:solidFill>
                      <a:srgbClr val="111827"/>
                    </a:solidFill>
                    <a:latin typeface="Cambria Math" panose="02040503050406030204" pitchFamily="18" charset="0"/>
                  </a:rPr>
                  <a:t>$(a-b)^2=16$</a:t>
                </a:r>
                <a:r>
                  <a:rPr sz="2400" b="0">
                    <a:solidFill>
                      <a:srgbClr val="111827"/>
                    </a:solidFill>
                    <a:latin typeface="Arial"/>
                  </a:rPr>
                  <a:t>, the same answer.</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16</a:t>
            </a:r>
            <a:endParaRPr sz="2800">
              <a:solidFill>
                <a:srgbClr val="15803D"/>
              </a:solidFill>
            </a:endParaRP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Identity: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Identity: </a:t>
                </a:r>
                <a:r>
                  <a:rPr lang="en-IN" sz="2400">
                    <a:solidFill>
                      <a:srgbClr val="111827"/>
                    </a:solidFill>
                    <a:latin typeface="Cambria Math" panose="02040503050406030204" pitchFamily="18" charset="0"/>
                  </a:rPr>
                  <a:t>$(a-b)^2=2(a^2+b^2)-(a+b)^2$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a:t>
                </a:r>
                <a:r>
                  <a:rPr lang="en-IN" sz="2400">
                    <a:solidFill>
                      <a:srgbClr val="111827"/>
                    </a:solidFill>
                    <a:latin typeface="Cambria Math" panose="02040503050406030204" pitchFamily="18" charset="0"/>
                  </a:rPr>
                  <a:t>$a,b=8,4$</a:t>
                </a:r>
                <a:r>
                  <a:rPr sz="2400" b="0">
                    <a:solidFill>
                      <a:srgbClr val="111827"/>
                    </a:solidFill>
                    <a:latin typeface="Arial"/>
                  </a:rPr>
                  <a:t> (so </a:t>
                </a:r>
                <a:r>
                  <a:rPr lang="en-IN" sz="2400">
                    <a:solidFill>
                      <a:srgbClr val="111827"/>
                    </a:solidFill>
                    <a:latin typeface="Cambria Math" panose="02040503050406030204" pitchFamily="18" charset="0"/>
                  </a:rPr>
                  <a:t>$a+b=12$</a:t>
                </a:r>
                <a:r>
                  <a:rPr sz="2400" b="0">
                    <a:solidFill>
                      <a:srgbClr val="111827"/>
                    </a:solidFill>
                    <a:latin typeface="Arial"/>
                  </a:rPr>
                  <a:t>, </a:t>
                </a:r>
                <a:r>
                  <a:rPr lang="en-IN" sz="2400">
                    <a:solidFill>
                      <a:srgbClr val="111827"/>
                    </a:solidFill>
                    <a:latin typeface="Cambria Math" panose="02040503050406030204" pitchFamily="18" charset="0"/>
                  </a:rPr>
                  <a:t>$a^2+b^2=80$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55320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the mean and variance of the frequency distribution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oMath>
                </a14:m>
                <a:r>
                  <a:rPr sz="2400" b="0">
                    <a:solidFill>
                      <a:srgbClr val="111827"/>
                    </a:solidFill>
                    <a:latin typeface="Arial"/>
                  </a:rPr>
                  <a:t> be 6 and </a:t>
                </a:r>
                <a14:m>
                  <m:oMath xmlns:m="http://schemas.openxmlformats.org/officeDocument/2006/math">
                    <m:r>
                      <a:rPr lang="en-IN" sz="2400" i="1">
                        <a:solidFill>
                          <a:srgbClr val="111827"/>
                        </a:solidFill>
                        <a:latin typeface="Cambria Math" panose="02040503050406030204" pitchFamily="18" charset="0"/>
                      </a:rPr>
                      <m:t>6.8</m:t>
                    </m:r>
                  </m:oMath>
                </a14:m>
                <a:r>
                  <a:rPr sz="2400" b="0">
                    <a:solidFill>
                      <a:srgbClr val="111827"/>
                    </a:solidFill>
                    <a:latin typeface="Arial"/>
                  </a:rPr>
                  <a:t> respectively. If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3</m:t>
                        </m:r>
                      </m:sub>
                    </m:sSub>
                  </m:oMath>
                </a14:m>
                <a:r>
                  <a:rPr sz="2400" b="0">
                    <a:solidFill>
                      <a:srgbClr val="111827"/>
                    </a:solidFill>
                    <a:latin typeface="Arial"/>
                  </a:rPr>
                  <a:t> is changed from 8 to 7, then the mean for the new data will be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5   (B) 4   (C)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16</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17</m:t>
                        </m:r>
                      </m:num>
                      <m:den>
                        <m:r>
                          <a:rPr lang="en-IN" sz="2400" i="1">
                            <a:solidFill>
                              <a:srgbClr val="111827"/>
                            </a:solidFill>
                            <a:latin typeface="Cambria Math" panose="02040503050406030204" pitchFamily="18" charset="0"/>
                          </a:rPr>
                          <m:t>3</m:t>
                        </m:r>
                      </m:den>
                    </m:f>
                  </m:oMath>
                </a14:m>
                <a:endParaRPr sz="2400">
                  <a:solidFill>
                    <a:srgbClr val="111827"/>
                  </a:solidFill>
                </a:endParaRPr>
              </a:p>
            </p:txBody>
          </p:sp>
        </mc:Choice>
        <mc:Fallback>
          <p:sp>
            <p:nvSpPr>
              <p:cNvPr id="4" name="Rounded Rectangle 3"/>
              <p:cNvSpPr/>
              <p:nvPr/>
            </p:nvSpPr>
            <p:spPr>
              <a:xfrm>
                <a:off x="731520" y="1280160"/>
                <a:ext cx="10725912" cy="255320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the mean and variance of the frequency distribution </a:t>
                </a:r>
                <a:r>
                  <a:rPr lang="en-IN" sz="2400">
                    <a:solidFill>
                      <a:srgbClr val="111827"/>
                    </a:solidFill>
                    <a:latin typeface="Cambria Math" panose="02040503050406030204" pitchFamily="18" charset="0"/>
                  </a:rPr>
                  <a:t>$x:\ 2,6,8,9$</a:t>
                </a:r>
                <a:r>
                  <a:rPr sz="2400" b="0">
                    <a:solidFill>
                      <a:srgbClr val="111827"/>
                    </a:solidFill>
                    <a:latin typeface="Arial"/>
                  </a:rPr>
                  <a:t> with </a:t>
                </a:r>
                <a:r>
                  <a:rPr lang="en-IN" sz="2400">
                    <a:solidFill>
                      <a:srgbClr val="111827"/>
                    </a:solidFill>
                    <a:latin typeface="Cambria Math" panose="02040503050406030204" pitchFamily="18" charset="0"/>
                  </a:rPr>
                  <a:t>$f:\ 4,4,\alpha,\beta$</a:t>
                </a:r>
                <a:r>
                  <a:rPr sz="2400" b="0">
                    <a:solidFill>
                      <a:srgbClr val="111827"/>
                    </a:solidFill>
                    <a:latin typeface="Arial"/>
                  </a:rPr>
                  <a:t> be 6 and </a:t>
                </a:r>
                <a:r>
                  <a:rPr lang="en-IN" sz="2400">
                    <a:solidFill>
                      <a:srgbClr val="111827"/>
                    </a:solidFill>
                    <a:latin typeface="Cambria Math" panose="02040503050406030204" pitchFamily="18" charset="0"/>
                  </a:rPr>
                  <a:t>$6.8$</a:t>
                </a:r>
                <a:r>
                  <a:rPr sz="2400" b="0">
                    <a:solidFill>
                      <a:srgbClr val="111827"/>
                    </a:solidFill>
                    <a:latin typeface="Arial"/>
                  </a:rPr>
                  <a:t> respectively. If </a:t>
                </a:r>
                <a:r>
                  <a:rPr lang="en-IN" sz="2400">
                    <a:solidFill>
                      <a:srgbClr val="111827"/>
                    </a:solidFill>
                    <a:latin typeface="Cambria Math" panose="02040503050406030204" pitchFamily="18" charset="0"/>
                  </a:rPr>
                  <a:t>$x_3$</a:t>
                </a:r>
                <a:r>
                  <a:rPr sz="2400" b="0">
                    <a:solidFill>
                      <a:srgbClr val="111827"/>
                    </a:solidFill>
                    <a:latin typeface="Arial"/>
                  </a:rPr>
                  <a:t> is changed from 8 to 7, then the mean for the new data will be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5   (B) 4   (C) </a:t>
                </a:r>
                <a:r>
                  <a:rPr lang="en-IN" sz="2400">
                    <a:solidFill>
                      <a:srgbClr val="111827"/>
                    </a:solidFill>
                    <a:latin typeface="Cambria Math" panose="02040503050406030204" pitchFamily="18" charset="0"/>
                  </a:rPr>
                  <a:t>$\frac{16}{3}$</a:t>
                </a:r>
                <a:r>
                  <a:rPr sz="2400" b="0">
                    <a:solidFill>
                      <a:srgbClr val="111827"/>
                    </a:solidFill>
                    <a:latin typeface="Arial"/>
                  </a:rPr>
                  <a:t>   (D) </a:t>
                </a:r>
                <a:r>
                  <a:rPr lang="en-IN" sz="2400">
                    <a:solidFill>
                      <a:srgbClr val="111827"/>
                    </a:solidFill>
                    <a:latin typeface="Cambria Math" panose="02040503050406030204" pitchFamily="18" charset="0"/>
                  </a:rPr>
                  <a:t>$\frac{17}{3}$</a:t>
                </a:r>
                <a:endParaRPr sz="2400">
                  <a:solidFill>
                    <a:srgbClr val="111827"/>
                  </a:solidFill>
                </a:endParaRPr>
              </a:p>
            </p:txBody>
          </p:sp>
        </mc:Fallback>
      </mc:AlternateContent>
      <p:sp>
        <p:nvSpPr>
          <p:cNvPr id="5" name="Rectangle 4"/>
          <p:cNvSpPr/>
          <p:nvPr/>
        </p:nvSpPr>
        <p:spPr>
          <a:xfrm>
            <a:off x="731520" y="4061968"/>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Mean and variance of a frequency distribution with unknown frequencies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Mean and variance give two conditions for </a:t>
                </a:r>
                <a14:m>
                  <m:oMath xmlns:m="http://schemas.openxmlformats.org/officeDocument/2006/math">
                    <m:r>
                      <a:rPr lang="en-IN" sz="2400" i="1">
                        <a:solidFill>
                          <a:srgbClr val="78350F"/>
                        </a:solidFill>
                        <a:latin typeface="Cambria Math" panose="02040503050406030204" pitchFamily="18" charset="0"/>
                      </a:rPr>
                      <m:t>α</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β</m:t>
                    </m:r>
                  </m:oMath>
                </a14:m>
                <a:r>
                  <a:rPr sz="2400" b="0">
                    <a:solidFill>
                      <a:srgbClr val="78350F"/>
                    </a:solidFill>
                    <a:latin typeface="Arial"/>
                  </a:rPr>
                  <a:t>; then recompute the mean with </a:t>
                </a:r>
                <a14:m>
                  <m:oMath xmlns:m="http://schemas.openxmlformats.org/officeDocument/2006/math">
                    <m:sSub>
                      <m:e>
                        <m:r>
                          <a:rPr lang="en-IN" sz="2400" i="1">
                            <a:solidFill>
                              <a:srgbClr val="78350F"/>
                            </a:solidFill>
                            <a:latin typeface="Cambria Math" panose="02040503050406030204" pitchFamily="18" charset="0"/>
                          </a:rPr>
                          <m:t>𝑥</m:t>
                        </m:r>
                      </m:e>
                      <m:sub>
                        <m:r>
                          <a:rPr lang="en-IN" sz="2400" i="1">
                            <a:solidFill>
                              <a:srgbClr val="78350F"/>
                            </a:solidFill>
                            <a:latin typeface="Cambria Math" panose="02040503050406030204" pitchFamily="18" charset="0"/>
                          </a:rPr>
                          <m:t>3</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7</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Mean and variance give two conditions for </a:t>
                </a:r>
                <a:r>
                  <a:rPr lang="en-IN" sz="2400">
                    <a:solidFill>
                      <a:srgbClr val="78350F"/>
                    </a:solidFill>
                    <a:latin typeface="Cambria Math" panose="02040503050406030204" pitchFamily="18" charset="0"/>
                  </a:rPr>
                  <a:t>$\alpha,\beta$</a:t>
                </a:r>
                <a:r>
                  <a:rPr sz="2400" b="0">
                    <a:solidFill>
                      <a:srgbClr val="78350F"/>
                    </a:solidFill>
                    <a:latin typeface="Arial"/>
                  </a:rPr>
                  <a:t>; then recompute the mean with </a:t>
                </a:r>
                <a:r>
                  <a:rPr lang="en-IN" sz="2400">
                    <a:solidFill>
                      <a:srgbClr val="78350F"/>
                    </a:solidFill>
                    <a:latin typeface="Cambria Math" panose="02040503050406030204" pitchFamily="18" charset="0"/>
                  </a:rPr>
                  <a:t>$x_3=7$</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𝑓</m:t>
                            </m:r>
                          </m:e>
                          <m:sub>
                            <m:r>
                              <a:rPr lang="en-IN" sz="2400" i="1">
                                <a:solidFill>
                                  <a:srgbClr val="111827"/>
                                </a:solidFill>
                                <a:latin typeface="Cambria Math" panose="02040503050406030204" pitchFamily="18" charset="0"/>
                              </a:rPr>
                              <m:t>𝑖</m:t>
                            </m:r>
                          </m:sub>
                        </m:sSub>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num>
                      <m:den>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𝑓</m:t>
                            </m:r>
                          </m:e>
                          <m:sub>
                            <m:r>
                              <a:rPr lang="en-IN" sz="2400" i="1">
                                <a:solidFill>
                                  <a:srgbClr val="111827"/>
                                </a:solidFill>
                                <a:latin typeface="Cambria Math" panose="02040503050406030204" pitchFamily="18" charset="0"/>
                              </a:rPr>
                              <m:t>𝑖</m:t>
                            </m:r>
                          </m:sub>
                        </m:sSub>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β</m:t>
                        </m:r>
                      </m:num>
                      <m:den>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32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β</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 ... (i).</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𝑓</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μ</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num>
                      <m:den>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𝑓</m:t>
                            </m:r>
                          </m:e>
                          <m:sub>
                            <m:r>
                              <a:rPr lang="en-IN" sz="2400" i="1">
                                <a:solidFill>
                                  <a:srgbClr val="111827"/>
                                </a:solidFill>
                                <a:latin typeface="Cambria Math" panose="02040503050406030204" pitchFamily="18" charset="0"/>
                              </a:rPr>
                              <m:t>𝑖</m:t>
                            </m:r>
                          </m:sub>
                        </m:sSub>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6.8</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34</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14</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48</m:t>
                    </m:r>
                  </m:oMath>
                </a14:m>
                <a:r>
                  <a:rPr sz="2400" b="0">
                    <a:solidFill>
                      <a:srgbClr val="111827"/>
                    </a:solidFill>
                    <a:latin typeface="Arial"/>
                  </a:rPr>
                  <a:t> ... (ii).</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$\mu=\frac{\sum f_ix_i}{\sum f_i}=\frac{2\cdot4+6\cdot4+8\alpha+9\beta}{8+\alpha+\beta}=6$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$32+8\alpha+9\beta=48+6\alpha+6\beta$</a:t>
                </a:r>
                <a:r>
                  <a:rPr sz="2400" b="0">
                    <a:solidFill>
                      <a:srgbClr val="111827"/>
                    </a:solidFill>
                    <a:latin typeface="Arial"/>
                  </a:rPr>
                  <a:t>, so </a:t>
                </a:r>
                <a:r>
                  <a:rPr lang="en-IN" sz="2400">
                    <a:solidFill>
                      <a:srgbClr val="111827"/>
                    </a:solidFill>
                    <a:latin typeface="Cambria Math" panose="02040503050406030204" pitchFamily="18" charset="0"/>
                  </a:rPr>
                  <a:t>$2\alpha+3\beta=16$</a:t>
                </a:r>
                <a:r>
                  <a:rPr sz="2400" b="0">
                    <a:solidFill>
                      <a:srgbClr val="111827"/>
                    </a:solidFill>
                    <a:latin typeface="Arial"/>
                  </a:rPr>
                  <a:t> ... (i).</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$\sigma^2=\frac{\sum f_i(x_i-\mu)^2}{\sum f_i}=\frac{4\cdot16+4\cdot0+\alpha\cdot4+\beta\cdot9}{8+\alpha+\beta}=6.8=\frac{34}{5}$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$5(64+4\alpha+9\beta)=34(8+\alpha+\beta)$</a:t>
                </a:r>
                <a:r>
                  <a:rPr sz="2400" b="0">
                    <a:solidFill>
                      <a:srgbClr val="111827"/>
                    </a:solidFill>
                    <a:latin typeface="Arial"/>
                  </a:rPr>
                  <a:t>, so </a:t>
                </a:r>
                <a:r>
                  <a:rPr lang="en-IN" sz="2400">
                    <a:solidFill>
                      <a:srgbClr val="111827"/>
                    </a:solidFill>
                    <a:latin typeface="Cambria Math" panose="02040503050406030204" pitchFamily="18" charset="0"/>
                  </a:rPr>
                  <a:t>$14\alpha-11\beta=48$</a:t>
                </a:r>
                <a:r>
                  <a:rPr sz="2400" b="0">
                    <a:solidFill>
                      <a:srgbClr val="111827"/>
                    </a:solidFill>
                    <a:latin typeface="Arial"/>
                  </a:rPr>
                  <a:t> ... (ii).</a:t>
                </a:r>
                <a:endParaRPr sz="2400">
                  <a:solidFill>
                    <a:srgbClr val="111827"/>
                  </a:solidFill>
                </a:endParaRPr>
              </a:p>
            </p:txBody>
          </p:sp>
        </mc:Fallback>
      </mc:AlternateContent>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Solving (i) and (ii):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(check (i): </a:t>
                </a:r>
                <a14:m>
                  <m:oMath xmlns:m="http://schemas.openxmlformats.org/officeDocument/2006/math">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 ✓).</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New data: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with frequency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total frequency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New mean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85</m:t>
                        </m:r>
                      </m:num>
                      <m:den>
                        <m:r>
                          <a:rPr lang="en-IN" sz="2400" i="1">
                            <a:solidFill>
                              <a:srgbClr val="111827"/>
                            </a:solidFill>
                            <a:latin typeface="Cambria Math" panose="02040503050406030204" pitchFamily="18" charset="0"/>
                          </a:rPr>
                          <m:t>15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17</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option (D).</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Solving (i) and (ii): </a:t>
                </a:r>
                <a:r>
                  <a:rPr lang="en-IN" sz="2400">
                    <a:solidFill>
                      <a:srgbClr val="111827"/>
                    </a:solidFill>
                    <a:latin typeface="Cambria Math" panose="02040503050406030204" pitchFamily="18" charset="0"/>
                  </a:rPr>
                  <a:t>$\alpha=5$</a:t>
                </a:r>
                <a:r>
                  <a:rPr sz="2400" b="0">
                    <a:solidFill>
                      <a:srgbClr val="111827"/>
                    </a:solidFill>
                    <a:latin typeface="Arial"/>
                  </a:rPr>
                  <a:t>, </a:t>
                </a:r>
                <a:r>
                  <a:rPr lang="en-IN" sz="2400">
                    <a:solidFill>
                      <a:srgbClr val="111827"/>
                    </a:solidFill>
                    <a:latin typeface="Cambria Math" panose="02040503050406030204" pitchFamily="18" charset="0"/>
                  </a:rPr>
                  <a:t>$\beta=2$</a:t>
                </a:r>
                <a:r>
                  <a:rPr sz="2400" b="0">
                    <a:solidFill>
                      <a:srgbClr val="111827"/>
                    </a:solidFill>
                    <a:latin typeface="Arial"/>
                  </a:rPr>
                  <a:t> (check (i): </a:t>
                </a:r>
                <a:r>
                  <a:rPr lang="en-IN" sz="2400">
                    <a:solidFill>
                      <a:srgbClr val="111827"/>
                    </a:solidFill>
                    <a:latin typeface="Cambria Math" panose="02040503050406030204" pitchFamily="18" charset="0"/>
                  </a:rPr>
                  <a:t>$10+6=16$</a:t>
                </a:r>
                <a:r>
                  <a:rPr sz="2400" b="0">
                    <a:solidFill>
                      <a:srgbClr val="111827"/>
                    </a:solidFill>
                    <a:latin typeface="Arial"/>
                  </a:rPr>
                  <a:t> ✓).</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New data: </a:t>
                </a:r>
                <a:r>
                  <a:rPr lang="en-IN" sz="2400">
                    <a:solidFill>
                      <a:srgbClr val="111827"/>
                    </a:solidFill>
                    <a:latin typeface="Cambria Math" panose="02040503050406030204" pitchFamily="18" charset="0"/>
                  </a:rPr>
                  <a:t>$x_3=7$</a:t>
                </a:r>
                <a:r>
                  <a:rPr sz="2400" b="0">
                    <a:solidFill>
                      <a:srgbClr val="111827"/>
                    </a:solidFill>
                    <a:latin typeface="Arial"/>
                  </a:rPr>
                  <a:t> with frequency </a:t>
                </a:r>
                <a:r>
                  <a:rPr lang="en-IN" sz="2400">
                    <a:solidFill>
                      <a:srgbClr val="111827"/>
                    </a:solidFill>
                    <a:latin typeface="Cambria Math" panose="02040503050406030204" pitchFamily="18" charset="0"/>
                  </a:rPr>
                  <a:t>$5$</a:t>
                </a:r>
                <a:r>
                  <a:rPr sz="2400" b="0">
                    <a:solidFill>
                      <a:srgbClr val="111827"/>
                    </a:solidFill>
                    <a:latin typeface="Arial"/>
                  </a:rPr>
                  <a:t>; total frequency </a:t>
                </a:r>
                <a:r>
                  <a:rPr lang="en-IN" sz="2400">
                    <a:solidFill>
                      <a:srgbClr val="111827"/>
                    </a:solidFill>
                    <a:latin typeface="Cambria Math" panose="02040503050406030204" pitchFamily="18" charset="0"/>
                  </a:rPr>
                  <a:t>$4+4+5+2=15$</a:t>
                </a:r>
                <a:r>
                  <a:rPr sz="2400" b="0">
                    <a:solidFill>
                      <a:srgbClr val="111827"/>
                    </a:solidFill>
                    <a:latin typeface="Arial"/>
                  </a:rPr>
                  <a:t> and </a:t>
                </a:r>
                <a:r>
                  <a:rPr lang="en-IN" sz="2400">
                    <a:solidFill>
                      <a:srgbClr val="111827"/>
                    </a:solidFill>
                    <a:latin typeface="Cambria Math" panose="02040503050406030204" pitchFamily="18" charset="0"/>
                  </a:rPr>
                  <a:t>$\sum fx=8+24+35+18=85$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New mean </a:t>
                </a:r>
                <a:r>
                  <a:rPr lang="en-IN" sz="2400">
                    <a:solidFill>
                      <a:srgbClr val="111827"/>
                    </a:solidFill>
                    <a:latin typeface="Cambria Math" panose="02040503050406030204" pitchFamily="18" charset="0"/>
                  </a:rPr>
                  <a:t>$=\frac{85}{15}=\frac{17}{3}$</a:t>
                </a:r>
                <a:r>
                  <a:rPr sz="2400" b="0">
                    <a:solidFill>
                      <a:srgbClr val="111827"/>
                    </a:solidFill>
                    <a:latin typeface="Arial"/>
                  </a:rPr>
                  <a:t>, option (D).</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17</m:t>
                        </m:r>
                      </m:num>
                      <m:den>
                        <m:r>
                          <a:rPr lang="en-IN" sz="2800" i="1">
                            <a:solidFill>
                              <a:srgbClr val="15803D"/>
                            </a:solidFill>
                            <a:latin typeface="Cambria Math" panose="02040503050406030204" pitchFamily="18" charset="0"/>
                          </a:rPr>
                          <m:t>3</m:t>
                        </m:r>
                      </m:den>
                    </m:f>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r>
                  <a:rPr lang="en-IN" sz="2800">
                    <a:solidFill>
                      <a:srgbClr val="15803D"/>
                    </a:solidFill>
                    <a:latin typeface="Cambria Math" panose="02040503050406030204" pitchFamily="18" charset="0"/>
                  </a:rPr>
                  <a:t>$\frac{17}{3}$</a:t>
                </a:r>
                <a:endParaRPr sz="2800">
                  <a:solidFill>
                    <a:srgbClr val="15803D"/>
                  </a:solidFill>
                </a:endParaRPr>
              </a:p>
            </p:txBody>
          </p:sp>
        </mc:Fallback>
      </mc:AlternateContent>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raw sums: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𝑓</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instead of deviations from the mean.</a:t>
                </a:r>
                <a:endParaRPr sz="2400">
                  <a:solidFill>
                    <a:srgbClr val="78350F"/>
                  </a:solidFill>
                </a:endParaRPr>
              </a:p>
            </p:txBody>
          </p:sp>
        </mc:Choice>
        <mc:Fallback>
          <p:sp>
            <p:nvSpPr>
              <p:cNvPr id="5" name="Rounded Rectangle 4"/>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raw sums: </a:t>
                </a:r>
                <a:r>
                  <a:rPr lang="en-IN" sz="2400">
                    <a:solidFill>
                      <a:srgbClr val="78350F"/>
                    </a:solidFill>
                    <a:latin typeface="Cambria Math" panose="02040503050406030204" pitchFamily="18" charset="0"/>
                  </a:rPr>
                  <a:t>$\sum fx^2$</a:t>
                </a:r>
                <a:r>
                  <a:rPr sz="2400" b="0">
                    <a:solidFill>
                      <a:srgbClr val="78350F"/>
                    </a:solidFill>
                    <a:latin typeface="Arial"/>
                  </a:rPr>
                  <a:t> instead of deviations from the mean.</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154936"/>
                <a:ext cx="10725912" cy="452018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Total frequency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oMath>
                </a14:m>
                <a:r>
                  <a:rPr sz="2400" b="0">
                    <a:solidFill>
                      <a:srgbClr val="111827"/>
                    </a:solidFill>
                    <a:latin typeface="Arial"/>
                  </a:rPr>
                  <a:t>; the mean condition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 as before.</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64</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81</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64</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81</m:t>
                    </m:r>
                    <m:r>
                      <a:rPr lang="en-IN" sz="2400" i="1">
                        <a:solidFill>
                          <a:srgbClr val="111827"/>
                        </a:solidFill>
                        <a:latin typeface="Cambria Math" panose="02040503050406030204" pitchFamily="18" charset="0"/>
                      </a:rPr>
                      <m:t>β</m:t>
                    </m:r>
                  </m:oMath>
                </a14:m>
                <a:r>
                  <a:rPr sz="2400" b="0">
                    <a:solidFill>
                      <a:srgbClr val="111827"/>
                    </a:solidFill>
                    <a:latin typeface="Arial"/>
                  </a:rPr>
                  <a:t> and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𝑁</m:t>
                        </m:r>
                      </m:den>
                    </m:f>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μ</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42.8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160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64</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81</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42.8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106</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191</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912</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154936"/>
                <a:ext cx="10725912" cy="452018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Total frequency </a:t>
                </a:r>
                <a:r>
                  <a:rPr lang="en-IN" sz="2400">
                    <a:solidFill>
                      <a:srgbClr val="111827"/>
                    </a:solidFill>
                    <a:latin typeface="Cambria Math" panose="02040503050406030204" pitchFamily="18" charset="0"/>
                  </a:rPr>
                  <a:t>$N=8+\alpha+\beta$</a:t>
                </a:r>
                <a:r>
                  <a:rPr sz="2400" b="0">
                    <a:solidFill>
                      <a:srgbClr val="111827"/>
                    </a:solidFill>
                    <a:latin typeface="Arial"/>
                  </a:rPr>
                  <a:t>; the mean condition </a:t>
                </a:r>
                <a:r>
                  <a:rPr lang="en-IN" sz="2400">
                    <a:solidFill>
                      <a:srgbClr val="111827"/>
                    </a:solidFill>
                    <a:latin typeface="Cambria Math" panose="02040503050406030204" pitchFamily="18" charset="0"/>
                  </a:rPr>
                  <a:t>$2\alpha+3\beta=16$</a:t>
                </a:r>
                <a:r>
                  <a:rPr sz="2400" b="0">
                    <a:solidFill>
                      <a:srgbClr val="111827"/>
                    </a:solidFill>
                    <a:latin typeface="Arial"/>
                  </a:rPr>
                  <a:t> as before.</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 fx^2=4\cdot4+4\cdot36+64\alpha+81\beta=160+64\alpha+81\beta$</a:t>
                </a:r>
                <a:r>
                  <a:rPr sz="2400" b="0">
                    <a:solidFill>
                      <a:srgbClr val="111827"/>
                    </a:solidFill>
                    <a:latin typeface="Arial"/>
                  </a:rPr>
                  <a:t> and </a:t>
                </a:r>
                <a:r>
                  <a:rPr lang="en-IN" sz="2400">
                    <a:solidFill>
                      <a:srgbClr val="111827"/>
                    </a:solidFill>
                    <a:latin typeface="Cambria Math" panose="02040503050406030204" pitchFamily="18" charset="0"/>
                  </a:rPr>
                  <a:t>$\frac{\sum fx^2}{N}=\sigma^2+\mu^2=6.8+36=42.8$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$160+64\alpha+81\beta=42.8(8+\alpha+\beta)$</a:t>
                </a:r>
                <a:r>
                  <a:rPr sz="2400" b="0">
                    <a:solidFill>
                      <a:srgbClr val="111827"/>
                    </a:solidFill>
                    <a:latin typeface="Arial"/>
                  </a:rPr>
                  <a:t> gives </a:t>
                </a:r>
                <a:r>
                  <a:rPr lang="en-IN" sz="2400">
                    <a:solidFill>
                      <a:srgbClr val="111827"/>
                    </a:solidFill>
                    <a:latin typeface="Cambria Math" panose="02040503050406030204" pitchFamily="18" charset="0"/>
                  </a:rPr>
                  <a:t>$106\alpha+191\beta=912$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With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β</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53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191</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912</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848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912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Changing the five observations equal to 8 into 7 lowers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a:rPr lang="en-IN" sz="2400" i="1">
                        <a:solidFill>
                          <a:srgbClr val="111827"/>
                        </a:solidFill>
                        <a:latin typeface="Cambria Math" panose="02040503050406030204" pitchFamily="18" charset="0"/>
                      </a:rPr>
                      <m:t>𝑥</m:t>
                    </m:r>
                  </m:oMath>
                </a14:m>
                <a:r>
                  <a:rPr sz="2400" b="0">
                    <a:solidFill>
                      <a:srgbClr val="111827"/>
                    </a:solidFill>
                    <a:latin typeface="Arial"/>
                  </a:rPr>
                  <a:t> by 5, so the mean falls by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15</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17</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the same answer.</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With </a:t>
                </a:r>
                <a:r>
                  <a:rPr lang="en-IN" sz="2400">
                    <a:solidFill>
                      <a:srgbClr val="111827"/>
                    </a:solidFill>
                    <a:latin typeface="Cambria Math" panose="02040503050406030204" pitchFamily="18" charset="0"/>
                  </a:rPr>
                  <a:t>$\alpha=\frac{16-3\beta}{2}$</a:t>
                </a:r>
                <a:r>
                  <a:rPr sz="2400" b="0">
                    <a:solidFill>
                      <a:srgbClr val="111827"/>
                    </a:solidFill>
                    <a:latin typeface="Arial"/>
                  </a:rPr>
                  <a:t>: </a:t>
                </a:r>
                <a:r>
                  <a:rPr lang="en-IN" sz="2400">
                    <a:solidFill>
                      <a:srgbClr val="111827"/>
                    </a:solidFill>
                    <a:latin typeface="Cambria Math" panose="02040503050406030204" pitchFamily="18" charset="0"/>
                  </a:rPr>
                  <a:t>$53(16-3\beta)+191\beta=912$</a:t>
                </a:r>
                <a:r>
                  <a:rPr sz="2400" b="0">
                    <a:solidFill>
                      <a:srgbClr val="111827"/>
                    </a:solidFill>
                    <a:latin typeface="Arial"/>
                  </a:rPr>
                  <a:t>, so </a:t>
                </a:r>
                <a:r>
                  <a:rPr lang="en-IN" sz="2400">
                    <a:solidFill>
                      <a:srgbClr val="111827"/>
                    </a:solidFill>
                    <a:latin typeface="Cambria Math" panose="02040503050406030204" pitchFamily="18" charset="0"/>
                  </a:rPr>
                  <a:t>$848+32\beta=912$</a:t>
                </a:r>
                <a:r>
                  <a:rPr sz="2400" b="0">
                    <a:solidFill>
                      <a:srgbClr val="111827"/>
                    </a:solidFill>
                    <a:latin typeface="Arial"/>
                  </a:rPr>
                  <a:t>, </a:t>
                </a:r>
                <a:r>
                  <a:rPr lang="en-IN" sz="2400">
                    <a:solidFill>
                      <a:srgbClr val="111827"/>
                    </a:solidFill>
                    <a:latin typeface="Cambria Math" panose="02040503050406030204" pitchFamily="18" charset="0"/>
                  </a:rPr>
                  <a:t>$\beta=2$</a:t>
                </a:r>
                <a:r>
                  <a:rPr sz="2400" b="0">
                    <a:solidFill>
                      <a:srgbClr val="111827"/>
                    </a:solidFill>
                    <a:latin typeface="Arial"/>
                  </a:rPr>
                  <a:t>, </a:t>
                </a:r>
                <a:r>
                  <a:rPr lang="en-IN" sz="2400">
                    <a:solidFill>
                      <a:srgbClr val="111827"/>
                    </a:solidFill>
                    <a:latin typeface="Cambria Math" panose="02040503050406030204" pitchFamily="18" charset="0"/>
                  </a:rPr>
                  <a:t>$\alpha=5$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Changing the five observations equal to 8 into 7 lowers </a:t>
                </a:r>
                <a:r>
                  <a:rPr lang="en-IN" sz="2400">
                    <a:solidFill>
                      <a:srgbClr val="111827"/>
                    </a:solidFill>
                    <a:latin typeface="Cambria Math" panose="02040503050406030204" pitchFamily="18" charset="0"/>
                  </a:rPr>
                  <a:t>$\sum fx$</a:t>
                </a:r>
                <a:r>
                  <a:rPr sz="2400" b="0">
                    <a:solidFill>
                      <a:srgbClr val="111827"/>
                    </a:solidFill>
                    <a:latin typeface="Arial"/>
                  </a:rPr>
                  <a:t> by 5, so the mean falls by </a:t>
                </a:r>
                <a:r>
                  <a:rPr lang="en-IN" sz="2400">
                    <a:solidFill>
                      <a:srgbClr val="111827"/>
                    </a:solidFill>
                    <a:latin typeface="Cambria Math" panose="02040503050406030204" pitchFamily="18" charset="0"/>
                  </a:rPr>
                  <a:t>$\frac{5}{15}$</a:t>
                </a:r>
                <a:r>
                  <a:rPr sz="2400" b="0">
                    <a:solidFill>
                      <a:srgbClr val="111827"/>
                    </a:solidFill>
                    <a:latin typeface="Arial"/>
                  </a:rPr>
                  <a:t>: </a:t>
                </a:r>
                <a:r>
                  <a:rPr lang="en-IN" sz="2400">
                    <a:solidFill>
                      <a:srgbClr val="111827"/>
                    </a:solidFill>
                    <a:latin typeface="Cambria Math" panose="02040503050406030204" pitchFamily="18" charset="0"/>
                  </a:rPr>
                  <a:t>$6-\frac13=\frac{17}{3}$</a:t>
                </a:r>
                <a:r>
                  <a:rPr sz="2400" b="0">
                    <a:solidFill>
                      <a:srgbClr val="111827"/>
                    </a:solidFill>
                    <a:latin typeface="Arial"/>
                  </a:rPr>
                  <a:t>, the same answer.</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17</m:t>
                        </m:r>
                      </m:num>
                      <m:den>
                        <m:r>
                          <a:rPr lang="en-IN" sz="2800" i="1">
                            <a:solidFill>
                              <a:srgbClr val="15803D"/>
                            </a:solidFill>
                            <a:latin typeface="Cambria Math" panose="02040503050406030204" pitchFamily="18" charset="0"/>
                          </a:rPr>
                          <m:t>3</m:t>
                        </m:r>
                      </m:den>
                    </m:f>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r>
                  <a:rPr lang="en-IN" sz="2800">
                    <a:solidFill>
                      <a:srgbClr val="15803D"/>
                    </a:solidFill>
                    <a:latin typeface="Cambria Math" panose="02040503050406030204" pitchFamily="18" charset="0"/>
                  </a:rPr>
                  <a:t>$\frac{17}{3}$</a:t>
                </a:r>
                <a:endParaRPr sz="2800">
                  <a:solidFill>
                    <a:srgbClr val="15803D"/>
                  </a:solidFill>
                </a:endParaRPr>
              </a:p>
            </p:txBody>
          </p:sp>
        </mc:Fallback>
      </mc:AlternateContent>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 frequency distribution: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den>
                    </m:f>
                  </m:oMath>
                </a14:m>
                <a:r>
                  <a:rPr sz="2400" b="0">
                    <a:solidFill>
                      <a:srgbClr val="111827"/>
                    </a:solidFill>
                    <a:latin typeface="Arial"/>
                  </a:rPr>
                  <a:t>; deviations from the given mean keep the numbers small.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Changing one class value by </a:t>
                </a:r>
                <a14:m>
                  <m:oMath xmlns:m="http://schemas.openxmlformats.org/officeDocument/2006/math">
                    <m:r>
                      <a:rPr lang="en-IN" sz="2400" i="1">
                        <a:solidFill>
                          <a:srgbClr val="111827"/>
                        </a:solidFill>
                        <a:latin typeface="Cambria Math" panose="02040503050406030204" pitchFamily="18" charset="0"/>
                      </a:rPr>
                      <m:t>δ</m:t>
                    </m:r>
                  </m:oMath>
                </a14:m>
                <a:r>
                  <a:rPr sz="2400" b="0">
                    <a:solidFill>
                      <a:srgbClr val="111827"/>
                    </a:solidFill>
                    <a:latin typeface="Arial"/>
                  </a:rPr>
                  <a:t> with frequency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changes the mean by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𝑓</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δ</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 frequency distribution: </a:t>
                </a:r>
                <a:r>
                  <a:rPr lang="en-IN" sz="2400">
                    <a:solidFill>
                      <a:srgbClr val="111827"/>
                    </a:solidFill>
                    <a:latin typeface="Cambria Math" panose="02040503050406030204" pitchFamily="18" charset="0"/>
                  </a:rPr>
                  <a:t>$\sum f(x-\bar{x})=0$</a:t>
                </a:r>
                <a:r>
                  <a:rPr sz="2400" b="0">
                    <a:solidFill>
                      <a:srgbClr val="111827"/>
                    </a:solidFill>
                    <a:latin typeface="Arial"/>
                  </a:rPr>
                  <a:t> and </a:t>
                </a:r>
                <a:r>
                  <a:rPr lang="en-IN" sz="2400">
                    <a:solidFill>
                      <a:srgbClr val="111827"/>
                    </a:solidFill>
                    <a:latin typeface="Cambria Math" panose="02040503050406030204" pitchFamily="18" charset="0"/>
                  </a:rPr>
                  <a:t>$\sigma^2=\frac{\sum f(x-\bar{x})^2}{\sum f}$</a:t>
                </a:r>
                <a:r>
                  <a:rPr sz="2400" b="0">
                    <a:solidFill>
                      <a:srgbClr val="111827"/>
                    </a:solidFill>
                    <a:latin typeface="Arial"/>
                  </a:rPr>
                  <a:t>; deviations from the given mean keep the numbers small.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Changing one class value by </a:t>
                </a:r>
                <a:r>
                  <a:rPr lang="en-IN" sz="2400">
                    <a:solidFill>
                      <a:srgbClr val="111827"/>
                    </a:solidFill>
                    <a:latin typeface="Cambria Math" panose="02040503050406030204" pitchFamily="18" charset="0"/>
                  </a:rPr>
                  <a:t>$\delta$</a:t>
                </a:r>
                <a:r>
                  <a:rPr sz="2400" b="0">
                    <a:solidFill>
                      <a:srgbClr val="111827"/>
                    </a:solidFill>
                    <a:latin typeface="Arial"/>
                  </a:rPr>
                  <a:t> with frequency </a:t>
                </a:r>
                <a:r>
                  <a:rPr lang="en-IN" sz="2400">
                    <a:solidFill>
                      <a:srgbClr val="111827"/>
                    </a:solidFill>
                    <a:latin typeface="Cambria Math" panose="02040503050406030204" pitchFamily="18" charset="0"/>
                  </a:rPr>
                  <a:t>$f$</a:t>
                </a:r>
                <a:r>
                  <a:rPr sz="2400" b="0">
                    <a:solidFill>
                      <a:srgbClr val="111827"/>
                    </a:solidFill>
                    <a:latin typeface="Arial"/>
                  </a:rPr>
                  <a:t> changes the mean by </a:t>
                </a:r>
                <a:r>
                  <a:rPr lang="en-IN" sz="2400">
                    <a:solidFill>
                      <a:srgbClr val="111827"/>
                    </a:solidFill>
                    <a:latin typeface="Cambria Math" panose="02040503050406030204" pitchFamily="18" charset="0"/>
                  </a:rPr>
                  <a:t>$\frac{f\,\delta}{\sum f}$</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12</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Numerical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Q49 – Q50</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4 marks each (no marks printed in the sheet - JEE Advanced default of 4 assumed)</a:t>
            </a:r>
            <a:endParaRPr sz="2800">
              <a:solidFill>
                <a:srgbClr val="FFFFFF"/>
              </a:solidFill>
            </a:endParaRP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11785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Consider the following frequency distribution : Class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18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oMath>
                </a14:m>
                <a:r>
                  <a:rPr sz="2400" b="0">
                    <a:solidFill>
                      <a:srgbClr val="111827"/>
                    </a:solidFill>
                    <a:latin typeface="Arial"/>
                  </a:rPr>
                  <a:t> with frequency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5</m:t>
                    </m:r>
                  </m:oMath>
                </a14:m>
                <a:r>
                  <a:rPr sz="2400" b="0">
                    <a:solidFill>
                      <a:srgbClr val="111827"/>
                    </a:solidFill>
                    <a:latin typeface="Arial"/>
                  </a:rPr>
                  <a:t>. If mean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309</m:t>
                        </m:r>
                      </m:num>
                      <m:den>
                        <m:r>
                          <a:rPr lang="en-IN" sz="2400" i="1">
                            <a:solidFill>
                              <a:srgbClr val="111827"/>
                            </a:solidFill>
                            <a:latin typeface="Cambria Math" panose="02040503050406030204" pitchFamily="18" charset="0"/>
                          </a:rPr>
                          <m:t>22</m:t>
                        </m:r>
                      </m:den>
                    </m:f>
                  </m:oMath>
                </a14:m>
                <a:r>
                  <a:rPr sz="2400" b="0">
                    <a:solidFill>
                      <a:srgbClr val="111827"/>
                    </a:solidFill>
                    <a:latin typeface="Arial"/>
                  </a:rPr>
                  <a:t> and median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oMath>
                </a14:m>
                <a:r>
                  <a:rPr sz="2400" b="0">
                    <a:solidFill>
                      <a:srgbClr val="111827"/>
                    </a:solidFill>
                    <a:latin typeface="Arial"/>
                  </a:rPr>
                  <a:t>, then the value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is equal to ______.</a:t>
                </a:r>
                <a:endParaRPr sz="2400">
                  <a:solidFill>
                    <a:srgbClr val="111827"/>
                  </a:solidFill>
                </a:endParaRPr>
              </a:p>
            </p:txBody>
          </p:sp>
        </mc:Choice>
        <mc:Fallback>
          <p:sp>
            <p:nvSpPr>
              <p:cNvPr id="4" name="Rounded Rectangle 3"/>
              <p:cNvSpPr/>
              <p:nvPr/>
            </p:nvSpPr>
            <p:spPr>
              <a:xfrm>
                <a:off x="731520" y="1280160"/>
                <a:ext cx="10725912" cy="211785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Consider the following frequency distribution : Class </a:t>
                </a:r>
                <a:r>
                  <a:rPr lang="en-IN" sz="2400">
                    <a:solidFill>
                      <a:srgbClr val="111827"/>
                    </a:solidFill>
                    <a:latin typeface="Cambria Math" panose="02040503050406030204" pitchFamily="18" charset="0"/>
                  </a:rPr>
                  <a:t>$0-6,\ 6-12,\ 12-18,\ 18-24,\ 24-30$</a:t>
                </a:r>
                <a:r>
                  <a:rPr sz="2400" b="0">
                    <a:solidFill>
                      <a:srgbClr val="111827"/>
                    </a:solidFill>
                    <a:latin typeface="Arial"/>
                  </a:rPr>
                  <a:t> with frequency </a:t>
                </a:r>
                <a:r>
                  <a:rPr lang="en-IN" sz="2400">
                    <a:solidFill>
                      <a:srgbClr val="111827"/>
                    </a:solidFill>
                    <a:latin typeface="Cambria Math" panose="02040503050406030204" pitchFamily="18" charset="0"/>
                  </a:rPr>
                  <a:t>$a,\ b,\ 12,\ 9,\ 5$</a:t>
                </a:r>
                <a:r>
                  <a:rPr sz="2400" b="0">
                    <a:solidFill>
                      <a:srgbClr val="111827"/>
                    </a:solidFill>
                    <a:latin typeface="Arial"/>
                  </a:rPr>
                  <a:t>. If mean </a:t>
                </a:r>
                <a:r>
                  <a:rPr lang="en-IN" sz="2400">
                    <a:solidFill>
                      <a:srgbClr val="111827"/>
                    </a:solidFill>
                    <a:latin typeface="Cambria Math" panose="02040503050406030204" pitchFamily="18" charset="0"/>
                  </a:rPr>
                  <a:t>$=\frac{309}{22}$</a:t>
                </a:r>
                <a:r>
                  <a:rPr sz="2400" b="0">
                    <a:solidFill>
                      <a:srgbClr val="111827"/>
                    </a:solidFill>
                    <a:latin typeface="Arial"/>
                  </a:rPr>
                  <a:t> and median </a:t>
                </a:r>
                <a:r>
                  <a:rPr lang="en-IN" sz="2400">
                    <a:solidFill>
                      <a:srgbClr val="111827"/>
                    </a:solidFill>
                    <a:latin typeface="Cambria Math" panose="02040503050406030204" pitchFamily="18" charset="0"/>
                  </a:rPr>
                  <a:t>$=14$</a:t>
                </a:r>
                <a:r>
                  <a:rPr sz="2400" b="0">
                    <a:solidFill>
                      <a:srgbClr val="111827"/>
                    </a:solidFill>
                    <a:latin typeface="Arial"/>
                  </a:rPr>
                  <a:t>, then the value of </a:t>
                </a:r>
                <a:r>
                  <a:rPr lang="en-IN" sz="2400">
                    <a:solidFill>
                      <a:srgbClr val="111827"/>
                    </a:solidFill>
                    <a:latin typeface="Cambria Math" panose="02040503050406030204" pitchFamily="18" charset="0"/>
                  </a:rPr>
                  <a:t>$(a-b)^2$</a:t>
                </a:r>
                <a:r>
                  <a:rPr sz="2400" b="0">
                    <a:solidFill>
                      <a:srgbClr val="111827"/>
                    </a:solidFill>
                    <a:latin typeface="Arial"/>
                  </a:rPr>
                  <a:t> is equal to ______.</a:t>
                </a:r>
                <a:endParaRPr sz="2400">
                  <a:solidFill>
                    <a:srgbClr val="111827"/>
                  </a:solidFill>
                </a:endParaRPr>
              </a:p>
            </p:txBody>
          </p:sp>
        </mc:Fallback>
      </mc:AlternateContent>
      <p:sp>
        <p:nvSpPr>
          <p:cNvPr id="5" name="Rectangle 4"/>
          <p:cNvSpPr/>
          <p:nvPr/>
        </p:nvSpPr>
        <p:spPr>
          <a:xfrm>
            <a:off x="731520" y="3626611"/>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Mean and median of a grouped frequency distribution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median lies in </a:t>
                </a:r>
                <a14:m>
                  <m:oMath xmlns:m="http://schemas.openxmlformats.org/officeDocument/2006/math">
                    <m:r>
                      <a:rPr lang="en-IN" sz="2400" i="1">
                        <a:solidFill>
                          <a:srgbClr val="78350F"/>
                        </a:solidFill>
                        <a:latin typeface="Cambria Math" panose="02040503050406030204" pitchFamily="18" charset="0"/>
                      </a:rPr>
                      <m:t>12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18</m:t>
                    </m:r>
                  </m:oMath>
                </a14:m>
                <a:r>
                  <a:rPr sz="2400" b="0">
                    <a:solidFill>
                      <a:srgbClr val="78350F"/>
                    </a:solidFill>
                    <a:latin typeface="Arial"/>
                  </a:rPr>
                  <a:t>, giving </a:t>
                </a:r>
                <a14:m>
                  <m:oMath xmlns:m="http://schemas.openxmlformats.org/officeDocument/2006/math">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18</m:t>
                    </m:r>
                  </m:oMath>
                </a14:m>
                <a:r>
                  <a:rPr sz="2400" b="0">
                    <a:solidFill>
                      <a:srgbClr val="78350F"/>
                    </a:solidFill>
                    <a:latin typeface="Arial"/>
                  </a:rPr>
                  <a:t>; the mean gives a second linear equation.</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median lies in </a:t>
                </a:r>
                <a:r>
                  <a:rPr lang="en-IN" sz="2400">
                    <a:solidFill>
                      <a:srgbClr val="78350F"/>
                    </a:solidFill>
                    <a:latin typeface="Cambria Math" panose="02040503050406030204" pitchFamily="18" charset="0"/>
                  </a:rPr>
                  <a:t>$12-18$</a:t>
                </a:r>
                <a:r>
                  <a:rPr sz="2400" b="0">
                    <a:solidFill>
                      <a:srgbClr val="78350F"/>
                    </a:solidFill>
                    <a:latin typeface="Arial"/>
                  </a:rPr>
                  <a:t>, giving </a:t>
                </a:r>
                <a:r>
                  <a:rPr lang="en-IN" sz="2400">
                    <a:solidFill>
                      <a:srgbClr val="78350F"/>
                    </a:solidFill>
                    <a:latin typeface="Cambria Math" panose="02040503050406030204" pitchFamily="18" charset="0"/>
                  </a:rPr>
                  <a:t>$a+b=18$</a:t>
                </a:r>
                <a:r>
                  <a:rPr sz="2400" b="0">
                    <a:solidFill>
                      <a:srgbClr val="78350F"/>
                    </a:solidFill>
                    <a:latin typeface="Arial"/>
                  </a:rPr>
                  <a:t>; the mean gives a second linear equation.</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Class marks: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27</m:t>
                    </m:r>
                  </m:oMath>
                </a14:m>
                <a:r>
                  <a:rPr sz="2400" b="0">
                    <a:solidFill>
                      <a:srgbClr val="111827"/>
                    </a:solidFill>
                    <a:latin typeface="Arial"/>
                  </a:rPr>
                  <a:t> with frequencies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Mean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504</m:t>
                        </m:r>
                      </m:num>
                      <m:den>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309</m:t>
                        </m:r>
                      </m:num>
                      <m:den>
                        <m:r>
                          <a:rPr lang="en-IN" sz="2400" i="1">
                            <a:solidFill>
                              <a:srgbClr val="111827"/>
                            </a:solidFill>
                            <a:latin typeface="Cambria Math" panose="02040503050406030204" pitchFamily="18" charset="0"/>
                          </a:rPr>
                          <m:t>22</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22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243</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111</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3054</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81</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37</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1018</m:t>
                    </m:r>
                  </m:oMath>
                </a14:m>
                <a:r>
                  <a:rPr sz="2400" b="0">
                    <a:solidFill>
                      <a:srgbClr val="111827"/>
                    </a:solidFill>
                    <a:latin typeface="Arial"/>
                  </a:rPr>
                  <a:t> ... (1).</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median </a:t>
                </a:r>
                <a14:m>
                  <m:oMath xmlns:m="http://schemas.openxmlformats.org/officeDocument/2006/math">
                    <m:r>
                      <a:rPr lang="en-IN" sz="2400" i="1">
                        <a:solidFill>
                          <a:srgbClr val="111827"/>
                        </a:solidFill>
                        <a:latin typeface="Cambria Math" panose="02040503050406030204" pitchFamily="18" charset="0"/>
                      </a:rPr>
                      <m:t>14</m:t>
                    </m:r>
                  </m:oMath>
                </a14:m>
                <a:r>
                  <a:rPr sz="2400" b="0">
                    <a:solidFill>
                      <a:srgbClr val="111827"/>
                    </a:solidFill>
                    <a:latin typeface="Arial"/>
                  </a:rPr>
                  <a:t> lies in the class </a:t>
                </a:r>
                <a14:m>
                  <m:oMath xmlns:m="http://schemas.openxmlformats.org/officeDocument/2006/math">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oMath>
                </a14:m>
                <a:r>
                  <a:rPr sz="2400" b="0">
                    <a:solidFill>
                      <a:srgbClr val="111827"/>
                    </a:solidFill>
                    <a:latin typeface="Arial"/>
                  </a:rPr>
                  <a:t>: median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𝑁</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12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Class marks: </a:t>
                </a:r>
                <a:r>
                  <a:rPr lang="en-IN" sz="2400">
                    <a:solidFill>
                      <a:srgbClr val="111827"/>
                    </a:solidFill>
                    <a:latin typeface="Cambria Math" panose="02040503050406030204" pitchFamily="18" charset="0"/>
                  </a:rPr>
                  <a:t>$3,9,15,21,27$</a:t>
                </a:r>
                <a:r>
                  <a:rPr sz="2400" b="0">
                    <a:solidFill>
                      <a:srgbClr val="111827"/>
                    </a:solidFill>
                    <a:latin typeface="Arial"/>
                  </a:rPr>
                  <a:t> with frequencies </a:t>
                </a:r>
                <a:r>
                  <a:rPr lang="en-IN" sz="2400">
                    <a:solidFill>
                      <a:srgbClr val="111827"/>
                    </a:solidFill>
                    <a:latin typeface="Cambria Math" panose="02040503050406030204" pitchFamily="18" charset="0"/>
                  </a:rPr>
                  <a:t>$a,b,12,9,5$</a:t>
                </a:r>
                <a:r>
                  <a:rPr sz="2400" b="0">
                    <a:solidFill>
                      <a:srgbClr val="111827"/>
                    </a:solidFill>
                    <a:latin typeface="Arial"/>
                  </a:rPr>
                  <a:t>; </a:t>
                </a:r>
                <a:r>
                  <a:rPr lang="en-IN" sz="2400">
                    <a:solidFill>
                      <a:srgbClr val="111827"/>
                    </a:solidFill>
                    <a:latin typeface="Cambria Math" panose="02040503050406030204" pitchFamily="18" charset="0"/>
                  </a:rPr>
                  <a:t>$N=a+b+26$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 fx=3a+9b+180+189+135=3a+9b+504$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Mean </a:t>
                </a:r>
                <a:r>
                  <a:rPr lang="en-IN" sz="2400">
                    <a:solidFill>
                      <a:srgbClr val="111827"/>
                    </a:solidFill>
                    <a:latin typeface="Cambria Math" panose="02040503050406030204" pitchFamily="18" charset="0"/>
                  </a:rPr>
                  <a:t>$=\frac{3a+9b+504}{a+b+26}=\frac{309}{22}$</a:t>
                </a:r>
                <a:r>
                  <a:rPr sz="2400" b="0">
                    <a:solidFill>
                      <a:srgbClr val="111827"/>
                    </a:solidFill>
                    <a:latin typeface="Arial"/>
                  </a:rPr>
                  <a:t>, so </a:t>
                </a:r>
                <a:r>
                  <a:rPr lang="en-IN" sz="2400">
                    <a:solidFill>
                      <a:srgbClr val="111827"/>
                    </a:solidFill>
                    <a:latin typeface="Cambria Math" panose="02040503050406030204" pitchFamily="18" charset="0"/>
                  </a:rPr>
                  <a:t>$22(3a+9b+504)=309(a+b+26)$</a:t>
                </a:r>
                <a:r>
                  <a:rPr sz="2400" b="0">
                    <a:solidFill>
                      <a:srgbClr val="111827"/>
                    </a:solidFill>
                    <a:latin typeface="Arial"/>
                  </a:rPr>
                  <a:t>, i.e. </a:t>
                </a:r>
                <a:r>
                  <a:rPr lang="en-IN" sz="2400">
                    <a:solidFill>
                      <a:srgbClr val="111827"/>
                    </a:solidFill>
                    <a:latin typeface="Cambria Math" panose="02040503050406030204" pitchFamily="18" charset="0"/>
                  </a:rPr>
                  <a:t>$243a+111b=3054$</a:t>
                </a:r>
                <a:r>
                  <a:rPr sz="2400" b="0">
                    <a:solidFill>
                      <a:srgbClr val="111827"/>
                    </a:solidFill>
                    <a:latin typeface="Arial"/>
                  </a:rPr>
                  <a:t>, or </a:t>
                </a:r>
                <a:r>
                  <a:rPr lang="en-IN" sz="2400">
                    <a:solidFill>
                      <a:srgbClr val="111827"/>
                    </a:solidFill>
                    <a:latin typeface="Cambria Math" panose="02040503050406030204" pitchFamily="18" charset="0"/>
                  </a:rPr>
                  <a:t>$81a+37b=1018$</a:t>
                </a:r>
                <a:r>
                  <a:rPr sz="2400" b="0">
                    <a:solidFill>
                      <a:srgbClr val="111827"/>
                    </a:solidFill>
                    <a:latin typeface="Arial"/>
                  </a:rPr>
                  <a:t> ... (1).</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median </a:t>
                </a:r>
                <a:r>
                  <a:rPr lang="en-IN" sz="2400">
                    <a:solidFill>
                      <a:srgbClr val="111827"/>
                    </a:solidFill>
                    <a:latin typeface="Cambria Math" panose="02040503050406030204" pitchFamily="18" charset="0"/>
                  </a:rPr>
                  <a:t>$14$</a:t>
                </a:r>
                <a:r>
                  <a:rPr sz="2400" b="0">
                    <a:solidFill>
                      <a:srgbClr val="111827"/>
                    </a:solidFill>
                    <a:latin typeface="Arial"/>
                  </a:rPr>
                  <a:t> lies in the class </a:t>
                </a:r>
                <a:r>
                  <a:rPr lang="en-IN" sz="2400">
                    <a:solidFill>
                      <a:srgbClr val="111827"/>
                    </a:solidFill>
                    <a:latin typeface="Cambria Math" panose="02040503050406030204" pitchFamily="18" charset="0"/>
                  </a:rPr>
                  <a:t>$12-18$</a:t>
                </a:r>
                <a:r>
                  <a:rPr sz="2400" b="0">
                    <a:solidFill>
                      <a:srgbClr val="111827"/>
                    </a:solidFill>
                    <a:latin typeface="Arial"/>
                  </a:rPr>
                  <a:t>: median </a:t>
                </a:r>
                <a:r>
                  <a:rPr lang="en-IN" sz="2400">
                    <a:solidFill>
                      <a:srgbClr val="111827"/>
                    </a:solidFill>
                    <a:latin typeface="Cambria Math" panose="02040503050406030204" pitchFamily="18" charset="0"/>
                  </a:rPr>
                  <a:t>$=12+\frac{\frac{N}{2}-(a+b)}{12}\times6=14$</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𝑁</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26</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26</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giving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oMath>
                </a14:m>
                <a:r>
                  <a:rPr sz="2400" b="0">
                    <a:solidFill>
                      <a:srgbClr val="111827"/>
                    </a:solidFill>
                    <a:latin typeface="Arial"/>
                  </a:rPr>
                  <a:t> ... (2).</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From (1) and (2): </a:t>
                </a:r>
                <a14:m>
                  <m:oMath xmlns:m="http://schemas.openxmlformats.org/officeDocument/2006/math">
                    <m:r>
                      <a:rPr lang="en-IN" sz="2400" i="1">
                        <a:solidFill>
                          <a:srgbClr val="111827"/>
                        </a:solidFill>
                        <a:latin typeface="Cambria Math" panose="02040503050406030204" pitchFamily="18" charset="0"/>
                      </a:rPr>
                      <m:t>81</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1018</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44</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352</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(check (1): </a:t>
                </a:r>
                <a14:m>
                  <m:oMath xmlns:m="http://schemas.openxmlformats.org/officeDocument/2006/math">
                    <m:r>
                      <a:rPr lang="en-IN" sz="2400" i="1">
                        <a:solidFill>
                          <a:srgbClr val="111827"/>
                        </a:solidFill>
                        <a:latin typeface="Cambria Math" panose="02040503050406030204" pitchFamily="18" charset="0"/>
                      </a:rPr>
                      <m:t>648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370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1018</m:t>
                    </m:r>
                  </m:oMath>
                </a14:m>
                <a:r>
                  <a:rPr sz="2400" b="0">
                    <a:solidFill>
                      <a:srgbClr val="111827"/>
                    </a:solidFill>
                    <a:latin typeface="Arial"/>
                  </a:rPr>
                  <a:t> ✓).</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$\frac{N}{2}-(a+b)=4$</a:t>
                </a:r>
                <a:r>
                  <a:rPr sz="2400" b="0">
                    <a:solidFill>
                      <a:srgbClr val="111827"/>
                    </a:solidFill>
                    <a:latin typeface="Arial"/>
                  </a:rPr>
                  <a:t> with </a:t>
                </a:r>
                <a:r>
                  <a:rPr lang="en-IN" sz="2400">
                    <a:solidFill>
                      <a:srgbClr val="111827"/>
                    </a:solidFill>
                    <a:latin typeface="Cambria Math" panose="02040503050406030204" pitchFamily="18" charset="0"/>
                  </a:rPr>
                  <a:t>$N=a+b+26$</a:t>
                </a:r>
                <a:r>
                  <a:rPr sz="2400" b="0">
                    <a:solidFill>
                      <a:srgbClr val="111827"/>
                    </a:solidFill>
                    <a:latin typeface="Arial"/>
                  </a:rPr>
                  <a:t>: </a:t>
                </a:r>
                <a:r>
                  <a:rPr lang="en-IN" sz="2400">
                    <a:solidFill>
                      <a:srgbClr val="111827"/>
                    </a:solidFill>
                    <a:latin typeface="Cambria Math" panose="02040503050406030204" pitchFamily="18" charset="0"/>
                  </a:rPr>
                  <a:t>$\frac{a+b+26}{2}-(a+b)=4$</a:t>
                </a:r>
                <a:r>
                  <a:rPr sz="2400" b="0">
                    <a:solidFill>
                      <a:srgbClr val="111827"/>
                    </a:solidFill>
                    <a:latin typeface="Arial"/>
                  </a:rPr>
                  <a:t>, giving </a:t>
                </a:r>
                <a:r>
                  <a:rPr lang="en-IN" sz="2400">
                    <a:solidFill>
                      <a:srgbClr val="111827"/>
                    </a:solidFill>
                    <a:latin typeface="Cambria Math" panose="02040503050406030204" pitchFamily="18" charset="0"/>
                  </a:rPr>
                  <a:t>$a+b=18$</a:t>
                </a:r>
                <a:r>
                  <a:rPr sz="2400" b="0">
                    <a:solidFill>
                      <a:srgbClr val="111827"/>
                    </a:solidFill>
                    <a:latin typeface="Arial"/>
                  </a:rPr>
                  <a:t> ... (2).</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From (1) and (2): </a:t>
                </a:r>
                <a:r>
                  <a:rPr lang="en-IN" sz="2400">
                    <a:solidFill>
                      <a:srgbClr val="111827"/>
                    </a:solidFill>
                    <a:latin typeface="Cambria Math" panose="02040503050406030204" pitchFamily="18" charset="0"/>
                  </a:rPr>
                  <a:t>$81a+37(18-a)=1018$</a:t>
                </a:r>
                <a:r>
                  <a:rPr sz="2400" b="0">
                    <a:solidFill>
                      <a:srgbClr val="111827"/>
                    </a:solidFill>
                    <a:latin typeface="Arial"/>
                  </a:rPr>
                  <a:t> gives </a:t>
                </a:r>
                <a:r>
                  <a:rPr lang="en-IN" sz="2400">
                    <a:solidFill>
                      <a:srgbClr val="111827"/>
                    </a:solidFill>
                    <a:latin typeface="Cambria Math" panose="02040503050406030204" pitchFamily="18" charset="0"/>
                  </a:rPr>
                  <a:t>$44a=352$</a:t>
                </a:r>
                <a:r>
                  <a:rPr sz="2400" b="0">
                    <a:solidFill>
                      <a:srgbClr val="111827"/>
                    </a:solidFill>
                    <a:latin typeface="Arial"/>
                  </a:rPr>
                  <a:t>, so </a:t>
                </a:r>
                <a:r>
                  <a:rPr lang="en-IN" sz="2400">
                    <a:solidFill>
                      <a:srgbClr val="111827"/>
                    </a:solidFill>
                    <a:latin typeface="Cambria Math" panose="02040503050406030204" pitchFamily="18" charset="0"/>
                  </a:rPr>
                  <a:t>$a=8$</a:t>
                </a:r>
                <a:r>
                  <a:rPr sz="2400" b="0">
                    <a:solidFill>
                      <a:srgbClr val="111827"/>
                    </a:solidFill>
                    <a:latin typeface="Arial"/>
                  </a:rPr>
                  <a:t> and </a:t>
                </a:r>
                <a:r>
                  <a:rPr lang="en-IN" sz="2400">
                    <a:solidFill>
                      <a:srgbClr val="111827"/>
                    </a:solidFill>
                    <a:latin typeface="Cambria Math" panose="02040503050406030204" pitchFamily="18" charset="0"/>
                  </a:rPr>
                  <a:t>$b=10$</a:t>
                </a:r>
                <a:r>
                  <a:rPr sz="2400" b="0">
                    <a:solidFill>
                      <a:srgbClr val="111827"/>
                    </a:solidFill>
                    <a:latin typeface="Arial"/>
                  </a:rPr>
                  <a:t> (check (1): </a:t>
                </a:r>
                <a:r>
                  <a:rPr lang="en-IN" sz="2400">
                    <a:solidFill>
                      <a:srgbClr val="111827"/>
                    </a:solidFill>
                    <a:latin typeface="Cambria Math" panose="02040503050406030204" pitchFamily="18" charset="0"/>
                  </a:rPr>
                  <a:t>$648+370=1018$</a:t>
                </a:r>
                <a:r>
                  <a:rPr sz="2400" b="0">
                    <a:solidFill>
                      <a:srgbClr val="111827"/>
                    </a:solidFill>
                    <a:latin typeface="Arial"/>
                  </a:rPr>
                  <a:t> ✓).</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$(a-b)^2=(8-10)^2=4$</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14:m>
                  <m:oMath xmlns:m="http://schemas.openxmlformats.org/officeDocument/2006/math">
                    <m:r>
                      <a:rPr lang="en-IN" sz="2800" i="1">
                        <a:solidFill>
                          <a:srgbClr val="15803D"/>
                        </a:solidFill>
                        <a:latin typeface="Cambria Math" panose="02040503050406030204" pitchFamily="18" charset="0"/>
                      </a:rPr>
                      <m:t>4</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r>
                  <a:rPr lang="en-IN" sz="2800">
                    <a:solidFill>
                      <a:srgbClr val="15803D"/>
                    </a:solidFill>
                    <a:latin typeface="Cambria Math" panose="02040503050406030204" pitchFamily="18" charset="0"/>
                  </a:rPr>
                  <a:t>$4$</a:t>
                </a:r>
                <a:endParaRPr sz="2800">
                  <a:solidFill>
                    <a:srgbClr val="15803D"/>
                  </a:solidFill>
                </a:endParaRPr>
              </a:p>
            </p:txBody>
          </p:sp>
        </mc:Fallback>
      </mc:AlternateContent>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847344"/>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the assumed mean </a:t>
                </a:r>
                <a14:m>
                  <m:oMath xmlns:m="http://schemas.openxmlformats.org/officeDocument/2006/math">
                    <m:r>
                      <a:rPr lang="en-IN" sz="2400" i="1">
                        <a:solidFill>
                          <a:srgbClr val="78350F"/>
                        </a:solidFill>
                        <a:latin typeface="Cambria Math" panose="02040503050406030204" pitchFamily="18" charset="0"/>
                      </a:rPr>
                      <m:t>15</m:t>
                    </m:r>
                  </m:oMath>
                </a14:m>
                <a:r>
                  <a:rPr sz="2400" b="0">
                    <a:solidFill>
                      <a:srgbClr val="78350F"/>
                    </a:solidFill>
                    <a:latin typeface="Arial"/>
                  </a:rPr>
                  <a:t> and step deviations </a:t>
                </a:r>
                <a14:m>
                  <m:oMath xmlns:m="http://schemas.openxmlformats.org/officeDocument/2006/math">
                    <m:r>
                      <a:rPr lang="en-IN" sz="2400" i="1">
                        <a:solidFill>
                          <a:srgbClr val="78350F"/>
                        </a:solidFill>
                        <a:latin typeface="Cambria Math" panose="02040503050406030204" pitchFamily="18" charset="0"/>
                      </a:rPr>
                      <m:t>𝑑</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15</m:t>
                        </m:r>
                      </m:num>
                      <m:den>
                        <m:r>
                          <a:rPr lang="en-IN" sz="2400" i="1">
                            <a:solidFill>
                              <a:srgbClr val="78350F"/>
                            </a:solidFill>
                            <a:latin typeface="Cambria Math" panose="02040503050406030204" pitchFamily="18" charset="0"/>
                          </a:rPr>
                          <m:t>6</m:t>
                        </m:r>
                      </m:den>
                    </m:f>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847344"/>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the assumed mean </a:t>
                </a:r>
                <a:r>
                  <a:rPr lang="en-IN" sz="2400">
                    <a:solidFill>
                      <a:srgbClr val="78350F"/>
                    </a:solidFill>
                    <a:latin typeface="Cambria Math" panose="02040503050406030204" pitchFamily="18" charset="0"/>
                  </a:rPr>
                  <a:t>$15$</a:t>
                </a:r>
                <a:r>
                  <a:rPr sz="2400" b="0">
                    <a:solidFill>
                      <a:srgbClr val="78350F"/>
                    </a:solidFill>
                    <a:latin typeface="Arial"/>
                  </a:rPr>
                  <a:t> and step deviations </a:t>
                </a:r>
                <a:r>
                  <a:rPr lang="en-IN" sz="2400">
                    <a:solidFill>
                      <a:srgbClr val="78350F"/>
                    </a:solidFill>
                    <a:latin typeface="Cambria Math" panose="02040503050406030204" pitchFamily="18" charset="0"/>
                  </a:rPr>
                  <a:t>$d=\frac{x-15}{6}$</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264664"/>
                <a:ext cx="10725912" cy="441045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Step deviations for the classes: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with frequencies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𝑁</m:t>
                        </m:r>
                      </m:den>
                    </m:f>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From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oMath>
                </a14:m>
                <a:r>
                  <a:rPr sz="2400" b="0">
                    <a:solidFill>
                      <a:srgbClr val="111827"/>
                    </a:solidFill>
                    <a:latin typeface="Arial"/>
                  </a:rPr>
                  <a:t> (the median condition)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44</m:t>
                    </m:r>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309</m:t>
                        </m:r>
                      </m:num>
                      <m:den>
                        <m:r>
                          <a:rPr lang="en-IN" sz="2400" i="1">
                            <a:solidFill>
                              <a:srgbClr val="111827"/>
                            </a:solidFill>
                            <a:latin typeface="Cambria Math" panose="02040503050406030204" pitchFamily="18" charset="0"/>
                          </a:rPr>
                          <m:t>22</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44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309</m:t>
                        </m:r>
                      </m:num>
                      <m:den>
                        <m:r>
                          <a:rPr lang="en-IN" sz="2400" i="1">
                            <a:solidFill>
                              <a:srgbClr val="111827"/>
                            </a:solidFill>
                            <a:latin typeface="Cambria Math" panose="02040503050406030204" pitchFamily="18" charset="0"/>
                          </a:rPr>
                          <m:t>22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21</m:t>
                        </m:r>
                      </m:num>
                      <m:den>
                        <m:r>
                          <a:rPr lang="en-IN" sz="2400" i="1">
                            <a:solidFill>
                              <a:srgbClr val="111827"/>
                            </a:solidFill>
                            <a:latin typeface="Cambria Math" panose="02040503050406030204" pitchFamily="18" charset="0"/>
                          </a:rPr>
                          <m:t>22</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264664"/>
                <a:ext cx="10725912" cy="441045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Step deviations for the classes: </a:t>
                </a:r>
                <a:r>
                  <a:rPr lang="en-IN" sz="2400">
                    <a:solidFill>
                      <a:srgbClr val="111827"/>
                    </a:solidFill>
                    <a:latin typeface="Cambria Math" panose="02040503050406030204" pitchFamily="18" charset="0"/>
                  </a:rPr>
                  <a:t>$-2,-1,0,1,2$</a:t>
                </a:r>
                <a:r>
                  <a:rPr sz="2400" b="0">
                    <a:solidFill>
                      <a:srgbClr val="111827"/>
                    </a:solidFill>
                    <a:latin typeface="Arial"/>
                  </a:rPr>
                  <a:t> with frequencies </a:t>
                </a:r>
                <a:r>
                  <a:rPr lang="en-IN" sz="2400">
                    <a:solidFill>
                      <a:srgbClr val="111827"/>
                    </a:solidFill>
                    <a:latin typeface="Cambria Math" panose="02040503050406030204" pitchFamily="18" charset="0"/>
                  </a:rPr>
                  <a:t>$a,b,12,9,5$</a:t>
                </a:r>
                <a:r>
                  <a:rPr sz="2400" b="0">
                    <a:solidFill>
                      <a:srgbClr val="111827"/>
                    </a:solidFill>
                    <a:latin typeface="Arial"/>
                  </a:rPr>
                  <a:t>; </a:t>
                </a:r>
                <a:r>
                  <a:rPr lang="en-IN" sz="2400">
                    <a:solidFill>
                      <a:srgbClr val="111827"/>
                    </a:solidFill>
                    <a:latin typeface="Cambria Math" panose="02040503050406030204" pitchFamily="18" charset="0"/>
                  </a:rPr>
                  <a:t>$\sum fd=-2a-b+9+10=19-2a-b$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$\bar{x}=15+6\cdot\frac{19-2a-b}{N}$</a:t>
                </a:r>
                <a:r>
                  <a:rPr sz="2400" b="0">
                    <a:solidFill>
                      <a:srgbClr val="111827"/>
                    </a:solidFill>
                    <a:latin typeface="Arial"/>
                  </a:rPr>
                  <a:t> with </a:t>
                </a:r>
                <a:r>
                  <a:rPr lang="en-IN" sz="2400">
                    <a:solidFill>
                      <a:srgbClr val="111827"/>
                    </a:solidFill>
                    <a:latin typeface="Cambria Math" panose="02040503050406030204" pitchFamily="18" charset="0"/>
                  </a:rPr>
                  <a:t>$N=a+b+26$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From </a:t>
                </a:r>
                <a:r>
                  <a:rPr lang="en-IN" sz="2400">
                    <a:solidFill>
                      <a:srgbClr val="111827"/>
                    </a:solidFill>
                    <a:latin typeface="Cambria Math" panose="02040503050406030204" pitchFamily="18" charset="0"/>
                  </a:rPr>
                  <a:t>$a+b=18$</a:t>
                </a:r>
                <a:r>
                  <a:rPr sz="2400" b="0">
                    <a:solidFill>
                      <a:srgbClr val="111827"/>
                    </a:solidFill>
                    <a:latin typeface="Arial"/>
                  </a:rPr>
                  <a:t> (the median condition) </a:t>
                </a:r>
                <a:r>
                  <a:rPr lang="en-IN" sz="2400">
                    <a:solidFill>
                      <a:srgbClr val="111827"/>
                    </a:solidFill>
                    <a:latin typeface="Cambria Math" panose="02040503050406030204" pitchFamily="18" charset="0"/>
                  </a:rPr>
                  <a:t>$N=44$</a:t>
                </a:r>
                <a:r>
                  <a:rPr sz="2400" b="0">
                    <a:solidFill>
                      <a:srgbClr val="111827"/>
                    </a:solidFill>
                    <a:latin typeface="Arial"/>
                  </a:rPr>
                  <a:t> and </a:t>
                </a:r>
                <a:r>
                  <a:rPr lang="en-IN" sz="2400">
                    <a:solidFill>
                      <a:srgbClr val="111827"/>
                    </a:solidFill>
                    <a:latin typeface="Cambria Math" panose="02040503050406030204" pitchFamily="18" charset="0"/>
                  </a:rPr>
                  <a:t>$\bar{x}=\frac{309}{22}$</a:t>
                </a:r>
                <a:r>
                  <a:rPr sz="2400" b="0">
                    <a:solidFill>
                      <a:srgbClr val="111827"/>
                    </a:solidFill>
                    <a:latin typeface="Arial"/>
                  </a:rPr>
                  <a:t>, so </a:t>
                </a:r>
                <a:r>
                  <a:rPr lang="en-IN" sz="2400">
                    <a:solidFill>
                      <a:srgbClr val="111827"/>
                    </a:solidFill>
                    <a:latin typeface="Cambria Math" panose="02040503050406030204" pitchFamily="18" charset="0"/>
                  </a:rPr>
                  <a:t>$6\cdot\frac{19-2a-b}{44}=\frac{309}{22}-15=-\frac{21}{22}$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19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26</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the same answer.</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$19-2a-b=-7$</a:t>
                </a:r>
                <a:r>
                  <a:rPr sz="2400" b="0">
                    <a:solidFill>
                      <a:srgbClr val="111827"/>
                    </a:solidFill>
                    <a:latin typeface="Arial"/>
                  </a:rPr>
                  <a:t>, i.e. </a:t>
                </a:r>
                <a:r>
                  <a:rPr lang="en-IN" sz="2400">
                    <a:solidFill>
                      <a:srgbClr val="111827"/>
                    </a:solidFill>
                    <a:latin typeface="Cambria Math" panose="02040503050406030204" pitchFamily="18" charset="0"/>
                  </a:rPr>
                  <a:t>$2a+b=26$</a:t>
                </a:r>
                <a:r>
                  <a:rPr sz="2400" b="0">
                    <a:solidFill>
                      <a:srgbClr val="111827"/>
                    </a:solidFill>
                    <a:latin typeface="Arial"/>
                  </a:rPr>
                  <a:t>; with </a:t>
                </a:r>
                <a:r>
                  <a:rPr lang="en-IN" sz="2400">
                    <a:solidFill>
                      <a:srgbClr val="111827"/>
                    </a:solidFill>
                    <a:latin typeface="Cambria Math" panose="02040503050406030204" pitchFamily="18" charset="0"/>
                  </a:rPr>
                  <a:t>$a+b=18$</a:t>
                </a:r>
                <a:r>
                  <a:rPr sz="2400" b="0">
                    <a:solidFill>
                      <a:srgbClr val="111827"/>
                    </a:solidFill>
                    <a:latin typeface="Arial"/>
                  </a:rPr>
                  <a:t>: </a:t>
                </a:r>
                <a:r>
                  <a:rPr lang="en-IN" sz="2400">
                    <a:solidFill>
                      <a:srgbClr val="111827"/>
                    </a:solidFill>
                    <a:latin typeface="Cambria Math" panose="02040503050406030204" pitchFamily="18" charset="0"/>
                  </a:rPr>
                  <a:t>$a=8$</a:t>
                </a:r>
                <a:r>
                  <a:rPr sz="2400" b="0">
                    <a:solidFill>
                      <a:srgbClr val="111827"/>
                    </a:solidFill>
                    <a:latin typeface="Arial"/>
                  </a:rPr>
                  <a:t>, </a:t>
                </a:r>
                <a:r>
                  <a:rPr lang="en-IN" sz="2400">
                    <a:solidFill>
                      <a:srgbClr val="111827"/>
                    </a:solidFill>
                    <a:latin typeface="Cambria Math" panose="02040503050406030204" pitchFamily="18" charset="0"/>
                  </a:rPr>
                  <a:t>$b=10$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$(a-b)^2=4$</a:t>
                </a:r>
                <a:r>
                  <a:rPr sz="2400" b="0">
                    <a:solidFill>
                      <a:srgbClr val="111827"/>
                    </a:solidFill>
                    <a:latin typeface="Arial"/>
                  </a:rPr>
                  <a:t>, the same answer.</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14:m>
                  <m:oMath xmlns:m="http://schemas.openxmlformats.org/officeDocument/2006/math">
                    <m:r>
                      <a:rPr lang="en-IN" sz="2800" i="1">
                        <a:solidFill>
                          <a:srgbClr val="15803D"/>
                        </a:solidFill>
                        <a:latin typeface="Cambria Math" panose="02040503050406030204" pitchFamily="18" charset="0"/>
                      </a:rPr>
                      <m:t>4</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r>
                  <a:rPr lang="en-IN" sz="2800">
                    <a:solidFill>
                      <a:srgbClr val="15803D"/>
                    </a:solidFill>
                    <a:latin typeface="Cambria Math" panose="02040503050406030204" pitchFamily="18" charset="0"/>
                  </a:rPr>
                  <a:t>$4$</a:t>
                </a:r>
                <a:endParaRPr sz="2800">
                  <a:solidFill>
                    <a:srgbClr val="15803D"/>
                  </a:solidFill>
                </a:endParaRPr>
              </a:p>
            </p:txBody>
          </p:sp>
        </mc:Fallback>
      </mc:AlternateContent>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Median of grouped data: </a:t>
                </a:r>
                <a14:m>
                  <m:oMath xmlns:m="http://schemas.openxmlformats.org/officeDocument/2006/math">
                    <m:r>
                      <a:rPr lang="en-IN" sz="2400" i="1">
                        <a:solidFill>
                          <a:srgbClr val="111827"/>
                        </a:solidFill>
                        <a:latin typeface="Cambria Math" panose="02040503050406030204" pitchFamily="18" charset="0"/>
                      </a:rPr>
                      <m:t>𝑙</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𝑁</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𝐹</m:t>
                        </m:r>
                      </m:num>
                      <m:den>
                        <m:r>
                          <a:rPr lang="en-IN" sz="2400" i="1">
                            <a:solidFill>
                              <a:srgbClr val="111827"/>
                            </a:solidFill>
                            <a:latin typeface="Cambria Math" panose="02040503050406030204" pitchFamily="18" charset="0"/>
                          </a:rPr>
                          <m:t>𝑓</m:t>
                        </m:r>
                      </m:den>
                    </m:f>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ℎ</m:t>
                    </m:r>
                  </m:oMath>
                </a14:m>
                <a:r>
                  <a:rPr sz="2400" b="0">
                    <a:solidFill>
                      <a:srgbClr val="111827"/>
                    </a:solidFill>
                    <a:latin typeface="Arial"/>
                  </a:rPr>
                  <a:t>, where </a:t>
                </a:r>
                <a14:m>
                  <m:oMath xmlns:m="http://schemas.openxmlformats.org/officeDocument/2006/math">
                    <m:r>
                      <a:rPr lang="en-IN" sz="2400" i="1">
                        <a:solidFill>
                          <a:srgbClr val="111827"/>
                        </a:solidFill>
                        <a:latin typeface="Cambria Math" panose="02040503050406030204" pitchFamily="18" charset="0"/>
                      </a:rPr>
                      <m:t>𝐹</m:t>
                    </m:r>
                  </m:oMath>
                </a14:m>
                <a:r>
                  <a:rPr sz="2400" b="0">
                    <a:solidFill>
                      <a:srgbClr val="111827"/>
                    </a:solidFill>
                    <a:latin typeface="Arial"/>
                  </a:rPr>
                  <a:t> is the cumulative frequency before the median class.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Mean by assumed-mean method: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a:rPr lang="en-IN" sz="2400" i="1">
                        <a:solidFill>
                          <a:srgbClr val="111827"/>
                        </a:solidFill>
                        <a:latin typeface="Cambria Math" panose="02040503050406030204" pitchFamily="18" charset="0"/>
                      </a:rPr>
                      <m:t> </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a:rPr lang="en-IN" sz="2400" i="1">
                            <a:solidFill>
                              <a:srgbClr val="111827"/>
                            </a:solidFill>
                            <a:latin typeface="Cambria Math" panose="02040503050406030204" pitchFamily="18" charset="0"/>
                          </a:rPr>
                          <m:t>𝑑</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den>
                    </m:f>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ℎ</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Median of grouped data: </a:t>
                </a:r>
                <a:r>
                  <a:rPr lang="en-IN" sz="2400">
                    <a:solidFill>
                      <a:srgbClr val="111827"/>
                    </a:solidFill>
                    <a:latin typeface="Cambria Math" panose="02040503050406030204" pitchFamily="18" charset="0"/>
                  </a:rPr>
                  <a:t>$l+\frac{\frac N2-F}{f}\,h$</a:t>
                </a:r>
                <a:r>
                  <a:rPr sz="2400" b="0">
                    <a:solidFill>
                      <a:srgbClr val="111827"/>
                    </a:solidFill>
                    <a:latin typeface="Arial"/>
                  </a:rPr>
                  <a:t>, where </a:t>
                </a:r>
                <a:r>
                  <a:rPr lang="en-IN" sz="2400">
                    <a:solidFill>
                      <a:srgbClr val="111827"/>
                    </a:solidFill>
                    <a:latin typeface="Cambria Math" panose="02040503050406030204" pitchFamily="18" charset="0"/>
                  </a:rPr>
                  <a:t>$F$</a:t>
                </a:r>
                <a:r>
                  <a:rPr sz="2400" b="0">
                    <a:solidFill>
                      <a:srgbClr val="111827"/>
                    </a:solidFill>
                    <a:latin typeface="Arial"/>
                  </a:rPr>
                  <a:t> is the cumulative frequency before the median class.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Mean by assumed-mean method: </a:t>
                </a:r>
                <a:r>
                  <a:rPr lang="en-IN" sz="2400">
                    <a:solidFill>
                      <a:srgbClr val="111827"/>
                    </a:solidFill>
                    <a:latin typeface="Cambria Math" panose="02040503050406030204" pitchFamily="18" charset="0"/>
                  </a:rPr>
                  <a:t>$\bar{x}=A+h\,\frac{\sum fd}{\sum f}$</a:t>
                </a:r>
                <a:r>
                  <a:rPr sz="2400" b="0">
                    <a:solidFill>
                      <a:srgbClr val="111827"/>
                    </a:solidFill>
                    <a:latin typeface="Arial"/>
                  </a:rPr>
                  <a:t> with </a:t>
                </a:r>
                <a:r>
                  <a:rPr lang="en-IN" sz="2400">
                    <a:solidFill>
                      <a:srgbClr val="111827"/>
                    </a:solidFill>
                    <a:latin typeface="Cambria Math" panose="02040503050406030204" pitchFamily="18" charset="0"/>
                  </a:rPr>
                  <a:t>$d=\frac{x-A}{h}$</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Consider the following frequency distribution : Class </a:t>
                </a:r>
                <a14:m>
                  <m:oMath xmlns:m="http://schemas.openxmlformats.org/officeDocument/2006/math">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30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40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oMath>
                </a14:m>
                <a:r>
                  <a:rPr sz="2400" b="0">
                    <a:solidFill>
                      <a:srgbClr val="111827"/>
                    </a:solidFill>
                    <a:latin typeface="Arial"/>
                  </a:rPr>
                  <a:t> with frequency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110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54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30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β</m:t>
                    </m:r>
                  </m:oMath>
                </a14:m>
                <a:r>
                  <a:rPr sz="2400" b="0">
                    <a:solidFill>
                      <a:srgbClr val="111827"/>
                    </a:solidFill>
                    <a:latin typeface="Arial"/>
                  </a:rPr>
                  <a:t>. If the sum of all frequencies is 584 and median is 45, then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equal to ______.</a:t>
                </a:r>
                <a:endParaRPr sz="2400">
                  <a:solidFill>
                    <a:srgbClr val="111827"/>
                  </a:solidFill>
                </a:endParaRPr>
              </a:p>
            </p:txBody>
          </p:sp>
        </mc:Choice>
        <mc:Fallback>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Consider the following frequency distribution : Class </a:t>
                </a:r>
                <a:r>
                  <a:rPr lang="en-IN" sz="2400">
                    <a:solidFill>
                      <a:srgbClr val="111827"/>
                    </a:solidFill>
                    <a:latin typeface="Cambria Math" panose="02040503050406030204" pitchFamily="18" charset="0"/>
                  </a:rPr>
                  <a:t>$10-20,\ 20-30,\ 30-40,\ 40-50,\ 50-60$</a:t>
                </a:r>
                <a:r>
                  <a:rPr sz="2400" b="0">
                    <a:solidFill>
                      <a:srgbClr val="111827"/>
                    </a:solidFill>
                    <a:latin typeface="Arial"/>
                  </a:rPr>
                  <a:t> with frequency </a:t>
                </a:r>
                <a:r>
                  <a:rPr lang="en-IN" sz="2400">
                    <a:solidFill>
                      <a:srgbClr val="111827"/>
                    </a:solidFill>
                    <a:latin typeface="Cambria Math" panose="02040503050406030204" pitchFamily="18" charset="0"/>
                  </a:rPr>
                  <a:t>$\alpha,\ 110,\ 54,\ 30,\ \beta$</a:t>
                </a:r>
                <a:r>
                  <a:rPr sz="2400" b="0">
                    <a:solidFill>
                      <a:srgbClr val="111827"/>
                    </a:solidFill>
                    <a:latin typeface="Arial"/>
                  </a:rPr>
                  <a:t>. If the sum of all frequencies is 584 and median is 45, then </a:t>
                </a:r>
                <a:r>
                  <a:rPr lang="en-IN" sz="2400">
                    <a:solidFill>
                      <a:srgbClr val="111827"/>
                    </a:solidFill>
                    <a:latin typeface="Cambria Math" panose="02040503050406030204" pitchFamily="18" charset="0"/>
                  </a:rPr>
                  <a:t>$|\alpha-\beta|$</a:t>
                </a:r>
                <a:r>
                  <a:rPr sz="2400" b="0">
                    <a:solidFill>
                      <a:srgbClr val="111827"/>
                    </a:solidFill>
                    <a:latin typeface="Arial"/>
                  </a:rPr>
                  <a:t> is equal to ______.</a:t>
                </a:r>
                <a:endParaRPr sz="2400">
                  <a:solidFill>
                    <a:srgbClr val="111827"/>
                  </a:solidFill>
                </a:endParaRPr>
              </a:p>
            </p:txBody>
          </p:sp>
        </mc:Fallback>
      </mc:AlternateContent>
      <p:sp>
        <p:nvSpPr>
          <p:cNvPr id="5" name="Rectangle 4"/>
          <p:cNvSpPr/>
          <p:nvPr/>
        </p:nvSpPr>
        <p:spPr>
          <a:xfrm>
            <a:off x="731520" y="3516884"/>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Median of a grouped frequency distribution with unknown frequencies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median 45 lies in </a:t>
                </a:r>
                <a14:m>
                  <m:oMath xmlns:m="http://schemas.openxmlformats.org/officeDocument/2006/math">
                    <m:r>
                      <a:rPr lang="en-IN" sz="2400" i="1">
                        <a:solidFill>
                          <a:srgbClr val="78350F"/>
                        </a:solidFill>
                        <a:latin typeface="Cambria Math" panose="02040503050406030204" pitchFamily="18" charset="0"/>
                      </a:rPr>
                      <m:t>40</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50</m:t>
                    </m:r>
                  </m:oMath>
                </a14:m>
                <a:r>
                  <a:rPr sz="2400" b="0">
                    <a:solidFill>
                      <a:srgbClr val="78350F"/>
                    </a:solidFill>
                    <a:latin typeface="Arial"/>
                  </a:rPr>
                  <a:t>; the cumulative frequency before that class is </a:t>
                </a:r>
                <a14:m>
                  <m:oMath xmlns:m="http://schemas.openxmlformats.org/officeDocument/2006/math">
                    <m:r>
                      <a:rPr lang="en-IN" sz="2400" i="1">
                        <a:solidFill>
                          <a:srgbClr val="78350F"/>
                        </a:solidFill>
                        <a:latin typeface="Cambria Math" panose="02040503050406030204" pitchFamily="18" charset="0"/>
                      </a:rPr>
                      <m:t>α</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164</m:t>
                    </m:r>
                  </m:oMath>
                </a14:m>
                <a:r>
                  <a:rPr sz="2400" b="0">
                    <a:solidFill>
                      <a:srgbClr val="78350F"/>
                    </a:solidFill>
                    <a:latin typeface="Arial"/>
                  </a:rPr>
                  <a:t>, and the class width is 10.</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median 45 lies in </a:t>
                </a:r>
                <a:r>
                  <a:rPr lang="en-IN" sz="2400">
                    <a:solidFill>
                      <a:srgbClr val="78350F"/>
                    </a:solidFill>
                    <a:latin typeface="Cambria Math" panose="02040503050406030204" pitchFamily="18" charset="0"/>
                  </a:rPr>
                  <a:t>$40-50$</a:t>
                </a:r>
                <a:r>
                  <a:rPr sz="2400" b="0">
                    <a:solidFill>
                      <a:srgbClr val="78350F"/>
                    </a:solidFill>
                    <a:latin typeface="Arial"/>
                  </a:rPr>
                  <a:t>; the cumulative frequency before that class is </a:t>
                </a:r>
                <a:r>
                  <a:rPr lang="en-IN" sz="2400">
                    <a:solidFill>
                      <a:srgbClr val="78350F"/>
                    </a:solidFill>
                    <a:latin typeface="Cambria Math" panose="02040503050406030204" pitchFamily="18" charset="0"/>
                  </a:rPr>
                  <a:t>$\alpha+164$</a:t>
                </a:r>
                <a:r>
                  <a:rPr sz="2400" b="0">
                    <a:solidFill>
                      <a:srgbClr val="78350F"/>
                    </a:solidFill>
                    <a:latin typeface="Arial"/>
                  </a:rPr>
                  <a:t>, and the class width is 10.</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Cumulative frequencies: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584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584</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584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390</m:t>
                    </m:r>
                  </m:oMath>
                </a14:m>
                <a:r>
                  <a:rPr sz="2400" b="0">
                    <a:solidFill>
                      <a:srgbClr val="111827"/>
                    </a:solidFill>
                    <a:latin typeface="Arial"/>
                  </a:rPr>
                  <a:t> and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𝑁</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292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Median </a:t>
                </a:r>
                <a14:m>
                  <m:oMath xmlns:m="http://schemas.openxmlformats.org/officeDocument/2006/math">
                    <m:r>
                      <a:rPr lang="en-IN" sz="2400" i="1">
                        <a:solidFill>
                          <a:srgbClr val="111827"/>
                        </a:solidFill>
                        <a:latin typeface="Cambria Math" panose="02040503050406030204" pitchFamily="18" charset="0"/>
                      </a:rPr>
                      <m:t>45</m:t>
                    </m:r>
                  </m:oMath>
                </a14:m>
                <a:r>
                  <a:rPr sz="2400" b="0">
                    <a:solidFill>
                      <a:srgbClr val="111827"/>
                    </a:solidFill>
                    <a:latin typeface="Arial"/>
                  </a:rPr>
                  <a:t> lies in the class </a:t>
                </a:r>
                <a14:m>
                  <m:oMath xmlns:m="http://schemas.openxmlformats.org/officeDocument/2006/math">
                    <m:r>
                      <a:rPr lang="en-IN" sz="2400" i="1">
                        <a:solidFill>
                          <a:srgbClr val="111827"/>
                        </a:solidFill>
                        <a:latin typeface="Cambria Math" panose="02040503050406030204" pitchFamily="18" charset="0"/>
                      </a:rPr>
                      <m:t>40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oMath>
                </a14:m>
                <a:r>
                  <a:rPr sz="2400" b="0">
                    <a:solidFill>
                      <a:srgbClr val="111827"/>
                    </a:solidFill>
                    <a:latin typeface="Arial"/>
                  </a:rPr>
                  <a:t>: lower limit </a:t>
                </a:r>
                <a14:m>
                  <m:oMath xmlns:m="http://schemas.openxmlformats.org/officeDocument/2006/math">
                    <m:r>
                      <a:rPr lang="en-IN" sz="2400" i="1">
                        <a:solidFill>
                          <a:srgbClr val="111827"/>
                        </a:solidFill>
                        <a:latin typeface="Cambria Math" panose="02040503050406030204" pitchFamily="18" charset="0"/>
                      </a:rPr>
                      <m:t>40</m:t>
                    </m:r>
                  </m:oMath>
                </a14:m>
                <a:r>
                  <a:rPr sz="2400" b="0">
                    <a:solidFill>
                      <a:srgbClr val="111827"/>
                    </a:solidFill>
                    <a:latin typeface="Arial"/>
                  </a:rPr>
                  <a:t>, frequency </a:t>
                </a:r>
                <a14:m>
                  <m:oMath xmlns:m="http://schemas.openxmlformats.org/officeDocument/2006/math">
                    <m:r>
                      <a:rPr lang="en-IN" sz="2400" i="1">
                        <a:solidFill>
                          <a:srgbClr val="111827"/>
                        </a:solidFill>
                        <a:latin typeface="Cambria Math" panose="02040503050406030204" pitchFamily="18" charset="0"/>
                      </a:rPr>
                      <m:t>30</m:t>
                    </m:r>
                  </m:oMath>
                </a14:m>
                <a:r>
                  <a:rPr sz="2400" b="0">
                    <a:solidFill>
                      <a:srgbClr val="111827"/>
                    </a:solidFill>
                    <a:latin typeface="Arial"/>
                  </a:rPr>
                  <a:t>, class width </a:t>
                </a:r>
                <a14:m>
                  <m:oMath xmlns:m="http://schemas.openxmlformats.org/officeDocument/2006/math">
                    <m:r>
                      <a:rPr lang="en-IN" sz="2400" i="1">
                        <a:solidFill>
                          <a:srgbClr val="111827"/>
                        </a:solidFill>
                        <a:latin typeface="Cambria Math" panose="02040503050406030204" pitchFamily="18" charset="0"/>
                      </a:rPr>
                      <m:t>10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𝐹</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164</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Cumulative frequencies: </a:t>
                </a:r>
                <a:r>
                  <a:rPr lang="en-IN" sz="2400">
                    <a:solidFill>
                      <a:srgbClr val="111827"/>
                    </a:solidFill>
                    <a:latin typeface="Cambria Math" panose="02040503050406030204" pitchFamily="18" charset="0"/>
                  </a:rPr>
                  <a:t>$\alpha,\ \alpha+110,\ \alpha+164,\ \alpha+194,\ \alpha+\beta+194=584$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$N=584$</a:t>
                </a:r>
                <a:r>
                  <a:rPr sz="2400" b="0">
                    <a:solidFill>
                      <a:srgbClr val="111827"/>
                    </a:solidFill>
                    <a:latin typeface="Arial"/>
                  </a:rPr>
                  <a:t>, so </a:t>
                </a:r>
                <a:r>
                  <a:rPr lang="en-IN" sz="2400">
                    <a:solidFill>
                      <a:srgbClr val="111827"/>
                    </a:solidFill>
                    <a:latin typeface="Cambria Math" panose="02040503050406030204" pitchFamily="18" charset="0"/>
                  </a:rPr>
                  <a:t>$\alpha+\beta=584-194=390$</a:t>
                </a:r>
                <a:r>
                  <a:rPr sz="2400" b="0">
                    <a:solidFill>
                      <a:srgbClr val="111827"/>
                    </a:solidFill>
                    <a:latin typeface="Arial"/>
                  </a:rPr>
                  <a:t> and </a:t>
                </a:r>
                <a:r>
                  <a:rPr lang="en-IN" sz="2400">
                    <a:solidFill>
                      <a:srgbClr val="111827"/>
                    </a:solidFill>
                    <a:latin typeface="Cambria Math" panose="02040503050406030204" pitchFamily="18" charset="0"/>
                  </a:rPr>
                  <a:t>$\frac{N}{2}=292$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Median </a:t>
                </a:r>
                <a:r>
                  <a:rPr lang="en-IN" sz="2400">
                    <a:solidFill>
                      <a:srgbClr val="111827"/>
                    </a:solidFill>
                    <a:latin typeface="Cambria Math" panose="02040503050406030204" pitchFamily="18" charset="0"/>
                  </a:rPr>
                  <a:t>$45$</a:t>
                </a:r>
                <a:r>
                  <a:rPr sz="2400" b="0">
                    <a:solidFill>
                      <a:srgbClr val="111827"/>
                    </a:solidFill>
                    <a:latin typeface="Arial"/>
                  </a:rPr>
                  <a:t> lies in the class </a:t>
                </a:r>
                <a:r>
                  <a:rPr lang="en-IN" sz="2400">
                    <a:solidFill>
                      <a:srgbClr val="111827"/>
                    </a:solidFill>
                    <a:latin typeface="Cambria Math" panose="02040503050406030204" pitchFamily="18" charset="0"/>
                  </a:rPr>
                  <a:t>$40-50$</a:t>
                </a:r>
                <a:r>
                  <a:rPr sz="2400" b="0">
                    <a:solidFill>
                      <a:srgbClr val="111827"/>
                    </a:solidFill>
                    <a:latin typeface="Arial"/>
                  </a:rPr>
                  <a:t>: lower limit </a:t>
                </a:r>
                <a:r>
                  <a:rPr lang="en-IN" sz="2400">
                    <a:solidFill>
                      <a:srgbClr val="111827"/>
                    </a:solidFill>
                    <a:latin typeface="Cambria Math" panose="02040503050406030204" pitchFamily="18" charset="0"/>
                  </a:rPr>
                  <a:t>$40$</a:t>
                </a:r>
                <a:r>
                  <a:rPr sz="2400" b="0">
                    <a:solidFill>
                      <a:srgbClr val="111827"/>
                    </a:solidFill>
                    <a:latin typeface="Arial"/>
                  </a:rPr>
                  <a:t>, frequency </a:t>
                </a:r>
                <a:r>
                  <a:rPr lang="en-IN" sz="2400">
                    <a:solidFill>
                      <a:srgbClr val="111827"/>
                    </a:solidFill>
                    <a:latin typeface="Cambria Math" panose="02040503050406030204" pitchFamily="18" charset="0"/>
                  </a:rPr>
                  <a:t>$30$</a:t>
                </a:r>
                <a:r>
                  <a:rPr sz="2400" b="0">
                    <a:solidFill>
                      <a:srgbClr val="111827"/>
                    </a:solidFill>
                    <a:latin typeface="Arial"/>
                  </a:rPr>
                  <a:t>, class width </a:t>
                </a:r>
                <a:r>
                  <a:rPr lang="en-IN" sz="2400">
                    <a:solidFill>
                      <a:srgbClr val="111827"/>
                    </a:solidFill>
                    <a:latin typeface="Cambria Math" panose="02040503050406030204" pitchFamily="18" charset="0"/>
                  </a:rPr>
                  <a:t>$10$</a:t>
                </a:r>
                <a:r>
                  <a:rPr sz="2400" b="0">
                    <a:solidFill>
                      <a:srgbClr val="111827"/>
                    </a:solidFill>
                    <a:latin typeface="Arial"/>
                  </a:rPr>
                  <a:t>, </a:t>
                </a:r>
                <a:r>
                  <a:rPr lang="en-IN" sz="2400">
                    <a:solidFill>
                      <a:srgbClr val="111827"/>
                    </a:solidFill>
                    <a:latin typeface="Cambria Math" panose="02040503050406030204" pitchFamily="18" charset="0"/>
                  </a:rPr>
                  <a:t>$F=\alpha+164$</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Median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292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164</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30</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128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390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277</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277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164</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Median </a:t>
                </a:r>
                <a:r>
                  <a:rPr lang="en-IN" sz="2400">
                    <a:solidFill>
                      <a:srgbClr val="111827"/>
                    </a:solidFill>
                    <a:latin typeface="Cambria Math" panose="02040503050406030204" pitchFamily="18" charset="0"/>
                  </a:rPr>
                  <a:t>$=40+\left[\frac{292-(\alpha+164)}{30}\right]\times10=45$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$\frac{128-\alpha}{3}=5$</a:t>
                </a:r>
                <a:r>
                  <a:rPr sz="2400" b="0">
                    <a:solidFill>
                      <a:srgbClr val="111827"/>
                    </a:solidFill>
                    <a:latin typeface="Arial"/>
                  </a:rPr>
                  <a:t>, so </a:t>
                </a:r>
                <a:r>
                  <a:rPr lang="en-IN" sz="2400">
                    <a:solidFill>
                      <a:srgbClr val="111827"/>
                    </a:solidFill>
                    <a:latin typeface="Cambria Math" panose="02040503050406030204" pitchFamily="18" charset="0"/>
                  </a:rPr>
                  <a:t>$128-\alpha=15$</a:t>
                </a:r>
                <a:r>
                  <a:rPr sz="2400" b="0">
                    <a:solidFill>
                      <a:srgbClr val="111827"/>
                    </a:solidFill>
                    <a:latin typeface="Arial"/>
                  </a:rPr>
                  <a:t> and </a:t>
                </a:r>
                <a:r>
                  <a:rPr lang="en-IN" sz="2400">
                    <a:solidFill>
                      <a:srgbClr val="111827"/>
                    </a:solidFill>
                    <a:latin typeface="Cambria Math" panose="02040503050406030204" pitchFamily="18" charset="0"/>
                  </a:rPr>
                  <a:t>$\alpha=113$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$\beta=390-113=277$</a:t>
                </a:r>
                <a:r>
                  <a:rPr sz="2400" b="0">
                    <a:solidFill>
                      <a:srgbClr val="111827"/>
                    </a:solidFill>
                    <a:latin typeface="Arial"/>
                  </a:rPr>
                  <a:t>, so </a:t>
                </a:r>
                <a:r>
                  <a:rPr lang="en-IN" sz="2400">
                    <a:solidFill>
                      <a:srgbClr val="111827"/>
                    </a:solidFill>
                    <a:latin typeface="Cambria Math" panose="02040503050406030204" pitchFamily="18" charset="0"/>
                  </a:rPr>
                  <a:t>$|\alpha-\beta|=|113-277|=164$</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14:m>
                  <m:oMath xmlns:m="http://schemas.openxmlformats.org/officeDocument/2006/math">
                    <m:r>
                      <a:rPr lang="en-IN" sz="2800" i="1">
                        <a:solidFill>
                          <a:srgbClr val="15803D"/>
                        </a:solidFill>
                        <a:latin typeface="Cambria Math" panose="02040503050406030204" pitchFamily="18" charset="0"/>
                      </a:rPr>
                      <m:t>164</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r>
                  <a:rPr lang="en-IN" sz="2800">
                    <a:solidFill>
                      <a:srgbClr val="15803D"/>
                    </a:solidFill>
                    <a:latin typeface="Cambria Math" panose="02040503050406030204" pitchFamily="18" charset="0"/>
                  </a:rPr>
                  <a:t>$164$</a:t>
                </a:r>
                <a:endParaRPr sz="2800">
                  <a:solidFill>
                    <a:srgbClr val="15803D"/>
                  </a:solidFill>
                </a:endParaRPr>
              </a:p>
            </p:txBody>
          </p:sp>
        </mc:Fallback>
      </mc:AlternateContent>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45 is the mid-point of the median class </a:t>
                </a:r>
                <a14:m>
                  <m:oMath xmlns:m="http://schemas.openxmlformats.org/officeDocument/2006/math">
                    <m:r>
                      <a:rPr lang="en-IN" sz="2400" i="1">
                        <a:solidFill>
                          <a:srgbClr val="78350F"/>
                        </a:solidFill>
                        <a:latin typeface="Cambria Math" panose="02040503050406030204" pitchFamily="18" charset="0"/>
                      </a:rPr>
                      <m:t>40</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50</m:t>
                    </m:r>
                  </m:oMath>
                </a14:m>
                <a:r>
                  <a:rPr sz="2400" b="0">
                    <a:solidFill>
                      <a:srgbClr val="78350F"/>
                    </a:solidFill>
                    <a:latin typeface="Arial"/>
                  </a:rPr>
                  <a:t>, so exactly half of that class's frequency is needed.</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45 is the mid-point of the median class </a:t>
                </a:r>
                <a:r>
                  <a:rPr lang="en-IN" sz="2400">
                    <a:solidFill>
                      <a:srgbClr val="78350F"/>
                    </a:solidFill>
                    <a:latin typeface="Cambria Math" panose="02040503050406030204" pitchFamily="18" charset="0"/>
                  </a:rPr>
                  <a:t>$40-50$</a:t>
                </a:r>
                <a:r>
                  <a:rPr sz="2400" b="0">
                    <a:solidFill>
                      <a:srgbClr val="78350F"/>
                    </a:solidFill>
                    <a:latin typeface="Arial"/>
                  </a:rPr>
                  <a:t>, so exactly half of that class's frequency is needed.</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the median to be at the centre of </a:t>
                </a:r>
                <a14:m>
                  <m:oMath xmlns:m="http://schemas.openxmlformats.org/officeDocument/2006/math">
                    <m:r>
                      <a:rPr lang="en-IN" sz="2400" i="1">
                        <a:solidFill>
                          <a:srgbClr val="111827"/>
                        </a:solidFill>
                        <a:latin typeface="Cambria Math" panose="02040503050406030204" pitchFamily="18" charset="0"/>
                      </a:rPr>
                      <m:t>40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oMath>
                </a14:m>
                <a:r>
                  <a:rPr sz="2400" b="0">
                    <a:solidFill>
                      <a:srgbClr val="111827"/>
                    </a:solidFill>
                    <a:latin typeface="Arial"/>
                  </a:rPr>
                  <a:t>, the number of observations still needed after the cumulative frequency </a:t>
                </a:r>
                <a14:m>
                  <m:oMath xmlns:m="http://schemas.openxmlformats.org/officeDocument/2006/math">
                    <m:r>
                      <a:rPr lang="en-IN" sz="2400" i="1">
                        <a:solidFill>
                          <a:srgbClr val="111827"/>
                        </a:solidFill>
                        <a:latin typeface="Cambria Math" panose="02040503050406030204" pitchFamily="18" charset="0"/>
                      </a:rPr>
                      <m:t>𝐹</m:t>
                    </m:r>
                  </m:oMath>
                </a14:m>
                <a:r>
                  <a:rPr sz="2400" b="0">
                    <a:solidFill>
                      <a:srgbClr val="111827"/>
                    </a:solidFill>
                    <a:latin typeface="Arial"/>
                  </a:rPr>
                  <a:t> before the class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30</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𝑁</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𝐹</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292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giving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390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277</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164</m:t>
                    </m:r>
                  </m:oMath>
                </a14:m>
                <a:r>
                  <a:rPr sz="2400" b="0">
                    <a:solidFill>
                      <a:srgbClr val="111827"/>
                    </a:solidFill>
                    <a:latin typeface="Arial"/>
                  </a:rPr>
                  <a:t>, the same answer.</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the median to be at the centre of </a:t>
                </a:r>
                <a:r>
                  <a:rPr lang="en-IN" sz="2400">
                    <a:solidFill>
                      <a:srgbClr val="111827"/>
                    </a:solidFill>
                    <a:latin typeface="Cambria Math" panose="02040503050406030204" pitchFamily="18" charset="0"/>
                  </a:rPr>
                  <a:t>$40-50$</a:t>
                </a:r>
                <a:r>
                  <a:rPr sz="2400" b="0">
                    <a:solidFill>
                      <a:srgbClr val="111827"/>
                    </a:solidFill>
                    <a:latin typeface="Arial"/>
                  </a:rPr>
                  <a:t>, the number of observations still needed after the cumulative frequency </a:t>
                </a:r>
                <a:r>
                  <a:rPr lang="en-IN" sz="2400">
                    <a:solidFill>
                      <a:srgbClr val="111827"/>
                    </a:solidFill>
                    <a:latin typeface="Cambria Math" panose="02040503050406030204" pitchFamily="18" charset="0"/>
                  </a:rPr>
                  <a:t>$F$</a:t>
                </a:r>
                <a:r>
                  <a:rPr sz="2400" b="0">
                    <a:solidFill>
                      <a:srgbClr val="111827"/>
                    </a:solidFill>
                    <a:latin typeface="Arial"/>
                  </a:rPr>
                  <a:t> before the class is </a:t>
                </a:r>
                <a:r>
                  <a:rPr lang="en-IN" sz="2400">
                    <a:solidFill>
                      <a:srgbClr val="111827"/>
                    </a:solidFill>
                    <a:latin typeface="Cambria Math" panose="02040503050406030204" pitchFamily="18" charset="0"/>
                  </a:rPr>
                  <a:t>$\frac{30}{2}=15$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$\frac{N}{2}-F=15$</a:t>
                </a:r>
                <a:r>
                  <a:rPr sz="2400" b="0">
                    <a:solidFill>
                      <a:srgbClr val="111827"/>
                    </a:solidFill>
                    <a:latin typeface="Arial"/>
                  </a:rPr>
                  <a:t>: </a:t>
                </a:r>
                <a:r>
                  <a:rPr lang="en-IN" sz="2400">
                    <a:solidFill>
                      <a:srgbClr val="111827"/>
                    </a:solidFill>
                    <a:latin typeface="Cambria Math" panose="02040503050406030204" pitchFamily="18" charset="0"/>
                  </a:rPr>
                  <a:t>$292-(\alpha+164)=15$</a:t>
                </a:r>
                <a:r>
                  <a:rPr sz="2400" b="0">
                    <a:solidFill>
                      <a:srgbClr val="111827"/>
                    </a:solidFill>
                    <a:latin typeface="Arial"/>
                  </a:rPr>
                  <a:t>, giving </a:t>
                </a:r>
                <a:r>
                  <a:rPr lang="en-IN" sz="2400">
                    <a:solidFill>
                      <a:srgbClr val="111827"/>
                    </a:solidFill>
                    <a:latin typeface="Cambria Math" panose="02040503050406030204" pitchFamily="18" charset="0"/>
                  </a:rPr>
                  <a:t>$\alpha=113$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$\beta=390-113=277$</a:t>
                </a:r>
                <a:r>
                  <a:rPr sz="2400" b="0">
                    <a:solidFill>
                      <a:srgbClr val="111827"/>
                    </a:solidFill>
                    <a:latin typeface="Arial"/>
                  </a:rPr>
                  <a:t> and </a:t>
                </a:r>
                <a:r>
                  <a:rPr lang="en-IN" sz="2400">
                    <a:solidFill>
                      <a:srgbClr val="111827"/>
                    </a:solidFill>
                    <a:latin typeface="Cambria Math" panose="02040503050406030204" pitchFamily="18" charset="0"/>
                  </a:rPr>
                  <a:t>$|\alpha-\beta|=164$</a:t>
                </a:r>
                <a:r>
                  <a:rPr sz="2400" b="0">
                    <a:solidFill>
                      <a:srgbClr val="111827"/>
                    </a:solidFill>
                    <a:latin typeface="Arial"/>
                  </a:rPr>
                  <a:t>, the same answer.</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14:m>
                  <m:oMath xmlns:m="http://schemas.openxmlformats.org/officeDocument/2006/math">
                    <m:r>
                      <a:rPr lang="en-IN" sz="2800" i="1">
                        <a:solidFill>
                          <a:srgbClr val="15803D"/>
                        </a:solidFill>
                        <a:latin typeface="Cambria Math" panose="02040503050406030204" pitchFamily="18" charset="0"/>
                      </a:rPr>
                      <m:t>164</m:t>
                    </m:r>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r>
                  <a:rPr lang="en-IN" sz="2800">
                    <a:solidFill>
                      <a:srgbClr val="15803D"/>
                    </a:solidFill>
                    <a:latin typeface="Cambria Math" panose="02040503050406030204" pitchFamily="18" charset="0"/>
                  </a:rPr>
                  <a:t>$164$</a:t>
                </a:r>
                <a:endParaRPr sz="2800">
                  <a:solidFill>
                    <a:srgbClr val="15803D"/>
                  </a:solidFill>
                </a:endParaRPr>
              </a:p>
            </p:txBody>
          </p:sp>
        </mc:Fallback>
      </mc:AlternateContent>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Median of grouped data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𝑙</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𝑁</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𝐹</m:t>
                        </m:r>
                      </m:num>
                      <m:den>
                        <m:r>
                          <a:rPr lang="en-IN" sz="2400" i="1">
                            <a:solidFill>
                              <a:srgbClr val="111827"/>
                            </a:solidFill>
                            <a:latin typeface="Cambria Math" panose="02040503050406030204" pitchFamily="18" charset="0"/>
                          </a:rPr>
                          <m:t>𝑓</m:t>
                        </m:r>
                      </m:den>
                    </m:f>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ℎ</m:t>
                    </m:r>
                  </m:oMath>
                </a14:m>
                <a:r>
                  <a:rPr sz="2400" b="0">
                    <a:solidFill>
                      <a:srgbClr val="111827"/>
                    </a:solidFill>
                    <a:latin typeface="Arial"/>
                  </a:rPr>
                  <a:t>; the class width </a:t>
                </a:r>
                <a14:m>
                  <m:oMath xmlns:m="http://schemas.openxmlformats.org/officeDocument/2006/math">
                    <m:r>
                      <a:rPr lang="en-IN" sz="2400" i="1">
                        <a:solidFill>
                          <a:srgbClr val="111827"/>
                        </a:solidFill>
                        <a:latin typeface="Cambria Math" panose="02040503050406030204" pitchFamily="18" charset="0"/>
                      </a:rPr>
                      <m:t>ℎ</m:t>
                    </m:r>
                  </m:oMath>
                </a14:m>
                <a:r>
                  <a:rPr sz="2400" b="0">
                    <a:solidFill>
                      <a:srgbClr val="111827"/>
                    </a:solidFill>
                    <a:latin typeface="Arial"/>
                  </a:rPr>
                  <a:t> must be included (here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the median equals the mid-point of its class, then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𝑁</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𝐹</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𝑓</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which gives a one-line equation.</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Median of grouped data </a:t>
                </a:r>
                <a:r>
                  <a:rPr lang="en-IN" sz="2400">
                    <a:solidFill>
                      <a:srgbClr val="111827"/>
                    </a:solidFill>
                    <a:latin typeface="Cambria Math" panose="02040503050406030204" pitchFamily="18" charset="0"/>
                  </a:rPr>
                  <a:t>$=l+\frac{\frac N2-F}{f}\,h$</a:t>
                </a:r>
                <a:r>
                  <a:rPr sz="2400" b="0">
                    <a:solidFill>
                      <a:srgbClr val="111827"/>
                    </a:solidFill>
                    <a:latin typeface="Arial"/>
                  </a:rPr>
                  <a:t>; the class width </a:t>
                </a:r>
                <a:r>
                  <a:rPr lang="en-IN" sz="2400">
                    <a:solidFill>
                      <a:srgbClr val="111827"/>
                    </a:solidFill>
                    <a:latin typeface="Cambria Math" panose="02040503050406030204" pitchFamily="18" charset="0"/>
                  </a:rPr>
                  <a:t>$h$</a:t>
                </a:r>
                <a:r>
                  <a:rPr sz="2400" b="0">
                    <a:solidFill>
                      <a:srgbClr val="111827"/>
                    </a:solidFill>
                    <a:latin typeface="Arial"/>
                  </a:rPr>
                  <a:t> must be included (here </a:t>
                </a:r>
                <a:r>
                  <a:rPr lang="en-IN" sz="2400">
                    <a:solidFill>
                      <a:srgbClr val="111827"/>
                    </a:solidFill>
                    <a:latin typeface="Cambria Math" panose="02040503050406030204" pitchFamily="18" charset="0"/>
                  </a:rPr>
                  <a:t>$h=10$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the median equals the mid-point of its class, then </a:t>
                </a:r>
                <a:r>
                  <a:rPr lang="en-IN" sz="2400">
                    <a:solidFill>
                      <a:srgbClr val="111827"/>
                    </a:solidFill>
                    <a:latin typeface="Cambria Math" panose="02040503050406030204" pitchFamily="18" charset="0"/>
                  </a:rPr>
                  <a:t>$\frac{N}{2}-F=\frac{f}{2}$</a:t>
                </a:r>
                <a:r>
                  <a:rPr sz="2400" b="0">
                    <a:solidFill>
                      <a:srgbClr val="111827"/>
                    </a:solidFill>
                    <a:latin typeface="Arial"/>
                  </a:rPr>
                  <a:t>, which gives a one-line equation.</a:t>
                </a:r>
                <a:endParaRPr sz="2400">
                  <a:solidFill>
                    <a:srgbClr val="111827"/>
                  </a:solidFill>
                </a:endParaRPr>
              </a:p>
            </p:txBody>
          </p:sp>
        </mc:Fallback>
      </mc:AlternateContent>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13</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Single Correct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Q51 – Q52</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4 marks each (no marks printed in the sheet - JEE Advanced default of 4 assumed)</a:t>
            </a:r>
            <a:endParaRPr sz="2800">
              <a:solidFill>
                <a:srgbClr val="FFFFFF"/>
              </a:solidFill>
            </a:endParaRP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8153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mean and standard deviation of 20 observations were calculated as 10 and </a:t>
                </a:r>
                <a14:m>
                  <m:oMath xmlns:m="http://schemas.openxmlformats.org/officeDocument/2006/math">
                    <m:r>
                      <a:rPr lang="en-IN" sz="2400" i="1">
                        <a:solidFill>
                          <a:srgbClr val="111827"/>
                        </a:solidFill>
                        <a:latin typeface="Cambria Math" panose="02040503050406030204" pitchFamily="18" charset="0"/>
                      </a:rPr>
                      <m:t>2.5</m:t>
                    </m:r>
                  </m:oMath>
                </a14:m>
                <a:r>
                  <a:rPr sz="2400" b="0">
                    <a:solidFill>
                      <a:srgbClr val="111827"/>
                    </a:solidFill>
                    <a:latin typeface="Arial"/>
                  </a:rPr>
                  <a:t> respectively. It was found that by mistake one data value was taken as 25 instead of 35. If </a:t>
                </a:r>
                <a14:m>
                  <m:oMath xmlns:m="http://schemas.openxmlformats.org/officeDocument/2006/math">
                    <m:r>
                      <a:rPr lang="en-IN" sz="2400" i="1">
                        <a:solidFill>
                          <a:srgbClr val="111827"/>
                        </a:solidFill>
                        <a:latin typeface="Cambria Math" panose="02040503050406030204" pitchFamily="18" charset="0"/>
                      </a:rPr>
                      <m:t>α</m:t>
                    </m:r>
                  </m:oMath>
                </a14:m>
                <a:r>
                  <a:rPr sz="2400" b="0">
                    <a:solidFill>
                      <a:srgbClr val="111827"/>
                    </a:solidFill>
                    <a:latin typeface="Arial"/>
                  </a:rPr>
                  <a:t> and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β</m:t>
                        </m:r>
                      </m:e>
                    </m:rad>
                  </m:oMath>
                </a14:m>
                <a:r>
                  <a:rPr sz="2400" b="0">
                    <a:solidFill>
                      <a:srgbClr val="111827"/>
                    </a:solidFill>
                    <a:latin typeface="Arial"/>
                  </a:rPr>
                  <a:t> are the mean and standard deviation respectively for correct data, then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(C)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26</m:t>
                    </m:r>
                    <m:r>
                      <m:rPr>
                        <m:sty m:val="p"/>
                      </m:rPr>
                      <a:rPr lang="en-IN" sz="2400">
                        <a:solidFill>
                          <a:srgbClr val="111827"/>
                        </a:solidFill>
                        <a:latin typeface="Cambria Math" panose="02040503050406030204" pitchFamily="18" charset="0"/>
                      </a:rPr>
                      <m:t>)</m:t>
                    </m:r>
                  </m:oMath>
                </a14:m>
                <a:endParaRPr sz="2400">
                  <a:solidFill>
                    <a:srgbClr val="111827"/>
                  </a:solidFill>
                </a:endParaRPr>
              </a:p>
            </p:txBody>
          </p:sp>
        </mc:Choice>
        <mc:Fallback>
          <p:sp>
            <p:nvSpPr>
              <p:cNvPr id="4" name="Rounded Rectangle 3"/>
              <p:cNvSpPr/>
              <p:nvPr/>
            </p:nvSpPr>
            <p:spPr>
              <a:xfrm>
                <a:off x="731520" y="1280160"/>
                <a:ext cx="10725912" cy="28153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mean and standard deviation of 20 observations were calculated as 10 and </a:t>
                </a:r>
                <a:r>
                  <a:rPr lang="en-IN" sz="2400">
                    <a:solidFill>
                      <a:srgbClr val="111827"/>
                    </a:solidFill>
                    <a:latin typeface="Cambria Math" panose="02040503050406030204" pitchFamily="18" charset="0"/>
                  </a:rPr>
                  <a:t>$2.5$</a:t>
                </a:r>
                <a:r>
                  <a:rPr sz="2400" b="0">
                    <a:solidFill>
                      <a:srgbClr val="111827"/>
                    </a:solidFill>
                    <a:latin typeface="Arial"/>
                  </a:rPr>
                  <a:t> respectively. It was found that by mistake one data value was taken as 25 instead of 35. If </a:t>
                </a:r>
                <a:r>
                  <a:rPr lang="en-IN" sz="2400">
                    <a:solidFill>
                      <a:srgbClr val="111827"/>
                    </a:solidFill>
                    <a:latin typeface="Cambria Math" panose="02040503050406030204" pitchFamily="18" charset="0"/>
                  </a:rPr>
                  <a:t>$\alpha$</a:t>
                </a:r>
                <a:r>
                  <a:rPr sz="2400" b="0">
                    <a:solidFill>
                      <a:srgbClr val="111827"/>
                    </a:solidFill>
                    <a:latin typeface="Arial"/>
                  </a:rPr>
                  <a:t> and </a:t>
                </a:r>
                <a:r>
                  <a:rPr lang="en-IN" sz="2400">
                    <a:solidFill>
                      <a:srgbClr val="111827"/>
                    </a:solidFill>
                    <a:latin typeface="Cambria Math" panose="02040503050406030204" pitchFamily="18" charset="0"/>
                  </a:rPr>
                  <a:t>$\sqrt{\beta}$</a:t>
                </a:r>
                <a:r>
                  <a:rPr sz="2400" b="0">
                    <a:solidFill>
                      <a:srgbClr val="111827"/>
                    </a:solidFill>
                    <a:latin typeface="Arial"/>
                  </a:rPr>
                  <a:t> are the mean and standard deviation respectively for correct data, then </a:t>
                </a:r>
                <a:r>
                  <a:rPr lang="en-IN" sz="2400">
                    <a:solidFill>
                      <a:srgbClr val="111827"/>
                    </a:solidFill>
                    <a:latin typeface="Cambria Math" panose="02040503050406030204" pitchFamily="18" charset="0"/>
                  </a:rPr>
                  <a:t>$(\alpha,\beta)$</a:t>
                </a:r>
                <a:r>
                  <a:rPr sz="2400" b="0">
                    <a:solidFill>
                      <a:srgbClr val="111827"/>
                    </a:solidFill>
                    <a:latin typeface="Arial"/>
                  </a:rPr>
                  <a:t> is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$(11,25)$</a:t>
                </a:r>
                <a:r>
                  <a:rPr sz="2400" b="0">
                    <a:solidFill>
                      <a:srgbClr val="111827"/>
                    </a:solidFill>
                    <a:latin typeface="Arial"/>
                  </a:rPr>
                  <a:t>   (B) </a:t>
                </a:r>
                <a:r>
                  <a:rPr lang="en-IN" sz="2400">
                    <a:solidFill>
                      <a:srgbClr val="111827"/>
                    </a:solidFill>
                    <a:latin typeface="Cambria Math" panose="02040503050406030204" pitchFamily="18" charset="0"/>
                  </a:rPr>
                  <a:t>$(10.5,25)$</a:t>
                </a:r>
                <a:r>
                  <a:rPr sz="2400" b="0">
                    <a:solidFill>
                      <a:srgbClr val="111827"/>
                    </a:solidFill>
                    <a:latin typeface="Arial"/>
                  </a:rPr>
                  <a:t>   (C) </a:t>
                </a:r>
                <a:r>
                  <a:rPr lang="en-IN" sz="2400">
                    <a:solidFill>
                      <a:srgbClr val="111827"/>
                    </a:solidFill>
                    <a:latin typeface="Cambria Math" panose="02040503050406030204" pitchFamily="18" charset="0"/>
                  </a:rPr>
                  <a:t>$(11,26)$</a:t>
                </a:r>
                <a:r>
                  <a:rPr sz="2400" b="0">
                    <a:solidFill>
                      <a:srgbClr val="111827"/>
                    </a:solidFill>
                    <a:latin typeface="Arial"/>
                  </a:rPr>
                  <a:t>   (D) </a:t>
                </a:r>
                <a:r>
                  <a:rPr lang="en-IN" sz="2400">
                    <a:solidFill>
                      <a:srgbClr val="111827"/>
                    </a:solidFill>
                    <a:latin typeface="Cambria Math" panose="02040503050406030204" pitchFamily="18" charset="0"/>
                  </a:rPr>
                  <a:t>$(10.5,26)$</a:t>
                </a:r>
                <a:endParaRPr sz="2400">
                  <a:solidFill>
                    <a:srgbClr val="111827"/>
                  </a:solidFill>
                </a:endParaRPr>
              </a:p>
            </p:txBody>
          </p:sp>
        </mc:Fallback>
      </mc:AlternateContent>
      <p:sp>
        <p:nvSpPr>
          <p:cNvPr id="5" name="Rectangle 4"/>
          <p:cNvSpPr/>
          <p:nvPr/>
        </p:nvSpPr>
        <p:spPr>
          <a:xfrm>
            <a:off x="731520" y="4324095"/>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Correcting a wrongly recorded observation (mean and standard deviation)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Correct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oMath>
                </a14:m>
                <a:r>
                  <a:rPr sz="2400" b="0">
                    <a:solidFill>
                      <a:srgbClr val="78350F"/>
                    </a:solidFill>
                    <a:latin typeface="Arial"/>
                  </a:rPr>
                  <a:t> (by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10</m:t>
                    </m:r>
                  </m:oMath>
                </a14:m>
                <a:r>
                  <a:rPr sz="2400" b="0">
                    <a:solidFill>
                      <a:srgbClr val="78350F"/>
                    </a:solidFill>
                    <a:latin typeface="Arial"/>
                  </a:rPr>
                  <a:t>) and </a:t>
                </a:r>
                <a14:m>
                  <m:oMath xmlns:m="http://schemas.openxmlformats.org/officeDocument/2006/math">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(by </a:t>
                </a:r>
                <a14:m>
                  <m:oMath xmlns:m="http://schemas.openxmlformats.org/officeDocument/2006/math">
                    <m:sSup>
                      <m:e>
                        <m:r>
                          <a:rPr lang="en-IN" sz="2400" i="1">
                            <a:solidFill>
                              <a:srgbClr val="78350F"/>
                            </a:solidFill>
                            <a:latin typeface="Cambria Math" panose="02040503050406030204" pitchFamily="18" charset="0"/>
                          </a:rPr>
                          <m:t>35</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25</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and recompute.</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Correct </a:t>
                </a:r>
                <a:r>
                  <a:rPr lang="en-IN" sz="2400">
                    <a:solidFill>
                      <a:srgbClr val="78350F"/>
                    </a:solidFill>
                    <a:latin typeface="Cambria Math" panose="02040503050406030204" pitchFamily="18" charset="0"/>
                  </a:rPr>
                  <a:t>$\sum x$</a:t>
                </a:r>
                <a:r>
                  <a:rPr sz="2400" b="0">
                    <a:solidFill>
                      <a:srgbClr val="78350F"/>
                    </a:solidFill>
                    <a:latin typeface="Arial"/>
                  </a:rPr>
                  <a:t> (by </a:t>
                </a:r>
                <a:r>
                  <a:rPr lang="en-IN" sz="2400">
                    <a:solidFill>
                      <a:srgbClr val="78350F"/>
                    </a:solidFill>
                    <a:latin typeface="Cambria Math" panose="02040503050406030204" pitchFamily="18" charset="0"/>
                  </a:rPr>
                  <a:t>$+10$</a:t>
                </a:r>
                <a:r>
                  <a:rPr sz="2400" b="0">
                    <a:solidFill>
                      <a:srgbClr val="78350F"/>
                    </a:solidFill>
                    <a:latin typeface="Arial"/>
                  </a:rPr>
                  <a:t>) and </a:t>
                </a:r>
                <a:r>
                  <a:rPr lang="en-IN" sz="2400">
                    <a:solidFill>
                      <a:srgbClr val="78350F"/>
                    </a:solidFill>
                    <a:latin typeface="Cambria Math" panose="02040503050406030204" pitchFamily="18" charset="0"/>
                  </a:rPr>
                  <a:t>$\sum x^2$</a:t>
                </a:r>
                <a:r>
                  <a:rPr sz="2400" b="0">
                    <a:solidFill>
                      <a:srgbClr val="78350F"/>
                    </a:solidFill>
                    <a:latin typeface="Arial"/>
                  </a:rPr>
                  <a:t> (by </a:t>
                </a:r>
                <a:r>
                  <a:rPr lang="en-IN" sz="2400">
                    <a:solidFill>
                      <a:srgbClr val="78350F"/>
                    </a:solidFill>
                    <a:latin typeface="Cambria Math" panose="02040503050406030204" pitchFamily="18" charset="0"/>
                  </a:rPr>
                  <a:t>$35^2-25^2$</a:t>
                </a:r>
                <a:r>
                  <a:rPr sz="2400" b="0">
                    <a:solidFill>
                      <a:srgbClr val="78350F"/>
                    </a:solidFill>
                    <a:latin typeface="Arial"/>
                  </a:rPr>
                  <a:t>) and recompute.</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2</m:t>
                            </m:r>
                          </m:sup>
                        </m:sSubSup>
                      </m:num>
                      <m:den>
                        <m:r>
                          <a:rPr lang="en-IN" sz="2400" i="1">
                            <a:solidFill>
                              <a:srgbClr val="111827"/>
                            </a:solidFill>
                            <a:latin typeface="Cambria Math" panose="02040503050406030204" pitchFamily="18" charset="0"/>
                          </a:rPr>
                          <m:t>20</m:t>
                        </m:r>
                      </m:den>
                    </m:f>
                    <m:r>
                      <m:rPr>
                        <m:sty m:val="p"/>
                      </m:rPr>
                      <a:rPr lang="en-IN" sz="2400">
                        <a:solidFill>
                          <a:srgbClr val="111827"/>
                        </a:solidFill>
                        <a:latin typeface="Cambria Math" panose="02040503050406030204" pitchFamily="18" charset="0"/>
                      </a:rPr>
                      <m:t>−</m:t>
                    </m:r>
                    <m:sSup>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6.25</m:t>
                    </m:r>
                  </m:oMath>
                </a14:m>
                <a:r>
                  <a:rPr sz="2400" b="0">
                    <a:solidFill>
                      <a:srgbClr val="111827"/>
                    </a:solidFill>
                    <a:latin typeface="Arial"/>
                  </a:rPr>
                  <a:t>, so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2</m:t>
                            </m:r>
                          </m:sup>
                        </m:sSubSup>
                      </m:num>
                      <m:den>
                        <m:r>
                          <a:rPr lang="en-IN" sz="2400" i="1">
                            <a:solidFill>
                              <a:srgbClr val="111827"/>
                            </a:solidFill>
                            <a:latin typeface="Cambria Math" panose="02040503050406030204" pitchFamily="18" charset="0"/>
                          </a:rPr>
                          <m:t>20</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106.25</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2125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Correct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210</m:t>
                        </m:r>
                      </m:num>
                      <m:den>
                        <m:r>
                          <a:rPr lang="en-IN" sz="2400" i="1">
                            <a:solidFill>
                              <a:srgbClr val="111827"/>
                            </a:solidFill>
                            <a:latin typeface="Cambria Math" panose="02040503050406030204" pitchFamily="18" charset="0"/>
                          </a:rPr>
                          <m:t>20</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10.5</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$n=20$</a:t>
                </a:r>
                <a:r>
                  <a:rPr sz="2400" b="0">
                    <a:solidFill>
                      <a:srgbClr val="111827"/>
                    </a:solidFill>
                    <a:latin typeface="Arial"/>
                  </a:rPr>
                  <a:t>, </a:t>
                </a:r>
                <a:r>
                  <a:rPr lang="en-IN" sz="2400">
                    <a:solidFill>
                      <a:srgbClr val="111827"/>
                    </a:solidFill>
                    <a:latin typeface="Cambria Math" panose="02040503050406030204" pitchFamily="18" charset="0"/>
                  </a:rPr>
                  <a:t>$\bar{x}=10$</a:t>
                </a:r>
                <a:r>
                  <a:rPr sz="2400" b="0">
                    <a:solidFill>
                      <a:srgbClr val="111827"/>
                    </a:solidFill>
                    <a:latin typeface="Arial"/>
                  </a:rPr>
                  <a:t>, </a:t>
                </a:r>
                <a:r>
                  <a:rPr lang="en-IN" sz="2400">
                    <a:solidFill>
                      <a:srgbClr val="111827"/>
                    </a:solidFill>
                    <a:latin typeface="Cambria Math" panose="02040503050406030204" pitchFamily="18" charset="0"/>
                  </a:rPr>
                  <a:t>$\sigma=2.5$</a:t>
                </a:r>
                <a:r>
                  <a:rPr sz="2400" b="0">
                    <a:solidFill>
                      <a:srgbClr val="111827"/>
                    </a:solidFill>
                    <a:latin typeface="Arial"/>
                  </a:rPr>
                  <a:t>: </a:t>
                </a:r>
                <a:r>
                  <a:rPr lang="en-IN" sz="2400">
                    <a:solidFill>
                      <a:srgbClr val="111827"/>
                    </a:solidFill>
                    <a:latin typeface="Cambria Math" panose="02040503050406030204" pitchFamily="18" charset="0"/>
                  </a:rPr>
                  <a:t>$\sum x_i=200$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$\sigma^2=\frac{\sum x_i^2}{20}-\bar{x}^2=6.25$</a:t>
                </a:r>
                <a:r>
                  <a:rPr sz="2400" b="0">
                    <a:solidFill>
                      <a:srgbClr val="111827"/>
                    </a:solidFill>
                    <a:latin typeface="Arial"/>
                  </a:rPr>
                  <a:t>, so </a:t>
                </a:r>
                <a:r>
                  <a:rPr lang="en-IN" sz="2400">
                    <a:solidFill>
                      <a:srgbClr val="111827"/>
                    </a:solidFill>
                    <a:latin typeface="Cambria Math" panose="02040503050406030204" pitchFamily="18" charset="0"/>
                  </a:rPr>
                  <a:t>$\frac{\sum x_i^2}{20}=106.25$</a:t>
                </a:r>
                <a:r>
                  <a:rPr sz="2400" b="0">
                    <a:solidFill>
                      <a:srgbClr val="111827"/>
                    </a:solidFill>
                    <a:latin typeface="Arial"/>
                  </a:rPr>
                  <a:t> and </a:t>
                </a:r>
                <a:r>
                  <a:rPr lang="en-IN" sz="2400">
                    <a:solidFill>
                      <a:srgbClr val="111827"/>
                    </a:solidFill>
                    <a:latin typeface="Cambria Math" panose="02040503050406030204" pitchFamily="18" charset="0"/>
                  </a:rPr>
                  <a:t>$\sum x_i^2=2125$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Correct </a:t>
                </a:r>
                <a:r>
                  <a:rPr lang="en-IN" sz="2400">
                    <a:solidFill>
                      <a:srgbClr val="111827"/>
                    </a:solidFill>
                    <a:latin typeface="Cambria Math" panose="02040503050406030204" pitchFamily="18" charset="0"/>
                  </a:rPr>
                  <a:t>$\sum x_i=200-25+35=210$</a:t>
                </a:r>
                <a:r>
                  <a:rPr sz="2400" b="0">
                    <a:solidFill>
                      <a:srgbClr val="111827"/>
                    </a:solidFill>
                    <a:latin typeface="Arial"/>
                  </a:rPr>
                  <a:t>, so </a:t>
                </a:r>
                <a:r>
                  <a:rPr lang="en-IN" sz="2400">
                    <a:solidFill>
                      <a:srgbClr val="111827"/>
                    </a:solidFill>
                    <a:latin typeface="Cambria Math" panose="02040503050406030204" pitchFamily="18" charset="0"/>
                  </a:rPr>
                  <a:t>$\alpha=\bar{x}=\frac{210}{20}=10.5$</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Correct </a:t>
                </a:r>
                <a14:m>
                  <m:oMath xmlns:m="http://schemas.openxmlformats.org/officeDocument/2006/math">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2125</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25</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35</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2725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2725</m:t>
                        </m:r>
                      </m:num>
                      <m:den>
                        <m:r>
                          <a:rPr lang="en-IN" sz="2400" i="1">
                            <a:solidFill>
                              <a:srgbClr val="111827"/>
                            </a:solidFill>
                            <a:latin typeface="Cambria Math" panose="02040503050406030204" pitchFamily="18" charset="0"/>
                          </a:rPr>
                          <m:t>20</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10.5</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136.25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110.25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option (D).</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Correct </a:t>
                </a:r>
                <a:r>
                  <a:rPr lang="en-IN" sz="2400">
                    <a:solidFill>
                      <a:srgbClr val="111827"/>
                    </a:solidFill>
                    <a:latin typeface="Cambria Math" panose="02040503050406030204" pitchFamily="18" charset="0"/>
                  </a:rPr>
                  <a:t>$\sum x_i^2=2125-25^2+35^2=2725$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$\beta=\sigma^2=\frac{2725}{20}-(10.5)^2=136.25-110.25=26$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$(\alpha,\beta)=(10.5,26)$</a:t>
                </a:r>
                <a:r>
                  <a:rPr sz="2400" b="0">
                    <a:solidFill>
                      <a:srgbClr val="111827"/>
                    </a:solidFill>
                    <a:latin typeface="Arial"/>
                  </a:rPr>
                  <a:t>, option (D).</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14:m>
                  <m:oMath xmlns:m="http://schemas.openxmlformats.org/officeDocument/2006/math">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10.5</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26</m:t>
                    </m:r>
                    <m:r>
                      <m:rPr>
                        <m:sty m:val="p"/>
                      </m:rPr>
                      <a:rPr lang="en-IN" sz="2800">
                        <a:solidFill>
                          <a:srgbClr val="15803D"/>
                        </a:solidFill>
                        <a:latin typeface="Cambria Math" panose="02040503050406030204" pitchFamily="18" charset="0"/>
                      </a:rPr>
                      <m:t>)</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r>
                  <a:rPr lang="en-IN" sz="2800">
                    <a:solidFill>
                      <a:srgbClr val="15803D"/>
                    </a:solidFill>
                    <a:latin typeface="Cambria Math" panose="02040503050406030204" pitchFamily="18" charset="0"/>
                  </a:rPr>
                  <a:t>$(10.5,26)$</a:t>
                </a:r>
                <a:endParaRPr sz="2800">
                  <a:solidFill>
                    <a:srgbClr val="15803D"/>
                  </a:solidFill>
                </a:endParaRPr>
              </a:p>
            </p:txBody>
          </p:sp>
        </mc:Fallback>
      </mc:AlternateContent>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Update formula for a replaced observation (old variance corrected, no raw sums).</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value </a:t>
                </a:r>
                <a14:m>
                  <m:oMath xmlns:m="http://schemas.openxmlformats.org/officeDocument/2006/math">
                    <m:r>
                      <a:rPr lang="en-IN" sz="2400" i="1">
                        <a:solidFill>
                          <a:srgbClr val="111827"/>
                        </a:solidFill>
                        <a:latin typeface="Cambria Math" panose="02040503050406030204" pitchFamily="18" charset="0"/>
                      </a:rPr>
                      <m:t>25</m:t>
                    </m:r>
                  </m:oMath>
                </a14:m>
                <a:r>
                  <a:rPr sz="2400" b="0">
                    <a:solidFill>
                      <a:srgbClr val="111827"/>
                    </a:solidFill>
                    <a:latin typeface="Arial"/>
                  </a:rPr>
                  <a:t> is replaced by </a:t>
                </a:r>
                <a14:m>
                  <m:oMath xmlns:m="http://schemas.openxmlformats.org/officeDocument/2006/math">
                    <m:r>
                      <a:rPr lang="en-IN" sz="2400" i="1">
                        <a:solidFill>
                          <a:srgbClr val="111827"/>
                        </a:solidFill>
                        <a:latin typeface="Cambria Math" panose="02040503050406030204" pitchFamily="18" charset="0"/>
                      </a:rPr>
                      <m:t>35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oMath>
                </a14:m>
                <a:r>
                  <a:rPr sz="2400" b="0">
                    <a:solidFill>
                      <a:srgbClr val="111827"/>
                    </a:solidFill>
                    <a:latin typeface="Arial"/>
                  </a:rPr>
                  <a:t>, old mean </a:t>
                </a:r>
                <a14:m>
                  <m:oMath xmlns:m="http://schemas.openxmlformats.org/officeDocument/2006/math">
                    <m:r>
                      <a:rPr lang="en-IN" sz="2400" i="1">
                        <a:solidFill>
                          <a:srgbClr val="111827"/>
                        </a:solidFill>
                        <a:latin typeface="Cambria Math" panose="02040503050406030204" pitchFamily="18" charset="0"/>
                      </a:rPr>
                      <m:t>10</m:t>
                    </m:r>
                  </m:oMath>
                </a14:m>
                <a:r>
                  <a:rPr sz="2400" b="0">
                    <a:solidFill>
                      <a:srgbClr val="111827"/>
                    </a:solidFill>
                    <a:latin typeface="Arial"/>
                  </a:rPr>
                  <a:t>, new mean </a:t>
                </a:r>
                <a14:m>
                  <m:oMath xmlns:m="http://schemas.openxmlformats.org/officeDocument/2006/math">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20</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σ</m:t>
                        </m:r>
                      </m:e>
                      <m:sup>
                        <m:r>
                          <m:rPr>
                            <m:sty m:val="p"/>
                          </m:rPr>
                          <a:rPr lang="en-IN" sz="2400">
                            <a:solidFill>
                              <a:srgbClr val="111827"/>
                            </a:solidFill>
                            <a:latin typeface="Cambria Math" panose="02040503050406030204" pitchFamily="18" charset="0"/>
                          </a:rPr>
                          <m:t>′</m:t>
                        </m:r>
                      </m:sup>
                    </m:sSup>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35</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25</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20</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10.5</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10</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same answer.</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value </a:t>
                </a:r>
                <a:r>
                  <a:rPr lang="en-IN" sz="2400">
                    <a:solidFill>
                      <a:srgbClr val="111827"/>
                    </a:solidFill>
                    <a:latin typeface="Cambria Math" panose="02040503050406030204" pitchFamily="18" charset="0"/>
                  </a:rPr>
                  <a:t>$25$</a:t>
                </a:r>
                <a:r>
                  <a:rPr sz="2400" b="0">
                    <a:solidFill>
                      <a:srgbClr val="111827"/>
                    </a:solidFill>
                    <a:latin typeface="Arial"/>
                  </a:rPr>
                  <a:t> is replaced by </a:t>
                </a:r>
                <a:r>
                  <a:rPr lang="en-IN" sz="2400">
                    <a:solidFill>
                      <a:srgbClr val="111827"/>
                    </a:solidFill>
                    <a:latin typeface="Cambria Math" panose="02040503050406030204" pitchFamily="18" charset="0"/>
                  </a:rPr>
                  <a:t>$35$</a:t>
                </a:r>
                <a:r>
                  <a:rPr sz="2400" b="0">
                    <a:solidFill>
                      <a:srgbClr val="111827"/>
                    </a:solidFill>
                    <a:latin typeface="Arial"/>
                  </a:rPr>
                  <a:t>: </a:t>
                </a:r>
                <a:r>
                  <a:rPr lang="en-IN" sz="2400">
                    <a:solidFill>
                      <a:srgbClr val="111827"/>
                    </a:solidFill>
                    <a:latin typeface="Cambria Math" panose="02040503050406030204" pitchFamily="18" charset="0"/>
                  </a:rPr>
                  <a:t>$n=20$</a:t>
                </a:r>
                <a:r>
                  <a:rPr sz="2400" b="0">
                    <a:solidFill>
                      <a:srgbClr val="111827"/>
                    </a:solidFill>
                    <a:latin typeface="Arial"/>
                  </a:rPr>
                  <a:t>, old mean </a:t>
                </a:r>
                <a:r>
                  <a:rPr lang="en-IN" sz="2400">
                    <a:solidFill>
                      <a:srgbClr val="111827"/>
                    </a:solidFill>
                    <a:latin typeface="Cambria Math" panose="02040503050406030204" pitchFamily="18" charset="0"/>
                  </a:rPr>
                  <a:t>$10$</a:t>
                </a:r>
                <a:r>
                  <a:rPr sz="2400" b="0">
                    <a:solidFill>
                      <a:srgbClr val="111827"/>
                    </a:solidFill>
                    <a:latin typeface="Arial"/>
                  </a:rPr>
                  <a:t>, new mean </a:t>
                </a:r>
                <a:r>
                  <a:rPr lang="en-IN" sz="2400">
                    <a:solidFill>
                      <a:srgbClr val="111827"/>
                    </a:solidFill>
                    <a:latin typeface="Cambria Math" panose="02040503050406030204" pitchFamily="18" charset="0"/>
                  </a:rPr>
                  <a:t>$10+\frac{10}{20}=10.5$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$\sigma'^2=\sigma^2+\frac{35^2-25^2}{20}-(10.5^2-10^2)=6.25+30-10.25=26$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$(\alpha,\beta)=(10.5,26)$</a:t>
                </a:r>
                <a:r>
                  <a:rPr sz="2400" b="0">
                    <a:solidFill>
                      <a:srgbClr val="111827"/>
                    </a:solidFill>
                    <a:latin typeface="Arial"/>
                  </a:rPr>
                  <a:t>, the same answer.</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14:m>
                  <m:oMath xmlns:m="http://schemas.openxmlformats.org/officeDocument/2006/math">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10.5</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26</m:t>
                    </m:r>
                    <m:r>
                      <m:rPr>
                        <m:sty m:val="p"/>
                      </m:rPr>
                      <a:rPr lang="en-IN" sz="2800">
                        <a:solidFill>
                          <a:srgbClr val="15803D"/>
                        </a:solidFill>
                        <a:latin typeface="Cambria Math" panose="02040503050406030204" pitchFamily="18" charset="0"/>
                      </a:rPr>
                      <m:t>)</m:t>
                    </m:r>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r>
                  <a:rPr lang="en-IN" sz="2800">
                    <a:solidFill>
                      <a:srgbClr val="15803D"/>
                    </a:solidFill>
                    <a:latin typeface="Cambria Math" panose="02040503050406030204" pitchFamily="18" charset="0"/>
                  </a:rPr>
                  <a:t>$(10.5,26)$</a:t>
                </a:r>
                <a:endParaRPr sz="2800">
                  <a:solidFill>
                    <a:srgbClr val="15803D"/>
                  </a:solidFill>
                </a:endParaRPr>
              </a:p>
            </p:txBody>
          </p:sp>
        </mc:Fallback>
      </mc:AlternateContent>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makes the correction of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quick: </a:t>
                </a:r>
                <a14:m>
                  <m:oMath xmlns:m="http://schemas.openxmlformats.org/officeDocument/2006/math">
                    <m:sSup>
                      <m:e>
                        <m:r>
                          <a:rPr lang="en-IN" sz="2400" i="1">
                            <a:solidFill>
                              <a:srgbClr val="111827"/>
                            </a:solidFill>
                            <a:latin typeface="Cambria Math" panose="02040503050406030204" pitchFamily="18" charset="0"/>
                          </a:rPr>
                          <m:t>35</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25</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Note that the question asks for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the variance, not the standard deviation.</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$a^2-b^2=(a-b)(a+b)$</a:t>
                </a:r>
                <a:r>
                  <a:rPr sz="2400" b="0">
                    <a:solidFill>
                      <a:srgbClr val="111827"/>
                    </a:solidFill>
                    <a:latin typeface="Arial"/>
                  </a:rPr>
                  <a:t> makes the correction of </a:t>
                </a:r>
                <a:r>
                  <a:rPr lang="en-IN" sz="2400">
                    <a:solidFill>
                      <a:srgbClr val="111827"/>
                    </a:solidFill>
                    <a:latin typeface="Cambria Math" panose="02040503050406030204" pitchFamily="18" charset="0"/>
                  </a:rPr>
                  <a:t>$\sum x^2$</a:t>
                </a:r>
                <a:r>
                  <a:rPr sz="2400" b="0">
                    <a:solidFill>
                      <a:srgbClr val="111827"/>
                    </a:solidFill>
                    <a:latin typeface="Arial"/>
                  </a:rPr>
                  <a:t> quick: </a:t>
                </a:r>
                <a:r>
                  <a:rPr lang="en-IN" sz="2400">
                    <a:solidFill>
                      <a:srgbClr val="111827"/>
                    </a:solidFill>
                    <a:latin typeface="Cambria Math" panose="02040503050406030204" pitchFamily="18" charset="0"/>
                  </a:rPr>
                  <a:t>$35^2-25^2=10\times60=600$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Note that the question asks for </a:t>
                </a:r>
                <a:r>
                  <a:rPr lang="en-IN" sz="2400">
                    <a:solidFill>
                      <a:srgbClr val="111827"/>
                    </a:solidFill>
                    <a:latin typeface="Cambria Math" panose="02040503050406030204" pitchFamily="18" charset="0"/>
                  </a:rPr>
                  <a:t>$\beta=\sigma^2$</a:t>
                </a:r>
                <a:r>
                  <a:rPr sz="2400" b="0">
                    <a:solidFill>
                      <a:srgbClr val="111827"/>
                    </a:solidFill>
                    <a:latin typeface="Arial"/>
                  </a:rPr>
                  <a:t>, the variance, not the standard deviation.</a:t>
                </a:r>
                <a:endParaRPr sz="2400">
                  <a:solidFill>
                    <a:srgbClr val="111827"/>
                  </a:solidFill>
                </a:endParaRPr>
              </a:p>
            </p:txBody>
          </p:sp>
        </mc:Fallback>
      </mc:AlternateContent>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6629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mean and variance of 7 observations are 8 and 16 respectively. If two observations are 6 and 8, then the variance of the remaining 5 observations is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134</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   (B)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112</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   (C)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536</m:t>
                        </m:r>
                      </m:num>
                      <m:den>
                        <m:r>
                          <a:rPr lang="en-IN" sz="2400" i="1">
                            <a:solidFill>
                              <a:srgbClr val="111827"/>
                            </a:solidFill>
                            <a:latin typeface="Cambria Math" panose="02040503050406030204" pitchFamily="18" charset="0"/>
                          </a:rPr>
                          <m:t>25</m:t>
                        </m:r>
                      </m:den>
                    </m:f>
                  </m:oMath>
                </a14:m>
                <a:r>
                  <a:rPr sz="2400" b="0">
                    <a:solidFill>
                      <a:srgbClr val="111827"/>
                    </a:solidFill>
                    <a:latin typeface="Arial"/>
                  </a:rPr>
                  <a:t>   (D)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92</m:t>
                        </m:r>
                      </m:num>
                      <m:den>
                        <m:r>
                          <a:rPr lang="en-IN" sz="2400" i="1">
                            <a:solidFill>
                              <a:srgbClr val="111827"/>
                            </a:solidFill>
                            <a:latin typeface="Cambria Math" panose="02040503050406030204" pitchFamily="18" charset="0"/>
                          </a:rPr>
                          <m:t>5</m:t>
                        </m:r>
                      </m:den>
                    </m:f>
                  </m:oMath>
                </a14:m>
                <a:endParaRPr sz="2400">
                  <a:solidFill>
                    <a:srgbClr val="111827"/>
                  </a:solidFill>
                </a:endParaRPr>
              </a:p>
            </p:txBody>
          </p:sp>
        </mc:Choice>
        <mc:Fallback>
          <p:sp>
            <p:nvSpPr>
              <p:cNvPr id="4" name="Rounded Rectangle 3"/>
              <p:cNvSpPr/>
              <p:nvPr/>
            </p:nvSpPr>
            <p:spPr>
              <a:xfrm>
                <a:off x="731520" y="1280160"/>
                <a:ext cx="10725912" cy="26629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mean and variance of 7 observations are 8 and 16 respectively. If two observations are 6 and 8, then the variance of the remaining 5 observations is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$\frac{134}{5}$</a:t>
                </a:r>
                <a:r>
                  <a:rPr sz="2400" b="0">
                    <a:solidFill>
                      <a:srgbClr val="111827"/>
                    </a:solidFill>
                    <a:latin typeface="Arial"/>
                  </a:rPr>
                  <a:t>   (B) </a:t>
                </a:r>
                <a:r>
                  <a:rPr lang="en-IN" sz="2400">
                    <a:solidFill>
                      <a:srgbClr val="111827"/>
                    </a:solidFill>
                    <a:latin typeface="Cambria Math" panose="02040503050406030204" pitchFamily="18" charset="0"/>
                  </a:rPr>
                  <a:t>$\frac{112}{5}$</a:t>
                </a:r>
                <a:r>
                  <a:rPr sz="2400" b="0">
                    <a:solidFill>
                      <a:srgbClr val="111827"/>
                    </a:solidFill>
                    <a:latin typeface="Arial"/>
                  </a:rPr>
                  <a:t>   (C) </a:t>
                </a:r>
                <a:r>
                  <a:rPr lang="en-IN" sz="2400">
                    <a:solidFill>
                      <a:srgbClr val="111827"/>
                    </a:solidFill>
                    <a:latin typeface="Cambria Math" panose="02040503050406030204" pitchFamily="18" charset="0"/>
                  </a:rPr>
                  <a:t>$\frac{536}{25}$</a:t>
                </a:r>
                <a:r>
                  <a:rPr sz="2400" b="0">
                    <a:solidFill>
                      <a:srgbClr val="111827"/>
                    </a:solidFill>
                    <a:latin typeface="Arial"/>
                  </a:rPr>
                  <a:t>   (D) </a:t>
                </a:r>
                <a:r>
                  <a:rPr lang="en-IN" sz="2400">
                    <a:solidFill>
                      <a:srgbClr val="111827"/>
                    </a:solidFill>
                    <a:latin typeface="Cambria Math" panose="02040503050406030204" pitchFamily="18" charset="0"/>
                  </a:rPr>
                  <a:t>$\frac{92}{5}$</a:t>
                </a:r>
                <a:endParaRPr sz="2400">
                  <a:solidFill>
                    <a:srgbClr val="111827"/>
                  </a:solidFill>
                </a:endParaRPr>
              </a:p>
            </p:txBody>
          </p:sp>
        </mc:Fallback>
      </mc:AlternateContent>
      <p:sp>
        <p:nvSpPr>
          <p:cNvPr id="5" name="Rectangle 4"/>
          <p:cNvSpPr/>
          <p:nvPr/>
        </p:nvSpPr>
        <p:spPr>
          <a:xfrm>
            <a:off x="731520" y="4171695"/>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Variance of the remaining observations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Subtract the known observations from the total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oMath>
                </a14:m>
                <a:r>
                  <a:rPr sz="2400" b="0">
                    <a:solidFill>
                      <a:srgbClr val="78350F"/>
                    </a:solidFill>
                    <a:latin typeface="Arial"/>
                  </a:rPr>
                  <a:t> and </a:t>
                </a:r>
                <a14:m>
                  <m:oMath xmlns:m="http://schemas.openxmlformats.org/officeDocument/2006/math">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Subtract the known observations from the total </a:t>
                </a:r>
                <a:r>
                  <a:rPr lang="en-IN" sz="2400">
                    <a:solidFill>
                      <a:srgbClr val="78350F"/>
                    </a:solidFill>
                    <a:latin typeface="Cambria Math" panose="02040503050406030204" pitchFamily="18" charset="0"/>
                  </a:rPr>
                  <a:t>$\sum x$</a:t>
                </a:r>
                <a:r>
                  <a:rPr sz="2400" b="0">
                    <a:solidFill>
                      <a:srgbClr val="78350F"/>
                    </a:solidFill>
                    <a:latin typeface="Arial"/>
                  </a:rPr>
                  <a:t> and </a:t>
                </a:r>
                <a:r>
                  <a:rPr lang="en-IN" sz="2400">
                    <a:solidFill>
                      <a:srgbClr val="78350F"/>
                    </a:solidFill>
                    <a:latin typeface="Cambria Math" panose="02040503050406030204" pitchFamily="18" charset="0"/>
                  </a:rPr>
                  <a:t>$\sum x^2$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remaining five observations be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5</m:t>
                        </m:r>
                      </m:sub>
                    </m:sSub>
                  </m:oMath>
                </a14:m>
                <a:r>
                  <a:rPr sz="2400" b="0">
                    <a:solidFill>
                      <a:srgbClr val="111827"/>
                    </a:solidFill>
                    <a:latin typeface="Arial"/>
                  </a:rPr>
                  <a:t>. Total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5</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Variance </a:t>
                </a:r>
                <a14:m>
                  <m:oMath xmlns:m="http://schemas.openxmlformats.org/officeDocument/2006/math">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7</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64</m:t>
                    </m:r>
                  </m:oMath>
                </a14:m>
                <a:r>
                  <a:rPr sz="2400" b="0">
                    <a:solidFill>
                      <a:srgbClr val="111827"/>
                    </a:solidFill>
                    <a:latin typeface="Arial"/>
                  </a:rPr>
                  <a:t>, so total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560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remaining five observations be </a:t>
                </a:r>
                <a:r>
                  <a:rPr lang="en-IN" sz="2400">
                    <a:solidFill>
                      <a:srgbClr val="111827"/>
                    </a:solidFill>
                    <a:latin typeface="Cambria Math" panose="02040503050406030204" pitchFamily="18" charset="0"/>
                  </a:rPr>
                  <a:t>$x_1,\dots,x_5$</a:t>
                </a:r>
                <a:r>
                  <a:rPr sz="2400" b="0">
                    <a:solidFill>
                      <a:srgbClr val="111827"/>
                    </a:solidFill>
                    <a:latin typeface="Arial"/>
                  </a:rPr>
                  <a:t>. Total </a:t>
                </a:r>
                <a:r>
                  <a:rPr lang="en-IN" sz="2400">
                    <a:solidFill>
                      <a:srgbClr val="111827"/>
                    </a:solidFill>
                    <a:latin typeface="Cambria Math" panose="02040503050406030204" pitchFamily="18" charset="0"/>
                  </a:rPr>
                  <a:t>$\sum x=7\times8=56$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$x_1+\cdots+x_5=56-(6+8)=42$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Variance </a:t>
                </a:r>
                <a:r>
                  <a:rPr lang="en-IN" sz="2400">
                    <a:solidFill>
                      <a:srgbClr val="111827"/>
                    </a:solidFill>
                    <a:latin typeface="Cambria Math" panose="02040503050406030204" pitchFamily="18" charset="0"/>
                  </a:rPr>
                  <a:t>$16=\frac{\sum x^2}{7}-64$</a:t>
                </a:r>
                <a:r>
                  <a:rPr sz="2400" b="0">
                    <a:solidFill>
                      <a:srgbClr val="111827"/>
                    </a:solidFill>
                    <a:latin typeface="Arial"/>
                  </a:rPr>
                  <a:t>, so total </a:t>
                </a:r>
                <a:r>
                  <a:rPr lang="en-IN" sz="2400">
                    <a:solidFill>
                      <a:srgbClr val="111827"/>
                    </a:solidFill>
                    <a:latin typeface="Cambria Math" panose="02040503050406030204" pitchFamily="18" charset="0"/>
                  </a:rPr>
                  <a:t>$\sum x^2=560$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bSup>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5</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560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460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Variance of the five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460</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42</m:t>
                                </m:r>
                              </m:num>
                              <m:den>
                                <m:r>
                                  <a:rPr lang="en-IN" sz="2400" i="1">
                                    <a:solidFill>
                                      <a:srgbClr val="111827"/>
                                    </a:solidFill>
                                    <a:latin typeface="Cambria Math" panose="02040503050406030204" pitchFamily="18" charset="0"/>
                                  </a:rPr>
                                  <m:t>5</m:t>
                                </m:r>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1764</m:t>
                        </m:r>
                      </m:num>
                      <m:den>
                        <m:r>
                          <a:rPr lang="en-IN" sz="2400" i="1">
                            <a:solidFill>
                              <a:srgbClr val="111827"/>
                            </a:solidFill>
                            <a:latin typeface="Cambria Math" panose="02040503050406030204" pitchFamily="18" charset="0"/>
                          </a:rPr>
                          <m:t>25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2300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1764</m:t>
                        </m:r>
                      </m:num>
                      <m:den>
                        <m:r>
                          <a:rPr lang="en-IN" sz="2400" i="1">
                            <a:solidFill>
                              <a:srgbClr val="111827"/>
                            </a:solidFill>
                            <a:latin typeface="Cambria Math" panose="02040503050406030204" pitchFamily="18" charset="0"/>
                          </a:rPr>
                          <m:t>25</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536</m:t>
                        </m:r>
                      </m:num>
                      <m:den>
                        <m:r>
                          <a:rPr lang="en-IN" sz="2400" i="1">
                            <a:solidFill>
                              <a:srgbClr val="111827"/>
                            </a:solidFill>
                            <a:latin typeface="Cambria Math" panose="02040503050406030204" pitchFamily="18" charset="0"/>
                          </a:rPr>
                          <m:t>25</m:t>
                        </m:r>
                      </m:den>
                    </m:f>
                  </m:oMath>
                </a14:m>
                <a:r>
                  <a:rPr sz="2400" b="0">
                    <a:solidFill>
                      <a:srgbClr val="111827"/>
                    </a:solidFill>
                    <a:latin typeface="Arial"/>
                  </a:rPr>
                  <a:t>, option (C).</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$x_1^2+\cdots+x_5^2=560-(36+64)=460$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Variance of the five </a:t>
                </a:r>
                <a:r>
                  <a:rPr lang="en-IN" sz="2400">
                    <a:solidFill>
                      <a:srgbClr val="111827"/>
                    </a:solidFill>
                    <a:latin typeface="Cambria Math" panose="02040503050406030204" pitchFamily="18" charset="0"/>
                  </a:rPr>
                  <a:t>$=\frac{460}{5}-\left(\frac{42}{5}\right)^2=92-\frac{1764}{25}=\frac{2300-1764}{25}$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$=\frac{536}{25}$</a:t>
                </a:r>
                <a:r>
                  <a:rPr sz="2400" b="0">
                    <a:solidFill>
                      <a:srgbClr val="111827"/>
                    </a:solidFill>
                    <a:latin typeface="Arial"/>
                  </a:rPr>
                  <a:t>, option (C).</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536</m:t>
                        </m:r>
                      </m:num>
                      <m:den>
                        <m:r>
                          <a:rPr lang="en-IN" sz="2800" i="1">
                            <a:solidFill>
                              <a:srgbClr val="15803D"/>
                            </a:solidFill>
                            <a:latin typeface="Cambria Math" panose="02040503050406030204" pitchFamily="18" charset="0"/>
                          </a:rPr>
                          <m:t>25</m:t>
                        </m:r>
                      </m:den>
                    </m:f>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r>
                  <a:rPr lang="en-IN" sz="2800">
                    <a:solidFill>
                      <a:srgbClr val="15803D"/>
                    </a:solidFill>
                    <a:latin typeface="Cambria Math" panose="02040503050406030204" pitchFamily="18" charset="0"/>
                  </a:rPr>
                  <a:t>$\frac{536}{25}$</a:t>
                </a:r>
                <a:endParaRPr sz="2800">
                  <a:solidFill>
                    <a:srgbClr val="15803D"/>
                  </a:solidFill>
                </a:endParaRPr>
              </a:p>
            </p:txBody>
          </p:sp>
        </mc:Fallback>
      </mc:AlternateContent>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p:sp>
        <p:nvSpPr>
          <p:cNvPr id="5" name="Rounded Rectangle 4"/>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Deviations from the common mean 8.</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112</m:t>
                    </m:r>
                  </m:oMath>
                </a14:m>
                <a:r>
                  <a:rPr sz="2400" b="0">
                    <a:solidFill>
                      <a:srgbClr val="111827"/>
                    </a:solidFill>
                    <a:latin typeface="Arial"/>
                  </a:rPr>
                  <a:t> about the mean 8. The two known observations have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contributing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so the remaining five have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Their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(all seven deviations add to 0).</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Variance of the five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108</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5</m:t>
                                </m:r>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540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25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536</m:t>
                        </m:r>
                      </m:num>
                      <m:den>
                        <m:r>
                          <a:rPr lang="en-IN" sz="2400" i="1">
                            <a:solidFill>
                              <a:srgbClr val="111827"/>
                            </a:solidFill>
                            <a:latin typeface="Cambria Math" panose="02040503050406030204" pitchFamily="18" charset="0"/>
                          </a:rPr>
                          <m:t>25</m:t>
                        </m:r>
                      </m:den>
                    </m:f>
                  </m:oMath>
                </a14:m>
                <a:r>
                  <a:rPr sz="2400" b="0">
                    <a:solidFill>
                      <a:srgbClr val="111827"/>
                    </a:solidFill>
                    <a:latin typeface="Arial"/>
                  </a:rPr>
                  <a:t>, the same answer.</a:t>
                </a:r>
                <a:endParaRPr sz="2400">
                  <a:solidFill>
                    <a:srgbClr val="111827"/>
                  </a:solidFill>
                </a:endParaRPr>
              </a:p>
            </p:txBody>
          </p:sp>
        </mc:Choice>
        <mc:Fallback>
          <p:sp>
            <p:nvSpPr>
              <p:cNvPr id="6" name="Rectangle 5"/>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$\sum d^2=7\times16=112$</a:t>
                </a:r>
                <a:r>
                  <a:rPr sz="2400" b="0">
                    <a:solidFill>
                      <a:srgbClr val="111827"/>
                    </a:solidFill>
                    <a:latin typeface="Arial"/>
                  </a:rPr>
                  <a:t> about the mean 8. The two known observations have </a:t>
                </a:r>
                <a:r>
                  <a:rPr lang="en-IN" sz="2400">
                    <a:solidFill>
                      <a:srgbClr val="111827"/>
                    </a:solidFill>
                    <a:latin typeface="Cambria Math" panose="02040503050406030204" pitchFamily="18" charset="0"/>
                  </a:rPr>
                  <a:t>$d=-2,0$</a:t>
                </a:r>
                <a:r>
                  <a:rPr sz="2400" b="0">
                    <a:solidFill>
                      <a:srgbClr val="111827"/>
                    </a:solidFill>
                    <a:latin typeface="Arial"/>
                  </a:rPr>
                  <a:t>, contributing </a:t>
                </a:r>
                <a:r>
                  <a:rPr lang="en-IN" sz="2400">
                    <a:solidFill>
                      <a:srgbClr val="111827"/>
                    </a:solidFill>
                    <a:latin typeface="Cambria Math" panose="02040503050406030204" pitchFamily="18" charset="0"/>
                  </a:rPr>
                  <a:t>$4$</a:t>
                </a:r>
                <a:r>
                  <a:rPr sz="2400" b="0">
                    <a:solidFill>
                      <a:srgbClr val="111827"/>
                    </a:solidFill>
                    <a:latin typeface="Arial"/>
                  </a:rPr>
                  <a:t>; so the remaining five have </a:t>
                </a:r>
                <a:r>
                  <a:rPr lang="en-IN" sz="2400">
                    <a:solidFill>
                      <a:srgbClr val="111827"/>
                    </a:solidFill>
                    <a:latin typeface="Cambria Math" panose="02040503050406030204" pitchFamily="18" charset="0"/>
                  </a:rPr>
                  <a:t>$\sum d^2=108$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Their </a:t>
                </a:r>
                <a:r>
                  <a:rPr lang="en-IN" sz="2400">
                    <a:solidFill>
                      <a:srgbClr val="111827"/>
                    </a:solidFill>
                    <a:latin typeface="Cambria Math" panose="02040503050406030204" pitchFamily="18" charset="0"/>
                  </a:rPr>
                  <a:t>$\sum d=-(-2+0)=2$</a:t>
                </a:r>
                <a:r>
                  <a:rPr sz="2400" b="0">
                    <a:solidFill>
                      <a:srgbClr val="111827"/>
                    </a:solidFill>
                    <a:latin typeface="Arial"/>
                  </a:rPr>
                  <a:t> (all seven deviations add to 0).</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Variance of the five </a:t>
                </a:r>
                <a:r>
                  <a:rPr lang="en-IN" sz="2400">
                    <a:solidFill>
                      <a:srgbClr val="111827"/>
                    </a:solidFill>
                    <a:latin typeface="Cambria Math" panose="02040503050406030204" pitchFamily="18" charset="0"/>
                  </a:rPr>
                  <a:t>$=\frac{108}{5}-\left(\frac{2}{5}\right)^2=\frac{540-4}{25}=\frac{536}{25}$</a:t>
                </a:r>
                <a:r>
                  <a:rPr sz="2400" b="0">
                    <a:solidFill>
                      <a:srgbClr val="111827"/>
                    </a:solidFill>
                    <a:latin typeface="Arial"/>
                  </a:rPr>
                  <a:t>, the same answer.</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536</m:t>
                        </m:r>
                      </m:num>
                      <m:den>
                        <m:r>
                          <a:rPr lang="en-IN" sz="2800" i="1">
                            <a:solidFill>
                              <a:srgbClr val="15803D"/>
                            </a:solidFill>
                            <a:latin typeface="Cambria Math" panose="02040503050406030204" pitchFamily="18" charset="0"/>
                          </a:rPr>
                          <m:t>25</m:t>
                        </m:r>
                      </m:den>
                    </m:f>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r>
                  <a:rPr lang="en-IN" sz="2800">
                    <a:solidFill>
                      <a:srgbClr val="15803D"/>
                    </a:solidFill>
                    <a:latin typeface="Cambria Math" panose="02040503050406030204" pitchFamily="18" charset="0"/>
                  </a:rPr>
                  <a:t>$\frac{536}{25}$</a:t>
                </a:r>
                <a:endParaRPr sz="2800">
                  <a:solidFill>
                    <a:srgbClr val="15803D"/>
                  </a:solidFill>
                </a:endParaRPr>
              </a:p>
            </p:txBody>
          </p:sp>
        </mc:Fallback>
      </mc:AlternateContent>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Variance of a subset is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𝑚</m:t>
                        </m:r>
                      </m:den>
                    </m:f>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num>
                              <m:den>
                                <m:r>
                                  <a:rPr lang="en-IN" sz="2400" i="1">
                                    <a:solidFill>
                                      <a:srgbClr val="111827"/>
                                    </a:solidFill>
                                    <a:latin typeface="Cambria Math" panose="02040503050406030204" pitchFamily="18" charset="0"/>
                                  </a:rPr>
                                  <m:t>𝑚</m:t>
                                </m:r>
                              </m:den>
                            </m:f>
                          </m:e>
                        </m:d>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in deviations about any convenient point (here 8).</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mean of the remaining five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42</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8.4</m:t>
                    </m:r>
                  </m:oMath>
                </a14:m>
                <a:r>
                  <a:rPr sz="2400" b="0">
                    <a:solidFill>
                      <a:srgbClr val="111827"/>
                    </a:solidFill>
                    <a:latin typeface="Arial"/>
                  </a:rPr>
                  <a:t>, different from 8, so the total variance cannot simply be split.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Variance of a subset is </a:t>
                </a:r>
                <a:r>
                  <a:rPr lang="en-IN" sz="2400">
                    <a:solidFill>
                      <a:srgbClr val="111827"/>
                    </a:solidFill>
                    <a:latin typeface="Cambria Math" panose="02040503050406030204" pitchFamily="18" charset="0"/>
                  </a:rPr>
                  <a:t>$\frac{\sum d^2}{m}-\left(\frac{\sum d}{m}\right)^2$</a:t>
                </a:r>
                <a:r>
                  <a:rPr sz="2400" b="0">
                    <a:solidFill>
                      <a:srgbClr val="111827"/>
                    </a:solidFill>
                    <a:latin typeface="Arial"/>
                  </a:rPr>
                  <a:t> in deviations about any convenient point (here 8).</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mean of the remaining five is </a:t>
                </a:r>
                <a:r>
                  <a:rPr lang="en-IN" sz="2400">
                    <a:solidFill>
                      <a:srgbClr val="111827"/>
                    </a:solidFill>
                    <a:latin typeface="Cambria Math" panose="02040503050406030204" pitchFamily="18" charset="0"/>
                  </a:rPr>
                  <a:t>$\frac{42}{5}=8.4$</a:t>
                </a:r>
                <a:r>
                  <a:rPr sz="2400" b="0">
                    <a:solidFill>
                      <a:srgbClr val="111827"/>
                    </a:solidFill>
                    <a:latin typeface="Arial"/>
                  </a:rPr>
                  <a:t>, different from 8, so the total variance cannot simply be split.</a:t>
                </a:r>
                <a:endParaRPr sz="2400">
                  <a:solidFill>
                    <a:srgbClr val="111827"/>
                  </a:solidFill>
                </a:endParaRPr>
              </a:p>
            </p:txBody>
          </p:sp>
        </mc:Fallback>
      </mc:AlternateContent>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14</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Numerical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Q53 – Q57</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4 marks each (no marks printed in the sheet - JEE Advanced default of 4 assumed)</a:t>
            </a:r>
            <a:endParaRPr sz="2800">
              <a:solidFill>
                <a:srgbClr val="FFFFFF"/>
              </a:solidFill>
            </a:endParaRP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the mean and variance of the four numbers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be 5 and 10 respectively. Then the mean of four numbers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r>
                  <a:rPr sz="2400" b="0">
                    <a:solidFill>
                      <a:srgbClr val="111827"/>
                    </a:solidFill>
                    <a:latin typeface="Arial"/>
                  </a:rPr>
                  <a:t> is ______.</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the mean and variance of the four numbers </a:t>
                </a:r>
                <a:r>
                  <a:rPr lang="en-IN" sz="2400">
                    <a:solidFill>
                      <a:srgbClr val="111827"/>
                    </a:solidFill>
                    <a:latin typeface="Cambria Math" panose="02040503050406030204" pitchFamily="18" charset="0"/>
                  </a:rPr>
                  <a:t>$3,7,x$</a:t>
                </a:r>
                <a:r>
                  <a:rPr sz="2400" b="0">
                    <a:solidFill>
                      <a:srgbClr val="111827"/>
                    </a:solidFill>
                    <a:latin typeface="Arial"/>
                  </a:rPr>
                  <a:t> and </a:t>
                </a:r>
                <a:r>
                  <a:rPr lang="en-IN" sz="2400">
                    <a:solidFill>
                      <a:srgbClr val="111827"/>
                    </a:solidFill>
                    <a:latin typeface="Cambria Math" panose="02040503050406030204" pitchFamily="18" charset="0"/>
                  </a:rPr>
                  <a:t>$y$</a:t>
                </a:r>
                <a:r>
                  <a:rPr sz="2400" b="0">
                    <a:solidFill>
                      <a:srgbClr val="111827"/>
                    </a:solidFill>
                    <a:latin typeface="Arial"/>
                  </a:rPr>
                  <a:t> </a:t>
                </a:r>
                <a:r>
                  <a:rPr lang="en-IN" sz="2400">
                    <a:solidFill>
                      <a:srgbClr val="111827"/>
                    </a:solidFill>
                    <a:latin typeface="Cambria Math" panose="02040503050406030204" pitchFamily="18" charset="0"/>
                  </a:rPr>
                  <a:t>$(x&gt;y)$</a:t>
                </a:r>
                <a:r>
                  <a:rPr sz="2400" b="0">
                    <a:solidFill>
                      <a:srgbClr val="111827"/>
                    </a:solidFill>
                    <a:latin typeface="Arial"/>
                  </a:rPr>
                  <a:t> be 5 and 10 respectively. Then the mean of four numbers </a:t>
                </a:r>
                <a:r>
                  <a:rPr lang="en-IN" sz="2400">
                    <a:solidFill>
                      <a:srgbClr val="111827"/>
                    </a:solidFill>
                    <a:latin typeface="Cambria Math" panose="02040503050406030204" pitchFamily="18" charset="0"/>
                  </a:rPr>
                  <a:t>$3+2x,\ 7+2y,\ x+y$</a:t>
                </a:r>
                <a:r>
                  <a:rPr sz="2400" b="0">
                    <a:solidFill>
                      <a:srgbClr val="111827"/>
                    </a:solidFill>
                    <a:latin typeface="Arial"/>
                  </a:rPr>
                  <a:t> and </a:t>
                </a:r>
                <a:r>
                  <a:rPr lang="en-IN" sz="2400">
                    <a:solidFill>
                      <a:srgbClr val="111827"/>
                    </a:solidFill>
                    <a:latin typeface="Cambria Math" panose="02040503050406030204" pitchFamily="18" charset="0"/>
                  </a:rPr>
                  <a:t>$x-y$</a:t>
                </a:r>
                <a:r>
                  <a:rPr sz="2400" b="0">
                    <a:solidFill>
                      <a:srgbClr val="111827"/>
                    </a:solidFill>
                    <a:latin typeface="Arial"/>
                  </a:rPr>
                  <a:t> is ______.</a:t>
                </a:r>
                <a:endParaRPr sz="2400">
                  <a:solidFill>
                    <a:srgbClr val="111827"/>
                  </a:solidFill>
                </a:endParaRPr>
              </a:p>
            </p:txBody>
          </p:sp>
        </mc:Fallback>
      </mc:AlternateContent>
      <p:sp>
        <p:nvSpPr>
          <p:cNvPr id="5" name="Rectangle 4"/>
          <p:cNvSpPr/>
          <p:nvPr/>
        </p:nvSpPr>
        <p:spPr>
          <a:xfrm>
            <a:off x="731520" y="324612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Mean and variance of four numbers with two unknowns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Mean gives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oMath>
                </a14:m>
                <a:r>
                  <a:rPr sz="2400" b="0">
                    <a:solidFill>
                      <a:srgbClr val="78350F"/>
                    </a:solidFill>
                    <a:latin typeface="Arial"/>
                  </a:rPr>
                  <a:t>, variance gives </a:t>
                </a:r>
                <a14:m>
                  <m:oMath xmlns:m="http://schemas.openxmlformats.org/officeDocument/2006/math">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𝑦</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solve for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oMath>
                </a14:m>
                <a:r>
                  <a:rPr sz="2400" b="0">
                    <a:solidFill>
                      <a:srgbClr val="78350F"/>
                    </a:solidFill>
                    <a:latin typeface="Arial"/>
                  </a:rPr>
                  <a:t> and compute the new mean.</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Mean gives </a:t>
                </a:r>
                <a:r>
                  <a:rPr lang="en-IN" sz="2400">
                    <a:solidFill>
                      <a:srgbClr val="78350F"/>
                    </a:solidFill>
                    <a:latin typeface="Cambria Math" panose="02040503050406030204" pitchFamily="18" charset="0"/>
                  </a:rPr>
                  <a:t>$x+y$</a:t>
                </a:r>
                <a:r>
                  <a:rPr sz="2400" b="0">
                    <a:solidFill>
                      <a:srgbClr val="78350F"/>
                    </a:solidFill>
                    <a:latin typeface="Arial"/>
                  </a:rPr>
                  <a:t>, variance gives </a:t>
                </a:r>
                <a:r>
                  <a:rPr lang="en-IN" sz="2400">
                    <a:solidFill>
                      <a:srgbClr val="78350F"/>
                    </a:solidFill>
                    <a:latin typeface="Cambria Math" panose="02040503050406030204" pitchFamily="18" charset="0"/>
                  </a:rPr>
                  <a:t>$x^2+y^2$</a:t>
                </a:r>
                <a:r>
                  <a:rPr sz="2400" b="0">
                    <a:solidFill>
                      <a:srgbClr val="78350F"/>
                    </a:solidFill>
                    <a:latin typeface="Arial"/>
                  </a:rPr>
                  <a:t>; solve for </a:t>
                </a:r>
                <a:r>
                  <a:rPr lang="en-IN" sz="2400">
                    <a:solidFill>
                      <a:srgbClr val="78350F"/>
                    </a:solidFill>
                    <a:latin typeface="Cambria Math" panose="02040503050406030204" pitchFamily="18" charset="0"/>
                  </a:rPr>
                  <a:t>$x,y$</a:t>
                </a:r>
                <a:r>
                  <a:rPr sz="2400" b="0">
                    <a:solidFill>
                      <a:srgbClr val="78350F"/>
                    </a:solidFill>
                    <a:latin typeface="Arial"/>
                  </a:rPr>
                  <a:t> and compute the new mean.</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Mean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 (1).</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Variance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7</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58</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140</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82</m:t>
                    </m:r>
                  </m:oMath>
                </a14:m>
                <a:r>
                  <a:rPr sz="2400" b="0">
                    <a:solidFill>
                      <a:srgbClr val="111827"/>
                    </a:solidFill>
                    <a:latin typeface="Arial"/>
                  </a:rPr>
                  <a:t> ... (2).</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From (1) and (2): </a:t>
                </a:r>
                <a14:m>
                  <m:oMath xmlns:m="http://schemas.openxmlformats.org/officeDocument/2006/math">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82</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r>
                  <a:rPr sz="2400" b="0">
                    <a:solidFill>
                      <a:srgbClr val="111827"/>
                    </a:solidFill>
                    <a:latin typeface="Arial"/>
                  </a:rPr>
                  <a:t> are roots of </a:t>
                </a:r>
                <a14:m>
                  <m:oMath xmlns:m="http://schemas.openxmlformats.org/officeDocument/2006/math">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𝑦</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Mean </a:t>
                </a:r>
                <a:r>
                  <a:rPr lang="en-IN" sz="2400">
                    <a:solidFill>
                      <a:srgbClr val="111827"/>
                    </a:solidFill>
                    <a:latin typeface="Cambria Math" panose="02040503050406030204" pitchFamily="18" charset="0"/>
                  </a:rPr>
                  <a:t>$=\frac{3+7+x+y}{4}=5$</a:t>
                </a:r>
                <a:r>
                  <a:rPr sz="2400" b="0">
                    <a:solidFill>
                      <a:srgbClr val="111827"/>
                    </a:solidFill>
                    <a:latin typeface="Arial"/>
                  </a:rPr>
                  <a:t>, so </a:t>
                </a:r>
                <a:r>
                  <a:rPr lang="en-IN" sz="2400">
                    <a:solidFill>
                      <a:srgbClr val="111827"/>
                    </a:solidFill>
                    <a:latin typeface="Cambria Math" panose="02040503050406030204" pitchFamily="18" charset="0"/>
                  </a:rPr>
                  <a:t>$x+y=10$</a:t>
                </a:r>
                <a:r>
                  <a:rPr sz="2400" b="0">
                    <a:solidFill>
                      <a:srgbClr val="111827"/>
                    </a:solidFill>
                    <a:latin typeface="Arial"/>
                  </a:rPr>
                  <a:t> ... (1).</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Variance </a:t>
                </a:r>
                <a:r>
                  <a:rPr lang="en-IN" sz="2400">
                    <a:solidFill>
                      <a:srgbClr val="111827"/>
                    </a:solidFill>
                    <a:latin typeface="Cambria Math" panose="02040503050406030204" pitchFamily="18" charset="0"/>
                  </a:rPr>
                  <a:t>$=\frac{3^2+7^2+x^2+y^2}{4}-5^2=10$</a:t>
                </a:r>
                <a:r>
                  <a:rPr sz="2400" b="0">
                    <a:solidFill>
                      <a:srgbClr val="111827"/>
                    </a:solidFill>
                    <a:latin typeface="Arial"/>
                  </a:rPr>
                  <a:t>, so </a:t>
                </a:r>
                <a:r>
                  <a:rPr lang="en-IN" sz="2400">
                    <a:solidFill>
                      <a:srgbClr val="111827"/>
                    </a:solidFill>
                    <a:latin typeface="Cambria Math" panose="02040503050406030204" pitchFamily="18" charset="0"/>
                  </a:rPr>
                  <a:t>$58+x^2+y^2=140$</a:t>
                </a:r>
                <a:r>
                  <a:rPr sz="2400" b="0">
                    <a:solidFill>
                      <a:srgbClr val="111827"/>
                    </a:solidFill>
                    <a:latin typeface="Arial"/>
                  </a:rPr>
                  <a:t> and </a:t>
                </a:r>
                <a:r>
                  <a:rPr lang="en-IN" sz="2400">
                    <a:solidFill>
                      <a:srgbClr val="111827"/>
                    </a:solidFill>
                    <a:latin typeface="Cambria Math" panose="02040503050406030204" pitchFamily="18" charset="0"/>
                  </a:rPr>
                  <a:t>$x^2+y^2=82$</a:t>
                </a:r>
                <a:r>
                  <a:rPr sz="2400" b="0">
                    <a:solidFill>
                      <a:srgbClr val="111827"/>
                    </a:solidFill>
                    <a:latin typeface="Arial"/>
                  </a:rPr>
                  <a:t> ... (2).</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From (1) and (2): </a:t>
                </a:r>
                <a:r>
                  <a:rPr lang="en-IN" sz="2400">
                    <a:solidFill>
                      <a:srgbClr val="111827"/>
                    </a:solidFill>
                    <a:latin typeface="Cambria Math" panose="02040503050406030204" pitchFamily="18" charset="0"/>
                  </a:rPr>
                  <a:t>$xy=\frac{100-82}{2}=9$</a:t>
                </a:r>
                <a:r>
                  <a:rPr sz="2400" b="0">
                    <a:solidFill>
                      <a:srgbClr val="111827"/>
                    </a:solidFill>
                    <a:latin typeface="Arial"/>
                  </a:rPr>
                  <a:t>, so </a:t>
                </a:r>
                <a:r>
                  <a:rPr lang="en-IN" sz="2400">
                    <a:solidFill>
                      <a:srgbClr val="111827"/>
                    </a:solidFill>
                    <a:latin typeface="Cambria Math" panose="02040503050406030204" pitchFamily="18" charset="0"/>
                  </a:rPr>
                  <a:t>$x,y$</a:t>
                </a:r>
                <a:r>
                  <a:rPr sz="2400" b="0">
                    <a:solidFill>
                      <a:srgbClr val="111827"/>
                    </a:solidFill>
                    <a:latin typeface="Arial"/>
                  </a:rPr>
                  <a:t> are roots of </a:t>
                </a:r>
                <a:r>
                  <a:rPr lang="en-IN" sz="2400">
                    <a:solidFill>
                      <a:srgbClr val="111827"/>
                    </a:solidFill>
                    <a:latin typeface="Cambria Math" panose="02040503050406030204" pitchFamily="18" charset="0"/>
                  </a:rPr>
                  <a:t>$t^2-10t+9=0$</a:t>
                </a:r>
                <a:r>
                  <a:rPr sz="2400" b="0">
                    <a:solidFill>
                      <a:srgbClr val="111827"/>
                    </a:solidFill>
                    <a:latin typeface="Arial"/>
                  </a:rPr>
                  <a:t>: </a:t>
                </a:r>
                <a:r>
                  <a:rPr lang="en-IN" sz="2400">
                    <a:solidFill>
                      <a:srgbClr val="111827"/>
                    </a:solidFill>
                    <a:latin typeface="Cambria Math" panose="02040503050406030204" pitchFamily="18" charset="0"/>
                  </a:rPr>
                  <a:t>$x=9$</a:t>
                </a:r>
                <a:r>
                  <a:rPr sz="2400" b="0">
                    <a:solidFill>
                      <a:srgbClr val="111827"/>
                    </a:solidFill>
                    <a:latin typeface="Arial"/>
                  </a:rPr>
                  <a:t>, </a:t>
                </a:r>
                <a:r>
                  <a:rPr lang="en-IN" sz="2400">
                    <a:solidFill>
                      <a:srgbClr val="111827"/>
                    </a:solidFill>
                    <a:latin typeface="Cambria Math" panose="02040503050406030204" pitchFamily="18" charset="0"/>
                  </a:rPr>
                  <a:t>$y=1$</a:t>
                </a:r>
                <a:r>
                  <a:rPr sz="2400" b="0">
                    <a:solidFill>
                      <a:srgbClr val="111827"/>
                    </a:solidFill>
                    <a:latin typeface="Arial"/>
                  </a:rPr>
                  <a:t> (as </a:t>
                </a:r>
                <a:r>
                  <a:rPr lang="en-IN" sz="2400">
                    <a:solidFill>
                      <a:srgbClr val="111827"/>
                    </a:solidFill>
                    <a:latin typeface="Cambria Math" panose="02040503050406030204" pitchFamily="18" charset="0"/>
                  </a:rPr>
                  <a:t>$x&gt;y$</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four new numbers: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Mean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48</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four new numbers: </a:t>
                </a:r>
                <a:r>
                  <a:rPr lang="en-IN" sz="2400">
                    <a:solidFill>
                      <a:srgbClr val="111827"/>
                    </a:solidFill>
                    <a:latin typeface="Cambria Math" panose="02040503050406030204" pitchFamily="18" charset="0"/>
                  </a:rPr>
                  <a:t>$3+18=21$</a:t>
                </a:r>
                <a:r>
                  <a:rPr sz="2400" b="0">
                    <a:solidFill>
                      <a:srgbClr val="111827"/>
                    </a:solidFill>
                    <a:latin typeface="Arial"/>
                  </a:rPr>
                  <a:t>, </a:t>
                </a:r>
                <a:r>
                  <a:rPr lang="en-IN" sz="2400">
                    <a:solidFill>
                      <a:srgbClr val="111827"/>
                    </a:solidFill>
                    <a:latin typeface="Cambria Math" panose="02040503050406030204" pitchFamily="18" charset="0"/>
                  </a:rPr>
                  <a:t>$7+2=9$</a:t>
                </a:r>
                <a:r>
                  <a:rPr sz="2400" b="0">
                    <a:solidFill>
                      <a:srgbClr val="111827"/>
                    </a:solidFill>
                    <a:latin typeface="Arial"/>
                  </a:rPr>
                  <a:t>, </a:t>
                </a:r>
                <a:r>
                  <a:rPr lang="en-IN" sz="2400">
                    <a:solidFill>
                      <a:srgbClr val="111827"/>
                    </a:solidFill>
                    <a:latin typeface="Cambria Math" panose="02040503050406030204" pitchFamily="18" charset="0"/>
                  </a:rPr>
                  <a:t>$x+y=10$</a:t>
                </a:r>
                <a:r>
                  <a:rPr sz="2400" b="0">
                    <a:solidFill>
                      <a:srgbClr val="111827"/>
                    </a:solidFill>
                    <a:latin typeface="Arial"/>
                  </a:rPr>
                  <a:t>, </a:t>
                </a:r>
                <a:r>
                  <a:rPr lang="en-IN" sz="2400">
                    <a:solidFill>
                      <a:srgbClr val="111827"/>
                    </a:solidFill>
                    <a:latin typeface="Cambria Math" panose="02040503050406030204" pitchFamily="18" charset="0"/>
                  </a:rPr>
                  <a:t>$x-y=8$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Mean </a:t>
                </a:r>
                <a:r>
                  <a:rPr lang="en-IN" sz="2400">
                    <a:solidFill>
                      <a:srgbClr val="111827"/>
                    </a:solidFill>
                    <a:latin typeface="Cambria Math" panose="02040503050406030204" pitchFamily="18" charset="0"/>
                  </a:rPr>
                  <a:t>$=\frac{21+9+10+8}{4}=\frac{48}{4}=12$</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14:m>
                  <m:oMath xmlns:m="http://schemas.openxmlformats.org/officeDocument/2006/math">
                    <m:r>
                      <a:rPr lang="en-IN" sz="2800" i="1">
                        <a:solidFill>
                          <a:srgbClr val="15803D"/>
                        </a:solidFill>
                        <a:latin typeface="Cambria Math" panose="02040503050406030204" pitchFamily="18" charset="0"/>
                      </a:rPr>
                      <m:t>12</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r>
                  <a:rPr lang="en-IN" sz="2800">
                    <a:solidFill>
                      <a:srgbClr val="15803D"/>
                    </a:solidFill>
                    <a:latin typeface="Cambria Math" panose="02040503050406030204" pitchFamily="18" charset="0"/>
                  </a:rPr>
                  <a:t>$12$</a:t>
                </a:r>
                <a:endParaRPr sz="2800">
                  <a:solidFill>
                    <a:srgbClr val="15803D"/>
                  </a:solidFill>
                </a:endParaRPr>
              </a:p>
            </p:txBody>
          </p:sp>
        </mc:Fallback>
      </mc:AlternateContent>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p:sp>
        <p:nvSpPr>
          <p:cNvPr id="5" name="Rounded Rectangle 4"/>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Deviations from the mean 5.</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Known deviations: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for the unknowns;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𝑢</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𝑦</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New numbers </a:t>
                </a:r>
                <a14:m>
                  <m:oMath xmlns:m="http://schemas.openxmlformats.org/officeDocument/2006/math">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have mean </a:t>
                </a:r>
                <a14:m>
                  <m:oMath xmlns:m="http://schemas.openxmlformats.org/officeDocument/2006/math">
                    <m:r>
                      <a:rPr lang="en-IN" sz="2400" i="1">
                        <a:solidFill>
                          <a:srgbClr val="111827"/>
                        </a:solidFill>
                        <a:latin typeface="Cambria Math" panose="02040503050406030204" pitchFamily="18" charset="0"/>
                      </a:rPr>
                      <m:t>12</m:t>
                    </m:r>
                  </m:oMath>
                </a14:m>
                <a:r>
                  <a:rPr sz="2400" b="0">
                    <a:solidFill>
                      <a:srgbClr val="111827"/>
                    </a:solidFill>
                    <a:latin typeface="Arial"/>
                  </a:rPr>
                  <a:t>, the same answer.</a:t>
                </a:r>
                <a:endParaRPr sz="2400">
                  <a:solidFill>
                    <a:srgbClr val="111827"/>
                  </a:solidFill>
                </a:endParaRPr>
              </a:p>
            </p:txBody>
          </p:sp>
        </mc:Choice>
        <mc:Fallback>
          <p:sp>
            <p:nvSpPr>
              <p:cNvPr id="6" name="Rectangle 5"/>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Known deviations: </a:t>
                </a:r>
                <a:r>
                  <a:rPr lang="en-IN" sz="2400">
                    <a:solidFill>
                      <a:srgbClr val="111827"/>
                    </a:solidFill>
                    <a:latin typeface="Cambria Math" panose="02040503050406030204" pitchFamily="18" charset="0"/>
                  </a:rPr>
                  <a:t>$-2$</a:t>
                </a:r>
                <a:r>
                  <a:rPr sz="2400" b="0">
                    <a:solidFill>
                      <a:srgbClr val="111827"/>
                    </a:solidFill>
                    <a:latin typeface="Arial"/>
                  </a:rPr>
                  <a:t> and </a:t>
                </a:r>
                <a:r>
                  <a:rPr lang="en-IN" sz="2400">
                    <a:solidFill>
                      <a:srgbClr val="111827"/>
                    </a:solidFill>
                    <a:latin typeface="Cambria Math" panose="02040503050406030204" pitchFamily="18" charset="0"/>
                  </a:rPr>
                  <a:t>$2$</a:t>
                </a:r>
                <a:r>
                  <a:rPr sz="2400" b="0">
                    <a:solidFill>
                      <a:srgbClr val="111827"/>
                    </a:solidFill>
                    <a:latin typeface="Arial"/>
                  </a:rPr>
                  <a:t>, so </a:t>
                </a:r>
                <a:r>
                  <a:rPr lang="en-IN" sz="2400">
                    <a:solidFill>
                      <a:srgbClr val="111827"/>
                    </a:solidFill>
                    <a:latin typeface="Cambria Math" panose="02040503050406030204" pitchFamily="18" charset="0"/>
                  </a:rPr>
                  <a:t>$u+v=0$</a:t>
                </a:r>
                <a:r>
                  <a:rPr sz="2400" b="0">
                    <a:solidFill>
                      <a:srgbClr val="111827"/>
                    </a:solidFill>
                    <a:latin typeface="Arial"/>
                  </a:rPr>
                  <a:t> for the unknowns; </a:t>
                </a:r>
                <a:r>
                  <a:rPr lang="en-IN" sz="2400">
                    <a:solidFill>
                      <a:srgbClr val="111827"/>
                    </a:solidFill>
                    <a:latin typeface="Cambria Math" panose="02040503050406030204" pitchFamily="18" charset="0"/>
                  </a:rPr>
                  <a:t>$\sum d^2=4\times10=40$</a:t>
                </a:r>
                <a:r>
                  <a:rPr sz="2400" b="0">
                    <a:solidFill>
                      <a:srgbClr val="111827"/>
                    </a:solidFill>
                    <a:latin typeface="Arial"/>
                  </a:rPr>
                  <a:t> gives </a:t>
                </a:r>
                <a:r>
                  <a:rPr lang="en-IN" sz="2400">
                    <a:solidFill>
                      <a:srgbClr val="111827"/>
                    </a:solidFill>
                    <a:latin typeface="Cambria Math" panose="02040503050406030204" pitchFamily="18" charset="0"/>
                  </a:rPr>
                  <a:t>$8+2u^2=40$</a:t>
                </a:r>
                <a:r>
                  <a:rPr sz="2400" b="0">
                    <a:solidFill>
                      <a:srgbClr val="111827"/>
                    </a:solidFill>
                    <a:latin typeface="Arial"/>
                  </a:rPr>
                  <a:t>, </a:t>
                </a:r>
                <a:r>
                  <a:rPr lang="en-IN" sz="2400">
                    <a:solidFill>
                      <a:srgbClr val="111827"/>
                    </a:solidFill>
                    <a:latin typeface="Cambria Math" panose="02040503050406030204" pitchFamily="18" charset="0"/>
                  </a:rPr>
                  <a:t>$u=\pm4$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r>
                  <a:rPr lang="en-IN" sz="2400">
                    <a:solidFill>
                      <a:srgbClr val="111827"/>
                    </a:solidFill>
                    <a:latin typeface="Cambria Math" panose="02040503050406030204" pitchFamily="18" charset="0"/>
                  </a:rPr>
                  <a:t>$x&gt;y$</a:t>
                </a:r>
                <a:r>
                  <a:rPr sz="2400" b="0">
                    <a:solidFill>
                      <a:srgbClr val="111827"/>
                    </a:solidFill>
                    <a:latin typeface="Arial"/>
                  </a:rPr>
                  <a:t>: </a:t>
                </a:r>
                <a:r>
                  <a:rPr lang="en-IN" sz="2400">
                    <a:solidFill>
                      <a:srgbClr val="111827"/>
                    </a:solidFill>
                    <a:latin typeface="Cambria Math" panose="02040503050406030204" pitchFamily="18" charset="0"/>
                  </a:rPr>
                  <a:t>$x=5+4=9$</a:t>
                </a:r>
                <a:r>
                  <a:rPr sz="2400" b="0">
                    <a:solidFill>
                      <a:srgbClr val="111827"/>
                    </a:solidFill>
                    <a:latin typeface="Arial"/>
                  </a:rPr>
                  <a:t>, </a:t>
                </a:r>
                <a:r>
                  <a:rPr lang="en-IN" sz="2400">
                    <a:solidFill>
                      <a:srgbClr val="111827"/>
                    </a:solidFill>
                    <a:latin typeface="Cambria Math" panose="02040503050406030204" pitchFamily="18" charset="0"/>
                  </a:rPr>
                  <a:t>$y=5-4=1$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New numbers </a:t>
                </a:r>
                <a:r>
                  <a:rPr lang="en-IN" sz="2400">
                    <a:solidFill>
                      <a:srgbClr val="111827"/>
                    </a:solidFill>
                    <a:latin typeface="Cambria Math" panose="02040503050406030204" pitchFamily="18" charset="0"/>
                  </a:rPr>
                  <a:t>$21,9,10,8$</a:t>
                </a:r>
                <a:r>
                  <a:rPr sz="2400" b="0">
                    <a:solidFill>
                      <a:srgbClr val="111827"/>
                    </a:solidFill>
                    <a:latin typeface="Arial"/>
                  </a:rPr>
                  <a:t> have mean </a:t>
                </a:r>
                <a:r>
                  <a:rPr lang="en-IN" sz="2400">
                    <a:solidFill>
                      <a:srgbClr val="111827"/>
                    </a:solidFill>
                    <a:latin typeface="Cambria Math" panose="02040503050406030204" pitchFamily="18" charset="0"/>
                  </a:rPr>
                  <a:t>$12$</a:t>
                </a:r>
                <a:r>
                  <a:rPr sz="2400" b="0">
                    <a:solidFill>
                      <a:srgbClr val="111827"/>
                    </a:solidFill>
                    <a:latin typeface="Arial"/>
                  </a:rPr>
                  <a:t>, the same answer.</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14:m>
                  <m:oMath xmlns:m="http://schemas.openxmlformats.org/officeDocument/2006/math">
                    <m:r>
                      <a:rPr lang="en-IN" sz="2800" i="1">
                        <a:solidFill>
                          <a:srgbClr val="15803D"/>
                        </a:solidFill>
                        <a:latin typeface="Cambria Math" panose="02040503050406030204" pitchFamily="18" charset="0"/>
                      </a:rPr>
                      <m:t>12</m:t>
                    </m:r>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r>
                  <a:rPr lang="en-IN" sz="2800">
                    <a:solidFill>
                      <a:srgbClr val="15803D"/>
                    </a:solidFill>
                    <a:latin typeface="Cambria Math" panose="02040503050406030204" pitchFamily="18" charset="0"/>
                  </a:rPr>
                  <a:t>$12$</a:t>
                </a:r>
                <a:endParaRPr sz="2800">
                  <a:solidFill>
                    <a:srgbClr val="15803D"/>
                  </a:solidFill>
                </a:endParaRPr>
              </a:p>
            </p:txBody>
          </p:sp>
        </mc:Fallback>
      </mc:AlternateContent>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new mean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(the sum is </a:t>
                </a:r>
                <a14:m>
                  <m:oMath xmlns:m="http://schemas.openxmlformats.org/officeDocument/2006/math">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r>
                  <a:rPr sz="2400" b="0">
                    <a:solidFill>
                      <a:srgbClr val="111827"/>
                    </a:solidFill>
                    <a:latin typeface="Arial"/>
                  </a:rPr>
                  <a:t>), so unlike the original data it depends on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 separately, not just on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Always use the ordering condition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𝑦</m:t>
                    </m:r>
                  </m:oMath>
                </a14:m>
                <a:r>
                  <a:rPr sz="2400" b="0">
                    <a:solidFill>
                      <a:srgbClr val="111827"/>
                    </a:solidFill>
                    <a:latin typeface="Arial"/>
                  </a:rPr>
                  <a:t>) to pick the root assignment.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new mean is </a:t>
                </a:r>
                <a:r>
                  <a:rPr lang="en-IN" sz="2400">
                    <a:solidFill>
                      <a:srgbClr val="111827"/>
                    </a:solidFill>
                    <a:latin typeface="Cambria Math" panose="02040503050406030204" pitchFamily="18" charset="0"/>
                  </a:rPr>
                  <a:t>$\frac{10+4x+2y}{4}$</a:t>
                </a:r>
                <a:r>
                  <a:rPr sz="2400" b="0">
                    <a:solidFill>
                      <a:srgbClr val="111827"/>
                    </a:solidFill>
                    <a:latin typeface="Arial"/>
                  </a:rPr>
                  <a:t> (the sum is </a:t>
                </a:r>
                <a:r>
                  <a:rPr lang="en-IN" sz="2400">
                    <a:solidFill>
                      <a:srgbClr val="111827"/>
                    </a:solidFill>
                    <a:latin typeface="Cambria Math" panose="02040503050406030204" pitchFamily="18" charset="0"/>
                  </a:rPr>
                  <a:t>$10+2x+2y+x+y+x-y$</a:t>
                </a:r>
                <a:r>
                  <a:rPr sz="2400" b="0">
                    <a:solidFill>
                      <a:srgbClr val="111827"/>
                    </a:solidFill>
                    <a:latin typeface="Arial"/>
                  </a:rPr>
                  <a:t>), so unlike the original data it depends on </a:t>
                </a:r>
                <a:r>
                  <a:rPr lang="en-IN" sz="2400">
                    <a:solidFill>
                      <a:srgbClr val="111827"/>
                    </a:solidFill>
                    <a:latin typeface="Cambria Math" panose="02040503050406030204" pitchFamily="18" charset="0"/>
                  </a:rPr>
                  <a:t>$x$</a:t>
                </a:r>
                <a:r>
                  <a:rPr sz="2400" b="0">
                    <a:solidFill>
                      <a:srgbClr val="111827"/>
                    </a:solidFill>
                    <a:latin typeface="Arial"/>
                  </a:rPr>
                  <a:t> and </a:t>
                </a:r>
                <a:r>
                  <a:rPr lang="en-IN" sz="2400">
                    <a:solidFill>
                      <a:srgbClr val="111827"/>
                    </a:solidFill>
                    <a:latin typeface="Cambria Math" panose="02040503050406030204" pitchFamily="18" charset="0"/>
                  </a:rPr>
                  <a:t>$y$</a:t>
                </a:r>
                <a:r>
                  <a:rPr sz="2400" b="0">
                    <a:solidFill>
                      <a:srgbClr val="111827"/>
                    </a:solidFill>
                    <a:latin typeface="Arial"/>
                  </a:rPr>
                  <a:t> separately, not just on </a:t>
                </a:r>
                <a:r>
                  <a:rPr lang="en-IN" sz="2400">
                    <a:solidFill>
                      <a:srgbClr val="111827"/>
                    </a:solidFill>
                    <a:latin typeface="Cambria Math" panose="02040503050406030204" pitchFamily="18" charset="0"/>
                  </a:rPr>
                  <a:t>$x+y$</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Always use the ordering condition (</a:t>
                </a:r>
                <a:r>
                  <a:rPr lang="en-IN" sz="2400">
                    <a:solidFill>
                      <a:srgbClr val="111827"/>
                    </a:solidFill>
                    <a:latin typeface="Cambria Math" panose="02040503050406030204" pitchFamily="18" charset="0"/>
                  </a:rPr>
                  <a:t>$x&gt;y$</a:t>
                </a:r>
                <a:r>
                  <a:rPr sz="2400" b="0">
                    <a:solidFill>
                      <a:srgbClr val="111827"/>
                    </a:solidFill>
                    <a:latin typeface="Arial"/>
                  </a:rPr>
                  <a:t>) to pick the root assignment.</a:t>
                </a:r>
                <a:endParaRPr sz="2400">
                  <a:solidFill>
                    <a:srgbClr val="111827"/>
                  </a:solidFill>
                </a:endParaRPr>
              </a:p>
            </p:txBody>
          </p:sp>
        </mc:Fallback>
      </mc:AlternateContent>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be an odd natural number such that the variance of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 is 14. Then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is equal to ______.</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$n$</a:t>
                </a:r>
                <a:r>
                  <a:rPr sz="2400" b="0">
                    <a:solidFill>
                      <a:srgbClr val="111827"/>
                    </a:solidFill>
                    <a:latin typeface="Arial"/>
                  </a:rPr>
                  <a:t> be an odd natural number such that the variance of </a:t>
                </a:r>
                <a:r>
                  <a:rPr lang="en-IN" sz="2400">
                    <a:solidFill>
                      <a:srgbClr val="111827"/>
                    </a:solidFill>
                    <a:latin typeface="Cambria Math" panose="02040503050406030204" pitchFamily="18" charset="0"/>
                  </a:rPr>
                  <a:t>$1,2,3,4,\dots,n$</a:t>
                </a:r>
                <a:r>
                  <a:rPr sz="2400" b="0">
                    <a:solidFill>
                      <a:srgbClr val="111827"/>
                    </a:solidFill>
                    <a:latin typeface="Arial"/>
                  </a:rPr>
                  <a:t> is 14. Then </a:t>
                </a:r>
                <a:r>
                  <a:rPr lang="en-IN" sz="2400">
                    <a:solidFill>
                      <a:srgbClr val="111827"/>
                    </a:solidFill>
                    <a:latin typeface="Cambria Math" panose="02040503050406030204" pitchFamily="18" charset="0"/>
                  </a:rPr>
                  <a:t>$n$</a:t>
                </a:r>
                <a:r>
                  <a:rPr sz="2400" b="0">
                    <a:solidFill>
                      <a:srgbClr val="111827"/>
                    </a:solidFill>
                    <a:latin typeface="Arial"/>
                  </a:rPr>
                  <a:t> is equal to ______.</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3246120"/>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Variance of the first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natural numbers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mc:Choice>
        <mc:Fallback>
          <p:sp>
            <p:nvSpPr>
              <p:cNvPr id="5" name="Rectangle 4"/>
              <p:cNvSpPr/>
              <p:nvPr/>
            </p:nvSpPr>
            <p:spPr>
              <a:xfrm>
                <a:off x="731520" y="3246120"/>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Variance of the first </a:t>
                </a:r>
                <a:r>
                  <a:rPr lang="en-IN" sz="2400">
                    <a:solidFill>
                      <a:srgbClr val="111827"/>
                    </a:solidFill>
                    <a:latin typeface="Cambria Math" panose="02040503050406030204" pitchFamily="18" charset="0"/>
                  </a:rPr>
                  <a:t>$n$</a:t>
                </a:r>
                <a:r>
                  <a:rPr sz="2400" b="0">
                    <a:solidFill>
                      <a:srgbClr val="111827"/>
                    </a:solidFill>
                    <a:latin typeface="Arial"/>
                  </a:rPr>
                  <a:t> natural numbers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mc:Fallback>
      </mc:AlternateContent>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847344"/>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Variance of </a:t>
                </a:r>
                <a14:m>
                  <m:oMath xmlns:m="http://schemas.openxmlformats.org/officeDocument/2006/math">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𝑛</m:t>
                    </m:r>
                  </m:oMath>
                </a14:m>
                <a:r>
                  <a:rPr sz="2400" b="0">
                    <a:solidFill>
                      <a:srgbClr val="78350F"/>
                    </a:solidFill>
                    <a:latin typeface="Arial"/>
                  </a:rPr>
                  <a:t> is </a:t>
                </a:r>
                <a14:m>
                  <m:oMath xmlns:m="http://schemas.openxmlformats.org/officeDocument/2006/math">
                    <m:f>
                      <m:fPr>
                        <m:type m:val="bar"/>
                        <m:ctrlPr>
                          <a:rPr lang="en-IN" sz="2400" i="1">
                            <a:solidFill>
                              <a:srgbClr val="78350F"/>
                            </a:solidFill>
                            <a:latin typeface="Cambria Math" panose="02040503050406030204" pitchFamily="18" charset="0"/>
                          </a:rPr>
                        </m:ctrlPr>
                      </m:fPr>
                      <m:num>
                        <m:sSup>
                          <m:e>
                            <m:r>
                              <a:rPr lang="en-IN" sz="2400" i="1">
                                <a:solidFill>
                                  <a:srgbClr val="78350F"/>
                                </a:solidFill>
                                <a:latin typeface="Cambria Math" panose="02040503050406030204" pitchFamily="18" charset="0"/>
                              </a:rPr>
                              <m:t>𝑛</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12</m:t>
                        </m:r>
                      </m:den>
                    </m:f>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847344"/>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Variance of </a:t>
                </a:r>
                <a:r>
                  <a:rPr lang="en-IN" sz="2400">
                    <a:solidFill>
                      <a:srgbClr val="78350F"/>
                    </a:solidFill>
                    <a:latin typeface="Cambria Math" panose="02040503050406030204" pitchFamily="18" charset="0"/>
                  </a:rPr>
                  <a:t>$1,\dots,n$</a:t>
                </a:r>
                <a:r>
                  <a:rPr sz="2400" b="0">
                    <a:solidFill>
                      <a:srgbClr val="78350F"/>
                    </a:solidFill>
                    <a:latin typeface="Arial"/>
                  </a:rPr>
                  <a:t> is </a:t>
                </a:r>
                <a:r>
                  <a:rPr lang="en-IN" sz="2400">
                    <a:solidFill>
                      <a:srgbClr val="78350F"/>
                    </a:solidFill>
                    <a:latin typeface="Cambria Math" panose="02040503050406030204" pitchFamily="18" charset="0"/>
                  </a:rPr>
                  <a:t>$\frac{n^2-1}{12}$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264664"/>
                <a:ext cx="10725912" cy="352348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Variance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𝑛</m:t>
                        </m:r>
                      </m:den>
                    </m:f>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num>
                              <m:den>
                                <m:r>
                                  <a:rPr lang="en-IN" sz="2400" i="1">
                                    <a:solidFill>
                                      <a:srgbClr val="111827"/>
                                    </a:solidFill>
                                    <a:latin typeface="Cambria Math" panose="02040503050406030204" pitchFamily="18" charset="0"/>
                                  </a:rPr>
                                  <m:t>𝑛</m:t>
                                </m:r>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e>
                        </m:d>
                      </m:num>
                      <m:den>
                        <m:r>
                          <a:rPr lang="en-IN" sz="2400" i="1">
                            <a:solidFill>
                              <a:srgbClr val="111827"/>
                            </a:solidFill>
                            <a:latin typeface="Cambria Math" panose="02040503050406030204" pitchFamily="18" charset="0"/>
                          </a:rPr>
                          <m:t>12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12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169</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oMath>
                </a14:m>
                <a:r>
                  <a:rPr sz="2400" b="0">
                    <a:solidFill>
                      <a:srgbClr val="111827"/>
                    </a:solidFill>
                    <a:latin typeface="Arial"/>
                  </a:rPr>
                  <a:t> (positive, and indeed odd).</a:t>
                </a:r>
                <a:endParaRPr sz="2400">
                  <a:solidFill>
                    <a:srgbClr val="111827"/>
                  </a:solidFill>
                </a:endParaRPr>
              </a:p>
            </p:txBody>
          </p:sp>
        </mc:Choice>
        <mc:Fallback>
          <p:sp>
            <p:nvSpPr>
              <p:cNvPr id="5" name="Rectangle 4"/>
              <p:cNvSpPr/>
              <p:nvPr/>
            </p:nvSpPr>
            <p:spPr>
              <a:xfrm>
                <a:off x="731520" y="2264664"/>
                <a:ext cx="10725912" cy="352348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Variance </a:t>
                </a:r>
                <a:r>
                  <a:rPr lang="en-IN" sz="2400">
                    <a:solidFill>
                      <a:srgbClr val="111827"/>
                    </a:solidFill>
                    <a:latin typeface="Cambria Math" panose="02040503050406030204" pitchFamily="18" charset="0"/>
                  </a:rPr>
                  <a:t>$=\frac{\sum k^2}{n}-\left(\frac{\sum k}{n}\right)^2=\frac{(n+1)(2n+1)}{6}-\frac{(n+1)^2}{4}$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$=\frac{(n+1)\left[2(2n+1)-3(n+1)\right]}{12}=\frac{(n+1)(n-1)}{12}=\frac{n^2-1}{12}$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$\frac{n^2-1}{12}=14$</a:t>
                </a:r>
                <a:r>
                  <a:rPr sz="2400" b="0">
                    <a:solidFill>
                      <a:srgbClr val="111827"/>
                    </a:solidFill>
                    <a:latin typeface="Arial"/>
                  </a:rPr>
                  <a:t>, so </a:t>
                </a:r>
                <a:r>
                  <a:rPr lang="en-IN" sz="2400">
                    <a:solidFill>
                      <a:srgbClr val="111827"/>
                    </a:solidFill>
                    <a:latin typeface="Cambria Math" panose="02040503050406030204" pitchFamily="18" charset="0"/>
                  </a:rPr>
                  <a:t>$n^2=169$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$n=13$</a:t>
                </a:r>
                <a:r>
                  <a:rPr sz="2400" b="0">
                    <a:solidFill>
                      <a:srgbClr val="111827"/>
                    </a:solidFill>
                    <a:latin typeface="Arial"/>
                  </a:rPr>
                  <a:t> (positive, and indeed odd).</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14:m>
                  <m:oMath xmlns:m="http://schemas.openxmlformats.org/officeDocument/2006/math">
                    <m:r>
                      <a:rPr lang="en-IN" sz="2800" i="1">
                        <a:solidFill>
                          <a:srgbClr val="15803D"/>
                        </a:solidFill>
                        <a:latin typeface="Cambria Math" panose="02040503050406030204" pitchFamily="18" charset="0"/>
                      </a:rPr>
                      <m:t>13</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r>
                  <a:rPr lang="en-IN" sz="2800">
                    <a:solidFill>
                      <a:srgbClr val="15803D"/>
                    </a:solidFill>
                    <a:latin typeface="Cambria Math" panose="02040503050406030204" pitchFamily="18" charset="0"/>
                  </a:rPr>
                  <a:t>$13$</a:t>
                </a:r>
                <a:endParaRPr sz="2800">
                  <a:solidFill>
                    <a:srgbClr val="15803D"/>
                  </a:solidFill>
                </a:endParaRPr>
              </a:p>
            </p:txBody>
          </p:sp>
        </mc:Fallback>
      </mc:AlternateContent>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Variance of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 is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12</m:t>
                        </m:r>
                      </m:den>
                    </m:f>
                  </m:oMath>
                </a14:m>
                <a:r>
                  <a:rPr sz="2400" b="0">
                    <a:solidFill>
                      <a:srgbClr val="111827"/>
                    </a:solidFill>
                    <a:latin typeface="Arial"/>
                  </a:rPr>
                  <a:t>; for a target </a:t>
                </a:r>
                <a14:m>
                  <m:oMath xmlns:m="http://schemas.openxmlformats.org/officeDocument/2006/math">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12</m:t>
                        </m:r>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'odd' condition is not needed here; it only guarantees an integer middle term.</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Variance of </a:t>
                </a:r>
                <a:r>
                  <a:rPr lang="en-IN" sz="2400">
                    <a:solidFill>
                      <a:srgbClr val="111827"/>
                    </a:solidFill>
                    <a:latin typeface="Cambria Math" panose="02040503050406030204" pitchFamily="18" charset="0"/>
                  </a:rPr>
                  <a:t>$1,2,\dots,n$</a:t>
                </a:r>
                <a:r>
                  <a:rPr sz="2400" b="0">
                    <a:solidFill>
                      <a:srgbClr val="111827"/>
                    </a:solidFill>
                    <a:latin typeface="Arial"/>
                  </a:rPr>
                  <a:t> is </a:t>
                </a:r>
                <a:r>
                  <a:rPr lang="en-IN" sz="2400">
                    <a:solidFill>
                      <a:srgbClr val="111827"/>
                    </a:solidFill>
                    <a:latin typeface="Cambria Math" panose="02040503050406030204" pitchFamily="18" charset="0"/>
                  </a:rPr>
                  <a:t>$\frac{n^2-1}{12}$</a:t>
                </a:r>
                <a:r>
                  <a:rPr sz="2400" b="0">
                    <a:solidFill>
                      <a:srgbClr val="111827"/>
                    </a:solidFill>
                    <a:latin typeface="Arial"/>
                  </a:rPr>
                  <a:t>; for a target </a:t>
                </a:r>
                <a:r>
                  <a:rPr lang="en-IN" sz="2400">
                    <a:solidFill>
                      <a:srgbClr val="111827"/>
                    </a:solidFill>
                    <a:latin typeface="Cambria Math" panose="02040503050406030204" pitchFamily="18" charset="0"/>
                  </a:rPr>
                  <a:t>$\sigma^2$</a:t>
                </a:r>
                <a:r>
                  <a:rPr sz="2400" b="0">
                    <a:solidFill>
                      <a:srgbClr val="111827"/>
                    </a:solidFill>
                    <a:latin typeface="Arial"/>
                  </a:rPr>
                  <a:t>, </a:t>
                </a:r>
                <a:r>
                  <a:rPr lang="en-IN" sz="2400">
                    <a:solidFill>
                      <a:srgbClr val="111827"/>
                    </a:solidFill>
                    <a:latin typeface="Cambria Math" panose="02040503050406030204" pitchFamily="18" charset="0"/>
                  </a:rPr>
                  <a:t>$n=\sqrt{12\sigma^2+1}$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'odd' condition is not needed here; it only guarantees an integer middle term.</a:t>
                </a:r>
                <a:endParaRPr sz="2400">
                  <a:solidFill>
                    <a:srgbClr val="111827"/>
                  </a:solidFill>
                </a:endParaRPr>
              </a:p>
            </p:txBody>
          </p:sp>
        </mc:Fallback>
      </mc:AlternateContent>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7518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An online exam is attempted by 50 candidates out of which 20 are boys. The average marks obtained by boys is 12 with a variance 2. The variance of marks obtained by 30 girls is also 2. The average marks of all 50 candidates is 15. If </a:t>
                </a:r>
                <a14:m>
                  <m:oMath xmlns:m="http://schemas.openxmlformats.org/officeDocument/2006/math">
                    <m:r>
                      <a:rPr lang="en-IN" sz="2400" i="1">
                        <a:solidFill>
                          <a:srgbClr val="111827"/>
                        </a:solidFill>
                        <a:latin typeface="Cambria Math" panose="02040503050406030204" pitchFamily="18" charset="0"/>
                      </a:rPr>
                      <m:t>μ</m:t>
                    </m:r>
                  </m:oMath>
                </a14:m>
                <a:r>
                  <a:rPr sz="2400" b="0">
                    <a:solidFill>
                      <a:srgbClr val="111827"/>
                    </a:solidFill>
                    <a:latin typeface="Arial"/>
                  </a:rPr>
                  <a:t> is the average marks of girls and </a:t>
                </a:r>
                <a14:m>
                  <m:oMath xmlns:m="http://schemas.openxmlformats.org/officeDocument/2006/math">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is the variance of marks of 50 candidates, then </a:t>
                </a:r>
                <a14:m>
                  <m:oMath xmlns:m="http://schemas.openxmlformats.org/officeDocument/2006/math">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is equal to ______.</a:t>
                </a:r>
                <a:endParaRPr sz="2400">
                  <a:solidFill>
                    <a:srgbClr val="111827"/>
                  </a:solidFill>
                </a:endParaRPr>
              </a:p>
            </p:txBody>
          </p:sp>
        </mc:Choice>
        <mc:Fallback>
          <p:sp>
            <p:nvSpPr>
              <p:cNvPr id="4" name="Rounded Rectangle 3"/>
              <p:cNvSpPr/>
              <p:nvPr/>
            </p:nvSpPr>
            <p:spPr>
              <a:xfrm>
                <a:off x="731520" y="1280160"/>
                <a:ext cx="10725912" cy="27518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An online exam is attempted by 50 candidates out of which 20 are boys. The average marks obtained by boys is 12 with a variance 2. The variance of marks obtained by 30 girls is also 2. The average marks of all 50 candidates is 15. If </a:t>
                </a:r>
                <a:r>
                  <a:rPr lang="en-IN" sz="2400">
                    <a:solidFill>
                      <a:srgbClr val="111827"/>
                    </a:solidFill>
                    <a:latin typeface="Cambria Math" panose="02040503050406030204" pitchFamily="18" charset="0"/>
                  </a:rPr>
                  <a:t>$\mu$</a:t>
                </a:r>
                <a:r>
                  <a:rPr sz="2400" b="0">
                    <a:solidFill>
                      <a:srgbClr val="111827"/>
                    </a:solidFill>
                    <a:latin typeface="Arial"/>
                  </a:rPr>
                  <a:t> is the average marks of girls and </a:t>
                </a:r>
                <a:r>
                  <a:rPr lang="en-IN" sz="2400">
                    <a:solidFill>
                      <a:srgbClr val="111827"/>
                    </a:solidFill>
                    <a:latin typeface="Cambria Math" panose="02040503050406030204" pitchFamily="18" charset="0"/>
                  </a:rPr>
                  <a:t>$\sigma^2$</a:t>
                </a:r>
                <a:r>
                  <a:rPr sz="2400" b="0">
                    <a:solidFill>
                      <a:srgbClr val="111827"/>
                    </a:solidFill>
                    <a:latin typeface="Arial"/>
                  </a:rPr>
                  <a:t> is the variance of marks of 50 candidates, then </a:t>
                </a:r>
                <a:r>
                  <a:rPr lang="en-IN" sz="2400">
                    <a:solidFill>
                      <a:srgbClr val="111827"/>
                    </a:solidFill>
                    <a:latin typeface="Cambria Math" panose="02040503050406030204" pitchFamily="18" charset="0"/>
                  </a:rPr>
                  <a:t>$\mu+\sigma^2$</a:t>
                </a:r>
                <a:r>
                  <a:rPr sz="2400" b="0">
                    <a:solidFill>
                      <a:srgbClr val="111827"/>
                    </a:solidFill>
                    <a:latin typeface="Arial"/>
                  </a:rPr>
                  <a:t> is equal to ______.</a:t>
                </a:r>
                <a:endParaRPr sz="2400">
                  <a:solidFill>
                    <a:srgbClr val="111827"/>
                  </a:solidFill>
                </a:endParaRPr>
              </a:p>
            </p:txBody>
          </p:sp>
        </mc:Fallback>
      </mc:AlternateContent>
      <p:sp>
        <p:nvSpPr>
          <p:cNvPr id="5" name="Rectangle 4"/>
          <p:cNvSpPr/>
          <p:nvPr/>
        </p:nvSpPr>
        <p:spPr>
          <a:xfrm>
            <a:off x="731520" y="4260596"/>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Combined mean and variance of two groups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Combined mean gives the girls' mean; the combined variance adds a between-group term.</a:t>
            </a:r>
            <a:endParaRPr sz="24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Boys: </a:t>
                </a:r>
                <a14:m>
                  <m:oMath xmlns:m="http://schemas.openxmlformats.org/officeDocument/2006/math">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oMath>
                </a14:m>
                <a:r>
                  <a:rPr sz="2400" b="0">
                    <a:solidFill>
                      <a:srgbClr val="111827"/>
                    </a:solidFill>
                    <a:latin typeface="Arial"/>
                  </a:rPr>
                  <a:t>, </a:t>
                </a:r>
                <a14:m>
                  <m:oMath xmlns:m="http://schemas.openxmlformats.org/officeDocument/2006/math">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e>
                      <m:sub>
                        <m:r>
                          <a:rPr lang="en-IN" sz="2400" i="1">
                            <a:solidFill>
                              <a:srgbClr val="111827"/>
                            </a:solidFill>
                            <a:latin typeface="Cambria Math" panose="02040503050406030204" pitchFamily="18" charset="0"/>
                          </a:rPr>
                          <m:t>𝑏</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 </a:t>
                </a:r>
                <a14:m>
                  <m:oMath xmlns:m="http://schemas.openxmlformats.org/officeDocument/2006/math">
                    <m:sSubSup>
                      <m:e>
                        <m:r>
                          <a:rPr lang="en-IN" sz="2400" i="1">
                            <a:solidFill>
                              <a:srgbClr val="111827"/>
                            </a:solidFill>
                            <a:latin typeface="Cambria Math" panose="02040503050406030204" pitchFamily="18" charset="0"/>
                          </a:rPr>
                          <m:t>σ</m:t>
                        </m:r>
                      </m:e>
                      <m:sub>
                        <m:r>
                          <a:rPr lang="en-IN" sz="2400" i="1">
                            <a:solidFill>
                              <a:srgbClr val="111827"/>
                            </a:solidFill>
                            <a:latin typeface="Cambria Math" panose="02040503050406030204" pitchFamily="18" charset="0"/>
                          </a:rPr>
                          <m:t>𝑏</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girls: </a:t>
                </a:r>
                <a14:m>
                  <m:oMath xmlns:m="http://schemas.openxmlformats.org/officeDocument/2006/math">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oMath>
                </a14:m>
                <a:r>
                  <a:rPr sz="2400" b="0">
                    <a:solidFill>
                      <a:srgbClr val="111827"/>
                    </a:solidFill>
                    <a:latin typeface="Arial"/>
                  </a:rPr>
                  <a:t>, </a:t>
                </a:r>
                <a14:m>
                  <m:oMath xmlns:m="http://schemas.openxmlformats.org/officeDocument/2006/math">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e>
                      <m:sub>
                        <m:r>
                          <a:rPr lang="en-IN" sz="2400" i="1">
                            <a:solidFill>
                              <a:srgbClr val="111827"/>
                            </a:solidFill>
                            <a:latin typeface="Cambria Math" panose="02040503050406030204" pitchFamily="18" charset="0"/>
                          </a:rPr>
                          <m:t>𝑔</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μ</m:t>
                    </m:r>
                  </m:oMath>
                </a14:m>
                <a:r>
                  <a:rPr sz="2400" b="0">
                    <a:solidFill>
                      <a:srgbClr val="111827"/>
                    </a:solidFill>
                    <a:latin typeface="Arial"/>
                  </a:rPr>
                  <a:t>, </a:t>
                </a:r>
                <a14:m>
                  <m:oMath xmlns:m="http://schemas.openxmlformats.org/officeDocument/2006/math">
                    <m:sSubSup>
                      <m:e>
                        <m:r>
                          <a:rPr lang="en-IN" sz="2400" i="1">
                            <a:solidFill>
                              <a:srgbClr val="111827"/>
                            </a:solidFill>
                            <a:latin typeface="Cambria Math" panose="02040503050406030204" pitchFamily="18" charset="0"/>
                          </a:rPr>
                          <m:t>σ</m:t>
                        </m:r>
                      </m:e>
                      <m:sub>
                        <m:r>
                          <a:rPr lang="en-IN" sz="2400" i="1">
                            <a:solidFill>
                              <a:srgbClr val="111827"/>
                            </a:solidFill>
                            <a:latin typeface="Cambria Math" panose="02040503050406030204" pitchFamily="18" charset="0"/>
                          </a:rPr>
                          <m:t>𝑔</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num>
                      <m:den>
                        <m:r>
                          <a:rPr lang="en-IN" sz="2400" i="1">
                            <a:solidFill>
                              <a:srgbClr val="111827"/>
                            </a:solidFill>
                            <a:latin typeface="Cambria Math" panose="02040503050406030204" pitchFamily="18" charset="0"/>
                          </a:rPr>
                          <m:t>50</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750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r>
                      <a:rPr lang="en-IN" sz="2400" i="1">
                        <a:solidFill>
                          <a:srgbClr val="111827"/>
                        </a:solidFill>
                        <a:latin typeface="Cambria Math" panose="02040503050406030204" pitchFamily="18" charset="0"/>
                      </a:rPr>
                      <m:t>μ</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sSubSup>
                          <m:e>
                            <m:r>
                              <a:rPr lang="en-IN" sz="2400" i="1">
                                <a:solidFill>
                                  <a:srgbClr val="111827"/>
                                </a:solidFill>
                                <a:latin typeface="Cambria Math" panose="02040503050406030204" pitchFamily="18" charset="0"/>
                              </a:rPr>
                              <m:t>σ</m:t>
                            </m:r>
                          </m:e>
                          <m:sub>
                            <m:r>
                              <a:rPr lang="en-IN" sz="2400" i="1">
                                <a:solidFill>
                                  <a:srgbClr val="111827"/>
                                </a:solidFill>
                                <a:latin typeface="Cambria Math" panose="02040503050406030204" pitchFamily="18" charset="0"/>
                              </a:rPr>
                              <m:t>𝑏</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sSubSup>
                          <m:e>
                            <m:r>
                              <a:rPr lang="en-IN" sz="2400" i="1">
                                <a:solidFill>
                                  <a:srgbClr val="111827"/>
                                </a:solidFill>
                                <a:latin typeface="Cambria Math" panose="02040503050406030204" pitchFamily="18" charset="0"/>
                              </a:rPr>
                              <m:t>σ</m:t>
                            </m:r>
                          </m:e>
                          <m:sub>
                            <m:r>
                              <a:rPr lang="en-IN" sz="2400" i="1">
                                <a:solidFill>
                                  <a:srgbClr val="111827"/>
                                </a:solidFill>
                                <a:latin typeface="Cambria Math" panose="02040503050406030204" pitchFamily="18" charset="0"/>
                              </a:rPr>
                              <m:t>𝑔</m:t>
                            </m:r>
                          </m:sub>
                          <m:sup>
                            <m:r>
                              <a:rPr lang="en-IN" sz="2400" i="1">
                                <a:solidFill>
                                  <a:srgbClr val="111827"/>
                                </a:solidFill>
                                <a:latin typeface="Cambria Math" panose="02040503050406030204" pitchFamily="18" charset="0"/>
                              </a:rPr>
                              <m:t>2</m:t>
                            </m:r>
                          </m:sup>
                        </m:sSubSup>
                      </m:num>
                      <m:den>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num>
                      <m:den>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e>
                      <m:sub>
                        <m:r>
                          <a:rPr lang="en-IN" sz="2400" i="1">
                            <a:solidFill>
                              <a:srgbClr val="111827"/>
                            </a:solidFill>
                            <a:latin typeface="Cambria Math" panose="02040503050406030204" pitchFamily="18" charset="0"/>
                          </a:rPr>
                          <m:t>𝑏</m:t>
                        </m:r>
                      </m:sub>
                    </m:sSub>
                    <m:r>
                      <m:rPr>
                        <m:sty m:val="p"/>
                      </m:rPr>
                      <a:rPr lang="en-IN" sz="2400">
                        <a:solidFill>
                          <a:srgbClr val="111827"/>
                        </a:solidFill>
                        <a:latin typeface="Cambria Math" panose="02040503050406030204" pitchFamily="18" charset="0"/>
                      </a:rPr>
                      <m:t>−</m:t>
                    </m:r>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e>
                      <m:sub>
                        <m:r>
                          <a:rPr lang="en-IN" sz="2400" i="1">
                            <a:solidFill>
                              <a:srgbClr val="111827"/>
                            </a:solidFill>
                            <a:latin typeface="Cambria Math" panose="02040503050406030204" pitchFamily="18" charset="0"/>
                          </a:rPr>
                          <m:t>𝑔</m:t>
                        </m:r>
                      </m:sub>
                    </m:sSub>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50</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num>
                      <m:den>
                        <m:sSup>
                          <m:e>
                            <m:r>
                              <a:rPr lang="en-IN" sz="2400" i="1">
                                <a:solidFill>
                                  <a:srgbClr val="111827"/>
                                </a:solidFill>
                                <a:latin typeface="Cambria Math" panose="02040503050406030204" pitchFamily="18" charset="0"/>
                              </a:rPr>
                              <m:t>50</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Boys: </a:t>
                </a:r>
                <a:r>
                  <a:rPr lang="en-IN" sz="2400">
                    <a:solidFill>
                      <a:srgbClr val="111827"/>
                    </a:solidFill>
                    <a:latin typeface="Cambria Math" panose="02040503050406030204" pitchFamily="18" charset="0"/>
                  </a:rPr>
                  <a:t>$n_1=20$</a:t>
                </a:r>
                <a:r>
                  <a:rPr sz="2400" b="0">
                    <a:solidFill>
                      <a:srgbClr val="111827"/>
                    </a:solidFill>
                    <a:latin typeface="Arial"/>
                  </a:rPr>
                  <a:t>, </a:t>
                </a:r>
                <a:r>
                  <a:rPr lang="en-IN" sz="2400">
                    <a:solidFill>
                      <a:srgbClr val="111827"/>
                    </a:solidFill>
                    <a:latin typeface="Cambria Math" panose="02040503050406030204" pitchFamily="18" charset="0"/>
                  </a:rPr>
                  <a:t>$\bar{x}_b=12$</a:t>
                </a:r>
                <a:r>
                  <a:rPr sz="2400" b="0">
                    <a:solidFill>
                      <a:srgbClr val="111827"/>
                    </a:solidFill>
                    <a:latin typeface="Arial"/>
                  </a:rPr>
                  <a:t>, </a:t>
                </a:r>
                <a:r>
                  <a:rPr lang="en-IN" sz="2400">
                    <a:solidFill>
                      <a:srgbClr val="111827"/>
                    </a:solidFill>
                    <a:latin typeface="Cambria Math" panose="02040503050406030204" pitchFamily="18" charset="0"/>
                  </a:rPr>
                  <a:t>$\sigma_b^2=2$</a:t>
                </a:r>
                <a:r>
                  <a:rPr sz="2400" b="0">
                    <a:solidFill>
                      <a:srgbClr val="111827"/>
                    </a:solidFill>
                    <a:latin typeface="Arial"/>
                  </a:rPr>
                  <a:t>; girls: </a:t>
                </a:r>
                <a:r>
                  <a:rPr lang="en-IN" sz="2400">
                    <a:solidFill>
                      <a:srgbClr val="111827"/>
                    </a:solidFill>
                    <a:latin typeface="Cambria Math" panose="02040503050406030204" pitchFamily="18" charset="0"/>
                  </a:rPr>
                  <a:t>$n_2=30$</a:t>
                </a:r>
                <a:r>
                  <a:rPr sz="2400" b="0">
                    <a:solidFill>
                      <a:srgbClr val="111827"/>
                    </a:solidFill>
                    <a:latin typeface="Arial"/>
                  </a:rPr>
                  <a:t>, </a:t>
                </a:r>
                <a:r>
                  <a:rPr lang="en-IN" sz="2400">
                    <a:solidFill>
                      <a:srgbClr val="111827"/>
                    </a:solidFill>
                    <a:latin typeface="Cambria Math" panose="02040503050406030204" pitchFamily="18" charset="0"/>
                  </a:rPr>
                  <a:t>$\bar{x}_g=\mu$</a:t>
                </a:r>
                <a:r>
                  <a:rPr sz="2400" b="0">
                    <a:solidFill>
                      <a:srgbClr val="111827"/>
                    </a:solidFill>
                    <a:latin typeface="Arial"/>
                  </a:rPr>
                  <a:t>, </a:t>
                </a:r>
                <a:r>
                  <a:rPr lang="en-IN" sz="2400">
                    <a:solidFill>
                      <a:srgbClr val="111827"/>
                    </a:solidFill>
                    <a:latin typeface="Cambria Math" panose="02040503050406030204" pitchFamily="18" charset="0"/>
                  </a:rPr>
                  <a:t>$\sigma_g^2=2$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$15=\frac{12\times20+\mu\times30}{50}$</a:t>
                </a:r>
                <a:r>
                  <a:rPr sz="2400" b="0">
                    <a:solidFill>
                      <a:srgbClr val="111827"/>
                    </a:solidFill>
                    <a:latin typeface="Arial"/>
                  </a:rPr>
                  <a:t>, so </a:t>
                </a:r>
                <a:r>
                  <a:rPr lang="en-IN" sz="2400">
                    <a:solidFill>
                      <a:srgbClr val="111827"/>
                    </a:solidFill>
                    <a:latin typeface="Cambria Math" panose="02040503050406030204" pitchFamily="18" charset="0"/>
                  </a:rPr>
                  <a:t>$750-240=30\mu$</a:t>
                </a:r>
                <a:r>
                  <a:rPr sz="2400" b="0">
                    <a:solidFill>
                      <a:srgbClr val="111827"/>
                    </a:solidFill>
                    <a:latin typeface="Arial"/>
                  </a:rPr>
                  <a:t> and </a:t>
                </a:r>
                <a:r>
                  <a:rPr lang="en-IN" sz="2400">
                    <a:solidFill>
                      <a:srgbClr val="111827"/>
                    </a:solidFill>
                    <a:latin typeface="Cambria Math" panose="02040503050406030204" pitchFamily="18" charset="0"/>
                  </a:rPr>
                  <a:t>$\mu=17$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$\sigma^2=\frac{n_1\sigma_b^2+n_2\sigma_g^2}{n_1+n_2}+\frac{n_1n_2}{(n_1+n_2)^2}(\bar{x}_b-\bar{x}_g)^2$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$\sigma^2=\frac{20\times2+30\times2}{50}+\frac{20\times30}{50^2}(12-17)^2=2+6=8$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$\mu+\sigma^2=17+8=25$</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14:m>
                  <m:oMath xmlns:m="http://schemas.openxmlformats.org/officeDocument/2006/math">
                    <m:r>
                      <a:rPr lang="en-IN" sz="2800" i="1">
                        <a:solidFill>
                          <a:srgbClr val="15803D"/>
                        </a:solidFill>
                        <a:latin typeface="Cambria Math" panose="02040503050406030204" pitchFamily="18" charset="0"/>
                      </a:rPr>
                      <m:t>25</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r>
                  <a:rPr lang="en-IN" sz="2800">
                    <a:solidFill>
                      <a:srgbClr val="15803D"/>
                    </a:solidFill>
                    <a:latin typeface="Cambria Math" panose="02040503050406030204" pitchFamily="18" charset="0"/>
                  </a:rPr>
                  <a:t>$25$</a:t>
                </a:r>
                <a:endParaRPr sz="2800">
                  <a:solidFill>
                    <a:srgbClr val="15803D"/>
                  </a:solidFill>
                </a:endParaRPr>
              </a:p>
            </p:txBody>
          </p:sp>
        </mc:Fallback>
      </mc:AlternateContent>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Law of total variance with deviations from the overall mean 15.</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Girls' mean from balance: </a:t>
                </a:r>
                <a14:m>
                  <m:oMath xmlns:m="http://schemas.openxmlformats.org/officeDocument/2006/math">
                    <m:r>
                      <a:rPr lang="en-IN" sz="2400" i="1">
                        <a:solidFill>
                          <a:srgbClr val="111827"/>
                        </a:solidFill>
                        <a:latin typeface="Cambria Math" panose="02040503050406030204" pitchFamily="18" charset="0"/>
                      </a:rPr>
                      <m:t>20</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variance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average within-group variance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average squared distance of group means from 15: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50</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50</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300</m:t>
                        </m:r>
                      </m:num>
                      <m:den>
                        <m:r>
                          <a:rPr lang="en-IN" sz="2400" i="1">
                            <a:solidFill>
                              <a:srgbClr val="111827"/>
                            </a:solidFill>
                            <a:latin typeface="Cambria Math" panose="02040503050406030204" pitchFamily="18" charset="0"/>
                          </a:rPr>
                          <m:t>50</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oMath>
                </a14:m>
                <a:r>
                  <a:rPr sz="2400" b="0">
                    <a:solidFill>
                      <a:srgbClr val="111827"/>
                    </a:solidFill>
                    <a:latin typeface="Arial"/>
                  </a:rPr>
                  <a:t>, the same answer.</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Girls' mean from balance: </a:t>
                </a:r>
                <a:r>
                  <a:rPr lang="en-IN" sz="2400">
                    <a:solidFill>
                      <a:srgbClr val="111827"/>
                    </a:solidFill>
                    <a:latin typeface="Cambria Math" panose="02040503050406030204" pitchFamily="18" charset="0"/>
                  </a:rPr>
                  <a:t>$20\,(15-12)=30\,(\mu-15)$</a:t>
                </a:r>
                <a:r>
                  <a:rPr sz="2400" b="0">
                    <a:solidFill>
                      <a:srgbClr val="111827"/>
                    </a:solidFill>
                    <a:latin typeface="Arial"/>
                  </a:rPr>
                  <a:t>, so </a:t>
                </a:r>
                <a:r>
                  <a:rPr lang="en-IN" sz="2400">
                    <a:solidFill>
                      <a:srgbClr val="111827"/>
                    </a:solidFill>
                    <a:latin typeface="Cambria Math" panose="02040503050406030204" pitchFamily="18" charset="0"/>
                  </a:rPr>
                  <a:t>$\mu-15=2$</a:t>
                </a:r>
                <a:r>
                  <a:rPr sz="2400" b="0">
                    <a:solidFill>
                      <a:srgbClr val="111827"/>
                    </a:solidFill>
                    <a:latin typeface="Arial"/>
                  </a:rPr>
                  <a:t> and </a:t>
                </a:r>
                <a:r>
                  <a:rPr lang="en-IN" sz="2400">
                    <a:solidFill>
                      <a:srgbClr val="111827"/>
                    </a:solidFill>
                    <a:latin typeface="Cambria Math" panose="02040503050406030204" pitchFamily="18" charset="0"/>
                  </a:rPr>
                  <a:t>$\mu=17$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variance </a:t>
                </a:r>
                <a:r>
                  <a:rPr lang="en-IN" sz="2400">
                    <a:solidFill>
                      <a:srgbClr val="111827"/>
                    </a:solidFill>
                    <a:latin typeface="Cambria Math" panose="02040503050406030204" pitchFamily="18" charset="0"/>
                  </a:rPr>
                  <a:t>$=$</a:t>
                </a:r>
                <a:r>
                  <a:rPr sz="2400" b="0">
                    <a:solidFill>
                      <a:srgbClr val="111827"/>
                    </a:solidFill>
                    <a:latin typeface="Arial"/>
                  </a:rPr>
                  <a:t> average within-group variance </a:t>
                </a:r>
                <a:r>
                  <a:rPr lang="en-IN" sz="2400">
                    <a:solidFill>
                      <a:srgbClr val="111827"/>
                    </a:solidFill>
                    <a:latin typeface="Cambria Math" panose="02040503050406030204" pitchFamily="18" charset="0"/>
                  </a:rPr>
                  <a:t>$+$</a:t>
                </a:r>
                <a:r>
                  <a:rPr sz="2400" b="0">
                    <a:solidFill>
                      <a:srgbClr val="111827"/>
                    </a:solidFill>
                    <a:latin typeface="Arial"/>
                  </a:rPr>
                  <a:t> average squared distance of group means from 15: </a:t>
                </a:r>
                <a:r>
                  <a:rPr lang="en-IN" sz="2400">
                    <a:solidFill>
                      <a:srgbClr val="111827"/>
                    </a:solidFill>
                    <a:latin typeface="Cambria Math" panose="02040503050406030204" pitchFamily="18" charset="0"/>
                  </a:rPr>
                  <a:t>$\frac{20\cdot2+30\cdot2}{50}+\frac{20\cdot3^2+30\cdot2^2}{50}=2+\frac{300}{50}=8$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$\mu+\sigma^2=17+8=25$</a:t>
                </a:r>
                <a:r>
                  <a:rPr sz="2400" b="0">
                    <a:solidFill>
                      <a:srgbClr val="111827"/>
                    </a:solidFill>
                    <a:latin typeface="Arial"/>
                  </a:rPr>
                  <a:t>, the same answer.</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14:m>
                  <m:oMath xmlns:m="http://schemas.openxmlformats.org/officeDocument/2006/math">
                    <m:r>
                      <a:rPr lang="en-IN" sz="2800" i="1">
                        <a:solidFill>
                          <a:srgbClr val="15803D"/>
                        </a:solidFill>
                        <a:latin typeface="Cambria Math" panose="02040503050406030204" pitchFamily="18" charset="0"/>
                      </a:rPr>
                      <m:t>25</m:t>
                    </m:r>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r>
                  <a:rPr lang="en-IN" sz="2800">
                    <a:solidFill>
                      <a:srgbClr val="15803D"/>
                    </a:solidFill>
                    <a:latin typeface="Cambria Math" panose="02040503050406030204" pitchFamily="18" charset="0"/>
                  </a:rPr>
                  <a:t>$25$</a:t>
                </a:r>
                <a:endParaRPr sz="2800">
                  <a:solidFill>
                    <a:srgbClr val="15803D"/>
                  </a:solidFill>
                </a:endParaRPr>
              </a:p>
            </p:txBody>
          </p:sp>
        </mc:Fallback>
      </mc:AlternateContent>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Total variance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(average within-group variance)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(between-group term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num>
                      <m:den>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𝑖</m:t>
                            </m:r>
                          </m:sub>
                        </m:sSub>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Means of two groups are on opposite sides of the overall mean, balanced by group size.</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Total variance </a:t>
                </a:r>
                <a:r>
                  <a:rPr lang="en-IN" sz="2400">
                    <a:solidFill>
                      <a:srgbClr val="111827"/>
                    </a:solidFill>
                    <a:latin typeface="Cambria Math" panose="02040503050406030204" pitchFamily="18" charset="0"/>
                  </a:rPr>
                  <a:t>$=$</a:t>
                </a:r>
                <a:r>
                  <a:rPr sz="2400" b="0">
                    <a:solidFill>
                      <a:srgbClr val="111827"/>
                    </a:solidFill>
                    <a:latin typeface="Arial"/>
                  </a:rPr>
                  <a:t> (average within-group variance) </a:t>
                </a:r>
                <a:r>
                  <a:rPr lang="en-IN" sz="2400">
                    <a:solidFill>
                      <a:srgbClr val="111827"/>
                    </a:solidFill>
                    <a:latin typeface="Cambria Math" panose="02040503050406030204" pitchFamily="18" charset="0"/>
                  </a:rPr>
                  <a:t>$+$</a:t>
                </a:r>
                <a:r>
                  <a:rPr sz="2400" b="0">
                    <a:solidFill>
                      <a:srgbClr val="111827"/>
                    </a:solidFill>
                    <a:latin typeface="Arial"/>
                  </a:rPr>
                  <a:t> (between-group term </a:t>
                </a:r>
                <a:r>
                  <a:rPr lang="en-IN" sz="2400">
                    <a:solidFill>
                      <a:srgbClr val="111827"/>
                    </a:solidFill>
                    <a:latin typeface="Cambria Math" panose="02040503050406030204" pitchFamily="18" charset="0"/>
                  </a:rPr>
                  <a:t>$\frac{\sum n_i(\bar{x}_i-\bar{x})^2}{\sum n_i}$</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Means of two groups are on opposite sides of the overall mean, balanced by group size.</a:t>
                </a:r>
                <a:endParaRPr sz="2400">
                  <a:solidFill>
                    <a:srgbClr val="111827"/>
                  </a:solidFill>
                </a:endParaRPr>
              </a:p>
            </p:txBody>
          </p:sp>
        </mc:Fallback>
      </mc:AlternateContent>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mean of 10 numbers </a:t>
                </a:r>
                <a14:m>
                  <m:oMath xmlns:m="http://schemas.openxmlformats.org/officeDocument/2006/math">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______.</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mean of 10 numbers </a:t>
                </a:r>
                <a:r>
                  <a:rPr lang="en-IN" sz="2400">
                    <a:solidFill>
                      <a:srgbClr val="111827"/>
                    </a:solidFill>
                    <a:latin typeface="Cambria Math" panose="02040503050406030204" pitchFamily="18" charset="0"/>
                  </a:rPr>
                  <a:t>$7\times8,\ 10\times10,\ 13\times12,\ 16\times14,\dots$</a:t>
                </a:r>
                <a:r>
                  <a:rPr sz="2400" b="0">
                    <a:solidFill>
                      <a:srgbClr val="111827"/>
                    </a:solidFill>
                    <a:latin typeface="Arial"/>
                  </a:rPr>
                  <a:t> is ______.</a:t>
                </a:r>
                <a:endParaRPr sz="2400">
                  <a:solidFill>
                    <a:srgbClr val="111827"/>
                  </a:solidFill>
                </a:endParaRPr>
              </a:p>
            </p:txBody>
          </p:sp>
        </mc:Fallback>
      </mc:AlternateContent>
      <p:sp>
        <p:nvSpPr>
          <p:cNvPr id="5" name="Rectangle 4"/>
          <p:cNvSpPr/>
          <p:nvPr/>
        </p:nvSpPr>
        <p:spPr>
          <a:xfrm>
            <a:off x="731520" y="324612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Mean of a sequence given by its general term</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Find the general term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6</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and sum with the standard formulas.</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Find the general term </a:t>
                </a:r>
                <a:r>
                  <a:rPr lang="en-IN" sz="2400">
                    <a:solidFill>
                      <a:srgbClr val="78350F"/>
                    </a:solidFill>
                    <a:latin typeface="Cambria Math" panose="02040503050406030204" pitchFamily="18" charset="0"/>
                  </a:rPr>
                  <a:t>$(3r+4)(2r+6)$</a:t>
                </a:r>
                <a:r>
                  <a:rPr sz="2400" b="0">
                    <a:solidFill>
                      <a:srgbClr val="78350F"/>
                    </a:solidFill>
                    <a:latin typeface="Arial"/>
                  </a:rPr>
                  <a:t> and sum with the standard formulas.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first factors </a:t>
                </a:r>
                <a14:m>
                  <m:oMath xmlns:m="http://schemas.openxmlformats.org/officeDocument/2006/math">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form an AP: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the second factors </a:t>
                </a:r>
                <a14:m>
                  <m:oMath xmlns:m="http://schemas.openxmlformats.org/officeDocument/2006/math">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𝑟</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26</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10</m:t>
                        </m:r>
                      </m:sup>
                      <m:e>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𝑟</m:t>
                            </m:r>
                          </m:sub>
                        </m:sSub>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26</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2310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1430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3980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Mean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3980</m:t>
                        </m:r>
                      </m:num>
                      <m:den>
                        <m:r>
                          <a:rPr lang="en-IN" sz="2400" i="1">
                            <a:solidFill>
                              <a:srgbClr val="111827"/>
                            </a:solidFill>
                            <a:latin typeface="Cambria Math" panose="02040503050406030204" pitchFamily="18" charset="0"/>
                          </a:rPr>
                          <m:t>10</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398</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first factors </a:t>
                </a:r>
                <a:r>
                  <a:rPr lang="en-IN" sz="2400">
                    <a:solidFill>
                      <a:srgbClr val="111827"/>
                    </a:solidFill>
                    <a:latin typeface="Cambria Math" panose="02040503050406030204" pitchFamily="18" charset="0"/>
                  </a:rPr>
                  <a:t>$7,10,13,16,\dots$</a:t>
                </a:r>
                <a:r>
                  <a:rPr sz="2400" b="0">
                    <a:solidFill>
                      <a:srgbClr val="111827"/>
                    </a:solidFill>
                    <a:latin typeface="Arial"/>
                  </a:rPr>
                  <a:t> form an AP: </a:t>
                </a:r>
                <a:r>
                  <a:rPr lang="en-IN" sz="2400">
                    <a:solidFill>
                      <a:srgbClr val="111827"/>
                    </a:solidFill>
                    <a:latin typeface="Cambria Math" panose="02040503050406030204" pitchFamily="18" charset="0"/>
                  </a:rPr>
                  <a:t>$3r+4$</a:t>
                </a:r>
                <a:r>
                  <a:rPr sz="2400" b="0">
                    <a:solidFill>
                      <a:srgbClr val="111827"/>
                    </a:solidFill>
                    <a:latin typeface="Arial"/>
                  </a:rPr>
                  <a:t>; the second factors </a:t>
                </a:r>
                <a:r>
                  <a:rPr lang="en-IN" sz="2400">
                    <a:solidFill>
                      <a:srgbClr val="111827"/>
                    </a:solidFill>
                    <a:latin typeface="Cambria Math" panose="02040503050406030204" pitchFamily="18" charset="0"/>
                  </a:rPr>
                  <a:t>$8,10,12,14,\dots$</a:t>
                </a:r>
                <a:r>
                  <a:rPr sz="2400" b="0">
                    <a:solidFill>
                      <a:srgbClr val="111827"/>
                    </a:solidFill>
                    <a:latin typeface="Arial"/>
                  </a:rPr>
                  <a:t>: </a:t>
                </a:r>
                <a:r>
                  <a:rPr lang="en-IN" sz="2400">
                    <a:solidFill>
                      <a:srgbClr val="111827"/>
                    </a:solidFill>
                    <a:latin typeface="Cambria Math" panose="02040503050406030204" pitchFamily="18" charset="0"/>
                  </a:rPr>
                  <a:t>$2r+6$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$T_r=(3r+4)(2r+6)=6r^2+26r+24$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$\sum_{r=1}^{10}T_r=6\cdot\frac{10\cdot11\cdot21}{6}+26\cdot\frac{10\cdot11}{2}+24\times10$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$=2310+1430+240=3980$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Mean </a:t>
                </a:r>
                <a:r>
                  <a:rPr lang="en-IN" sz="2400">
                    <a:solidFill>
                      <a:srgbClr val="111827"/>
                    </a:solidFill>
                    <a:latin typeface="Cambria Math" panose="02040503050406030204" pitchFamily="18" charset="0"/>
                  </a:rPr>
                  <a:t>$=\frac{3980}{10}=398$</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14:m>
                  <m:oMath xmlns:m="http://schemas.openxmlformats.org/officeDocument/2006/math">
                    <m:r>
                      <a:rPr lang="en-IN" sz="2800" i="1">
                        <a:solidFill>
                          <a:srgbClr val="15803D"/>
                        </a:solidFill>
                        <a:latin typeface="Cambria Math" panose="02040503050406030204" pitchFamily="18" charset="0"/>
                      </a:rPr>
                      <m:t>398</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r>
                  <a:rPr lang="en-IN" sz="2800">
                    <a:solidFill>
                      <a:srgbClr val="15803D"/>
                    </a:solidFill>
                    <a:latin typeface="Cambria Math" panose="02040503050406030204" pitchFamily="18" charset="0"/>
                  </a:rPr>
                  <a:t>$398$</a:t>
                </a:r>
                <a:endParaRPr sz="2800">
                  <a:solidFill>
                    <a:srgbClr val="15803D"/>
                  </a:solidFill>
                </a:endParaRPr>
              </a:p>
            </p:txBody>
          </p:sp>
        </mc:Fallback>
      </mc:AlternateContent>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The mean of a quadratic in </a:t>
                </a:r>
                <a14:m>
                  <m:oMath xmlns:m="http://schemas.openxmlformats.org/officeDocument/2006/math">
                    <m:r>
                      <a:rPr lang="en-IN" sz="2400" i="1">
                        <a:solidFill>
                          <a:srgbClr val="78350F"/>
                        </a:solidFill>
                        <a:latin typeface="Cambria Math" panose="02040503050406030204" pitchFamily="18" charset="0"/>
                      </a:rPr>
                      <m:t>𝑟</m:t>
                    </m:r>
                  </m:oMath>
                </a14:m>
                <a:r>
                  <a:rPr sz="2400" b="0">
                    <a:solidFill>
                      <a:srgbClr val="78350F"/>
                    </a:solidFill>
                    <a:latin typeface="Arial"/>
                  </a:rPr>
                  <a:t> equals its value at the mean of </a:t>
                </a:r>
                <a14:m>
                  <m:oMath xmlns:m="http://schemas.openxmlformats.org/officeDocument/2006/math">
                    <m:r>
                      <a:rPr lang="en-IN" sz="2400" i="1">
                        <a:solidFill>
                          <a:srgbClr val="78350F"/>
                        </a:solidFill>
                        <a:latin typeface="Cambria Math" panose="02040503050406030204" pitchFamily="18" charset="0"/>
                      </a:rPr>
                      <m:t>𝑟</m:t>
                    </m:r>
                  </m:oMath>
                </a14:m>
                <a:r>
                  <a:rPr sz="2400" b="0">
                    <a:solidFill>
                      <a:srgbClr val="78350F"/>
                    </a:solidFill>
                    <a:latin typeface="Arial"/>
                  </a:rPr>
                  <a:t> plus (leading coefficient) </a:t>
                </a:r>
                <a14:m>
                  <m:oMath xmlns:m="http://schemas.openxmlformats.org/officeDocument/2006/math">
                    <m:r>
                      <m:rPr>
                        <m:sty m:val="p"/>
                      </m:rPr>
                      <a:rPr lang="en-IN" sz="2400">
                        <a:solidFill>
                          <a:srgbClr val="78350F"/>
                        </a:solidFill>
                        <a:latin typeface="Cambria Math" panose="02040503050406030204" pitchFamily="18" charset="0"/>
                      </a:rPr>
                      <m:t>×</m:t>
                    </m:r>
                  </m:oMath>
                </a14:m>
                <a:r>
                  <a:rPr sz="2400" b="0">
                    <a:solidFill>
                      <a:srgbClr val="78350F"/>
                    </a:solidFill>
                    <a:latin typeface="Arial"/>
                  </a:rPr>
                  <a:t> variance of </a:t>
                </a:r>
                <a14:m>
                  <m:oMath xmlns:m="http://schemas.openxmlformats.org/officeDocument/2006/math">
                    <m:r>
                      <a:rPr lang="en-IN" sz="2400" i="1">
                        <a:solidFill>
                          <a:srgbClr val="78350F"/>
                        </a:solidFill>
                        <a:latin typeface="Cambria Math" panose="02040503050406030204" pitchFamily="18" charset="0"/>
                      </a:rPr>
                      <m:t>𝑟</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The mean of a quadratic in </a:t>
                </a:r>
                <a:r>
                  <a:rPr lang="en-IN" sz="2400">
                    <a:solidFill>
                      <a:srgbClr val="78350F"/>
                    </a:solidFill>
                    <a:latin typeface="Cambria Math" panose="02040503050406030204" pitchFamily="18" charset="0"/>
                  </a:rPr>
                  <a:t>$r$</a:t>
                </a:r>
                <a:r>
                  <a:rPr sz="2400" b="0">
                    <a:solidFill>
                      <a:srgbClr val="78350F"/>
                    </a:solidFill>
                    <a:latin typeface="Arial"/>
                  </a:rPr>
                  <a:t> equals its value at the mean of </a:t>
                </a:r>
                <a:r>
                  <a:rPr lang="en-IN" sz="2400">
                    <a:solidFill>
                      <a:srgbClr val="78350F"/>
                    </a:solidFill>
                    <a:latin typeface="Cambria Math" panose="02040503050406030204" pitchFamily="18" charset="0"/>
                  </a:rPr>
                  <a:t>$r$</a:t>
                </a:r>
                <a:r>
                  <a:rPr sz="2400" b="0">
                    <a:solidFill>
                      <a:srgbClr val="78350F"/>
                    </a:solidFill>
                    <a:latin typeface="Arial"/>
                  </a:rPr>
                  <a:t> plus (leading coefficient) </a:t>
                </a:r>
                <a:r>
                  <a:rPr lang="en-IN" sz="2400">
                    <a:solidFill>
                      <a:srgbClr val="78350F"/>
                    </a:solidFill>
                    <a:latin typeface="Cambria Math" panose="02040503050406030204" pitchFamily="18" charset="0"/>
                  </a:rPr>
                  <a:t>$\times$</a:t>
                </a:r>
                <a:r>
                  <a:rPr sz="2400" b="0">
                    <a:solidFill>
                      <a:srgbClr val="78350F"/>
                    </a:solidFill>
                    <a:latin typeface="Arial"/>
                  </a:rPr>
                  <a:t> variance of </a:t>
                </a:r>
                <a:r>
                  <a:rPr lang="en-IN" sz="2400">
                    <a:solidFill>
                      <a:srgbClr val="78350F"/>
                    </a:solidFill>
                    <a:latin typeface="Cambria Math" panose="02040503050406030204" pitchFamily="18" charset="0"/>
                  </a:rPr>
                  <a:t>$r$</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𝑟</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26</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5.5</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var</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10</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8.25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Mean of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𝑟</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var</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since </a:t>
                </a:r>
                <a14:m>
                  <m:oMath xmlns:m="http://schemas.openxmlformats.org/officeDocument/2006/math">
                    <m:bar>
                      <m:barPr>
                        <m:pos m:val="top"/>
                        <m:ctrlPr>
                          <a:rPr lang="en-IN" sz="2400" i="1">
                            <a:solidFill>
                              <a:srgbClr val="111827"/>
                            </a:solidFill>
                            <a:latin typeface="Cambria Math" panose="02040503050406030204" pitchFamily="18" charset="0"/>
                          </a:rPr>
                        </m:ctrlPr>
                      </m:barPr>
                      <m:e>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e>
                    </m:bar>
                    <m:r>
                      <m:rPr>
                        <m:sty m:val="p"/>
                      </m:rPr>
                      <a:rPr lang="en-IN" sz="2400">
                        <a:solidFill>
                          <a:srgbClr val="111827"/>
                        </a:solidFill>
                        <a:latin typeface="Cambria Math" panose="02040503050406030204" pitchFamily="18" charset="0"/>
                      </a:rPr>
                      <m:t>=</m:t>
                    </m:r>
                    <m:sSup>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var</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the linear part is exact.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348.5</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49.5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Mean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348.5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49.5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398</m:t>
                    </m:r>
                  </m:oMath>
                </a14:m>
                <a:r>
                  <a:rPr sz="2400" b="0">
                    <a:solidFill>
                      <a:srgbClr val="111827"/>
                    </a:solidFill>
                    <a:latin typeface="Arial"/>
                  </a:rPr>
                  <a:t>, the same answer.</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$T_r=6r^2+26r+24$</a:t>
                </a:r>
                <a:r>
                  <a:rPr sz="2400" b="0">
                    <a:solidFill>
                      <a:srgbClr val="111827"/>
                    </a:solidFill>
                    <a:latin typeface="Arial"/>
                  </a:rPr>
                  <a:t>; for </a:t>
                </a:r>
                <a:r>
                  <a:rPr lang="en-IN" sz="2400">
                    <a:solidFill>
                      <a:srgbClr val="111827"/>
                    </a:solidFill>
                    <a:latin typeface="Cambria Math" panose="02040503050406030204" pitchFamily="18" charset="0"/>
                  </a:rPr>
                  <a:t>$r=1,\dots,10$</a:t>
                </a:r>
                <a:r>
                  <a:rPr sz="2400" b="0">
                    <a:solidFill>
                      <a:srgbClr val="111827"/>
                    </a:solidFill>
                    <a:latin typeface="Arial"/>
                  </a:rPr>
                  <a:t>: </a:t>
                </a:r>
                <a:r>
                  <a:rPr lang="en-IN" sz="2400">
                    <a:solidFill>
                      <a:srgbClr val="111827"/>
                    </a:solidFill>
                    <a:latin typeface="Cambria Math" panose="02040503050406030204" pitchFamily="18" charset="0"/>
                  </a:rPr>
                  <a:t>$\bar{r}=5.5$</a:t>
                </a:r>
                <a:r>
                  <a:rPr sz="2400" b="0">
                    <a:solidFill>
                      <a:srgbClr val="111827"/>
                    </a:solidFill>
                    <a:latin typeface="Arial"/>
                  </a:rPr>
                  <a:t> and </a:t>
                </a:r>
                <a:r>
                  <a:rPr lang="en-IN" sz="2400">
                    <a:solidFill>
                      <a:srgbClr val="111827"/>
                    </a:solidFill>
                    <a:latin typeface="Cambria Math" panose="02040503050406030204" pitchFamily="18" charset="0"/>
                  </a:rPr>
                  <a:t>$\operatorname{var}(r)=\frac{10^2-1}{12}=8.25$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Mean of </a:t>
                </a:r>
                <a:r>
                  <a:rPr lang="en-IN" sz="2400">
                    <a:solidFill>
                      <a:srgbClr val="111827"/>
                    </a:solidFill>
                    <a:latin typeface="Cambria Math" panose="02040503050406030204" pitchFamily="18" charset="0"/>
                  </a:rPr>
                  <a:t>$T_r=T(5.5)+6\operatorname{var}(r)$</a:t>
                </a:r>
                <a:r>
                  <a:rPr sz="2400" b="0">
                    <a:solidFill>
                      <a:srgbClr val="111827"/>
                    </a:solidFill>
                    <a:latin typeface="Arial"/>
                  </a:rPr>
                  <a:t>, since </a:t>
                </a:r>
                <a:r>
                  <a:rPr lang="en-IN" sz="2400">
                    <a:solidFill>
                      <a:srgbClr val="111827"/>
                    </a:solidFill>
                    <a:latin typeface="Cambria Math" panose="02040503050406030204" pitchFamily="18" charset="0"/>
                  </a:rPr>
                  <a:t>$\overline{r^2}=\bar{r}^2+\operatorname{var}(r)$</a:t>
                </a:r>
                <a:r>
                  <a:rPr sz="2400" b="0">
                    <a:solidFill>
                      <a:srgbClr val="111827"/>
                    </a:solidFill>
                    <a:latin typeface="Arial"/>
                  </a:rPr>
                  <a:t> and the linear part is exact.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$T(5.5)=(3\cdot5.5+4)(2\cdot5.5+6)=20.5\times17=348.5$</a:t>
                </a:r>
                <a:r>
                  <a:rPr sz="2400" b="0">
                    <a:solidFill>
                      <a:srgbClr val="111827"/>
                    </a:solidFill>
                    <a:latin typeface="Arial"/>
                  </a:rPr>
                  <a:t> and </a:t>
                </a:r>
                <a:r>
                  <a:rPr lang="en-IN" sz="2400">
                    <a:solidFill>
                      <a:srgbClr val="111827"/>
                    </a:solidFill>
                    <a:latin typeface="Cambria Math" panose="02040503050406030204" pitchFamily="18" charset="0"/>
                  </a:rPr>
                  <a:t>$6\times8.25=49.5$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Mean </a:t>
                </a:r>
                <a:r>
                  <a:rPr lang="en-IN" sz="2400">
                    <a:solidFill>
                      <a:srgbClr val="111827"/>
                    </a:solidFill>
                    <a:latin typeface="Cambria Math" panose="02040503050406030204" pitchFamily="18" charset="0"/>
                  </a:rPr>
                  <a:t>$=348.5+49.5=398$</a:t>
                </a:r>
                <a:r>
                  <a:rPr sz="2400" b="0">
                    <a:solidFill>
                      <a:srgbClr val="111827"/>
                    </a:solidFill>
                    <a:latin typeface="Arial"/>
                  </a:rPr>
                  <a:t>, the same answer.</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14:m>
                  <m:oMath xmlns:m="http://schemas.openxmlformats.org/officeDocument/2006/math">
                    <m:r>
                      <a:rPr lang="en-IN" sz="2800" i="1">
                        <a:solidFill>
                          <a:srgbClr val="15803D"/>
                        </a:solidFill>
                        <a:latin typeface="Cambria Math" panose="02040503050406030204" pitchFamily="18" charset="0"/>
                      </a:rPr>
                      <m:t>398</m:t>
                    </m:r>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r>
                  <a:rPr lang="en-IN" sz="2800">
                    <a:solidFill>
                      <a:srgbClr val="15803D"/>
                    </a:solidFill>
                    <a:latin typeface="Cambria Math" panose="02040503050406030204" pitchFamily="18" charset="0"/>
                  </a:rPr>
                  <a:t>$398$</a:t>
                </a:r>
                <a:endParaRPr sz="2800">
                  <a:solidFill>
                    <a:srgbClr val="15803D"/>
                  </a:solidFill>
                </a:endParaRPr>
              </a:p>
            </p:txBody>
          </p:sp>
        </mc:Fallback>
      </mc:AlternateContent>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 sequence given by a polynomial in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use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 term by term.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Quick check: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oMath>
                </a14:m>
                <a:r>
                  <a:rPr sz="2400" b="0">
                    <a:solidFill>
                      <a:srgbClr val="111827"/>
                    </a:solidFill>
                    <a:latin typeface="Arial"/>
                  </a:rPr>
                  <a:t> ✓ and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10</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884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oMath>
                </a14:m>
                <a:r>
                  <a:rPr sz="2400" b="0">
                    <a:solidFill>
                      <a:srgbClr val="111827"/>
                    </a:solidFill>
                    <a:latin typeface="Arial"/>
                  </a:rPr>
                  <a:t> ✓.</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 sequence given by a polynomial in </a:t>
                </a:r>
                <a:r>
                  <a:rPr lang="en-IN" sz="2400">
                    <a:solidFill>
                      <a:srgbClr val="111827"/>
                    </a:solidFill>
                    <a:latin typeface="Cambria Math" panose="02040503050406030204" pitchFamily="18" charset="0"/>
                  </a:rPr>
                  <a:t>$r$</a:t>
                </a:r>
                <a:r>
                  <a:rPr sz="2400" b="0">
                    <a:solidFill>
                      <a:srgbClr val="111827"/>
                    </a:solidFill>
                    <a:latin typeface="Arial"/>
                  </a:rPr>
                  <a:t>: use </a:t>
                </a:r>
                <a:r>
                  <a:rPr lang="en-IN" sz="2400">
                    <a:solidFill>
                      <a:srgbClr val="111827"/>
                    </a:solidFill>
                    <a:latin typeface="Cambria Math" panose="02040503050406030204" pitchFamily="18" charset="0"/>
                  </a:rPr>
                  <a:t>$\sum r=\frac{n(n+1)}{2}$</a:t>
                </a:r>
                <a:r>
                  <a:rPr sz="2400" b="0">
                    <a:solidFill>
                      <a:srgbClr val="111827"/>
                    </a:solidFill>
                    <a:latin typeface="Arial"/>
                  </a:rPr>
                  <a:t> and </a:t>
                </a:r>
                <a:r>
                  <a:rPr lang="en-IN" sz="2400">
                    <a:solidFill>
                      <a:srgbClr val="111827"/>
                    </a:solidFill>
                    <a:latin typeface="Cambria Math" panose="02040503050406030204" pitchFamily="18" charset="0"/>
                  </a:rPr>
                  <a:t>$\sum r^2=\frac{n(n+1)(2n+1)}{6}$</a:t>
                </a:r>
                <a:r>
                  <a:rPr sz="2400" b="0">
                    <a:solidFill>
                      <a:srgbClr val="111827"/>
                    </a:solidFill>
                    <a:latin typeface="Arial"/>
                  </a:rPr>
                  <a:t> term by term.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Quick check: </a:t>
                </a:r>
                <a:r>
                  <a:rPr lang="en-IN" sz="2400">
                    <a:solidFill>
                      <a:srgbClr val="111827"/>
                    </a:solidFill>
                    <a:latin typeface="Cambria Math" panose="02040503050406030204" pitchFamily="18" charset="0"/>
                  </a:rPr>
                  <a:t>$T_1=7\times8=56=6+26+24$</a:t>
                </a:r>
                <a:r>
                  <a:rPr sz="2400" b="0">
                    <a:solidFill>
                      <a:srgbClr val="111827"/>
                    </a:solidFill>
                    <a:latin typeface="Arial"/>
                  </a:rPr>
                  <a:t> ✓ and </a:t>
                </a:r>
                <a:r>
                  <a:rPr lang="en-IN" sz="2400">
                    <a:solidFill>
                      <a:srgbClr val="111827"/>
                    </a:solidFill>
                    <a:latin typeface="Cambria Math" panose="02040503050406030204" pitchFamily="18" charset="0"/>
                  </a:rPr>
                  <a:t>$T_{10}=34\times26=884=600+260+24$</a:t>
                </a:r>
                <a:r>
                  <a:rPr sz="2400" b="0">
                    <a:solidFill>
                      <a:srgbClr val="111827"/>
                    </a:solidFill>
                    <a:latin typeface="Arial"/>
                  </a:rPr>
                  <a:t> ✓.</a:t>
                </a:r>
                <a:endParaRPr sz="2400">
                  <a:solidFill>
                    <a:srgbClr val="111827"/>
                  </a:solidFill>
                </a:endParaRPr>
              </a:p>
            </p:txBody>
          </p:sp>
        </mc:Fallback>
      </mc:AlternateContent>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337308"/>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𝑋</m:t>
                    </m:r>
                  </m:oMath>
                </a14:m>
                <a:r>
                  <a:rPr sz="2400" b="0">
                    <a:solidFill>
                      <a:srgbClr val="111827"/>
                    </a:solidFill>
                    <a:latin typeface="Arial"/>
                  </a:rPr>
                  <a:t> be a random variable with distribution :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𝑏</m:t>
                    </m:r>
                  </m:oMath>
                </a14:m>
                <a:r>
                  <a:rPr sz="2400" b="0">
                    <a:solidFill>
                      <a:srgbClr val="111827"/>
                    </a:solidFill>
                    <a:latin typeface="Arial"/>
                  </a:rPr>
                  <a:t>. If the mean of </a:t>
                </a:r>
                <a14:m>
                  <m:oMath xmlns:m="http://schemas.openxmlformats.org/officeDocument/2006/math">
                    <m:r>
                      <a:rPr lang="en-IN" sz="2400" i="1">
                        <a:solidFill>
                          <a:srgbClr val="111827"/>
                        </a:solidFill>
                        <a:latin typeface="Cambria Math" panose="02040503050406030204" pitchFamily="18" charset="0"/>
                      </a:rPr>
                      <m:t>𝑋</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2.3</m:t>
                    </m:r>
                  </m:oMath>
                </a14:m>
                <a:r>
                  <a:rPr sz="2400" b="0">
                    <a:solidFill>
                      <a:srgbClr val="111827"/>
                    </a:solidFill>
                    <a:latin typeface="Arial"/>
                  </a:rPr>
                  <a:t> and variance of </a:t>
                </a:r>
                <a14:m>
                  <m:oMath xmlns:m="http://schemas.openxmlformats.org/officeDocument/2006/math">
                    <m:r>
                      <a:rPr lang="en-IN" sz="2400" i="1">
                        <a:solidFill>
                          <a:srgbClr val="111827"/>
                        </a:solidFill>
                        <a:latin typeface="Cambria Math" panose="02040503050406030204" pitchFamily="18" charset="0"/>
                      </a:rPr>
                      <m:t>𝑋</m:t>
                    </m:r>
                  </m:oMath>
                </a14:m>
                <a:r>
                  <a:rPr sz="2400" b="0">
                    <a:solidFill>
                      <a:srgbClr val="111827"/>
                    </a:solidFill>
                    <a:latin typeface="Arial"/>
                  </a:rPr>
                  <a:t> is </a:t>
                </a:r>
                <a14:m>
                  <m:oMath xmlns:m="http://schemas.openxmlformats.org/officeDocument/2006/math">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100</m:t>
                    </m:r>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is equal to ______.</a:t>
                </a:r>
                <a:endParaRPr sz="2400">
                  <a:solidFill>
                    <a:srgbClr val="111827"/>
                  </a:solidFill>
                </a:endParaRPr>
              </a:p>
            </p:txBody>
          </p:sp>
        </mc:Choice>
        <mc:Fallback>
          <p:sp>
            <p:nvSpPr>
              <p:cNvPr id="4" name="Rounded Rectangle 3"/>
              <p:cNvSpPr/>
              <p:nvPr/>
            </p:nvSpPr>
            <p:spPr>
              <a:xfrm>
                <a:off x="731520" y="1280160"/>
                <a:ext cx="10725912" cy="2337308"/>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$X$</a:t>
                </a:r>
                <a:r>
                  <a:rPr sz="2400" b="0">
                    <a:solidFill>
                      <a:srgbClr val="111827"/>
                    </a:solidFill>
                    <a:latin typeface="Arial"/>
                  </a:rPr>
                  <a:t> be a random variable with distribution : </a:t>
                </a:r>
                <a:r>
                  <a:rPr lang="en-IN" sz="2400">
                    <a:solidFill>
                      <a:srgbClr val="111827"/>
                    </a:solidFill>
                    <a:latin typeface="Cambria Math" panose="02040503050406030204" pitchFamily="18" charset="0"/>
                  </a:rPr>
                  <a:t>$x=-2,-1,3,4,6$</a:t>
                </a:r>
                <a:r>
                  <a:rPr sz="2400" b="0">
                    <a:solidFill>
                      <a:srgbClr val="111827"/>
                    </a:solidFill>
                    <a:latin typeface="Arial"/>
                  </a:rPr>
                  <a:t> with </a:t>
                </a:r>
                <a:r>
                  <a:rPr lang="en-IN" sz="2400">
                    <a:solidFill>
                      <a:srgbClr val="111827"/>
                    </a:solidFill>
                    <a:latin typeface="Cambria Math" panose="02040503050406030204" pitchFamily="18" charset="0"/>
                  </a:rPr>
                  <a:t>$P(X=x)=\frac{1}{5},\,a,\,\frac{1}{3},\,\frac{1}{5},\,b$</a:t>
                </a:r>
                <a:r>
                  <a:rPr sz="2400" b="0">
                    <a:solidFill>
                      <a:srgbClr val="111827"/>
                    </a:solidFill>
                    <a:latin typeface="Arial"/>
                  </a:rPr>
                  <a:t>. If the mean of </a:t>
                </a:r>
                <a:r>
                  <a:rPr lang="en-IN" sz="2400">
                    <a:solidFill>
                      <a:srgbClr val="111827"/>
                    </a:solidFill>
                    <a:latin typeface="Cambria Math" panose="02040503050406030204" pitchFamily="18" charset="0"/>
                  </a:rPr>
                  <a:t>$X$</a:t>
                </a:r>
                <a:r>
                  <a:rPr sz="2400" b="0">
                    <a:solidFill>
                      <a:srgbClr val="111827"/>
                    </a:solidFill>
                    <a:latin typeface="Arial"/>
                  </a:rPr>
                  <a:t> is </a:t>
                </a:r>
                <a:r>
                  <a:rPr lang="en-IN" sz="2400">
                    <a:solidFill>
                      <a:srgbClr val="111827"/>
                    </a:solidFill>
                    <a:latin typeface="Cambria Math" panose="02040503050406030204" pitchFamily="18" charset="0"/>
                  </a:rPr>
                  <a:t>$2.3$</a:t>
                </a:r>
                <a:r>
                  <a:rPr sz="2400" b="0">
                    <a:solidFill>
                      <a:srgbClr val="111827"/>
                    </a:solidFill>
                    <a:latin typeface="Arial"/>
                  </a:rPr>
                  <a:t> and variance of </a:t>
                </a:r>
                <a:r>
                  <a:rPr lang="en-IN" sz="2400">
                    <a:solidFill>
                      <a:srgbClr val="111827"/>
                    </a:solidFill>
                    <a:latin typeface="Cambria Math" panose="02040503050406030204" pitchFamily="18" charset="0"/>
                  </a:rPr>
                  <a:t>$X$</a:t>
                </a:r>
                <a:r>
                  <a:rPr sz="2400" b="0">
                    <a:solidFill>
                      <a:srgbClr val="111827"/>
                    </a:solidFill>
                    <a:latin typeface="Arial"/>
                  </a:rPr>
                  <a:t> is </a:t>
                </a:r>
                <a:r>
                  <a:rPr lang="en-IN" sz="2400">
                    <a:solidFill>
                      <a:srgbClr val="111827"/>
                    </a:solidFill>
                    <a:latin typeface="Cambria Math" panose="02040503050406030204" pitchFamily="18" charset="0"/>
                  </a:rPr>
                  <a:t>$\sigma^2$</a:t>
                </a:r>
                <a:r>
                  <a:rPr sz="2400" b="0">
                    <a:solidFill>
                      <a:srgbClr val="111827"/>
                    </a:solidFill>
                    <a:latin typeface="Arial"/>
                  </a:rPr>
                  <a:t>, then </a:t>
                </a:r>
                <a:r>
                  <a:rPr lang="en-IN" sz="2400">
                    <a:solidFill>
                      <a:srgbClr val="111827"/>
                    </a:solidFill>
                    <a:latin typeface="Cambria Math" panose="02040503050406030204" pitchFamily="18" charset="0"/>
                  </a:rPr>
                  <a:t>$100\sigma^2$</a:t>
                </a:r>
                <a:r>
                  <a:rPr sz="2400" b="0">
                    <a:solidFill>
                      <a:srgbClr val="111827"/>
                    </a:solidFill>
                    <a:latin typeface="Arial"/>
                  </a:rPr>
                  <a:t> is equal to ______.</a:t>
                </a:r>
                <a:endParaRPr sz="2400">
                  <a:solidFill>
                    <a:srgbClr val="111827"/>
                  </a:solidFill>
                </a:endParaRPr>
              </a:p>
            </p:txBody>
          </p:sp>
        </mc:Fallback>
      </mc:AlternateContent>
      <p:sp>
        <p:nvSpPr>
          <p:cNvPr id="5" name="Rectangle 4"/>
          <p:cNvSpPr/>
          <p:nvPr/>
        </p:nvSpPr>
        <p:spPr>
          <a:xfrm>
            <a:off x="731520" y="3846068"/>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Mean and variance of a discrete random variable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two conditions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𝑝</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and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𝑝</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2.3</m:t>
                    </m:r>
                  </m:oMath>
                </a14:m>
                <a:r>
                  <a:rPr sz="2400" b="0">
                    <a:solidFill>
                      <a:srgbClr val="78350F"/>
                    </a:solidFill>
                    <a:latin typeface="Arial"/>
                  </a:rPr>
                  <a:t> fix </a:t>
                </a:r>
                <a14:m>
                  <m:oMath xmlns:m="http://schemas.openxmlformats.org/officeDocument/2006/math">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oMath>
                </a14:m>
                <a:r>
                  <a:rPr sz="2400" b="0">
                    <a:solidFill>
                      <a:srgbClr val="78350F"/>
                    </a:solidFill>
                    <a:latin typeface="Arial"/>
                  </a:rPr>
                  <a:t>; then </a:t>
                </a:r>
                <a14:m>
                  <m:oMath xmlns:m="http://schemas.openxmlformats.org/officeDocument/2006/math">
                    <m:sSup>
                      <m:e>
                        <m:r>
                          <a:rPr lang="en-IN" sz="2400" i="1">
                            <a:solidFill>
                              <a:srgbClr val="78350F"/>
                            </a:solidFill>
                            <a:latin typeface="Cambria Math" panose="02040503050406030204" pitchFamily="18" charset="0"/>
                          </a:rPr>
                          <m:t>σ</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𝑝</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μ</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two conditions </a:t>
                </a:r>
                <a:r>
                  <a:rPr lang="en-IN" sz="2400">
                    <a:solidFill>
                      <a:srgbClr val="78350F"/>
                    </a:solidFill>
                    <a:latin typeface="Cambria Math" panose="02040503050406030204" pitchFamily="18" charset="0"/>
                  </a:rPr>
                  <a:t>$\sum p=1$</a:t>
                </a:r>
                <a:r>
                  <a:rPr sz="2400" b="0">
                    <a:solidFill>
                      <a:srgbClr val="78350F"/>
                    </a:solidFill>
                    <a:latin typeface="Arial"/>
                  </a:rPr>
                  <a:t> and </a:t>
                </a:r>
                <a:r>
                  <a:rPr lang="en-IN" sz="2400">
                    <a:solidFill>
                      <a:srgbClr val="78350F"/>
                    </a:solidFill>
                    <a:latin typeface="Cambria Math" panose="02040503050406030204" pitchFamily="18" charset="0"/>
                  </a:rPr>
                  <a:t>$\sum px=2.3$</a:t>
                </a:r>
                <a:r>
                  <a:rPr sz="2400" b="0">
                    <a:solidFill>
                      <a:srgbClr val="78350F"/>
                    </a:solidFill>
                    <a:latin typeface="Arial"/>
                  </a:rPr>
                  <a:t> fix </a:t>
                </a:r>
                <a:r>
                  <a:rPr lang="en-IN" sz="2400">
                    <a:solidFill>
                      <a:srgbClr val="78350F"/>
                    </a:solidFill>
                    <a:latin typeface="Cambria Math" panose="02040503050406030204" pitchFamily="18" charset="0"/>
                  </a:rPr>
                  <a:t>$a,b$</a:t>
                </a:r>
                <a:r>
                  <a:rPr sz="2400" b="0">
                    <a:solidFill>
                      <a:srgbClr val="78350F"/>
                    </a:solidFill>
                    <a:latin typeface="Arial"/>
                  </a:rPr>
                  <a:t>; then </a:t>
                </a:r>
                <a:r>
                  <a:rPr lang="en-IN" sz="2400">
                    <a:solidFill>
                      <a:srgbClr val="78350F"/>
                    </a:solidFill>
                    <a:latin typeface="Cambria Math" panose="02040503050406030204" pitchFamily="18" charset="0"/>
                  </a:rPr>
                  <a:t>$\sigma^2=\sum px^2-\mu^2$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𝑝</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15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15</m:t>
                        </m:r>
                      </m:den>
                    </m:f>
                  </m:oMath>
                </a14:m>
                <a:r>
                  <a:rPr sz="2400" b="0">
                    <a:solidFill>
                      <a:srgbClr val="111827"/>
                    </a:solidFill>
                    <a:latin typeface="Arial"/>
                  </a:rPr>
                  <a:t> ... (1).</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Mean </a:t>
                </a:r>
                <a14:m>
                  <m:oMath xmlns:m="http://schemas.openxmlformats.org/officeDocument/2006/math">
                    <m:r>
                      <a:rPr lang="en-IN" sz="2400" i="1">
                        <a:solidFill>
                          <a:srgbClr val="111827"/>
                        </a:solidFill>
                        <a:latin typeface="Cambria Math" panose="02040503050406030204" pitchFamily="18" charset="0"/>
                      </a:rPr>
                      <m:t>2.3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𝑝</m:t>
                        </m:r>
                      </m:e>
                      <m:sub>
                        <m:r>
                          <a:rPr lang="en-IN" sz="2400" i="1">
                            <a:solidFill>
                              <a:srgbClr val="111827"/>
                            </a:solidFill>
                            <a:latin typeface="Cambria Math" panose="02040503050406030204" pitchFamily="18" charset="0"/>
                          </a:rPr>
                          <m:t>𝑖</m:t>
                        </m:r>
                      </m:sub>
                    </m:sSub>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𝑏</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23</m:t>
                        </m:r>
                      </m:num>
                      <m:den>
                        <m:r>
                          <a:rPr lang="en-IN" sz="2400" i="1">
                            <a:solidFill>
                              <a:srgbClr val="111827"/>
                            </a:solidFill>
                            <a:latin typeface="Cambria Math" panose="02040503050406030204" pitchFamily="18" charset="0"/>
                          </a:rPr>
                          <m:t>10</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10</m:t>
                        </m:r>
                      </m:den>
                    </m:f>
                  </m:oMath>
                </a14:m>
                <a:r>
                  <a:rPr sz="2400" b="0">
                    <a:solidFill>
                      <a:srgbClr val="111827"/>
                    </a:solidFill>
                    <a:latin typeface="Arial"/>
                  </a:rPr>
                  <a:t> ... (2).</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Solving (1) and (2): </a:t>
                </a:r>
                <a14:m>
                  <m:oMath xmlns:m="http://schemas.openxmlformats.org/officeDocument/2006/math">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15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10</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10</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 p_i=1$</a:t>
                </a:r>
                <a:r>
                  <a:rPr sz="2400" b="0">
                    <a:solidFill>
                      <a:srgbClr val="111827"/>
                    </a:solidFill>
                    <a:latin typeface="Arial"/>
                  </a:rPr>
                  <a:t>: </a:t>
                </a:r>
                <a:r>
                  <a:rPr lang="en-IN" sz="2400">
                    <a:solidFill>
                      <a:srgbClr val="111827"/>
                    </a:solidFill>
                    <a:latin typeface="Cambria Math" panose="02040503050406030204" pitchFamily="18" charset="0"/>
                  </a:rPr>
                  <a:t>$\frac15+a+\frac13+\frac15+b=1$</a:t>
                </a:r>
                <a:r>
                  <a:rPr sz="2400" b="0">
                    <a:solidFill>
                      <a:srgbClr val="111827"/>
                    </a:solidFill>
                    <a:latin typeface="Arial"/>
                  </a:rPr>
                  <a:t>, so </a:t>
                </a:r>
                <a:r>
                  <a:rPr lang="en-IN" sz="2400">
                    <a:solidFill>
                      <a:srgbClr val="111827"/>
                    </a:solidFill>
                    <a:latin typeface="Cambria Math" panose="02040503050406030204" pitchFamily="18" charset="0"/>
                  </a:rPr>
                  <a:t>$a+b=1-\frac{11}{15}=\frac{4}{15}$</a:t>
                </a:r>
                <a:r>
                  <a:rPr sz="2400" b="0">
                    <a:solidFill>
                      <a:srgbClr val="111827"/>
                    </a:solidFill>
                    <a:latin typeface="Arial"/>
                  </a:rPr>
                  <a:t> ... (1).</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Mean </a:t>
                </a:r>
                <a:r>
                  <a:rPr lang="en-IN" sz="2400">
                    <a:solidFill>
                      <a:srgbClr val="111827"/>
                    </a:solidFill>
                    <a:latin typeface="Cambria Math" panose="02040503050406030204" pitchFamily="18" charset="0"/>
                  </a:rPr>
                  <a:t>$2.3=\sum p_ix_i=-\frac25-a+1+\frac45+6b$</a:t>
                </a:r>
                <a:r>
                  <a:rPr sz="2400" b="0">
                    <a:solidFill>
                      <a:srgbClr val="111827"/>
                    </a:solidFill>
                    <a:latin typeface="Arial"/>
                  </a:rPr>
                  <a:t>, so </a:t>
                </a:r>
                <a:r>
                  <a:rPr lang="en-IN" sz="2400">
                    <a:solidFill>
                      <a:srgbClr val="111827"/>
                    </a:solidFill>
                    <a:latin typeface="Cambria Math" panose="02040503050406030204" pitchFamily="18" charset="0"/>
                  </a:rPr>
                  <a:t>$a-6b=1+\frac25-\frac{23}{10}=-\frac{9}{10}$</a:t>
                </a:r>
                <a:r>
                  <a:rPr sz="2400" b="0">
                    <a:solidFill>
                      <a:srgbClr val="111827"/>
                    </a:solidFill>
                    <a:latin typeface="Arial"/>
                  </a:rPr>
                  <a:t> ... (2).</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Solving (1) and (2): </a:t>
                </a:r>
                <a:r>
                  <a:rPr lang="en-IN" sz="2400">
                    <a:solidFill>
                      <a:srgbClr val="111827"/>
                    </a:solidFill>
                    <a:latin typeface="Cambria Math" panose="02040503050406030204" pitchFamily="18" charset="0"/>
                  </a:rPr>
                  <a:t>$7b=\frac{4}{15}+\frac{9}{10}=\frac{7}{6}$</a:t>
                </a:r>
                <a:r>
                  <a:rPr sz="2400" b="0">
                    <a:solidFill>
                      <a:srgbClr val="111827"/>
                    </a:solidFill>
                    <a:latin typeface="Arial"/>
                  </a:rPr>
                  <a:t>, so </a:t>
                </a:r>
                <a:r>
                  <a:rPr lang="en-IN" sz="2400">
                    <a:solidFill>
                      <a:srgbClr val="111827"/>
                    </a:solidFill>
                    <a:latin typeface="Cambria Math" panose="02040503050406030204" pitchFamily="18" charset="0"/>
                  </a:rPr>
                  <a:t>$b=\frac16$</a:t>
                </a:r>
                <a:r>
                  <a:rPr sz="2400" b="0">
                    <a:solidFill>
                      <a:srgbClr val="111827"/>
                    </a:solidFill>
                    <a:latin typeface="Arial"/>
                  </a:rPr>
                  <a:t> and </a:t>
                </a:r>
                <a:r>
                  <a:rPr lang="en-IN" sz="2400">
                    <a:solidFill>
                      <a:srgbClr val="111827"/>
                    </a:solidFill>
                    <a:latin typeface="Cambria Math" panose="02040503050406030204" pitchFamily="18" charset="0"/>
                  </a:rPr>
                  <a:t>$a=\frac{1}{10}$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𝑝</m:t>
                        </m:r>
                      </m:e>
                      <m:sub>
                        <m:r>
                          <a:rPr lang="en-IN" sz="2400" i="1">
                            <a:solidFill>
                              <a:srgbClr val="111827"/>
                            </a:solidFill>
                            <a:latin typeface="Cambria Math" panose="02040503050406030204" pitchFamily="18" charset="0"/>
                          </a:rPr>
                          <m:t>𝑖</m:t>
                        </m:r>
                      </m:sub>
                    </m:sSub>
                    <m:sSubSup>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10</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16</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131</m:t>
                        </m:r>
                      </m:num>
                      <m:den>
                        <m:r>
                          <a:rPr lang="en-IN" sz="2400" i="1">
                            <a:solidFill>
                              <a:srgbClr val="111827"/>
                            </a:solidFill>
                            <a:latin typeface="Cambria Math" panose="02040503050406030204" pitchFamily="18" charset="0"/>
                          </a:rPr>
                          <m:t>10</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𝑝</m:t>
                        </m:r>
                      </m:e>
                      <m:sub>
                        <m:r>
                          <a:rPr lang="en-IN" sz="2400" i="1">
                            <a:solidFill>
                              <a:srgbClr val="111827"/>
                            </a:solidFill>
                            <a:latin typeface="Cambria Math" panose="02040503050406030204" pitchFamily="18" charset="0"/>
                          </a:rPr>
                          <m:t>𝑖</m:t>
                        </m:r>
                      </m:sub>
                    </m:sSub>
                    <m:sSubSup>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μ</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2.3</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5.29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7.81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100</m:t>
                    </m:r>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781</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 p_ix_i^2=\frac45+\frac{1}{10}+3+\frac{16}{5}+6=\frac{131}{10}$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$\sigma^2=\sum p_ix_i^2-\mu^2=13.1-(2.3)^2=13.1-5.29=7.81$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$100\sigma^2=781$</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14:m>
                  <m:oMath xmlns:m="http://schemas.openxmlformats.org/officeDocument/2006/math">
                    <m:r>
                      <a:rPr lang="en-IN" sz="2800" i="1">
                        <a:solidFill>
                          <a:srgbClr val="15803D"/>
                        </a:solidFill>
                        <a:latin typeface="Cambria Math" panose="02040503050406030204" pitchFamily="18" charset="0"/>
                      </a:rPr>
                      <m:t>781</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r>
                  <a:rPr lang="en-IN" sz="2800">
                    <a:solidFill>
                      <a:srgbClr val="15803D"/>
                    </a:solidFill>
                    <a:latin typeface="Cambria Math" panose="02040503050406030204" pitchFamily="18" charset="0"/>
                  </a:rPr>
                  <a:t>$781$</a:t>
                </a:r>
                <a:endParaRPr sz="2800">
                  <a:solidFill>
                    <a:srgbClr val="15803D"/>
                  </a:solidFill>
                </a:endParaRPr>
              </a:p>
            </p:txBody>
          </p:sp>
        </mc:Fallback>
      </mc:AlternateContent>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Compute the variance straight from its definition,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𝑝</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μ</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with </a:t>
                </a:r>
                <a14:m>
                  <m:oMath xmlns:m="http://schemas.openxmlformats.org/officeDocument/2006/math">
                    <m:r>
                      <a:rPr lang="en-IN" sz="2400" i="1">
                        <a:solidFill>
                          <a:srgbClr val="78350F"/>
                        </a:solidFill>
                        <a:latin typeface="Cambria Math" panose="02040503050406030204" pitchFamily="18" charset="0"/>
                      </a:rPr>
                      <m:t>μ</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2.3</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Compute the variance straight from its definition, </a:t>
                </a:r>
                <a:r>
                  <a:rPr lang="en-IN" sz="2400">
                    <a:solidFill>
                      <a:srgbClr val="78350F"/>
                    </a:solidFill>
                    <a:latin typeface="Cambria Math" panose="02040503050406030204" pitchFamily="18" charset="0"/>
                  </a:rPr>
                  <a:t>$\sum p(x-\mu)^2$</a:t>
                </a:r>
                <a:r>
                  <a:rPr sz="2400" b="0">
                    <a:solidFill>
                      <a:srgbClr val="78350F"/>
                    </a:solidFill>
                    <a:latin typeface="Arial"/>
                  </a:rPr>
                  <a:t>, with </a:t>
                </a:r>
                <a:r>
                  <a:rPr lang="en-IN" sz="2400">
                    <a:solidFill>
                      <a:srgbClr val="78350F"/>
                    </a:solidFill>
                    <a:latin typeface="Cambria Math" panose="02040503050406030204" pitchFamily="18" charset="0"/>
                  </a:rPr>
                  <a:t>$\mu=2.3$</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As before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10</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 (from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4.3</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10</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3.3</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0.7</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3.7</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3.698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1.089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0.1633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0.578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2.2816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7.81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100</m:t>
                    </m:r>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781</m:t>
                    </m:r>
                  </m:oMath>
                </a14:m>
                <a:r>
                  <a:rPr sz="2400" b="0">
                    <a:solidFill>
                      <a:srgbClr val="111827"/>
                    </a:solidFill>
                    <a:latin typeface="Arial"/>
                  </a:rPr>
                  <a:t>, the same answer.</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As before </a:t>
                </a:r>
                <a:r>
                  <a:rPr lang="en-IN" sz="2400">
                    <a:solidFill>
                      <a:srgbClr val="111827"/>
                    </a:solidFill>
                    <a:latin typeface="Cambria Math" panose="02040503050406030204" pitchFamily="18" charset="0"/>
                  </a:rPr>
                  <a:t>$a=\frac1{10}$</a:t>
                </a:r>
                <a:r>
                  <a:rPr sz="2400" b="0">
                    <a:solidFill>
                      <a:srgbClr val="111827"/>
                    </a:solidFill>
                    <a:latin typeface="Arial"/>
                  </a:rPr>
                  <a:t>, </a:t>
                </a:r>
                <a:r>
                  <a:rPr lang="en-IN" sz="2400">
                    <a:solidFill>
                      <a:srgbClr val="111827"/>
                    </a:solidFill>
                    <a:latin typeface="Cambria Math" panose="02040503050406030204" pitchFamily="18" charset="0"/>
                  </a:rPr>
                  <a:t>$b=\frac16$</a:t>
                </a:r>
                <a:r>
                  <a:rPr sz="2400" b="0">
                    <a:solidFill>
                      <a:srgbClr val="111827"/>
                    </a:solidFill>
                    <a:latin typeface="Arial"/>
                  </a:rPr>
                  <a:t> (from </a:t>
                </a:r>
                <a:r>
                  <a:rPr lang="en-IN" sz="2400">
                    <a:solidFill>
                      <a:srgbClr val="111827"/>
                    </a:solidFill>
                    <a:latin typeface="Cambria Math" panose="02040503050406030204" pitchFamily="18" charset="0"/>
                  </a:rPr>
                  <a:t>$\sum p=1$</a:t>
                </a:r>
                <a:r>
                  <a:rPr sz="2400" b="0">
                    <a:solidFill>
                      <a:srgbClr val="111827"/>
                    </a:solidFill>
                    <a:latin typeface="Arial"/>
                  </a:rPr>
                  <a:t> and </a:t>
                </a:r>
                <a:r>
                  <a:rPr lang="en-IN" sz="2400">
                    <a:solidFill>
                      <a:srgbClr val="111827"/>
                    </a:solidFill>
                    <a:latin typeface="Cambria Math" panose="02040503050406030204" pitchFamily="18" charset="0"/>
                  </a:rPr>
                  <a:t>$\mu=2.3$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$\sigma^2=\frac15(4.3)^2+\frac1{10}(3.3)^2+\frac13(0.7)^2+\frac15(1.7)^2+\frac16(3.7)^2$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$=3.698+1.089+0.1633\ldots+0.578+2.2816\ldots=7.81$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$100\sigma^2=781$</a:t>
                </a:r>
                <a:r>
                  <a:rPr sz="2400" b="0">
                    <a:solidFill>
                      <a:srgbClr val="111827"/>
                    </a:solidFill>
                    <a:latin typeface="Arial"/>
                  </a:rPr>
                  <a:t>, the same answer.</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14:m>
                  <m:oMath xmlns:m="http://schemas.openxmlformats.org/officeDocument/2006/math">
                    <m:r>
                      <a:rPr lang="en-IN" sz="2800" i="1">
                        <a:solidFill>
                          <a:srgbClr val="15803D"/>
                        </a:solidFill>
                        <a:latin typeface="Cambria Math" panose="02040503050406030204" pitchFamily="18" charset="0"/>
                      </a:rPr>
                      <m:t>781</m:t>
                    </m:r>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r>
                  <a:rPr lang="en-IN" sz="2800">
                    <a:solidFill>
                      <a:srgbClr val="15803D"/>
                    </a:solidFill>
                    <a:latin typeface="Cambria Math" panose="02040503050406030204" pitchFamily="18" charset="0"/>
                  </a:rPr>
                  <a:t>$781$</a:t>
                </a:r>
                <a:endParaRPr sz="2800">
                  <a:solidFill>
                    <a:srgbClr val="15803D"/>
                  </a:solidFill>
                </a:endParaRPr>
              </a:p>
            </p:txBody>
          </p:sp>
        </mc:Fallback>
      </mc:AlternateContent>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 discrete distribution: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a:rPr lang="en-IN" sz="2400" i="1">
                        <a:solidFill>
                          <a:srgbClr val="111827"/>
                        </a:solidFill>
                        <a:latin typeface="Cambria Math" panose="02040503050406030204" pitchFamily="18" charset="0"/>
                      </a:rPr>
                      <m:t>𝑥</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μ</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unknown probabilities are fixed by two linear conditions.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that the found probabilities are non-negative: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 ✓.</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 discrete distribution: </a:t>
                </a:r>
                <a:r>
                  <a:rPr lang="en-IN" sz="2400">
                    <a:solidFill>
                      <a:srgbClr val="111827"/>
                    </a:solidFill>
                    <a:latin typeface="Cambria Math" panose="02040503050406030204" pitchFamily="18" charset="0"/>
                  </a:rPr>
                  <a:t>$\sum p=1$</a:t>
                </a:r>
                <a:r>
                  <a:rPr sz="2400" b="0">
                    <a:solidFill>
                      <a:srgbClr val="111827"/>
                    </a:solidFill>
                    <a:latin typeface="Arial"/>
                  </a:rPr>
                  <a:t>, </a:t>
                </a:r>
                <a:r>
                  <a:rPr lang="en-IN" sz="2400">
                    <a:solidFill>
                      <a:srgbClr val="111827"/>
                    </a:solidFill>
                    <a:latin typeface="Cambria Math" panose="02040503050406030204" pitchFamily="18" charset="0"/>
                  </a:rPr>
                  <a:t>$\mu=\sum px$</a:t>
                </a:r>
                <a:r>
                  <a:rPr sz="2400" b="0">
                    <a:solidFill>
                      <a:srgbClr val="111827"/>
                    </a:solidFill>
                    <a:latin typeface="Arial"/>
                  </a:rPr>
                  <a:t>, </a:t>
                </a:r>
                <a:r>
                  <a:rPr lang="en-IN" sz="2400">
                    <a:solidFill>
                      <a:srgbClr val="111827"/>
                    </a:solidFill>
                    <a:latin typeface="Cambria Math" panose="02040503050406030204" pitchFamily="18" charset="0"/>
                  </a:rPr>
                  <a:t>$\sigma^2=\sum px^2-\mu^2$</a:t>
                </a:r>
                <a:r>
                  <a:rPr sz="2400" b="0">
                    <a:solidFill>
                      <a:srgbClr val="111827"/>
                    </a:solidFill>
                    <a:latin typeface="Arial"/>
                  </a:rPr>
                  <a:t>; unknown probabilities are fixed by two linear conditions.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that the found probabilities are non-negative: </a:t>
                </a:r>
                <a:r>
                  <a:rPr lang="en-IN" sz="2400">
                    <a:solidFill>
                      <a:srgbClr val="111827"/>
                    </a:solidFill>
                    <a:latin typeface="Cambria Math" panose="02040503050406030204" pitchFamily="18" charset="0"/>
                  </a:rPr>
                  <a:t>$a=0.1$</a:t>
                </a:r>
                <a:r>
                  <a:rPr sz="2400" b="0">
                    <a:solidFill>
                      <a:srgbClr val="111827"/>
                    </a:solidFill>
                    <a:latin typeface="Arial"/>
                  </a:rPr>
                  <a:t>, </a:t>
                </a:r>
                <a:r>
                  <a:rPr lang="en-IN" sz="2400">
                    <a:solidFill>
                      <a:srgbClr val="111827"/>
                    </a:solidFill>
                    <a:latin typeface="Cambria Math" panose="02040503050406030204" pitchFamily="18" charset="0"/>
                  </a:rPr>
                  <a:t>$b=\frac16$</a:t>
                </a:r>
                <a:r>
                  <a:rPr sz="2400" b="0">
                    <a:solidFill>
                      <a:srgbClr val="111827"/>
                    </a:solidFill>
                    <a:latin typeface="Arial"/>
                  </a:rPr>
                  <a:t> ✓.</a:t>
                </a:r>
                <a:endParaRPr sz="2400">
                  <a:solidFill>
                    <a:srgbClr val="111827"/>
                  </a:solidFill>
                </a:endParaRPr>
              </a:p>
            </p:txBody>
          </p:sp>
        </mc:Fallback>
      </mc:AlternateContent>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15</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Single Correct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Q58 – Q62</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4 marks each (no marks printed in the sheet - JEE Advanced default of 4 assumed)</a:t>
            </a:r>
            <a:endParaRPr sz="2800">
              <a:solidFill>
                <a:srgbClr val="FFFFFF"/>
              </a:solidFill>
            </a:endParaRP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mean of the numbers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is 6 and their variance is </a:t>
                </a:r>
                <a14:m>
                  <m:oMath xmlns:m="http://schemas.openxmlformats.org/officeDocument/2006/math">
                    <m:r>
                      <a:rPr lang="en-IN" sz="2400" i="1">
                        <a:solidFill>
                          <a:srgbClr val="111827"/>
                        </a:solidFill>
                        <a:latin typeface="Cambria Math" panose="02040503050406030204" pitchFamily="18" charset="0"/>
                      </a:rPr>
                      <m:t>6.8</m:t>
                    </m:r>
                  </m:oMath>
                </a14:m>
                <a:r>
                  <a:rPr sz="2400" b="0">
                    <a:solidFill>
                      <a:srgbClr val="111827"/>
                    </a:solidFill>
                    <a:latin typeface="Arial"/>
                  </a:rPr>
                  <a:t>. If </a:t>
                </a:r>
                <a14:m>
                  <m:oMath xmlns:m="http://schemas.openxmlformats.org/officeDocument/2006/math">
                    <m:r>
                      <a:rPr lang="en-IN" sz="2400" i="1">
                        <a:solidFill>
                          <a:srgbClr val="111827"/>
                        </a:solidFill>
                        <a:latin typeface="Cambria Math" panose="02040503050406030204" pitchFamily="18" charset="0"/>
                      </a:rPr>
                      <m:t>𝑀</m:t>
                    </m:r>
                  </m:oMath>
                </a14:m>
                <a:r>
                  <a:rPr sz="2400" b="0">
                    <a:solidFill>
                      <a:srgbClr val="111827"/>
                    </a:solidFill>
                    <a:latin typeface="Arial"/>
                  </a:rPr>
                  <a:t> is the mean deviation of the numbers about the mean, then </a:t>
                </a:r>
                <a14:m>
                  <m:oMath xmlns:m="http://schemas.openxmlformats.org/officeDocument/2006/math">
                    <m:r>
                      <a:rPr lang="en-IN" sz="2400" i="1">
                        <a:solidFill>
                          <a:srgbClr val="111827"/>
                        </a:solidFill>
                        <a:latin typeface="Cambria Math" panose="02040503050406030204" pitchFamily="18" charset="0"/>
                      </a:rPr>
                      <m:t>25</m:t>
                    </m:r>
                    <m:r>
                      <a:rPr lang="en-IN" sz="2400" i="1">
                        <a:solidFill>
                          <a:srgbClr val="111827"/>
                        </a:solidFill>
                        <a:latin typeface="Cambria Math" panose="02040503050406030204" pitchFamily="18" charset="0"/>
                      </a:rPr>
                      <m:t>𝑀</m:t>
                    </m:r>
                  </m:oMath>
                </a14:m>
                <a:r>
                  <a:rPr sz="2400" b="0">
                    <a:solidFill>
                      <a:srgbClr val="111827"/>
                    </a:solidFill>
                    <a:latin typeface="Arial"/>
                  </a:rPr>
                  <a:t> is equal to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60   (B) 55   (C) 50   (D) 45</a:t>
                </a:r>
                <a:endParaRPr sz="2400">
                  <a:solidFill>
                    <a:srgbClr val="111827"/>
                  </a:solidFill>
                </a:endParaRPr>
              </a:p>
            </p:txBody>
          </p:sp>
        </mc:Choice>
        <mc:Fallback>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mean of the numbers </a:t>
                </a:r>
                <a:r>
                  <a:rPr lang="en-IN" sz="2400">
                    <a:solidFill>
                      <a:srgbClr val="111827"/>
                    </a:solidFill>
                    <a:latin typeface="Cambria Math" panose="02040503050406030204" pitchFamily="18" charset="0"/>
                  </a:rPr>
                  <a:t>$a,b,8,5,10$</a:t>
                </a:r>
                <a:r>
                  <a:rPr sz="2400" b="0">
                    <a:solidFill>
                      <a:srgbClr val="111827"/>
                    </a:solidFill>
                    <a:latin typeface="Arial"/>
                  </a:rPr>
                  <a:t> is 6 and their variance is </a:t>
                </a:r>
                <a:r>
                  <a:rPr lang="en-IN" sz="2400">
                    <a:solidFill>
                      <a:srgbClr val="111827"/>
                    </a:solidFill>
                    <a:latin typeface="Cambria Math" panose="02040503050406030204" pitchFamily="18" charset="0"/>
                  </a:rPr>
                  <a:t>$6.8$</a:t>
                </a:r>
                <a:r>
                  <a:rPr sz="2400" b="0">
                    <a:solidFill>
                      <a:srgbClr val="111827"/>
                    </a:solidFill>
                    <a:latin typeface="Arial"/>
                  </a:rPr>
                  <a:t>. If </a:t>
                </a:r>
                <a:r>
                  <a:rPr lang="en-IN" sz="2400">
                    <a:solidFill>
                      <a:srgbClr val="111827"/>
                    </a:solidFill>
                    <a:latin typeface="Cambria Math" panose="02040503050406030204" pitchFamily="18" charset="0"/>
                  </a:rPr>
                  <a:t>$M$</a:t>
                </a:r>
                <a:r>
                  <a:rPr sz="2400" b="0">
                    <a:solidFill>
                      <a:srgbClr val="111827"/>
                    </a:solidFill>
                    <a:latin typeface="Arial"/>
                  </a:rPr>
                  <a:t> is the mean deviation of the numbers about the mean, then </a:t>
                </a:r>
                <a:r>
                  <a:rPr lang="en-IN" sz="2400">
                    <a:solidFill>
                      <a:srgbClr val="111827"/>
                    </a:solidFill>
                    <a:latin typeface="Cambria Math" panose="02040503050406030204" pitchFamily="18" charset="0"/>
                  </a:rPr>
                  <a:t>$25M$</a:t>
                </a:r>
                <a:r>
                  <a:rPr sz="2400" b="0">
                    <a:solidFill>
                      <a:srgbClr val="111827"/>
                    </a:solidFill>
                    <a:latin typeface="Arial"/>
                  </a:rPr>
                  <a:t> is equal to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60   (B) 55   (C) 50   (D) 45</a:t>
                </a:r>
                <a:endParaRPr sz="2400">
                  <a:solidFill>
                    <a:srgbClr val="111827"/>
                  </a:solidFill>
                </a:endParaRPr>
              </a:p>
            </p:txBody>
          </p:sp>
        </mc:Fallback>
      </mc:AlternateContent>
      <p:sp>
        <p:nvSpPr>
          <p:cNvPr id="5" name="Rectangle 4"/>
          <p:cNvSpPr/>
          <p:nvPr/>
        </p:nvSpPr>
        <p:spPr>
          <a:xfrm>
            <a:off x="731520" y="3580383"/>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Mean deviation about the mean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Mean and variance give </a:t>
                </a:r>
                <a14:m>
                  <m:oMath xmlns:m="http://schemas.openxmlformats.org/officeDocument/2006/math">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oMath>
                </a14:m>
                <a:r>
                  <a:rPr sz="2400" b="0">
                    <a:solidFill>
                      <a:srgbClr val="78350F"/>
                    </a:solidFill>
                    <a:latin typeface="Arial"/>
                  </a:rPr>
                  <a:t> (either order); then average the absolute deviations about 6.</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Mean and variance give </a:t>
                </a:r>
                <a:r>
                  <a:rPr lang="en-IN" sz="2400">
                    <a:solidFill>
                      <a:srgbClr val="78350F"/>
                    </a:solidFill>
                    <a:latin typeface="Cambria Math" panose="02040503050406030204" pitchFamily="18" charset="0"/>
                  </a:rPr>
                  <a:t>$a,b=3,4$</a:t>
                </a:r>
                <a:r>
                  <a:rPr sz="2400" b="0">
                    <a:solidFill>
                      <a:srgbClr val="78350F"/>
                    </a:solidFill>
                    <a:latin typeface="Arial"/>
                  </a:rPr>
                  <a:t> (either order); then average the absolute deviations about 6.</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Mean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23</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Variance </a:t>
                </a:r>
                <a14:m>
                  <m:oMath xmlns:m="http://schemas.openxmlformats.org/officeDocument/2006/math">
                    <m:r>
                      <a:rPr lang="en-IN" sz="2400" i="1">
                        <a:solidFill>
                          <a:srgbClr val="111827"/>
                        </a:solidFill>
                        <a:latin typeface="Cambria Math" panose="02040503050406030204" pitchFamily="18" charset="0"/>
                      </a:rPr>
                      <m:t>6.8</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giving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Mean </a:t>
                </a:r>
                <a:r>
                  <a:rPr lang="en-IN" sz="2400">
                    <a:solidFill>
                      <a:srgbClr val="111827"/>
                    </a:solidFill>
                    <a:latin typeface="Cambria Math" panose="02040503050406030204" pitchFamily="18" charset="0"/>
                  </a:rPr>
                  <a:t>$=6$</a:t>
                </a:r>
                <a:r>
                  <a:rPr sz="2400" b="0">
                    <a:solidFill>
                      <a:srgbClr val="111827"/>
                    </a:solidFill>
                    <a:latin typeface="Arial"/>
                  </a:rPr>
                  <a:t>: </a:t>
                </a:r>
                <a:r>
                  <a:rPr lang="en-IN" sz="2400">
                    <a:solidFill>
                      <a:srgbClr val="111827"/>
                    </a:solidFill>
                    <a:latin typeface="Cambria Math" panose="02040503050406030204" pitchFamily="18" charset="0"/>
                  </a:rPr>
                  <a:t>$\frac{a+b+23}{5}=6$</a:t>
                </a:r>
                <a:r>
                  <a:rPr sz="2400" b="0">
                    <a:solidFill>
                      <a:srgbClr val="111827"/>
                    </a:solidFill>
                    <a:latin typeface="Arial"/>
                  </a:rPr>
                  <a:t>, so </a:t>
                </a:r>
                <a:r>
                  <a:rPr lang="en-IN" sz="2400">
                    <a:solidFill>
                      <a:srgbClr val="111827"/>
                    </a:solidFill>
                    <a:latin typeface="Cambria Math" panose="02040503050406030204" pitchFamily="18" charset="0"/>
                  </a:rPr>
                  <a:t>$a+b=7$</a:t>
                </a:r>
                <a:r>
                  <a:rPr sz="2400" b="0">
                    <a:solidFill>
                      <a:srgbClr val="111827"/>
                    </a:solidFill>
                    <a:latin typeface="Arial"/>
                  </a:rPr>
                  <a:t> and </a:t>
                </a:r>
                <a:r>
                  <a:rPr lang="en-IN" sz="2400">
                    <a:solidFill>
                      <a:srgbClr val="111827"/>
                    </a:solidFill>
                    <a:latin typeface="Cambria Math" panose="02040503050406030204" pitchFamily="18" charset="0"/>
                  </a:rPr>
                  <a:t>$b=7-a$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Variance </a:t>
                </a:r>
                <a:r>
                  <a:rPr lang="en-IN" sz="2400">
                    <a:solidFill>
                      <a:srgbClr val="111827"/>
                    </a:solidFill>
                    <a:latin typeface="Cambria Math" panose="02040503050406030204" pitchFamily="18" charset="0"/>
                  </a:rPr>
                  <a:t>$6.8$</a:t>
                </a:r>
                <a:r>
                  <a:rPr sz="2400" b="0">
                    <a:solidFill>
                      <a:srgbClr val="111827"/>
                    </a:solidFill>
                    <a:latin typeface="Arial"/>
                  </a:rPr>
                  <a:t>: </a:t>
                </a:r>
                <a:r>
                  <a:rPr lang="en-IN" sz="2400">
                    <a:solidFill>
                      <a:srgbClr val="111827"/>
                    </a:solidFill>
                    <a:latin typeface="Cambria Math" panose="02040503050406030204" pitchFamily="18" charset="0"/>
                  </a:rPr>
                  <a:t>$34=(a-6)^2+(b-6)^2+(8-6)^2+(5-6)^2+(10-6)^2=(a-6)^2+(1-a)^2+21$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$(a-6)^2+(a-1)^2=13$</a:t>
                </a:r>
                <a:r>
                  <a:rPr sz="2400" b="0">
                    <a:solidFill>
                      <a:srgbClr val="111827"/>
                    </a:solidFill>
                    <a:latin typeface="Arial"/>
                  </a:rPr>
                  <a:t>, so </a:t>
                </a:r>
                <a:r>
                  <a:rPr lang="en-IN" sz="2400">
                    <a:solidFill>
                      <a:srgbClr val="111827"/>
                    </a:solidFill>
                    <a:latin typeface="Cambria Math" panose="02040503050406030204" pitchFamily="18" charset="0"/>
                  </a:rPr>
                  <a:t>$a^2-7a+12=0$</a:t>
                </a:r>
                <a:r>
                  <a:rPr sz="2400" b="0">
                    <a:solidFill>
                      <a:srgbClr val="111827"/>
                    </a:solidFill>
                    <a:latin typeface="Arial"/>
                  </a:rPr>
                  <a:t>, giving </a:t>
                </a:r>
                <a:r>
                  <a:rPr lang="en-IN" sz="2400">
                    <a:solidFill>
                      <a:srgbClr val="111827"/>
                    </a:solidFill>
                    <a:latin typeface="Cambria Math" panose="02040503050406030204" pitchFamily="18" charset="0"/>
                  </a:rPr>
                  <a:t>$a=3$</a:t>
                </a:r>
                <a:r>
                  <a:rPr sz="2400" b="0">
                    <a:solidFill>
                      <a:srgbClr val="111827"/>
                    </a:solidFill>
                    <a:latin typeface="Arial"/>
                  </a:rPr>
                  <a:t> or </a:t>
                </a:r>
                <a:r>
                  <a:rPr lang="en-IN" sz="2400">
                    <a:solidFill>
                      <a:srgbClr val="111827"/>
                    </a:solidFill>
                    <a:latin typeface="Cambria Math" panose="02040503050406030204" pitchFamily="18" charset="0"/>
                  </a:rPr>
                  <a:t>$4$</a:t>
                </a:r>
                <a:r>
                  <a:rPr sz="2400" b="0">
                    <a:solidFill>
                      <a:srgbClr val="111827"/>
                    </a:solidFill>
                    <a:latin typeface="Arial"/>
                  </a:rPr>
                  <a:t> (and </a:t>
                </a:r>
                <a:r>
                  <a:rPr lang="en-IN" sz="2400">
                    <a:solidFill>
                      <a:srgbClr val="111827"/>
                    </a:solidFill>
                    <a:latin typeface="Cambria Math" panose="02040503050406030204" pitchFamily="18" charset="0"/>
                  </a:rPr>
                  <a:t>$b=4$</a:t>
                </a:r>
                <a:r>
                  <a:rPr sz="2400" b="0">
                    <a:solidFill>
                      <a:srgbClr val="111827"/>
                    </a:solidFill>
                    <a:latin typeface="Arial"/>
                  </a:rPr>
                  <a:t> or </a:t>
                </a:r>
                <a:r>
                  <a:rPr lang="en-IN" sz="2400">
                    <a:solidFill>
                      <a:srgbClr val="111827"/>
                    </a:solidFill>
                    <a:latin typeface="Cambria Math" panose="02040503050406030204" pitchFamily="18" charset="0"/>
                  </a:rPr>
                  <a:t>$3$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the sum is </a:t>
                </a:r>
                <a14:m>
                  <m:oMath xmlns:m="http://schemas.openxmlformats.org/officeDocument/2006/math">
                    <m:r>
                      <a:rPr lang="en-IN" sz="2400" i="1">
                        <a:solidFill>
                          <a:srgbClr val="111827"/>
                        </a:solidFill>
                        <a:latin typeface="Cambria Math" panose="02040503050406030204" pitchFamily="18" charset="0"/>
                      </a:rPr>
                      <m:t>12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 (the same for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25</m:t>
                    </m:r>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oMath>
                </a14:m>
                <a:r>
                  <a:rPr sz="2400" b="0">
                    <a:solidFill>
                      <a:srgbClr val="111827"/>
                    </a:solidFill>
                    <a:latin typeface="Arial"/>
                  </a:rPr>
                  <a:t>, option (A).</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$\{a,b\}=\{3,4\}$</a:t>
                </a:r>
                <a:r>
                  <a:rPr sz="2400" b="0">
                    <a:solidFill>
                      <a:srgbClr val="111827"/>
                    </a:solidFill>
                    <a:latin typeface="Arial"/>
                  </a:rPr>
                  <a:t>: </a:t>
                </a:r>
                <a:r>
                  <a:rPr lang="en-IN" sz="2400">
                    <a:solidFill>
                      <a:srgbClr val="111827"/>
                    </a:solidFill>
                    <a:latin typeface="Cambria Math" panose="02040503050406030204" pitchFamily="18" charset="0"/>
                  </a:rPr>
                  <a:t>$|3-6|=3$</a:t>
                </a:r>
                <a:r>
                  <a:rPr sz="2400" b="0">
                    <a:solidFill>
                      <a:srgbClr val="111827"/>
                    </a:solidFill>
                    <a:latin typeface="Arial"/>
                  </a:rPr>
                  <a:t>, </a:t>
                </a:r>
                <a:r>
                  <a:rPr lang="en-IN" sz="2400">
                    <a:solidFill>
                      <a:srgbClr val="111827"/>
                    </a:solidFill>
                    <a:latin typeface="Cambria Math" panose="02040503050406030204" pitchFamily="18" charset="0"/>
                  </a:rPr>
                  <a:t>$|4-6|=2$</a:t>
                </a:r>
                <a:r>
                  <a:rPr sz="2400" b="0">
                    <a:solidFill>
                      <a:srgbClr val="111827"/>
                    </a:solidFill>
                    <a:latin typeface="Arial"/>
                  </a:rPr>
                  <a:t>, </a:t>
                </a:r>
                <a:r>
                  <a:rPr lang="en-IN" sz="2400">
                    <a:solidFill>
                      <a:srgbClr val="111827"/>
                    </a:solidFill>
                    <a:latin typeface="Cambria Math" panose="02040503050406030204" pitchFamily="18" charset="0"/>
                  </a:rPr>
                  <a:t>$|8-6|=2$</a:t>
                </a:r>
                <a:r>
                  <a:rPr sz="2400" b="0">
                    <a:solidFill>
                      <a:srgbClr val="111827"/>
                    </a:solidFill>
                    <a:latin typeface="Arial"/>
                  </a:rPr>
                  <a:t>, </a:t>
                </a:r>
                <a:r>
                  <a:rPr lang="en-IN" sz="2400">
                    <a:solidFill>
                      <a:srgbClr val="111827"/>
                    </a:solidFill>
                    <a:latin typeface="Cambria Math" panose="02040503050406030204" pitchFamily="18" charset="0"/>
                  </a:rPr>
                  <a:t>$|5-6|=1$</a:t>
                </a:r>
                <a:r>
                  <a:rPr sz="2400" b="0">
                    <a:solidFill>
                      <a:srgbClr val="111827"/>
                    </a:solidFill>
                    <a:latin typeface="Arial"/>
                  </a:rPr>
                  <a:t>, </a:t>
                </a:r>
                <a:r>
                  <a:rPr lang="en-IN" sz="2400">
                    <a:solidFill>
                      <a:srgbClr val="111827"/>
                    </a:solidFill>
                    <a:latin typeface="Cambria Math" panose="02040503050406030204" pitchFamily="18" charset="0"/>
                  </a:rPr>
                  <a:t>$|10-6|=4$</a:t>
                </a:r>
                <a:r>
                  <a:rPr sz="2400" b="0">
                    <a:solidFill>
                      <a:srgbClr val="111827"/>
                    </a:solidFill>
                    <a:latin typeface="Arial"/>
                  </a:rPr>
                  <a:t>; the sum is </a:t>
                </a:r>
                <a:r>
                  <a:rPr lang="en-IN" sz="2400">
                    <a:solidFill>
                      <a:srgbClr val="111827"/>
                    </a:solidFill>
                    <a:latin typeface="Cambria Math" panose="02040503050406030204" pitchFamily="18" charset="0"/>
                  </a:rPr>
                  <a:t>$12$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$M=\frac{12}{5}$</a:t>
                </a:r>
                <a:r>
                  <a:rPr sz="2400" b="0">
                    <a:solidFill>
                      <a:srgbClr val="111827"/>
                    </a:solidFill>
                    <a:latin typeface="Arial"/>
                  </a:rPr>
                  <a:t> (the same for </a:t>
                </a:r>
                <a:r>
                  <a:rPr lang="en-IN" sz="2400">
                    <a:solidFill>
                      <a:srgbClr val="111827"/>
                    </a:solidFill>
                    <a:latin typeface="Cambria Math" panose="02040503050406030204" pitchFamily="18" charset="0"/>
                  </a:rPr>
                  <a:t>$a=3,b=4$</a:t>
                </a:r>
                <a:r>
                  <a:rPr sz="2400" b="0">
                    <a:solidFill>
                      <a:srgbClr val="111827"/>
                    </a:solidFill>
                    <a:latin typeface="Arial"/>
                  </a:rPr>
                  <a:t> and </a:t>
                </a:r>
                <a:r>
                  <a:rPr lang="en-IN" sz="2400">
                    <a:solidFill>
                      <a:srgbClr val="111827"/>
                    </a:solidFill>
                    <a:latin typeface="Cambria Math" panose="02040503050406030204" pitchFamily="18" charset="0"/>
                  </a:rPr>
                  <a:t>$a=4,b=3$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$25M=25\times\frac{12}{5}=60$</a:t>
                </a:r>
                <a:r>
                  <a:rPr sz="2400" b="0">
                    <a:solidFill>
                      <a:srgbClr val="111827"/>
                    </a:solidFill>
                    <a:latin typeface="Arial"/>
                  </a:rPr>
                  <a:t>, option (A).</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60</a:t>
            </a:r>
            <a:endParaRPr sz="2800">
              <a:solidFill>
                <a:srgbClr val="15803D"/>
              </a:solidFill>
            </a:endParaRP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two numbers are only determined as an unordered pair, any symmetric quantity (mean deviation, variance) is the same for both assignments.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Mean deviation about the mean is always at most the standard deviation: here </a:t>
                </a:r>
                <a14:m>
                  <m:oMath xmlns:m="http://schemas.openxmlformats.org/officeDocument/2006/math">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&lt;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6.8</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2.61</m:t>
                    </m:r>
                  </m:oMath>
                </a14:m>
                <a:r>
                  <a:rPr sz="2400" b="0">
                    <a:solidFill>
                      <a:srgbClr val="111827"/>
                    </a:solidFill>
                    <a:latin typeface="Arial"/>
                  </a:rPr>
                  <a:t> ✓.</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two numbers are only determined as an unordered pair, any symmetric quantity (mean deviation, variance) is the same for both assignments.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Mean deviation about the mean is always at most the standard deviation: here </a:t>
                </a:r>
                <a:r>
                  <a:rPr lang="en-IN" sz="2400">
                    <a:solidFill>
                      <a:srgbClr val="111827"/>
                    </a:solidFill>
                    <a:latin typeface="Cambria Math" panose="02040503050406030204" pitchFamily="18" charset="0"/>
                  </a:rPr>
                  <a:t>$M=2.4&lt;\sqrt{6.8}\approx2.61$</a:t>
                </a:r>
                <a:r>
                  <a:rPr sz="2400" b="0">
                    <a:solidFill>
                      <a:srgbClr val="111827"/>
                    </a:solidFill>
                    <a:latin typeface="Arial"/>
                  </a:rPr>
                  <a:t> ✓.</a:t>
                </a:r>
                <a:endParaRPr sz="2400">
                  <a:solidFill>
                    <a:srgbClr val="111827"/>
                  </a:solidFill>
                </a:endParaRPr>
              </a:p>
            </p:txBody>
          </p:sp>
        </mc:Fallback>
      </mc:AlternateContent>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731520" y="1280160"/>
            <a:ext cx="10725912" cy="28153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mean and standard deviation of 50 observations are 15 and 2 respectively. It was found that one incorrect observation was taken such that the sum of correct and incorrect observations is 70. If the correct mean is 16, then the correct variance is equal to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10   (B) 36   (C) 43   (D) 60</a:t>
            </a:r>
            <a:endParaRPr sz="2400">
              <a:solidFill>
                <a:srgbClr val="111827"/>
              </a:solidFill>
            </a:endParaRPr>
          </a:p>
        </p:txBody>
      </p:sp>
      <p:sp>
        <p:nvSpPr>
          <p:cNvPr id="5" name="Rectangle 4"/>
          <p:cNvSpPr/>
          <p:nvPr/>
        </p:nvSpPr>
        <p:spPr>
          <a:xfrm>
            <a:off x="731520" y="4324095"/>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Correcting a wrongly recorded observation (variance)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correct and incorrect values </a:t>
                </a:r>
                <a14:m>
                  <m:oMath xmlns:m="http://schemas.openxmlformats.org/officeDocument/2006/math">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oMath>
                </a14:m>
                <a:r>
                  <a:rPr sz="2400" b="0">
                    <a:solidFill>
                      <a:srgbClr val="78350F"/>
                    </a:solidFill>
                    <a:latin typeface="Arial"/>
                  </a:rPr>
                  <a:t> satisfy </a:t>
                </a:r>
                <a14:m>
                  <m:oMath xmlns:m="http://schemas.openxmlformats.org/officeDocument/2006/math">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70</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50</m:t>
                    </m:r>
                  </m:oMath>
                </a14:m>
                <a:r>
                  <a:rPr sz="2400" b="0">
                    <a:solidFill>
                      <a:srgbClr val="78350F"/>
                    </a:solidFill>
                    <a:latin typeface="Arial"/>
                  </a:rPr>
                  <a:t> (from the change in mean).</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correct and incorrect values </a:t>
                </a:r>
                <a:r>
                  <a:rPr lang="en-IN" sz="2400">
                    <a:solidFill>
                      <a:srgbClr val="78350F"/>
                    </a:solidFill>
                    <a:latin typeface="Cambria Math" panose="02040503050406030204" pitchFamily="18" charset="0"/>
                  </a:rPr>
                  <a:t>$a,b$</a:t>
                </a:r>
                <a:r>
                  <a:rPr sz="2400" b="0">
                    <a:solidFill>
                      <a:srgbClr val="78350F"/>
                    </a:solidFill>
                    <a:latin typeface="Arial"/>
                  </a:rPr>
                  <a:t> satisfy </a:t>
                </a:r>
                <a:r>
                  <a:rPr lang="en-IN" sz="2400">
                    <a:solidFill>
                      <a:srgbClr val="78350F"/>
                    </a:solidFill>
                    <a:latin typeface="Cambria Math" panose="02040503050406030204" pitchFamily="18" charset="0"/>
                  </a:rPr>
                  <a:t>$a+b=70$</a:t>
                </a:r>
                <a:r>
                  <a:rPr sz="2400" b="0">
                    <a:solidFill>
                      <a:srgbClr val="78350F"/>
                    </a:solidFill>
                    <a:latin typeface="Arial"/>
                  </a:rPr>
                  <a:t> and </a:t>
                </a:r>
                <a:r>
                  <a:rPr lang="en-IN" sz="2400">
                    <a:solidFill>
                      <a:srgbClr val="78350F"/>
                    </a:solidFill>
                    <a:latin typeface="Cambria Math" panose="02040503050406030204" pitchFamily="18" charset="0"/>
                  </a:rPr>
                  <a:t>$a-b=50$</a:t>
                </a:r>
                <a:r>
                  <a:rPr sz="2400" b="0">
                    <a:solidFill>
                      <a:srgbClr val="78350F"/>
                    </a:solidFill>
                    <a:latin typeface="Arial"/>
                  </a:rPr>
                  <a:t> (from the change in mean).</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750</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11450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be the correct and </a:t>
                </a:r>
                <a14:m>
                  <m:oMath xmlns:m="http://schemas.openxmlformats.org/officeDocument/2006/math">
                    <m:r>
                      <a:rPr lang="en-IN" sz="2400" i="1">
                        <a:solidFill>
                          <a:srgbClr val="111827"/>
                        </a:solidFill>
                        <a:latin typeface="Cambria Math" panose="02040503050406030204" pitchFamily="18" charset="0"/>
                      </a:rPr>
                      <m:t>𝑏</m:t>
                    </m:r>
                  </m:oMath>
                </a14:m>
                <a:r>
                  <a:rPr sz="2400" b="0">
                    <a:solidFill>
                      <a:srgbClr val="111827"/>
                    </a:solidFill>
                    <a:latin typeface="Arial"/>
                  </a:rPr>
                  <a:t> the incorrect observation: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Correct mean </a:t>
                </a:r>
                <a14:m>
                  <m:oMath xmlns:m="http://schemas.openxmlformats.org/officeDocument/2006/math">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50</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 x_i=50\times15=750$</a:t>
                </a:r>
                <a:r>
                  <a:rPr sz="2400" b="0">
                    <a:solidFill>
                      <a:srgbClr val="111827"/>
                    </a:solidFill>
                    <a:latin typeface="Arial"/>
                  </a:rPr>
                  <a:t> and </a:t>
                </a:r>
                <a:r>
                  <a:rPr lang="en-IN" sz="2400">
                    <a:solidFill>
                      <a:srgbClr val="111827"/>
                    </a:solidFill>
                    <a:latin typeface="Cambria Math" panose="02040503050406030204" pitchFamily="18" charset="0"/>
                  </a:rPr>
                  <a:t>$\sigma^2=4$</a:t>
                </a:r>
                <a:r>
                  <a:rPr sz="2400" b="0">
                    <a:solidFill>
                      <a:srgbClr val="111827"/>
                    </a:solidFill>
                    <a:latin typeface="Arial"/>
                  </a:rPr>
                  <a:t>, so </a:t>
                </a:r>
                <a:r>
                  <a:rPr lang="en-IN" sz="2400">
                    <a:solidFill>
                      <a:srgbClr val="111827"/>
                    </a:solidFill>
                    <a:latin typeface="Cambria Math" panose="02040503050406030204" pitchFamily="18" charset="0"/>
                  </a:rPr>
                  <a:t>$\sum x_i^2=50(4+225)=11450$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a:t>
                </a:r>
                <a:r>
                  <a:rPr sz="2400" b="0">
                    <a:solidFill>
                      <a:srgbClr val="111827"/>
                    </a:solidFill>
                    <a:latin typeface="Arial"/>
                  </a:rPr>
                  <a:t> be the correct and </a:t>
                </a:r>
                <a:r>
                  <a:rPr lang="en-IN" sz="2400">
                    <a:solidFill>
                      <a:srgbClr val="111827"/>
                    </a:solidFill>
                    <a:latin typeface="Cambria Math" panose="02040503050406030204" pitchFamily="18" charset="0"/>
                  </a:rPr>
                  <a:t>$b$</a:t>
                </a:r>
                <a:r>
                  <a:rPr sz="2400" b="0">
                    <a:solidFill>
                      <a:srgbClr val="111827"/>
                    </a:solidFill>
                    <a:latin typeface="Arial"/>
                  </a:rPr>
                  <a:t> the incorrect observation: </a:t>
                </a:r>
                <a:r>
                  <a:rPr lang="en-IN" sz="2400">
                    <a:solidFill>
                      <a:srgbClr val="111827"/>
                    </a:solidFill>
                    <a:latin typeface="Cambria Math" panose="02040503050406030204" pitchFamily="18" charset="0"/>
                  </a:rPr>
                  <a:t>$a+b=70$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Correct mean </a:t>
                </a:r>
                <a:r>
                  <a:rPr lang="en-IN" sz="2400">
                    <a:solidFill>
                      <a:srgbClr val="111827"/>
                    </a:solidFill>
                    <a:latin typeface="Cambria Math" panose="02040503050406030204" pitchFamily="18" charset="0"/>
                  </a:rPr>
                  <a:t>$16=\frac{750-b+a}{50}$</a:t>
                </a:r>
                <a:r>
                  <a:rPr sz="2400" b="0">
                    <a:solidFill>
                      <a:srgbClr val="111827"/>
                    </a:solidFill>
                    <a:latin typeface="Arial"/>
                  </a:rPr>
                  <a:t>, so </a:t>
                </a:r>
                <a:r>
                  <a:rPr lang="en-IN" sz="2400">
                    <a:solidFill>
                      <a:srgbClr val="111827"/>
                    </a:solidFill>
                    <a:latin typeface="Cambria Math" panose="02040503050406030204" pitchFamily="18" charset="0"/>
                  </a:rPr>
                  <a:t>$a-b=50$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Correct </a:t>
                </a:r>
                <a14:m>
                  <m:oMath xmlns:m="http://schemas.openxmlformats.org/officeDocument/2006/math">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11450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10</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60</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14950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Correct variance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14950</m:t>
                        </m:r>
                      </m:num>
                      <m:den>
                        <m:r>
                          <a:rPr lang="en-IN" sz="2400" i="1">
                            <a:solidFill>
                              <a:srgbClr val="111827"/>
                            </a:solidFill>
                            <a:latin typeface="Cambria Math" panose="02040503050406030204" pitchFamily="18" charset="0"/>
                          </a:rPr>
                          <m:t>50</m:t>
                        </m:r>
                      </m:den>
                    </m:f>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16</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299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43</m:t>
                    </m:r>
                  </m:oMath>
                </a14:m>
                <a:r>
                  <a:rPr sz="2400" b="0">
                    <a:solidFill>
                      <a:srgbClr val="111827"/>
                    </a:solidFill>
                    <a:latin typeface="Arial"/>
                  </a:rPr>
                  <a:t>, option (C).</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$a=60$</a:t>
                </a:r>
                <a:r>
                  <a:rPr sz="2400" b="0">
                    <a:solidFill>
                      <a:srgbClr val="111827"/>
                    </a:solidFill>
                    <a:latin typeface="Arial"/>
                  </a:rPr>
                  <a:t> and </a:t>
                </a:r>
                <a:r>
                  <a:rPr lang="en-IN" sz="2400">
                    <a:solidFill>
                      <a:srgbClr val="111827"/>
                    </a:solidFill>
                    <a:latin typeface="Cambria Math" panose="02040503050406030204" pitchFamily="18" charset="0"/>
                  </a:rPr>
                  <a:t>$b=10$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Correct </a:t>
                </a:r>
                <a:r>
                  <a:rPr lang="en-IN" sz="2400">
                    <a:solidFill>
                      <a:srgbClr val="111827"/>
                    </a:solidFill>
                    <a:latin typeface="Cambria Math" panose="02040503050406030204" pitchFamily="18" charset="0"/>
                  </a:rPr>
                  <a:t>$\sum x_i^2=11450-10^2+60^2=14950$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Correct variance </a:t>
                </a:r>
                <a:r>
                  <a:rPr lang="en-IN" sz="2400">
                    <a:solidFill>
                      <a:srgbClr val="111827"/>
                    </a:solidFill>
                    <a:latin typeface="Cambria Math" panose="02040503050406030204" pitchFamily="18" charset="0"/>
                  </a:rPr>
                  <a:t>$=\frac{14950}{50}-16^2=299-256=43$</a:t>
                </a:r>
                <a:r>
                  <a:rPr sz="2400" b="0">
                    <a:solidFill>
                      <a:srgbClr val="111827"/>
                    </a:solidFill>
                    <a:latin typeface="Arial"/>
                  </a:rPr>
                  <a:t>, option (C).</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43</a:t>
            </a:r>
            <a:endParaRPr sz="2800">
              <a:solidFill>
                <a:srgbClr val="15803D"/>
              </a:solidFill>
            </a:endParaRP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The change in </a:t>
                </a:r>
                <a14:m>
                  <m:oMath xmlns:m="http://schemas.openxmlformats.org/officeDocument/2006/math">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is </a:t>
                </a:r>
                <a14:m>
                  <m:oMath xmlns:m="http://schemas.openxmlformats.org/officeDocument/2006/math">
                    <m:sSup>
                      <m:e>
                        <m:r>
                          <a:rPr lang="en-IN" sz="2400" i="1">
                            <a:solidFill>
                              <a:srgbClr val="78350F"/>
                            </a:solidFill>
                            <a:latin typeface="Cambria Math" panose="02040503050406030204" pitchFamily="18" charset="0"/>
                          </a:rPr>
                          <m:t>𝑎</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𝑏</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so </a:t>
                </a:r>
                <a14:m>
                  <m:oMath xmlns:m="http://schemas.openxmlformats.org/officeDocument/2006/math">
                    <m:r>
                      <a:rPr lang="en-IN" sz="2400" i="1">
                        <a:solidFill>
                          <a:srgbClr val="78350F"/>
                        </a:solidFill>
                        <a:latin typeface="Cambria Math" panose="02040503050406030204" pitchFamily="18" charset="0"/>
                      </a:rPr>
                      <m:t>𝑎</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𝑏</m:t>
                    </m:r>
                  </m:oMath>
                </a14:m>
                <a:r>
                  <a:rPr sz="2400" b="0">
                    <a:solidFill>
                      <a:srgbClr val="78350F"/>
                    </a:solidFill>
                    <a:latin typeface="Arial"/>
                  </a:rPr>
                  <a:t> are not needed individually.</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The change in </a:t>
                </a:r>
                <a:r>
                  <a:rPr lang="en-IN" sz="2400">
                    <a:solidFill>
                      <a:srgbClr val="78350F"/>
                    </a:solidFill>
                    <a:latin typeface="Cambria Math" panose="02040503050406030204" pitchFamily="18" charset="0"/>
                  </a:rPr>
                  <a:t>$\sum x^2$</a:t>
                </a:r>
                <a:r>
                  <a:rPr sz="2400" b="0">
                    <a:solidFill>
                      <a:srgbClr val="78350F"/>
                    </a:solidFill>
                    <a:latin typeface="Arial"/>
                  </a:rPr>
                  <a:t> is </a:t>
                </a:r>
                <a:r>
                  <a:rPr lang="en-IN" sz="2400">
                    <a:solidFill>
                      <a:srgbClr val="78350F"/>
                    </a:solidFill>
                    <a:latin typeface="Cambria Math" panose="02040503050406030204" pitchFamily="18" charset="0"/>
                  </a:rPr>
                  <a:t>$a^2-b^2=(a+b)(a-b)$</a:t>
                </a:r>
                <a:r>
                  <a:rPr sz="2400" b="0">
                    <a:solidFill>
                      <a:srgbClr val="78350F"/>
                    </a:solidFill>
                    <a:latin typeface="Arial"/>
                  </a:rPr>
                  <a:t>, so </a:t>
                </a:r>
                <a:r>
                  <a:rPr lang="en-IN" sz="2400">
                    <a:solidFill>
                      <a:srgbClr val="78350F"/>
                    </a:solidFill>
                    <a:latin typeface="Cambria Math" panose="02040503050406030204" pitchFamily="18" charset="0"/>
                  </a:rPr>
                  <a:t>$a$</a:t>
                </a:r>
                <a:r>
                  <a:rPr sz="2400" b="0">
                    <a:solidFill>
                      <a:srgbClr val="78350F"/>
                    </a:solidFill>
                    <a:latin typeface="Arial"/>
                  </a:rPr>
                  <a:t> and </a:t>
                </a:r>
                <a:r>
                  <a:rPr lang="en-IN" sz="2400">
                    <a:solidFill>
                      <a:srgbClr val="78350F"/>
                    </a:solidFill>
                    <a:latin typeface="Cambria Math" panose="02040503050406030204" pitchFamily="18" charset="0"/>
                  </a:rPr>
                  <a:t>$b$</a:t>
                </a:r>
                <a:r>
                  <a:rPr sz="2400" b="0">
                    <a:solidFill>
                      <a:srgbClr val="78350F"/>
                    </a:solidFill>
                    <a:latin typeface="Arial"/>
                  </a:rPr>
                  <a:t> are not needed individually.</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oMath>
                </a14:m>
                <a:r>
                  <a:rPr sz="2400" b="0">
                    <a:solidFill>
                      <a:srgbClr val="111827"/>
                    </a:solidFill>
                    <a:latin typeface="Arial"/>
                  </a:rPr>
                  <a:t> (the sum rose by 50 to give mean 16).</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changes by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3500</m:t>
                    </m:r>
                  </m:oMath>
                </a14:m>
                <a:r>
                  <a:rPr sz="2400" b="0">
                    <a:solidFill>
                      <a:srgbClr val="111827"/>
                    </a:solidFill>
                    <a:latin typeface="Arial"/>
                  </a:rPr>
                  <a:t>, so the new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11450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14950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Variance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299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43</m:t>
                    </m:r>
                  </m:oMath>
                </a14:m>
                <a:r>
                  <a:rPr sz="2400" b="0">
                    <a:solidFill>
                      <a:srgbClr val="111827"/>
                    </a:solidFill>
                    <a:latin typeface="Arial"/>
                  </a:rPr>
                  <a:t>, the same answer.</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$a+b=70$</a:t>
                </a:r>
                <a:r>
                  <a:rPr sz="2400" b="0">
                    <a:solidFill>
                      <a:srgbClr val="111827"/>
                    </a:solidFill>
                    <a:latin typeface="Arial"/>
                  </a:rPr>
                  <a:t> and </a:t>
                </a:r>
                <a:r>
                  <a:rPr lang="en-IN" sz="2400">
                    <a:solidFill>
                      <a:srgbClr val="111827"/>
                    </a:solidFill>
                    <a:latin typeface="Cambria Math" panose="02040503050406030204" pitchFamily="18" charset="0"/>
                  </a:rPr>
                  <a:t>$a-b=50$</a:t>
                </a:r>
                <a:r>
                  <a:rPr sz="2400" b="0">
                    <a:solidFill>
                      <a:srgbClr val="111827"/>
                    </a:solidFill>
                    <a:latin typeface="Arial"/>
                  </a:rPr>
                  <a:t> (the sum rose by 50 to give mean 16).</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 x^2$</a:t>
                </a:r>
                <a:r>
                  <a:rPr sz="2400" b="0">
                    <a:solidFill>
                      <a:srgbClr val="111827"/>
                    </a:solidFill>
                    <a:latin typeface="Arial"/>
                  </a:rPr>
                  <a:t> changes by </a:t>
                </a:r>
                <a:r>
                  <a:rPr lang="en-IN" sz="2400">
                    <a:solidFill>
                      <a:srgbClr val="111827"/>
                    </a:solidFill>
                    <a:latin typeface="Cambria Math" panose="02040503050406030204" pitchFamily="18" charset="0"/>
                  </a:rPr>
                  <a:t>$a^2-b^2=(a+b)(a-b)=70\times50=3500$</a:t>
                </a:r>
                <a:r>
                  <a:rPr sz="2400" b="0">
                    <a:solidFill>
                      <a:srgbClr val="111827"/>
                    </a:solidFill>
                    <a:latin typeface="Arial"/>
                  </a:rPr>
                  <a:t>, so the new </a:t>
                </a:r>
                <a:r>
                  <a:rPr lang="en-IN" sz="2400">
                    <a:solidFill>
                      <a:srgbClr val="111827"/>
                    </a:solidFill>
                    <a:latin typeface="Cambria Math" panose="02040503050406030204" pitchFamily="18" charset="0"/>
                  </a:rPr>
                  <a:t>$\sum x^2=11450+3500=14950$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Variance </a:t>
                </a:r>
                <a:r>
                  <a:rPr lang="en-IN" sz="2400">
                    <a:solidFill>
                      <a:srgbClr val="111827"/>
                    </a:solidFill>
                    <a:latin typeface="Cambria Math" panose="02040503050406030204" pitchFamily="18" charset="0"/>
                  </a:rPr>
                  <a:t>$=299-256=43$</a:t>
                </a:r>
                <a:r>
                  <a:rPr sz="2400" b="0">
                    <a:solidFill>
                      <a:srgbClr val="111827"/>
                    </a:solidFill>
                    <a:latin typeface="Arial"/>
                  </a:rPr>
                  <a:t>, the same answer.</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43</a:t>
            </a:r>
            <a:endParaRPr sz="2800">
              <a:solidFill>
                <a:srgbClr val="15803D"/>
              </a:solidFill>
            </a:endParaRP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Replacing </a:t>
                </a:r>
                <a14:m>
                  <m:oMath xmlns:m="http://schemas.openxmlformats.org/officeDocument/2006/math">
                    <m:r>
                      <a:rPr lang="en-IN" sz="2400" i="1">
                        <a:solidFill>
                          <a:srgbClr val="111827"/>
                        </a:solidFill>
                        <a:latin typeface="Cambria Math" panose="02040503050406030204" pitchFamily="18" charset="0"/>
                      </a:rPr>
                      <m:t>𝑏</m:t>
                    </m:r>
                  </m:oMath>
                </a14:m>
                <a:r>
                  <a:rPr sz="2400" b="0">
                    <a:solidFill>
                      <a:srgbClr val="111827"/>
                    </a:solidFill>
                    <a:latin typeface="Arial"/>
                  </a:rPr>
                  <a:t> by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When both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are given,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is their product; no need to find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Replacing </a:t>
                </a:r>
                <a:r>
                  <a:rPr lang="en-IN" sz="2400">
                    <a:solidFill>
                      <a:srgbClr val="111827"/>
                    </a:solidFill>
                    <a:latin typeface="Cambria Math" panose="02040503050406030204" pitchFamily="18" charset="0"/>
                  </a:rPr>
                  <a:t>$b$</a:t>
                </a:r>
                <a:r>
                  <a:rPr sz="2400" b="0">
                    <a:solidFill>
                      <a:srgbClr val="111827"/>
                    </a:solidFill>
                    <a:latin typeface="Arial"/>
                  </a:rPr>
                  <a:t> by </a:t>
                </a:r>
                <a:r>
                  <a:rPr lang="en-IN" sz="2400">
                    <a:solidFill>
                      <a:srgbClr val="111827"/>
                    </a:solidFill>
                    <a:latin typeface="Cambria Math" panose="02040503050406030204" pitchFamily="18" charset="0"/>
                  </a:rPr>
                  <a:t>$a$</a:t>
                </a:r>
                <a:r>
                  <a:rPr sz="2400" b="0">
                    <a:solidFill>
                      <a:srgbClr val="111827"/>
                    </a:solidFill>
                    <a:latin typeface="Arial"/>
                  </a:rPr>
                  <a:t>: </a:t>
                </a:r>
                <a:r>
                  <a:rPr lang="en-IN" sz="2400">
                    <a:solidFill>
                      <a:srgbClr val="111827"/>
                    </a:solidFill>
                    <a:latin typeface="Cambria Math" panose="02040503050406030204" pitchFamily="18" charset="0"/>
                  </a:rPr>
                  <a:t>$\sum x\to\sum x+(a-b)$</a:t>
                </a:r>
                <a:r>
                  <a:rPr sz="2400" b="0">
                    <a:solidFill>
                      <a:srgbClr val="111827"/>
                    </a:solidFill>
                    <a:latin typeface="Arial"/>
                  </a:rPr>
                  <a:t> and </a:t>
                </a:r>
                <a:r>
                  <a:rPr lang="en-IN" sz="2400">
                    <a:solidFill>
                      <a:srgbClr val="111827"/>
                    </a:solidFill>
                    <a:latin typeface="Cambria Math" panose="02040503050406030204" pitchFamily="18" charset="0"/>
                  </a:rPr>
                  <a:t>$\sum x^2\to\sum x^2+(a+b)(a-b)$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When both </a:t>
                </a:r>
                <a:r>
                  <a:rPr lang="en-IN" sz="2400">
                    <a:solidFill>
                      <a:srgbClr val="111827"/>
                    </a:solidFill>
                    <a:latin typeface="Cambria Math" panose="02040503050406030204" pitchFamily="18" charset="0"/>
                  </a:rPr>
                  <a:t>$a+b$</a:t>
                </a:r>
                <a:r>
                  <a:rPr sz="2400" b="0">
                    <a:solidFill>
                      <a:srgbClr val="111827"/>
                    </a:solidFill>
                    <a:latin typeface="Arial"/>
                  </a:rPr>
                  <a:t> and </a:t>
                </a:r>
                <a:r>
                  <a:rPr lang="en-IN" sz="2400">
                    <a:solidFill>
                      <a:srgbClr val="111827"/>
                    </a:solidFill>
                    <a:latin typeface="Cambria Math" panose="02040503050406030204" pitchFamily="18" charset="0"/>
                  </a:rPr>
                  <a:t>$a-b$</a:t>
                </a:r>
                <a:r>
                  <a:rPr sz="2400" b="0">
                    <a:solidFill>
                      <a:srgbClr val="111827"/>
                    </a:solidFill>
                    <a:latin typeface="Arial"/>
                  </a:rPr>
                  <a:t> are given, </a:t>
                </a:r>
                <a:r>
                  <a:rPr lang="en-IN" sz="2400">
                    <a:solidFill>
                      <a:srgbClr val="111827"/>
                    </a:solidFill>
                    <a:latin typeface="Cambria Math" panose="02040503050406030204" pitchFamily="18" charset="0"/>
                  </a:rPr>
                  <a:t>$a^2-b^2$</a:t>
                </a:r>
                <a:r>
                  <a:rPr sz="2400" b="0">
                    <a:solidFill>
                      <a:srgbClr val="111827"/>
                    </a:solidFill>
                    <a:latin typeface="Arial"/>
                  </a:rPr>
                  <a:t> is their product; no need to find </a:t>
                </a:r>
                <a:r>
                  <a:rPr lang="en-IN" sz="2400">
                    <a:solidFill>
                      <a:srgbClr val="111827"/>
                    </a:solidFill>
                    <a:latin typeface="Cambria Math" panose="02040503050406030204" pitchFamily="18" charset="0"/>
                  </a:rPr>
                  <a:t>$a,b$</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18135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mean and variance of the data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r>
                  <a:rPr sz="2400" b="0">
                    <a:solidFill>
                      <a:srgbClr val="111827"/>
                    </a:solidFill>
                    <a:latin typeface="Arial"/>
                  </a:rPr>
                  <a:t>, where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𝑦</m:t>
                    </m:r>
                  </m:oMath>
                </a14:m>
                <a:r>
                  <a:rPr sz="2400" b="0">
                    <a:solidFill>
                      <a:srgbClr val="111827"/>
                    </a:solidFill>
                    <a:latin typeface="Arial"/>
                  </a:rPr>
                  <a:t>, are 6 and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respectively. Then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is equal to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162   (B) 320   (C) 674   (D) 420</a:t>
                </a:r>
                <a:endParaRPr sz="2400">
                  <a:solidFill>
                    <a:srgbClr val="111827"/>
                  </a:solidFill>
                </a:endParaRPr>
              </a:p>
            </p:txBody>
          </p:sp>
        </mc:Choice>
        <mc:Fallback>
          <p:sp>
            <p:nvSpPr>
              <p:cNvPr id="4" name="Rounded Rectangle 3"/>
              <p:cNvSpPr/>
              <p:nvPr/>
            </p:nvSpPr>
            <p:spPr>
              <a:xfrm>
                <a:off x="731520" y="1280160"/>
                <a:ext cx="10725912" cy="218135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mean and variance of the data </a:t>
                </a:r>
                <a:r>
                  <a:rPr lang="en-IN" sz="2400">
                    <a:solidFill>
                      <a:srgbClr val="111827"/>
                    </a:solidFill>
                    <a:latin typeface="Cambria Math" panose="02040503050406030204" pitchFamily="18" charset="0"/>
                  </a:rPr>
                  <a:t>$4,5,6,6,7,8,x,y$</a:t>
                </a:r>
                <a:r>
                  <a:rPr sz="2400" b="0">
                    <a:solidFill>
                      <a:srgbClr val="111827"/>
                    </a:solidFill>
                    <a:latin typeface="Arial"/>
                  </a:rPr>
                  <a:t>, where </a:t>
                </a:r>
                <a:r>
                  <a:rPr lang="en-IN" sz="2400">
                    <a:solidFill>
                      <a:srgbClr val="111827"/>
                    </a:solidFill>
                    <a:latin typeface="Cambria Math" panose="02040503050406030204" pitchFamily="18" charset="0"/>
                  </a:rPr>
                  <a:t>$x&lt;y$</a:t>
                </a:r>
                <a:r>
                  <a:rPr sz="2400" b="0">
                    <a:solidFill>
                      <a:srgbClr val="111827"/>
                    </a:solidFill>
                    <a:latin typeface="Arial"/>
                  </a:rPr>
                  <a:t>, are 6 and </a:t>
                </a:r>
                <a:r>
                  <a:rPr lang="en-IN" sz="2400">
                    <a:solidFill>
                      <a:srgbClr val="111827"/>
                    </a:solidFill>
                    <a:latin typeface="Cambria Math" panose="02040503050406030204" pitchFamily="18" charset="0"/>
                  </a:rPr>
                  <a:t>$\frac{9}{4}$</a:t>
                </a:r>
                <a:r>
                  <a:rPr sz="2400" b="0">
                    <a:solidFill>
                      <a:srgbClr val="111827"/>
                    </a:solidFill>
                    <a:latin typeface="Arial"/>
                  </a:rPr>
                  <a:t> respectively. Then </a:t>
                </a:r>
                <a:r>
                  <a:rPr lang="en-IN" sz="2400">
                    <a:solidFill>
                      <a:srgbClr val="111827"/>
                    </a:solidFill>
                    <a:latin typeface="Cambria Math" panose="02040503050406030204" pitchFamily="18" charset="0"/>
                  </a:rPr>
                  <a:t>$x^4+y^2$</a:t>
                </a:r>
                <a:r>
                  <a:rPr sz="2400" b="0">
                    <a:solidFill>
                      <a:srgbClr val="111827"/>
                    </a:solidFill>
                    <a:latin typeface="Arial"/>
                  </a:rPr>
                  <a:t> is equal to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162   (B) 320   (C) 674   (D) 420</a:t>
                </a:r>
                <a:endParaRPr sz="2400">
                  <a:solidFill>
                    <a:srgbClr val="111827"/>
                  </a:solidFill>
                </a:endParaRPr>
              </a:p>
            </p:txBody>
          </p:sp>
        </mc:Fallback>
      </mc:AlternateContent>
      <p:sp>
        <p:nvSpPr>
          <p:cNvPr id="5" name="Rectangle 4"/>
          <p:cNvSpPr/>
          <p:nvPr/>
        </p:nvSpPr>
        <p:spPr>
          <a:xfrm>
            <a:off x="731520" y="3690111"/>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Finding two missing observations from mean and variance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Mean gives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12</m:t>
                    </m:r>
                  </m:oMath>
                </a14:m>
                <a:r>
                  <a:rPr sz="2400" b="0">
                    <a:solidFill>
                      <a:srgbClr val="78350F"/>
                    </a:solidFill>
                    <a:latin typeface="Arial"/>
                  </a:rPr>
                  <a:t>; variance gives </a:t>
                </a:r>
                <a14:m>
                  <m:oMath xmlns:m="http://schemas.openxmlformats.org/officeDocument/2006/math">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𝑦</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80</m:t>
                    </m:r>
                  </m:oMath>
                </a14:m>
                <a:r>
                  <a:rPr sz="2400" b="0">
                    <a:solidFill>
                      <a:srgbClr val="78350F"/>
                    </a:solidFill>
                    <a:latin typeface="Arial"/>
                  </a:rPr>
                  <a:t>; hence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8</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Mean gives </a:t>
                </a:r>
                <a:r>
                  <a:rPr lang="en-IN" sz="2400">
                    <a:solidFill>
                      <a:srgbClr val="78350F"/>
                    </a:solidFill>
                    <a:latin typeface="Cambria Math" panose="02040503050406030204" pitchFamily="18" charset="0"/>
                  </a:rPr>
                  <a:t>$x+y=12$</a:t>
                </a:r>
                <a:r>
                  <a:rPr sz="2400" b="0">
                    <a:solidFill>
                      <a:srgbClr val="78350F"/>
                    </a:solidFill>
                    <a:latin typeface="Arial"/>
                  </a:rPr>
                  <a:t>; variance gives </a:t>
                </a:r>
                <a:r>
                  <a:rPr lang="en-IN" sz="2400">
                    <a:solidFill>
                      <a:srgbClr val="78350F"/>
                    </a:solidFill>
                    <a:latin typeface="Cambria Math" panose="02040503050406030204" pitchFamily="18" charset="0"/>
                  </a:rPr>
                  <a:t>$x^2+y^2=80$</a:t>
                </a:r>
                <a:r>
                  <a:rPr sz="2400" b="0">
                    <a:solidFill>
                      <a:srgbClr val="78350F"/>
                    </a:solidFill>
                    <a:latin typeface="Arial"/>
                  </a:rPr>
                  <a:t>; hence </a:t>
                </a:r>
                <a:r>
                  <a:rPr lang="en-IN" sz="2400">
                    <a:solidFill>
                      <a:srgbClr val="78350F"/>
                    </a:solidFill>
                    <a:latin typeface="Cambria Math" panose="02040503050406030204" pitchFamily="18" charset="0"/>
                  </a:rPr>
                  <a:t>$x=4,y=8$</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Mean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8</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Variance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64</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8</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226</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8</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153</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306</m:t>
                        </m:r>
                      </m:num>
                      <m:den>
                        <m:r>
                          <a:rPr lang="en-IN" sz="2400" i="1">
                            <a:solidFill>
                              <a:srgbClr val="111827"/>
                            </a:solidFill>
                            <a:latin typeface="Cambria Math" panose="02040503050406030204" pitchFamily="18" charset="0"/>
                          </a:rPr>
                          <m:t>8</m:t>
                        </m:r>
                      </m:den>
                    </m:f>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Mean </a:t>
                </a:r>
                <a:r>
                  <a:rPr lang="en-IN" sz="2400">
                    <a:solidFill>
                      <a:srgbClr val="111827"/>
                    </a:solidFill>
                    <a:latin typeface="Cambria Math" panose="02040503050406030204" pitchFamily="18" charset="0"/>
                  </a:rPr>
                  <a:t>$=\frac{36+x+y}{8}=6$</a:t>
                </a:r>
                <a:r>
                  <a:rPr sz="2400" b="0">
                    <a:solidFill>
                      <a:srgbClr val="111827"/>
                    </a:solidFill>
                    <a:latin typeface="Arial"/>
                  </a:rPr>
                  <a:t>, so </a:t>
                </a:r>
                <a:r>
                  <a:rPr lang="en-IN" sz="2400">
                    <a:solidFill>
                      <a:srgbClr val="111827"/>
                    </a:solidFill>
                    <a:latin typeface="Cambria Math" panose="02040503050406030204" pitchFamily="18" charset="0"/>
                  </a:rPr>
                  <a:t>$x+y=12$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Variance </a:t>
                </a:r>
                <a:r>
                  <a:rPr lang="en-IN" sz="2400">
                    <a:solidFill>
                      <a:srgbClr val="111827"/>
                    </a:solidFill>
                    <a:latin typeface="Cambria Math" panose="02040503050406030204" pitchFamily="18" charset="0"/>
                  </a:rPr>
                  <a:t>$=\frac{16+25+36+36+49+64+x^2+y^2}{8}-36=\frac94$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$\frac{226+x^2+y^2}{8}=\frac{153}{4}=\frac{306}{8}$</a:t>
                </a:r>
                <a:r>
                  <a:rPr sz="2400" b="0">
                    <a:solidFill>
                      <a:srgbClr val="111827"/>
                    </a:solidFill>
                    <a:latin typeface="Arial"/>
                  </a:rPr>
                  <a:t>, so </a:t>
                </a:r>
                <a:r>
                  <a:rPr lang="en-IN" sz="2400">
                    <a:solidFill>
                      <a:srgbClr val="111827"/>
                    </a:solidFill>
                    <a:latin typeface="Cambria Math" panose="02040503050406030204" pitchFamily="18" charset="0"/>
                  </a:rPr>
                  <a:t>$x^2+y^2=80$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144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80</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r>
                  <a:rPr sz="2400" b="0">
                    <a:solidFill>
                      <a:srgbClr val="111827"/>
                    </a:solidFill>
                    <a:latin typeface="Arial"/>
                  </a:rPr>
                  <a:t> are roots of </a:t>
                </a:r>
                <a14:m>
                  <m:oMath xmlns:m="http://schemas.openxmlformats.org/officeDocument/2006/math">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𝑦</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320</m:t>
                    </m:r>
                  </m:oMath>
                </a14:m>
                <a:r>
                  <a:rPr sz="2400" b="0">
                    <a:solidFill>
                      <a:srgbClr val="111827"/>
                    </a:solidFill>
                    <a:latin typeface="Arial"/>
                  </a:rPr>
                  <a:t>, option (B).</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$xy=\frac{144-80}{2}=32$</a:t>
                </a:r>
                <a:r>
                  <a:rPr sz="2400" b="0">
                    <a:solidFill>
                      <a:srgbClr val="111827"/>
                    </a:solidFill>
                    <a:latin typeface="Arial"/>
                  </a:rPr>
                  <a:t>, so </a:t>
                </a:r>
                <a:r>
                  <a:rPr lang="en-IN" sz="2400">
                    <a:solidFill>
                      <a:srgbClr val="111827"/>
                    </a:solidFill>
                    <a:latin typeface="Cambria Math" panose="02040503050406030204" pitchFamily="18" charset="0"/>
                  </a:rPr>
                  <a:t>$x,y$</a:t>
                </a:r>
                <a:r>
                  <a:rPr sz="2400" b="0">
                    <a:solidFill>
                      <a:srgbClr val="111827"/>
                    </a:solidFill>
                    <a:latin typeface="Arial"/>
                  </a:rPr>
                  <a:t> are roots of </a:t>
                </a:r>
                <a:r>
                  <a:rPr lang="en-IN" sz="2400">
                    <a:solidFill>
                      <a:srgbClr val="111827"/>
                    </a:solidFill>
                    <a:latin typeface="Cambria Math" panose="02040503050406030204" pitchFamily="18" charset="0"/>
                  </a:rPr>
                  <a:t>$t^2-12t+32=0$</a:t>
                </a:r>
                <a:r>
                  <a:rPr sz="2400" b="0">
                    <a:solidFill>
                      <a:srgbClr val="111827"/>
                    </a:solidFill>
                    <a:latin typeface="Arial"/>
                  </a:rPr>
                  <a:t>: </a:t>
                </a:r>
                <a:r>
                  <a:rPr lang="en-IN" sz="2400">
                    <a:solidFill>
                      <a:srgbClr val="111827"/>
                    </a:solidFill>
                    <a:latin typeface="Cambria Math" panose="02040503050406030204" pitchFamily="18" charset="0"/>
                  </a:rPr>
                  <a:t>$t=4,8$</a:t>
                </a:r>
                <a:r>
                  <a:rPr sz="2400" b="0">
                    <a:solidFill>
                      <a:srgbClr val="111827"/>
                    </a:solidFill>
                    <a:latin typeface="Arial"/>
                  </a:rPr>
                  <a:t>; with </a:t>
                </a:r>
                <a:r>
                  <a:rPr lang="en-IN" sz="2400">
                    <a:solidFill>
                      <a:srgbClr val="111827"/>
                    </a:solidFill>
                    <a:latin typeface="Cambria Math" panose="02040503050406030204" pitchFamily="18" charset="0"/>
                  </a:rPr>
                  <a:t>$x&lt;y$</a:t>
                </a:r>
                <a:r>
                  <a:rPr sz="2400" b="0">
                    <a:solidFill>
                      <a:srgbClr val="111827"/>
                    </a:solidFill>
                    <a:latin typeface="Arial"/>
                  </a:rPr>
                  <a:t>, </a:t>
                </a:r>
                <a:r>
                  <a:rPr lang="en-IN" sz="2400">
                    <a:solidFill>
                      <a:srgbClr val="111827"/>
                    </a:solidFill>
                    <a:latin typeface="Cambria Math" panose="02040503050406030204" pitchFamily="18" charset="0"/>
                  </a:rPr>
                  <a:t>$x=4$</a:t>
                </a:r>
                <a:r>
                  <a:rPr sz="2400" b="0">
                    <a:solidFill>
                      <a:srgbClr val="111827"/>
                    </a:solidFill>
                    <a:latin typeface="Arial"/>
                  </a:rPr>
                  <a:t>, </a:t>
                </a:r>
                <a:r>
                  <a:rPr lang="en-IN" sz="2400">
                    <a:solidFill>
                      <a:srgbClr val="111827"/>
                    </a:solidFill>
                    <a:latin typeface="Cambria Math" panose="02040503050406030204" pitchFamily="18" charset="0"/>
                  </a:rPr>
                  <a:t>$y=8$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$x^4+y^2=256+64=320$</a:t>
                </a:r>
                <a:r>
                  <a:rPr sz="2400" b="0">
                    <a:solidFill>
                      <a:srgbClr val="111827"/>
                    </a:solidFill>
                    <a:latin typeface="Arial"/>
                  </a:rPr>
                  <a:t>, option (B).</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320</a:t>
            </a:r>
            <a:endParaRPr sz="2800">
              <a:solidFill>
                <a:srgbClr val="15803D"/>
              </a:solidFill>
            </a:endParaRP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p:sp>
        <p:nvSpPr>
          <p:cNvPr id="5" name="Rounded Rectangle 4"/>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Deviations from the mean 6.</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Known deviations: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(sum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so the unknowns' deviations satisfy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oMath>
                </a14:m>
                <a:r>
                  <a:rPr sz="2400" b="0">
                    <a:solidFill>
                      <a:srgbClr val="111827"/>
                    </a:solidFill>
                    <a:latin typeface="Arial"/>
                  </a:rPr>
                  <a:t>; known squares sum to </a:t>
                </a:r>
                <a14:m>
                  <m:oMath xmlns:m="http://schemas.openxmlformats.org/officeDocument/2006/math">
                    <m:r>
                      <a:rPr lang="en-IN" sz="2400" i="1">
                        <a:solidFill>
                          <a:srgbClr val="111827"/>
                        </a:solidFill>
                        <a:latin typeface="Cambria Math" panose="02040503050406030204" pitchFamily="18" charset="0"/>
                      </a:rPr>
                      <m:t>10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𝑢</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320</m:t>
                    </m:r>
                  </m:oMath>
                </a14:m>
                <a:r>
                  <a:rPr sz="2400" b="0">
                    <a:solidFill>
                      <a:srgbClr val="111827"/>
                    </a:solidFill>
                    <a:latin typeface="Arial"/>
                  </a:rPr>
                  <a:t>, the same answer.</a:t>
                </a:r>
                <a:endParaRPr sz="2400">
                  <a:solidFill>
                    <a:srgbClr val="111827"/>
                  </a:solidFill>
                </a:endParaRPr>
              </a:p>
            </p:txBody>
          </p:sp>
        </mc:Choice>
        <mc:Fallback>
          <p:sp>
            <p:nvSpPr>
              <p:cNvPr id="6" name="Rectangle 5"/>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Known deviations: </a:t>
                </a:r>
                <a:r>
                  <a:rPr lang="en-IN" sz="2400">
                    <a:solidFill>
                      <a:srgbClr val="111827"/>
                    </a:solidFill>
                    <a:latin typeface="Cambria Math" panose="02040503050406030204" pitchFamily="18" charset="0"/>
                  </a:rPr>
                  <a:t>$-2,-1,0,0,1,2$</a:t>
                </a:r>
                <a:r>
                  <a:rPr sz="2400" b="0">
                    <a:solidFill>
                      <a:srgbClr val="111827"/>
                    </a:solidFill>
                    <a:latin typeface="Arial"/>
                  </a:rPr>
                  <a:t> (sum </a:t>
                </a:r>
                <a:r>
                  <a:rPr lang="en-IN" sz="2400">
                    <a:solidFill>
                      <a:srgbClr val="111827"/>
                    </a:solidFill>
                    <a:latin typeface="Cambria Math" panose="02040503050406030204" pitchFamily="18" charset="0"/>
                  </a:rPr>
                  <a:t>$0$</a:t>
                </a:r>
                <a:r>
                  <a:rPr sz="2400" b="0">
                    <a:solidFill>
                      <a:srgbClr val="111827"/>
                    </a:solidFill>
                    <a:latin typeface="Arial"/>
                  </a:rPr>
                  <a:t>), so the unknowns' deviations satisfy </a:t>
                </a:r>
                <a:r>
                  <a:rPr lang="en-IN" sz="2400">
                    <a:solidFill>
                      <a:srgbClr val="111827"/>
                    </a:solidFill>
                    <a:latin typeface="Cambria Math" panose="02040503050406030204" pitchFamily="18" charset="0"/>
                  </a:rPr>
                  <a:t>$u+v=0$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 d^2=8\times\frac94=18$</a:t>
                </a:r>
                <a:r>
                  <a:rPr sz="2400" b="0">
                    <a:solidFill>
                      <a:srgbClr val="111827"/>
                    </a:solidFill>
                    <a:latin typeface="Arial"/>
                  </a:rPr>
                  <a:t>; known squares sum to </a:t>
                </a:r>
                <a:r>
                  <a:rPr lang="en-IN" sz="2400">
                    <a:solidFill>
                      <a:srgbClr val="111827"/>
                    </a:solidFill>
                    <a:latin typeface="Cambria Math" panose="02040503050406030204" pitchFamily="18" charset="0"/>
                  </a:rPr>
                  <a:t>$10$</a:t>
                </a:r>
                <a:r>
                  <a:rPr sz="2400" b="0">
                    <a:solidFill>
                      <a:srgbClr val="111827"/>
                    </a:solidFill>
                    <a:latin typeface="Arial"/>
                  </a:rPr>
                  <a:t>, so </a:t>
                </a:r>
                <a:r>
                  <a:rPr lang="en-IN" sz="2400">
                    <a:solidFill>
                      <a:srgbClr val="111827"/>
                    </a:solidFill>
                    <a:latin typeface="Cambria Math" panose="02040503050406030204" pitchFamily="18" charset="0"/>
                  </a:rPr>
                  <a:t>$2u^2=8$</a:t>
                </a:r>
                <a:r>
                  <a:rPr sz="2400" b="0">
                    <a:solidFill>
                      <a:srgbClr val="111827"/>
                    </a:solidFill>
                    <a:latin typeface="Arial"/>
                  </a:rPr>
                  <a:t>, </a:t>
                </a:r>
                <a:r>
                  <a:rPr lang="en-IN" sz="2400">
                    <a:solidFill>
                      <a:srgbClr val="111827"/>
                    </a:solidFill>
                    <a:latin typeface="Cambria Math" panose="02040503050406030204" pitchFamily="18" charset="0"/>
                  </a:rPr>
                  <a:t>$u=\pm2$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$x=4$</a:t>
                </a:r>
                <a:r>
                  <a:rPr sz="2400" b="0">
                    <a:solidFill>
                      <a:srgbClr val="111827"/>
                    </a:solidFill>
                    <a:latin typeface="Arial"/>
                  </a:rPr>
                  <a:t>, </a:t>
                </a:r>
                <a:r>
                  <a:rPr lang="en-IN" sz="2400">
                    <a:solidFill>
                      <a:srgbClr val="111827"/>
                    </a:solidFill>
                    <a:latin typeface="Cambria Math" panose="02040503050406030204" pitchFamily="18" charset="0"/>
                  </a:rPr>
                  <a:t>$y=8$</a:t>
                </a:r>
                <a:r>
                  <a:rPr sz="2400" b="0">
                    <a:solidFill>
                      <a:srgbClr val="111827"/>
                    </a:solidFill>
                    <a:latin typeface="Arial"/>
                  </a:rPr>
                  <a:t>, and </a:t>
                </a:r>
                <a:r>
                  <a:rPr lang="en-IN" sz="2400">
                    <a:solidFill>
                      <a:srgbClr val="111827"/>
                    </a:solidFill>
                    <a:latin typeface="Cambria Math" panose="02040503050406030204" pitchFamily="18" charset="0"/>
                  </a:rPr>
                  <a:t>$x^4+y^2=320$</a:t>
                </a:r>
                <a:r>
                  <a:rPr sz="2400" b="0">
                    <a:solidFill>
                      <a:srgbClr val="111827"/>
                    </a:solidFill>
                    <a:latin typeface="Arial"/>
                  </a:rPr>
                  <a:t>, the same answer.</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320</a:t>
            </a:r>
            <a:endParaRPr sz="2800">
              <a:solidFill>
                <a:srgbClr val="15803D"/>
              </a:solidFill>
            </a:endParaRP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the given known deviations already sum to 0 the two unknown deviations are negatives of each other, so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Always apply the ordering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𝑦</m:t>
                    </m:r>
                  </m:oMath>
                </a14:m>
                <a:r>
                  <a:rPr sz="2400" b="0">
                    <a:solidFill>
                      <a:srgbClr val="111827"/>
                    </a:solidFill>
                    <a:latin typeface="Arial"/>
                  </a:rPr>
                  <a:t>) before evaluating a non-symmetric expression such as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the given known deviations already sum to 0 the two unknown deviations are negatives of each other, so </a:t>
                </a:r>
                <a:r>
                  <a:rPr lang="en-IN" sz="2400">
                    <a:solidFill>
                      <a:srgbClr val="111827"/>
                    </a:solidFill>
                    <a:latin typeface="Cambria Math" panose="02040503050406030204" pitchFamily="18" charset="0"/>
                  </a:rPr>
                  <a:t>$x,y=\bar{x}\mp u$</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Always apply the ordering (</a:t>
                </a:r>
                <a:r>
                  <a:rPr lang="en-IN" sz="2400">
                    <a:solidFill>
                      <a:srgbClr val="111827"/>
                    </a:solidFill>
                    <a:latin typeface="Cambria Math" panose="02040503050406030204" pitchFamily="18" charset="0"/>
                  </a:rPr>
                  <a:t>$x&lt;y$</a:t>
                </a:r>
                <a:r>
                  <a:rPr sz="2400" b="0">
                    <a:solidFill>
                      <a:srgbClr val="111827"/>
                    </a:solidFill>
                    <a:latin typeface="Arial"/>
                  </a:rPr>
                  <a:t>) before evaluating a non-symmetric expression such as </a:t>
                </a:r>
                <a:r>
                  <a:rPr lang="en-IN" sz="2400">
                    <a:solidFill>
                      <a:srgbClr val="111827"/>
                    </a:solidFill>
                    <a:latin typeface="Cambria Math" panose="02040503050406030204" pitchFamily="18" charset="0"/>
                  </a:rPr>
                  <a:t>$x^4+y^2$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77266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the mean and the variance of 5 observations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5</m:t>
                        </m:r>
                      </m:sub>
                    </m:sSub>
                  </m:oMath>
                </a14:m>
                <a:r>
                  <a:rPr sz="2400" b="0">
                    <a:solidFill>
                      <a:srgbClr val="111827"/>
                    </a:solidFill>
                    <a:latin typeface="Arial"/>
                  </a:rPr>
                  <a:t> be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24</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 and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194</m:t>
                        </m:r>
                      </m:num>
                      <m:den>
                        <m:r>
                          <a:rPr lang="en-IN" sz="2400" i="1">
                            <a:solidFill>
                              <a:srgbClr val="111827"/>
                            </a:solidFill>
                            <a:latin typeface="Cambria Math" panose="02040503050406030204" pitchFamily="18" charset="0"/>
                          </a:rPr>
                          <m:t>25</m:t>
                        </m:r>
                      </m:den>
                    </m:f>
                  </m:oMath>
                </a14:m>
                <a:r>
                  <a:rPr sz="2400" b="0">
                    <a:solidFill>
                      <a:srgbClr val="111827"/>
                    </a:solidFill>
                    <a:latin typeface="Arial"/>
                  </a:rPr>
                  <a:t> respectively. If the mean and variance of the first 4 observations are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respectively, then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5</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equal to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13   (B) 15   (C) 17   (D) 18</a:t>
                </a:r>
                <a:endParaRPr sz="2400">
                  <a:solidFill>
                    <a:srgbClr val="111827"/>
                  </a:solidFill>
                </a:endParaRPr>
              </a:p>
            </p:txBody>
          </p:sp>
        </mc:Choice>
        <mc:Fallback>
          <p:sp>
            <p:nvSpPr>
              <p:cNvPr id="4" name="Rounded Rectangle 3"/>
              <p:cNvSpPr/>
              <p:nvPr/>
            </p:nvSpPr>
            <p:spPr>
              <a:xfrm>
                <a:off x="731520" y="1280160"/>
                <a:ext cx="10725912" cy="277266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the mean and the variance of 5 observations </a:t>
                </a:r>
                <a:r>
                  <a:rPr lang="en-IN" sz="2400">
                    <a:solidFill>
                      <a:srgbClr val="111827"/>
                    </a:solidFill>
                    <a:latin typeface="Cambria Math" panose="02040503050406030204" pitchFamily="18" charset="0"/>
                  </a:rPr>
                  <a:t>$x_1,x_2,x_3,x_4,x_5$</a:t>
                </a:r>
                <a:r>
                  <a:rPr sz="2400" b="0">
                    <a:solidFill>
                      <a:srgbClr val="111827"/>
                    </a:solidFill>
                    <a:latin typeface="Arial"/>
                  </a:rPr>
                  <a:t> be </a:t>
                </a:r>
                <a:r>
                  <a:rPr lang="en-IN" sz="2400">
                    <a:solidFill>
                      <a:srgbClr val="111827"/>
                    </a:solidFill>
                    <a:latin typeface="Cambria Math" panose="02040503050406030204" pitchFamily="18" charset="0"/>
                  </a:rPr>
                  <a:t>$\frac{24}{5}$</a:t>
                </a:r>
                <a:r>
                  <a:rPr sz="2400" b="0">
                    <a:solidFill>
                      <a:srgbClr val="111827"/>
                    </a:solidFill>
                    <a:latin typeface="Arial"/>
                  </a:rPr>
                  <a:t> and </a:t>
                </a:r>
                <a:r>
                  <a:rPr lang="en-IN" sz="2400">
                    <a:solidFill>
                      <a:srgbClr val="111827"/>
                    </a:solidFill>
                    <a:latin typeface="Cambria Math" panose="02040503050406030204" pitchFamily="18" charset="0"/>
                  </a:rPr>
                  <a:t>$\frac{194}{25}$</a:t>
                </a:r>
                <a:r>
                  <a:rPr sz="2400" b="0">
                    <a:solidFill>
                      <a:srgbClr val="111827"/>
                    </a:solidFill>
                    <a:latin typeface="Arial"/>
                  </a:rPr>
                  <a:t> respectively. If the mean and variance of the first 4 observations are </a:t>
                </a:r>
                <a:r>
                  <a:rPr lang="en-IN" sz="2400">
                    <a:solidFill>
                      <a:srgbClr val="111827"/>
                    </a:solidFill>
                    <a:latin typeface="Cambria Math" panose="02040503050406030204" pitchFamily="18" charset="0"/>
                  </a:rPr>
                  <a:t>$\frac{7}{2}$</a:t>
                </a:r>
                <a:r>
                  <a:rPr sz="2400" b="0">
                    <a:solidFill>
                      <a:srgbClr val="111827"/>
                    </a:solidFill>
                    <a:latin typeface="Arial"/>
                  </a:rPr>
                  <a:t> and </a:t>
                </a:r>
                <a:r>
                  <a:rPr lang="en-IN" sz="2400">
                    <a:solidFill>
                      <a:srgbClr val="111827"/>
                    </a:solidFill>
                    <a:latin typeface="Cambria Math" panose="02040503050406030204" pitchFamily="18" charset="0"/>
                  </a:rPr>
                  <a:t>$a$</a:t>
                </a:r>
                <a:r>
                  <a:rPr sz="2400" b="0">
                    <a:solidFill>
                      <a:srgbClr val="111827"/>
                    </a:solidFill>
                    <a:latin typeface="Arial"/>
                  </a:rPr>
                  <a:t> respectively, then </a:t>
                </a:r>
                <a:r>
                  <a:rPr lang="en-IN" sz="2400">
                    <a:solidFill>
                      <a:srgbClr val="111827"/>
                    </a:solidFill>
                    <a:latin typeface="Cambria Math" panose="02040503050406030204" pitchFamily="18" charset="0"/>
                  </a:rPr>
                  <a:t>$(4a+x_5)$</a:t>
                </a:r>
                <a:r>
                  <a:rPr sz="2400" b="0">
                    <a:solidFill>
                      <a:srgbClr val="111827"/>
                    </a:solidFill>
                    <a:latin typeface="Arial"/>
                  </a:rPr>
                  <a:t> is equal to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13   (B) 15   (C) 17   (D) 18</a:t>
                </a:r>
                <a:endParaRPr sz="2400">
                  <a:solidFill>
                    <a:srgbClr val="111827"/>
                  </a:solidFill>
                </a:endParaRPr>
              </a:p>
            </p:txBody>
          </p:sp>
        </mc:Fallback>
      </mc:AlternateContent>
      <p:sp>
        <p:nvSpPr>
          <p:cNvPr id="5" name="Rectangle 4"/>
          <p:cNvSpPr/>
          <p:nvPr/>
        </p:nvSpPr>
        <p:spPr>
          <a:xfrm>
            <a:off x="731520" y="4281424"/>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Mean and variance after adding one observation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Sums give </a:t>
                </a:r>
                <a14:m>
                  <m:oMath xmlns:m="http://schemas.openxmlformats.org/officeDocument/2006/math">
                    <m:sSub>
                      <m:e>
                        <m:r>
                          <a:rPr lang="en-IN" sz="2400" i="1">
                            <a:solidFill>
                              <a:srgbClr val="78350F"/>
                            </a:solidFill>
                            <a:latin typeface="Cambria Math" panose="02040503050406030204" pitchFamily="18" charset="0"/>
                          </a:rPr>
                          <m:t>𝑥</m:t>
                        </m:r>
                      </m:e>
                      <m:sub>
                        <m:r>
                          <a:rPr lang="en-IN" sz="2400" i="1">
                            <a:solidFill>
                              <a:srgbClr val="78350F"/>
                            </a:solidFill>
                            <a:latin typeface="Cambria Math" panose="02040503050406030204" pitchFamily="18" charset="0"/>
                          </a:rPr>
                          <m:t>5</m:t>
                        </m:r>
                      </m:sub>
                    </m:sSub>
                  </m:oMath>
                </a14:m>
                <a:r>
                  <a:rPr sz="2400" b="0">
                    <a:solidFill>
                      <a:srgbClr val="78350F"/>
                    </a:solidFill>
                    <a:latin typeface="Arial"/>
                  </a:rPr>
                  <a:t>; sums of squares give </a:t>
                </a:r>
                <a14:m>
                  <m:oMath xmlns:m="http://schemas.openxmlformats.org/officeDocument/2006/math">
                    <m:r>
                      <a:rPr lang="en-IN" sz="2400" i="1">
                        <a:solidFill>
                          <a:srgbClr val="78350F"/>
                        </a:solidFill>
                        <a:latin typeface="Cambria Math" panose="02040503050406030204" pitchFamily="18" charset="0"/>
                      </a:rPr>
                      <m:t>4</m:t>
                    </m:r>
                    <m:r>
                      <a:rPr lang="en-IN" sz="2400" i="1">
                        <a:solidFill>
                          <a:srgbClr val="78350F"/>
                        </a:solidFill>
                        <a:latin typeface="Cambria Math" panose="02040503050406030204" pitchFamily="18" charset="0"/>
                      </a:rPr>
                      <m:t>𝑎</m:t>
                    </m:r>
                  </m:oMath>
                </a14:m>
                <a:r>
                  <a:rPr sz="2400" b="0">
                    <a:solidFill>
                      <a:srgbClr val="78350F"/>
                    </a:solidFill>
                    <a:latin typeface="Arial"/>
                  </a:rPr>
                  <a:t> (the variance of the first four times 4).</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Sums give </a:t>
                </a:r>
                <a:r>
                  <a:rPr lang="en-IN" sz="2400">
                    <a:solidFill>
                      <a:srgbClr val="78350F"/>
                    </a:solidFill>
                    <a:latin typeface="Cambria Math" panose="02040503050406030204" pitchFamily="18" charset="0"/>
                  </a:rPr>
                  <a:t>$x_5$</a:t>
                </a:r>
                <a:r>
                  <a:rPr sz="2400" b="0">
                    <a:solidFill>
                      <a:srgbClr val="78350F"/>
                    </a:solidFill>
                    <a:latin typeface="Arial"/>
                  </a:rPr>
                  <a:t>; sums of squares give </a:t>
                </a:r>
                <a:r>
                  <a:rPr lang="en-IN" sz="2400">
                    <a:solidFill>
                      <a:srgbClr val="78350F"/>
                    </a:solidFill>
                    <a:latin typeface="Cambria Math" panose="02040503050406030204" pitchFamily="18" charset="0"/>
                  </a:rPr>
                  <a:t>$4a$</a:t>
                </a:r>
                <a:r>
                  <a:rPr sz="2400" b="0">
                    <a:solidFill>
                      <a:srgbClr val="78350F"/>
                    </a:solidFill>
                    <a:latin typeface="Arial"/>
                  </a:rPr>
                  <a:t> (the variance of the first four times 4).</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Mean of five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24</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 so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5</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Mean of first four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so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5</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5</m:t>
                        </m:r>
                      </m:sup>
                      <m:e>
                        <m:sSubSup>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2</m:t>
                            </m:r>
                          </m:sup>
                        </m:sSubSup>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194</m:t>
                            </m:r>
                          </m:num>
                          <m:den>
                            <m:r>
                              <a:rPr lang="en-IN" sz="2400" i="1">
                                <a:solidFill>
                                  <a:srgbClr val="111827"/>
                                </a:solidFill>
                                <a:latin typeface="Cambria Math" panose="02040503050406030204" pitchFamily="18" charset="0"/>
                              </a:rPr>
                              <m:t>25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576</m:t>
                            </m:r>
                          </m:num>
                          <m:den>
                            <m:r>
                              <a:rPr lang="en-IN" sz="2400" i="1">
                                <a:solidFill>
                                  <a:srgbClr val="111827"/>
                                </a:solidFill>
                                <a:latin typeface="Cambria Math" panose="02040503050406030204" pitchFamily="18" charset="0"/>
                              </a:rPr>
                              <m:t>25</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154</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Mean of five </a:t>
                </a:r>
                <a:r>
                  <a:rPr lang="en-IN" sz="2400">
                    <a:solidFill>
                      <a:srgbClr val="111827"/>
                    </a:solidFill>
                    <a:latin typeface="Cambria Math" panose="02040503050406030204" pitchFamily="18" charset="0"/>
                  </a:rPr>
                  <a:t>$=\frac{24}{5}$</a:t>
                </a:r>
                <a:r>
                  <a:rPr sz="2400" b="0">
                    <a:solidFill>
                      <a:srgbClr val="111827"/>
                    </a:solidFill>
                    <a:latin typeface="Arial"/>
                  </a:rPr>
                  <a:t>, so </a:t>
                </a:r>
                <a:r>
                  <a:rPr lang="en-IN" sz="2400">
                    <a:solidFill>
                      <a:srgbClr val="111827"/>
                    </a:solidFill>
                    <a:latin typeface="Cambria Math" panose="02040503050406030204" pitchFamily="18" charset="0"/>
                  </a:rPr>
                  <a:t>$x_1+\cdots+x_5=24$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Mean of first four </a:t>
                </a:r>
                <a:r>
                  <a:rPr lang="en-IN" sz="2400">
                    <a:solidFill>
                      <a:srgbClr val="111827"/>
                    </a:solidFill>
                    <a:latin typeface="Cambria Math" panose="02040503050406030204" pitchFamily="18" charset="0"/>
                  </a:rPr>
                  <a:t>$=\frac72$</a:t>
                </a:r>
                <a:r>
                  <a:rPr sz="2400" b="0">
                    <a:solidFill>
                      <a:srgbClr val="111827"/>
                    </a:solidFill>
                    <a:latin typeface="Arial"/>
                  </a:rPr>
                  <a:t>, so </a:t>
                </a:r>
                <a:r>
                  <a:rPr lang="en-IN" sz="2400">
                    <a:solidFill>
                      <a:srgbClr val="111827"/>
                    </a:solidFill>
                    <a:latin typeface="Cambria Math" panose="02040503050406030204" pitchFamily="18" charset="0"/>
                  </a:rPr>
                  <a:t>$x_1+\cdots+x_4=14$</a:t>
                </a:r>
                <a:r>
                  <a:rPr sz="2400" b="0">
                    <a:solidFill>
                      <a:srgbClr val="111827"/>
                    </a:solidFill>
                    <a:latin typeface="Arial"/>
                  </a:rPr>
                  <a:t> and </a:t>
                </a:r>
                <a:r>
                  <a:rPr lang="en-IN" sz="2400">
                    <a:solidFill>
                      <a:srgbClr val="111827"/>
                    </a:solidFill>
                    <a:latin typeface="Cambria Math" panose="02040503050406030204" pitchFamily="18" charset="0"/>
                  </a:rPr>
                  <a:t>$x_5=24-14=10$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$\sum_{i=1}^{5}x_i^2=5\left(\frac{194}{25}+\frac{576}{25}\right)=154$</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4</m:t>
                        </m:r>
                      </m:sup>
                      <m:e>
                        <m:sSubSup>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2</m:t>
                            </m:r>
                          </m:sup>
                        </m:sSubSup>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154</m:t>
                    </m:r>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5</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Variance of first four: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54</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2</m:t>
                                </m:r>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49</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5</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option (B).</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$\sum_{i=1}^{4}x_i^2=154-x_5^2=154-100=54$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Variance of first four: </a:t>
                </a:r>
                <a:r>
                  <a:rPr lang="en-IN" sz="2400">
                    <a:solidFill>
                      <a:srgbClr val="111827"/>
                    </a:solidFill>
                    <a:latin typeface="Cambria Math" panose="02040503050406030204" pitchFamily="18" charset="0"/>
                  </a:rPr>
                  <a:t>$a=\frac{54}{4}-\left(\frac72\right)^2=\frac{54-49}{4}=\frac54$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$4a+x_5=5+10=15$</a:t>
                </a:r>
                <a:r>
                  <a:rPr sz="2400" b="0">
                    <a:solidFill>
                      <a:srgbClr val="111827"/>
                    </a:solidFill>
                    <a:latin typeface="Arial"/>
                  </a:rPr>
                  <a:t>, option (B).</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15</a:t>
            </a:r>
            <a:endParaRPr sz="2800">
              <a:solidFill>
                <a:srgbClr val="15803D"/>
              </a:solidFill>
            </a:endParaRP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Update formula for adding one observation to a group of </a:t>
                </a:r>
                <a14:m>
                  <m:oMath xmlns:m="http://schemas.openxmlformats.org/officeDocument/2006/math">
                    <m:r>
                      <a:rPr lang="en-IN" sz="2400" i="1">
                        <a:solidFill>
                          <a:srgbClr val="78350F"/>
                        </a:solidFill>
                        <a:latin typeface="Cambria Math" panose="02040503050406030204" pitchFamily="18" charset="0"/>
                      </a:rPr>
                      <m:t>𝑚</m:t>
                    </m:r>
                  </m:oMath>
                </a14:m>
                <a:r>
                  <a:rPr sz="2400" b="0">
                    <a:solidFill>
                      <a:srgbClr val="78350F"/>
                    </a:solidFill>
                    <a:latin typeface="Arial"/>
                  </a:rPr>
                  <a:t> values: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𝑚</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sSubSup>
                      <m:e>
                        <m:r>
                          <a:rPr lang="en-IN" sz="2400" i="1">
                            <a:solidFill>
                              <a:srgbClr val="78350F"/>
                            </a:solidFill>
                            <a:latin typeface="Cambria Math" panose="02040503050406030204" pitchFamily="18" charset="0"/>
                          </a:rPr>
                          <m:t>σ</m:t>
                        </m:r>
                      </m:e>
                      <m:sub>
                        <m:r>
                          <a:rPr lang="en-IN" sz="2400" i="1">
                            <a:solidFill>
                              <a:srgbClr val="78350F"/>
                            </a:solidFill>
                            <a:latin typeface="Cambria Math" panose="02040503050406030204" pitchFamily="18" charset="0"/>
                          </a:rPr>
                          <m:t>𝑚</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b>
                      <m:sup>
                        <m:r>
                          <a:rPr lang="en-IN" sz="2400" i="1">
                            <a:solidFill>
                              <a:srgbClr val="78350F"/>
                            </a:solidFill>
                            <a:latin typeface="Cambria Math" panose="02040503050406030204" pitchFamily="18" charset="0"/>
                          </a:rPr>
                          <m:t>2</m:t>
                        </m:r>
                      </m:sup>
                    </m:sSub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𝑚</m:t>
                    </m:r>
                    <m:sSubSup>
                      <m:e>
                        <m:r>
                          <a:rPr lang="en-IN" sz="2400" i="1">
                            <a:solidFill>
                              <a:srgbClr val="78350F"/>
                            </a:solidFill>
                            <a:latin typeface="Cambria Math" panose="02040503050406030204" pitchFamily="18" charset="0"/>
                          </a:rPr>
                          <m:t>σ</m:t>
                        </m:r>
                      </m:e>
                      <m:sub>
                        <m:r>
                          <a:rPr lang="en-IN" sz="2400" i="1">
                            <a:solidFill>
                              <a:srgbClr val="78350F"/>
                            </a:solidFill>
                            <a:latin typeface="Cambria Math" panose="02040503050406030204" pitchFamily="18" charset="0"/>
                          </a:rPr>
                          <m:t>𝑚</m:t>
                        </m:r>
                      </m:sub>
                      <m:sup>
                        <m:r>
                          <a:rPr lang="en-IN" sz="2400" i="1">
                            <a:solidFill>
                              <a:srgbClr val="78350F"/>
                            </a:solidFill>
                            <a:latin typeface="Cambria Math" panose="02040503050406030204" pitchFamily="18" charset="0"/>
                          </a:rPr>
                          <m:t>2</m:t>
                        </m:r>
                      </m:sup>
                    </m:sSubSup>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𝑚</m:t>
                        </m:r>
                      </m:num>
                      <m:den>
                        <m:r>
                          <a:rPr lang="en-IN" sz="2400" i="1">
                            <a:solidFill>
                              <a:srgbClr val="78350F"/>
                            </a:solidFill>
                            <a:latin typeface="Cambria Math" panose="02040503050406030204" pitchFamily="18" charset="0"/>
                          </a:rPr>
                          <m:t>𝑚</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den>
                    </m:f>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sSub>
                      <m:e>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𝑥</m:t>
                            </m:r>
                          </m:e>
                        </m:acc>
                      </m:e>
                      <m:sub>
                        <m:r>
                          <a:rPr lang="en-IN" sz="2400" i="1">
                            <a:solidFill>
                              <a:srgbClr val="78350F"/>
                            </a:solidFill>
                            <a:latin typeface="Cambria Math" panose="02040503050406030204" pitchFamily="18" charset="0"/>
                          </a:rPr>
                          <m:t>𝑚</m:t>
                        </m:r>
                      </m:sub>
                    </m:sSub>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Update formula for adding one observation to a group of </a:t>
                </a:r>
                <a:r>
                  <a:rPr lang="en-IN" sz="2400">
                    <a:solidFill>
                      <a:srgbClr val="78350F"/>
                    </a:solidFill>
                    <a:latin typeface="Cambria Math" panose="02040503050406030204" pitchFamily="18" charset="0"/>
                  </a:rPr>
                  <a:t>$m$</a:t>
                </a:r>
                <a:r>
                  <a:rPr sz="2400" b="0">
                    <a:solidFill>
                      <a:srgbClr val="78350F"/>
                    </a:solidFill>
                    <a:latin typeface="Arial"/>
                  </a:rPr>
                  <a:t> values: </a:t>
                </a:r>
                <a:r>
                  <a:rPr lang="en-IN" sz="2400">
                    <a:solidFill>
                      <a:srgbClr val="78350F"/>
                    </a:solidFill>
                    <a:latin typeface="Cambria Math" panose="02040503050406030204" pitchFamily="18" charset="0"/>
                  </a:rPr>
                  <a:t>$(m+1)\sigma_{m+1}^2=m\sigma_m^2+\frac{m}{m+1}(x-\bar{x}_m)^2$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636520"/>
                <a:ext cx="10725912" cy="315163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5</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as before. Using the update formula with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194</m:t>
                        </m:r>
                      </m:num>
                      <m:den>
                        <m:r>
                          <a:rPr lang="en-IN" sz="2400" i="1">
                            <a:solidFill>
                              <a:srgbClr val="111827"/>
                            </a:solidFill>
                            <a:latin typeface="Cambria Math" panose="02040503050406030204" pitchFamily="18" charset="0"/>
                          </a:rPr>
                          <m:t>25</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5</m:t>
                        </m:r>
                      </m:den>
                    </m:f>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2</m:t>
                                </m:r>
                              </m:den>
                            </m:f>
                          </m:e>
                        </m:d>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194</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169</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169</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194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169</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5</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the same answer.</a:t>
                </a:r>
                <a:endParaRPr sz="2400">
                  <a:solidFill>
                    <a:srgbClr val="111827"/>
                  </a:solidFill>
                </a:endParaRPr>
              </a:p>
            </p:txBody>
          </p:sp>
        </mc:Choice>
        <mc:Fallback>
          <p:sp>
            <p:nvSpPr>
              <p:cNvPr id="6" name="Rectangle 5"/>
              <p:cNvSpPr/>
              <p:nvPr/>
            </p:nvSpPr>
            <p:spPr>
              <a:xfrm>
                <a:off x="731520" y="2636520"/>
                <a:ext cx="10725912" cy="315163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$x_5=10$</a:t>
                </a:r>
                <a:r>
                  <a:rPr sz="2400" b="0">
                    <a:solidFill>
                      <a:srgbClr val="111827"/>
                    </a:solidFill>
                    <a:latin typeface="Arial"/>
                  </a:rPr>
                  <a:t> as before. Using the update formula with </a:t>
                </a:r>
                <a:r>
                  <a:rPr lang="en-IN" sz="2400">
                    <a:solidFill>
                      <a:srgbClr val="111827"/>
                    </a:solidFill>
                    <a:latin typeface="Cambria Math" panose="02040503050406030204" pitchFamily="18" charset="0"/>
                  </a:rPr>
                  <a:t>$m=4$</a:t>
                </a:r>
                <a:r>
                  <a:rPr sz="2400" b="0">
                    <a:solidFill>
                      <a:srgbClr val="111827"/>
                    </a:solidFill>
                    <a:latin typeface="Arial"/>
                  </a:rPr>
                  <a:t>: </a:t>
                </a:r>
                <a:r>
                  <a:rPr lang="en-IN" sz="2400">
                    <a:solidFill>
                      <a:srgbClr val="111827"/>
                    </a:solidFill>
                    <a:latin typeface="Cambria Math" panose="02040503050406030204" pitchFamily="18" charset="0"/>
                  </a:rPr>
                  <a:t>$5\cdot\frac{194}{25}=4a+\frac45\left(10-\frac72\right)^2$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$\frac{194}{5}=4a+\frac45\times\frac{169}{4}=4a+\frac{169}{5}$</a:t>
                </a:r>
                <a:r>
                  <a:rPr sz="2400" b="0">
                    <a:solidFill>
                      <a:srgbClr val="111827"/>
                    </a:solidFill>
                    <a:latin typeface="Arial"/>
                  </a:rPr>
                  <a:t>, so </a:t>
                </a:r>
                <a:r>
                  <a:rPr lang="en-IN" sz="2400">
                    <a:solidFill>
                      <a:srgbClr val="111827"/>
                    </a:solidFill>
                    <a:latin typeface="Cambria Math" panose="02040503050406030204" pitchFamily="18" charset="0"/>
                  </a:rPr>
                  <a:t>$4a=\frac{194-169}{5}=5$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$4a+x_5=5+10=15$</a:t>
                </a:r>
                <a:r>
                  <a:rPr sz="2400" b="0">
                    <a:solidFill>
                      <a:srgbClr val="111827"/>
                    </a:solidFill>
                    <a:latin typeface="Arial"/>
                  </a:rPr>
                  <a:t>, the same answer.</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15</a:t>
            </a:r>
            <a:endParaRPr sz="2800">
              <a:solidFill>
                <a:srgbClr val="15803D"/>
              </a:solidFill>
            </a:endParaRPr>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Adding a new value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to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observations with mean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oMath>
                </a14:m>
                <a:r>
                  <a:rPr sz="2400" b="0">
                    <a:solidFill>
                      <a:srgbClr val="111827"/>
                    </a:solidFill>
                    <a:latin typeface="Arial"/>
                  </a:rPr>
                  <a:t>: new sum of squared deviations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new mean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oMath>
                </a14:m>
                <a:r>
                  <a:rPr sz="2400" b="0">
                    <a:solidFill>
                      <a:srgbClr val="111827"/>
                    </a:solidFill>
                    <a:latin typeface="Arial"/>
                  </a:rPr>
                  <a:t>; both give a quick check of data like this.</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Adding a new value </a:t>
                </a:r>
                <a:r>
                  <a:rPr lang="en-IN" sz="2400">
                    <a:solidFill>
                      <a:srgbClr val="111827"/>
                    </a:solidFill>
                    <a:latin typeface="Cambria Math" panose="02040503050406030204" pitchFamily="18" charset="0"/>
                  </a:rPr>
                  <a:t>$x$</a:t>
                </a:r>
                <a:r>
                  <a:rPr sz="2400" b="0">
                    <a:solidFill>
                      <a:srgbClr val="111827"/>
                    </a:solidFill>
                    <a:latin typeface="Arial"/>
                  </a:rPr>
                  <a:t> to </a:t>
                </a:r>
                <a:r>
                  <a:rPr lang="en-IN" sz="2400">
                    <a:solidFill>
                      <a:srgbClr val="111827"/>
                    </a:solidFill>
                    <a:latin typeface="Cambria Math" panose="02040503050406030204" pitchFamily="18" charset="0"/>
                  </a:rPr>
                  <a:t>$m$</a:t>
                </a:r>
                <a:r>
                  <a:rPr sz="2400" b="0">
                    <a:solidFill>
                      <a:srgbClr val="111827"/>
                    </a:solidFill>
                    <a:latin typeface="Arial"/>
                  </a:rPr>
                  <a:t> observations with mean </a:t>
                </a:r>
                <a:r>
                  <a:rPr lang="en-IN" sz="2400">
                    <a:solidFill>
                      <a:srgbClr val="111827"/>
                    </a:solidFill>
                    <a:latin typeface="Cambria Math" panose="02040503050406030204" pitchFamily="18" charset="0"/>
                  </a:rPr>
                  <a:t>$\bar{x}$</a:t>
                </a:r>
                <a:r>
                  <a:rPr sz="2400" b="0">
                    <a:solidFill>
                      <a:srgbClr val="111827"/>
                    </a:solidFill>
                    <a:latin typeface="Arial"/>
                  </a:rPr>
                  <a:t>: new sum of squared deviations </a:t>
                </a:r>
                <a:r>
                  <a:rPr lang="en-IN" sz="2400">
                    <a:solidFill>
                      <a:srgbClr val="111827"/>
                    </a:solidFill>
                    <a:latin typeface="Cambria Math" panose="02040503050406030204" pitchFamily="18" charset="0"/>
                  </a:rPr>
                  <a:t>$=m\sigma^2+\frac{m}{m+1}(x-\bar{x})^2$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new mean is </a:t>
                </a:r>
                <a:r>
                  <a:rPr lang="en-IN" sz="2400">
                    <a:solidFill>
                      <a:srgbClr val="111827"/>
                    </a:solidFill>
                    <a:latin typeface="Cambria Math" panose="02040503050406030204" pitchFamily="18" charset="0"/>
                  </a:rPr>
                  <a:t>$\frac{m\bar{x}+x}{m+1}$</a:t>
                </a:r>
                <a:r>
                  <a:rPr sz="2400" b="0">
                    <a:solidFill>
                      <a:srgbClr val="111827"/>
                    </a:solidFill>
                    <a:latin typeface="Arial"/>
                  </a:rPr>
                  <a:t>; both give a quick check of data like this.</a:t>
                </a:r>
                <a:endParaRPr sz="2400">
                  <a:solidFill>
                    <a:srgbClr val="111827"/>
                  </a:solidFill>
                </a:endParaRPr>
              </a:p>
            </p:txBody>
          </p:sp>
        </mc:Fallback>
      </mc:AlternateContent>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values of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N</m:t>
                    </m:r>
                  </m:oMath>
                </a14:m>
                <a:r>
                  <a:rPr sz="2400" b="0">
                    <a:solidFill>
                      <a:srgbClr val="111827"/>
                    </a:solidFill>
                    <a:latin typeface="Arial"/>
                  </a:rPr>
                  <a:t> such that the variance of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oMath>
                </a14:m>
                <a:r>
                  <a:rPr sz="2400" b="0">
                    <a:solidFill>
                      <a:srgbClr val="111827"/>
                    </a:solidFill>
                    <a:latin typeface="Arial"/>
                  </a:rPr>
                  <a:t> is a natural number is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0   (B) 2   (C) 5   (D) infinite</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values of </a:t>
                </a:r>
                <a:r>
                  <a:rPr lang="en-IN" sz="2400">
                    <a:solidFill>
                      <a:srgbClr val="111827"/>
                    </a:solidFill>
                    <a:latin typeface="Cambria Math" panose="02040503050406030204" pitchFamily="18" charset="0"/>
                  </a:rPr>
                  <a:t>$a\in\mathbb{N}$</a:t>
                </a:r>
                <a:r>
                  <a:rPr sz="2400" b="0">
                    <a:solidFill>
                      <a:srgbClr val="111827"/>
                    </a:solidFill>
                    <a:latin typeface="Arial"/>
                  </a:rPr>
                  <a:t> such that the variance of </a:t>
                </a:r>
                <a:r>
                  <a:rPr lang="en-IN" sz="2400">
                    <a:solidFill>
                      <a:srgbClr val="111827"/>
                    </a:solidFill>
                    <a:latin typeface="Cambria Math" panose="02040503050406030204" pitchFamily="18" charset="0"/>
                  </a:rPr>
                  <a:t>$3,7,12,a,43-a$</a:t>
                </a:r>
                <a:r>
                  <a:rPr sz="2400" b="0">
                    <a:solidFill>
                      <a:srgbClr val="111827"/>
                    </a:solidFill>
                    <a:latin typeface="Arial"/>
                  </a:rPr>
                  <a:t> is a natural number is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0   (B) 2   (C) 5   (D) infinite</a:t>
                </a:r>
                <a:endParaRPr sz="2400">
                  <a:solidFill>
                    <a:srgbClr val="111827"/>
                  </a:solidFill>
                </a:endParaRPr>
              </a:p>
            </p:txBody>
          </p:sp>
        </mc:Fallback>
      </mc:AlternateContent>
      <p:sp>
        <p:nvSpPr>
          <p:cNvPr id="5" name="Rectangle 4"/>
          <p:cNvSpPr/>
          <p:nvPr/>
        </p:nvSpPr>
        <p:spPr>
          <a:xfrm>
            <a:off x="731520" y="324612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Integer values of a parameter for a natural-number variance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variance is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2</m:t>
                        </m:r>
                        <m:sSup>
                          <m:e>
                            <m:r>
                              <a:rPr lang="en-IN" sz="2400" i="1">
                                <a:solidFill>
                                  <a:srgbClr val="78350F"/>
                                </a:solidFill>
                                <a:latin typeface="Cambria Math" panose="02040503050406030204" pitchFamily="18" charset="0"/>
                              </a:rPr>
                              <m:t>𝑎</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86</m:t>
                        </m:r>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1206</m:t>
                        </m:r>
                      </m:num>
                      <m:den>
                        <m:r>
                          <a:rPr lang="en-IN" sz="2400" i="1">
                            <a:solidFill>
                              <a:srgbClr val="78350F"/>
                            </a:solidFill>
                            <a:latin typeface="Cambria Math" panose="02040503050406030204" pitchFamily="18" charset="0"/>
                          </a:rPr>
                          <m:t>5</m:t>
                        </m:r>
                      </m:den>
                    </m:f>
                  </m:oMath>
                </a14:m>
                <a:r>
                  <a:rPr sz="2400" b="0">
                    <a:solidFill>
                      <a:srgbClr val="78350F"/>
                    </a:solidFill>
                    <a:latin typeface="Arial"/>
                  </a:rPr>
                  <a:t>; its numerator is divisible by 5 for no integer </a:t>
                </a:r>
                <a14:m>
                  <m:oMath xmlns:m="http://schemas.openxmlformats.org/officeDocument/2006/math">
                    <m:r>
                      <a:rPr lang="en-IN" sz="2400" i="1">
                        <a:solidFill>
                          <a:srgbClr val="78350F"/>
                        </a:solidFill>
                        <a:latin typeface="Cambria Math" panose="02040503050406030204" pitchFamily="18" charset="0"/>
                      </a:rPr>
                      <m:t>𝑎</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variance is </a:t>
                </a:r>
                <a:r>
                  <a:rPr lang="en-IN" sz="2400">
                    <a:solidFill>
                      <a:srgbClr val="78350F"/>
                    </a:solidFill>
                    <a:latin typeface="Cambria Math" panose="02040503050406030204" pitchFamily="18" charset="0"/>
                  </a:rPr>
                  <a:t>$\frac{2a^2-86a+1206}{5}$</a:t>
                </a:r>
                <a:r>
                  <a:rPr sz="2400" b="0">
                    <a:solidFill>
                      <a:srgbClr val="78350F"/>
                    </a:solidFill>
                    <a:latin typeface="Arial"/>
                  </a:rPr>
                  <a:t>; its numerator is divisible by 5 for no integer </a:t>
                </a:r>
                <a:r>
                  <a:rPr lang="en-IN" sz="2400">
                    <a:solidFill>
                      <a:srgbClr val="78350F"/>
                    </a:solidFill>
                    <a:latin typeface="Cambria Math" panose="02040503050406030204" pitchFamily="18" charset="0"/>
                  </a:rPr>
                  <a:t>$a$</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Mean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65</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oMath>
                </a14:m>
                <a:r>
                  <a:rPr sz="2400" b="0">
                    <a:solidFill>
                      <a:srgbClr val="111827"/>
                    </a:solidFill>
                    <a:latin typeface="Arial"/>
                  </a:rPr>
                  <a:t>, independent of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Variance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144</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13</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86</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1206</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the variance to be a natural number,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must divide </a:t>
                </a:r>
                <a14:m>
                  <m:oMath xmlns:m="http://schemas.openxmlformats.org/officeDocument/2006/math">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86</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1206</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Mean </a:t>
                </a:r>
                <a:r>
                  <a:rPr lang="en-IN" sz="2400">
                    <a:solidFill>
                      <a:srgbClr val="111827"/>
                    </a:solidFill>
                    <a:latin typeface="Cambria Math" panose="02040503050406030204" pitchFamily="18" charset="0"/>
                  </a:rPr>
                  <a:t>$=\frac{3+7+12+a+43-a}{5}=\frac{65}{5}=13$</a:t>
                </a:r>
                <a:r>
                  <a:rPr sz="2400" b="0">
                    <a:solidFill>
                      <a:srgbClr val="111827"/>
                    </a:solidFill>
                    <a:latin typeface="Arial"/>
                  </a:rPr>
                  <a:t>, independent of </a:t>
                </a:r>
                <a:r>
                  <a:rPr lang="en-IN" sz="2400">
                    <a:solidFill>
                      <a:srgbClr val="111827"/>
                    </a:solidFill>
                    <a:latin typeface="Cambria Math" panose="02040503050406030204" pitchFamily="18" charset="0"/>
                  </a:rPr>
                  <a: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Variance </a:t>
                </a:r>
                <a:r>
                  <a:rPr lang="en-IN" sz="2400">
                    <a:solidFill>
                      <a:srgbClr val="111827"/>
                    </a:solidFill>
                    <a:latin typeface="Cambria Math" panose="02040503050406030204" pitchFamily="18" charset="0"/>
                  </a:rPr>
                  <a:t>$=\frac{9+49+144+a^2+(43-a)^2}{5}-13^2=\frac{2a^2-86a+1206}{5}$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the variance to be a natural number, </a:t>
                </a:r>
                <a:r>
                  <a:rPr lang="en-IN" sz="2400">
                    <a:solidFill>
                      <a:srgbClr val="111827"/>
                    </a:solidFill>
                    <a:latin typeface="Cambria Math" panose="02040503050406030204" pitchFamily="18" charset="0"/>
                  </a:rPr>
                  <a:t>$5$</a:t>
                </a:r>
                <a:r>
                  <a:rPr sz="2400" b="0">
                    <a:solidFill>
                      <a:srgbClr val="111827"/>
                    </a:solidFill>
                    <a:latin typeface="Arial"/>
                  </a:rPr>
                  <a:t> must divide </a:t>
                </a:r>
                <a:r>
                  <a:rPr lang="en-IN" sz="2400">
                    <a:solidFill>
                      <a:srgbClr val="111827"/>
                    </a:solidFill>
                    <a:latin typeface="Cambria Math" panose="02040503050406030204" pitchFamily="18" charset="0"/>
                  </a:rPr>
                  <a:t>$2a^2-86a+1206$</a:t>
                </a:r>
                <a:r>
                  <a:rPr sz="2400" b="0">
                    <a:solidFill>
                      <a:srgbClr val="111827"/>
                    </a:solidFill>
                    <a:latin typeface="Arial"/>
                  </a:rPr>
                  <a:t>, i.e. </a:t>
                </a:r>
                <a:r>
                  <a:rPr lang="en-IN" sz="2400">
                    <a:solidFill>
                      <a:srgbClr val="111827"/>
                    </a:solidFill>
                    <a:latin typeface="Cambria Math" panose="02040503050406030204" pitchFamily="18" charset="0"/>
                  </a:rPr>
                  <a:t>$2a^2-a+1\equiv0\pmod5$</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Residues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give </a:t>
                </a:r>
                <a14:m>
                  <m:oMath xmlns:m="http://schemas.openxmlformats.org/officeDocument/2006/math">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 never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variance is never an integer for any integer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the number of values is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option (A).</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Residues </a:t>
                </a:r>
                <a:r>
                  <a:rPr lang="en-IN" sz="2400">
                    <a:solidFill>
                      <a:srgbClr val="111827"/>
                    </a:solidFill>
                    <a:latin typeface="Cambria Math" panose="02040503050406030204" pitchFamily="18" charset="0"/>
                  </a:rPr>
                  <a:t>$a\equiv0,1,2,3,4$</a:t>
                </a:r>
                <a:r>
                  <a:rPr sz="2400" b="0">
                    <a:solidFill>
                      <a:srgbClr val="111827"/>
                    </a:solidFill>
                    <a:latin typeface="Arial"/>
                  </a:rPr>
                  <a:t> give </a:t>
                </a:r>
                <a:r>
                  <a:rPr lang="en-IN" sz="2400">
                    <a:solidFill>
                      <a:srgbClr val="111827"/>
                    </a:solidFill>
                    <a:latin typeface="Cambria Math" panose="02040503050406030204" pitchFamily="18" charset="0"/>
                  </a:rPr>
                  <a:t>$2a^2-a+1\equiv1,2,2,1,4\pmod5$</a:t>
                </a:r>
                <a:r>
                  <a:rPr sz="2400" b="0">
                    <a:solidFill>
                      <a:srgbClr val="111827"/>
                    </a:solidFill>
                    <a:latin typeface="Arial"/>
                  </a:rPr>
                  <a:t> - never </a:t>
                </a:r>
                <a:r>
                  <a:rPr lang="en-IN" sz="2400">
                    <a:solidFill>
                      <a:srgbClr val="111827"/>
                    </a:solidFill>
                    <a:latin typeface="Cambria Math" panose="02040503050406030204" pitchFamily="18" charset="0"/>
                  </a:rPr>
                  <a: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variance is never an integer for any integer </a:t>
                </a:r>
                <a:r>
                  <a:rPr lang="en-IN" sz="2400">
                    <a:solidFill>
                      <a:srgbClr val="111827"/>
                    </a:solidFill>
                    <a:latin typeface="Cambria Math" panose="02040503050406030204" pitchFamily="18" charset="0"/>
                  </a:rPr>
                  <a:t>$a$</a:t>
                </a:r>
                <a:r>
                  <a:rPr sz="2400" b="0">
                    <a:solidFill>
                      <a:srgbClr val="111827"/>
                    </a:solidFill>
                    <a:latin typeface="Arial"/>
                  </a:rPr>
                  <a:t>; the number of values is </a:t>
                </a:r>
                <a:r>
                  <a:rPr lang="en-IN" sz="2400">
                    <a:solidFill>
                      <a:srgbClr val="111827"/>
                    </a:solidFill>
                    <a:latin typeface="Cambria Math" panose="02040503050406030204" pitchFamily="18" charset="0"/>
                  </a:rPr>
                  <a:t>$0$</a:t>
                </a:r>
                <a:r>
                  <a:rPr sz="2400" b="0">
                    <a:solidFill>
                      <a:srgbClr val="111827"/>
                    </a:solidFill>
                    <a:latin typeface="Arial"/>
                  </a:rPr>
                  <a:t>, option (A).</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0</a:t>
            </a:r>
            <a:endParaRPr sz="2800">
              <a:solidFill>
                <a:srgbClr val="15803D"/>
              </a:solidFill>
            </a:endParaRP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p:sp>
        <p:nvSpPr>
          <p:cNvPr id="5" name="Rounded Rectangle 4"/>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Complete the square modulo 5.</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5</m:t>
                    </m:r>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86</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1206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43</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forces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43</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Modulo 5: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43</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603</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we need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but squares modulo 5 are only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 integer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works, so the count is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the same answer.</a:t>
                </a:r>
                <a:endParaRPr sz="2400">
                  <a:solidFill>
                    <a:srgbClr val="111827"/>
                  </a:solidFill>
                </a:endParaRPr>
              </a:p>
            </p:txBody>
          </p:sp>
        </mc:Choice>
        <mc:Fallback>
          <p:sp>
            <p:nvSpPr>
              <p:cNvPr id="6" name="Rectangle 5"/>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$5\sigma^2=2a^2-86a+1206=2(a^2-43a+603)$</a:t>
                </a:r>
                <a:r>
                  <a:rPr sz="2400" b="0">
                    <a:solidFill>
                      <a:srgbClr val="111827"/>
                    </a:solidFill>
                    <a:latin typeface="Arial"/>
                  </a:rPr>
                  <a:t>, and </a:t>
                </a:r>
                <a:r>
                  <a:rPr lang="en-IN" sz="2400">
                    <a:solidFill>
                      <a:srgbClr val="111827"/>
                    </a:solidFill>
                    <a:latin typeface="Cambria Math" panose="02040503050406030204" pitchFamily="18" charset="0"/>
                  </a:rPr>
                  <a:t>$5\mid5\sigma^2$</a:t>
                </a:r>
                <a:r>
                  <a:rPr sz="2400" b="0">
                    <a:solidFill>
                      <a:srgbClr val="111827"/>
                    </a:solidFill>
                    <a:latin typeface="Arial"/>
                  </a:rPr>
                  <a:t> forces </a:t>
                </a:r>
                <a:r>
                  <a:rPr lang="en-IN" sz="2400">
                    <a:solidFill>
                      <a:srgbClr val="111827"/>
                    </a:solidFill>
                    <a:latin typeface="Cambria Math" panose="02040503050406030204" pitchFamily="18" charset="0"/>
                  </a:rPr>
                  <a:t>$5\mid a^2-43a+603$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Modulo 5: </a:t>
                </a:r>
                <a:r>
                  <a:rPr lang="en-IN" sz="2400">
                    <a:solidFill>
                      <a:srgbClr val="111827"/>
                    </a:solidFill>
                    <a:latin typeface="Cambria Math" panose="02040503050406030204" pitchFamily="18" charset="0"/>
                  </a:rPr>
                  <a:t>$a^2-43a+603\equiv a^2+2a+3=(a+1)^2+2$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we need </a:t>
                </a:r>
                <a:r>
                  <a:rPr lang="en-IN" sz="2400">
                    <a:solidFill>
                      <a:srgbClr val="111827"/>
                    </a:solidFill>
                    <a:latin typeface="Cambria Math" panose="02040503050406030204" pitchFamily="18" charset="0"/>
                  </a:rPr>
                  <a:t>$(a+1)^2\equiv-2\equiv3\pmod5$</a:t>
                </a:r>
                <a:r>
                  <a:rPr sz="2400" b="0">
                    <a:solidFill>
                      <a:srgbClr val="111827"/>
                    </a:solidFill>
                    <a:latin typeface="Arial"/>
                  </a:rPr>
                  <a:t>, but squares modulo 5 are only </a:t>
                </a:r>
                <a:r>
                  <a:rPr lang="en-IN" sz="2400">
                    <a:solidFill>
                      <a:srgbClr val="111827"/>
                    </a:solidFill>
                    <a:latin typeface="Cambria Math" panose="02040503050406030204" pitchFamily="18" charset="0"/>
                  </a:rPr>
                  <a:t>$0,1,4$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 integer </a:t>
                </a:r>
                <a:r>
                  <a:rPr lang="en-IN" sz="2400">
                    <a:solidFill>
                      <a:srgbClr val="111827"/>
                    </a:solidFill>
                    <a:latin typeface="Cambria Math" panose="02040503050406030204" pitchFamily="18" charset="0"/>
                  </a:rPr>
                  <a:t>$a$</a:t>
                </a:r>
                <a:r>
                  <a:rPr sz="2400" b="0">
                    <a:solidFill>
                      <a:srgbClr val="111827"/>
                    </a:solidFill>
                    <a:latin typeface="Arial"/>
                  </a:rPr>
                  <a:t> works, so the count is </a:t>
                </a:r>
                <a:r>
                  <a:rPr lang="en-IN" sz="2400">
                    <a:solidFill>
                      <a:srgbClr val="111827"/>
                    </a:solidFill>
                    <a:latin typeface="Cambria Math" panose="02040503050406030204" pitchFamily="18" charset="0"/>
                  </a:rPr>
                  <a:t>$0$</a:t>
                </a:r>
                <a:r>
                  <a:rPr sz="2400" b="0">
                    <a:solidFill>
                      <a:srgbClr val="111827"/>
                    </a:solidFill>
                    <a:latin typeface="Arial"/>
                  </a:rPr>
                  <a:t>, the same answer.</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0</a:t>
            </a:r>
            <a:endParaRPr sz="2800">
              <a:solidFill>
                <a:srgbClr val="15803D"/>
              </a:solidFill>
            </a:endParaRPr>
          </a:p>
        </p:txBody>
      </p:sp>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 test 'is an integer' for a quadratic in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divided by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reduce the numerator modulo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over all residues; squares modulo 5 are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Variance of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oMath>
                </a14:m>
                <a:r>
                  <a:rPr sz="2400" b="0">
                    <a:solidFill>
                      <a:srgbClr val="111827"/>
                    </a:solidFill>
                    <a:latin typeface="Arial"/>
                  </a:rPr>
                  <a:t>: the pair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43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oMath>
                </a14:m>
                <a:r>
                  <a:rPr sz="2400" b="0">
                    <a:solidFill>
                      <a:srgbClr val="111827"/>
                    </a:solidFill>
                    <a:latin typeface="Arial"/>
                  </a:rPr>
                  <a:t> has a fixed sum, so the mean is 13 for every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 test 'is an integer' for a quadratic in </a:t>
                </a:r>
                <a:r>
                  <a:rPr lang="en-IN" sz="2400">
                    <a:solidFill>
                      <a:srgbClr val="111827"/>
                    </a:solidFill>
                    <a:latin typeface="Cambria Math" panose="02040503050406030204" pitchFamily="18" charset="0"/>
                  </a:rPr>
                  <a:t>$a$</a:t>
                </a:r>
                <a:r>
                  <a:rPr sz="2400" b="0">
                    <a:solidFill>
                      <a:srgbClr val="111827"/>
                    </a:solidFill>
                    <a:latin typeface="Arial"/>
                  </a:rPr>
                  <a:t> divided by </a:t>
                </a:r>
                <a:r>
                  <a:rPr lang="en-IN" sz="2400">
                    <a:solidFill>
                      <a:srgbClr val="111827"/>
                    </a:solidFill>
                    <a:latin typeface="Cambria Math" panose="02040503050406030204" pitchFamily="18" charset="0"/>
                  </a:rPr>
                  <a:t>$m$</a:t>
                </a:r>
                <a:r>
                  <a:rPr sz="2400" b="0">
                    <a:solidFill>
                      <a:srgbClr val="111827"/>
                    </a:solidFill>
                    <a:latin typeface="Arial"/>
                  </a:rPr>
                  <a:t>, reduce the numerator modulo </a:t>
                </a:r>
                <a:r>
                  <a:rPr lang="en-IN" sz="2400">
                    <a:solidFill>
                      <a:srgbClr val="111827"/>
                    </a:solidFill>
                    <a:latin typeface="Cambria Math" panose="02040503050406030204" pitchFamily="18" charset="0"/>
                  </a:rPr>
                  <a:t>$m$</a:t>
                </a:r>
                <a:r>
                  <a:rPr sz="2400" b="0">
                    <a:solidFill>
                      <a:srgbClr val="111827"/>
                    </a:solidFill>
                    <a:latin typeface="Arial"/>
                  </a:rPr>
                  <a:t> over all residues; squares modulo 5 are </a:t>
                </a:r>
                <a:r>
                  <a:rPr lang="en-IN" sz="2400">
                    <a:solidFill>
                      <a:srgbClr val="111827"/>
                    </a:solidFill>
                    <a:latin typeface="Cambria Math" panose="02040503050406030204" pitchFamily="18" charset="0"/>
                  </a:rPr>
                  <a:t>$0,1,4$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Variance of </a:t>
                </a:r>
                <a:r>
                  <a:rPr lang="en-IN" sz="2400">
                    <a:solidFill>
                      <a:srgbClr val="111827"/>
                    </a:solidFill>
                    <a:latin typeface="Cambria Math" panose="02040503050406030204" pitchFamily="18" charset="0"/>
                  </a:rPr>
                  <a:t>$3,7,12,a,43-a$</a:t>
                </a:r>
                <a:r>
                  <a:rPr sz="2400" b="0">
                    <a:solidFill>
                      <a:srgbClr val="111827"/>
                    </a:solidFill>
                    <a:latin typeface="Arial"/>
                  </a:rPr>
                  <a:t>: the pair </a:t>
                </a:r>
                <a:r>
                  <a:rPr lang="en-IN" sz="2400">
                    <a:solidFill>
                      <a:srgbClr val="111827"/>
                    </a:solidFill>
                    <a:latin typeface="Cambria Math" panose="02040503050406030204" pitchFamily="18" charset="0"/>
                  </a:rPr>
                  <a:t>$a,\ 43-a$</a:t>
                </a:r>
                <a:r>
                  <a:rPr sz="2400" b="0">
                    <a:solidFill>
                      <a:srgbClr val="111827"/>
                    </a:solidFill>
                    <a:latin typeface="Arial"/>
                  </a:rPr>
                  <a:t> has a fixed sum, so the mean is 13 for every </a:t>
                </a:r>
                <a:r>
                  <a:rPr lang="en-IN" sz="2400">
                    <a:solidFill>
                      <a:srgbClr val="111827"/>
                    </a:solidFill>
                    <a:latin typeface="Cambria Math" panose="02040503050406030204" pitchFamily="18" charset="0"/>
                  </a:rPr>
                  <a:t>$a$</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16</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Numerical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Q63 – Q65</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4 marks each (no marks printed in the sheet - JEE Advanced default of 4 assumed)</a:t>
            </a:r>
            <a:endParaRPr sz="2800">
              <a:solidFill>
                <a:srgbClr val="FFFFFF"/>
              </a:solidFill>
            </a:endParaRPr>
          </a:p>
        </p:txBody>
      </p:sp>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4599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mean deviation about the mean of the numbers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 where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is odd,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𝑛</m:t>
                        </m:r>
                      </m:den>
                    </m:f>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is equal to ______.</a:t>
                </a:r>
                <a:endParaRPr sz="2400">
                  <a:solidFill>
                    <a:srgbClr val="111827"/>
                  </a:solidFill>
                </a:endParaRPr>
              </a:p>
            </p:txBody>
          </p:sp>
        </mc:Choice>
        <mc:Fallback>
          <p:sp>
            <p:nvSpPr>
              <p:cNvPr id="4" name="Rounded Rectangle 3"/>
              <p:cNvSpPr/>
              <p:nvPr/>
            </p:nvSpPr>
            <p:spPr>
              <a:xfrm>
                <a:off x="731520" y="1280160"/>
                <a:ext cx="10725912" cy="174599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mean deviation about the mean of the numbers </a:t>
                </a:r>
                <a:r>
                  <a:rPr lang="en-IN" sz="2400">
                    <a:solidFill>
                      <a:srgbClr val="111827"/>
                    </a:solidFill>
                    <a:latin typeface="Cambria Math" panose="02040503050406030204" pitchFamily="18" charset="0"/>
                  </a:rPr>
                  <a:t>$1,2,3,\dots,n$</a:t>
                </a:r>
                <a:r>
                  <a:rPr sz="2400" b="0">
                    <a:solidFill>
                      <a:srgbClr val="111827"/>
                    </a:solidFill>
                    <a:latin typeface="Arial"/>
                  </a:rPr>
                  <a:t>, where </a:t>
                </a:r>
                <a:r>
                  <a:rPr lang="en-IN" sz="2400">
                    <a:solidFill>
                      <a:srgbClr val="111827"/>
                    </a:solidFill>
                    <a:latin typeface="Cambria Math" panose="02040503050406030204" pitchFamily="18" charset="0"/>
                  </a:rPr>
                  <a:t>$n$</a:t>
                </a:r>
                <a:r>
                  <a:rPr sz="2400" b="0">
                    <a:solidFill>
                      <a:srgbClr val="111827"/>
                    </a:solidFill>
                    <a:latin typeface="Arial"/>
                  </a:rPr>
                  <a:t> is odd, is </a:t>
                </a:r>
                <a:r>
                  <a:rPr lang="en-IN" sz="2400">
                    <a:solidFill>
                      <a:srgbClr val="111827"/>
                    </a:solidFill>
                    <a:latin typeface="Cambria Math" panose="02040503050406030204" pitchFamily="18" charset="0"/>
                  </a:rPr>
                  <a:t>$\frac{5(n+1)}{n}$</a:t>
                </a:r>
                <a:r>
                  <a:rPr sz="2400" b="0">
                    <a:solidFill>
                      <a:srgbClr val="111827"/>
                    </a:solidFill>
                    <a:latin typeface="Arial"/>
                  </a:rPr>
                  <a:t>, then </a:t>
                </a:r>
                <a:r>
                  <a:rPr lang="en-IN" sz="2400">
                    <a:solidFill>
                      <a:srgbClr val="111827"/>
                    </a:solidFill>
                    <a:latin typeface="Cambria Math" panose="02040503050406030204" pitchFamily="18" charset="0"/>
                  </a:rPr>
                  <a:t>$n$</a:t>
                </a:r>
                <a:r>
                  <a:rPr sz="2400" b="0">
                    <a:solidFill>
                      <a:srgbClr val="111827"/>
                    </a:solidFill>
                    <a:latin typeface="Arial"/>
                  </a:rPr>
                  <a:t> is equal to ______.</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3254755"/>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Mean deviation about the mean of the first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natural numbers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Choice>
        <mc:Fallback>
          <p:sp>
            <p:nvSpPr>
              <p:cNvPr id="5" name="Rectangle 4"/>
              <p:cNvSpPr/>
              <p:nvPr/>
            </p:nvSpPr>
            <p:spPr>
              <a:xfrm>
                <a:off x="731520" y="3254755"/>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Mean deviation about the mean of the first </a:t>
                </a:r>
                <a:r>
                  <a:rPr lang="en-IN" sz="2400">
                    <a:solidFill>
                      <a:srgbClr val="111827"/>
                    </a:solidFill>
                    <a:latin typeface="Cambria Math" panose="02040503050406030204" pitchFamily="18" charset="0"/>
                  </a:rPr>
                  <a:t>$n$</a:t>
                </a:r>
                <a:r>
                  <a:rPr sz="2400" b="0">
                    <a:solidFill>
                      <a:srgbClr val="111827"/>
                    </a:solidFill>
                    <a:latin typeface="Arial"/>
                  </a:rPr>
                  <a:t> natural numbers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Fallback>
      </mc:AlternateContent>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For odd </a:t>
                </a:r>
                <a14:m>
                  <m:oMath xmlns:m="http://schemas.openxmlformats.org/officeDocument/2006/math">
                    <m:r>
                      <a:rPr lang="en-IN" sz="2400" i="1">
                        <a:solidFill>
                          <a:srgbClr val="78350F"/>
                        </a:solidFill>
                        <a:latin typeface="Cambria Math" panose="02040503050406030204" pitchFamily="18" charset="0"/>
                      </a:rPr>
                      <m:t>𝑛</m:t>
                    </m:r>
                  </m:oMath>
                </a14:m>
                <a:r>
                  <a:rPr sz="2400" b="0">
                    <a:solidFill>
                      <a:srgbClr val="78350F"/>
                    </a:solidFill>
                    <a:latin typeface="Arial"/>
                  </a:rPr>
                  <a:t> the deviations from the middle term are </a:t>
                </a:r>
                <a14:m>
                  <m:oMath xmlns:m="http://schemas.openxmlformats.org/officeDocument/2006/math">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2</m:t>
                        </m:r>
                      </m:den>
                    </m:f>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For odd </a:t>
                </a:r>
                <a:r>
                  <a:rPr lang="en-IN" sz="2400">
                    <a:solidFill>
                      <a:srgbClr val="78350F"/>
                    </a:solidFill>
                    <a:latin typeface="Cambria Math" panose="02040503050406030204" pitchFamily="18" charset="0"/>
                  </a:rPr>
                  <a:t>$n$</a:t>
                </a:r>
                <a:r>
                  <a:rPr sz="2400" b="0">
                    <a:solidFill>
                      <a:srgbClr val="78350F"/>
                    </a:solidFill>
                    <a:latin typeface="Arial"/>
                  </a:rPr>
                  <a:t> the deviations from the middle term are </a:t>
                </a:r>
                <a:r>
                  <a:rPr lang="en-IN" sz="2400">
                    <a:solidFill>
                      <a:srgbClr val="78350F"/>
                    </a:solidFill>
                    <a:latin typeface="Cambria Math" panose="02040503050406030204" pitchFamily="18" charset="0"/>
                  </a:rPr>
                  <a:t>$0,\pm1,\dots,\pm\frac{n-1}{2}$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Mean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𝑛</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the middle term (as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is odd).</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 (the deviations are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Mean </a:t>
                </a:r>
                <a:r>
                  <a:rPr lang="en-IN" sz="2400">
                    <a:solidFill>
                      <a:srgbClr val="111827"/>
                    </a:solidFill>
                    <a:latin typeface="Cambria Math" panose="02040503050406030204" pitchFamily="18" charset="0"/>
                  </a:rPr>
                  <a:t>$\bar{x}=\frac{1+2+\cdots+n}{n}=\frac{n+1}{2}$</a:t>
                </a:r>
                <a:r>
                  <a:rPr sz="2400" b="0">
                    <a:solidFill>
                      <a:srgbClr val="111827"/>
                    </a:solidFill>
                    <a:latin typeface="Arial"/>
                  </a:rPr>
                  <a:t>, the middle term (as </a:t>
                </a:r>
                <a:r>
                  <a:rPr lang="en-IN" sz="2400">
                    <a:solidFill>
                      <a:srgbClr val="111827"/>
                    </a:solidFill>
                    <a:latin typeface="Cambria Math" panose="02040503050406030204" pitchFamily="18" charset="0"/>
                  </a:rPr>
                  <a:t>$n$</a:t>
                </a:r>
                <a:r>
                  <a:rPr sz="2400" b="0">
                    <a:solidFill>
                      <a:srgbClr val="111827"/>
                    </a:solidFill>
                    <a:latin typeface="Arial"/>
                  </a:rPr>
                  <a:t> is odd).</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$\sum|x_i-\bar{x}|=2\left(1+2+\cdots+\frac{n-1}{2}\right)$</a:t>
                </a:r>
                <a:r>
                  <a:rPr sz="2400" b="0">
                    <a:solidFill>
                      <a:srgbClr val="111827"/>
                    </a:solidFill>
                    <a:latin typeface="Arial"/>
                  </a:rPr>
                  <a:t> (the deviations are </a:t>
                </a:r>
                <a:r>
                  <a:rPr lang="en-IN" sz="2400">
                    <a:solidFill>
                      <a:srgbClr val="111827"/>
                    </a:solidFill>
                    <a:latin typeface="Cambria Math" panose="02040503050406030204" pitchFamily="18" charset="0"/>
                  </a:rPr>
                  <a:t>$0,\pm1,\dots,\pm\frac{n-1}{2}$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$=2\cdot\frac{1}{2}\cdot\frac{n-1}{2}\cdot\frac{n+1}{2}=\frac{n^2-1}{4}$</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Mean deviation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𝑛</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𝑛</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oMath>
                </a14:m>
                <a:r>
                  <a:rPr sz="2400" b="0">
                    <a:solidFill>
                      <a:srgbClr val="111827"/>
                    </a:solidFill>
                    <a:latin typeface="Arial"/>
                  </a:rPr>
                  <a:t> after cancelling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𝑛</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oMath>
                </a14:m>
                <a:r>
                  <a:rPr sz="2400" b="0">
                    <a:solidFill>
                      <a:srgbClr val="111827"/>
                    </a:solidFill>
                    <a:latin typeface="Arial"/>
                  </a:rPr>
                  <a:t> (equivalently </a:t>
                </a:r>
                <a14:m>
                  <m:oMath xmlns:m="http://schemas.openxmlformats.org/officeDocument/2006/math">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Mean deviation </a:t>
                </a:r>
                <a:r>
                  <a:rPr lang="en-IN" sz="2400">
                    <a:solidFill>
                      <a:srgbClr val="111827"/>
                    </a:solidFill>
                    <a:latin typeface="Cambria Math" panose="02040503050406030204" pitchFamily="18" charset="0"/>
                  </a:rPr>
                  <a:t>$=\frac{n^2-1}{4n}=\frac{5(n+1)}{n}$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$n-1=20$</a:t>
                </a:r>
                <a:r>
                  <a:rPr sz="2400" b="0">
                    <a:solidFill>
                      <a:srgbClr val="111827"/>
                    </a:solidFill>
                    <a:latin typeface="Arial"/>
                  </a:rPr>
                  <a:t> after cancelling </a:t>
                </a:r>
                <a:r>
                  <a:rPr lang="en-IN" sz="2400">
                    <a:solidFill>
                      <a:srgbClr val="111827"/>
                    </a:solidFill>
                    <a:latin typeface="Cambria Math" panose="02040503050406030204" pitchFamily="18" charset="0"/>
                  </a:rPr>
                  <a:t>$\frac{n+1}{n}$</a:t>
                </a:r>
                <a:r>
                  <a:rPr sz="2400" b="0">
                    <a:solidFill>
                      <a:srgbClr val="111827"/>
                    </a:solidFill>
                    <a:latin typeface="Arial"/>
                  </a:rPr>
                  <a:t>, so </a:t>
                </a:r>
                <a:r>
                  <a:rPr lang="en-IN" sz="2400">
                    <a:solidFill>
                      <a:srgbClr val="111827"/>
                    </a:solidFill>
                    <a:latin typeface="Cambria Math" panose="02040503050406030204" pitchFamily="18" charset="0"/>
                  </a:rPr>
                  <a:t>$n=21$</a:t>
                </a:r>
                <a:r>
                  <a:rPr sz="2400" b="0">
                    <a:solidFill>
                      <a:srgbClr val="111827"/>
                    </a:solidFill>
                    <a:latin typeface="Arial"/>
                  </a:rPr>
                  <a:t> (equivalently </a:t>
                </a:r>
                <a:r>
                  <a:rPr lang="en-IN" sz="2400">
                    <a:solidFill>
                      <a:srgbClr val="111827"/>
                    </a:solidFill>
                    <a:latin typeface="Cambria Math" panose="02040503050406030204" pitchFamily="18" charset="0"/>
                  </a:rPr>
                  <a:t>$n^2-20n-21=0$</a:t>
                </a:r>
                <a:r>
                  <a:rPr sz="2400" b="0">
                    <a:solidFill>
                      <a:srgbClr val="111827"/>
                    </a:solidFill>
                    <a:latin typeface="Arial"/>
                  </a:rPr>
                  <a:t>, </a:t>
                </a:r>
                <a:r>
                  <a:rPr lang="en-IN" sz="2400">
                    <a:solidFill>
                      <a:srgbClr val="111827"/>
                    </a:solidFill>
                    <a:latin typeface="Cambria Math" panose="02040503050406030204" pitchFamily="18" charset="0"/>
                  </a:rPr>
                  <a:t>$(n+1)(n-21)=0$</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14:m>
                  <m:oMath xmlns:m="http://schemas.openxmlformats.org/officeDocument/2006/math">
                    <m:r>
                      <a:rPr lang="en-IN" sz="2800" i="1">
                        <a:solidFill>
                          <a:srgbClr val="15803D"/>
                        </a:solidFill>
                        <a:latin typeface="Cambria Math" panose="02040503050406030204" pitchFamily="18" charset="0"/>
                      </a:rPr>
                      <m:t>21</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r>
                  <a:rPr lang="en-IN" sz="2800">
                    <a:solidFill>
                      <a:srgbClr val="15803D"/>
                    </a:solidFill>
                    <a:latin typeface="Cambria Math" panose="02040503050406030204" pitchFamily="18" charset="0"/>
                  </a:rPr>
                  <a:t>$21$</a:t>
                </a:r>
                <a:endParaRPr sz="2800">
                  <a:solidFill>
                    <a:srgbClr val="15803D"/>
                  </a:solidFill>
                </a:endParaRPr>
              </a:p>
            </p:txBody>
          </p:sp>
        </mc:Fallback>
      </mc:AlternateContent>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p:sp>
        <p:nvSpPr>
          <p:cNvPr id="5" name="Rounded Rectangle 4"/>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Symmetric pairing of the terms about the middle term.</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Pair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 both are at distance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 from the mean.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distances are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so MD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𝑛</m:t>
                        </m:r>
                      </m:den>
                    </m:f>
                  </m:oMath>
                </a14:m>
                <a:r>
                  <a:rPr sz="2400" b="0">
                    <a:solidFill>
                      <a:srgbClr val="111827"/>
                    </a:solidFill>
                    <a:latin typeface="Arial"/>
                  </a:rPr>
                  <a:t>; equating to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𝑛</m:t>
                        </m:r>
                      </m:den>
                    </m:f>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oMath>
                </a14:m>
                <a:r>
                  <a:rPr sz="2400" b="0">
                    <a:solidFill>
                      <a:srgbClr val="111827"/>
                    </a:solidFill>
                    <a:latin typeface="Arial"/>
                  </a:rPr>
                  <a:t>, the same answer.</a:t>
                </a:r>
                <a:endParaRPr sz="2400">
                  <a:solidFill>
                    <a:srgbClr val="111827"/>
                  </a:solidFill>
                </a:endParaRPr>
              </a:p>
            </p:txBody>
          </p:sp>
        </mc:Choice>
        <mc:Fallback>
          <p:sp>
            <p:nvSpPr>
              <p:cNvPr id="6" name="Rectangle 5"/>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Pair </a:t>
                </a:r>
                <a:r>
                  <a:rPr lang="en-IN" sz="2400">
                    <a:solidFill>
                      <a:srgbClr val="111827"/>
                    </a:solidFill>
                    <a:latin typeface="Cambria Math" panose="02040503050406030204" pitchFamily="18" charset="0"/>
                  </a:rPr>
                  <a:t>$k$</a:t>
                </a:r>
                <a:r>
                  <a:rPr sz="2400" b="0">
                    <a:solidFill>
                      <a:srgbClr val="111827"/>
                    </a:solidFill>
                    <a:latin typeface="Arial"/>
                  </a:rPr>
                  <a:t> with </a:t>
                </a:r>
                <a:r>
                  <a:rPr lang="en-IN" sz="2400">
                    <a:solidFill>
                      <a:srgbClr val="111827"/>
                    </a:solidFill>
                    <a:latin typeface="Cambria Math" panose="02040503050406030204" pitchFamily="18" charset="0"/>
                  </a:rPr>
                  <a:t>$n+1-k$</a:t>
                </a:r>
                <a:r>
                  <a:rPr sz="2400" b="0">
                    <a:solidFill>
                      <a:srgbClr val="111827"/>
                    </a:solidFill>
                    <a:latin typeface="Arial"/>
                  </a:rPr>
                  <a:t>: both are at distance </a:t>
                </a:r>
                <a:r>
                  <a:rPr lang="en-IN" sz="2400">
                    <a:solidFill>
                      <a:srgbClr val="111827"/>
                    </a:solidFill>
                    <a:latin typeface="Cambria Math" panose="02040503050406030204" pitchFamily="18" charset="0"/>
                  </a:rPr>
                  <a:t>$\left|k-\frac{n+1}{2}\right|$</a:t>
                </a:r>
                <a:r>
                  <a:rPr sz="2400" b="0">
                    <a:solidFill>
                      <a:srgbClr val="111827"/>
                    </a:solidFill>
                    <a:latin typeface="Arial"/>
                  </a:rPr>
                  <a:t> from the mean.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distances are </a:t>
                </a:r>
                <a:r>
                  <a:rPr lang="en-IN" sz="2400">
                    <a:solidFill>
                      <a:srgbClr val="111827"/>
                    </a:solidFill>
                    <a:latin typeface="Cambria Math" panose="02040503050406030204" pitchFamily="18" charset="0"/>
                  </a:rPr>
                  <a:t>$\frac{n-1}{2},\dots,2,1,0,1,2,\dots,\frac{n-1}{2}$</a:t>
                </a:r>
                <a:r>
                  <a:rPr sz="2400" b="0">
                    <a:solidFill>
                      <a:srgbClr val="111827"/>
                    </a:solidFill>
                    <a:latin typeface="Arial"/>
                  </a:rPr>
                  <a:t>, so </a:t>
                </a:r>
                <a:r>
                  <a:rPr lang="en-IN" sz="2400">
                    <a:solidFill>
                      <a:srgbClr val="111827"/>
                    </a:solidFill>
                    <a:latin typeface="Cambria Math" panose="02040503050406030204" pitchFamily="18" charset="0"/>
                  </a:rPr>
                  <a:t>$\sum|x_i-\bar{x}|=2\cdot\frac{m(m+1)}{2}=m(m+1)$</a:t>
                </a:r>
                <a:r>
                  <a:rPr sz="2400" b="0">
                    <a:solidFill>
                      <a:srgbClr val="111827"/>
                    </a:solidFill>
                    <a:latin typeface="Arial"/>
                  </a:rPr>
                  <a:t> with </a:t>
                </a:r>
                <a:r>
                  <a:rPr lang="en-IN" sz="2400">
                    <a:solidFill>
                      <a:srgbClr val="111827"/>
                    </a:solidFill>
                    <a:latin typeface="Cambria Math" panose="02040503050406030204" pitchFamily="18" charset="0"/>
                  </a:rPr>
                  <a:t>$m=\frac{n-1}{2}$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$m(m+1)=\frac{n-1}{2}\cdot\frac{n+1}{2}$</a:t>
                </a:r>
                <a:r>
                  <a:rPr sz="2400" b="0">
                    <a:solidFill>
                      <a:srgbClr val="111827"/>
                    </a:solidFill>
                    <a:latin typeface="Arial"/>
                  </a:rPr>
                  <a:t>, so MD </a:t>
                </a:r>
                <a:r>
                  <a:rPr lang="en-IN" sz="2400">
                    <a:solidFill>
                      <a:srgbClr val="111827"/>
                    </a:solidFill>
                    <a:latin typeface="Cambria Math" panose="02040503050406030204" pitchFamily="18" charset="0"/>
                  </a:rPr>
                  <a:t>$=\frac{n^2-1}{4n}$</a:t>
                </a:r>
                <a:r>
                  <a:rPr sz="2400" b="0">
                    <a:solidFill>
                      <a:srgbClr val="111827"/>
                    </a:solidFill>
                    <a:latin typeface="Arial"/>
                  </a:rPr>
                  <a:t>; equating to </a:t>
                </a:r>
                <a:r>
                  <a:rPr lang="en-IN" sz="2400">
                    <a:solidFill>
                      <a:srgbClr val="111827"/>
                    </a:solidFill>
                    <a:latin typeface="Cambria Math" panose="02040503050406030204" pitchFamily="18" charset="0"/>
                  </a:rPr>
                  <a:t>$\frac{5(n+1)}{n}$</a:t>
                </a:r>
                <a:r>
                  <a:rPr sz="2400" b="0">
                    <a:solidFill>
                      <a:srgbClr val="111827"/>
                    </a:solidFill>
                    <a:latin typeface="Arial"/>
                  </a:rPr>
                  <a:t> gives </a:t>
                </a:r>
                <a:r>
                  <a:rPr lang="en-IN" sz="2400">
                    <a:solidFill>
                      <a:srgbClr val="111827"/>
                    </a:solidFill>
                    <a:latin typeface="Cambria Math" panose="02040503050406030204" pitchFamily="18" charset="0"/>
                  </a:rPr>
                  <a:t>$n=21$</a:t>
                </a:r>
                <a:r>
                  <a:rPr sz="2400" b="0">
                    <a:solidFill>
                      <a:srgbClr val="111827"/>
                    </a:solidFill>
                    <a:latin typeface="Arial"/>
                  </a:rPr>
                  <a:t>, the same answer.</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14:m>
                  <m:oMath xmlns:m="http://schemas.openxmlformats.org/officeDocument/2006/math">
                    <m:r>
                      <a:rPr lang="en-IN" sz="2800" i="1">
                        <a:solidFill>
                          <a:srgbClr val="15803D"/>
                        </a:solidFill>
                        <a:latin typeface="Cambria Math" panose="02040503050406030204" pitchFamily="18" charset="0"/>
                      </a:rPr>
                      <m:t>21</m:t>
                    </m:r>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r>
                  <a:rPr lang="en-IN" sz="2800">
                    <a:solidFill>
                      <a:srgbClr val="15803D"/>
                    </a:solidFill>
                    <a:latin typeface="Cambria Math" panose="02040503050406030204" pitchFamily="18" charset="0"/>
                  </a:rPr>
                  <a:t>$21$</a:t>
                </a:r>
                <a:endParaRPr sz="2800">
                  <a:solidFill>
                    <a:srgbClr val="15803D"/>
                  </a:solidFill>
                </a:endParaRPr>
              </a:p>
            </p:txBody>
          </p:sp>
        </mc:Fallback>
      </mc:AlternateContent>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 MD about the mean is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𝑛</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odd) and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even).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MD of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12</m:t>
                        </m:r>
                      </m:den>
                    </m:f>
                  </m:oMath>
                </a14:m>
                <a:r>
                  <a:rPr sz="2400" b="0">
                    <a:solidFill>
                      <a:srgbClr val="111827"/>
                    </a:solidFill>
                    <a:latin typeface="Arial"/>
                  </a:rPr>
                  <a:t> ✓.</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$1,2,\dots,n$</a:t>
                </a:r>
                <a:r>
                  <a:rPr sz="2400" b="0">
                    <a:solidFill>
                      <a:srgbClr val="111827"/>
                    </a:solidFill>
                    <a:latin typeface="Arial"/>
                  </a:rPr>
                  <a:t>: MD about the mean is </a:t>
                </a:r>
                <a:r>
                  <a:rPr lang="en-IN" sz="2400">
                    <a:solidFill>
                      <a:srgbClr val="111827"/>
                    </a:solidFill>
                    <a:latin typeface="Cambria Math" panose="02040503050406030204" pitchFamily="18" charset="0"/>
                  </a:rPr>
                  <a:t>$\frac{n^2-1}{4n}$</a:t>
                </a:r>
                <a:r>
                  <a:rPr sz="2400" b="0">
                    <a:solidFill>
                      <a:srgbClr val="111827"/>
                    </a:solidFill>
                    <a:latin typeface="Arial"/>
                  </a:rPr>
                  <a:t> (</a:t>
                </a:r>
                <a:r>
                  <a:rPr lang="en-IN" sz="2400">
                    <a:solidFill>
                      <a:srgbClr val="111827"/>
                    </a:solidFill>
                    <a:latin typeface="Cambria Math" panose="02040503050406030204" pitchFamily="18" charset="0"/>
                  </a:rPr>
                  <a:t>$n$</a:t>
                </a:r>
                <a:r>
                  <a:rPr sz="2400" b="0">
                    <a:solidFill>
                      <a:srgbClr val="111827"/>
                    </a:solidFill>
                    <a:latin typeface="Arial"/>
                  </a:rPr>
                  <a:t> odd) and </a:t>
                </a:r>
                <a:r>
                  <a:rPr lang="en-IN" sz="2400">
                    <a:solidFill>
                      <a:srgbClr val="111827"/>
                    </a:solidFill>
                    <a:latin typeface="Cambria Math" panose="02040503050406030204" pitchFamily="18" charset="0"/>
                  </a:rPr>
                  <a:t>$\frac{n}{4}$</a:t>
                </a:r>
                <a:r>
                  <a:rPr sz="2400" b="0">
                    <a:solidFill>
                      <a:srgbClr val="111827"/>
                    </a:solidFill>
                    <a:latin typeface="Arial"/>
                  </a:rPr>
                  <a:t> (</a:t>
                </a:r>
                <a:r>
                  <a:rPr lang="en-IN" sz="2400">
                    <a:solidFill>
                      <a:srgbClr val="111827"/>
                    </a:solidFill>
                    <a:latin typeface="Cambria Math" panose="02040503050406030204" pitchFamily="18" charset="0"/>
                  </a:rPr>
                  <a:t>$n$</a:t>
                </a:r>
                <a:r>
                  <a:rPr sz="2400" b="0">
                    <a:solidFill>
                      <a:srgbClr val="111827"/>
                    </a:solidFill>
                    <a:latin typeface="Arial"/>
                  </a:rPr>
                  <a:t> even).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$n=3$</a:t>
                </a:r>
                <a:r>
                  <a:rPr sz="2400" b="0">
                    <a:solidFill>
                      <a:srgbClr val="111827"/>
                    </a:solidFill>
                    <a:latin typeface="Arial"/>
                  </a:rPr>
                  <a:t>: MD of </a:t>
                </a:r>
                <a:r>
                  <a:rPr lang="en-IN" sz="2400">
                    <a:solidFill>
                      <a:srgbClr val="111827"/>
                    </a:solidFill>
                    <a:latin typeface="Cambria Math" panose="02040503050406030204" pitchFamily="18" charset="0"/>
                  </a:rPr>
                  <a:t>$1,2,3$</a:t>
                </a:r>
                <a:r>
                  <a:rPr sz="2400" b="0">
                    <a:solidFill>
                      <a:srgbClr val="111827"/>
                    </a:solidFill>
                    <a:latin typeface="Arial"/>
                  </a:rPr>
                  <a:t> is </a:t>
                </a:r>
                <a:r>
                  <a:rPr lang="en-IN" sz="2400">
                    <a:solidFill>
                      <a:srgbClr val="111827"/>
                    </a:solidFill>
                    <a:latin typeface="Cambria Math" panose="02040503050406030204" pitchFamily="18" charset="0"/>
                  </a:rPr>
                  <a:t>$\frac23=\frac{9-1}{12}$</a:t>
                </a:r>
                <a:r>
                  <a:rPr sz="2400" b="0">
                    <a:solidFill>
                      <a:srgbClr val="111827"/>
                    </a:solidFill>
                    <a:latin typeface="Arial"/>
                  </a:rPr>
                  <a:t> ✓.</a:t>
                </a:r>
                <a:endParaRPr sz="2400">
                  <a:solidFill>
                    <a:srgbClr val="111827"/>
                  </a:solidFill>
                </a:endParaRPr>
              </a:p>
            </p:txBody>
          </p:sp>
        </mc:Fallback>
      </mc:AlternateContent>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mean and standard deviation of 15 observations are found to be 8 and 3 respectively. On rechecking it was found that, in the observations, 20 was misread as 5. Then, the correct variance is equal to ______.</a:t>
            </a:r>
            <a:endParaRPr sz="2400">
              <a:solidFill>
                <a:srgbClr val="111827"/>
              </a:solidFill>
            </a:endParaRPr>
          </a:p>
        </p:txBody>
      </p:sp>
      <p:sp>
        <p:nvSpPr>
          <p:cNvPr id="5" name="Rectangle 4"/>
          <p:cNvSpPr/>
          <p:nvPr/>
        </p:nvSpPr>
        <p:spPr>
          <a:xfrm>
            <a:off x="731520" y="3516884"/>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Correcting a wrongly read observation (variance)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Correct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oMath>
                </a14:m>
                <a:r>
                  <a:rPr sz="2400" b="0">
                    <a:solidFill>
                      <a:srgbClr val="78350F"/>
                    </a:solidFill>
                    <a:latin typeface="Arial"/>
                  </a:rPr>
                  <a:t> and </a:t>
                </a:r>
                <a14:m>
                  <m:oMath xmlns:m="http://schemas.openxmlformats.org/officeDocument/2006/math">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and recompute.</a:t>
                </a:r>
                <a:endParaRPr sz="2400">
                  <a:solidFill>
                    <a:srgbClr val="78350F"/>
                  </a:solidFill>
                </a:endParaRPr>
              </a:p>
            </p:txBody>
          </p:sp>
        </mc:Choice>
        <mc:Fallback>
          <p:sp>
            <p:nvSpPr>
              <p:cNvPr id="4" name="Rounded Rectangle 3"/>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Correct </a:t>
                </a:r>
                <a:r>
                  <a:rPr lang="en-IN" sz="2400">
                    <a:solidFill>
                      <a:srgbClr val="78350F"/>
                    </a:solidFill>
                    <a:latin typeface="Cambria Math" panose="02040503050406030204" pitchFamily="18" charset="0"/>
                  </a:rPr>
                  <a:t>$\sum x$</a:t>
                </a:r>
                <a:r>
                  <a:rPr sz="2400" b="0">
                    <a:solidFill>
                      <a:srgbClr val="78350F"/>
                    </a:solidFill>
                    <a:latin typeface="Arial"/>
                  </a:rPr>
                  <a:t> and </a:t>
                </a:r>
                <a:r>
                  <a:rPr lang="en-IN" sz="2400">
                    <a:solidFill>
                      <a:srgbClr val="78350F"/>
                    </a:solidFill>
                    <a:latin typeface="Cambria Math" panose="02040503050406030204" pitchFamily="18" charset="0"/>
                  </a:rPr>
                  <a:t>$\sum x^2$</a:t>
                </a:r>
                <a:r>
                  <a:rPr sz="2400" b="0">
                    <a:solidFill>
                      <a:srgbClr val="78350F"/>
                    </a:solidFill>
                    <a:latin typeface="Arial"/>
                  </a:rPr>
                  <a:t> and recompute.</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120</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1095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Correct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135</m:t>
                    </m:r>
                  </m:oMath>
                </a14:m>
                <a:r>
                  <a:rPr sz="2400" b="0">
                    <a:solidFill>
                      <a:srgbClr val="111827"/>
                    </a:solidFill>
                    <a:latin typeface="Arial"/>
                  </a:rPr>
                  <a:t>, so the correct mean is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Correct </a:t>
                </a:r>
                <a14:m>
                  <m:oMath xmlns:m="http://schemas.openxmlformats.org/officeDocument/2006/math">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1095</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20</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1470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Correct variance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1470</m:t>
                        </m:r>
                      </m:num>
                      <m:den>
                        <m:r>
                          <a:rPr lang="en-IN" sz="2400" i="1">
                            <a:solidFill>
                              <a:srgbClr val="111827"/>
                            </a:solidFill>
                            <a:latin typeface="Cambria Math" panose="02040503050406030204" pitchFamily="18" charset="0"/>
                          </a:rPr>
                          <m:t>15</m:t>
                        </m:r>
                      </m:den>
                    </m:f>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135</m:t>
                                </m:r>
                              </m:num>
                              <m:den>
                                <m:r>
                                  <a:rPr lang="en-IN" sz="2400" i="1">
                                    <a:solidFill>
                                      <a:srgbClr val="111827"/>
                                    </a:solidFill>
                                    <a:latin typeface="Cambria Math" panose="02040503050406030204" pitchFamily="18" charset="0"/>
                                  </a:rPr>
                                  <m:t>15</m:t>
                                </m:r>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 x_i=15\times8=120$</a:t>
                </a:r>
                <a:r>
                  <a:rPr sz="2400" b="0">
                    <a:solidFill>
                      <a:srgbClr val="111827"/>
                    </a:solidFill>
                    <a:latin typeface="Arial"/>
                  </a:rPr>
                  <a:t> and </a:t>
                </a:r>
                <a:r>
                  <a:rPr lang="en-IN" sz="2400">
                    <a:solidFill>
                      <a:srgbClr val="111827"/>
                    </a:solidFill>
                    <a:latin typeface="Cambria Math" panose="02040503050406030204" pitchFamily="18" charset="0"/>
                  </a:rPr>
                  <a:t>$\sigma^2=9$</a:t>
                </a:r>
                <a:r>
                  <a:rPr sz="2400" b="0">
                    <a:solidFill>
                      <a:srgbClr val="111827"/>
                    </a:solidFill>
                    <a:latin typeface="Arial"/>
                  </a:rPr>
                  <a:t>, so </a:t>
                </a:r>
                <a:r>
                  <a:rPr lang="en-IN" sz="2400">
                    <a:solidFill>
                      <a:srgbClr val="111827"/>
                    </a:solidFill>
                    <a:latin typeface="Cambria Math" panose="02040503050406030204" pitchFamily="18" charset="0"/>
                  </a:rPr>
                  <a:t>$\sum x_i^2=15(9+64)=1095$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Correct </a:t>
                </a:r>
                <a:r>
                  <a:rPr lang="en-IN" sz="2400">
                    <a:solidFill>
                      <a:srgbClr val="111827"/>
                    </a:solidFill>
                    <a:latin typeface="Cambria Math" panose="02040503050406030204" pitchFamily="18" charset="0"/>
                  </a:rPr>
                  <a:t>$\sum x_i=120-5+20=135$</a:t>
                </a:r>
                <a:r>
                  <a:rPr sz="2400" b="0">
                    <a:solidFill>
                      <a:srgbClr val="111827"/>
                    </a:solidFill>
                    <a:latin typeface="Arial"/>
                  </a:rPr>
                  <a:t>, so the correct mean is </a:t>
                </a:r>
                <a:r>
                  <a:rPr lang="en-IN" sz="2400">
                    <a:solidFill>
                      <a:srgbClr val="111827"/>
                    </a:solidFill>
                    <a:latin typeface="Cambria Math" panose="02040503050406030204" pitchFamily="18" charset="0"/>
                  </a:rPr>
                  <a:t>$9$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Correct </a:t>
                </a:r>
                <a:r>
                  <a:rPr lang="en-IN" sz="2400">
                    <a:solidFill>
                      <a:srgbClr val="111827"/>
                    </a:solidFill>
                    <a:latin typeface="Cambria Math" panose="02040503050406030204" pitchFamily="18" charset="0"/>
                  </a:rPr>
                  <a:t>$\sum x_i^2=1095-5^2+20^2=1470$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Correct variance </a:t>
                </a:r>
                <a:r>
                  <a:rPr lang="en-IN" sz="2400">
                    <a:solidFill>
                      <a:srgbClr val="111827"/>
                    </a:solidFill>
                    <a:latin typeface="Cambria Math" panose="02040503050406030204" pitchFamily="18" charset="0"/>
                  </a:rPr>
                  <a:t>$=\frac{1470}{15}-\left(\frac{135}{15}\right)^2=98-81=17$</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14:m>
                  <m:oMath xmlns:m="http://schemas.openxmlformats.org/officeDocument/2006/math">
                    <m:r>
                      <a:rPr lang="en-IN" sz="2800" i="1">
                        <a:solidFill>
                          <a:srgbClr val="15803D"/>
                        </a:solidFill>
                        <a:latin typeface="Cambria Math" panose="02040503050406030204" pitchFamily="18" charset="0"/>
                      </a:rPr>
                      <m:t>17</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r>
                  <a:rPr lang="en-IN" sz="2800">
                    <a:solidFill>
                      <a:srgbClr val="15803D"/>
                    </a:solidFill>
                    <a:latin typeface="Cambria Math" panose="02040503050406030204" pitchFamily="18" charset="0"/>
                  </a:rPr>
                  <a:t>$17$</a:t>
                </a:r>
                <a:endParaRPr sz="2800">
                  <a:solidFill>
                    <a:srgbClr val="15803D"/>
                  </a:solidFill>
                </a:endParaRPr>
              </a:p>
            </p:txBody>
          </p:sp>
        </mc:Fallback>
      </mc:AlternateContent>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p:sp>
        <p:nvSpPr>
          <p:cNvPr id="5" name="Rounded Rectangle 4"/>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Update formula for a replaced observation.</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Replace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by </a:t>
                </a:r>
                <a14:m>
                  <m:oMath xmlns:m="http://schemas.openxmlformats.org/officeDocument/2006/math">
                    <m:r>
                      <a:rPr lang="en-IN" sz="2400" i="1">
                        <a:solidFill>
                          <a:srgbClr val="111827"/>
                        </a:solidFill>
                        <a:latin typeface="Cambria Math" panose="02040503050406030204" pitchFamily="18" charset="0"/>
                      </a:rPr>
                      <m:t>20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old mean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new mean </a:t>
                </a:r>
                <a14:m>
                  <m:oMath xmlns:m="http://schemas.openxmlformats.org/officeDocument/2006/math">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m:t>
                        </m:r>
                      </m:num>
                      <m:den>
                        <m:r>
                          <a:rPr lang="en-IN" sz="2400" i="1">
                            <a:solidFill>
                              <a:srgbClr val="111827"/>
                            </a:solidFill>
                            <a:latin typeface="Cambria Math" panose="02040503050406030204" pitchFamily="18" charset="0"/>
                          </a:rPr>
                          <m:t>15</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old variance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σ</m:t>
                        </m:r>
                      </m:e>
                      <m:sup>
                        <m:r>
                          <m:rPr>
                            <m:sty m:val="p"/>
                          </m:rPr>
                          <a:rPr lang="en-IN" sz="2400">
                            <a:solidFill>
                              <a:srgbClr val="111827"/>
                            </a:solidFill>
                            <a:latin typeface="Cambria Math" panose="02040503050406030204" pitchFamily="18" charset="0"/>
                          </a:rPr>
                          <m:t>′</m:t>
                        </m:r>
                      </m:sup>
                    </m:sSup>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20</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15</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9</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8</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oMath>
                </a14:m>
                <a:r>
                  <a:rPr sz="2400" b="0">
                    <a:solidFill>
                      <a:srgbClr val="111827"/>
                    </a:solidFill>
                    <a:latin typeface="Arial"/>
                  </a:rPr>
                  <a:t>, the same answer.</a:t>
                </a:r>
                <a:endParaRPr sz="2400">
                  <a:solidFill>
                    <a:srgbClr val="111827"/>
                  </a:solidFill>
                </a:endParaRPr>
              </a:p>
            </p:txBody>
          </p:sp>
        </mc:Choice>
        <mc:Fallback>
          <p:sp>
            <p:nvSpPr>
              <p:cNvPr id="6" name="Rectangle 5"/>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Replace </a:t>
                </a:r>
                <a:r>
                  <a:rPr lang="en-IN" sz="2400">
                    <a:solidFill>
                      <a:srgbClr val="111827"/>
                    </a:solidFill>
                    <a:latin typeface="Cambria Math" panose="02040503050406030204" pitchFamily="18" charset="0"/>
                  </a:rPr>
                  <a:t>$5$</a:t>
                </a:r>
                <a:r>
                  <a:rPr sz="2400" b="0">
                    <a:solidFill>
                      <a:srgbClr val="111827"/>
                    </a:solidFill>
                    <a:latin typeface="Arial"/>
                  </a:rPr>
                  <a:t> by </a:t>
                </a:r>
                <a:r>
                  <a:rPr lang="en-IN" sz="2400">
                    <a:solidFill>
                      <a:srgbClr val="111827"/>
                    </a:solidFill>
                    <a:latin typeface="Cambria Math" panose="02040503050406030204" pitchFamily="18" charset="0"/>
                  </a:rPr>
                  <a:t>$20$</a:t>
                </a:r>
                <a:r>
                  <a:rPr sz="2400" b="0">
                    <a:solidFill>
                      <a:srgbClr val="111827"/>
                    </a:solidFill>
                    <a:latin typeface="Arial"/>
                  </a:rPr>
                  <a:t>: </a:t>
                </a:r>
                <a:r>
                  <a:rPr lang="en-IN" sz="2400">
                    <a:solidFill>
                      <a:srgbClr val="111827"/>
                    </a:solidFill>
                    <a:latin typeface="Cambria Math" panose="02040503050406030204" pitchFamily="18" charset="0"/>
                  </a:rPr>
                  <a:t>$n=15$</a:t>
                </a:r>
                <a:r>
                  <a:rPr sz="2400" b="0">
                    <a:solidFill>
                      <a:srgbClr val="111827"/>
                    </a:solidFill>
                    <a:latin typeface="Arial"/>
                  </a:rPr>
                  <a:t>, old mean </a:t>
                </a:r>
                <a:r>
                  <a:rPr lang="en-IN" sz="2400">
                    <a:solidFill>
                      <a:srgbClr val="111827"/>
                    </a:solidFill>
                    <a:latin typeface="Cambria Math" panose="02040503050406030204" pitchFamily="18" charset="0"/>
                  </a:rPr>
                  <a:t>$8$</a:t>
                </a:r>
                <a:r>
                  <a:rPr sz="2400" b="0">
                    <a:solidFill>
                      <a:srgbClr val="111827"/>
                    </a:solidFill>
                    <a:latin typeface="Arial"/>
                  </a:rPr>
                  <a:t>, new mean </a:t>
                </a:r>
                <a:r>
                  <a:rPr lang="en-IN" sz="2400">
                    <a:solidFill>
                      <a:srgbClr val="111827"/>
                    </a:solidFill>
                    <a:latin typeface="Cambria Math" panose="02040503050406030204" pitchFamily="18" charset="0"/>
                  </a:rPr>
                  <a:t>$8+\frac{15}{15}=9$</a:t>
                </a:r>
                <a:r>
                  <a:rPr sz="2400" b="0">
                    <a:solidFill>
                      <a:srgbClr val="111827"/>
                    </a:solidFill>
                    <a:latin typeface="Arial"/>
                  </a:rPr>
                  <a:t>, old variance </a:t>
                </a:r>
                <a:r>
                  <a:rPr lang="en-IN" sz="2400">
                    <a:solidFill>
                      <a:srgbClr val="111827"/>
                    </a:solidFill>
                    <a:latin typeface="Cambria Math" panose="02040503050406030204" pitchFamily="18" charset="0"/>
                  </a:rPr>
                  <a:t>$9$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$\sigma'^2=9+\frac{20^2-5^2}{15}-(9^2-8^2)=9+25-17=17$</a:t>
                </a:r>
                <a:r>
                  <a:rPr sz="2400" b="0">
                    <a:solidFill>
                      <a:srgbClr val="111827"/>
                    </a:solidFill>
                    <a:latin typeface="Arial"/>
                  </a:rPr>
                  <a:t>, the same answer.</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14:m>
                  <m:oMath xmlns:m="http://schemas.openxmlformats.org/officeDocument/2006/math">
                    <m:r>
                      <a:rPr lang="en-IN" sz="2800" i="1">
                        <a:solidFill>
                          <a:srgbClr val="15803D"/>
                        </a:solidFill>
                        <a:latin typeface="Cambria Math" panose="02040503050406030204" pitchFamily="18" charset="0"/>
                      </a:rPr>
                      <m:t>17</m:t>
                    </m:r>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r>
                  <a:rPr lang="en-IN" sz="2800">
                    <a:solidFill>
                      <a:srgbClr val="15803D"/>
                    </a:solidFill>
                    <a:latin typeface="Cambria Math" panose="02040503050406030204" pitchFamily="18" charset="0"/>
                  </a:rPr>
                  <a:t>$17$</a:t>
                </a:r>
                <a:endParaRPr sz="2800">
                  <a:solidFill>
                    <a:srgbClr val="15803D"/>
                  </a:solidFill>
                </a:endParaRPr>
              </a:p>
            </p:txBody>
          </p:sp>
        </mc:Fallback>
      </mc:AlternateContent>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20</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375</m:t>
                    </m:r>
                  </m:oMath>
                </a14:m>
                <a:r>
                  <a:rPr sz="2400" b="0">
                    <a:solidFill>
                      <a:srgbClr val="111827"/>
                    </a:solidFill>
                    <a:latin typeface="Arial"/>
                  </a:rPr>
                  <a:t> gives the change in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at once.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misreading raised the mean (8 to 9) and the spread: the variance goes from 9 to 17.</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$20^2-5^2=(20-5)(20+5)=375$</a:t>
                </a:r>
                <a:r>
                  <a:rPr sz="2400" b="0">
                    <a:solidFill>
                      <a:srgbClr val="111827"/>
                    </a:solidFill>
                    <a:latin typeface="Arial"/>
                  </a:rPr>
                  <a:t> gives the change in </a:t>
                </a:r>
                <a:r>
                  <a:rPr lang="en-IN" sz="2400">
                    <a:solidFill>
                      <a:srgbClr val="111827"/>
                    </a:solidFill>
                    <a:latin typeface="Cambria Math" panose="02040503050406030204" pitchFamily="18" charset="0"/>
                  </a:rPr>
                  <a:t>$\sum x^2$</a:t>
                </a:r>
                <a:r>
                  <a:rPr sz="2400" b="0">
                    <a:solidFill>
                      <a:srgbClr val="111827"/>
                    </a:solidFill>
                    <a:latin typeface="Arial"/>
                  </a:rPr>
                  <a:t> at once.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misreading raised the mean (8 to 9) and the spread: the variance goes from 9 to 17.</a:t>
                </a:r>
                <a:endParaRPr sz="2400">
                  <a:solidFill>
                    <a:srgbClr val="111827"/>
                  </a:solidFill>
                </a:endParaRPr>
              </a:p>
            </p:txBody>
          </p:sp>
        </mc:Fallback>
      </mc:AlternateContent>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731520" y="1280160"/>
            <a:ext cx="10725912" cy="2379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Suppose a class has 7 students. The average marks of these students in the mathematics examination is 62 and their variance is 20. A student fails in the examination if he/she gets less than 50 marks, then in worst case, the number of students can fail is ______.</a:t>
            </a:r>
            <a:endParaRPr sz="2400">
              <a:solidFill>
                <a:srgbClr val="111827"/>
              </a:solidFill>
            </a:endParaRPr>
          </a:p>
        </p:txBody>
      </p:sp>
      <p:sp>
        <p:nvSpPr>
          <p:cNvPr id="5" name="Rectangle 4"/>
          <p:cNvSpPr/>
          <p:nvPr/>
        </p:nvSpPr>
        <p:spPr>
          <a:xfrm>
            <a:off x="731520" y="3888739"/>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Bounds on observations from mean and variance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 single failing mark would be at least 12 below the mean, which makes </a:t>
                </a:r>
                <a14:m>
                  <m:oMath xmlns:m="http://schemas.openxmlformats.org/officeDocument/2006/math">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𝑥</m:t>
                        </m:r>
                      </m:e>
                      <m:sub>
                        <m:r>
                          <a:rPr lang="en-IN" sz="2400" i="1">
                            <a:solidFill>
                              <a:srgbClr val="78350F"/>
                            </a:solidFill>
                            <a:latin typeface="Cambria Math" panose="02040503050406030204" pitchFamily="18" charset="0"/>
                          </a:rPr>
                          <m:t>𝑖</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62</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&gt;</m:t>
                    </m:r>
                    <m:r>
                      <a:rPr lang="en-IN" sz="2400" i="1">
                        <a:solidFill>
                          <a:srgbClr val="78350F"/>
                        </a:solidFill>
                        <a:latin typeface="Cambria Math" panose="02040503050406030204" pitchFamily="18" charset="0"/>
                      </a:rPr>
                      <m:t>140</m:t>
                    </m:r>
                  </m:oMath>
                </a14:m>
                <a:r>
                  <a:rPr sz="2400" b="0">
                    <a:solidFill>
                      <a:srgbClr val="78350F"/>
                    </a:solidFill>
                    <a:latin typeface="Arial"/>
                  </a:rPr>
                  <a:t>, more than the total allowed.</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 single failing mark would be at least 12 below the mean, which makes </a:t>
                </a:r>
                <a:r>
                  <a:rPr lang="en-IN" sz="2400">
                    <a:solidFill>
                      <a:srgbClr val="78350F"/>
                    </a:solidFill>
                    <a:latin typeface="Cambria Math" panose="02040503050406030204" pitchFamily="18" charset="0"/>
                  </a:rPr>
                  <a:t>$\sum(x_i-62)^2&gt;140$</a:t>
                </a:r>
                <a:r>
                  <a:rPr sz="2400" b="0">
                    <a:solidFill>
                      <a:srgbClr val="78350F"/>
                    </a:solidFill>
                    <a:latin typeface="Arial"/>
                  </a:rPr>
                  <a:t>, more than the total allowed.</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Mean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62</m:t>
                    </m:r>
                  </m:oMath>
                </a14:m>
                <a:r>
                  <a:rPr sz="2400" b="0">
                    <a:solidFill>
                      <a:srgbClr val="111827"/>
                    </a:solidFill>
                    <a:latin typeface="Arial"/>
                  </a:rPr>
                  <a:t>, variance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Suppose some student fails: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50</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62</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144</m:t>
                    </m:r>
                  </m:oMath>
                </a14:m>
                <a:r>
                  <a:rPr sz="2400" b="0">
                    <a:solidFill>
                      <a:srgbClr val="111827"/>
                    </a:solidFill>
                    <a:latin typeface="Arial"/>
                  </a:rPr>
                  <a:t> (for example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49</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169</m:t>
                    </m:r>
                  </m:oMath>
                </a14:m>
                <a:r>
                  <a:rPr sz="2400" b="0">
                    <a:solidFill>
                      <a:srgbClr val="111827"/>
                    </a:solidFill>
                    <a:latin typeface="Arial"/>
                  </a:rPr>
                  <a:t>), which exceeds the total </a:t>
                </a:r>
                <a14:m>
                  <m:oMath xmlns:m="http://schemas.openxmlformats.org/officeDocument/2006/math">
                    <m:r>
                      <a:rPr lang="en-IN" sz="2400" i="1">
                        <a:solidFill>
                          <a:srgbClr val="111827"/>
                        </a:solidFill>
                        <a:latin typeface="Cambria Math" panose="02040503050406030204" pitchFamily="18" charset="0"/>
                      </a:rPr>
                      <m:t>140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That is impossible, since the other squares are non-negative.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no student can fail: the answer is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Mean </a:t>
                </a:r>
                <a:r>
                  <a:rPr lang="en-IN" sz="2400">
                    <a:solidFill>
                      <a:srgbClr val="111827"/>
                    </a:solidFill>
                    <a:latin typeface="Cambria Math" panose="02040503050406030204" pitchFamily="18" charset="0"/>
                  </a:rPr>
                  <a:t>$=62$</a:t>
                </a:r>
                <a:r>
                  <a:rPr sz="2400" b="0">
                    <a:solidFill>
                      <a:srgbClr val="111827"/>
                    </a:solidFill>
                    <a:latin typeface="Arial"/>
                  </a:rPr>
                  <a:t>, variance </a:t>
                </a:r>
                <a:r>
                  <a:rPr lang="en-IN" sz="2400">
                    <a:solidFill>
                      <a:srgbClr val="111827"/>
                    </a:solidFill>
                    <a:latin typeface="Cambria Math" panose="02040503050406030204" pitchFamily="18" charset="0"/>
                  </a:rPr>
                  <a:t>$=20$</a:t>
                </a:r>
                <a:r>
                  <a:rPr sz="2400" b="0">
                    <a:solidFill>
                      <a:srgbClr val="111827"/>
                    </a:solidFill>
                    <a:latin typeface="Arial"/>
                  </a:rPr>
                  <a:t>, </a:t>
                </a:r>
                <a:r>
                  <a:rPr lang="en-IN" sz="2400">
                    <a:solidFill>
                      <a:srgbClr val="111827"/>
                    </a:solidFill>
                    <a:latin typeface="Cambria Math" panose="02040503050406030204" pitchFamily="18" charset="0"/>
                  </a:rPr>
                  <a:t>$n=7$</a:t>
                </a:r>
                <a:r>
                  <a:rPr sz="2400" b="0">
                    <a:solidFill>
                      <a:srgbClr val="111827"/>
                    </a:solidFill>
                    <a:latin typeface="Arial"/>
                  </a:rPr>
                  <a:t>, so </a:t>
                </a:r>
                <a:r>
                  <a:rPr lang="en-IN" sz="2400">
                    <a:solidFill>
                      <a:srgbClr val="111827"/>
                    </a:solidFill>
                    <a:latin typeface="Cambria Math" panose="02040503050406030204" pitchFamily="18" charset="0"/>
                  </a:rPr>
                  <a:t>$\sum(x_i-62)^2=7\times20=140$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Suppose some student fails: </a:t>
                </a:r>
                <a:r>
                  <a:rPr lang="en-IN" sz="2400">
                    <a:solidFill>
                      <a:srgbClr val="111827"/>
                    </a:solidFill>
                    <a:latin typeface="Cambria Math" panose="02040503050406030204" pitchFamily="18" charset="0"/>
                  </a:rPr>
                  <a:t>$x_1&lt;50$</a:t>
                </a:r>
                <a:r>
                  <a:rPr sz="2400" b="0">
                    <a:solidFill>
                      <a:srgbClr val="111827"/>
                    </a:solidFill>
                    <a:latin typeface="Arial"/>
                  </a:rPr>
                  <a:t>, i.e. </a:t>
                </a:r>
                <a:r>
                  <a:rPr lang="en-IN" sz="2400">
                    <a:solidFill>
                      <a:srgbClr val="111827"/>
                    </a:solidFill>
                    <a:latin typeface="Cambria Math" panose="02040503050406030204" pitchFamily="18" charset="0"/>
                  </a:rPr>
                  <a:t>$62-x_1&gt;12$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r>
                  <a:rPr lang="en-IN" sz="2400">
                    <a:solidFill>
                      <a:srgbClr val="111827"/>
                    </a:solidFill>
                    <a:latin typeface="Cambria Math" panose="02040503050406030204" pitchFamily="18" charset="0"/>
                  </a:rPr>
                  <a:t>$(x_1-62)^2&gt;144$</a:t>
                </a:r>
                <a:r>
                  <a:rPr sz="2400" b="0">
                    <a:solidFill>
                      <a:srgbClr val="111827"/>
                    </a:solidFill>
                    <a:latin typeface="Arial"/>
                  </a:rPr>
                  <a:t> (for example </a:t>
                </a:r>
                <a:r>
                  <a:rPr lang="en-IN" sz="2400">
                    <a:solidFill>
                      <a:srgbClr val="111827"/>
                    </a:solidFill>
                    <a:latin typeface="Cambria Math" panose="02040503050406030204" pitchFamily="18" charset="0"/>
                  </a:rPr>
                  <a:t>$x_1=49$</a:t>
                </a:r>
                <a:r>
                  <a:rPr sz="2400" b="0">
                    <a:solidFill>
                      <a:srgbClr val="111827"/>
                    </a:solidFill>
                    <a:latin typeface="Arial"/>
                  </a:rPr>
                  <a:t> gives </a:t>
                </a:r>
                <a:r>
                  <a:rPr lang="en-IN" sz="2400">
                    <a:solidFill>
                      <a:srgbClr val="111827"/>
                    </a:solidFill>
                    <a:latin typeface="Cambria Math" panose="02040503050406030204" pitchFamily="18" charset="0"/>
                  </a:rPr>
                  <a:t>$169$</a:t>
                </a:r>
                <a:r>
                  <a:rPr sz="2400" b="0">
                    <a:solidFill>
                      <a:srgbClr val="111827"/>
                    </a:solidFill>
                    <a:latin typeface="Arial"/>
                  </a:rPr>
                  <a:t>), which exceeds the total </a:t>
                </a:r>
                <a:r>
                  <a:rPr lang="en-IN" sz="2400">
                    <a:solidFill>
                      <a:srgbClr val="111827"/>
                    </a:solidFill>
                    <a:latin typeface="Cambria Math" panose="02040503050406030204" pitchFamily="18" charset="0"/>
                  </a:rPr>
                  <a:t>$140$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That is impossible, since the other squares are non-negative.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no student can fail: the answer is </a:t>
                </a:r>
                <a:r>
                  <a:rPr lang="en-IN" sz="2400">
                    <a:solidFill>
                      <a:srgbClr val="111827"/>
                    </a:solidFill>
                    <a:latin typeface="Cambria Math" panose="02040503050406030204" pitchFamily="18" charset="0"/>
                  </a:rPr>
                  <a:t>$0$</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14:m>
                  <m:oMath xmlns:m="http://schemas.openxmlformats.org/officeDocument/2006/math">
                    <m:r>
                      <a:rPr lang="en-IN" sz="2800" i="1">
                        <a:solidFill>
                          <a:srgbClr val="15803D"/>
                        </a:solidFill>
                        <a:latin typeface="Cambria Math" panose="02040503050406030204" pitchFamily="18" charset="0"/>
                      </a:rPr>
                      <m:t>0</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r>
                  <a:rPr lang="en-IN" sz="2800">
                    <a:solidFill>
                      <a:srgbClr val="15803D"/>
                    </a:solidFill>
                    <a:latin typeface="Cambria Math" panose="02040503050406030204" pitchFamily="18" charset="0"/>
                  </a:rPr>
                  <a:t>$0$</a:t>
                </a:r>
                <a:endParaRPr sz="2800">
                  <a:solidFill>
                    <a:srgbClr val="15803D"/>
                  </a:solidFill>
                </a:endParaRPr>
              </a:p>
            </p:txBody>
          </p:sp>
        </mc:Fallback>
      </mc:AlternateContent>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Samuelson's inequality: every observation lies within </a:t>
                </a:r>
                <a14:m>
                  <m:oMath xmlns:m="http://schemas.openxmlformats.org/officeDocument/2006/math">
                    <m:r>
                      <a:rPr lang="en-IN" sz="2400" i="1">
                        <a:solidFill>
                          <a:srgbClr val="78350F"/>
                        </a:solidFill>
                        <a:latin typeface="Cambria Math" panose="02040503050406030204" pitchFamily="18" charset="0"/>
                      </a:rPr>
                      <m:t>σ</m:t>
                    </m:r>
                    <m:rad>
                      <m:radPr>
                        <m:degHide m:val="on"/>
                        <m:ctrlPr>
                          <a:rPr lang="en-IN" sz="2400" i="1">
                            <a:solidFill>
                              <a:srgbClr val="78350F"/>
                            </a:solidFill>
                            <a:latin typeface="Cambria Math" panose="02040503050406030204" pitchFamily="18" charset="0"/>
                          </a:rPr>
                        </m:ctrlPr>
                      </m:radPr>
                      <m:deg/>
                      <m:e>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e>
                    </m:rad>
                  </m:oMath>
                </a14:m>
                <a:r>
                  <a:rPr sz="2400" b="0">
                    <a:solidFill>
                      <a:srgbClr val="78350F"/>
                    </a:solidFill>
                    <a:latin typeface="Arial"/>
                  </a:rPr>
                  <a:t> of the mean.</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Samuelson's inequality: every observation lies within </a:t>
                </a:r>
                <a:r>
                  <a:rPr lang="en-IN" sz="2400">
                    <a:solidFill>
                      <a:srgbClr val="78350F"/>
                    </a:solidFill>
                    <a:latin typeface="Cambria Math" panose="02040503050406030204" pitchFamily="18" charset="0"/>
                  </a:rPr>
                  <a:t>$\sigma\sqrt{n-1}$</a:t>
                </a:r>
                <a:r>
                  <a:rPr sz="2400" b="0">
                    <a:solidFill>
                      <a:srgbClr val="78350F"/>
                    </a:solidFill>
                    <a:latin typeface="Arial"/>
                  </a:rPr>
                  <a:t> of the mean.</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observations,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σ</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a:t>
                </a:r>
                <a14:m>
                  <m:oMath xmlns:m="http://schemas.openxmlformats.org/officeDocument/2006/math">
                    <m:r>
                      <a:rPr lang="en-IN" sz="2400" i="1">
                        <a:solidFill>
                          <a:srgbClr val="111827"/>
                        </a:solidFill>
                        <a:latin typeface="Cambria Math" panose="02040503050406030204" pitchFamily="18" charset="0"/>
                      </a:rPr>
                      <m:t>σ</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20</m:t>
                        </m:r>
                      </m:e>
                    </m:rad>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120</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10.95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least possible mark is </a:t>
                </a:r>
                <a14:m>
                  <m:oMath xmlns:m="http://schemas.openxmlformats.org/officeDocument/2006/math">
                    <m:r>
                      <a:rPr lang="en-IN" sz="2400" i="1">
                        <a:solidFill>
                          <a:srgbClr val="111827"/>
                        </a:solidFill>
                        <a:latin typeface="Cambria Math" panose="02040503050406030204" pitchFamily="18" charset="0"/>
                      </a:rPr>
                      <m:t>62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10.95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51.05</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50</m:t>
                    </m:r>
                  </m:oMath>
                </a14:m>
                <a:r>
                  <a:rPr sz="2400" b="0">
                    <a:solidFill>
                      <a:srgbClr val="111827"/>
                    </a:solidFill>
                    <a:latin typeface="Arial"/>
                  </a:rPr>
                  <a:t>: nobody can fail, the same answer (0).</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$n$</a:t>
                </a:r>
                <a:r>
                  <a:rPr sz="2400" b="0">
                    <a:solidFill>
                      <a:srgbClr val="111827"/>
                    </a:solidFill>
                    <a:latin typeface="Arial"/>
                  </a:rPr>
                  <a:t> observations, </a:t>
                </a:r>
                <a:r>
                  <a:rPr lang="en-IN" sz="2400">
                    <a:solidFill>
                      <a:srgbClr val="111827"/>
                    </a:solidFill>
                    <a:latin typeface="Cambria Math" panose="02040503050406030204" pitchFamily="18" charset="0"/>
                  </a:rPr>
                  <a:t>$|x_i-\bar{x}|\le\sigma\sqrt{n-1}$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a:t>
                </a:r>
                <a:r>
                  <a:rPr lang="en-IN" sz="2400">
                    <a:solidFill>
                      <a:srgbClr val="111827"/>
                    </a:solidFill>
                    <a:latin typeface="Cambria Math" panose="02040503050406030204" pitchFamily="18" charset="0"/>
                  </a:rPr>
                  <a:t>$\sigma\sqrt{n-1}=\sqrt{20}\sqrt6=\sqrt{120}\approx10.95$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least possible mark is </a:t>
                </a:r>
                <a:r>
                  <a:rPr lang="en-IN" sz="2400">
                    <a:solidFill>
                      <a:srgbClr val="111827"/>
                    </a:solidFill>
                    <a:latin typeface="Cambria Math" panose="02040503050406030204" pitchFamily="18" charset="0"/>
                  </a:rPr>
                  <a:t>$62-10.95\approx51.05&gt;50$</a:t>
                </a:r>
                <a:r>
                  <a:rPr sz="2400" b="0">
                    <a:solidFill>
                      <a:srgbClr val="111827"/>
                    </a:solidFill>
                    <a:latin typeface="Arial"/>
                  </a:rPr>
                  <a:t>: nobody can fail, the same answer (0).</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14:m>
                  <m:oMath xmlns:m="http://schemas.openxmlformats.org/officeDocument/2006/math">
                    <m:r>
                      <a:rPr lang="en-IN" sz="2800" i="1">
                        <a:solidFill>
                          <a:srgbClr val="15803D"/>
                        </a:solidFill>
                        <a:latin typeface="Cambria Math" panose="02040503050406030204" pitchFamily="18" charset="0"/>
                      </a:rPr>
                      <m:t>0</m:t>
                    </m:r>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r>
                  <a:rPr lang="en-IN" sz="2800">
                    <a:solidFill>
                      <a:srgbClr val="15803D"/>
                    </a:solidFill>
                    <a:latin typeface="Cambria Math" panose="02040503050406030204" pitchFamily="18" charset="0"/>
                  </a:rPr>
                  <a:t>$0$</a:t>
                </a:r>
                <a:endParaRPr sz="2800">
                  <a:solidFill>
                    <a:srgbClr val="15803D"/>
                  </a:solidFill>
                </a:endParaRPr>
              </a:p>
            </p:txBody>
          </p:sp>
        </mc:Fallback>
      </mc:AlternateContent>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Samuelson's inequality: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σ</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rad>
                  </m:oMath>
                </a14:m>
                <a:r>
                  <a:rPr sz="2400" b="0">
                    <a:solidFill>
                      <a:srgbClr val="111827"/>
                    </a:solidFill>
                    <a:latin typeface="Arial"/>
                  </a:rPr>
                  <a:t>; each single observation's deviation is limited by the total sum of squared deviations </a:t>
                </a:r>
                <a14:m>
                  <m:oMath xmlns:m="http://schemas.openxmlformats.org/officeDocument/2006/math">
                    <m:r>
                      <a:rPr lang="en-IN" sz="2400" i="1">
                        <a:solidFill>
                          <a:srgbClr val="111827"/>
                        </a:solidFill>
                        <a:latin typeface="Cambria Math" panose="02040503050406030204" pitchFamily="18" charset="0"/>
                      </a:rPr>
                      <m:t>𝑛</m:t>
                    </m:r>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Simple form: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𝑗</m:t>
                        </m:r>
                      </m:sub>
                    </m:sSub>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(Chebyshev-like bound, weaker by a factor).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even the weaker bound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140</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11.8</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12</m:t>
                    </m:r>
                  </m:oMath>
                </a14:m>
                <a:r>
                  <a:rPr sz="2400" b="0">
                    <a:solidFill>
                      <a:srgbClr val="111827"/>
                    </a:solidFill>
                    <a:latin typeface="Arial"/>
                  </a:rPr>
                  <a:t> already settles it.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Samuelson's inequality: </a:t>
                </a:r>
                <a:r>
                  <a:rPr lang="en-IN" sz="2400">
                    <a:solidFill>
                      <a:srgbClr val="111827"/>
                    </a:solidFill>
                    <a:latin typeface="Cambria Math" panose="02040503050406030204" pitchFamily="18" charset="0"/>
                  </a:rPr>
                  <a:t>$|x_i-\bar{x}|\le\sigma\sqrt{n-1}$</a:t>
                </a:r>
                <a:r>
                  <a:rPr sz="2400" b="0">
                    <a:solidFill>
                      <a:srgbClr val="111827"/>
                    </a:solidFill>
                    <a:latin typeface="Arial"/>
                  </a:rPr>
                  <a:t>; each single observation's deviation is limited by the total sum of squared deviations </a:t>
                </a:r>
                <a:r>
                  <a:rPr lang="en-IN" sz="2400">
                    <a:solidFill>
                      <a:srgbClr val="111827"/>
                    </a:solidFill>
                    <a:latin typeface="Cambria Math" panose="02040503050406030204" pitchFamily="18" charset="0"/>
                  </a:rPr>
                  <a:t>$n\sigma^2$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Simple form: </a:t>
                </a:r>
                <a:r>
                  <a:rPr lang="en-IN" sz="2400">
                    <a:solidFill>
                      <a:srgbClr val="111827"/>
                    </a:solidFill>
                    <a:latin typeface="Cambria Math" panose="02040503050406030204" pitchFamily="18" charset="0"/>
                  </a:rPr>
                  <a:t>$(x_i-\bar{x})^2\le\sum(x_j-\bar{x})^2=n\sigma^2$</a:t>
                </a:r>
                <a:r>
                  <a:rPr sz="2400" b="0">
                    <a:solidFill>
                      <a:srgbClr val="111827"/>
                    </a:solidFill>
                    <a:latin typeface="Arial"/>
                  </a:rPr>
                  <a:t> (Chebyshev-like bound, weaker by a factor).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even the weaker bound </a:t>
                </a:r>
                <a:r>
                  <a:rPr lang="en-IN" sz="2400">
                    <a:solidFill>
                      <a:srgbClr val="111827"/>
                    </a:solidFill>
                    <a:latin typeface="Cambria Math" panose="02040503050406030204" pitchFamily="18" charset="0"/>
                  </a:rPr>
                  <a:t>$\sqrt{140}\approx11.8&lt;12$</a:t>
                </a:r>
                <a:r>
                  <a:rPr sz="2400" b="0">
                    <a:solidFill>
                      <a:srgbClr val="111827"/>
                    </a:solidFill>
                    <a:latin typeface="Arial"/>
                  </a:rPr>
                  <a:t> already settles it.</a:t>
                </a:r>
                <a:endParaRPr sz="2400">
                  <a:solidFill>
                    <a:srgbClr val="111827"/>
                  </a:solidFill>
                </a:endParaRPr>
              </a:p>
            </p:txBody>
          </p:sp>
        </mc:Fallback>
      </mc:AlternateContent>
    </p:spTree>
  </p:cSld>
  <p:clrMapOvr>
    <a:masterClrMapping/>
  </p:clrMapOvr>
</p:sld>
</file>

<file path=ppt/slides/slide3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17</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Single Correct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Q66 – Q67</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4 marks each (no marks printed in the sheet - JEE Advanced default of 4 assumed)</a:t>
            </a:r>
            <a:endParaRPr sz="2800">
              <a:solidFill>
                <a:srgbClr val="FFFFFF"/>
              </a:solidFill>
            </a:endParaRPr>
          </a:p>
        </p:txBody>
      </p:sp>
    </p:spTree>
  </p:cSld>
  <p:clrMapOvr>
    <a:masterClrMapping/>
  </p:clrMapOvr>
</p:sld>
</file>

<file path=ppt/slides/slide3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mean deviation about median for the numbers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oMath>
                </a14:m>
                <a:r>
                  <a:rPr sz="2400" b="0">
                    <a:solidFill>
                      <a:srgbClr val="111827"/>
                    </a:solidFill>
                    <a:latin typeface="Arial"/>
                  </a:rPr>
                  <a:t>, arranged in the ascending order, is 6 then the median is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11.5   (B) 10.5   (C) 12   (D) 11</a:t>
                </a:r>
                <a:endParaRPr sz="2400">
                  <a:solidFill>
                    <a:srgbClr val="111827"/>
                  </a:solidFill>
                </a:endParaRPr>
              </a:p>
            </p:txBody>
          </p:sp>
        </mc:Choice>
        <mc:Fallback>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mean deviation about median for the numbers </a:t>
                </a:r>
                <a:r>
                  <a:rPr lang="en-IN" sz="2400">
                    <a:solidFill>
                      <a:srgbClr val="111827"/>
                    </a:solidFill>
                    <a:latin typeface="Cambria Math" panose="02040503050406030204" pitchFamily="18" charset="0"/>
                  </a:rPr>
                  <a:t>$3,5,7,2k,12,16,21,24$</a:t>
                </a:r>
                <a:r>
                  <a:rPr sz="2400" b="0">
                    <a:solidFill>
                      <a:srgbClr val="111827"/>
                    </a:solidFill>
                    <a:latin typeface="Arial"/>
                  </a:rPr>
                  <a:t>, arranged in the ascending order, is 6 then the median is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11.5   (B) 10.5   (C) 12   (D) 11</a:t>
                </a:r>
                <a:endParaRPr sz="2400">
                  <a:solidFill>
                    <a:srgbClr val="111827"/>
                  </a:solidFill>
                </a:endParaRPr>
              </a:p>
            </p:txBody>
          </p:sp>
        </mc:Fallback>
      </mc:AlternateContent>
      <p:sp>
        <p:nvSpPr>
          <p:cNvPr id="5" name="Rectangle 4"/>
          <p:cNvSpPr/>
          <p:nvPr/>
        </p:nvSpPr>
        <p:spPr>
          <a:xfrm>
            <a:off x="731520" y="3580383"/>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Mean deviation about the median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3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847344"/>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Median </a:t>
                </a:r>
                <a14:m>
                  <m:oMath xmlns:m="http://schemas.openxmlformats.org/officeDocument/2006/math">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𝑘</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12</m:t>
                        </m:r>
                      </m:num>
                      <m:den>
                        <m:r>
                          <a:rPr lang="en-IN" sz="2400" i="1">
                            <a:solidFill>
                              <a:srgbClr val="78350F"/>
                            </a:solidFill>
                            <a:latin typeface="Cambria Math" panose="02040503050406030204" pitchFamily="18" charset="0"/>
                          </a:rPr>
                          <m:t>2</m:t>
                        </m:r>
                      </m:den>
                    </m:f>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𝑘</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6</m:t>
                    </m:r>
                  </m:oMath>
                </a14:m>
                <a:r>
                  <a:rPr sz="2400" b="0">
                    <a:solidFill>
                      <a:srgbClr val="78350F"/>
                    </a:solidFill>
                    <a:latin typeface="Arial"/>
                  </a:rPr>
                  <a:t>; write each deviation and sum.</a:t>
                </a:r>
                <a:endParaRPr sz="2400">
                  <a:solidFill>
                    <a:srgbClr val="78350F"/>
                  </a:solidFill>
                </a:endParaRPr>
              </a:p>
            </p:txBody>
          </p:sp>
        </mc:Choice>
        <mc:Fallback>
          <p:sp>
            <p:nvSpPr>
              <p:cNvPr id="4" name="Rounded Rectangle 3"/>
              <p:cNvSpPr/>
              <p:nvPr/>
            </p:nvSpPr>
            <p:spPr>
              <a:xfrm>
                <a:off x="731520" y="1280160"/>
                <a:ext cx="10725912" cy="847344"/>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Median </a:t>
                </a:r>
                <a:r>
                  <a:rPr lang="en-IN" sz="2400">
                    <a:solidFill>
                      <a:srgbClr val="78350F"/>
                    </a:solidFill>
                    <a:latin typeface="Cambria Math" panose="02040503050406030204" pitchFamily="18" charset="0"/>
                  </a:rPr>
                  <a:t>$=\frac{2k+12}{2}=k+6$</a:t>
                </a:r>
                <a:r>
                  <a:rPr sz="2400" b="0">
                    <a:solidFill>
                      <a:srgbClr val="78350F"/>
                    </a:solidFill>
                    <a:latin typeface="Arial"/>
                  </a:rPr>
                  <a:t>; write each deviation and sum.</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264664"/>
                <a:ext cx="10725912" cy="441045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There are 8 observations; the median is the mean of the 4th and 5th: </a:t>
                </a:r>
                <a14:m>
                  <m:oMath xmlns:m="http://schemas.openxmlformats.org/officeDocument/2006/math">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Deviations: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of deviations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𝑘</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264664"/>
                <a:ext cx="10725912" cy="441045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There are 8 observations; the median is the mean of the 4th and 5th: </a:t>
                </a:r>
                <a:r>
                  <a:rPr lang="en-IN" sz="2400">
                    <a:solidFill>
                      <a:srgbClr val="111827"/>
                    </a:solidFill>
                    <a:latin typeface="Cambria Math" panose="02040503050406030204" pitchFamily="18" charset="0"/>
                  </a:rPr>
                  <a:t>$M=\frac{2k+12}{2}=k+6$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Deviations: </a:t>
                </a:r>
                <a:r>
                  <a:rPr lang="en-IN" sz="2400">
                    <a:solidFill>
                      <a:srgbClr val="111827"/>
                    </a:solidFill>
                    <a:latin typeface="Cambria Math" panose="02040503050406030204" pitchFamily="18" charset="0"/>
                  </a:rPr>
                  <a:t>$|3-M|=k+3$</a:t>
                </a:r>
                <a:r>
                  <a:rPr sz="2400" b="0">
                    <a:solidFill>
                      <a:srgbClr val="111827"/>
                    </a:solidFill>
                    <a:latin typeface="Arial"/>
                  </a:rPr>
                  <a:t>, </a:t>
                </a:r>
                <a:r>
                  <a:rPr lang="en-IN" sz="2400">
                    <a:solidFill>
                      <a:srgbClr val="111827"/>
                    </a:solidFill>
                    <a:latin typeface="Cambria Math" panose="02040503050406030204" pitchFamily="18" charset="0"/>
                  </a:rPr>
                  <a:t>$|5-M|=k+1$</a:t>
                </a:r>
                <a:r>
                  <a:rPr sz="2400" b="0">
                    <a:solidFill>
                      <a:srgbClr val="111827"/>
                    </a:solidFill>
                    <a:latin typeface="Arial"/>
                  </a:rPr>
                  <a:t>, </a:t>
                </a:r>
                <a:r>
                  <a:rPr lang="en-IN" sz="2400">
                    <a:solidFill>
                      <a:srgbClr val="111827"/>
                    </a:solidFill>
                    <a:latin typeface="Cambria Math" panose="02040503050406030204" pitchFamily="18" charset="0"/>
                  </a:rPr>
                  <a:t>$|7-M|=k-1$</a:t>
                </a:r>
                <a:r>
                  <a:rPr sz="2400" b="0">
                    <a:solidFill>
                      <a:srgbClr val="111827"/>
                    </a:solidFill>
                    <a:latin typeface="Arial"/>
                  </a:rPr>
                  <a:t>, </a:t>
                </a:r>
                <a:r>
                  <a:rPr lang="en-IN" sz="2400">
                    <a:solidFill>
                      <a:srgbClr val="111827"/>
                    </a:solidFill>
                    <a:latin typeface="Cambria Math" panose="02040503050406030204" pitchFamily="18" charset="0"/>
                  </a:rPr>
                  <a:t>$|2k-M|=6-k$</a:t>
                </a:r>
                <a:r>
                  <a:rPr sz="2400" b="0">
                    <a:solidFill>
                      <a:srgbClr val="111827"/>
                    </a:solidFill>
                    <a:latin typeface="Arial"/>
                  </a:rPr>
                  <a:t>, </a:t>
                </a:r>
                <a:r>
                  <a:rPr lang="en-IN" sz="2400">
                    <a:solidFill>
                      <a:srgbClr val="111827"/>
                    </a:solidFill>
                    <a:latin typeface="Cambria Math" panose="02040503050406030204" pitchFamily="18" charset="0"/>
                  </a:rPr>
                  <a:t>$|12-M|=6-k$</a:t>
                </a:r>
                <a:r>
                  <a:rPr sz="2400" b="0">
                    <a:solidFill>
                      <a:srgbClr val="111827"/>
                    </a:solidFill>
                    <a:latin typeface="Arial"/>
                  </a:rPr>
                  <a:t>, </a:t>
                </a:r>
                <a:r>
                  <a:rPr lang="en-IN" sz="2400">
                    <a:solidFill>
                      <a:srgbClr val="111827"/>
                    </a:solidFill>
                    <a:latin typeface="Cambria Math" panose="02040503050406030204" pitchFamily="18" charset="0"/>
                  </a:rPr>
                  <a:t>$|16-M|=10-k$</a:t>
                </a:r>
                <a:r>
                  <a:rPr sz="2400" b="0">
                    <a:solidFill>
                      <a:srgbClr val="111827"/>
                    </a:solidFill>
                    <a:latin typeface="Arial"/>
                  </a:rPr>
                  <a:t>, </a:t>
                </a:r>
                <a:r>
                  <a:rPr lang="en-IN" sz="2400">
                    <a:solidFill>
                      <a:srgbClr val="111827"/>
                    </a:solidFill>
                    <a:latin typeface="Cambria Math" panose="02040503050406030204" pitchFamily="18" charset="0"/>
                  </a:rPr>
                  <a:t>$|21-M|=15-k$</a:t>
                </a:r>
                <a:r>
                  <a:rPr sz="2400" b="0">
                    <a:solidFill>
                      <a:srgbClr val="111827"/>
                    </a:solidFill>
                    <a:latin typeface="Arial"/>
                  </a:rPr>
                  <a:t>, </a:t>
                </a:r>
                <a:r>
                  <a:rPr lang="en-IN" sz="2400">
                    <a:solidFill>
                      <a:srgbClr val="111827"/>
                    </a:solidFill>
                    <a:latin typeface="Cambria Math" panose="02040503050406030204" pitchFamily="18" charset="0"/>
                  </a:rPr>
                  <a:t>$|24-M|=18-k$</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of deviations </a:t>
                </a:r>
                <a:r>
                  <a:rPr lang="en-IN" sz="2400">
                    <a:solidFill>
                      <a:srgbClr val="111827"/>
                    </a:solidFill>
                    <a:latin typeface="Cambria Math" panose="02040503050406030204" pitchFamily="18" charset="0"/>
                  </a:rPr>
                  <a:t>$=(k+3)+(k+1)+(k-1)+(6-k)+(6-k)+(10-k)+(15-k)+(18-k)=58-2k$</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Mean deviation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𝑘</m:t>
                        </m:r>
                      </m:num>
                      <m:den>
                        <m:r>
                          <a:rPr lang="en-IN" sz="2400" i="1">
                            <a:solidFill>
                              <a:srgbClr val="111827"/>
                            </a:solidFill>
                            <a:latin typeface="Cambria Math" panose="02040503050406030204" pitchFamily="18" charset="0"/>
                          </a:rPr>
                          <m:t>8</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58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48</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the ordering </a:t>
                </a:r>
                <a14:m>
                  <m:oMath xmlns:m="http://schemas.openxmlformats.org/officeDocument/2006/math">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 ✓. Median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oMath>
                </a14:m>
                <a:r>
                  <a:rPr sz="2400" b="0">
                    <a:solidFill>
                      <a:srgbClr val="111827"/>
                    </a:solidFill>
                    <a:latin typeface="Arial"/>
                  </a:rPr>
                  <a:t>, option (D).</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Mean deviation </a:t>
                </a:r>
                <a:r>
                  <a:rPr lang="en-IN" sz="2400">
                    <a:solidFill>
                      <a:srgbClr val="111827"/>
                    </a:solidFill>
                    <a:latin typeface="Cambria Math" panose="02040503050406030204" pitchFamily="18" charset="0"/>
                  </a:rPr>
                  <a:t>$=\frac{58-2k}{8}=6$</a:t>
                </a:r>
                <a:r>
                  <a:rPr sz="2400" b="0">
                    <a:solidFill>
                      <a:srgbClr val="111827"/>
                    </a:solidFill>
                    <a:latin typeface="Arial"/>
                  </a:rPr>
                  <a:t>, so </a:t>
                </a:r>
                <a:r>
                  <a:rPr lang="en-IN" sz="2400">
                    <a:solidFill>
                      <a:srgbClr val="111827"/>
                    </a:solidFill>
                    <a:latin typeface="Cambria Math" panose="02040503050406030204" pitchFamily="18" charset="0"/>
                  </a:rPr>
                  <a:t>$58-2k=48$</a:t>
                </a:r>
                <a:r>
                  <a:rPr sz="2400" b="0">
                    <a:solidFill>
                      <a:srgbClr val="111827"/>
                    </a:solidFill>
                    <a:latin typeface="Arial"/>
                  </a:rPr>
                  <a:t> and </a:t>
                </a:r>
                <a:r>
                  <a:rPr lang="en-IN" sz="2400">
                    <a:solidFill>
                      <a:srgbClr val="111827"/>
                    </a:solidFill>
                    <a:latin typeface="Cambria Math" panose="02040503050406030204" pitchFamily="18" charset="0"/>
                  </a:rPr>
                  <a:t>$k=5$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the ordering </a:t>
                </a:r>
                <a:r>
                  <a:rPr lang="en-IN" sz="2400">
                    <a:solidFill>
                      <a:srgbClr val="111827"/>
                    </a:solidFill>
                    <a:latin typeface="Cambria Math" panose="02040503050406030204" pitchFamily="18" charset="0"/>
                  </a:rPr>
                  <a:t>$7\le2k=10\le12$</a:t>
                </a:r>
                <a:r>
                  <a:rPr sz="2400" b="0">
                    <a:solidFill>
                      <a:srgbClr val="111827"/>
                    </a:solidFill>
                    <a:latin typeface="Arial"/>
                  </a:rPr>
                  <a:t> ✓. Median </a:t>
                </a:r>
                <a:r>
                  <a:rPr lang="en-IN" sz="2400">
                    <a:solidFill>
                      <a:srgbClr val="111827"/>
                    </a:solidFill>
                    <a:latin typeface="Cambria Math" panose="02040503050406030204" pitchFamily="18" charset="0"/>
                  </a:rPr>
                  <a:t>$=5+6=11$</a:t>
                </a:r>
                <a:r>
                  <a:rPr sz="2400" b="0">
                    <a:solidFill>
                      <a:srgbClr val="111827"/>
                    </a:solidFill>
                    <a:latin typeface="Arial"/>
                  </a:rPr>
                  <a:t>, option (D).</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11</a:t>
            </a:r>
            <a:endParaRPr sz="2800">
              <a:solidFill>
                <a:srgbClr val="15803D"/>
              </a:solidFill>
            </a:endParaRPr>
          </a:p>
        </p:txBody>
      </p:sp>
    </p:spTree>
  </p:cSld>
  <p:clrMapOvr>
    <a:masterClrMapping/>
  </p:clrMapOvr>
</p:sld>
</file>

<file path=ppt/slides/slide3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p:sp>
        <p:nvSpPr>
          <p:cNvPr id="5" name="Rounded Rectangle 4"/>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Sum of the upper half minus the sum of the lower half.</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an even number of observations, every observation in the upper half is at or above the median and every one in the lower half at or below it.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𝑘</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𝑘</m:t>
                        </m:r>
                      </m:num>
                      <m:den>
                        <m:r>
                          <a:rPr lang="en-IN" sz="2400" i="1">
                            <a:solidFill>
                              <a:srgbClr val="111827"/>
                            </a:solidFill>
                            <a:latin typeface="Cambria Math" panose="02040503050406030204" pitchFamily="18" charset="0"/>
                          </a:rPr>
                          <m:t>8</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and the median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oMath>
                </a14:m>
                <a:r>
                  <a:rPr sz="2400" b="0">
                    <a:solidFill>
                      <a:srgbClr val="111827"/>
                    </a:solidFill>
                    <a:latin typeface="Arial"/>
                  </a:rPr>
                  <a:t>, the same answer.</a:t>
                </a:r>
                <a:endParaRPr sz="2400">
                  <a:solidFill>
                    <a:srgbClr val="111827"/>
                  </a:solidFill>
                </a:endParaRPr>
              </a:p>
            </p:txBody>
          </p:sp>
        </mc:Choice>
        <mc:Fallback>
          <p:sp>
            <p:nvSpPr>
              <p:cNvPr id="6" name="Rectangle 5"/>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an even number of observations, every observation in the upper half is at or above the median and every one in the lower half at or below it.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$\sum|x_i-M|=(12+16+21+24)-(3+5+7+2k)=73-15-2k=58-2k$</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$\frac{58-2k}{8}=6$</a:t>
                </a:r>
                <a:r>
                  <a:rPr sz="2400" b="0">
                    <a:solidFill>
                      <a:srgbClr val="111827"/>
                    </a:solidFill>
                    <a:latin typeface="Arial"/>
                  </a:rPr>
                  <a:t> gives </a:t>
                </a:r>
                <a:r>
                  <a:rPr lang="en-IN" sz="2400">
                    <a:solidFill>
                      <a:srgbClr val="111827"/>
                    </a:solidFill>
                    <a:latin typeface="Cambria Math" panose="02040503050406030204" pitchFamily="18" charset="0"/>
                  </a:rPr>
                  <a:t>$k=5$</a:t>
                </a:r>
                <a:r>
                  <a:rPr sz="2400" b="0">
                    <a:solidFill>
                      <a:srgbClr val="111827"/>
                    </a:solidFill>
                    <a:latin typeface="Arial"/>
                  </a:rPr>
                  <a:t> and the median </a:t>
                </a:r>
                <a:r>
                  <a:rPr lang="en-IN" sz="2400">
                    <a:solidFill>
                      <a:srgbClr val="111827"/>
                    </a:solidFill>
                    <a:latin typeface="Cambria Math" panose="02040503050406030204" pitchFamily="18" charset="0"/>
                  </a:rPr>
                  <a:t>$\frac{2k+12}{2}=11$</a:t>
                </a:r>
                <a:r>
                  <a:rPr sz="2400" b="0">
                    <a:solidFill>
                      <a:srgbClr val="111827"/>
                    </a:solidFill>
                    <a:latin typeface="Arial"/>
                  </a:rPr>
                  <a:t>, the same answer.</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11</a:t>
            </a:r>
            <a:endParaRPr sz="2800">
              <a:solidFill>
                <a:srgbClr val="15803D"/>
              </a:solidFill>
            </a:endParaRPr>
          </a:p>
        </p:txBody>
      </p:sp>
    </p:spTree>
  </p:cSld>
  <p:clrMapOvr>
    <a:masterClrMapping/>
  </p:clrMapOvr>
</p:sld>
</file>

<file path=ppt/slides/slide3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Mean deviation about the median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nor/>
                          </m:rPr>
                          <a:rPr lang="en-IN" sz="2400" i="1">
                            <a:solidFill>
                              <a:srgbClr val="111827"/>
                            </a:solidFill>
                            <a:latin typeface="Cambria Math" panose="02040503050406030204" pitchFamily="18" charset="0"/>
                          </a:rPr>
                          <m:t>(𝑠𝑢𝑚 𝑜𝑓 𝑢𝑝𝑝𝑒𝑟 ℎ𝑎𝑙𝑓)</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(𝑠𝑢𝑚 𝑜𝑓 𝑙𝑜𝑤𝑒𝑟 ℎ𝑎𝑙𝑓)</m:t>
                        </m:r>
                      </m:num>
                      <m:den>
                        <m:r>
                          <a:rPr lang="en-IN" sz="2400" i="1">
                            <a:solidFill>
                              <a:srgbClr val="111827"/>
                            </a:solidFill>
                            <a:latin typeface="Cambria Math" panose="02040503050406030204" pitchFamily="18" charset="0"/>
                          </a:rPr>
                          <m:t>𝑛</m:t>
                        </m:r>
                      </m:den>
                    </m:f>
                  </m:oMath>
                </a14:m>
                <a:r>
                  <a:rPr sz="2400" b="0">
                    <a:solidFill>
                      <a:srgbClr val="111827"/>
                    </a:solidFill>
                    <a:latin typeface="Arial"/>
                  </a:rPr>
                  <a:t> for even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(for odd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the middle term contributes 0).</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This removes all absolute values; check afterwards that the assumed ordering holds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lies between 7 and 12).</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Mean deviation about the median </a:t>
                </a:r>
                <a:r>
                  <a:rPr lang="en-IN" sz="2400">
                    <a:solidFill>
                      <a:srgbClr val="111827"/>
                    </a:solidFill>
                    <a:latin typeface="Cambria Math" panose="02040503050406030204" pitchFamily="18" charset="0"/>
                  </a:rPr>
                  <a:t>$=\frac{\text{(sum of upper half)}-\text{(sum of lower half)}}{n}$</a:t>
                </a:r>
                <a:r>
                  <a:rPr sz="2400" b="0">
                    <a:solidFill>
                      <a:srgbClr val="111827"/>
                    </a:solidFill>
                    <a:latin typeface="Arial"/>
                  </a:rPr>
                  <a:t> for even </a:t>
                </a:r>
                <a:r>
                  <a:rPr lang="en-IN" sz="2400">
                    <a:solidFill>
                      <a:srgbClr val="111827"/>
                    </a:solidFill>
                    <a:latin typeface="Cambria Math" panose="02040503050406030204" pitchFamily="18" charset="0"/>
                  </a:rPr>
                  <a:t>$n$</a:t>
                </a:r>
                <a:r>
                  <a:rPr sz="2400" b="0">
                    <a:solidFill>
                      <a:srgbClr val="111827"/>
                    </a:solidFill>
                    <a:latin typeface="Arial"/>
                  </a:rPr>
                  <a:t> (for odd </a:t>
                </a:r>
                <a:r>
                  <a:rPr lang="en-IN" sz="2400">
                    <a:solidFill>
                      <a:srgbClr val="111827"/>
                    </a:solidFill>
                    <a:latin typeface="Cambria Math" panose="02040503050406030204" pitchFamily="18" charset="0"/>
                  </a:rPr>
                  <a:t>$n$</a:t>
                </a:r>
                <a:r>
                  <a:rPr sz="2400" b="0">
                    <a:solidFill>
                      <a:srgbClr val="111827"/>
                    </a:solidFill>
                    <a:latin typeface="Arial"/>
                  </a:rPr>
                  <a:t> the middle term contributes 0).</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This removes all absolute values; check afterwards that the assumed ordering holds (</a:t>
                </a:r>
                <a:r>
                  <a:rPr lang="en-IN" sz="2400">
                    <a:solidFill>
                      <a:srgbClr val="111827"/>
                    </a:solidFill>
                    <a:latin typeface="Cambria Math" panose="02040503050406030204" pitchFamily="18" charset="0"/>
                  </a:rPr>
                  <a:t>$2k=10$</a:t>
                </a:r>
                <a:r>
                  <a:rPr sz="2400" b="0">
                    <a:solidFill>
                      <a:srgbClr val="111827"/>
                    </a:solidFill>
                    <a:latin typeface="Arial"/>
                  </a:rPr>
                  <a:t> lies between 7 and 12).</a:t>
                </a:r>
                <a:endParaRPr sz="2400">
                  <a:solidFill>
                    <a:srgbClr val="111827"/>
                  </a:solidFill>
                </a:endParaRPr>
              </a:p>
            </p:txBody>
          </p:sp>
        </mc:Fallback>
      </mc:AlternateContent>
    </p:spTree>
  </p:cSld>
  <p:clrMapOvr>
    <a:masterClrMapping/>
  </p:clrMapOvr>
</p:sld>
</file>

<file path=ppt/slides/slide3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8823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mean and variance of a binomial distribution are </a:t>
                </a:r>
                <a14:m>
                  <m:oMath xmlns:m="http://schemas.openxmlformats.org/officeDocument/2006/math">
                    <m:r>
                      <a:rPr lang="en-IN" sz="2400" i="1">
                        <a:solidFill>
                          <a:srgbClr val="111827"/>
                        </a:solidFill>
                        <a:latin typeface="Cambria Math" panose="02040503050406030204" pitchFamily="18" charset="0"/>
                      </a:rPr>
                      <m:t>α</m:t>
                    </m:r>
                  </m:oMath>
                </a14:m>
                <a:r>
                  <a:rPr sz="2400" b="0">
                    <a:solidFill>
                      <a:srgbClr val="111827"/>
                    </a:solidFill>
                    <a:latin typeface="Arial"/>
                  </a:rPr>
                  <a:t> and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α</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respectively. If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243</m:t>
                        </m:r>
                      </m:den>
                    </m:f>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nor/>
                      </m:rPr>
                      <a:rPr lang="en-IN" sz="2400" i="1">
                        <a:solidFill>
                          <a:srgbClr val="111827"/>
                        </a:solidFill>
                        <a:latin typeface="Cambria Math" panose="02040503050406030204" pitchFamily="18" charset="0"/>
                      </a:rPr>
                      <m:t> 𝑜𝑟 </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equal to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9</m:t>
                        </m:r>
                      </m:den>
                    </m:f>
                  </m:oMath>
                </a14:m>
                <a:r>
                  <a:rPr sz="2400" b="0">
                    <a:solidFill>
                      <a:srgbClr val="111827"/>
                    </a:solidFill>
                    <a:latin typeface="Arial"/>
                  </a:rPr>
                  <a:t>   (B)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64</m:t>
                        </m:r>
                      </m:num>
                      <m:den>
                        <m:r>
                          <a:rPr lang="en-IN" sz="2400" i="1">
                            <a:solidFill>
                              <a:srgbClr val="111827"/>
                            </a:solidFill>
                            <a:latin typeface="Cambria Math" panose="02040503050406030204" pitchFamily="18" charset="0"/>
                          </a:rPr>
                          <m:t>81</m:t>
                        </m:r>
                      </m:den>
                    </m:f>
                  </m:oMath>
                </a14:m>
                <a:r>
                  <a:rPr sz="2400" b="0">
                    <a:solidFill>
                      <a:srgbClr val="111827"/>
                    </a:solidFill>
                    <a:latin typeface="Arial"/>
                  </a:rPr>
                  <a:t>   (C)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16</m:t>
                        </m:r>
                      </m:num>
                      <m:den>
                        <m:r>
                          <a:rPr lang="en-IN" sz="2400" i="1">
                            <a:solidFill>
                              <a:srgbClr val="111827"/>
                            </a:solidFill>
                            <a:latin typeface="Cambria Math" panose="02040503050406030204" pitchFamily="18" charset="0"/>
                          </a:rPr>
                          <m:t>27</m:t>
                        </m:r>
                      </m:den>
                    </m:f>
                  </m:oMath>
                </a14:m>
                <a:r>
                  <a:rPr sz="2400" b="0">
                    <a:solidFill>
                      <a:srgbClr val="111827"/>
                    </a:solidFill>
                    <a:latin typeface="Arial"/>
                  </a:rPr>
                  <a:t>   (D)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145</m:t>
                        </m:r>
                      </m:num>
                      <m:den>
                        <m:r>
                          <a:rPr lang="en-IN" sz="2400" i="1">
                            <a:solidFill>
                              <a:srgbClr val="111827"/>
                            </a:solidFill>
                            <a:latin typeface="Cambria Math" panose="02040503050406030204" pitchFamily="18" charset="0"/>
                          </a:rPr>
                          <m:t>243</m:t>
                        </m:r>
                      </m:den>
                    </m:f>
                  </m:oMath>
                </a14:m>
                <a:endParaRPr sz="2400">
                  <a:solidFill>
                    <a:srgbClr val="111827"/>
                  </a:solidFill>
                </a:endParaRPr>
              </a:p>
            </p:txBody>
          </p:sp>
        </mc:Choice>
        <mc:Fallback>
          <p:sp>
            <p:nvSpPr>
              <p:cNvPr id="4" name="Rounded Rectangle 3"/>
              <p:cNvSpPr/>
              <p:nvPr/>
            </p:nvSpPr>
            <p:spPr>
              <a:xfrm>
                <a:off x="731520" y="1280160"/>
                <a:ext cx="10725912" cy="28823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mean and variance of a binomial distribution are </a:t>
                </a:r>
                <a:r>
                  <a:rPr lang="en-IN" sz="2400">
                    <a:solidFill>
                      <a:srgbClr val="111827"/>
                    </a:solidFill>
                    <a:latin typeface="Cambria Math" panose="02040503050406030204" pitchFamily="18" charset="0"/>
                  </a:rPr>
                  <a:t>$\alpha$</a:t>
                </a:r>
                <a:r>
                  <a:rPr sz="2400" b="0">
                    <a:solidFill>
                      <a:srgbClr val="111827"/>
                    </a:solidFill>
                    <a:latin typeface="Arial"/>
                  </a:rPr>
                  <a:t> and </a:t>
                </a:r>
                <a:r>
                  <a:rPr lang="en-IN" sz="2400">
                    <a:solidFill>
                      <a:srgbClr val="111827"/>
                    </a:solidFill>
                    <a:latin typeface="Cambria Math" panose="02040503050406030204" pitchFamily="18" charset="0"/>
                  </a:rPr>
                  <a:t>$\frac{\alpha}{3}$</a:t>
                </a:r>
                <a:r>
                  <a:rPr sz="2400" b="0">
                    <a:solidFill>
                      <a:srgbClr val="111827"/>
                    </a:solidFill>
                    <a:latin typeface="Arial"/>
                  </a:rPr>
                  <a:t> respectively. If </a:t>
                </a:r>
                <a:r>
                  <a:rPr lang="en-IN" sz="2400">
                    <a:solidFill>
                      <a:srgbClr val="111827"/>
                    </a:solidFill>
                    <a:latin typeface="Cambria Math" panose="02040503050406030204" pitchFamily="18" charset="0"/>
                  </a:rPr>
                  <a:t>$P(X=1)=\frac{4}{243}$</a:t>
                </a:r>
                <a:r>
                  <a:rPr sz="2400" b="0">
                    <a:solidFill>
                      <a:srgbClr val="111827"/>
                    </a:solidFill>
                    <a:latin typeface="Arial"/>
                  </a:rPr>
                  <a:t>, then </a:t>
                </a:r>
                <a:r>
                  <a:rPr lang="en-IN" sz="2400">
                    <a:solidFill>
                      <a:srgbClr val="111827"/>
                    </a:solidFill>
                    <a:latin typeface="Cambria Math" panose="02040503050406030204" pitchFamily="18" charset="0"/>
                  </a:rPr>
                  <a:t>$P(X=4\text{ or }5)$</a:t>
                </a:r>
                <a:r>
                  <a:rPr sz="2400" b="0">
                    <a:solidFill>
                      <a:srgbClr val="111827"/>
                    </a:solidFill>
                    <a:latin typeface="Arial"/>
                  </a:rPr>
                  <a:t> is equal to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$\frac{5}{9}$</a:t>
                </a:r>
                <a:r>
                  <a:rPr sz="2400" b="0">
                    <a:solidFill>
                      <a:srgbClr val="111827"/>
                    </a:solidFill>
                    <a:latin typeface="Arial"/>
                  </a:rPr>
                  <a:t>   (B) </a:t>
                </a:r>
                <a:r>
                  <a:rPr lang="en-IN" sz="2400">
                    <a:solidFill>
                      <a:srgbClr val="111827"/>
                    </a:solidFill>
                    <a:latin typeface="Cambria Math" panose="02040503050406030204" pitchFamily="18" charset="0"/>
                  </a:rPr>
                  <a:t>$\frac{64}{81}$</a:t>
                </a:r>
                <a:r>
                  <a:rPr sz="2400" b="0">
                    <a:solidFill>
                      <a:srgbClr val="111827"/>
                    </a:solidFill>
                    <a:latin typeface="Arial"/>
                  </a:rPr>
                  <a:t>   (C) </a:t>
                </a:r>
                <a:r>
                  <a:rPr lang="en-IN" sz="2400">
                    <a:solidFill>
                      <a:srgbClr val="111827"/>
                    </a:solidFill>
                    <a:latin typeface="Cambria Math" panose="02040503050406030204" pitchFamily="18" charset="0"/>
                  </a:rPr>
                  <a:t>$\frac{16}{27}$</a:t>
                </a:r>
                <a:r>
                  <a:rPr sz="2400" b="0">
                    <a:solidFill>
                      <a:srgbClr val="111827"/>
                    </a:solidFill>
                    <a:latin typeface="Arial"/>
                  </a:rPr>
                  <a:t>   (D) </a:t>
                </a:r>
                <a:r>
                  <a:rPr lang="en-IN" sz="2400">
                    <a:solidFill>
                      <a:srgbClr val="111827"/>
                    </a:solidFill>
                    <a:latin typeface="Cambria Math" panose="02040503050406030204" pitchFamily="18" charset="0"/>
                  </a:rPr>
                  <a:t>$\frac{145}{243}$</a:t>
                </a:r>
                <a:endParaRPr sz="2400">
                  <a:solidFill>
                    <a:srgbClr val="111827"/>
                  </a:solidFill>
                </a:endParaRPr>
              </a:p>
            </p:txBody>
          </p:sp>
        </mc:Fallback>
      </mc:AlternateContent>
      <p:sp>
        <p:nvSpPr>
          <p:cNvPr id="5" name="Rectangle 4"/>
          <p:cNvSpPr/>
          <p:nvPr/>
        </p:nvSpPr>
        <p:spPr>
          <a:xfrm>
            <a:off x="731520" y="4391151"/>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Mean and variance of a binomial distribution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3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847344"/>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r>
                      <a:rPr lang="en-IN" sz="2400" i="1">
                        <a:solidFill>
                          <a:srgbClr val="78350F"/>
                        </a:solidFill>
                        <a:latin typeface="Cambria Math" panose="02040503050406030204" pitchFamily="18" charset="0"/>
                      </a:rPr>
                      <m:t>𝑛</m:t>
                    </m:r>
                    <m:r>
                      <a:rPr lang="en-IN" sz="2400" i="1">
                        <a:solidFill>
                          <a:srgbClr val="78350F"/>
                        </a:solidFill>
                        <a:latin typeface="Cambria Math" panose="02040503050406030204" pitchFamily="18" charset="0"/>
                      </a:rPr>
                      <m:t>𝑝</m:t>
                    </m:r>
                    <m:r>
                      <a:rPr lang="en-IN" sz="2400" i="1">
                        <a:solidFill>
                          <a:srgbClr val="78350F"/>
                        </a:solidFill>
                        <a:latin typeface="Cambria Math" panose="02040503050406030204" pitchFamily="18" charset="0"/>
                      </a:rPr>
                      <m:t>𝑞</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𝑛</m:t>
                        </m:r>
                        <m:r>
                          <a:rPr lang="en-IN" sz="2400" i="1">
                            <a:solidFill>
                              <a:srgbClr val="78350F"/>
                            </a:solidFill>
                            <a:latin typeface="Cambria Math" panose="02040503050406030204" pitchFamily="18" charset="0"/>
                          </a:rPr>
                          <m:t>𝑝</m:t>
                        </m:r>
                      </m:num>
                      <m:den>
                        <m:r>
                          <a:rPr lang="en-IN" sz="2400" i="1">
                            <a:solidFill>
                              <a:srgbClr val="78350F"/>
                            </a:solidFill>
                            <a:latin typeface="Cambria Math" panose="02040503050406030204" pitchFamily="18" charset="0"/>
                          </a:rPr>
                          <m:t>3</m:t>
                        </m:r>
                      </m:den>
                    </m:f>
                  </m:oMath>
                </a14:m>
                <a:r>
                  <a:rPr sz="2400" b="0">
                    <a:solidFill>
                      <a:srgbClr val="78350F"/>
                    </a:solidFill>
                    <a:latin typeface="Arial"/>
                  </a:rPr>
                  <a:t> gives </a:t>
                </a:r>
                <a14:m>
                  <m:oMath xmlns:m="http://schemas.openxmlformats.org/officeDocument/2006/math">
                    <m:r>
                      <a:rPr lang="en-IN" sz="2400" i="1">
                        <a:solidFill>
                          <a:srgbClr val="78350F"/>
                        </a:solidFill>
                        <a:latin typeface="Cambria Math" panose="02040503050406030204" pitchFamily="18" charset="0"/>
                      </a:rPr>
                      <m:t>𝑞</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3</m:t>
                        </m:r>
                      </m:den>
                    </m:f>
                  </m:oMath>
                </a14:m>
                <a:r>
                  <a:rPr sz="2400" b="0">
                    <a:solidFill>
                      <a:srgbClr val="78350F"/>
                    </a:solidFill>
                    <a:latin typeface="Arial"/>
                  </a:rPr>
                  <a:t>; then </a:t>
                </a:r>
                <a14:m>
                  <m:oMath xmlns:m="http://schemas.openxmlformats.org/officeDocument/2006/math">
                    <m:r>
                      <a:rPr lang="en-IN" sz="2400" i="1">
                        <a:solidFill>
                          <a:srgbClr val="78350F"/>
                        </a:solidFill>
                        <a:latin typeface="Cambria Math" panose="02040503050406030204" pitchFamily="18" charset="0"/>
                      </a:rPr>
                      <m:t>𝑃</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𝑋</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fixes </a:t>
                </a:r>
                <a14:m>
                  <m:oMath xmlns:m="http://schemas.openxmlformats.org/officeDocument/2006/math">
                    <m:r>
                      <a:rPr lang="en-IN" sz="2400" i="1">
                        <a:solidFill>
                          <a:srgbClr val="78350F"/>
                        </a:solidFill>
                        <a:latin typeface="Cambria Math" panose="02040503050406030204" pitchFamily="18" charset="0"/>
                      </a:rPr>
                      <m:t>𝑛</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847344"/>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$npq=\frac{np}{3}$</a:t>
                </a:r>
                <a:r>
                  <a:rPr sz="2400" b="0">
                    <a:solidFill>
                      <a:srgbClr val="78350F"/>
                    </a:solidFill>
                    <a:latin typeface="Arial"/>
                  </a:rPr>
                  <a:t> gives </a:t>
                </a:r>
                <a:r>
                  <a:rPr lang="en-IN" sz="2400">
                    <a:solidFill>
                      <a:srgbClr val="78350F"/>
                    </a:solidFill>
                    <a:latin typeface="Cambria Math" panose="02040503050406030204" pitchFamily="18" charset="0"/>
                  </a:rPr>
                  <a:t>$q=\frac13$</a:t>
                </a:r>
                <a:r>
                  <a:rPr sz="2400" b="0">
                    <a:solidFill>
                      <a:srgbClr val="78350F"/>
                    </a:solidFill>
                    <a:latin typeface="Arial"/>
                  </a:rPr>
                  <a:t>; then </a:t>
                </a:r>
                <a:r>
                  <a:rPr lang="en-IN" sz="2400">
                    <a:solidFill>
                      <a:srgbClr val="78350F"/>
                    </a:solidFill>
                    <a:latin typeface="Cambria Math" panose="02040503050406030204" pitchFamily="18" charset="0"/>
                  </a:rPr>
                  <a:t>$P(X=1)$</a:t>
                </a:r>
                <a:r>
                  <a:rPr sz="2400" b="0">
                    <a:solidFill>
                      <a:srgbClr val="78350F"/>
                    </a:solidFill>
                    <a:latin typeface="Arial"/>
                  </a:rPr>
                  <a:t> fixes </a:t>
                </a:r>
                <a:r>
                  <a:rPr lang="en-IN" sz="2400">
                    <a:solidFill>
                      <a:srgbClr val="78350F"/>
                    </a:solidFill>
                    <a:latin typeface="Cambria Math" panose="02040503050406030204" pitchFamily="18" charset="0"/>
                  </a:rPr>
                  <a:t>$n$</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264664"/>
                <a:ext cx="10725912" cy="441045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Mean </a:t>
                </a:r>
                <a14:m>
                  <m:oMath xmlns:m="http://schemas.openxmlformats.org/officeDocument/2006/math">
                    <m:r>
                      <a:rPr lang="en-IN" sz="2400" i="1">
                        <a:solidFill>
                          <a:srgbClr val="111827"/>
                        </a:solidFill>
                        <a:latin typeface="Cambria Math" panose="02040503050406030204" pitchFamily="18" charset="0"/>
                      </a:rPr>
                      <m:t>𝑛</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oMath>
                </a14:m>
                <a:r>
                  <a:rPr sz="2400" b="0">
                    <a:solidFill>
                      <a:srgbClr val="111827"/>
                    </a:solidFill>
                    <a:latin typeface="Arial"/>
                  </a:rPr>
                  <a:t> ... (1) and variance </a:t>
                </a:r>
                <a14:m>
                  <m:oMath xmlns:m="http://schemas.openxmlformats.org/officeDocument/2006/math">
                    <m:r>
                      <a:rPr lang="en-IN" sz="2400" i="1">
                        <a:solidFill>
                          <a:srgbClr val="111827"/>
                        </a:solidFill>
                        <a:latin typeface="Cambria Math" panose="02040503050406030204" pitchFamily="18" charset="0"/>
                      </a:rPr>
                      <m:t>𝑛</m:t>
                    </m:r>
                    <m:r>
                      <a:rPr lang="en-IN" sz="2400" i="1">
                        <a:solidFill>
                          <a:srgbClr val="111827"/>
                        </a:solidFill>
                        <a:latin typeface="Cambria Math" panose="02040503050406030204" pitchFamily="18" charset="0"/>
                      </a:rPr>
                      <m:t>𝑝</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α</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 (2).</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Dividing (2) by (1): </a:t>
                </a: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m:t>
                        </m:r>
                      </m:sub>
                    </m:sSub>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𝑞</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e>
                        </m:d>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num>
                      <m:den>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𝑛</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243</m:t>
                        </m:r>
                      </m:den>
                    </m:f>
                  </m:oMath>
                </a14:m>
                <a:r>
                  <a:rPr sz="2400" b="0">
                    <a:solidFill>
                      <a:srgbClr val="111827"/>
                    </a:solidFill>
                    <a:latin typeface="Arial"/>
                  </a:rPr>
                  <a:t>, 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𝑛</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243</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264664"/>
                <a:ext cx="10725912" cy="441045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Mean </a:t>
                </a:r>
                <a:r>
                  <a:rPr lang="en-IN" sz="2400">
                    <a:solidFill>
                      <a:srgbClr val="111827"/>
                    </a:solidFill>
                    <a:latin typeface="Cambria Math" panose="02040503050406030204" pitchFamily="18" charset="0"/>
                  </a:rPr>
                  <a:t>$np=\alpha$</a:t>
                </a:r>
                <a:r>
                  <a:rPr sz="2400" b="0">
                    <a:solidFill>
                      <a:srgbClr val="111827"/>
                    </a:solidFill>
                    <a:latin typeface="Arial"/>
                  </a:rPr>
                  <a:t> ... (1) and variance </a:t>
                </a:r>
                <a:r>
                  <a:rPr lang="en-IN" sz="2400">
                    <a:solidFill>
                      <a:srgbClr val="111827"/>
                    </a:solidFill>
                    <a:latin typeface="Cambria Math" panose="02040503050406030204" pitchFamily="18" charset="0"/>
                  </a:rPr>
                  <a:t>$npq=\frac{\alpha}{3}$</a:t>
                </a:r>
                <a:r>
                  <a:rPr sz="2400" b="0">
                    <a:solidFill>
                      <a:srgbClr val="111827"/>
                    </a:solidFill>
                    <a:latin typeface="Arial"/>
                  </a:rPr>
                  <a:t> ... (2).</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Dividing (2) by (1): </a:t>
                </a:r>
                <a:r>
                  <a:rPr lang="en-IN" sz="2400">
                    <a:solidFill>
                      <a:srgbClr val="111827"/>
                    </a:solidFill>
                    <a:latin typeface="Cambria Math" panose="02040503050406030204" pitchFamily="18" charset="0"/>
                  </a:rPr>
                  <a:t>$q=\frac13$</a:t>
                </a:r>
                <a:r>
                  <a:rPr sz="2400" b="0">
                    <a:solidFill>
                      <a:srgbClr val="111827"/>
                    </a:solidFill>
                    <a:latin typeface="Arial"/>
                  </a:rPr>
                  <a:t> and </a:t>
                </a:r>
                <a:r>
                  <a:rPr lang="en-IN" sz="2400">
                    <a:solidFill>
                      <a:srgbClr val="111827"/>
                    </a:solidFill>
                    <a:latin typeface="Cambria Math" panose="02040503050406030204" pitchFamily="18" charset="0"/>
                  </a:rPr>
                  <a:t>$p=\frac23$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$P(X=1)={}^nC_1\,q^{n-1}p=n\cdot\frac{2}{3}\cdot\left(\frac13\right)^{n-1}=\frac{2n}{3^n}=\frac{4}{243}$</a:t>
                </a:r>
                <a:r>
                  <a:rPr sz="2400" b="0">
                    <a:solidFill>
                      <a:srgbClr val="111827"/>
                    </a:solidFill>
                    <a:latin typeface="Arial"/>
                  </a:rPr>
                  <a:t>, so </a:t>
                </a:r>
                <a:r>
                  <a:rPr lang="en-IN" sz="2400">
                    <a:solidFill>
                      <a:srgbClr val="111827"/>
                    </a:solidFill>
                    <a:latin typeface="Cambria Math" panose="02040503050406030204" pitchFamily="18" charset="0"/>
                  </a:rPr>
                  <a:t>$\frac{n}{3^n}=\frac{2}{243}$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729</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243</m:t>
                        </m:r>
                      </m:den>
                    </m:f>
                  </m:oMath>
                </a14:m>
                <a:r>
                  <a:rPr sz="2400" b="0">
                    <a:solidFill>
                      <a:srgbClr val="111827"/>
                    </a:solidFill>
                    <a:latin typeface="Arial"/>
                  </a:rPr>
                  <a:t> ✓).</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4</m:t>
                        </m:r>
                      </m:sub>
                    </m:sSub>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e>
                        </m:d>
                      </m:e>
                      <m:sup>
                        <m:r>
                          <a:rPr lang="en-IN" sz="2400" i="1">
                            <a:solidFill>
                              <a:srgbClr val="111827"/>
                            </a:solidFill>
                            <a:latin typeface="Cambria Math" panose="02040503050406030204" pitchFamily="18" charset="0"/>
                          </a:rPr>
                          <m:t>4</m:t>
                        </m:r>
                      </m:sup>
                    </m:sSup>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num>
                      <m:den>
                        <m:r>
                          <a:rPr lang="en-IN" sz="2400" i="1">
                            <a:solidFill>
                              <a:srgbClr val="111827"/>
                            </a:solidFill>
                            <a:latin typeface="Cambria Math" panose="02040503050406030204" pitchFamily="18" charset="0"/>
                          </a:rPr>
                          <m:t>729</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5</m:t>
                        </m:r>
                      </m:sub>
                    </m:sSub>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e>
                        </m:d>
                      </m:e>
                      <m:sup>
                        <m:r>
                          <a:rPr lang="en-IN" sz="2400" i="1">
                            <a:solidFill>
                              <a:srgbClr val="111827"/>
                            </a:solidFill>
                            <a:latin typeface="Cambria Math" panose="02040503050406030204" pitchFamily="18" charset="0"/>
                          </a:rPr>
                          <m:t>5</m:t>
                        </m:r>
                      </m:sup>
                    </m:sSup>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m:t>
                        </m:r>
                      </m:num>
                      <m:den>
                        <m:r>
                          <a:rPr lang="en-IN" sz="2400" i="1">
                            <a:solidFill>
                              <a:srgbClr val="111827"/>
                            </a:solidFill>
                            <a:latin typeface="Cambria Math" panose="02040503050406030204" pitchFamily="18" charset="0"/>
                          </a:rPr>
                          <m:t>729</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nor/>
                      </m:rPr>
                      <a:rPr lang="en-IN" sz="2400" i="1">
                        <a:solidFill>
                          <a:srgbClr val="111827"/>
                        </a:solidFill>
                        <a:latin typeface="Cambria Math" panose="02040503050406030204" pitchFamily="18" charset="0"/>
                      </a:rPr>
                      <m:t> 𝑜𝑟 </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240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192</m:t>
                        </m:r>
                      </m:num>
                      <m:den>
                        <m:r>
                          <a:rPr lang="en-IN" sz="2400" i="1">
                            <a:solidFill>
                              <a:srgbClr val="111827"/>
                            </a:solidFill>
                            <a:latin typeface="Cambria Math" panose="02040503050406030204" pitchFamily="18" charset="0"/>
                          </a:rPr>
                          <m:t>729</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432</m:t>
                        </m:r>
                      </m:num>
                      <m:den>
                        <m:r>
                          <a:rPr lang="en-IN" sz="2400" i="1">
                            <a:solidFill>
                              <a:srgbClr val="111827"/>
                            </a:solidFill>
                            <a:latin typeface="Cambria Math" panose="02040503050406030204" pitchFamily="18" charset="0"/>
                          </a:rPr>
                          <m:t>729</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16</m:t>
                        </m:r>
                      </m:num>
                      <m:den>
                        <m:r>
                          <a:rPr lang="en-IN" sz="2400" i="1">
                            <a:solidFill>
                              <a:srgbClr val="111827"/>
                            </a:solidFill>
                            <a:latin typeface="Cambria Math" panose="02040503050406030204" pitchFamily="18" charset="0"/>
                          </a:rPr>
                          <m:t>27</m:t>
                        </m:r>
                      </m:den>
                    </m:f>
                  </m:oMath>
                </a14:m>
                <a:r>
                  <a:rPr sz="2400" b="0">
                    <a:solidFill>
                      <a:srgbClr val="111827"/>
                    </a:solidFill>
                    <a:latin typeface="Arial"/>
                  </a:rPr>
                  <a:t>, option (C).</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$n=6$</a:t>
                </a:r>
                <a:r>
                  <a:rPr sz="2400" b="0">
                    <a:solidFill>
                      <a:srgbClr val="111827"/>
                    </a:solidFill>
                    <a:latin typeface="Arial"/>
                  </a:rPr>
                  <a:t> (</a:t>
                </a:r>
                <a:r>
                  <a:rPr lang="en-IN" sz="2400">
                    <a:solidFill>
                      <a:srgbClr val="111827"/>
                    </a:solidFill>
                    <a:latin typeface="Cambria Math" panose="02040503050406030204" pitchFamily="18" charset="0"/>
                  </a:rPr>
                  <a:t>$\frac{6}{729}=\frac{2}{243}$</a:t>
                </a:r>
                <a:r>
                  <a:rPr sz="2400" b="0">
                    <a:solidFill>
                      <a:srgbClr val="111827"/>
                    </a:solidFill>
                    <a:latin typeface="Arial"/>
                  </a:rPr>
                  <a:t> ✓).</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$P(X=4)={}^6C_4\left(\frac23\right)^4\left(\frac13\right)^2=\frac{15\cdot16}{729}$</a:t>
                </a:r>
                <a:r>
                  <a:rPr sz="2400" b="0">
                    <a:solidFill>
                      <a:srgbClr val="111827"/>
                    </a:solidFill>
                    <a:latin typeface="Arial"/>
                  </a:rPr>
                  <a:t> and </a:t>
                </a:r>
                <a:r>
                  <a:rPr lang="en-IN" sz="2400">
                    <a:solidFill>
                      <a:srgbClr val="111827"/>
                    </a:solidFill>
                    <a:latin typeface="Cambria Math" panose="02040503050406030204" pitchFamily="18" charset="0"/>
                  </a:rPr>
                  <a:t>$P(X=5)={}^6C_5\left(\frac23\right)^5\left(\frac13\right)=\frac{6\cdot32}{729}$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$P(X=4\text{ or }5)=\frac{240+192}{729}=\frac{432}{729}=\frac{16}{27}$</a:t>
                </a:r>
                <a:r>
                  <a:rPr sz="2400" b="0">
                    <a:solidFill>
                      <a:srgbClr val="111827"/>
                    </a:solidFill>
                    <a:latin typeface="Arial"/>
                  </a:rPr>
                  <a:t>, option (C).</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16</m:t>
                        </m:r>
                      </m:num>
                      <m:den>
                        <m:r>
                          <a:rPr lang="en-IN" sz="2800" i="1">
                            <a:solidFill>
                              <a:srgbClr val="15803D"/>
                            </a:solidFill>
                            <a:latin typeface="Cambria Math" panose="02040503050406030204" pitchFamily="18" charset="0"/>
                          </a:rPr>
                          <m:t>27</m:t>
                        </m:r>
                      </m:den>
                    </m:f>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r>
                  <a:rPr lang="en-IN" sz="2800">
                    <a:solidFill>
                      <a:srgbClr val="15803D"/>
                    </a:solidFill>
                    <a:latin typeface="Cambria Math" panose="02040503050406030204" pitchFamily="18" charset="0"/>
                  </a:rPr>
                  <a:t>$\frac{16}{27}$</a:t>
                </a:r>
                <a:endParaRPr sz="2800">
                  <a:solidFill>
                    <a:srgbClr val="15803D"/>
                  </a:solidFill>
                </a:endParaRPr>
              </a:p>
            </p:txBody>
          </p:sp>
        </mc:Fallback>
      </mc:AlternateContent>
    </p:spTree>
  </p:cSld>
  <p:clrMapOvr>
    <a:masterClrMapping/>
  </p:clrMapOvr>
</p:sld>
</file>

<file path=ppt/slides/slide3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 binomial distribution: variance/mean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nor/>
                          </m:rPr>
                          <a:rPr lang="en-IN" sz="2400" i="1">
                            <a:solidFill>
                              <a:srgbClr val="111827"/>
                            </a:solidFill>
                            <a:latin typeface="Cambria Math" panose="02040503050406030204" pitchFamily="18" charset="0"/>
                          </a:rPr>
                          <m:t>𝑣𝑎𝑟𝑖𝑎𝑛𝑐𝑒</m:t>
                        </m:r>
                      </m:num>
                      <m:den>
                        <m:r>
                          <m:rPr>
                            <m:nor/>
                          </m:rPr>
                          <a:rPr lang="en-IN" sz="2400" i="1">
                            <a:solidFill>
                              <a:srgbClr val="111827"/>
                            </a:solidFill>
                            <a:latin typeface="Cambria Math" panose="02040503050406030204" pitchFamily="18" charset="0"/>
                          </a:rPr>
                          <m:t>𝑚𝑒𝑎𝑛</m:t>
                        </m:r>
                      </m:den>
                    </m:f>
                  </m:oMath>
                </a14:m>
                <a:r>
                  <a:rPr sz="2400" b="0">
                    <a:solidFill>
                      <a:srgbClr val="111827"/>
                    </a:solidFill>
                    <a:latin typeface="Arial"/>
                  </a:rPr>
                  <a:t> immediately.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disjoint events add the probabilities: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nor/>
                      </m:rPr>
                      <a:rPr lang="en-IN" sz="2400" i="1">
                        <a:solidFill>
                          <a:srgbClr val="111827"/>
                        </a:solidFill>
                        <a:latin typeface="Cambria Math" panose="02040503050406030204" pitchFamily="18" charset="0"/>
                      </a:rPr>
                      <m:t> 𝑜𝑟 </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 binomial distribution: variance/mean </a:t>
                </a:r>
                <a:r>
                  <a:rPr lang="en-IN" sz="2400">
                    <a:solidFill>
                      <a:srgbClr val="111827"/>
                    </a:solidFill>
                    <a:latin typeface="Cambria Math" panose="02040503050406030204" pitchFamily="18" charset="0"/>
                  </a:rPr>
                  <a:t>$=q$</a:t>
                </a:r>
                <a:r>
                  <a:rPr sz="2400" b="0">
                    <a:solidFill>
                      <a:srgbClr val="111827"/>
                    </a:solidFill>
                    <a:latin typeface="Arial"/>
                  </a:rPr>
                  <a:t>, so </a:t>
                </a:r>
                <a:r>
                  <a:rPr lang="en-IN" sz="2400">
                    <a:solidFill>
                      <a:srgbClr val="111827"/>
                    </a:solidFill>
                    <a:latin typeface="Cambria Math" panose="02040503050406030204" pitchFamily="18" charset="0"/>
                  </a:rPr>
                  <a:t>$q=\frac{\text{variance}}{\text{mean}}$</a:t>
                </a:r>
                <a:r>
                  <a:rPr sz="2400" b="0">
                    <a:solidFill>
                      <a:srgbClr val="111827"/>
                    </a:solidFill>
                    <a:latin typeface="Arial"/>
                  </a:rPr>
                  <a:t> immediately.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disjoint events add the probabilities: </a:t>
                </a:r>
                <a:r>
                  <a:rPr lang="en-IN" sz="2400">
                    <a:solidFill>
                      <a:srgbClr val="111827"/>
                    </a:solidFill>
                    <a:latin typeface="Cambria Math" panose="02040503050406030204" pitchFamily="18" charset="0"/>
                  </a:rPr>
                  <a:t>$P(X=4\text{ or }5)=P(X=4)+P(X=5)$</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18</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Numerical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Q68 – Q72</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4 marks each (no marks printed in the sheet - JEE Advanced default of 4 assumed)</a:t>
            </a:r>
            <a:endParaRPr sz="2800">
              <a:solidFill>
                <a:srgbClr val="FFFFFF"/>
              </a:solidFill>
            </a:endParaRPr>
          </a:p>
        </p:txBody>
      </p:sp>
    </p:spTree>
  </p:cSld>
  <p:clrMapOvr>
    <a:masterClrMapping/>
  </p:clrMapOvr>
</p:sld>
</file>

<file path=ppt/slides/slide3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379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mean and standard deviation of 40 observations are 30 and 5 respectively. It was noticed that two of these observations 12 and 10 were wrongly recorded. If </a:t>
                </a:r>
                <a14:m>
                  <m:oMath xmlns:m="http://schemas.openxmlformats.org/officeDocument/2006/math">
                    <m:r>
                      <a:rPr lang="en-IN" sz="2400" i="1">
                        <a:solidFill>
                          <a:srgbClr val="111827"/>
                        </a:solidFill>
                        <a:latin typeface="Cambria Math" panose="02040503050406030204" pitchFamily="18" charset="0"/>
                      </a:rPr>
                      <m:t>σ</m:t>
                    </m:r>
                  </m:oMath>
                </a14:m>
                <a:r>
                  <a:rPr sz="2400" b="0">
                    <a:solidFill>
                      <a:srgbClr val="111827"/>
                    </a:solidFill>
                    <a:latin typeface="Arial"/>
                  </a:rPr>
                  <a:t> is the standard deviation of the data after omitting the two wrong observations from the data, then </a:t>
                </a:r>
                <a14:m>
                  <m:oMath xmlns:m="http://schemas.openxmlformats.org/officeDocument/2006/math">
                    <m:r>
                      <a:rPr lang="en-IN" sz="2400" i="1">
                        <a:solidFill>
                          <a:srgbClr val="111827"/>
                        </a:solidFill>
                        <a:latin typeface="Cambria Math" panose="02040503050406030204" pitchFamily="18" charset="0"/>
                      </a:rPr>
                      <m:t>38</m:t>
                    </m:r>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is equal to ______.</a:t>
                </a:r>
                <a:endParaRPr sz="2400">
                  <a:solidFill>
                    <a:srgbClr val="111827"/>
                  </a:solidFill>
                </a:endParaRPr>
              </a:p>
            </p:txBody>
          </p:sp>
        </mc:Choice>
        <mc:Fallback>
          <p:sp>
            <p:nvSpPr>
              <p:cNvPr id="4" name="Rounded Rectangle 3"/>
              <p:cNvSpPr/>
              <p:nvPr/>
            </p:nvSpPr>
            <p:spPr>
              <a:xfrm>
                <a:off x="731520" y="1280160"/>
                <a:ext cx="10725912" cy="2379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mean and standard deviation of 40 observations are 30 and 5 respectively. It was noticed that two of these observations 12 and 10 were wrongly recorded. If </a:t>
                </a:r>
                <a:r>
                  <a:rPr lang="en-IN" sz="2400">
                    <a:solidFill>
                      <a:srgbClr val="111827"/>
                    </a:solidFill>
                    <a:latin typeface="Cambria Math" panose="02040503050406030204" pitchFamily="18" charset="0"/>
                  </a:rPr>
                  <a:t>$\sigma$</a:t>
                </a:r>
                <a:r>
                  <a:rPr sz="2400" b="0">
                    <a:solidFill>
                      <a:srgbClr val="111827"/>
                    </a:solidFill>
                    <a:latin typeface="Arial"/>
                  </a:rPr>
                  <a:t> is the standard deviation of the data after omitting the two wrong observations from the data, then </a:t>
                </a:r>
                <a:r>
                  <a:rPr lang="en-IN" sz="2400">
                    <a:solidFill>
                      <a:srgbClr val="111827"/>
                    </a:solidFill>
                    <a:latin typeface="Cambria Math" panose="02040503050406030204" pitchFamily="18" charset="0"/>
                  </a:rPr>
                  <a:t>$38\sigma^2$</a:t>
                </a:r>
                <a:r>
                  <a:rPr sz="2400" b="0">
                    <a:solidFill>
                      <a:srgbClr val="111827"/>
                    </a:solidFill>
                    <a:latin typeface="Arial"/>
                  </a:rPr>
                  <a:t> is equal to ______.</a:t>
                </a:r>
                <a:endParaRPr sz="2400">
                  <a:solidFill>
                    <a:srgbClr val="111827"/>
                  </a:solidFill>
                </a:endParaRPr>
              </a:p>
            </p:txBody>
          </p:sp>
        </mc:Fallback>
      </mc:AlternateContent>
      <p:sp>
        <p:nvSpPr>
          <p:cNvPr id="5" name="Rectangle 4"/>
          <p:cNvSpPr/>
          <p:nvPr/>
        </p:nvSpPr>
        <p:spPr>
          <a:xfrm>
            <a:off x="731520" y="3888739"/>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Removing wrong observations from a data set (variance)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3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Remove the two values from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oMath>
                </a14:m>
                <a:r>
                  <a:rPr sz="2400" b="0">
                    <a:solidFill>
                      <a:srgbClr val="78350F"/>
                    </a:solidFill>
                    <a:latin typeface="Arial"/>
                  </a:rPr>
                  <a:t> and </a:t>
                </a:r>
                <a14:m>
                  <m:oMath xmlns:m="http://schemas.openxmlformats.org/officeDocument/2006/math">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and recompute the variance for 38 observations.</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Remove the two values from </a:t>
                </a:r>
                <a:r>
                  <a:rPr lang="en-IN" sz="2400">
                    <a:solidFill>
                      <a:srgbClr val="78350F"/>
                    </a:solidFill>
                    <a:latin typeface="Cambria Math" panose="02040503050406030204" pitchFamily="18" charset="0"/>
                  </a:rPr>
                  <a:t>$\sum x$</a:t>
                </a:r>
                <a:r>
                  <a:rPr sz="2400" b="0">
                    <a:solidFill>
                      <a:srgbClr val="78350F"/>
                    </a:solidFill>
                    <a:latin typeface="Arial"/>
                  </a:rPr>
                  <a:t> and </a:t>
                </a:r>
                <a:r>
                  <a:rPr lang="en-IN" sz="2400">
                    <a:solidFill>
                      <a:srgbClr val="78350F"/>
                    </a:solidFill>
                    <a:latin typeface="Cambria Math" panose="02040503050406030204" pitchFamily="18" charset="0"/>
                  </a:rPr>
                  <a:t>$\sum x^2$</a:t>
                </a:r>
                <a:r>
                  <a:rPr sz="2400" b="0">
                    <a:solidFill>
                      <a:srgbClr val="78350F"/>
                    </a:solidFill>
                    <a:latin typeface="Arial"/>
                  </a:rPr>
                  <a:t> and recompute the variance for 38 observations.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1200</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900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37000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After omitting 12 and 10: </a:t>
                </a:r>
                <a14:m>
                  <m:oMath xmlns:m="http://schemas.openxmlformats.org/officeDocument/2006/math">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up>
                        <m:r>
                          <m:rPr>
                            <m:sty m:val="p"/>
                          </m:rPr>
                          <a:rPr lang="en-IN" sz="2400">
                            <a:solidFill>
                              <a:srgbClr val="111827"/>
                            </a:solidFill>
                            <a:latin typeface="Cambria Math" panose="02040503050406030204" pitchFamily="18" charset="0"/>
                          </a:rPr>
                          <m:t>′</m:t>
                        </m:r>
                      </m:sup>
                    </m:sSub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1178</m:t>
                    </m:r>
                  </m:oMath>
                </a14:m>
                <a:r>
                  <a:rPr sz="2400" b="0">
                    <a:solidFill>
                      <a:srgbClr val="111827"/>
                    </a:solidFill>
                    <a:latin typeface="Arial"/>
                  </a:rPr>
                  <a:t> and the count is </a:t>
                </a:r>
                <a14:m>
                  <m:oMath xmlns:m="http://schemas.openxmlformats.org/officeDocument/2006/math">
                    <m:r>
                      <a:rPr lang="en-IN" sz="2400" i="1">
                        <a:solidFill>
                          <a:srgbClr val="111827"/>
                        </a:solidFill>
                        <a:latin typeface="Cambria Math" panose="02040503050406030204" pitchFamily="18" charset="0"/>
                      </a:rPr>
                      <m:t>38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New mean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1178</m:t>
                        </m:r>
                      </m:num>
                      <m:den>
                        <m:r>
                          <a:rPr lang="en-IN" sz="2400" i="1">
                            <a:solidFill>
                              <a:srgbClr val="111827"/>
                            </a:solidFill>
                            <a:latin typeface="Cambria Math" panose="02040503050406030204" pitchFamily="18" charset="0"/>
                          </a:rPr>
                          <m:t>38</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up>
                        <m:r>
                          <m:rPr>
                            <m:sty m:val="p"/>
                          </m:rPr>
                          <a:rPr lang="en-IN" sz="2400">
                            <a:solidFill>
                              <a:srgbClr val="111827"/>
                            </a:solidFill>
                            <a:latin typeface="Cambria Math" panose="02040503050406030204" pitchFamily="18" charset="0"/>
                          </a:rPr>
                          <m:t>′</m:t>
                        </m:r>
                      </m:sup>
                    </m:sSubSup>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37000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12</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10</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36756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36756</m:t>
                        </m:r>
                      </m:num>
                      <m:den>
                        <m:r>
                          <a:rPr lang="en-IN" sz="2400" i="1">
                            <a:solidFill>
                              <a:srgbClr val="111827"/>
                            </a:solidFill>
                            <a:latin typeface="Cambria Math" panose="02040503050406030204" pitchFamily="18" charset="0"/>
                          </a:rPr>
                          <m:t>38</m:t>
                        </m:r>
                      </m:den>
                    </m:f>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31</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38</m:t>
                    </m:r>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36756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961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36756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36518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238</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 x_i=40\times30=1200$</a:t>
                </a:r>
                <a:r>
                  <a:rPr sz="2400" b="0">
                    <a:solidFill>
                      <a:srgbClr val="111827"/>
                    </a:solidFill>
                    <a:latin typeface="Arial"/>
                  </a:rPr>
                  <a:t> and </a:t>
                </a:r>
                <a:r>
                  <a:rPr lang="en-IN" sz="2400">
                    <a:solidFill>
                      <a:srgbClr val="111827"/>
                    </a:solidFill>
                    <a:latin typeface="Cambria Math" panose="02040503050406030204" pitchFamily="18" charset="0"/>
                  </a:rPr>
                  <a:t>$\sigma^2=25$</a:t>
                </a:r>
                <a:r>
                  <a:rPr sz="2400" b="0">
                    <a:solidFill>
                      <a:srgbClr val="111827"/>
                    </a:solidFill>
                    <a:latin typeface="Arial"/>
                  </a:rPr>
                  <a:t>, so </a:t>
                </a:r>
                <a:r>
                  <a:rPr lang="en-IN" sz="2400">
                    <a:solidFill>
                      <a:srgbClr val="111827"/>
                    </a:solidFill>
                    <a:latin typeface="Cambria Math" panose="02040503050406030204" pitchFamily="18" charset="0"/>
                  </a:rPr>
                  <a:t>$\sum x_i^2=40(25+900)=37000$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After omitting 12 and 10: </a:t>
                </a:r>
                <a:r>
                  <a:rPr lang="en-IN" sz="2400">
                    <a:solidFill>
                      <a:srgbClr val="111827"/>
                    </a:solidFill>
                    <a:latin typeface="Cambria Math" panose="02040503050406030204" pitchFamily="18" charset="0"/>
                  </a:rPr>
                  <a:t>$\sum x_i'=1200-22=1178$</a:t>
                </a:r>
                <a:r>
                  <a:rPr sz="2400" b="0">
                    <a:solidFill>
                      <a:srgbClr val="111827"/>
                    </a:solidFill>
                    <a:latin typeface="Arial"/>
                  </a:rPr>
                  <a:t> and the count is </a:t>
                </a:r>
                <a:r>
                  <a:rPr lang="en-IN" sz="2400">
                    <a:solidFill>
                      <a:srgbClr val="111827"/>
                    </a:solidFill>
                    <a:latin typeface="Cambria Math" panose="02040503050406030204" pitchFamily="18" charset="0"/>
                  </a:rPr>
                  <a:t>$38$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New mean </a:t>
                </a:r>
                <a:r>
                  <a:rPr lang="en-IN" sz="2400">
                    <a:solidFill>
                      <a:srgbClr val="111827"/>
                    </a:solidFill>
                    <a:latin typeface="Cambria Math" panose="02040503050406030204" pitchFamily="18" charset="0"/>
                  </a:rPr>
                  <a:t>$=\frac{1178}{38}=31$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 x_i'^2=37000-12^2-10^2=36756$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$\sigma^2=\frac{36756}{38}-31^2$</a:t>
                </a:r>
                <a:r>
                  <a:rPr sz="2400" b="0">
                    <a:solidFill>
                      <a:srgbClr val="111827"/>
                    </a:solidFill>
                    <a:latin typeface="Arial"/>
                  </a:rPr>
                  <a:t>, so </a:t>
                </a:r>
                <a:r>
                  <a:rPr lang="en-IN" sz="2400">
                    <a:solidFill>
                      <a:srgbClr val="111827"/>
                    </a:solidFill>
                    <a:latin typeface="Cambria Math" panose="02040503050406030204" pitchFamily="18" charset="0"/>
                  </a:rPr>
                  <a:t>$38\sigma^2=36756-38\times961=36756-36518=238$</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14:m>
                  <m:oMath xmlns:m="http://schemas.openxmlformats.org/officeDocument/2006/math">
                    <m:r>
                      <a:rPr lang="en-IN" sz="2800" i="1">
                        <a:solidFill>
                          <a:srgbClr val="15803D"/>
                        </a:solidFill>
                        <a:latin typeface="Cambria Math" panose="02040503050406030204" pitchFamily="18" charset="0"/>
                      </a:rPr>
                      <m:t>238</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r>
                  <a:rPr lang="en-IN" sz="2800">
                    <a:solidFill>
                      <a:srgbClr val="15803D"/>
                    </a:solidFill>
                    <a:latin typeface="Cambria Math" panose="02040503050406030204" pitchFamily="18" charset="0"/>
                  </a:rPr>
                  <a:t>$238$</a:t>
                </a:r>
                <a:endParaRPr sz="2800">
                  <a:solidFill>
                    <a:srgbClr val="15803D"/>
                  </a:solidFill>
                </a:endParaRPr>
              </a:p>
            </p:txBody>
          </p:sp>
        </mc:Fallback>
      </mc:AlternateContent>
    </p:spTree>
  </p:cSld>
  <p:clrMapOvr>
    <a:masterClrMapping/>
  </p:clrMapOvr>
</p:sld>
</file>

<file path=ppt/slides/slide3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Work with deviations about the old mean 30, where the total deviation is 0.</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About 30: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1000</m:t>
                    </m:r>
                  </m:oMath>
                </a14:m>
                <a:r>
                  <a:rPr sz="2400" b="0">
                    <a:solidFill>
                      <a:srgbClr val="111827"/>
                    </a:solidFill>
                    <a:latin typeface="Arial"/>
                  </a:rPr>
                  <a:t>. The wrong values have deviations </a:t>
                </a:r>
                <a14:m>
                  <m:oMath xmlns:m="http://schemas.openxmlformats.org/officeDocument/2006/math">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Remaining 38 observations: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38</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276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38</m:t>
                    </m:r>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38</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276</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38</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38</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276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238</m:t>
                    </m:r>
                  </m:oMath>
                </a14:m>
                <a:r>
                  <a:rPr sz="2400" b="0">
                    <a:solidFill>
                      <a:srgbClr val="111827"/>
                    </a:solidFill>
                    <a:latin typeface="Arial"/>
                  </a:rPr>
                  <a:t>, the same answer.</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About 30: </a:t>
                </a:r>
                <a:r>
                  <a:rPr lang="en-IN" sz="2400">
                    <a:solidFill>
                      <a:srgbClr val="111827"/>
                    </a:solidFill>
                    <a:latin typeface="Cambria Math" panose="02040503050406030204" pitchFamily="18" charset="0"/>
                  </a:rPr>
                  <a:t>$\sum d_i=0$</a:t>
                </a:r>
                <a:r>
                  <a:rPr sz="2400" b="0">
                    <a:solidFill>
                      <a:srgbClr val="111827"/>
                    </a:solidFill>
                    <a:latin typeface="Arial"/>
                  </a:rPr>
                  <a:t> and </a:t>
                </a:r>
                <a:r>
                  <a:rPr lang="en-IN" sz="2400">
                    <a:solidFill>
                      <a:srgbClr val="111827"/>
                    </a:solidFill>
                    <a:latin typeface="Cambria Math" panose="02040503050406030204" pitchFamily="18" charset="0"/>
                  </a:rPr>
                  <a:t>$\sum d_i^2=40\times25=1000$</a:t>
                </a:r>
                <a:r>
                  <a:rPr sz="2400" b="0">
                    <a:solidFill>
                      <a:srgbClr val="111827"/>
                    </a:solidFill>
                    <a:latin typeface="Arial"/>
                  </a:rPr>
                  <a:t>. The wrong values have deviations </a:t>
                </a:r>
                <a:r>
                  <a:rPr lang="en-IN" sz="2400">
                    <a:solidFill>
                      <a:srgbClr val="111827"/>
                    </a:solidFill>
                    <a:latin typeface="Cambria Math" panose="02040503050406030204" pitchFamily="18" charset="0"/>
                  </a:rPr>
                  <a:t>$12-30=-18$</a:t>
                </a:r>
                <a:r>
                  <a:rPr sz="2400" b="0">
                    <a:solidFill>
                      <a:srgbClr val="111827"/>
                    </a:solidFill>
                    <a:latin typeface="Arial"/>
                  </a:rPr>
                  <a:t> and </a:t>
                </a:r>
                <a:r>
                  <a:rPr lang="en-IN" sz="2400">
                    <a:solidFill>
                      <a:srgbClr val="111827"/>
                    </a:solidFill>
                    <a:latin typeface="Cambria Math" panose="02040503050406030204" pitchFamily="18" charset="0"/>
                  </a:rPr>
                  <a:t>$10-30=-20$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Remaining 38 observations: </a:t>
                </a:r>
                <a:r>
                  <a:rPr lang="en-IN" sz="2400">
                    <a:solidFill>
                      <a:srgbClr val="111827"/>
                    </a:solidFill>
                    <a:latin typeface="Cambria Math" panose="02040503050406030204" pitchFamily="18" charset="0"/>
                  </a:rPr>
                  <a:t>$\sum d=0+38=38$</a:t>
                </a:r>
                <a:r>
                  <a:rPr sz="2400" b="0">
                    <a:solidFill>
                      <a:srgbClr val="111827"/>
                    </a:solidFill>
                    <a:latin typeface="Arial"/>
                  </a:rPr>
                  <a:t> and </a:t>
                </a:r>
                <a:r>
                  <a:rPr lang="en-IN" sz="2400">
                    <a:solidFill>
                      <a:srgbClr val="111827"/>
                    </a:solidFill>
                    <a:latin typeface="Cambria Math" panose="02040503050406030204" pitchFamily="18" charset="0"/>
                  </a:rPr>
                  <a:t>$\sum d^2=1000-324-400=276$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$38\sigma^2=\sum d^2-\frac{(\sum d)^2}{38}=276-\frac{38^2}{38}=276-38=238$</a:t>
                </a:r>
                <a:r>
                  <a:rPr sz="2400" b="0">
                    <a:solidFill>
                      <a:srgbClr val="111827"/>
                    </a:solidFill>
                    <a:latin typeface="Arial"/>
                  </a:rPr>
                  <a:t>, the same answer.</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14:m>
                  <m:oMath xmlns:m="http://schemas.openxmlformats.org/officeDocument/2006/math">
                    <m:r>
                      <a:rPr lang="en-IN" sz="2800" i="1">
                        <a:solidFill>
                          <a:srgbClr val="15803D"/>
                        </a:solidFill>
                        <a:latin typeface="Cambria Math" panose="02040503050406030204" pitchFamily="18" charset="0"/>
                      </a:rPr>
                      <m:t>238</m:t>
                    </m:r>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r>
                  <a:rPr lang="en-IN" sz="2800">
                    <a:solidFill>
                      <a:srgbClr val="15803D"/>
                    </a:solidFill>
                    <a:latin typeface="Cambria Math" panose="02040503050406030204" pitchFamily="18" charset="0"/>
                  </a:rPr>
                  <a:t>$238$</a:t>
                </a:r>
                <a:endParaRPr sz="2800">
                  <a:solidFill>
                    <a:srgbClr val="15803D"/>
                  </a:solidFill>
                </a:endParaRPr>
              </a:p>
            </p:txBody>
          </p:sp>
        </mc:Fallback>
      </mc:AlternateContent>
    </p:spTree>
  </p:cSld>
  <p:clrMapOvr>
    <a:masterClrMapping/>
  </p:clrMapOvr>
</p:sld>
</file>

<file path=ppt/slides/slide3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38</m:t>
                    </m:r>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38</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the sum of squared deviations is what the question asks for.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1178</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38</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36518</m:t>
                    </m:r>
                  </m:oMath>
                </a14:m>
                <a:r>
                  <a:rPr sz="2400" b="0">
                    <a:solidFill>
                      <a:srgbClr val="111827"/>
                    </a:solidFill>
                    <a:latin typeface="Arial"/>
                  </a:rPr>
                  <a:t> ✓.</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$38\sigma^2=\sum x^2-\frac{(\sum x)^2}{38}=\sum(x-\bar{x})^2$</a:t>
                </a:r>
                <a:r>
                  <a:rPr sz="2400" b="0">
                    <a:solidFill>
                      <a:srgbClr val="111827"/>
                    </a:solidFill>
                    <a:latin typeface="Arial"/>
                  </a:rPr>
                  <a:t>: the sum of squared deviations is what the question asks for.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$\frac{1178^2}{38}=36518$</a:t>
                </a:r>
                <a:r>
                  <a:rPr sz="2400" b="0">
                    <a:solidFill>
                      <a:srgbClr val="111827"/>
                    </a:solidFill>
                    <a:latin typeface="Arial"/>
                  </a:rPr>
                  <a:t> ✓.</a:t>
                </a:r>
                <a:endParaRPr sz="2400">
                  <a:solidFill>
                    <a:srgbClr val="111827"/>
                  </a:solidFill>
                </a:endParaRPr>
              </a:p>
            </p:txBody>
          </p:sp>
        </mc:Fallback>
      </mc:AlternateContent>
    </p:spTree>
  </p:cSld>
  <p:clrMapOvr>
    <a:masterClrMapping/>
  </p:clrMapOvr>
</p:sld>
</file>

<file path=ppt/slides/slide3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mean and variance of 10 observations were calculated as 15 and 15 respectively by a student who took by mistake 25 instead of 15 for one observation. Then, the correct standard deviation is ______.</a:t>
            </a:r>
            <a:endParaRPr sz="2400">
              <a:solidFill>
                <a:srgbClr val="111827"/>
              </a:solidFill>
            </a:endParaRPr>
          </a:p>
        </p:txBody>
      </p:sp>
      <p:sp>
        <p:nvSpPr>
          <p:cNvPr id="5" name="Rectangle 4"/>
          <p:cNvSpPr/>
          <p:nvPr/>
        </p:nvSpPr>
        <p:spPr>
          <a:xfrm>
            <a:off x="731520" y="3516884"/>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Correcting a wrongly taken observation (standard deviation)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3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Correct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oMath>
                </a14:m>
                <a:r>
                  <a:rPr sz="2400" b="0">
                    <a:solidFill>
                      <a:srgbClr val="78350F"/>
                    </a:solidFill>
                    <a:latin typeface="Arial"/>
                  </a:rPr>
                  <a:t> and </a:t>
                </a:r>
                <a14:m>
                  <m:oMath xmlns:m="http://schemas.openxmlformats.org/officeDocument/2006/math">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by replacing 25 with 15.</a:t>
                </a:r>
                <a:endParaRPr sz="2400">
                  <a:solidFill>
                    <a:srgbClr val="78350F"/>
                  </a:solidFill>
                </a:endParaRPr>
              </a:p>
            </p:txBody>
          </p:sp>
        </mc:Choice>
        <mc:Fallback>
          <p:sp>
            <p:nvSpPr>
              <p:cNvPr id="4" name="Rounded Rectangle 3"/>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Correct </a:t>
                </a:r>
                <a:r>
                  <a:rPr lang="en-IN" sz="2400">
                    <a:solidFill>
                      <a:srgbClr val="78350F"/>
                    </a:solidFill>
                    <a:latin typeface="Cambria Math" panose="02040503050406030204" pitchFamily="18" charset="0"/>
                  </a:rPr>
                  <a:t>$\sum x$</a:t>
                </a:r>
                <a:r>
                  <a:rPr sz="2400" b="0">
                    <a:solidFill>
                      <a:srgbClr val="78350F"/>
                    </a:solidFill>
                    <a:latin typeface="Arial"/>
                  </a:rPr>
                  <a:t> and </a:t>
                </a:r>
                <a:r>
                  <a:rPr lang="en-IN" sz="2400">
                    <a:solidFill>
                      <a:srgbClr val="78350F"/>
                    </a:solidFill>
                    <a:latin typeface="Cambria Math" panose="02040503050406030204" pitchFamily="18" charset="0"/>
                  </a:rPr>
                  <a:t>$\sum x^2$</a:t>
                </a:r>
                <a:r>
                  <a:rPr sz="2400" b="0">
                    <a:solidFill>
                      <a:srgbClr val="78350F"/>
                    </a:solidFill>
                    <a:latin typeface="Arial"/>
                  </a:rPr>
                  <a:t> by replacing 25 with 15.</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150</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2400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Correct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140</m:t>
                    </m:r>
                  </m:oMath>
                </a14:m>
                <a:r>
                  <a:rPr sz="2400" b="0">
                    <a:solidFill>
                      <a:srgbClr val="111827"/>
                    </a:solidFill>
                    <a:latin typeface="Arial"/>
                  </a:rPr>
                  <a:t>, so the correct mean is </a:t>
                </a:r>
                <a14:m>
                  <m:oMath xmlns:m="http://schemas.openxmlformats.org/officeDocument/2006/math">
                    <m:r>
                      <a:rPr lang="en-IN" sz="2400" i="1">
                        <a:solidFill>
                          <a:srgbClr val="111827"/>
                        </a:solidFill>
                        <a:latin typeface="Cambria Math" panose="02040503050406030204" pitchFamily="18" charset="0"/>
                      </a:rPr>
                      <m:t>14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Correct </a:t>
                </a:r>
                <a14:m>
                  <m:oMath xmlns:m="http://schemas.openxmlformats.org/officeDocument/2006/math">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2400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25</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15</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2000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Correct variance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2000</m:t>
                        </m:r>
                      </m:num>
                      <m:den>
                        <m:r>
                          <a:rPr lang="en-IN" sz="2400" i="1">
                            <a:solidFill>
                              <a:srgbClr val="111827"/>
                            </a:solidFill>
                            <a:latin typeface="Cambria Math" panose="02040503050406030204" pitchFamily="18" charset="0"/>
                          </a:rPr>
                          <m:t>10</m:t>
                        </m:r>
                      </m:den>
                    </m:f>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14</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Correct standard deviation </a:t>
                </a:r>
                <a14:m>
                  <m:oMath xmlns:m="http://schemas.openxmlformats.org/officeDocument/2006/math">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4</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 x_i=10\times15=150$</a:t>
                </a:r>
                <a:r>
                  <a:rPr sz="2400" b="0">
                    <a:solidFill>
                      <a:srgbClr val="111827"/>
                    </a:solidFill>
                    <a:latin typeface="Arial"/>
                  </a:rPr>
                  <a:t> and </a:t>
                </a:r>
                <a:r>
                  <a:rPr lang="en-IN" sz="2400">
                    <a:solidFill>
                      <a:srgbClr val="111827"/>
                    </a:solidFill>
                    <a:latin typeface="Cambria Math" panose="02040503050406030204" pitchFamily="18" charset="0"/>
                  </a:rPr>
                  <a:t>$\sigma^2=15$</a:t>
                </a:r>
                <a:r>
                  <a:rPr sz="2400" b="0">
                    <a:solidFill>
                      <a:srgbClr val="111827"/>
                    </a:solidFill>
                    <a:latin typeface="Arial"/>
                  </a:rPr>
                  <a:t>, so </a:t>
                </a:r>
                <a:r>
                  <a:rPr lang="en-IN" sz="2400">
                    <a:solidFill>
                      <a:srgbClr val="111827"/>
                    </a:solidFill>
                    <a:latin typeface="Cambria Math" panose="02040503050406030204" pitchFamily="18" charset="0"/>
                  </a:rPr>
                  <a:t>$\sum x_i^2=10(15+225)=2400$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Correct </a:t>
                </a:r>
                <a:r>
                  <a:rPr lang="en-IN" sz="2400">
                    <a:solidFill>
                      <a:srgbClr val="111827"/>
                    </a:solidFill>
                    <a:latin typeface="Cambria Math" panose="02040503050406030204" pitchFamily="18" charset="0"/>
                  </a:rPr>
                  <a:t>$\sum x_i=150-25+15=140$</a:t>
                </a:r>
                <a:r>
                  <a:rPr sz="2400" b="0">
                    <a:solidFill>
                      <a:srgbClr val="111827"/>
                    </a:solidFill>
                    <a:latin typeface="Arial"/>
                  </a:rPr>
                  <a:t>, so the correct mean is </a:t>
                </a:r>
                <a:r>
                  <a:rPr lang="en-IN" sz="2400">
                    <a:solidFill>
                      <a:srgbClr val="111827"/>
                    </a:solidFill>
                    <a:latin typeface="Cambria Math" panose="02040503050406030204" pitchFamily="18" charset="0"/>
                  </a:rPr>
                  <a:t>$14$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Correct </a:t>
                </a:r>
                <a:r>
                  <a:rPr lang="en-IN" sz="2400">
                    <a:solidFill>
                      <a:srgbClr val="111827"/>
                    </a:solidFill>
                    <a:latin typeface="Cambria Math" panose="02040503050406030204" pitchFamily="18" charset="0"/>
                  </a:rPr>
                  <a:t>$\sum x_i^2=2400-25^2+15^2=2000$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Correct variance </a:t>
                </a:r>
                <a:r>
                  <a:rPr lang="en-IN" sz="2400">
                    <a:solidFill>
                      <a:srgbClr val="111827"/>
                    </a:solidFill>
                    <a:latin typeface="Cambria Math" panose="02040503050406030204" pitchFamily="18" charset="0"/>
                  </a:rPr>
                  <a:t>$=\frac{2000}{10}-14^2=200-196=4$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Correct standard deviation </a:t>
                </a:r>
                <a:r>
                  <a:rPr lang="en-IN" sz="2400">
                    <a:solidFill>
                      <a:srgbClr val="111827"/>
                    </a:solidFill>
                    <a:latin typeface="Cambria Math" panose="02040503050406030204" pitchFamily="18" charset="0"/>
                  </a:rPr>
                  <a:t>$=\sqrt4=2$</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14:m>
                  <m:oMath xmlns:m="http://schemas.openxmlformats.org/officeDocument/2006/math">
                    <m:r>
                      <a:rPr lang="en-IN" sz="2800" i="1">
                        <a:solidFill>
                          <a:srgbClr val="15803D"/>
                        </a:solidFill>
                        <a:latin typeface="Cambria Math" panose="02040503050406030204" pitchFamily="18" charset="0"/>
                      </a:rPr>
                      <m:t>2</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r>
                  <a:rPr lang="en-IN" sz="2800">
                    <a:solidFill>
                      <a:srgbClr val="15803D"/>
                    </a:solidFill>
                    <a:latin typeface="Cambria Math" panose="02040503050406030204" pitchFamily="18" charset="0"/>
                  </a:rPr>
                  <a:t>$2$</a:t>
                </a:r>
                <a:endParaRPr sz="2800">
                  <a:solidFill>
                    <a:srgbClr val="15803D"/>
                  </a:solidFill>
                </a:endParaRPr>
              </a:p>
            </p:txBody>
          </p:sp>
        </mc:Fallback>
      </mc:AlternateContent>
    </p:spTree>
  </p:cSld>
  <p:clrMapOvr>
    <a:masterClrMapping/>
  </p:clrMapOvr>
</p:sld>
</file>

<file path=ppt/slides/slide3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p:sp>
        <p:nvSpPr>
          <p:cNvPr id="5" name="Rounded Rectangle 4"/>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Update formula for a replaced observation.</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Replace </a:t>
                </a:r>
                <a14:m>
                  <m:oMath xmlns:m="http://schemas.openxmlformats.org/officeDocument/2006/math">
                    <m:r>
                      <a:rPr lang="en-IN" sz="2400" i="1">
                        <a:solidFill>
                          <a:srgbClr val="111827"/>
                        </a:solidFill>
                        <a:latin typeface="Cambria Math" panose="02040503050406030204" pitchFamily="18" charset="0"/>
                      </a:rPr>
                      <m:t>25</m:t>
                    </m:r>
                  </m:oMath>
                </a14:m>
                <a:r>
                  <a:rPr sz="2400" b="0">
                    <a:solidFill>
                      <a:srgbClr val="111827"/>
                    </a:solidFill>
                    <a:latin typeface="Arial"/>
                  </a:rPr>
                  <a:t> by </a:t>
                </a:r>
                <a14:m>
                  <m:oMath xmlns:m="http://schemas.openxmlformats.org/officeDocument/2006/math">
                    <m:r>
                      <a:rPr lang="en-IN" sz="2400" i="1">
                        <a:solidFill>
                          <a:srgbClr val="111827"/>
                        </a:solidFill>
                        <a:latin typeface="Cambria Math" panose="02040503050406030204" pitchFamily="18" charset="0"/>
                      </a:rPr>
                      <m:t>15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old mean </a:t>
                </a:r>
                <a14:m>
                  <m:oMath xmlns:m="http://schemas.openxmlformats.org/officeDocument/2006/math">
                    <m:r>
                      <a:rPr lang="en-IN" sz="2400" i="1">
                        <a:solidFill>
                          <a:srgbClr val="111827"/>
                        </a:solidFill>
                        <a:latin typeface="Cambria Math" panose="02040503050406030204" pitchFamily="18" charset="0"/>
                      </a:rPr>
                      <m:t>15</m:t>
                    </m:r>
                  </m:oMath>
                </a14:m>
                <a:r>
                  <a:rPr sz="2400" b="0">
                    <a:solidFill>
                      <a:srgbClr val="111827"/>
                    </a:solidFill>
                    <a:latin typeface="Arial"/>
                  </a:rPr>
                  <a:t>, new mean </a:t>
                </a:r>
                <a14:m>
                  <m:oMath xmlns:m="http://schemas.openxmlformats.org/officeDocument/2006/math">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oMath>
                </a14:m>
                <a:r>
                  <a:rPr sz="2400" b="0">
                    <a:solidFill>
                      <a:srgbClr val="111827"/>
                    </a:solidFill>
                    <a:latin typeface="Arial"/>
                  </a:rPr>
                  <a:t>, old variance </a:t>
                </a:r>
                <a14:m>
                  <m:oMath xmlns:m="http://schemas.openxmlformats.org/officeDocument/2006/math">
                    <m:r>
                      <a:rPr lang="en-IN" sz="2400" i="1">
                        <a:solidFill>
                          <a:srgbClr val="111827"/>
                        </a:solidFill>
                        <a:latin typeface="Cambria Math" panose="02040503050406030204" pitchFamily="18" charset="0"/>
                      </a:rPr>
                      <m:t>15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σ</m:t>
                        </m:r>
                      </m:e>
                      <m:sup>
                        <m:r>
                          <m:rPr>
                            <m:sty m:val="p"/>
                          </m:rPr>
                          <a:rPr lang="en-IN" sz="2400">
                            <a:solidFill>
                              <a:srgbClr val="111827"/>
                            </a:solidFill>
                            <a:latin typeface="Cambria Math" panose="02040503050406030204" pitchFamily="18" charset="0"/>
                          </a:rPr>
                          <m:t>′</m:t>
                        </m:r>
                      </m:sup>
                    </m:sSup>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15</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25</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10</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14</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15</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Standard deviation </a:t>
                </a:r>
                <a14:m>
                  <m:oMath xmlns:m="http://schemas.openxmlformats.org/officeDocument/2006/math">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4</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the same answer.</a:t>
                </a:r>
                <a:endParaRPr sz="2400">
                  <a:solidFill>
                    <a:srgbClr val="111827"/>
                  </a:solidFill>
                </a:endParaRPr>
              </a:p>
            </p:txBody>
          </p:sp>
        </mc:Choice>
        <mc:Fallback>
          <p:sp>
            <p:nvSpPr>
              <p:cNvPr id="6" name="Rectangle 5"/>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Replace </a:t>
                </a:r>
                <a:r>
                  <a:rPr lang="en-IN" sz="2400">
                    <a:solidFill>
                      <a:srgbClr val="111827"/>
                    </a:solidFill>
                    <a:latin typeface="Cambria Math" panose="02040503050406030204" pitchFamily="18" charset="0"/>
                  </a:rPr>
                  <a:t>$25$</a:t>
                </a:r>
                <a:r>
                  <a:rPr sz="2400" b="0">
                    <a:solidFill>
                      <a:srgbClr val="111827"/>
                    </a:solidFill>
                    <a:latin typeface="Arial"/>
                  </a:rPr>
                  <a:t> by </a:t>
                </a:r>
                <a:r>
                  <a:rPr lang="en-IN" sz="2400">
                    <a:solidFill>
                      <a:srgbClr val="111827"/>
                    </a:solidFill>
                    <a:latin typeface="Cambria Math" panose="02040503050406030204" pitchFamily="18" charset="0"/>
                  </a:rPr>
                  <a:t>$15$</a:t>
                </a:r>
                <a:r>
                  <a:rPr sz="2400" b="0">
                    <a:solidFill>
                      <a:srgbClr val="111827"/>
                    </a:solidFill>
                    <a:latin typeface="Arial"/>
                  </a:rPr>
                  <a:t>: </a:t>
                </a:r>
                <a:r>
                  <a:rPr lang="en-IN" sz="2400">
                    <a:solidFill>
                      <a:srgbClr val="111827"/>
                    </a:solidFill>
                    <a:latin typeface="Cambria Math" panose="02040503050406030204" pitchFamily="18" charset="0"/>
                  </a:rPr>
                  <a:t>$n=10$</a:t>
                </a:r>
                <a:r>
                  <a:rPr sz="2400" b="0">
                    <a:solidFill>
                      <a:srgbClr val="111827"/>
                    </a:solidFill>
                    <a:latin typeface="Arial"/>
                  </a:rPr>
                  <a:t>, old mean </a:t>
                </a:r>
                <a:r>
                  <a:rPr lang="en-IN" sz="2400">
                    <a:solidFill>
                      <a:srgbClr val="111827"/>
                    </a:solidFill>
                    <a:latin typeface="Cambria Math" panose="02040503050406030204" pitchFamily="18" charset="0"/>
                  </a:rPr>
                  <a:t>$15$</a:t>
                </a:r>
                <a:r>
                  <a:rPr sz="2400" b="0">
                    <a:solidFill>
                      <a:srgbClr val="111827"/>
                    </a:solidFill>
                    <a:latin typeface="Arial"/>
                  </a:rPr>
                  <a:t>, new mean </a:t>
                </a:r>
                <a:r>
                  <a:rPr lang="en-IN" sz="2400">
                    <a:solidFill>
                      <a:srgbClr val="111827"/>
                    </a:solidFill>
                    <a:latin typeface="Cambria Math" panose="02040503050406030204" pitchFamily="18" charset="0"/>
                  </a:rPr>
                  <a:t>$15-1=14$</a:t>
                </a:r>
                <a:r>
                  <a:rPr sz="2400" b="0">
                    <a:solidFill>
                      <a:srgbClr val="111827"/>
                    </a:solidFill>
                    <a:latin typeface="Arial"/>
                  </a:rPr>
                  <a:t>, old variance </a:t>
                </a:r>
                <a:r>
                  <a:rPr lang="en-IN" sz="2400">
                    <a:solidFill>
                      <a:srgbClr val="111827"/>
                    </a:solidFill>
                    <a:latin typeface="Cambria Math" panose="02040503050406030204" pitchFamily="18" charset="0"/>
                  </a:rPr>
                  <a:t>$15$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$\sigma'^2=15+\frac{15^2-25^2}{10}-(14^2-15^2)=15-40+29=4$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Standard deviation </a:t>
                </a:r>
                <a:r>
                  <a:rPr lang="en-IN" sz="2400">
                    <a:solidFill>
                      <a:srgbClr val="111827"/>
                    </a:solidFill>
                    <a:latin typeface="Cambria Math" panose="02040503050406030204" pitchFamily="18" charset="0"/>
                  </a:rPr>
                  <a:t>$=\sqrt4=2$</a:t>
                </a:r>
                <a:r>
                  <a:rPr sz="2400" b="0">
                    <a:solidFill>
                      <a:srgbClr val="111827"/>
                    </a:solidFill>
                    <a:latin typeface="Arial"/>
                  </a:rPr>
                  <a:t>, the same answer.</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14:m>
                  <m:oMath xmlns:m="http://schemas.openxmlformats.org/officeDocument/2006/math">
                    <m:r>
                      <a:rPr lang="en-IN" sz="2800" i="1">
                        <a:solidFill>
                          <a:srgbClr val="15803D"/>
                        </a:solidFill>
                        <a:latin typeface="Cambria Math" panose="02040503050406030204" pitchFamily="18" charset="0"/>
                      </a:rPr>
                      <m:t>2</m:t>
                    </m:r>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r>
                  <a:rPr lang="en-IN" sz="2800">
                    <a:solidFill>
                      <a:srgbClr val="15803D"/>
                    </a:solidFill>
                    <a:latin typeface="Cambria Math" panose="02040503050406030204" pitchFamily="18" charset="0"/>
                  </a:rPr>
                  <a:t>$2$</a:t>
                </a:r>
                <a:endParaRPr sz="2800">
                  <a:solidFill>
                    <a:srgbClr val="15803D"/>
                  </a:solidFill>
                </a:endParaRPr>
              </a:p>
            </p:txBody>
          </p:sp>
        </mc:Fallback>
      </mc:AlternateContent>
    </p:spTree>
  </p:cSld>
  <p:clrMapOvr>
    <a:masterClrMapping/>
  </p:clrMapOvr>
</p:sld>
</file>

<file path=ppt/slides/slide3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15</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25</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400</m:t>
                    </m:r>
                  </m:oMath>
                </a14:m>
                <a:r>
                  <a:rPr sz="2400" b="0">
                    <a:solidFill>
                      <a:srgbClr val="111827"/>
                    </a:solidFill>
                    <a:latin typeface="Arial"/>
                  </a:rPr>
                  <a:t> gives the change in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at once.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final answer is the standard deviation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4</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not the variance.</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$15^2-25^2=(15-25)(15+25)=-400$</a:t>
                </a:r>
                <a:r>
                  <a:rPr sz="2400" b="0">
                    <a:solidFill>
                      <a:srgbClr val="111827"/>
                    </a:solidFill>
                    <a:latin typeface="Arial"/>
                  </a:rPr>
                  <a:t> gives the change in </a:t>
                </a:r>
                <a:r>
                  <a:rPr lang="en-IN" sz="2400">
                    <a:solidFill>
                      <a:srgbClr val="111827"/>
                    </a:solidFill>
                    <a:latin typeface="Cambria Math" panose="02040503050406030204" pitchFamily="18" charset="0"/>
                  </a:rPr>
                  <a:t>$\sum x^2$</a:t>
                </a:r>
                <a:r>
                  <a:rPr sz="2400" b="0">
                    <a:solidFill>
                      <a:srgbClr val="111827"/>
                    </a:solidFill>
                    <a:latin typeface="Arial"/>
                  </a:rPr>
                  <a:t> at once.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final answer is the standard deviation </a:t>
                </a:r>
                <a:r>
                  <a:rPr lang="en-IN" sz="2400">
                    <a:solidFill>
                      <a:srgbClr val="111827"/>
                    </a:solidFill>
                    <a:latin typeface="Cambria Math" panose="02040503050406030204" pitchFamily="18" charset="0"/>
                  </a:rPr>
                  <a:t>$\sqrt{4}=2$</a:t>
                </a:r>
                <a:r>
                  <a:rPr sz="2400" b="0">
                    <a:solidFill>
                      <a:srgbClr val="111827"/>
                    </a:solidFill>
                    <a:latin typeface="Arial"/>
                  </a:rPr>
                  <a:t>, not the variance.</a:t>
                </a:r>
                <a:endParaRPr sz="2400">
                  <a:solidFill>
                    <a:srgbClr val="111827"/>
                  </a:solidFill>
                </a:endParaRPr>
              </a:p>
            </p:txBody>
          </p:sp>
        </mc:Fallback>
      </mc:AlternateContent>
    </p:spTree>
  </p:cSld>
  <p:clrMapOvr>
    <a:masterClrMapping/>
  </p:clrMapOvr>
</p:sld>
</file>

<file path=ppt/slides/slide3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70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48970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20</m:t>
                        </m:r>
                      </m:sub>
                    </m:sSub>
                  </m:oMath>
                </a14:m>
                <a:r>
                  <a:rPr sz="2400" b="0">
                    <a:solidFill>
                      <a:srgbClr val="111827"/>
                    </a:solidFill>
                    <a:latin typeface="Arial"/>
                  </a:rPr>
                  <a:t> be in geometric progression with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and the common ratio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 new data is constructed replacing each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oMath>
                </a14:m>
                <a:r>
                  <a:rPr sz="2400" b="0">
                    <a:solidFill>
                      <a:srgbClr val="111827"/>
                    </a:solidFill>
                    <a:latin typeface="Arial"/>
                  </a:rPr>
                  <a:t> by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If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oMath>
                </a14:m>
                <a:r>
                  <a:rPr sz="2400" b="0">
                    <a:solidFill>
                      <a:srgbClr val="111827"/>
                    </a:solidFill>
                    <a:latin typeface="Arial"/>
                  </a:rPr>
                  <a:t> is the mean of new data, then the greatest integer less than or equal to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oMath>
                </a14:m>
                <a:r>
                  <a:rPr sz="2400" b="0">
                    <a:solidFill>
                      <a:srgbClr val="111827"/>
                    </a:solidFill>
                    <a:latin typeface="Arial"/>
                  </a:rPr>
                  <a:t> is ______.</a:t>
                </a:r>
                <a:endParaRPr sz="2400">
                  <a:solidFill>
                    <a:srgbClr val="111827"/>
                  </a:solidFill>
                </a:endParaRPr>
              </a:p>
            </p:txBody>
          </p:sp>
        </mc:Choice>
        <mc:Fallback>
          <p:sp>
            <p:nvSpPr>
              <p:cNvPr id="4" name="Rounded Rectangle 3"/>
              <p:cNvSpPr/>
              <p:nvPr/>
            </p:nvSpPr>
            <p:spPr>
              <a:xfrm>
                <a:off x="731520" y="1280160"/>
                <a:ext cx="10725912" cy="248970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$x_1,x_2,x_3,\dots,x_{20}$</a:t>
                </a:r>
                <a:r>
                  <a:rPr sz="2400" b="0">
                    <a:solidFill>
                      <a:srgbClr val="111827"/>
                    </a:solidFill>
                    <a:latin typeface="Arial"/>
                  </a:rPr>
                  <a:t> be in geometric progression with </a:t>
                </a:r>
                <a:r>
                  <a:rPr lang="en-IN" sz="2400">
                    <a:solidFill>
                      <a:srgbClr val="111827"/>
                    </a:solidFill>
                    <a:latin typeface="Cambria Math" panose="02040503050406030204" pitchFamily="18" charset="0"/>
                  </a:rPr>
                  <a:t>$x_1=3$</a:t>
                </a:r>
                <a:r>
                  <a:rPr sz="2400" b="0">
                    <a:solidFill>
                      <a:srgbClr val="111827"/>
                    </a:solidFill>
                    <a:latin typeface="Arial"/>
                  </a:rPr>
                  <a:t> and the common ratio </a:t>
                </a:r>
                <a:r>
                  <a:rPr lang="en-IN" sz="2400">
                    <a:solidFill>
                      <a:srgbClr val="111827"/>
                    </a:solidFill>
                    <a:latin typeface="Cambria Math" panose="02040503050406030204" pitchFamily="18" charset="0"/>
                  </a:rPr>
                  <a:t>$\frac12$</a:t>
                </a:r>
                <a:r>
                  <a:rPr sz="2400" b="0">
                    <a:solidFill>
                      <a:srgbClr val="111827"/>
                    </a:solidFill>
                    <a:latin typeface="Arial"/>
                  </a:rPr>
                  <a:t>. A new data is constructed replacing each </a:t>
                </a:r>
                <a:r>
                  <a:rPr lang="en-IN" sz="2400">
                    <a:solidFill>
                      <a:srgbClr val="111827"/>
                    </a:solidFill>
                    <a:latin typeface="Cambria Math" panose="02040503050406030204" pitchFamily="18" charset="0"/>
                  </a:rPr>
                  <a:t>$x_i$</a:t>
                </a:r>
                <a:r>
                  <a:rPr sz="2400" b="0">
                    <a:solidFill>
                      <a:srgbClr val="111827"/>
                    </a:solidFill>
                    <a:latin typeface="Arial"/>
                  </a:rPr>
                  <a:t> by </a:t>
                </a:r>
                <a:r>
                  <a:rPr lang="en-IN" sz="2400">
                    <a:solidFill>
                      <a:srgbClr val="111827"/>
                    </a:solidFill>
                    <a:latin typeface="Cambria Math" panose="02040503050406030204" pitchFamily="18" charset="0"/>
                  </a:rPr>
                  <a:t>$(x_i-i)^2$</a:t>
                </a:r>
                <a:r>
                  <a:rPr sz="2400" b="0">
                    <a:solidFill>
                      <a:srgbClr val="111827"/>
                    </a:solidFill>
                    <a:latin typeface="Arial"/>
                  </a:rPr>
                  <a:t>. If </a:t>
                </a:r>
                <a:r>
                  <a:rPr lang="en-IN" sz="2400">
                    <a:solidFill>
                      <a:srgbClr val="111827"/>
                    </a:solidFill>
                    <a:latin typeface="Cambria Math" panose="02040503050406030204" pitchFamily="18" charset="0"/>
                  </a:rPr>
                  <a:t>$\bar{x}$</a:t>
                </a:r>
                <a:r>
                  <a:rPr sz="2400" b="0">
                    <a:solidFill>
                      <a:srgbClr val="111827"/>
                    </a:solidFill>
                    <a:latin typeface="Arial"/>
                  </a:rPr>
                  <a:t> is the mean of new data, then the greatest integer less than or equal to </a:t>
                </a:r>
                <a:r>
                  <a:rPr lang="en-IN" sz="2400">
                    <a:solidFill>
                      <a:srgbClr val="111827"/>
                    </a:solidFill>
                    <a:latin typeface="Cambria Math" panose="02040503050406030204" pitchFamily="18" charset="0"/>
                  </a:rPr>
                  <a:t>$\bar{x}$</a:t>
                </a:r>
                <a:r>
                  <a:rPr sz="2400" b="0">
                    <a:solidFill>
                      <a:srgbClr val="111827"/>
                    </a:solidFill>
                    <a:latin typeface="Arial"/>
                  </a:rPr>
                  <a:t> is ______.</a:t>
                </a:r>
                <a:endParaRPr sz="2400">
                  <a:solidFill>
                    <a:srgbClr val="111827"/>
                  </a:solidFill>
                </a:endParaRPr>
              </a:p>
            </p:txBody>
          </p:sp>
        </mc:Fallback>
      </mc:AlternateContent>
      <p:sp>
        <p:nvSpPr>
          <p:cNvPr id="5" name="Rectangle 4"/>
          <p:cNvSpPr/>
          <p:nvPr/>
        </p:nvSpPr>
        <p:spPr>
          <a:xfrm>
            <a:off x="731520" y="3998467"/>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Mean of a transformed geometric progression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3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70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Expand </a:t>
                </a:r>
                <a14:m>
                  <m:oMath xmlns:m="http://schemas.openxmlformats.org/officeDocument/2006/math">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𝑥</m:t>
                        </m:r>
                      </m:e>
                      <m:sub>
                        <m:r>
                          <a:rPr lang="en-IN" sz="2400" i="1">
                            <a:solidFill>
                              <a:srgbClr val="78350F"/>
                            </a:solidFill>
                            <a:latin typeface="Cambria Math" panose="02040503050406030204" pitchFamily="18" charset="0"/>
                          </a:rPr>
                          <m:t>𝑖</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𝑖</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into </a:t>
                </a:r>
                <a14:m>
                  <m:oMath xmlns:m="http://schemas.openxmlformats.org/officeDocument/2006/math">
                    <m:sSubSup>
                      <m:e>
                        <m:r>
                          <a:rPr lang="en-IN" sz="2400" i="1">
                            <a:solidFill>
                              <a:srgbClr val="78350F"/>
                            </a:solidFill>
                            <a:latin typeface="Cambria Math" panose="02040503050406030204" pitchFamily="18" charset="0"/>
                          </a:rPr>
                          <m:t>𝑥</m:t>
                        </m:r>
                      </m:e>
                      <m:sub>
                        <m:r>
                          <a:rPr lang="en-IN" sz="2400" i="1">
                            <a:solidFill>
                              <a:srgbClr val="78350F"/>
                            </a:solidFill>
                            <a:latin typeface="Cambria Math" panose="02040503050406030204" pitchFamily="18" charset="0"/>
                          </a:rPr>
                          <m:t>𝑖</m:t>
                        </m:r>
                      </m:sub>
                      <m:sup>
                        <m:r>
                          <a:rPr lang="en-IN" sz="2400" i="1">
                            <a:solidFill>
                              <a:srgbClr val="78350F"/>
                            </a:solidFill>
                            <a:latin typeface="Cambria Math" panose="02040503050406030204" pitchFamily="18" charset="0"/>
                          </a:rPr>
                          <m:t>2</m:t>
                        </m:r>
                      </m:sup>
                    </m:sSub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𝑖</m:t>
                    </m:r>
                    <m:sSub>
                      <m:e>
                        <m:r>
                          <a:rPr lang="en-IN" sz="2400" i="1">
                            <a:solidFill>
                              <a:srgbClr val="78350F"/>
                            </a:solidFill>
                            <a:latin typeface="Cambria Math" panose="02040503050406030204" pitchFamily="18" charset="0"/>
                          </a:rPr>
                          <m:t>𝑥</m:t>
                        </m:r>
                      </m:e>
                      <m:sub>
                        <m:r>
                          <a:rPr lang="en-IN" sz="2400" i="1">
                            <a:solidFill>
                              <a:srgbClr val="78350F"/>
                            </a:solidFill>
                            <a:latin typeface="Cambria Math" panose="02040503050406030204" pitchFamily="18" charset="0"/>
                          </a:rPr>
                          <m:t>𝑖</m:t>
                        </m:r>
                      </m:sub>
                    </m:sSub>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𝑖</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and sum the GP, AGP and </a:t>
                </a:r>
                <a14:m>
                  <m:oMath xmlns:m="http://schemas.openxmlformats.org/officeDocument/2006/math">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𝑖</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parts.</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Expand </a:t>
                </a:r>
                <a:r>
                  <a:rPr lang="en-IN" sz="2400">
                    <a:solidFill>
                      <a:srgbClr val="78350F"/>
                    </a:solidFill>
                    <a:latin typeface="Cambria Math" panose="02040503050406030204" pitchFamily="18" charset="0"/>
                  </a:rPr>
                  <a:t>$(x_i-i)^2$</a:t>
                </a:r>
                <a:r>
                  <a:rPr sz="2400" b="0">
                    <a:solidFill>
                      <a:srgbClr val="78350F"/>
                    </a:solidFill>
                    <a:latin typeface="Arial"/>
                  </a:rPr>
                  <a:t> into </a:t>
                </a:r>
                <a:r>
                  <a:rPr lang="en-IN" sz="2400">
                    <a:solidFill>
                      <a:srgbClr val="78350F"/>
                    </a:solidFill>
                    <a:latin typeface="Cambria Math" panose="02040503050406030204" pitchFamily="18" charset="0"/>
                  </a:rPr>
                  <a:t>$x_i^2-2ix_i+i^2$</a:t>
                </a:r>
                <a:r>
                  <a:rPr sz="2400" b="0">
                    <a:solidFill>
                      <a:srgbClr val="78350F"/>
                    </a:solidFill>
                    <a:latin typeface="Arial"/>
                  </a:rPr>
                  <a:t> and sum the GP, AGP and </a:t>
                </a:r>
                <a:r>
                  <a:rPr lang="en-IN" sz="2400">
                    <a:solidFill>
                      <a:srgbClr val="78350F"/>
                    </a:solidFill>
                    <a:latin typeface="Cambria Math" panose="02040503050406030204" pitchFamily="18" charset="0"/>
                  </a:rPr>
                  <a:t>$\sum i^2$</a:t>
                </a:r>
                <a:r>
                  <a:rPr sz="2400" b="0">
                    <a:solidFill>
                      <a:srgbClr val="78350F"/>
                    </a:solidFill>
                    <a:latin typeface="Arial"/>
                  </a:rPr>
                  <a:t> parts.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e>
                      <m:sup>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 New data: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𝑖</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𝑖</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20</m:t>
                        </m:r>
                      </m:sup>
                      <m:e>
                        <m:sSubSup>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2</m:t>
                            </m:r>
                          </m:sup>
                        </m:sSubSup>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e>
                            </m:d>
                          </m:e>
                          <m:sup>
                            <m:r>
                              <a:rPr lang="en-IN" sz="2400" i="1">
                                <a:solidFill>
                                  <a:srgbClr val="111827"/>
                                </a:solidFill>
                                <a:latin typeface="Cambria Math" panose="02040503050406030204" pitchFamily="18" charset="0"/>
                              </a:rPr>
                              <m:t>20</m:t>
                            </m:r>
                          </m:sup>
                        </m:sSup>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4</m:t>
                                </m:r>
                              </m:e>
                              <m:sup>
                                <m:r>
                                  <a:rPr lang="en-IN" sz="2400" i="1">
                                    <a:solidFill>
                                      <a:srgbClr val="111827"/>
                                    </a:solidFill>
                                    <a:latin typeface="Cambria Math" panose="02040503050406030204" pitchFamily="18" charset="0"/>
                                  </a:rPr>
                                  <m:t>20</m:t>
                                </m:r>
                              </m:sup>
                            </m:sSup>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20</m:t>
                        </m:r>
                      </m:sup>
                      <m:e>
                        <m:sSup>
                          <m:e>
                            <m:r>
                              <a:rPr lang="en-IN" sz="2400" i="1">
                                <a:solidFill>
                                  <a:srgbClr val="111827"/>
                                </a:solidFill>
                                <a:latin typeface="Cambria Math" panose="02040503050406030204" pitchFamily="18" charset="0"/>
                              </a:rPr>
                              <m:t>𝑖</m:t>
                            </m:r>
                          </m:e>
                          <m:sup>
                            <m:r>
                              <a:rPr lang="en-IN" sz="2400" i="1">
                                <a:solidFill>
                                  <a:srgbClr val="111827"/>
                                </a:solidFill>
                                <a:latin typeface="Cambria Math" panose="02040503050406030204" pitchFamily="18" charset="0"/>
                              </a:rPr>
                              <m:t>2</m:t>
                            </m:r>
                          </m:sup>
                        </m:sSup>
                      </m:e>
                    </m:nary>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41</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2870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$x_i=3\left(\frac12\right)^{i-1}$</a:t>
                </a:r>
                <a:r>
                  <a:rPr sz="2400" b="0">
                    <a:solidFill>
                      <a:srgbClr val="111827"/>
                    </a:solidFill>
                    <a:latin typeface="Arial"/>
                  </a:rPr>
                  <a:t>. New data: </a:t>
                </a:r>
                <a:r>
                  <a:rPr lang="en-IN" sz="2400">
                    <a:solidFill>
                      <a:srgbClr val="111827"/>
                    </a:solidFill>
                    <a:latin typeface="Cambria Math" panose="02040503050406030204" pitchFamily="18" charset="0"/>
                  </a:rPr>
                  <a:t>$(x_i-i)^2=x_i^2-2ix_i+i^2$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$\sum_{i=1}^{20}x_i^2=9\cdot\frac{1-\left(\frac14\right)^{20}}{1-\frac14}=12\left(1-\frac{1}{4^{20}}\right)\approx12$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$\sum_{i=1}^{20}i^2=\frac{20\cdot21\cdot41}{6}=2870$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70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20</m:t>
                        </m:r>
                      </m:sup>
                      <m:e>
                        <m:r>
                          <a:rPr lang="en-IN" sz="2400" i="1">
                            <a:solidFill>
                              <a:srgbClr val="111827"/>
                            </a:solidFill>
                            <a:latin typeface="Cambria Math" panose="02040503050406030204" pitchFamily="18" charset="0"/>
                          </a:rPr>
                          <m:t>𝑖</m:t>
                        </m:r>
                      </m:e>
                    </m:nary>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20</m:t>
                        </m:r>
                      </m:sup>
                      <m:e>
                        <m:r>
                          <a:rPr lang="en-IN" sz="2400" i="1">
                            <a:solidFill>
                              <a:srgbClr val="111827"/>
                            </a:solidFill>
                            <a:latin typeface="Cambria Math" panose="02040503050406030204" pitchFamily="18" charset="0"/>
                          </a:rPr>
                          <m:t>𝑖</m:t>
                        </m:r>
                      </m:e>
                    </m:nary>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e>
                      <m:sup>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 is an arithmetico-geometric series; with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20</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21</m:t>
                            </m:r>
                          </m:sup>
                        </m:sSup>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22</m:t>
                            </m:r>
                          </m:num>
                          <m:den>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21</m:t>
                                </m:r>
                              </m:sup>
                            </m:sSup>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of new data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2870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2858</m:t>
                    </m:r>
                  </m:oMath>
                </a14:m>
                <a:r>
                  <a:rPr sz="2400" b="0">
                    <a:solidFill>
                      <a:srgbClr val="111827"/>
                    </a:solidFill>
                    <a:latin typeface="Arial"/>
                  </a:rPr>
                  <a:t> (the neglected terms are of order </a:t>
                </a:r>
                <a14:m>
                  <m:oMath xmlns:m="http://schemas.openxmlformats.org/officeDocument/2006/math">
                    <m:sSup>
                      <m:e>
                        <m:r>
                          <a:rPr lang="en-IN" sz="2400" i="1">
                            <a:solidFill>
                              <a:srgbClr val="111827"/>
                            </a:solidFill>
                            <a:latin typeface="Cambria Math" panose="02040503050406030204" pitchFamily="18" charset="0"/>
                          </a:rPr>
                          <m:t>10</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2858</m:t>
                        </m:r>
                      </m:num>
                      <m:den>
                        <m:r>
                          <a:rPr lang="en-IN" sz="2400" i="1">
                            <a:solidFill>
                              <a:srgbClr val="111827"/>
                            </a:solidFill>
                            <a:latin typeface="Cambria Math" panose="02040503050406030204" pitchFamily="18" charset="0"/>
                          </a:rPr>
                          <m:t>20</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142.9</m:t>
                    </m:r>
                  </m:oMath>
                </a14:m>
                <a:r>
                  <a:rPr sz="2400" b="0">
                    <a:solidFill>
                      <a:srgbClr val="111827"/>
                    </a:solidFill>
                    <a:latin typeface="Arial"/>
                  </a:rPr>
                  <a:t>, so the greatest integer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142</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$S=\sum_{i=1}^{20}ix_i=3\sum_{i=1}^{20}i\left(\frac12\right)^{i-1}$</a:t>
                </a:r>
                <a:r>
                  <a:rPr sz="2400" b="0">
                    <a:solidFill>
                      <a:srgbClr val="111827"/>
                    </a:solidFill>
                    <a:latin typeface="Arial"/>
                  </a:rPr>
                  <a:t> is an arithmetico-geometric series; with </a:t>
                </a:r>
                <a:r>
                  <a:rPr lang="en-IN" sz="2400">
                    <a:solidFill>
                      <a:srgbClr val="111827"/>
                    </a:solidFill>
                    <a:latin typeface="Cambria Math" panose="02040503050406030204" pitchFamily="18" charset="0"/>
                  </a:rPr>
                  <a:t>$r=\frac12$</a:t>
                </a:r>
                <a:r>
                  <a:rPr sz="2400" b="0">
                    <a:solidFill>
                      <a:srgbClr val="111827"/>
                    </a:solidFill>
                    <a:latin typeface="Arial"/>
                  </a:rPr>
                  <a:t>: </a:t>
                </a:r>
                <a:r>
                  <a:rPr lang="en-IN" sz="2400">
                    <a:solidFill>
                      <a:srgbClr val="111827"/>
                    </a:solidFill>
                    <a:latin typeface="Cambria Math" panose="02040503050406030204" pitchFamily="18" charset="0"/>
                  </a:rPr>
                  <a:t>$S=3\cdot\frac{1-21r^{20}+20r^{21}}{(1-r)^2}=12\left(1-\frac{22}{2^{21}}\right)\approx12$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of new data </a:t>
                </a:r>
                <a:r>
                  <a:rPr lang="en-IN" sz="2400">
                    <a:solidFill>
                      <a:srgbClr val="111827"/>
                    </a:solidFill>
                    <a:latin typeface="Cambria Math" panose="02040503050406030204" pitchFamily="18" charset="0"/>
                  </a:rPr>
                  <a:t>$\approx12-2\times12+2870=2858$</a:t>
                </a:r>
                <a:r>
                  <a:rPr sz="2400" b="0">
                    <a:solidFill>
                      <a:srgbClr val="111827"/>
                    </a:solidFill>
                    <a:latin typeface="Arial"/>
                  </a:rPr>
                  <a:t> (the neglected terms are of order </a:t>
                </a:r>
                <a:r>
                  <a:rPr lang="en-IN" sz="2400">
                    <a:solidFill>
                      <a:srgbClr val="111827"/>
                    </a:solidFill>
                    <a:latin typeface="Cambria Math" panose="02040503050406030204" pitchFamily="18" charset="0"/>
                  </a:rPr>
                  <a:t>$10^{-5}$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$\bar{x}\approx\frac{2858}{20}=142.9$</a:t>
                </a:r>
                <a:r>
                  <a:rPr sz="2400" b="0">
                    <a:solidFill>
                      <a:srgbClr val="111827"/>
                    </a:solidFill>
                    <a:latin typeface="Arial"/>
                  </a:rPr>
                  <a:t>, so the greatest integer </a:t>
                </a:r>
                <a:r>
                  <a:rPr lang="en-IN" sz="2400">
                    <a:solidFill>
                      <a:srgbClr val="111827"/>
                    </a:solidFill>
                    <a:latin typeface="Cambria Math" panose="02040503050406030204" pitchFamily="18" charset="0"/>
                  </a:rPr>
                  <a:t>$\le\bar{x}$</a:t>
                </a:r>
                <a:r>
                  <a:rPr sz="2400" b="0">
                    <a:solidFill>
                      <a:srgbClr val="111827"/>
                    </a:solidFill>
                    <a:latin typeface="Arial"/>
                  </a:rPr>
                  <a:t> is </a:t>
                </a:r>
                <a:r>
                  <a:rPr lang="en-IN" sz="2400">
                    <a:solidFill>
                      <a:srgbClr val="111827"/>
                    </a:solidFill>
                    <a:latin typeface="Cambria Math" panose="02040503050406030204" pitchFamily="18" charset="0"/>
                  </a:rPr>
                  <a:t>$142$</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14:m>
                  <m:oMath xmlns:m="http://schemas.openxmlformats.org/officeDocument/2006/math">
                    <m:r>
                      <a:rPr lang="en-IN" sz="2800" i="1">
                        <a:solidFill>
                          <a:srgbClr val="15803D"/>
                        </a:solidFill>
                        <a:latin typeface="Cambria Math" panose="02040503050406030204" pitchFamily="18" charset="0"/>
                      </a:rPr>
                      <m:t>142</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r>
                  <a:rPr lang="en-IN" sz="2800">
                    <a:solidFill>
                      <a:srgbClr val="15803D"/>
                    </a:solidFill>
                    <a:latin typeface="Cambria Math" panose="02040503050406030204" pitchFamily="18" charset="0"/>
                  </a:rPr>
                  <a:t>$142$</a:t>
                </a:r>
                <a:endParaRPr sz="2800">
                  <a:solidFill>
                    <a:srgbClr val="15803D"/>
                  </a:solidFill>
                </a:endParaRPr>
              </a:p>
            </p:txBody>
          </p:sp>
        </mc:Fallback>
      </mc:AlternateContent>
    </p:spTree>
  </p:cSld>
  <p:clrMapOvr>
    <a:masterClrMapping/>
  </p:clrMapOvr>
</p:sld>
</file>

<file path=ppt/slides/slide3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70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AGP: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𝑛</m:t>
                        </m:r>
                      </m:sup>
                      <m:e>
                        <m:r>
                          <a:rPr lang="en-IN" sz="2400" i="1">
                            <a:solidFill>
                              <a:srgbClr val="111827"/>
                            </a:solidFill>
                            <a:latin typeface="Cambria Math" panose="02040503050406030204" pitchFamily="18" charset="0"/>
                          </a:rPr>
                          <m:t>𝑖</m:t>
                        </m:r>
                      </m:e>
                    </m:nary>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and large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it tends to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Infinite sums: </a:t>
                </a:r>
                <a14:m>
                  <m:oMath xmlns:m="http://schemas.openxmlformats.org/officeDocument/2006/math">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m:t>
                        </m:r>
                      </m:sup>
                      <m:e>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e>
                          <m:sup>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up>
                        </m:sSup>
                      </m:e>
                    </m:nary>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and </a:t>
                </a:r>
                <a14:m>
                  <m:oMath xmlns:m="http://schemas.openxmlformats.org/officeDocument/2006/math">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m:t>
                        </m:r>
                      </m:sup>
                      <m:e>
                        <m:r>
                          <a:rPr lang="en-IN" sz="2400" i="1">
                            <a:solidFill>
                              <a:srgbClr val="111827"/>
                            </a:solidFill>
                            <a:latin typeface="Cambria Math" panose="02040503050406030204" pitchFamily="18" charset="0"/>
                          </a:rPr>
                          <m:t>𝑖</m:t>
                        </m:r>
                      </m:e>
                    </m:nary>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e>
                      <m:sup>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so the exact tail corrections are tiny; with floor only the integer part matters.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the value of the floor: the small terms (</a:t>
                </a:r>
                <a14:m>
                  <m:oMath xmlns:m="http://schemas.openxmlformats.org/officeDocument/2006/math">
                    <m:r>
                      <m:rPr>
                        <m:sty m:val="p"/>
                      </m:rPr>
                      <a:rPr lang="en-IN" sz="2400">
                        <a:solidFill>
                          <a:srgbClr val="111827"/>
                        </a:solidFill>
                        <a:latin typeface="Cambria Math" panose="02040503050406030204" pitchFamily="18" charset="0"/>
                      </a:rPr>
                      <m:t>&lt;</m:t>
                    </m:r>
                    <m:sSup>
                      <m:e>
                        <m:r>
                          <a:rPr lang="en-IN" sz="2400" i="1">
                            <a:solidFill>
                              <a:srgbClr val="111827"/>
                            </a:solidFill>
                            <a:latin typeface="Cambria Math" panose="02040503050406030204" pitchFamily="18" charset="0"/>
                          </a:rPr>
                          <m:t>10</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up>
                    </m:sSup>
                  </m:oMath>
                </a14:m>
                <a:r>
                  <a:rPr sz="2400" b="0">
                    <a:solidFill>
                      <a:srgbClr val="111827"/>
                    </a:solidFill>
                    <a:latin typeface="Arial"/>
                  </a:rPr>
                  <a:t>) cannot move </a:t>
                </a:r>
                <a14:m>
                  <m:oMath xmlns:m="http://schemas.openxmlformats.org/officeDocument/2006/math">
                    <m:r>
                      <a:rPr lang="en-IN" sz="2400" i="1">
                        <a:solidFill>
                          <a:srgbClr val="111827"/>
                        </a:solidFill>
                        <a:latin typeface="Cambria Math" panose="02040503050406030204" pitchFamily="18" charset="0"/>
                      </a:rPr>
                      <m:t>142.9</m:t>
                    </m:r>
                  </m:oMath>
                </a14:m>
                <a:r>
                  <a:rPr sz="2400" b="0">
                    <a:solidFill>
                      <a:srgbClr val="111827"/>
                    </a:solidFill>
                    <a:latin typeface="Arial"/>
                  </a:rPr>
                  <a:t> across an integer.</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AGP: </a:t>
                </a:r>
                <a:r>
                  <a:rPr lang="en-IN" sz="2400">
                    <a:solidFill>
                      <a:srgbClr val="111827"/>
                    </a:solidFill>
                    <a:latin typeface="Cambria Math" panose="02040503050406030204" pitchFamily="18" charset="0"/>
                  </a:rPr>
                  <a:t>$\sum_{i=1}^{n}i\,r^{i-1}=\frac{1-(n+1)r^n+nr^{n+1}}{(1-r)^2}$</a:t>
                </a:r>
                <a:r>
                  <a:rPr sz="2400" b="0">
                    <a:solidFill>
                      <a:srgbClr val="111827"/>
                    </a:solidFill>
                    <a:latin typeface="Arial"/>
                  </a:rPr>
                  <a:t>; for </a:t>
                </a:r>
                <a:r>
                  <a:rPr lang="en-IN" sz="2400">
                    <a:solidFill>
                      <a:srgbClr val="111827"/>
                    </a:solidFill>
                    <a:latin typeface="Cambria Math" panose="02040503050406030204" pitchFamily="18" charset="0"/>
                  </a:rPr>
                  <a:t>$r=\frac12$</a:t>
                </a:r>
                <a:r>
                  <a:rPr sz="2400" b="0">
                    <a:solidFill>
                      <a:srgbClr val="111827"/>
                    </a:solidFill>
                    <a:latin typeface="Arial"/>
                  </a:rPr>
                  <a:t> and large </a:t>
                </a:r>
                <a:r>
                  <a:rPr lang="en-IN" sz="2400">
                    <a:solidFill>
                      <a:srgbClr val="111827"/>
                    </a:solidFill>
                    <a:latin typeface="Cambria Math" panose="02040503050406030204" pitchFamily="18" charset="0"/>
                  </a:rPr>
                  <a:t>$n$</a:t>
                </a:r>
                <a:r>
                  <a:rPr sz="2400" b="0">
                    <a:solidFill>
                      <a:srgbClr val="111827"/>
                    </a:solidFill>
                    <a:latin typeface="Arial"/>
                  </a:rPr>
                  <a:t> it tends to </a:t>
                </a:r>
                <a:r>
                  <a:rPr lang="en-IN" sz="2400">
                    <a:solidFill>
                      <a:srgbClr val="111827"/>
                    </a:solidFill>
                    <a:latin typeface="Cambria Math" panose="02040503050406030204" pitchFamily="18" charset="0"/>
                  </a:rPr>
                  <a:t>$4$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Infinite sums: </a:t>
                </a:r>
                <a:r>
                  <a:rPr lang="en-IN" sz="2400">
                    <a:solidFill>
                      <a:srgbClr val="111827"/>
                    </a:solidFill>
                    <a:latin typeface="Cambria Math" panose="02040503050406030204" pitchFamily="18" charset="0"/>
                  </a:rPr>
                  <a:t>$\sum_{i\ge1}\left(\frac12\right)^{2(i-1)}=\frac43$</a:t>
                </a:r>
                <a:r>
                  <a:rPr sz="2400" b="0">
                    <a:solidFill>
                      <a:srgbClr val="111827"/>
                    </a:solidFill>
                    <a:latin typeface="Arial"/>
                  </a:rPr>
                  <a:t> and </a:t>
                </a:r>
                <a:r>
                  <a:rPr lang="en-IN" sz="2400">
                    <a:solidFill>
                      <a:srgbClr val="111827"/>
                    </a:solidFill>
                    <a:latin typeface="Cambria Math" panose="02040503050406030204" pitchFamily="18" charset="0"/>
                  </a:rPr>
                  <a:t>$\sum_{i\ge1}i\left(\frac12\right)^{i-1}=4$</a:t>
                </a:r>
                <a:r>
                  <a:rPr sz="2400" b="0">
                    <a:solidFill>
                      <a:srgbClr val="111827"/>
                    </a:solidFill>
                    <a:latin typeface="Arial"/>
                  </a:rPr>
                  <a:t>, so the exact tail corrections are tiny; with floor only the integer part matters.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the value of the floor: the small terms (</a:t>
                </a:r>
                <a:r>
                  <a:rPr lang="en-IN" sz="2400">
                    <a:solidFill>
                      <a:srgbClr val="111827"/>
                    </a:solidFill>
                    <a:latin typeface="Cambria Math" panose="02040503050406030204" pitchFamily="18" charset="0"/>
                  </a:rPr>
                  <a:t>$&lt;10^{-4}$</a:t>
                </a:r>
                <a:r>
                  <a:rPr sz="2400" b="0">
                    <a:solidFill>
                      <a:srgbClr val="111827"/>
                    </a:solidFill>
                    <a:latin typeface="Arial"/>
                  </a:rPr>
                  <a:t>) cannot move </a:t>
                </a:r>
                <a:r>
                  <a:rPr lang="en-IN" sz="2400">
                    <a:solidFill>
                      <a:srgbClr val="111827"/>
                    </a:solidFill>
                    <a:latin typeface="Cambria Math" panose="02040503050406030204" pitchFamily="18" charset="0"/>
                  </a:rPr>
                  <a:t>$142.9$</a:t>
                </a:r>
                <a:r>
                  <a:rPr sz="2400" b="0">
                    <a:solidFill>
                      <a:srgbClr val="111827"/>
                    </a:solidFill>
                    <a:latin typeface="Arial"/>
                  </a:rPr>
                  <a:t> across an integer.</a:t>
                </a:r>
                <a:endParaRPr sz="2400">
                  <a:solidFill>
                    <a:srgbClr val="111827"/>
                  </a:solidFill>
                </a:endParaRPr>
              </a:p>
            </p:txBody>
          </p:sp>
        </mc:Fallback>
      </mc:AlternateContent>
    </p:spTree>
  </p:cSld>
  <p:clrMapOvr>
    <a:masterClrMapping/>
  </p:clrMapOvr>
</p:sld>
</file>

<file path=ppt/slides/slide3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71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379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the mean and the variance of 20 observations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20</m:t>
                        </m:r>
                      </m:sub>
                    </m:sSub>
                  </m:oMath>
                </a14:m>
                <a:r>
                  <a:rPr sz="2400" b="0">
                    <a:solidFill>
                      <a:srgbClr val="111827"/>
                    </a:solidFill>
                    <a:latin typeface="Arial"/>
                  </a:rPr>
                  <a:t> be 15 and 9, respectively. For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 if the mean of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20</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is 178, then the square of the maximum value of </a:t>
                </a:r>
                <a14:m>
                  <m:oMath xmlns:m="http://schemas.openxmlformats.org/officeDocument/2006/math">
                    <m:r>
                      <a:rPr lang="en-IN" sz="2400" i="1">
                        <a:solidFill>
                          <a:srgbClr val="111827"/>
                        </a:solidFill>
                        <a:latin typeface="Cambria Math" panose="02040503050406030204" pitchFamily="18" charset="0"/>
                      </a:rPr>
                      <m:t>λ</m:t>
                    </m:r>
                  </m:oMath>
                </a14:m>
                <a:r>
                  <a:rPr sz="2400" b="0">
                    <a:solidFill>
                      <a:srgbClr val="111827"/>
                    </a:solidFill>
                    <a:latin typeface="Arial"/>
                  </a:rPr>
                  <a:t> is equal to ______.</a:t>
                </a:r>
                <a:endParaRPr sz="2400">
                  <a:solidFill>
                    <a:srgbClr val="111827"/>
                  </a:solidFill>
                </a:endParaRPr>
              </a:p>
            </p:txBody>
          </p:sp>
        </mc:Choice>
        <mc:Fallback>
          <p:sp>
            <p:nvSpPr>
              <p:cNvPr id="4" name="Rounded Rectangle 3"/>
              <p:cNvSpPr/>
              <p:nvPr/>
            </p:nvSpPr>
            <p:spPr>
              <a:xfrm>
                <a:off x="731520" y="1280160"/>
                <a:ext cx="10725912" cy="2379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the mean and the variance of 20 observations </a:t>
                </a:r>
                <a:r>
                  <a:rPr lang="en-IN" sz="2400">
                    <a:solidFill>
                      <a:srgbClr val="111827"/>
                    </a:solidFill>
                    <a:latin typeface="Cambria Math" panose="02040503050406030204" pitchFamily="18" charset="0"/>
                  </a:rPr>
                  <a:t>$x_1,x_2,\dots,x_{20}$</a:t>
                </a:r>
                <a:r>
                  <a:rPr sz="2400" b="0">
                    <a:solidFill>
                      <a:srgbClr val="111827"/>
                    </a:solidFill>
                    <a:latin typeface="Arial"/>
                  </a:rPr>
                  <a:t> be 15 and 9, respectively. For </a:t>
                </a:r>
                <a:r>
                  <a:rPr lang="en-IN" sz="2400">
                    <a:solidFill>
                      <a:srgbClr val="111827"/>
                    </a:solidFill>
                    <a:latin typeface="Cambria Math" panose="02040503050406030204" pitchFamily="18" charset="0"/>
                  </a:rPr>
                  <a:t>$\lambda\in\mathbb{R}$</a:t>
                </a:r>
                <a:r>
                  <a:rPr sz="2400" b="0">
                    <a:solidFill>
                      <a:srgbClr val="111827"/>
                    </a:solidFill>
                    <a:latin typeface="Arial"/>
                  </a:rPr>
                  <a:t>, if the mean of </a:t>
                </a:r>
                <a:r>
                  <a:rPr lang="en-IN" sz="2400">
                    <a:solidFill>
                      <a:srgbClr val="111827"/>
                    </a:solidFill>
                    <a:latin typeface="Cambria Math" panose="02040503050406030204" pitchFamily="18" charset="0"/>
                  </a:rPr>
                  <a:t>$(x_1+\lambda)^2,(x_2+\lambda)^2,\dots,(x_{20}+\lambda)^2$</a:t>
                </a:r>
                <a:r>
                  <a:rPr sz="2400" b="0">
                    <a:solidFill>
                      <a:srgbClr val="111827"/>
                    </a:solidFill>
                    <a:latin typeface="Arial"/>
                  </a:rPr>
                  <a:t> is 178, then the square of the maximum value of </a:t>
                </a:r>
                <a:r>
                  <a:rPr lang="en-IN" sz="2400">
                    <a:solidFill>
                      <a:srgbClr val="111827"/>
                    </a:solidFill>
                    <a:latin typeface="Cambria Math" panose="02040503050406030204" pitchFamily="18" charset="0"/>
                  </a:rPr>
                  <a:t>$\lambda$</a:t>
                </a:r>
                <a:r>
                  <a:rPr sz="2400" b="0">
                    <a:solidFill>
                      <a:srgbClr val="111827"/>
                    </a:solidFill>
                    <a:latin typeface="Arial"/>
                  </a:rPr>
                  <a:t> is equal to ______.</a:t>
                </a:r>
                <a:endParaRPr sz="2400">
                  <a:solidFill>
                    <a:srgbClr val="111827"/>
                  </a:solidFill>
                </a:endParaRPr>
              </a:p>
            </p:txBody>
          </p:sp>
        </mc:Fallback>
      </mc:AlternateContent>
      <p:sp>
        <p:nvSpPr>
          <p:cNvPr id="5" name="Rectangle 4"/>
          <p:cNvSpPr/>
          <p:nvPr/>
        </p:nvSpPr>
        <p:spPr>
          <a:xfrm>
            <a:off x="731520" y="3888739"/>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Mean of squares after adding a constant</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3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71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mean of </a:t>
                </a:r>
                <a14:m>
                  <m:oMath xmlns:m="http://schemas.openxmlformats.org/officeDocument/2006/math">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𝑥</m:t>
                        </m:r>
                      </m:e>
                      <m:sub>
                        <m:r>
                          <a:rPr lang="en-IN" sz="2400" i="1">
                            <a:solidFill>
                              <a:srgbClr val="78350F"/>
                            </a:solidFill>
                            <a:latin typeface="Cambria Math" panose="02040503050406030204" pitchFamily="18" charset="0"/>
                          </a:rPr>
                          <m:t>𝑖</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λ</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is </a:t>
                </a:r>
                <a14:m>
                  <m:oMath xmlns:m="http://schemas.openxmlformats.org/officeDocument/2006/math">
                    <m:r>
                      <m:rPr>
                        <m:sty m:val="p"/>
                      </m:rPr>
                      <a:rPr lang="en-IN" sz="2400">
                        <a:solidFill>
                          <a:srgbClr val="78350F"/>
                        </a:solidFill>
                        <a:latin typeface="Cambria Math" panose="02040503050406030204" pitchFamily="18" charset="0"/>
                      </a:rPr>
                      <m:t>∑</m:t>
                    </m:r>
                    <m:sSubSup>
                      <m:e>
                        <m:r>
                          <a:rPr lang="en-IN" sz="2400" i="1">
                            <a:solidFill>
                              <a:srgbClr val="78350F"/>
                            </a:solidFill>
                            <a:latin typeface="Cambria Math" panose="02040503050406030204" pitchFamily="18" charset="0"/>
                          </a:rPr>
                          <m:t>𝑥</m:t>
                        </m:r>
                      </m:e>
                      <m:sub>
                        <m:r>
                          <a:rPr lang="en-IN" sz="2400" i="1">
                            <a:solidFill>
                              <a:srgbClr val="78350F"/>
                            </a:solidFill>
                            <a:latin typeface="Cambria Math" panose="02040503050406030204" pitchFamily="18" charset="0"/>
                          </a:rPr>
                          <m:t>𝑖</m:t>
                        </m:r>
                      </m:sub>
                      <m:sup>
                        <m:r>
                          <a:rPr lang="en-IN" sz="2400" i="1">
                            <a:solidFill>
                              <a:srgbClr val="78350F"/>
                            </a:solidFill>
                            <a:latin typeface="Cambria Math" panose="02040503050406030204" pitchFamily="18" charset="0"/>
                          </a:rPr>
                          <m:t>2</m:t>
                        </m:r>
                      </m:sup>
                    </m:sSub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20</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λ</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𝑥</m:t>
                        </m:r>
                      </m:e>
                    </m:acc>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λ</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mean of </a:t>
                </a:r>
                <a:r>
                  <a:rPr lang="en-IN" sz="2400">
                    <a:solidFill>
                      <a:srgbClr val="78350F"/>
                    </a:solidFill>
                    <a:latin typeface="Cambria Math" panose="02040503050406030204" pitchFamily="18" charset="0"/>
                  </a:rPr>
                  <a:t>$(x_i+\lambda)^2$</a:t>
                </a:r>
                <a:r>
                  <a:rPr sz="2400" b="0">
                    <a:solidFill>
                      <a:srgbClr val="78350F"/>
                    </a:solidFill>
                    <a:latin typeface="Arial"/>
                  </a:rPr>
                  <a:t> is </a:t>
                </a:r>
                <a:r>
                  <a:rPr lang="en-IN" sz="2400">
                    <a:solidFill>
                      <a:srgbClr val="78350F"/>
                    </a:solidFill>
                    <a:latin typeface="Cambria Math" panose="02040503050406030204" pitchFamily="18" charset="0"/>
                  </a:rPr>
                  <a:t>$\sum x_i^2/20+2\lambda\bar{x}+\lambda^2$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2</m:t>
                            </m:r>
                          </m:sup>
                        </m:sSubSup>
                      </m:num>
                      <m:den>
                        <m:r>
                          <a:rPr lang="en-IN" sz="2400" i="1">
                            <a:solidFill>
                              <a:srgbClr val="111827"/>
                            </a:solidFill>
                            <a:latin typeface="Cambria Math" panose="02040503050406030204" pitchFamily="18" charset="0"/>
                          </a:rPr>
                          <m:t>20</m:t>
                        </m:r>
                      </m:den>
                    </m:f>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15</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234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4680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sSup>
                      <m:e>
                        <m:r>
                          <a:rPr lang="en-IN" sz="2400" i="1">
                            <a:solidFill>
                              <a:srgbClr val="111827"/>
                            </a:solidFill>
                            <a:latin typeface="Cambria Math" panose="02040503050406030204" pitchFamily="18" charset="0"/>
                          </a:rPr>
                          <m:t>λ</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4680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600</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sSup>
                      <m:e>
                        <m:r>
                          <a:rPr lang="en-IN" sz="2400" i="1">
                            <a:solidFill>
                              <a:srgbClr val="111827"/>
                            </a:solidFill>
                            <a:latin typeface="Cambria Math" panose="02040503050406030204" pitchFamily="18" charset="0"/>
                          </a:rPr>
                          <m:t>λ</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Mean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178</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4680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600</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sSup>
                      <m:e>
                        <m:r>
                          <a:rPr lang="en-IN" sz="2400" i="1">
                            <a:solidFill>
                              <a:srgbClr val="111827"/>
                            </a:solidFill>
                            <a:latin typeface="Cambria Math" panose="02040503050406030204" pitchFamily="18" charset="0"/>
                          </a:rPr>
                          <m:t>λ</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3560</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λ</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or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m:t>
                    </m:r>
                  </m:oMath>
                </a14:m>
                <a:r>
                  <a:rPr sz="2400" b="0">
                    <a:solidFill>
                      <a:srgbClr val="111827"/>
                    </a:solidFill>
                    <a:latin typeface="Arial"/>
                  </a:rPr>
                  <a:t>; the maximum value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and its square is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 x_i=20\times15=300$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$\sigma^2=\frac{\sum x_i^2}{20}-15^2=9$</a:t>
                </a:r>
                <a:r>
                  <a:rPr sz="2400" b="0">
                    <a:solidFill>
                      <a:srgbClr val="111827"/>
                    </a:solidFill>
                    <a:latin typeface="Arial"/>
                  </a:rPr>
                  <a:t>, so </a:t>
                </a:r>
                <a:r>
                  <a:rPr lang="en-IN" sz="2400">
                    <a:solidFill>
                      <a:srgbClr val="111827"/>
                    </a:solidFill>
                    <a:latin typeface="Cambria Math" panose="02040503050406030204" pitchFamily="18" charset="0"/>
                  </a:rPr>
                  <a:t>$\sum x_i^2=20\times234=4680$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$\sum(x_i+\lambda)^2=\sum x_i^2+2\lambda\sum x_i+20\lambda^2=4680+600\lambda+20\lambda^2$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Mean </a:t>
                </a:r>
                <a:r>
                  <a:rPr lang="en-IN" sz="2400">
                    <a:solidFill>
                      <a:srgbClr val="111827"/>
                    </a:solidFill>
                    <a:latin typeface="Cambria Math" panose="02040503050406030204" pitchFamily="18" charset="0"/>
                  </a:rPr>
                  <a:t>$=178$</a:t>
                </a:r>
                <a:r>
                  <a:rPr sz="2400" b="0">
                    <a:solidFill>
                      <a:srgbClr val="111827"/>
                    </a:solidFill>
                    <a:latin typeface="Arial"/>
                  </a:rPr>
                  <a:t>: </a:t>
                </a:r>
                <a:r>
                  <a:rPr lang="en-IN" sz="2400">
                    <a:solidFill>
                      <a:srgbClr val="111827"/>
                    </a:solidFill>
                    <a:latin typeface="Cambria Math" panose="02040503050406030204" pitchFamily="18" charset="0"/>
                  </a:rPr>
                  <a:t>$4680+600\lambda+20\lambda^2=3560$</a:t>
                </a:r>
                <a:r>
                  <a:rPr sz="2400" b="0">
                    <a:solidFill>
                      <a:srgbClr val="111827"/>
                    </a:solidFill>
                    <a:latin typeface="Arial"/>
                  </a:rPr>
                  <a:t>, so </a:t>
                </a:r>
                <a:r>
                  <a:rPr lang="en-IN" sz="2400">
                    <a:solidFill>
                      <a:srgbClr val="111827"/>
                    </a:solidFill>
                    <a:latin typeface="Cambria Math" panose="02040503050406030204" pitchFamily="18" charset="0"/>
                  </a:rPr>
                  <a:t>$\lambda^2+30\lambda+56=0$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$(\lambda+2)(\lambda+28)=0$</a:t>
                </a:r>
                <a:r>
                  <a:rPr sz="2400" b="0">
                    <a:solidFill>
                      <a:srgbClr val="111827"/>
                    </a:solidFill>
                    <a:latin typeface="Arial"/>
                  </a:rPr>
                  <a:t>, so </a:t>
                </a:r>
                <a:r>
                  <a:rPr lang="en-IN" sz="2400">
                    <a:solidFill>
                      <a:srgbClr val="111827"/>
                    </a:solidFill>
                    <a:latin typeface="Cambria Math" panose="02040503050406030204" pitchFamily="18" charset="0"/>
                  </a:rPr>
                  <a:t>$\lambda=-2$</a:t>
                </a:r>
                <a:r>
                  <a:rPr sz="2400" b="0">
                    <a:solidFill>
                      <a:srgbClr val="111827"/>
                    </a:solidFill>
                    <a:latin typeface="Arial"/>
                  </a:rPr>
                  <a:t> or </a:t>
                </a:r>
                <a:r>
                  <a:rPr lang="en-IN" sz="2400">
                    <a:solidFill>
                      <a:srgbClr val="111827"/>
                    </a:solidFill>
                    <a:latin typeface="Cambria Math" panose="02040503050406030204" pitchFamily="18" charset="0"/>
                  </a:rPr>
                  <a:t>$-28$</a:t>
                </a:r>
                <a:r>
                  <a:rPr sz="2400" b="0">
                    <a:solidFill>
                      <a:srgbClr val="111827"/>
                    </a:solidFill>
                    <a:latin typeface="Arial"/>
                  </a:rPr>
                  <a:t>; the maximum value is </a:t>
                </a:r>
                <a:r>
                  <a:rPr lang="en-IN" sz="2400">
                    <a:solidFill>
                      <a:srgbClr val="111827"/>
                    </a:solidFill>
                    <a:latin typeface="Cambria Math" panose="02040503050406030204" pitchFamily="18" charset="0"/>
                  </a:rPr>
                  <a:t>$-2$</a:t>
                </a:r>
                <a:r>
                  <a:rPr sz="2400" b="0">
                    <a:solidFill>
                      <a:srgbClr val="111827"/>
                    </a:solidFill>
                    <a:latin typeface="Arial"/>
                  </a:rPr>
                  <a:t>, and its square is </a:t>
                </a:r>
                <a:r>
                  <a:rPr lang="en-IN" sz="2400">
                    <a:solidFill>
                      <a:srgbClr val="111827"/>
                    </a:solidFill>
                    <a:latin typeface="Cambria Math" panose="02040503050406030204" pitchFamily="18" charset="0"/>
                  </a:rPr>
                  <a:t>$4$</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14:m>
                  <m:oMath xmlns:m="http://schemas.openxmlformats.org/officeDocument/2006/math">
                    <m:r>
                      <a:rPr lang="en-IN" sz="2800" i="1">
                        <a:solidFill>
                          <a:srgbClr val="15803D"/>
                        </a:solidFill>
                        <a:latin typeface="Cambria Math" panose="02040503050406030204" pitchFamily="18" charset="0"/>
                      </a:rPr>
                      <m:t>4</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r>
                  <a:rPr lang="en-IN" sz="2800">
                    <a:solidFill>
                      <a:srgbClr val="15803D"/>
                    </a:solidFill>
                    <a:latin typeface="Cambria Math" panose="02040503050406030204" pitchFamily="18" charset="0"/>
                  </a:rPr>
                  <a:t>$4$</a:t>
                </a:r>
                <a:endParaRPr sz="2800">
                  <a:solidFill>
                    <a:srgbClr val="15803D"/>
                  </a:solidFill>
                </a:endParaRPr>
              </a:p>
            </p:txBody>
          </p:sp>
        </mc:Fallback>
      </mc:AlternateContent>
    </p:spTree>
  </p:cSld>
  <p:clrMapOvr>
    <a:masterClrMapping/>
  </p:clrMapOvr>
</p:sld>
</file>

<file path=ppt/slides/slide3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71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Mean of squares </a:t>
                </a:r>
                <a14:m>
                  <m:oMath xmlns:m="http://schemas.openxmlformats.org/officeDocument/2006/math">
                    <m:r>
                      <m:rPr>
                        <m:sty m:val="p"/>
                      </m:rPr>
                      <a:rPr lang="en-IN" sz="2400">
                        <a:solidFill>
                          <a:srgbClr val="78350F"/>
                        </a:solidFill>
                        <a:latin typeface="Cambria Math" panose="02040503050406030204" pitchFamily="18" charset="0"/>
                      </a:rPr>
                      <m:t>=</m:t>
                    </m:r>
                  </m:oMath>
                </a14:m>
                <a:r>
                  <a:rPr sz="2400" b="0">
                    <a:solidFill>
                      <a:srgbClr val="78350F"/>
                    </a:solidFill>
                    <a:latin typeface="Arial"/>
                  </a:rPr>
                  <a:t> variance </a:t>
                </a:r>
                <a14:m>
                  <m:oMath xmlns:m="http://schemas.openxmlformats.org/officeDocument/2006/math">
                    <m:r>
                      <m:rPr>
                        <m:sty m:val="p"/>
                      </m:rPr>
                      <a:rPr lang="en-IN" sz="2400">
                        <a:solidFill>
                          <a:srgbClr val="78350F"/>
                        </a:solidFill>
                        <a:latin typeface="Cambria Math" panose="02040503050406030204" pitchFamily="18" charset="0"/>
                      </a:rPr>
                      <m:t>+</m:t>
                    </m:r>
                  </m:oMath>
                </a14:m>
                <a:r>
                  <a:rPr sz="2400" b="0">
                    <a:solidFill>
                      <a:srgbClr val="78350F"/>
                    </a:solidFill>
                    <a:latin typeface="Arial"/>
                  </a:rPr>
                  <a:t> (mean)</a:t>
                </a:r>
                <a14:m>
                  <m:oMath xmlns:m="http://schemas.openxmlformats.org/officeDocument/2006/math">
                    <m:sSup>
                      <m:e>
                        <m:r>
                          <a:rPr lang="en-IN" sz="2400" i="1">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for the shifted data.</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Mean of squares </a:t>
                </a:r>
                <a:r>
                  <a:rPr lang="en-IN" sz="2400">
                    <a:solidFill>
                      <a:srgbClr val="78350F"/>
                    </a:solidFill>
                    <a:latin typeface="Cambria Math" panose="02040503050406030204" pitchFamily="18" charset="0"/>
                  </a:rPr>
                  <a:t>$=$</a:t>
                </a:r>
                <a:r>
                  <a:rPr sz="2400" b="0">
                    <a:solidFill>
                      <a:srgbClr val="78350F"/>
                    </a:solidFill>
                    <a:latin typeface="Arial"/>
                  </a:rPr>
                  <a:t> variance </a:t>
                </a:r>
                <a:r>
                  <a:rPr lang="en-IN" sz="2400">
                    <a:solidFill>
                      <a:srgbClr val="78350F"/>
                    </a:solidFill>
                    <a:latin typeface="Cambria Math" panose="02040503050406030204" pitchFamily="18" charset="0"/>
                  </a:rPr>
                  <a:t>$+$</a:t>
                </a:r>
                <a:r>
                  <a:rPr sz="2400" b="0">
                    <a:solidFill>
                      <a:srgbClr val="78350F"/>
                    </a:solidFill>
                    <a:latin typeface="Arial"/>
                  </a:rPr>
                  <a:t> (mean)</a:t>
                </a:r>
                <a:r>
                  <a:rPr lang="en-IN" sz="2400">
                    <a:solidFill>
                      <a:srgbClr val="78350F"/>
                    </a:solidFill>
                    <a:latin typeface="Cambria Math" panose="02040503050406030204" pitchFamily="18" charset="0"/>
                  </a:rPr>
                  <a:t>$^2$</a:t>
                </a:r>
                <a:r>
                  <a:rPr sz="2400" b="0">
                    <a:solidFill>
                      <a:srgbClr val="78350F"/>
                    </a:solidFill>
                    <a:latin typeface="Arial"/>
                  </a:rPr>
                  <a:t> for the shifted data.</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data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oMath>
                </a14:m>
                <a:r>
                  <a:rPr sz="2400" b="0">
                    <a:solidFill>
                      <a:srgbClr val="111827"/>
                    </a:solidFill>
                    <a:latin typeface="Arial"/>
                  </a:rPr>
                  <a:t> have mean </a:t>
                </a:r>
                <a14:m>
                  <m:oMath xmlns:m="http://schemas.openxmlformats.org/officeDocument/2006/math">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oMath>
                </a14:m>
                <a:r>
                  <a:rPr sz="2400" b="0">
                    <a:solidFill>
                      <a:srgbClr val="111827"/>
                    </a:solidFill>
                    <a:latin typeface="Arial"/>
                  </a:rPr>
                  <a:t> and the same variance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Mean of squares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178</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169</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or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m:t>
                    </m:r>
                  </m:oMath>
                </a14:m>
                <a:r>
                  <a:rPr sz="2400" b="0">
                    <a:solidFill>
                      <a:srgbClr val="111827"/>
                    </a:solidFill>
                    <a:latin typeface="Arial"/>
                  </a:rPr>
                  <a:t>; the maximum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with square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the same answer.</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data </a:t>
                </a:r>
                <a:r>
                  <a:rPr lang="en-IN" sz="2400">
                    <a:solidFill>
                      <a:srgbClr val="111827"/>
                    </a:solidFill>
                    <a:latin typeface="Cambria Math" panose="02040503050406030204" pitchFamily="18" charset="0"/>
                  </a:rPr>
                  <a:t>$x_i+\lambda$</a:t>
                </a:r>
                <a:r>
                  <a:rPr sz="2400" b="0">
                    <a:solidFill>
                      <a:srgbClr val="111827"/>
                    </a:solidFill>
                    <a:latin typeface="Arial"/>
                  </a:rPr>
                  <a:t> have mean </a:t>
                </a:r>
                <a:r>
                  <a:rPr lang="en-IN" sz="2400">
                    <a:solidFill>
                      <a:srgbClr val="111827"/>
                    </a:solidFill>
                    <a:latin typeface="Cambria Math" panose="02040503050406030204" pitchFamily="18" charset="0"/>
                  </a:rPr>
                  <a:t>$15+\lambda$</a:t>
                </a:r>
                <a:r>
                  <a:rPr sz="2400" b="0">
                    <a:solidFill>
                      <a:srgbClr val="111827"/>
                    </a:solidFill>
                    <a:latin typeface="Arial"/>
                  </a:rPr>
                  <a:t> and the same variance </a:t>
                </a:r>
                <a:r>
                  <a:rPr lang="en-IN" sz="2400">
                    <a:solidFill>
                      <a:srgbClr val="111827"/>
                    </a:solidFill>
                    <a:latin typeface="Cambria Math" panose="02040503050406030204" pitchFamily="18" charset="0"/>
                  </a:rPr>
                  <a:t>$9$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Mean of squares </a:t>
                </a:r>
                <a:r>
                  <a:rPr lang="en-IN" sz="2400">
                    <a:solidFill>
                      <a:srgbClr val="111827"/>
                    </a:solidFill>
                    <a:latin typeface="Cambria Math" panose="02040503050406030204" pitchFamily="18" charset="0"/>
                  </a:rPr>
                  <a:t>$=9+(15+\lambda)^2=178$</a:t>
                </a:r>
                <a:r>
                  <a:rPr sz="2400" b="0">
                    <a:solidFill>
                      <a:srgbClr val="111827"/>
                    </a:solidFill>
                    <a:latin typeface="Arial"/>
                  </a:rPr>
                  <a:t>, so </a:t>
                </a:r>
                <a:r>
                  <a:rPr lang="en-IN" sz="2400">
                    <a:solidFill>
                      <a:srgbClr val="111827"/>
                    </a:solidFill>
                    <a:latin typeface="Cambria Math" panose="02040503050406030204" pitchFamily="18" charset="0"/>
                  </a:rPr>
                  <a:t>$(15+\lambda)^2=169$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$15+\lambda=\pm13$</a:t>
                </a:r>
                <a:r>
                  <a:rPr sz="2400" b="0">
                    <a:solidFill>
                      <a:srgbClr val="111827"/>
                    </a:solidFill>
                    <a:latin typeface="Arial"/>
                  </a:rPr>
                  <a:t>, so </a:t>
                </a:r>
                <a:r>
                  <a:rPr lang="en-IN" sz="2400">
                    <a:solidFill>
                      <a:srgbClr val="111827"/>
                    </a:solidFill>
                    <a:latin typeface="Cambria Math" panose="02040503050406030204" pitchFamily="18" charset="0"/>
                  </a:rPr>
                  <a:t>$\lambda=-2$</a:t>
                </a:r>
                <a:r>
                  <a:rPr sz="2400" b="0">
                    <a:solidFill>
                      <a:srgbClr val="111827"/>
                    </a:solidFill>
                    <a:latin typeface="Arial"/>
                  </a:rPr>
                  <a:t> or </a:t>
                </a:r>
                <a:r>
                  <a:rPr lang="en-IN" sz="2400">
                    <a:solidFill>
                      <a:srgbClr val="111827"/>
                    </a:solidFill>
                    <a:latin typeface="Cambria Math" panose="02040503050406030204" pitchFamily="18" charset="0"/>
                  </a:rPr>
                  <a:t>$-28$</a:t>
                </a:r>
                <a:r>
                  <a:rPr sz="2400" b="0">
                    <a:solidFill>
                      <a:srgbClr val="111827"/>
                    </a:solidFill>
                    <a:latin typeface="Arial"/>
                  </a:rPr>
                  <a:t>; the maximum is </a:t>
                </a:r>
                <a:r>
                  <a:rPr lang="en-IN" sz="2400">
                    <a:solidFill>
                      <a:srgbClr val="111827"/>
                    </a:solidFill>
                    <a:latin typeface="Cambria Math" panose="02040503050406030204" pitchFamily="18" charset="0"/>
                  </a:rPr>
                  <a:t>$-2$</a:t>
                </a:r>
                <a:r>
                  <a:rPr sz="2400" b="0">
                    <a:solidFill>
                      <a:srgbClr val="111827"/>
                    </a:solidFill>
                    <a:latin typeface="Arial"/>
                  </a:rPr>
                  <a:t> with square </a:t>
                </a:r>
                <a:r>
                  <a:rPr lang="en-IN" sz="2400">
                    <a:solidFill>
                      <a:srgbClr val="111827"/>
                    </a:solidFill>
                    <a:latin typeface="Cambria Math" panose="02040503050406030204" pitchFamily="18" charset="0"/>
                  </a:rPr>
                  <a:t>$4$</a:t>
                </a:r>
                <a:r>
                  <a:rPr sz="2400" b="0">
                    <a:solidFill>
                      <a:srgbClr val="111827"/>
                    </a:solidFill>
                    <a:latin typeface="Arial"/>
                  </a:rPr>
                  <a:t>, the same answer.</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14:m>
                  <m:oMath xmlns:m="http://schemas.openxmlformats.org/officeDocument/2006/math">
                    <m:r>
                      <a:rPr lang="en-IN" sz="2800" i="1">
                        <a:solidFill>
                          <a:srgbClr val="15803D"/>
                        </a:solidFill>
                        <a:latin typeface="Cambria Math" panose="02040503050406030204" pitchFamily="18" charset="0"/>
                      </a:rPr>
                      <m:t>4</m:t>
                    </m:r>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r>
                  <a:rPr lang="en-IN" sz="2800">
                    <a:solidFill>
                      <a:srgbClr val="15803D"/>
                    </a:solidFill>
                    <a:latin typeface="Cambria Math" panose="02040503050406030204" pitchFamily="18" charset="0"/>
                  </a:rPr>
                  <a:t>$4$</a:t>
                </a:r>
                <a:endParaRPr sz="2800">
                  <a:solidFill>
                    <a:srgbClr val="15803D"/>
                  </a:solidFill>
                </a:endParaRPr>
              </a:p>
            </p:txBody>
          </p:sp>
        </mc:Fallback>
      </mc:AlternateContent>
    </p:spTree>
  </p:cSld>
  <p:clrMapOvr>
    <a:masterClrMapping/>
  </p:clrMapOvr>
</p:sld>
</file>

<file path=ppt/slides/slide3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71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Mean of squares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μ</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for any data; for shifted data use the shifted mean: </a:t>
                </a:r>
                <a14:m>
                  <m:oMath xmlns:m="http://schemas.openxmlformats.org/officeDocument/2006/math">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'Maximum value' of a root pair: compare signed values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&gt;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m:t>
                    </m:r>
                  </m:oMath>
                </a14:m>
                <a:r>
                  <a:rPr sz="2400" b="0">
                    <a:solidFill>
                      <a:srgbClr val="111827"/>
                    </a:solidFill>
                    <a:latin typeface="Arial"/>
                  </a:rPr>
                  <a:t>), then square.</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Mean of squares </a:t>
                </a:r>
                <a:r>
                  <a:rPr lang="en-IN" sz="2400">
                    <a:solidFill>
                      <a:srgbClr val="111827"/>
                    </a:solidFill>
                    <a:latin typeface="Cambria Math" panose="02040503050406030204" pitchFamily="18" charset="0"/>
                  </a:rPr>
                  <a:t>$=\sigma^2+\mu^2$</a:t>
                </a:r>
                <a:r>
                  <a:rPr sz="2400" b="0">
                    <a:solidFill>
                      <a:srgbClr val="111827"/>
                    </a:solidFill>
                    <a:latin typeface="Arial"/>
                  </a:rPr>
                  <a:t> for any data; for shifted data use the shifted mean: </a:t>
                </a:r>
                <a:r>
                  <a:rPr lang="en-IN" sz="2400">
                    <a:solidFill>
                      <a:srgbClr val="111827"/>
                    </a:solidFill>
                    <a:latin typeface="Cambria Math" panose="02040503050406030204" pitchFamily="18" charset="0"/>
                  </a:rPr>
                  <a:t>$\sigma^2+(\bar{x}+\lambda)^2$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'Maximum value' of a root pair: compare signed values (</a:t>
                </a:r>
                <a:r>
                  <a:rPr lang="en-IN" sz="2400">
                    <a:solidFill>
                      <a:srgbClr val="111827"/>
                    </a:solidFill>
                    <a:latin typeface="Cambria Math" panose="02040503050406030204" pitchFamily="18" charset="0"/>
                  </a:rPr>
                  <a:t>$-2&gt;-28$</a:t>
                </a:r>
                <a:r>
                  <a:rPr sz="2400" b="0">
                    <a:solidFill>
                      <a:srgbClr val="111827"/>
                    </a:solidFill>
                    <a:latin typeface="Arial"/>
                  </a:rPr>
                  <a:t>), then square.</a:t>
                </a:r>
                <a:endParaRPr sz="2400">
                  <a:solidFill>
                    <a:srgbClr val="111827"/>
                  </a:solidFill>
                </a:endParaRPr>
              </a:p>
            </p:txBody>
          </p:sp>
        </mc:Fallback>
      </mc:AlternateContent>
    </p:spTree>
  </p:cSld>
  <p:clrMapOvr>
    <a:masterClrMapping/>
  </p:clrMapOvr>
</p:sld>
</file>

<file path=ppt/slides/slide3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72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sum and product of the mean and variance of a binomial distribution are </a:t>
                </a:r>
                <a14:m>
                  <m:oMath xmlns:m="http://schemas.openxmlformats.org/officeDocument/2006/math">
                    <m:r>
                      <a:rPr lang="en-IN" sz="2400" i="1">
                        <a:solidFill>
                          <a:srgbClr val="111827"/>
                        </a:solidFill>
                        <a:latin typeface="Cambria Math" panose="02040503050406030204" pitchFamily="18" charset="0"/>
                      </a:rPr>
                      <m:t>82.5</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1350</m:t>
                    </m:r>
                  </m:oMath>
                </a14:m>
                <a:r>
                  <a:rPr sz="2400" b="0">
                    <a:solidFill>
                      <a:srgbClr val="111827"/>
                    </a:solidFill>
                    <a:latin typeface="Arial"/>
                  </a:rPr>
                  <a:t> respectively. Then the number of trials in the binomial distribution is ______.</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sum and product of the mean and variance of a binomial distribution are </a:t>
                </a:r>
                <a:r>
                  <a:rPr lang="en-IN" sz="2400">
                    <a:solidFill>
                      <a:srgbClr val="111827"/>
                    </a:solidFill>
                    <a:latin typeface="Cambria Math" panose="02040503050406030204" pitchFamily="18" charset="0"/>
                  </a:rPr>
                  <a:t>$82.5$</a:t>
                </a:r>
                <a:r>
                  <a:rPr sz="2400" b="0">
                    <a:solidFill>
                      <a:srgbClr val="111827"/>
                    </a:solidFill>
                    <a:latin typeface="Arial"/>
                  </a:rPr>
                  <a:t> and </a:t>
                </a:r>
                <a:r>
                  <a:rPr lang="en-IN" sz="2400">
                    <a:solidFill>
                      <a:srgbClr val="111827"/>
                    </a:solidFill>
                    <a:latin typeface="Cambria Math" panose="02040503050406030204" pitchFamily="18" charset="0"/>
                  </a:rPr>
                  <a:t>$1350$</a:t>
                </a:r>
                <a:r>
                  <a:rPr sz="2400" b="0">
                    <a:solidFill>
                      <a:srgbClr val="111827"/>
                    </a:solidFill>
                    <a:latin typeface="Arial"/>
                  </a:rPr>
                  <a:t> respectively. Then the number of trials in the binomial distribution is ______.</a:t>
                </a:r>
                <a:endParaRPr sz="2400">
                  <a:solidFill>
                    <a:srgbClr val="111827"/>
                  </a:solidFill>
                </a:endParaRPr>
              </a:p>
            </p:txBody>
          </p:sp>
        </mc:Fallback>
      </mc:AlternateContent>
      <p:sp>
        <p:nvSpPr>
          <p:cNvPr id="5" name="Rectangle 4"/>
          <p:cNvSpPr/>
          <p:nvPr/>
        </p:nvSpPr>
        <p:spPr>
          <a:xfrm>
            <a:off x="731520" y="324612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Mean and variance of a binomial distribution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3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72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Mean </a:t>
                </a:r>
                <a14:m>
                  <m:oMath xmlns:m="http://schemas.openxmlformats.org/officeDocument/2006/math">
                    <m:r>
                      <a:rPr lang="en-IN" sz="2400" i="1">
                        <a:solidFill>
                          <a:srgbClr val="78350F"/>
                        </a:solidFill>
                        <a:latin typeface="Cambria Math" panose="02040503050406030204" pitchFamily="18" charset="0"/>
                      </a:rPr>
                      <m:t>𝑚</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𝑛</m:t>
                    </m:r>
                    <m:r>
                      <a:rPr lang="en-IN" sz="2400" i="1">
                        <a:solidFill>
                          <a:srgbClr val="78350F"/>
                        </a:solidFill>
                        <a:latin typeface="Cambria Math" panose="02040503050406030204" pitchFamily="18" charset="0"/>
                      </a:rPr>
                      <m:t>𝑝</m:t>
                    </m:r>
                  </m:oMath>
                </a14:m>
                <a:r>
                  <a:rPr sz="2400" b="0">
                    <a:solidFill>
                      <a:srgbClr val="78350F"/>
                    </a:solidFill>
                    <a:latin typeface="Arial"/>
                  </a:rPr>
                  <a:t> and variance </a:t>
                </a:r>
                <a14:m>
                  <m:oMath xmlns:m="http://schemas.openxmlformats.org/officeDocument/2006/math">
                    <m:r>
                      <a:rPr lang="en-IN" sz="2400" i="1">
                        <a:solidFill>
                          <a:srgbClr val="78350F"/>
                        </a:solidFill>
                        <a:latin typeface="Cambria Math" panose="02040503050406030204" pitchFamily="18" charset="0"/>
                      </a:rPr>
                      <m:t>𝑣</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𝑛</m:t>
                    </m:r>
                    <m:r>
                      <a:rPr lang="en-IN" sz="2400" i="1">
                        <a:solidFill>
                          <a:srgbClr val="78350F"/>
                        </a:solidFill>
                        <a:latin typeface="Cambria Math" panose="02040503050406030204" pitchFamily="18" charset="0"/>
                      </a:rPr>
                      <m:t>𝑝</m:t>
                    </m:r>
                    <m:r>
                      <a:rPr lang="en-IN" sz="2400" i="1">
                        <a:solidFill>
                          <a:srgbClr val="78350F"/>
                        </a:solidFill>
                        <a:latin typeface="Cambria Math" panose="02040503050406030204" pitchFamily="18" charset="0"/>
                      </a:rPr>
                      <m:t>𝑞</m:t>
                    </m:r>
                  </m:oMath>
                </a14:m>
                <a:r>
                  <a:rPr sz="2400" b="0">
                    <a:solidFill>
                      <a:srgbClr val="78350F"/>
                    </a:solidFill>
                    <a:latin typeface="Arial"/>
                  </a:rPr>
                  <a:t> are the roots of </a:t>
                </a:r>
                <a14:m>
                  <m:oMath xmlns:m="http://schemas.openxmlformats.org/officeDocument/2006/math">
                    <m:sSup>
                      <m:e>
                        <m:r>
                          <a:rPr lang="en-IN" sz="2400" i="1">
                            <a:solidFill>
                              <a:srgbClr val="78350F"/>
                            </a:solidFill>
                            <a:latin typeface="Cambria Math" panose="02040503050406030204" pitchFamily="18" charset="0"/>
                          </a:rPr>
                          <m:t>𝑡</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82.5</m:t>
                    </m:r>
                    <m:r>
                      <a:rPr lang="en-IN" sz="2400" i="1">
                        <a:solidFill>
                          <a:srgbClr val="78350F"/>
                        </a:solidFill>
                        <a:latin typeface="Cambria Math" panose="02040503050406030204" pitchFamily="18" charset="0"/>
                      </a:rPr>
                      <m:t>𝑡</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1350</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Mean </a:t>
                </a:r>
                <a:r>
                  <a:rPr lang="en-IN" sz="2400">
                    <a:solidFill>
                      <a:srgbClr val="78350F"/>
                    </a:solidFill>
                    <a:latin typeface="Cambria Math" panose="02040503050406030204" pitchFamily="18" charset="0"/>
                  </a:rPr>
                  <a:t>$m=np$</a:t>
                </a:r>
                <a:r>
                  <a:rPr sz="2400" b="0">
                    <a:solidFill>
                      <a:srgbClr val="78350F"/>
                    </a:solidFill>
                    <a:latin typeface="Arial"/>
                  </a:rPr>
                  <a:t> and variance </a:t>
                </a:r>
                <a:r>
                  <a:rPr lang="en-IN" sz="2400">
                    <a:solidFill>
                      <a:srgbClr val="78350F"/>
                    </a:solidFill>
                    <a:latin typeface="Cambria Math" panose="02040503050406030204" pitchFamily="18" charset="0"/>
                  </a:rPr>
                  <a:t>$v=npq$</a:t>
                </a:r>
                <a:r>
                  <a:rPr sz="2400" b="0">
                    <a:solidFill>
                      <a:srgbClr val="78350F"/>
                    </a:solidFill>
                    <a:latin typeface="Arial"/>
                  </a:rPr>
                  <a:t> are the roots of </a:t>
                </a:r>
                <a:r>
                  <a:rPr lang="en-IN" sz="2400">
                    <a:solidFill>
                      <a:srgbClr val="78350F"/>
                    </a:solidFill>
                    <a:latin typeface="Cambria Math" panose="02040503050406030204" pitchFamily="18" charset="0"/>
                  </a:rPr>
                  <a:t>$t^2-82.5t+1350=0$</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mean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a:rPr lang="en-IN" sz="2400" i="1">
                        <a:solidFill>
                          <a:srgbClr val="111827"/>
                        </a:solidFill>
                        <a:latin typeface="Cambria Math" panose="02040503050406030204" pitchFamily="18" charset="0"/>
                      </a:rPr>
                      <m:t>𝑝</m:t>
                    </m:r>
                  </m:oMath>
                </a14:m>
                <a:r>
                  <a:rPr sz="2400" b="0">
                    <a:solidFill>
                      <a:srgbClr val="111827"/>
                    </a:solidFill>
                    <a:latin typeface="Arial"/>
                  </a:rPr>
                  <a:t> and variance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a:rPr lang="en-IN" sz="2400" i="1">
                        <a:solidFill>
                          <a:srgbClr val="111827"/>
                        </a:solidFill>
                        <a:latin typeface="Cambria Math" panose="02040503050406030204" pitchFamily="18" charset="0"/>
                      </a:rPr>
                      <m:t>𝑝</m:t>
                    </m:r>
                    <m:r>
                      <a:rPr lang="en-IN" sz="2400" i="1">
                        <a:solidFill>
                          <a:srgbClr val="111827"/>
                        </a:solidFill>
                        <a:latin typeface="Cambria Math" panose="02040503050406030204" pitchFamily="18" charset="0"/>
                      </a:rPr>
                      <m:t>𝑞</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165</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𝑚</m:t>
                    </m:r>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1350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𝑣</m:t>
                    </m:r>
                  </m:oMath>
                </a14:m>
                <a:r>
                  <a:rPr sz="2400" b="0">
                    <a:solidFill>
                      <a:srgbClr val="111827"/>
                    </a:solidFill>
                    <a:latin typeface="Arial"/>
                  </a:rPr>
                  <a:t> are roots of </a:t>
                </a:r>
                <a14:m>
                  <m:oMath xmlns:m="http://schemas.openxmlformats.org/officeDocument/2006/math">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165</m:t>
                        </m:r>
                      </m:num>
                      <m:den>
                        <m:r>
                          <a:rPr lang="en-IN" sz="2400" i="1">
                            <a:solidFill>
                              <a:srgbClr val="111827"/>
                            </a:solidFill>
                            <a:latin typeface="Cambria Math" panose="02040503050406030204" pitchFamily="18" charset="0"/>
                          </a:rPr>
                          <m:t>2</m:t>
                        </m:r>
                      </m:den>
                    </m:f>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165</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2700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165</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27225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21600</m:t>
                            </m:r>
                          </m:e>
                        </m:rad>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165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75</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oMath>
                </a14:m>
                <a:r>
                  <a:rPr sz="2400" b="0">
                    <a:solidFill>
                      <a:srgbClr val="111827"/>
                    </a:solidFill>
                    <a:latin typeface="Arial"/>
                  </a:rPr>
                  <a:t> or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45</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mean </a:t>
                </a:r>
                <a:r>
                  <a:rPr lang="en-IN" sz="2400">
                    <a:solidFill>
                      <a:srgbClr val="111827"/>
                    </a:solidFill>
                    <a:latin typeface="Cambria Math" panose="02040503050406030204" pitchFamily="18" charset="0"/>
                  </a:rPr>
                  <a:t>$=m=np$</a:t>
                </a:r>
                <a:r>
                  <a:rPr sz="2400" b="0">
                    <a:solidFill>
                      <a:srgbClr val="111827"/>
                    </a:solidFill>
                    <a:latin typeface="Arial"/>
                  </a:rPr>
                  <a:t> and variance </a:t>
                </a:r>
                <a:r>
                  <a:rPr lang="en-IN" sz="2400">
                    <a:solidFill>
                      <a:srgbClr val="111827"/>
                    </a:solidFill>
                    <a:latin typeface="Cambria Math" panose="02040503050406030204" pitchFamily="18" charset="0"/>
                  </a:rPr>
                  <a:t>$=v=npq$</a:t>
                </a:r>
                <a:r>
                  <a:rPr sz="2400" b="0">
                    <a:solidFill>
                      <a:srgbClr val="111827"/>
                    </a:solidFill>
                    <a:latin typeface="Arial"/>
                  </a:rPr>
                  <a:t>, with </a:t>
                </a:r>
                <a:r>
                  <a:rPr lang="en-IN" sz="2400">
                    <a:solidFill>
                      <a:srgbClr val="111827"/>
                    </a:solidFill>
                    <a:latin typeface="Cambria Math" panose="02040503050406030204" pitchFamily="18" charset="0"/>
                  </a:rPr>
                  <a:t>$p+q=1$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$m+v=\frac{165}{2}$</a:t>
                </a:r>
                <a:r>
                  <a:rPr sz="2400" b="0">
                    <a:solidFill>
                      <a:srgbClr val="111827"/>
                    </a:solidFill>
                    <a:latin typeface="Arial"/>
                  </a:rPr>
                  <a:t> and </a:t>
                </a:r>
                <a:r>
                  <a:rPr lang="en-IN" sz="2400">
                    <a:solidFill>
                      <a:srgbClr val="111827"/>
                    </a:solidFill>
                    <a:latin typeface="Cambria Math" panose="02040503050406030204" pitchFamily="18" charset="0"/>
                  </a:rPr>
                  <a:t>$mv=1350$</a:t>
                </a:r>
                <a:r>
                  <a:rPr sz="2400" b="0">
                    <a:solidFill>
                      <a:srgbClr val="111827"/>
                    </a:solidFill>
                    <a:latin typeface="Arial"/>
                  </a:rPr>
                  <a:t>, so </a:t>
                </a:r>
                <a:r>
                  <a:rPr lang="en-IN" sz="2400">
                    <a:solidFill>
                      <a:srgbClr val="111827"/>
                    </a:solidFill>
                    <a:latin typeface="Cambria Math" panose="02040503050406030204" pitchFamily="18" charset="0"/>
                  </a:rPr>
                  <a:t>$m,v$</a:t>
                </a:r>
                <a:r>
                  <a:rPr sz="2400" b="0">
                    <a:solidFill>
                      <a:srgbClr val="111827"/>
                    </a:solidFill>
                    <a:latin typeface="Arial"/>
                  </a:rPr>
                  <a:t> are roots of </a:t>
                </a:r>
                <a:r>
                  <a:rPr lang="en-IN" sz="2400">
                    <a:solidFill>
                      <a:srgbClr val="111827"/>
                    </a:solidFill>
                    <a:latin typeface="Cambria Math" panose="02040503050406030204" pitchFamily="18" charset="0"/>
                  </a:rPr>
                  <a:t>$t^2-\frac{165}{2}t+1350=0$</a:t>
                </a:r>
                <a:r>
                  <a:rPr sz="2400" b="0">
                    <a:solidFill>
                      <a:srgbClr val="111827"/>
                    </a:solidFill>
                    <a:latin typeface="Arial"/>
                  </a:rPr>
                  <a:t>, i.e. </a:t>
                </a:r>
                <a:r>
                  <a:rPr lang="en-IN" sz="2400">
                    <a:solidFill>
                      <a:srgbClr val="111827"/>
                    </a:solidFill>
                    <a:latin typeface="Cambria Math" panose="02040503050406030204" pitchFamily="18" charset="0"/>
                  </a:rPr>
                  <a:t>$2t^2-165t+2700=0$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$t=\frac{165\pm\sqrt{27225-21600}}{4}=\frac{165\pm75}{4}$</a:t>
                </a:r>
                <a:r>
                  <a:rPr sz="2400" b="0">
                    <a:solidFill>
                      <a:srgbClr val="111827"/>
                    </a:solidFill>
                    <a:latin typeface="Arial"/>
                  </a:rPr>
                  <a:t>, so </a:t>
                </a:r>
                <a:r>
                  <a:rPr lang="en-IN" sz="2400">
                    <a:solidFill>
                      <a:srgbClr val="111827"/>
                    </a:solidFill>
                    <a:latin typeface="Cambria Math" panose="02040503050406030204" pitchFamily="18" charset="0"/>
                  </a:rPr>
                  <a:t>$t=60$</a:t>
                </a:r>
                <a:r>
                  <a:rPr sz="2400" b="0">
                    <a:solidFill>
                      <a:srgbClr val="111827"/>
                    </a:solidFill>
                    <a:latin typeface="Arial"/>
                  </a:rPr>
                  <a:t> or </a:t>
                </a:r>
                <a:r>
                  <a:rPr lang="en-IN" sz="2400">
                    <a:solidFill>
                      <a:srgbClr val="111827"/>
                    </a:solidFill>
                    <a:latin typeface="Cambria Math" panose="02040503050406030204" pitchFamily="18" charset="0"/>
                  </a:rPr>
                  <a:t>$\frac{45}{2}$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72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𝑚</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a:rPr lang="en-IN" sz="2400" i="1">
                        <a:solidFill>
                          <a:srgbClr val="111827"/>
                        </a:solidFill>
                        <a:latin typeface="Cambria Math" panose="02040503050406030204" pitchFamily="18" charset="0"/>
                      </a:rPr>
                      <m:t>𝑝</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45</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𝑣</m:t>
                        </m:r>
                      </m:num>
                      <m:den>
                        <m:r>
                          <a:rPr lang="en-IN" sz="2400" i="1">
                            <a:solidFill>
                              <a:srgbClr val="111827"/>
                            </a:solidFill>
                            <a:latin typeface="Cambria Math" panose="02040503050406030204" pitchFamily="18" charset="0"/>
                          </a:rPr>
                          <m:t>𝑚</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45</m:t>
                        </m:r>
                      </m:num>
                      <m:den>
                        <m:r>
                          <a:rPr lang="en-IN" sz="2400" i="1">
                            <a:solidFill>
                              <a:srgbClr val="111827"/>
                            </a:solidFill>
                            <a:latin typeface="Cambria Math" panose="02040503050406030204" pitchFamily="18" charset="0"/>
                          </a:rPr>
                          <m:t>120</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8</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8</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60</m:t>
                        </m:r>
                      </m:num>
                      <m:den>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96</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$v&lt;m$</a:t>
                </a:r>
                <a:r>
                  <a:rPr sz="2400" b="0">
                    <a:solidFill>
                      <a:srgbClr val="111827"/>
                    </a:solidFill>
                    <a:latin typeface="Arial"/>
                  </a:rPr>
                  <a:t> (</a:t>
                </a:r>
                <a:r>
                  <a:rPr lang="en-IN" sz="2400">
                    <a:solidFill>
                      <a:srgbClr val="111827"/>
                    </a:solidFill>
                    <a:latin typeface="Cambria Math" panose="02040503050406030204" pitchFamily="18" charset="0"/>
                  </a:rPr>
                  <a:t>$q&lt;1$</a:t>
                </a:r>
                <a:r>
                  <a:rPr sz="2400" b="0">
                    <a:solidFill>
                      <a:srgbClr val="111827"/>
                    </a:solidFill>
                    <a:latin typeface="Arial"/>
                  </a:rPr>
                  <a:t>): </a:t>
                </a:r>
                <a:r>
                  <a:rPr lang="en-IN" sz="2400">
                    <a:solidFill>
                      <a:srgbClr val="111827"/>
                    </a:solidFill>
                    <a:latin typeface="Cambria Math" panose="02040503050406030204" pitchFamily="18" charset="0"/>
                  </a:rPr>
                  <a:t>$m=np=60$</a:t>
                </a:r>
                <a:r>
                  <a:rPr sz="2400" b="0">
                    <a:solidFill>
                      <a:srgbClr val="111827"/>
                    </a:solidFill>
                    <a:latin typeface="Arial"/>
                  </a:rPr>
                  <a:t> and </a:t>
                </a:r>
                <a:r>
                  <a:rPr lang="en-IN" sz="2400">
                    <a:solidFill>
                      <a:srgbClr val="111827"/>
                    </a:solidFill>
                    <a:latin typeface="Cambria Math" panose="02040503050406030204" pitchFamily="18" charset="0"/>
                  </a:rPr>
                  <a:t>$v=npq=\frac{45}{2}$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$q=\frac{v}{m}=\frac{45}{120}=\frac38$</a:t>
                </a:r>
                <a:r>
                  <a:rPr sz="2400" b="0">
                    <a:solidFill>
                      <a:srgbClr val="111827"/>
                    </a:solidFill>
                    <a:latin typeface="Arial"/>
                  </a:rPr>
                  <a:t> and </a:t>
                </a:r>
                <a:r>
                  <a:rPr lang="en-IN" sz="2400">
                    <a:solidFill>
                      <a:srgbClr val="111827"/>
                    </a:solidFill>
                    <a:latin typeface="Cambria Math" panose="02040503050406030204" pitchFamily="18" charset="0"/>
                  </a:rPr>
                  <a:t>$p=\frac58$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$n=\frac{60}{5/8}=96$</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14:m>
                  <m:oMath xmlns:m="http://schemas.openxmlformats.org/officeDocument/2006/math">
                    <m:r>
                      <a:rPr lang="en-IN" sz="2800" i="1">
                        <a:solidFill>
                          <a:srgbClr val="15803D"/>
                        </a:solidFill>
                        <a:latin typeface="Cambria Math" panose="02040503050406030204" pitchFamily="18" charset="0"/>
                      </a:rPr>
                      <m:t>96</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r>
                  <a:rPr lang="en-IN" sz="2800">
                    <a:solidFill>
                      <a:srgbClr val="15803D"/>
                    </a:solidFill>
                    <a:latin typeface="Cambria Math" panose="02040503050406030204" pitchFamily="18" charset="0"/>
                  </a:rPr>
                  <a:t>$96$</a:t>
                </a:r>
                <a:endParaRPr sz="2800">
                  <a:solidFill>
                    <a:srgbClr val="15803D"/>
                  </a:solidFill>
                </a:endParaRPr>
              </a:p>
            </p:txBody>
          </p:sp>
        </mc:Fallback>
      </mc:AlternateContent>
    </p:spTree>
  </p:cSld>
  <p:clrMapOvr>
    <a:masterClrMapping/>
  </p:clrMapOvr>
</p:sld>
</file>

<file path=ppt/slides/slide3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72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Eliminate </a:t>
                </a:r>
                <a14:m>
                  <m:oMath xmlns:m="http://schemas.openxmlformats.org/officeDocument/2006/math">
                    <m:r>
                      <a:rPr lang="en-IN" sz="2400" i="1">
                        <a:solidFill>
                          <a:srgbClr val="78350F"/>
                        </a:solidFill>
                        <a:latin typeface="Cambria Math" panose="02040503050406030204" pitchFamily="18" charset="0"/>
                      </a:rPr>
                      <m:t>𝑚</m:t>
                    </m:r>
                  </m:oMath>
                </a14:m>
                <a:r>
                  <a:rPr sz="2400" b="0">
                    <a:solidFill>
                      <a:srgbClr val="78350F"/>
                    </a:solidFill>
                    <a:latin typeface="Arial"/>
                  </a:rPr>
                  <a:t>: with </a:t>
                </a:r>
                <a14:m>
                  <m:oMath xmlns:m="http://schemas.openxmlformats.org/officeDocument/2006/math">
                    <m:r>
                      <a:rPr lang="en-IN" sz="2400" i="1">
                        <a:solidFill>
                          <a:srgbClr val="78350F"/>
                        </a:solidFill>
                        <a:latin typeface="Cambria Math" panose="02040503050406030204" pitchFamily="18" charset="0"/>
                      </a:rPr>
                      <m:t>𝑣</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𝑞</m:t>
                    </m:r>
                    <m:r>
                      <a:rPr lang="en-IN" sz="2400" i="1">
                        <a:solidFill>
                          <a:srgbClr val="78350F"/>
                        </a:solidFill>
                        <a:latin typeface="Cambria Math" panose="02040503050406030204" pitchFamily="18" charset="0"/>
                      </a:rPr>
                      <m:t>𝑚</m:t>
                    </m:r>
                  </m:oMath>
                </a14:m>
                <a:r>
                  <a:rPr sz="2400" b="0">
                    <a:solidFill>
                      <a:srgbClr val="78350F"/>
                    </a:solidFill>
                    <a:latin typeface="Arial"/>
                  </a:rPr>
                  <a:t> the sum and product give an equation in </a:t>
                </a:r>
                <a14:m>
                  <m:oMath xmlns:m="http://schemas.openxmlformats.org/officeDocument/2006/math">
                    <m:r>
                      <a:rPr lang="en-IN" sz="2400" i="1">
                        <a:solidFill>
                          <a:srgbClr val="78350F"/>
                        </a:solidFill>
                        <a:latin typeface="Cambria Math" panose="02040503050406030204" pitchFamily="18" charset="0"/>
                      </a:rPr>
                      <m:t>𝑞</m:t>
                    </m:r>
                  </m:oMath>
                </a14:m>
                <a:r>
                  <a:rPr sz="2400" b="0">
                    <a:solidFill>
                      <a:srgbClr val="78350F"/>
                    </a:solidFill>
                    <a:latin typeface="Arial"/>
                  </a:rPr>
                  <a:t> alone.</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Eliminate </a:t>
                </a:r>
                <a:r>
                  <a:rPr lang="en-IN" sz="2400">
                    <a:solidFill>
                      <a:srgbClr val="78350F"/>
                    </a:solidFill>
                    <a:latin typeface="Cambria Math" panose="02040503050406030204" pitchFamily="18" charset="0"/>
                  </a:rPr>
                  <a:t>$m$</a:t>
                </a:r>
                <a:r>
                  <a:rPr sz="2400" b="0">
                    <a:solidFill>
                      <a:srgbClr val="78350F"/>
                    </a:solidFill>
                    <a:latin typeface="Arial"/>
                  </a:rPr>
                  <a:t>: with </a:t>
                </a:r>
                <a:r>
                  <a:rPr lang="en-IN" sz="2400">
                    <a:solidFill>
                      <a:srgbClr val="78350F"/>
                    </a:solidFill>
                    <a:latin typeface="Cambria Math" panose="02040503050406030204" pitchFamily="18" charset="0"/>
                  </a:rPr>
                  <a:t>$v=qm$</a:t>
                </a:r>
                <a:r>
                  <a:rPr sz="2400" b="0">
                    <a:solidFill>
                      <a:srgbClr val="78350F"/>
                    </a:solidFill>
                    <a:latin typeface="Arial"/>
                  </a:rPr>
                  <a:t> the sum and product give an equation in </a:t>
                </a:r>
                <a:r>
                  <a:rPr lang="en-IN" sz="2400">
                    <a:solidFill>
                      <a:srgbClr val="78350F"/>
                    </a:solidFill>
                    <a:latin typeface="Cambria Math" panose="02040503050406030204" pitchFamily="18" charset="0"/>
                  </a:rPr>
                  <a:t>$q$</a:t>
                </a:r>
                <a:r>
                  <a:rPr sz="2400" b="0">
                    <a:solidFill>
                      <a:srgbClr val="78350F"/>
                    </a:solidFill>
                    <a:latin typeface="Arial"/>
                  </a:rPr>
                  <a:t> alone.</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82.5</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𝑚</m:t>
                    </m:r>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1350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Dividing the square of the first by the second: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𝑞</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82.5</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1350</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121</m:t>
                        </m:r>
                      </m:num>
                      <m:den>
                        <m:r>
                          <a:rPr lang="en-IN" sz="2400" i="1">
                            <a:solidFill>
                              <a:srgbClr val="111827"/>
                            </a:solidFill>
                            <a:latin typeface="Cambria Math" panose="02040503050406030204" pitchFamily="18" charset="0"/>
                          </a:rPr>
                          <m:t>24</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$m+v=m(1+q)=82.5$</a:t>
                </a:r>
                <a:r>
                  <a:rPr sz="2400" b="0">
                    <a:solidFill>
                      <a:srgbClr val="111827"/>
                    </a:solidFill>
                    <a:latin typeface="Arial"/>
                  </a:rPr>
                  <a:t> and </a:t>
                </a:r>
                <a:r>
                  <a:rPr lang="en-IN" sz="2400">
                    <a:solidFill>
                      <a:srgbClr val="111827"/>
                    </a:solidFill>
                    <a:latin typeface="Cambria Math" panose="02040503050406030204" pitchFamily="18" charset="0"/>
                  </a:rPr>
                  <a:t>$mv=m^2q=1350$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Dividing the square of the first by the second: </a:t>
                </a:r>
                <a:r>
                  <a:rPr lang="en-IN" sz="2400">
                    <a:solidFill>
                      <a:srgbClr val="111827"/>
                    </a:solidFill>
                    <a:latin typeface="Cambria Math" panose="02040503050406030204" pitchFamily="18" charset="0"/>
                  </a:rPr>
                  <a:t>$\frac{(1+q)^2}{q}=\frac{82.5^2}{1350}=\frac{121}{24}$</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72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24</m:t>
                    </m:r>
                    <m:sSup>
                      <m:e>
                        <m:r>
                          <a:rPr lang="en-IN" sz="2400" i="1">
                            <a:solidFill>
                              <a:srgbClr val="111827"/>
                            </a:solidFill>
                            <a:latin typeface="Cambria Math" panose="02040503050406030204" pitchFamily="18" charset="0"/>
                          </a:rPr>
                          <m:t>𝑞</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73</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55</m:t>
                        </m:r>
                      </m:num>
                      <m:den>
                        <m:r>
                          <a:rPr lang="en-IN" sz="2400" i="1">
                            <a:solidFill>
                              <a:srgbClr val="111827"/>
                            </a:solidFill>
                            <a:latin typeface="Cambria Math" panose="02040503050406030204" pitchFamily="18" charset="0"/>
                          </a:rPr>
                          <m:t>48</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or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8</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1</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8</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82.5</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8</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96</m:t>
                    </m:r>
                  </m:oMath>
                </a14:m>
                <a:r>
                  <a:rPr sz="2400" b="0">
                    <a:solidFill>
                      <a:srgbClr val="111827"/>
                    </a:solidFill>
                    <a:latin typeface="Arial"/>
                  </a:rPr>
                  <a:t>, the same answer.</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$24q^2-73q+24=0$</a:t>
                </a:r>
                <a:r>
                  <a:rPr sz="2400" b="0">
                    <a:solidFill>
                      <a:srgbClr val="111827"/>
                    </a:solidFill>
                    <a:latin typeface="Arial"/>
                  </a:rPr>
                  <a:t>, so </a:t>
                </a:r>
                <a:r>
                  <a:rPr lang="en-IN" sz="2400">
                    <a:solidFill>
                      <a:srgbClr val="111827"/>
                    </a:solidFill>
                    <a:latin typeface="Cambria Math" panose="02040503050406030204" pitchFamily="18" charset="0"/>
                  </a:rPr>
                  <a:t>$q=\frac{73\pm55}{48}=\frac{8}{3}$</a:t>
                </a:r>
                <a:r>
                  <a:rPr sz="2400" b="0">
                    <a:solidFill>
                      <a:srgbClr val="111827"/>
                    </a:solidFill>
                    <a:latin typeface="Arial"/>
                  </a:rPr>
                  <a:t> or </a:t>
                </a:r>
                <a:r>
                  <a:rPr lang="en-IN" sz="2400">
                    <a:solidFill>
                      <a:srgbClr val="111827"/>
                    </a:solidFill>
                    <a:latin typeface="Cambria Math" panose="02040503050406030204" pitchFamily="18" charset="0"/>
                  </a:rPr>
                  <a:t>$\frac38$</a:t>
                </a:r>
                <a:r>
                  <a:rPr sz="2400" b="0">
                    <a:solidFill>
                      <a:srgbClr val="111827"/>
                    </a:solidFill>
                    <a:latin typeface="Arial"/>
                  </a:rPr>
                  <a:t>; </a:t>
                </a:r>
                <a:r>
                  <a:rPr lang="en-IN" sz="2400">
                    <a:solidFill>
                      <a:srgbClr val="111827"/>
                    </a:solidFill>
                    <a:latin typeface="Cambria Math" panose="02040503050406030204" pitchFamily="18" charset="0"/>
                  </a:rPr>
                  <a:t>$q&lt;1$</a:t>
                </a:r>
                <a:r>
                  <a:rPr sz="2400" b="0">
                    <a:solidFill>
                      <a:srgbClr val="111827"/>
                    </a:solidFill>
                    <a:latin typeface="Arial"/>
                  </a:rPr>
                  <a:t> gives </a:t>
                </a:r>
                <a:r>
                  <a:rPr lang="en-IN" sz="2400">
                    <a:solidFill>
                      <a:srgbClr val="111827"/>
                    </a:solidFill>
                    <a:latin typeface="Cambria Math" panose="02040503050406030204" pitchFamily="18" charset="0"/>
                  </a:rPr>
                  <a:t>$q=\frac38$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$m=\frac{82.5}{1+3/8}=60=np=n\cdot\frac58$</a:t>
                </a:r>
                <a:r>
                  <a:rPr sz="2400" b="0">
                    <a:solidFill>
                      <a:srgbClr val="111827"/>
                    </a:solidFill>
                    <a:latin typeface="Arial"/>
                  </a:rPr>
                  <a:t>, so </a:t>
                </a:r>
                <a:r>
                  <a:rPr lang="en-IN" sz="2400">
                    <a:solidFill>
                      <a:srgbClr val="111827"/>
                    </a:solidFill>
                    <a:latin typeface="Cambria Math" panose="02040503050406030204" pitchFamily="18" charset="0"/>
                  </a:rPr>
                  <a:t>$n=96$</a:t>
                </a:r>
                <a:r>
                  <a:rPr sz="2400" b="0">
                    <a:solidFill>
                      <a:srgbClr val="111827"/>
                    </a:solidFill>
                    <a:latin typeface="Arial"/>
                  </a:rPr>
                  <a:t>, the same answer.</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14:m>
                  <m:oMath xmlns:m="http://schemas.openxmlformats.org/officeDocument/2006/math">
                    <m:r>
                      <a:rPr lang="en-IN" sz="2800" i="1">
                        <a:solidFill>
                          <a:srgbClr val="15803D"/>
                        </a:solidFill>
                        <a:latin typeface="Cambria Math" panose="02040503050406030204" pitchFamily="18" charset="0"/>
                      </a:rPr>
                      <m:t>96</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r>
                  <a:rPr lang="en-IN" sz="2800">
                    <a:solidFill>
                      <a:srgbClr val="15803D"/>
                    </a:solidFill>
                    <a:latin typeface="Cambria Math" panose="02040503050406030204" pitchFamily="18" charset="0"/>
                  </a:rPr>
                  <a:t>$96$</a:t>
                </a:r>
                <a:endParaRPr sz="2800">
                  <a:solidFill>
                    <a:srgbClr val="15803D"/>
                  </a:solidFill>
                </a:endParaRPr>
              </a:p>
            </p:txBody>
          </p:sp>
        </mc:Fallback>
      </mc:AlternateContent>
    </p:spTree>
  </p:cSld>
  <p:clrMapOvr>
    <a:masterClrMapping/>
  </p:clrMapOvr>
</p:sld>
</file>

<file path=ppt/slides/slide3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72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 binomial distribution: </a:t>
                </a: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nor/>
                          </m:rPr>
                          <a:rPr lang="en-IN" sz="2400" i="1">
                            <a:solidFill>
                              <a:srgbClr val="111827"/>
                            </a:solidFill>
                            <a:latin typeface="Cambria Math" panose="02040503050406030204" pitchFamily="18" charset="0"/>
                          </a:rPr>
                          <m:t>𝑣𝑎𝑟𝑖𝑎𝑛𝑐𝑒</m:t>
                        </m:r>
                      </m:num>
                      <m:den>
                        <m:r>
                          <m:rPr>
                            <m:nor/>
                          </m:rPr>
                          <a:rPr lang="en-IN" sz="2400" i="1">
                            <a:solidFill>
                              <a:srgbClr val="111827"/>
                            </a:solidFill>
                            <a:latin typeface="Cambria Math" panose="02040503050406030204" pitchFamily="18" charset="0"/>
                          </a:rPr>
                          <m:t>𝑚𝑒𝑎𝑛</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nor/>
                          </m:rPr>
                          <a:rPr lang="en-IN" sz="2400" i="1">
                            <a:solidFill>
                              <a:srgbClr val="111827"/>
                            </a:solidFill>
                            <a:latin typeface="Cambria Math" panose="02040503050406030204" pitchFamily="18" charset="0"/>
                          </a:rPr>
                          <m:t>𝑚𝑒𝑎𝑛</m:t>
                        </m:r>
                      </m:num>
                      <m:den>
                        <m:r>
                          <a:rPr lang="en-IN" sz="2400" i="1">
                            <a:solidFill>
                              <a:srgbClr val="111827"/>
                            </a:solidFill>
                            <a:latin typeface="Cambria Math" panose="02040503050406030204" pitchFamily="18" charset="0"/>
                          </a:rPr>
                          <m:t>𝑝</m:t>
                        </m:r>
                      </m:den>
                    </m:f>
                  </m:oMath>
                </a14:m>
                <a:r>
                  <a:rPr sz="2400" b="0">
                    <a:solidFill>
                      <a:srgbClr val="111827"/>
                    </a:solidFill>
                    <a:latin typeface="Arial"/>
                  </a:rPr>
                  <a:t>; always variance </a:t>
                </a:r>
                <a14:m>
                  <m:oMath xmlns:m="http://schemas.openxmlformats.org/officeDocument/2006/math">
                    <m:r>
                      <m:rPr>
                        <m:sty m:val="p"/>
                      </m:rPr>
                      <a:rPr lang="en-IN" sz="2400">
                        <a:solidFill>
                          <a:srgbClr val="111827"/>
                        </a:solidFill>
                        <a:latin typeface="Cambria Math" panose="02040503050406030204" pitchFamily="18" charset="0"/>
                      </a:rPr>
                      <m:t>&lt;</m:t>
                    </m:r>
                  </m:oMath>
                </a14:m>
                <a:r>
                  <a:rPr sz="2400" b="0">
                    <a:solidFill>
                      <a:srgbClr val="111827"/>
                    </a:solidFill>
                    <a:latin typeface="Arial"/>
                  </a:rPr>
                  <a:t> mean.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r>
                      <a:rPr lang="en-IN" sz="2400" i="1">
                        <a:solidFill>
                          <a:srgbClr val="111827"/>
                        </a:solidFill>
                        <a:latin typeface="Cambria Math" panose="02040503050406030204" pitchFamily="18" charset="0"/>
                      </a:rPr>
                      <m:t>𝑛</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96</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8</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𝑛</m:t>
                    </m:r>
                    <m:r>
                      <a:rPr lang="en-IN" sz="2400" i="1">
                        <a:solidFill>
                          <a:srgbClr val="111827"/>
                        </a:solidFill>
                        <a:latin typeface="Cambria Math" panose="02040503050406030204" pitchFamily="18" charset="0"/>
                      </a:rPr>
                      <m:t>𝑝</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8</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22.5</m:t>
                    </m:r>
                  </m:oMath>
                </a14:m>
                <a:r>
                  <a:rPr sz="2400" b="0">
                    <a:solidFill>
                      <a:srgbClr val="111827"/>
                    </a:solidFill>
                    <a:latin typeface="Arial"/>
                  </a:rPr>
                  <a:t>; sum </a:t>
                </a:r>
                <a14:m>
                  <m:oMath xmlns:m="http://schemas.openxmlformats.org/officeDocument/2006/math">
                    <m:r>
                      <a:rPr lang="en-IN" sz="2400" i="1">
                        <a:solidFill>
                          <a:srgbClr val="111827"/>
                        </a:solidFill>
                        <a:latin typeface="Cambria Math" panose="02040503050406030204" pitchFamily="18" charset="0"/>
                      </a:rPr>
                      <m:t>82.5</m:t>
                    </m:r>
                  </m:oMath>
                </a14:m>
                <a:r>
                  <a:rPr sz="2400" b="0">
                    <a:solidFill>
                      <a:srgbClr val="111827"/>
                    </a:solidFill>
                    <a:latin typeface="Arial"/>
                  </a:rPr>
                  <a:t>, product </a:t>
                </a:r>
                <a14:m>
                  <m:oMath xmlns:m="http://schemas.openxmlformats.org/officeDocument/2006/math">
                    <m:r>
                      <a:rPr lang="en-IN" sz="2400" i="1">
                        <a:solidFill>
                          <a:srgbClr val="111827"/>
                        </a:solidFill>
                        <a:latin typeface="Cambria Math" panose="02040503050406030204" pitchFamily="18" charset="0"/>
                      </a:rPr>
                      <m:t>1350</m:t>
                    </m:r>
                  </m:oMath>
                </a14:m>
                <a:r>
                  <a:rPr sz="2400" b="0">
                    <a:solidFill>
                      <a:srgbClr val="111827"/>
                    </a:solidFill>
                    <a:latin typeface="Arial"/>
                  </a:rPr>
                  <a:t> ✓.</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 binomial distribution: </a:t>
                </a:r>
                <a:r>
                  <a:rPr lang="en-IN" sz="2400">
                    <a:solidFill>
                      <a:srgbClr val="111827"/>
                    </a:solidFill>
                    <a:latin typeface="Cambria Math" panose="02040503050406030204" pitchFamily="18" charset="0"/>
                  </a:rPr>
                  <a:t>$q=\frac{\text{variance}}{\text{mean}}$</a:t>
                </a:r>
                <a:r>
                  <a:rPr sz="2400" b="0">
                    <a:solidFill>
                      <a:srgbClr val="111827"/>
                    </a:solidFill>
                    <a:latin typeface="Arial"/>
                  </a:rPr>
                  <a:t>, </a:t>
                </a:r>
                <a:r>
                  <a:rPr lang="en-IN" sz="2400">
                    <a:solidFill>
                      <a:srgbClr val="111827"/>
                    </a:solidFill>
                    <a:latin typeface="Cambria Math" panose="02040503050406030204" pitchFamily="18" charset="0"/>
                  </a:rPr>
                  <a:t>$p=1-q$</a:t>
                </a:r>
                <a:r>
                  <a:rPr sz="2400" b="0">
                    <a:solidFill>
                      <a:srgbClr val="111827"/>
                    </a:solidFill>
                    <a:latin typeface="Arial"/>
                  </a:rPr>
                  <a:t>, </a:t>
                </a:r>
                <a:r>
                  <a:rPr lang="en-IN" sz="2400">
                    <a:solidFill>
                      <a:srgbClr val="111827"/>
                    </a:solidFill>
                    <a:latin typeface="Cambria Math" panose="02040503050406030204" pitchFamily="18" charset="0"/>
                  </a:rPr>
                  <a:t>$n=\frac{\text{mean}}{p}$</a:t>
                </a:r>
                <a:r>
                  <a:rPr sz="2400" b="0">
                    <a:solidFill>
                      <a:srgbClr val="111827"/>
                    </a:solidFill>
                    <a:latin typeface="Arial"/>
                  </a:rPr>
                  <a:t>; always variance </a:t>
                </a:r>
                <a:r>
                  <a:rPr lang="en-IN" sz="2400">
                    <a:solidFill>
                      <a:srgbClr val="111827"/>
                    </a:solidFill>
                    <a:latin typeface="Cambria Math" panose="02040503050406030204" pitchFamily="18" charset="0"/>
                  </a:rPr>
                  <a:t>$&lt;$</a:t>
                </a:r>
                <a:r>
                  <a:rPr sz="2400" b="0">
                    <a:solidFill>
                      <a:srgbClr val="111827"/>
                    </a:solidFill>
                    <a:latin typeface="Arial"/>
                  </a:rPr>
                  <a:t> mean.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$np=96\times\frac58=60$</a:t>
                </a:r>
                <a:r>
                  <a:rPr sz="2400" b="0">
                    <a:solidFill>
                      <a:srgbClr val="111827"/>
                    </a:solidFill>
                    <a:latin typeface="Arial"/>
                  </a:rPr>
                  <a:t>, </a:t>
                </a:r>
                <a:r>
                  <a:rPr lang="en-IN" sz="2400">
                    <a:solidFill>
                      <a:srgbClr val="111827"/>
                    </a:solidFill>
                    <a:latin typeface="Cambria Math" panose="02040503050406030204" pitchFamily="18" charset="0"/>
                  </a:rPr>
                  <a:t>$npq=60\times\frac38=22.5$</a:t>
                </a:r>
                <a:r>
                  <a:rPr sz="2400" b="0">
                    <a:solidFill>
                      <a:srgbClr val="111827"/>
                    </a:solidFill>
                    <a:latin typeface="Arial"/>
                  </a:rPr>
                  <a:t>; sum </a:t>
                </a:r>
                <a:r>
                  <a:rPr lang="en-IN" sz="2400">
                    <a:solidFill>
                      <a:srgbClr val="111827"/>
                    </a:solidFill>
                    <a:latin typeface="Cambria Math" panose="02040503050406030204" pitchFamily="18" charset="0"/>
                  </a:rPr>
                  <a:t>$82.5$</a:t>
                </a:r>
                <a:r>
                  <a:rPr sz="2400" b="0">
                    <a:solidFill>
                      <a:srgbClr val="111827"/>
                    </a:solidFill>
                    <a:latin typeface="Arial"/>
                  </a:rPr>
                  <a:t>, product </a:t>
                </a:r>
                <a:r>
                  <a:rPr lang="en-IN" sz="2400">
                    <a:solidFill>
                      <a:srgbClr val="111827"/>
                    </a:solidFill>
                    <a:latin typeface="Cambria Math" panose="02040503050406030204" pitchFamily="18" charset="0"/>
                  </a:rPr>
                  <a:t>$1350$</a:t>
                </a:r>
                <a:r>
                  <a:rPr sz="2400" b="0">
                    <a:solidFill>
                      <a:srgbClr val="111827"/>
                    </a:solidFill>
                    <a:latin typeface="Arial"/>
                  </a:rPr>
                  <a:t> ✓.</a:t>
                </a:r>
                <a:endParaRPr sz="2400">
                  <a:solidFill>
                    <a:srgbClr val="111827"/>
                  </a:solidFill>
                </a:endParaRPr>
              </a:p>
            </p:txBody>
          </p:sp>
        </mc:Fallback>
      </mc:AlternateContent>
    </p:spTree>
  </p:cSld>
  <p:clrMapOvr>
    <a:masterClrMapping/>
  </p:clrMapOvr>
</p:sld>
</file>

<file path=ppt/slides/slide3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(1/15)</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01</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02</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03</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04</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05</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bl>
          </a:graphicData>
        </a:graphic>
      </p:graphicFrame>
    </p:spTree>
  </p:cSld>
  <p:clrMapOvr>
    <a:masterClrMapping/>
  </p:clrMapOvr>
</p:sld>
</file>

<file path=ppt/slides/slide3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(2/15)</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06</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07</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08</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09</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10</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bl>
          </a:graphicData>
        </a:graphic>
      </p:graphicFrame>
    </p:spTree>
  </p:cSld>
  <p:clrMapOvr>
    <a:masterClrMapping/>
  </p:clrMapOvr>
</p:sld>
</file>

<file path=ppt/slides/slide3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(3/15)</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11</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12</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13</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14</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15</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bl>
          </a:graphicData>
        </a:graphic>
      </p:graphicFrame>
    </p:spTree>
  </p:cSld>
  <p:clrMapOvr>
    <a:masterClrMapping/>
  </p:clrMapOvr>
</p:sld>
</file>

<file path=ppt/slides/slide3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(4/15)</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16</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17</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18</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19</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20</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bl>
          </a:graphicData>
        </a:graphic>
      </p:graphicFrame>
    </p:spTree>
  </p:cSld>
  <p:clrMapOvr>
    <a:masterClrMapping/>
  </p:clrMapOvr>
</p:sld>
</file>

<file path=ppt/slides/slide3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(5/15)</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21</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22</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23</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24</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25</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bl>
          </a:graphicData>
        </a:graphic>
      </p:graphicFrame>
    </p:spTree>
  </p:cSld>
  <p:clrMapOvr>
    <a:masterClrMapping/>
  </p:clrMapOvr>
</p:sld>
</file>

<file path=ppt/slides/slide3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(6/15)</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26</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27</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28</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29</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30</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bl>
          </a:graphicData>
        </a:graphic>
      </p:graphicFrame>
    </p:spTree>
  </p:cSld>
  <p:clrMapOvr>
    <a:masterClrMapping/>
  </p:clrMapOvr>
</p:sld>
</file>

<file path=ppt/slides/slide3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(7/15)</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31</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32</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33</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34</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35</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bl>
          </a:graphicData>
        </a:graphic>
      </p:graphicFrame>
    </p:spTree>
  </p:cSld>
  <p:clrMapOvr>
    <a:masterClrMapping/>
  </p:clrMapOvr>
</p:sld>
</file>

<file path=ppt/slides/slide3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(8/15)</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36</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37</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38</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39</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40</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bl>
          </a:graphicData>
        </a:graphic>
      </p:graphicFrame>
    </p:spTree>
  </p:cSld>
  <p:clrMapOvr>
    <a:masterClrMapping/>
  </p:clrMapOvr>
</p:sld>
</file>

<file path=ppt/slides/slide3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(9/15)</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41</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42</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43</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44</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45</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bl>
          </a:graphicData>
        </a:graphic>
      </p:graphicFrame>
    </p:spTree>
  </p:cSld>
  <p:clrMapOvr>
    <a:masterClrMapping/>
  </p:clrMapOvr>
</p:sld>
</file>

<file path=ppt/slides/slide3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(10/15)</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46</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47</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48</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49</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50</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bl>
          </a:graphicData>
        </a:graphic>
      </p:graphicFrame>
    </p:spTree>
  </p:cSld>
  <p:clrMapOvr>
    <a:masterClrMapping/>
  </p:clrMapOvr>
</p:sld>
</file>

<file path=ppt/slides/slide3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(11/15)</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51</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52</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53</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54</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55</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bl>
          </a:graphicData>
        </a:graphic>
      </p:graphicFrame>
    </p:spTree>
  </p:cSld>
  <p:clrMapOvr>
    <a:masterClrMapping/>
  </p:clrMapOvr>
</p:sld>
</file>

<file path=ppt/slides/slide3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(12/15)</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56</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57</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58</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59</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60</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bl>
          </a:graphicData>
        </a:graphic>
      </p:graphicFrame>
    </p:spTree>
  </p:cSld>
  <p:clrMapOvr>
    <a:masterClrMapping/>
  </p:clrMapOvr>
</p:sld>
</file>

<file path=ppt/slides/slide3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(13/15)</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416052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61</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62</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63</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64</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bl>
          </a:graphicData>
        </a:graphic>
      </p:graphicFrame>
    </p:spTree>
  </p:cSld>
  <p:clrMapOvr>
    <a:masterClrMapping/>
  </p:clrMapOvr>
</p:sld>
</file>

<file path=ppt/slides/slide3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(14/15)</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416052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65</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66</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67</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68</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bl>
          </a:graphicData>
        </a:graphic>
      </p:graphicFrame>
    </p:spTree>
  </p:cSld>
  <p:clrMapOvr>
    <a:masterClrMapping/>
  </p:clrMapOvr>
</p:sld>
</file>

<file path=ppt/slides/slide3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(15/15)</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416052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69</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70</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71</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72</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bl>
          </a:graphicData>
        </a:graphic>
      </p:graphicFrame>
    </p:spTree>
  </p:cSld>
  <p:clrMapOvr>
    <a:masterClrMapping/>
  </p:clrMapOvr>
</p:sld>
</file>

<file path=ppt/slides/slide3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a:t>
            </a:r>
            <a:endParaRPr sz="3200">
              <a:solidFill>
                <a:srgbClr val="FFFFFF"/>
              </a:solidFill>
            </a:endParaRPr>
          </a:p>
        </p:txBody>
      </p:sp>
      <p:sp>
        <p:nvSpPr>
          <p:cNvPr id="3" name="Rounded Rectangle 2"/>
          <p:cNvSpPr/>
          <p:nvPr/>
        </p:nvSpPr>
        <p:spPr>
          <a:xfrm>
            <a:off x="731520" y="1417320"/>
            <a:ext cx="4754880" cy="329184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37160" bIns="73152"/>
          <a:lstStyle>
            <a:lvl1pPr>
              <a:defRPr sz="3000">
                <a:solidFill>
                  <a:srgbClr val="0B1F3A"/>
                </a:solidFill>
              </a:defRPr>
            </a:lvl1pPr>
          </a:lstStyle>
          <a:p>
            <a:pPr algn="ctr">
              <a:defRPr sz="3000">
                <a:solidFill>
                  <a:srgbClr val="0B1F3A"/>
                </a:solidFill>
              </a:defRPr>
            </a:pPr>
            <a:r>
              <a:rPr sz="3000" b="1">
                <a:solidFill>
                  <a:srgbClr val="0B1F3A"/>
                </a:solidFill>
                <a:latin typeface="Arial"/>
              </a:rPr>
              <a:t>Difficulty Index</a:t>
            </a:r>
            <a:endParaRPr sz="3000">
              <a:solidFill>
                <a:srgbClr val="0B1F3A"/>
              </a:solidFill>
            </a:endParaRPr>
          </a:p>
          <a:p>
            <a:pPr algn="ctr">
              <a:defRPr sz="3000">
                <a:solidFill>
                  <a:srgbClr val="0B1F3A"/>
                </a:solidFill>
              </a:defRPr>
            </a:pPr>
            <a:r>
              <a:rPr sz="8800" b="1">
                <a:solidFill>
                  <a:srgbClr val="0B1F3A"/>
                </a:solidFill>
                <a:latin typeface="Arial"/>
              </a:rPr>
              <a:t>1.88</a:t>
            </a:r>
            <a:endParaRPr sz="3000">
              <a:solidFill>
                <a:srgbClr val="0B1F3A"/>
              </a:solidFill>
            </a:endParaRPr>
          </a:p>
          <a:p>
            <a:pPr algn="ctr">
              <a:defRPr sz="3000">
                <a:solidFill>
                  <a:srgbClr val="0B1F3A"/>
                </a:solidFill>
              </a:defRPr>
            </a:pPr>
            <a:r>
              <a:rPr sz="2400" b="0">
                <a:solidFill>
                  <a:srgbClr val="0B1F3A"/>
                </a:solidFill>
                <a:latin typeface="Arial"/>
              </a:rPr>
              <a:t>out of 5</a:t>
            </a:r>
            <a:endParaRPr sz="3000">
              <a:solidFill>
                <a:srgbClr val="0B1F3A"/>
              </a:solidFill>
            </a:endParaRPr>
          </a:p>
        </p:txBody>
      </p:sp>
      <p:sp>
        <p:nvSpPr>
          <p:cNvPr id="4" name="Rectangle 3"/>
          <p:cNvSpPr/>
          <p:nvPr/>
        </p:nvSpPr>
        <p:spPr>
          <a:xfrm>
            <a:off x="5852160" y="1417320"/>
            <a:ext cx="5605272" cy="603504"/>
          </a:xfrm>
          <a:prstGeom prst="rect">
            <a:avLst/>
          </a:prstGeom>
          <a:solidFill>
            <a:srgbClr val="93C47D"/>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JEE Main or easier:  15 questions</a:t>
            </a:r>
            <a:endParaRPr sz="2400">
              <a:solidFill>
                <a:srgbClr val="111827"/>
              </a:solidFill>
            </a:endParaRPr>
          </a:p>
        </p:txBody>
      </p:sp>
      <p:sp>
        <p:nvSpPr>
          <p:cNvPr id="5" name="Rectangle 4"/>
          <p:cNvSpPr/>
          <p:nvPr/>
        </p:nvSpPr>
        <p:spPr>
          <a:xfrm>
            <a:off x="5852160" y="2093976"/>
            <a:ext cx="5605272" cy="603504"/>
          </a:xfrm>
          <a:prstGeom prst="rect">
            <a:avLst/>
          </a:prstGeom>
          <a:solidFill>
            <a:srgbClr val="FFD966"/>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Below average:  51 questions</a:t>
            </a:r>
            <a:endParaRPr sz="2400">
              <a:solidFill>
                <a:srgbClr val="111827"/>
              </a:solidFill>
            </a:endParaRPr>
          </a:p>
        </p:txBody>
      </p:sp>
      <p:sp>
        <p:nvSpPr>
          <p:cNvPr id="6" name="Rectangle 5"/>
          <p:cNvSpPr/>
          <p:nvPr/>
        </p:nvSpPr>
        <p:spPr>
          <a:xfrm>
            <a:off x="5852160" y="2770632"/>
            <a:ext cx="5605272" cy="603504"/>
          </a:xfrm>
          <a:prstGeom prst="rect">
            <a:avLst/>
          </a:prstGeom>
          <a:solidFill>
            <a:srgbClr val="F6B26B"/>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Average Advanced:  6 questions</a:t>
            </a:r>
            <a:endParaRPr sz="2400">
              <a:solidFill>
                <a:srgbClr val="111827"/>
              </a:solidFill>
            </a:endParaRPr>
          </a:p>
        </p:txBody>
      </p:sp>
      <p:sp>
        <p:nvSpPr>
          <p:cNvPr id="7" name="Rectangle 6"/>
          <p:cNvSpPr/>
          <p:nvPr/>
        </p:nvSpPr>
        <p:spPr>
          <a:xfrm>
            <a:off x="5852160" y="3447288"/>
            <a:ext cx="5605272" cy="603504"/>
          </a:xfrm>
          <a:prstGeom prst="rect">
            <a:avLst/>
          </a:prstGeom>
          <a:solidFill>
            <a:srgbClr val="E88080"/>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Above average:  0 questions</a:t>
            </a:r>
            <a:endParaRPr sz="2400">
              <a:solidFill>
                <a:srgbClr val="111827"/>
              </a:solidFill>
            </a:endParaRPr>
          </a:p>
        </p:txBody>
      </p:sp>
      <p:sp>
        <p:nvSpPr>
          <p:cNvPr id="8" name="Rectangle 7"/>
          <p:cNvSpPr/>
          <p:nvPr/>
        </p:nvSpPr>
        <p:spPr>
          <a:xfrm>
            <a:off x="5852160" y="4123944"/>
            <a:ext cx="5605272" cy="603504"/>
          </a:xfrm>
          <a:prstGeom prst="rect">
            <a:avLst/>
          </a:prstGeom>
          <a:solidFill>
            <a:srgbClr val="CC4125"/>
          </a:solidFill>
          <a:ln w="19050">
            <a:solidFill>
              <a:srgbClr val="6B7280"/>
            </a:solidFill>
          </a:ln>
          <a:effectLst/>
        </p:spPr>
        <p:style>
          <a:lnRef idx="1">
            <a:schemeClr val="accent1"/>
          </a:lnRef>
          <a:fillRef idx="3">
            <a:schemeClr val="accent1"/>
          </a:fillRef>
          <a:effectRef idx="2">
            <a:schemeClr val="accent1"/>
          </a:effectRef>
          <a:fontRef idx="minor">
            <a:srgbClr val="FFFFFF"/>
          </a:fontRef>
        </p:style>
        <p:txBody>
          <a:bodyPr rtlCol="0" anchor="ctr" wrap="square" lIns="228600" rIns="228600" tIns="18288" bIns="73152"/>
          <a:lstStyle>
            <a:lvl1pPr>
              <a:defRPr sz="2400">
                <a:solidFill>
                  <a:srgbClr val="FFFFFF"/>
                </a:solidFill>
              </a:defRPr>
            </a:lvl1pPr>
          </a:lstStyle>
          <a:p>
            <a:pPr algn="l">
              <a:defRPr sz="2400">
                <a:solidFill>
                  <a:srgbClr val="FFFFFF"/>
                </a:solidFill>
              </a:defRPr>
            </a:pPr>
            <a:r>
              <a:rPr sz="2400" b="1">
                <a:solidFill>
                  <a:srgbClr val="FFFFFF"/>
                </a:solidFill>
                <a:latin typeface="Arial"/>
              </a:rPr>
              <a:t>Very difficult:  0 questions</a:t>
            </a:r>
            <a:endParaRPr sz="2400">
              <a:solidFill>
                <a:srgbClr val="FFFFFF"/>
              </a:solidFill>
            </a:endParaRPr>
          </a:p>
        </p:txBody>
      </p:sp>
      <p:sp>
        <p:nvSpPr>
          <p:cNvPr id="9" name="Rectangle 8"/>
          <p:cNvSpPr/>
          <p:nvPr/>
        </p:nvSpPr>
        <p:spPr>
          <a:xfrm>
            <a:off x="731520" y="5029200"/>
            <a:ext cx="10725912" cy="1097280"/>
          </a:xfrm>
          <a:prstGeom prst="rect">
            <a:avLst/>
          </a:prstGeom>
          <a:solidFill>
            <a:srgbClr val="FFFFFF"/>
          </a:solidFill>
          <a:ln w="19050">
            <a:no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ctr">
              <a:defRPr sz="2400">
                <a:solidFill>
                  <a:srgbClr val="111827"/>
                </a:solidFill>
              </a:defRPr>
            </a:pPr>
            <a:r>
              <a:rPr sz="2400" b="0">
                <a:solidFill>
                  <a:srgbClr val="111827"/>
                </a:solidFill>
                <a:latin typeface="Arial"/>
              </a:rPr>
              <a:t>Total: 72 questions, 288 marks.  Index = Σ(marks × level) ÷ Σ marks, on the 0-5 scale.</a:t>
            </a:r>
            <a:endParaRPr sz="2400">
              <a:solidFill>
                <a:srgbClr val="111827"/>
              </a:solidFill>
            </a:endParaRPr>
          </a:p>
        </p:txBody>
      </p:sp>
    </p:spTree>
  </p:cSld>
  <p:clrMapOvr>
    <a:masterClrMapping/>
  </p:clrMapOvr>
</p:sld>
</file>

<file path=ppt/slides/slide3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Difficulty Profile of the Paper</a:t>
            </a:r>
            <a:endParaRPr sz="3200">
              <a:solidFill>
                <a:srgbClr val="FFFFFF"/>
              </a:solidFill>
            </a:endParaRPr>
          </a:p>
        </p:txBody>
      </p:sp>
      <p:graphicFrame>
        <p:nvGraphicFramePr>
          <p:cNvPr id="3" name="Chart 2"/>
          <p:cNvGraphicFramePr>
            <a:graphicFrameLocks noGrp="1"/>
          </p:cNvGraphicFramePr>
          <p:nvPr/>
        </p:nvGraphicFramePr>
        <p:xfrm>
          <a:off x="457200" y="1280160"/>
          <a:ext cx="11274552" cy="5349240"/>
        </p:xfrm>
        <a:graphic>
          <a:graphicData uri="http://schemas.openxmlformats.org/drawingml/2006/chart">
            <c:chart xmlns:c="http://schemas.openxmlformats.org/drawingml/2006/chart" r:id="rId2"/>
          </a:graphicData>
        </a:graphic>
      </p:graphicFrame>
    </p:spTree>
  </p:cSld>
  <p:clrMapOvr>
    <a:masterClrMapping/>
  </p:clrMapOvr>
</p:sld>
</file>

<file path=ppt/slides/slide3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Comparison with JEE Advanced Papers</a:t>
            </a:r>
            <a:endParaRPr sz="3200">
              <a:solidFill>
                <a:srgbClr val="FFFFFF"/>
              </a:solidFill>
            </a:endParaRPr>
          </a:p>
        </p:txBody>
      </p:sp>
      <p:graphicFrame>
        <p:nvGraphicFramePr>
          <p:cNvPr id="3" name="Table 2"/>
          <p:cNvGraphicFramePr>
            <a:graphicFrameLocks noGrp="1"/>
          </p:cNvGraphicFramePr>
          <p:nvPr/>
        </p:nvGraphicFramePr>
        <p:xfrm>
          <a:off x="1661007" y="1371600"/>
          <a:ext cx="8869680" cy="4526280"/>
        </p:xfrm>
        <a:graphic>
          <a:graphicData uri="http://schemas.openxmlformats.org/drawingml/2006/table">
            <a:tbl>
              <a:tblPr firstRow="1" bandRow="1">
                <a:tableStyleId>{5C22544A-7EE6-4342-B048-85BDC9FD1C3A}</a:tableStyleId>
              </a:tblPr>
              <a:tblGrid>
                <a:gridCol w="5760720"/>
                <a:gridCol w="3108960"/>
              </a:tblGrid>
              <a:tr h="685800">
                <a:tc>
                  <a:txBody>
                    <a:bodyPr/>
                    <a:lstStyle/>
                    <a:p>
                      <a:pPr algn="ctr"/>
                      <a:r>
                        <a:rPr sz="2600" b="1">
                          <a:solidFill>
                            <a:srgbClr val="FFFFFF"/>
                          </a:solidFill>
                          <a:latin typeface="Arial"/>
                        </a:rPr>
                        <a:t>Paper</a:t>
                      </a:r>
                    </a:p>
                  </a:txBody>
                  <a:tcPr anchor="ctr" marL="137160" marR="137160">
                    <a:solidFill>
                      <a:srgbClr val="0B1F3A"/>
                    </a:solidFill>
                  </a:tcPr>
                </a:tc>
                <a:tc>
                  <a:txBody>
                    <a:bodyPr/>
                    <a:lstStyle/>
                    <a:p>
                      <a:pPr algn="ctr"/>
                      <a:r>
                        <a:rPr sz="2600" b="1">
                          <a:solidFill>
                            <a:srgbClr val="FFFFFF"/>
                          </a:solidFill>
                          <a:latin typeface="Arial"/>
                        </a:rPr>
                        <a:t>Difficulty Index</a:t>
                      </a:r>
                    </a:p>
                  </a:txBody>
                  <a:tcPr anchor="ctr" marL="137160" marR="137160">
                    <a:solidFill>
                      <a:srgbClr val="0B1F3A"/>
                    </a:solidFill>
                  </a:tcPr>
                </a:tc>
              </a:tr>
              <a:tr h="640080">
                <a:tc>
                  <a:txBody>
                    <a:bodyPr/>
                    <a:lstStyle/>
                    <a:p>
                      <a:pPr algn="l"/>
                      <a:r>
                        <a:rPr sz="2600" b="0">
                          <a:solidFill>
                            <a:srgbClr val="111827"/>
                          </a:solidFill>
                          <a:latin typeface="Arial"/>
                        </a:rPr>
                        <a:t>JEE Advanced 2021</a:t>
                      </a:r>
                    </a:p>
                  </a:txBody>
                  <a:tcPr anchor="ctr" marL="137160" marR="137160">
                    <a:solidFill>
                      <a:srgbClr val="FFFFFF"/>
                    </a:solidFill>
                  </a:tcPr>
                </a:tc>
                <a:tc>
                  <a:txBody>
                    <a:bodyPr/>
                    <a:lstStyle/>
                    <a:p>
                      <a:pPr algn="ctr"/>
                      <a:r>
                        <a:rPr sz="2600" b="1">
                          <a:solidFill>
                            <a:srgbClr val="111827"/>
                          </a:solidFill>
                          <a:latin typeface="Arial"/>
                        </a:rPr>
                        <a:t>2.76</a:t>
                      </a:r>
                    </a:p>
                  </a:txBody>
                  <a:tcPr anchor="ctr" marL="137160" marR="137160">
                    <a:solidFill>
                      <a:srgbClr val="FFFFFF"/>
                    </a:solidFill>
                  </a:tcPr>
                </a:tc>
              </a:tr>
              <a:tr h="640080">
                <a:tc>
                  <a:txBody>
                    <a:bodyPr/>
                    <a:lstStyle/>
                    <a:p>
                      <a:pPr algn="l"/>
                      <a:r>
                        <a:rPr sz="2600" b="0">
                          <a:solidFill>
                            <a:srgbClr val="111827"/>
                          </a:solidFill>
                          <a:latin typeface="Arial"/>
                        </a:rPr>
                        <a:t>JEE Advanced 2023</a:t>
                      </a:r>
                    </a:p>
                  </a:txBody>
                  <a:tcPr anchor="ctr" marL="137160" marR="137160">
                    <a:solidFill>
                      <a:srgbClr val="FFFFFF"/>
                    </a:solidFill>
                  </a:tcPr>
                </a:tc>
                <a:tc>
                  <a:txBody>
                    <a:bodyPr/>
                    <a:lstStyle/>
                    <a:p>
                      <a:pPr algn="ctr"/>
                      <a:r>
                        <a:rPr sz="2600" b="1">
                          <a:solidFill>
                            <a:srgbClr val="111827"/>
                          </a:solidFill>
                          <a:latin typeface="Arial"/>
                        </a:rPr>
                        <a:t>3.19</a:t>
                      </a:r>
                    </a:p>
                  </a:txBody>
                  <a:tcPr anchor="ctr" marL="137160" marR="137160">
                    <a:solidFill>
                      <a:srgbClr val="FFFFFF"/>
                    </a:solidFill>
                  </a:tcPr>
                </a:tc>
              </a:tr>
              <a:tr h="640080">
                <a:tc>
                  <a:txBody>
                    <a:bodyPr/>
                    <a:lstStyle/>
                    <a:p>
                      <a:pPr algn="l"/>
                      <a:r>
                        <a:rPr sz="2600" b="0">
                          <a:solidFill>
                            <a:srgbClr val="111827"/>
                          </a:solidFill>
                          <a:latin typeface="Arial"/>
                        </a:rPr>
                        <a:t>JEE Advanced 2024</a:t>
                      </a:r>
                    </a:p>
                  </a:txBody>
                  <a:tcPr anchor="ctr" marL="137160" marR="137160">
                    <a:solidFill>
                      <a:srgbClr val="FFFFFF"/>
                    </a:solidFill>
                  </a:tcPr>
                </a:tc>
                <a:tc>
                  <a:txBody>
                    <a:bodyPr/>
                    <a:lstStyle/>
                    <a:p>
                      <a:pPr algn="ctr"/>
                      <a:r>
                        <a:rPr sz="2600" b="1">
                          <a:solidFill>
                            <a:srgbClr val="111827"/>
                          </a:solidFill>
                          <a:latin typeface="Arial"/>
                        </a:rPr>
                        <a:t>2.59</a:t>
                      </a:r>
                    </a:p>
                  </a:txBody>
                  <a:tcPr anchor="ctr" marL="137160" marR="137160">
                    <a:solidFill>
                      <a:srgbClr val="FFFFFF"/>
                    </a:solidFill>
                  </a:tcPr>
                </a:tc>
              </a:tr>
              <a:tr h="640080">
                <a:tc>
                  <a:txBody>
                    <a:bodyPr/>
                    <a:lstStyle/>
                    <a:p>
                      <a:pPr algn="l"/>
                      <a:r>
                        <a:rPr sz="2600" b="0">
                          <a:solidFill>
                            <a:srgbClr val="111827"/>
                          </a:solidFill>
                          <a:latin typeface="Arial"/>
                        </a:rPr>
                        <a:t>JEE Advanced 2025</a:t>
                      </a:r>
                    </a:p>
                  </a:txBody>
                  <a:tcPr anchor="ctr" marL="137160" marR="137160">
                    <a:solidFill>
                      <a:srgbClr val="FFFFFF"/>
                    </a:solidFill>
                  </a:tcPr>
                </a:tc>
                <a:tc>
                  <a:txBody>
                    <a:bodyPr/>
                    <a:lstStyle/>
                    <a:p>
                      <a:pPr algn="ctr"/>
                      <a:r>
                        <a:rPr sz="2600" b="1">
                          <a:solidFill>
                            <a:srgbClr val="111827"/>
                          </a:solidFill>
                          <a:latin typeface="Arial"/>
                        </a:rPr>
                        <a:t>3.21</a:t>
                      </a:r>
                    </a:p>
                  </a:txBody>
                  <a:tcPr anchor="ctr" marL="137160" marR="137160">
                    <a:solidFill>
                      <a:srgbClr val="FFFFFF"/>
                    </a:solidFill>
                  </a:tcPr>
                </a:tc>
              </a:tr>
              <a:tr h="640080">
                <a:tc>
                  <a:txBody>
                    <a:bodyPr/>
                    <a:lstStyle/>
                    <a:p>
                      <a:pPr algn="l"/>
                      <a:r>
                        <a:rPr sz="2600" b="0">
                          <a:solidFill>
                            <a:srgbClr val="111827"/>
                          </a:solidFill>
                          <a:latin typeface="Arial"/>
                        </a:rPr>
                        <a:t>JEE Advanced 2026</a:t>
                      </a:r>
                    </a:p>
                  </a:txBody>
                  <a:tcPr anchor="ctr" marL="137160" marR="137160">
                    <a:solidFill>
                      <a:srgbClr val="FFFFFF"/>
                    </a:solidFill>
                  </a:tcPr>
                </a:tc>
                <a:tc>
                  <a:txBody>
                    <a:bodyPr/>
                    <a:lstStyle/>
                    <a:p>
                      <a:pPr algn="ctr"/>
                      <a:r>
                        <a:rPr sz="2600" b="1">
                          <a:solidFill>
                            <a:srgbClr val="111827"/>
                          </a:solidFill>
                          <a:latin typeface="Arial"/>
                        </a:rPr>
                        <a:t>3.02</a:t>
                      </a:r>
                    </a:p>
                  </a:txBody>
                  <a:tcPr anchor="ctr" marL="137160" marR="137160">
                    <a:solidFill>
                      <a:srgbClr val="FFFFFF"/>
                    </a:solidFill>
                  </a:tcPr>
                </a:tc>
              </a:tr>
              <a:tr h="640080">
                <a:tc>
                  <a:txBody>
                    <a:bodyPr/>
                    <a:lstStyle/>
                    <a:p>
                      <a:pPr algn="l"/>
                      <a:r>
                        <a:rPr sz="2600" b="1">
                          <a:solidFill>
                            <a:srgbClr val="0B1F3A"/>
                          </a:solidFill>
                          <a:latin typeface="Arial"/>
                        </a:rPr>
                        <a:t>Statistics (Exercise III, JEE Main) XII SHEET STATISTICS · Exercise III (JEE Main) · detailed solutions</a:t>
                      </a:r>
                    </a:p>
                  </a:txBody>
                  <a:tcPr anchor="ctr" marL="137160" marR="137160">
                    <a:solidFill>
                      <a:srgbClr val="E0ECFF"/>
                    </a:solidFill>
                  </a:tcPr>
                </a:tc>
                <a:tc>
                  <a:txBody>
                    <a:bodyPr/>
                    <a:lstStyle/>
                    <a:p>
                      <a:pPr algn="ctr"/>
                      <a:r>
                        <a:rPr sz="2600" b="1">
                          <a:solidFill>
                            <a:srgbClr val="0B1F3A"/>
                          </a:solidFill>
                          <a:latin typeface="Arial"/>
                        </a:rPr>
                        <a:t>1.88</a:t>
                      </a:r>
                    </a:p>
                  </a:txBody>
                  <a:tcPr anchor="ctr" marL="137160" marR="137160">
                    <a:solidFill>
                      <a:srgbClr val="E0ECFF"/>
                    </a:solidFill>
                  </a:tcPr>
                </a:tc>
              </a:tr>
            </a:tbl>
          </a:graphicData>
        </a:graphic>
      </p:graphicFrame>
      <p:sp>
        <p:nvSpPr>
          <p:cNvPr id="4" name="TextBox 3"/>
          <p:cNvSpPr txBox="1"/>
          <p:nvPr/>
        </p:nvSpPr>
        <p:spPr>
          <a:xfrm>
            <a:off x="731520" y="6080759"/>
            <a:ext cx="10725912" cy="457200"/>
          </a:xfrm>
          <a:prstGeom prst="rect">
            <a:avLst/>
          </a:prstGeom>
          <a:noFill/>
        </p:spPr>
        <p:txBody>
          <a:bodyPr wrap="none">
            <a:spAutoFit/>
          </a:bodyPr>
          <a:lstStyle>
            <a:lvl1pPr>
              <a:defRPr sz="2000">
                <a:solidFill>
                  <a:srgbClr val="111827"/>
                </a:solidFill>
              </a:defRPr>
            </a:lvl1pPr>
          </a:lstStyle>
          <a:p>
            <a:pPr algn="ctr">
              <a:defRPr sz="2000">
                <a:solidFill>
                  <a:srgbClr val="111827"/>
                </a:solidFill>
              </a:defRPr>
            </a:pPr>
            <a:r>
              <a:rPr sz="2000" b="0">
                <a:solidFill>
                  <a:srgbClr val="111827"/>
                </a:solidFill>
                <a:latin typeface="Arial"/>
              </a:rPr>
              <a:t>Marks-weighted difficulty index on the 0-5 scale</a:t>
            </a:r>
            <a:endParaRPr sz="2000">
              <a:solidFill>
                <a:srgbClr val="111827"/>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