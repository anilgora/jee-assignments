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00.xml" ContentType="application/vnd.openxmlformats-officedocument.presentationml.slide+xml"/>
  <Override PartName="/ppt/slides/slide101.xml" ContentType="application/vnd.openxmlformats-officedocument.presentationml.slide+xml"/>
  <Override PartName="/ppt/slides/slide102.xml" ContentType="application/vnd.openxmlformats-officedocument.presentationml.slide+xml"/>
  <Override PartName="/ppt/slides/slide103.xml" ContentType="application/vnd.openxmlformats-officedocument.presentationml.slide+xml"/>
  <Override PartName="/ppt/slides/slide104.xml" ContentType="application/vnd.openxmlformats-officedocument.presentationml.slide+xml"/>
  <Override PartName="/ppt/slides/slide105.xml" ContentType="application/vnd.openxmlformats-officedocument.presentationml.slide+xml"/>
  <Override PartName="/ppt/slides/slide106.xml" ContentType="application/vnd.openxmlformats-officedocument.presentationml.slide+xml"/>
  <Override PartName="/ppt/slides/slide107.xml" ContentType="application/vnd.openxmlformats-officedocument.presentationml.slide+xml"/>
  <Override PartName="/ppt/slides/slide108.xml" ContentType="application/vnd.openxmlformats-officedocument.presentationml.slide+xml"/>
  <Override PartName="/ppt/slides/slide109.xml" ContentType="application/vnd.openxmlformats-officedocument.presentationml.slide+xml"/>
  <Override PartName="/ppt/slides/slide11.xml" ContentType="application/vnd.openxmlformats-officedocument.presentationml.slide+xml"/>
  <Override PartName="/ppt/slides/slide110.xml" ContentType="application/vnd.openxmlformats-officedocument.presentationml.slide+xml"/>
  <Override PartName="/ppt/slides/slide111.xml" ContentType="application/vnd.openxmlformats-officedocument.presentationml.slide+xml"/>
  <Override PartName="/ppt/slides/slide112.xml" ContentType="application/vnd.openxmlformats-officedocument.presentationml.slide+xml"/>
  <Override PartName="/ppt/slides/slide113.xml" ContentType="application/vnd.openxmlformats-officedocument.presentationml.slide+xml"/>
  <Override PartName="/ppt/slides/slide114.xml" ContentType="application/vnd.openxmlformats-officedocument.presentationml.slide+xml"/>
  <Override PartName="/ppt/slides/slide115.xml" ContentType="application/vnd.openxmlformats-officedocument.presentationml.slide+xml"/>
  <Override PartName="/ppt/slides/slide116.xml" ContentType="application/vnd.openxmlformats-officedocument.presentationml.slide+xml"/>
  <Override PartName="/ppt/slides/slide117.xml" ContentType="application/vnd.openxmlformats-officedocument.presentationml.slide+xml"/>
  <Override PartName="/ppt/slides/slide118.xml" ContentType="application/vnd.openxmlformats-officedocument.presentationml.slide+xml"/>
  <Override PartName="/ppt/slides/slide119.xml" ContentType="application/vnd.openxmlformats-officedocument.presentationml.slide+xml"/>
  <Override PartName="/ppt/slides/slide12.xml" ContentType="application/vnd.openxmlformats-officedocument.presentationml.slide+xml"/>
  <Override PartName="/ppt/slides/slide120.xml" ContentType="application/vnd.openxmlformats-officedocument.presentationml.slide+xml"/>
  <Override PartName="/ppt/slides/slide121.xml" ContentType="application/vnd.openxmlformats-officedocument.presentationml.slide+xml"/>
  <Override PartName="/ppt/slides/slide122.xml" ContentType="application/vnd.openxmlformats-officedocument.presentationml.slide+xml"/>
  <Override PartName="/ppt/slides/slide123.xml" ContentType="application/vnd.openxmlformats-officedocument.presentationml.slide+xml"/>
  <Override PartName="/ppt/slides/slide124.xml" ContentType="application/vnd.openxmlformats-officedocument.presentationml.slide+xml"/>
  <Override PartName="/ppt/slides/slide125.xml" ContentType="application/vnd.openxmlformats-officedocument.presentationml.slide+xml"/>
  <Override PartName="/ppt/slides/slide126.xml" ContentType="application/vnd.openxmlformats-officedocument.presentationml.slide+xml"/>
  <Override PartName="/ppt/slides/slide127.xml" ContentType="application/vnd.openxmlformats-officedocument.presentationml.slide+xml"/>
  <Override PartName="/ppt/slides/slide128.xml" ContentType="application/vnd.openxmlformats-officedocument.presentationml.slide+xml"/>
  <Override PartName="/ppt/slides/slide129.xml" ContentType="application/vnd.openxmlformats-officedocument.presentationml.slide+xml"/>
  <Override PartName="/ppt/slides/slide13.xml" ContentType="application/vnd.openxmlformats-officedocument.presentationml.slide+xml"/>
  <Override PartName="/ppt/slides/slide130.xml" ContentType="application/vnd.openxmlformats-officedocument.presentationml.slide+xml"/>
  <Override PartName="/ppt/slides/slide131.xml" ContentType="application/vnd.openxmlformats-officedocument.presentationml.slide+xml"/>
  <Override PartName="/ppt/slides/slide132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slides/slide97.xml" ContentType="application/vnd.openxmlformats-officedocument.presentationml.slide+xml"/>
  <Override PartName="/ppt/slides/slide98.xml" ContentType="application/vnd.openxmlformats-officedocument.presentationml.slide+xml"/>
  <Override PartName="/ppt/slides/slide9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  <p:sldId id="268" r:id="rId20"/>
    <p:sldId id="269" r:id="rId21"/>
    <p:sldId id="270" r:id="rId22"/>
    <p:sldId id="271" r:id="rId23"/>
    <p:sldId id="272" r:id="rId24"/>
    <p:sldId id="273" r:id="rId25"/>
    <p:sldId id="274" r:id="rId26"/>
    <p:sldId id="275" r:id="rId27"/>
    <p:sldId id="276" r:id="rId28"/>
    <p:sldId id="277" r:id="rId29"/>
    <p:sldId id="278" r:id="rId30"/>
    <p:sldId id="279" r:id="rId31"/>
    <p:sldId id="280" r:id="rId32"/>
    <p:sldId id="281" r:id="rId33"/>
    <p:sldId id="282" r:id="rId34"/>
    <p:sldId id="283" r:id="rId35"/>
    <p:sldId id="284" r:id="rId36"/>
    <p:sldId id="285" r:id="rId37"/>
    <p:sldId id="286" r:id="rId38"/>
    <p:sldId id="287" r:id="rId39"/>
    <p:sldId id="288" r:id="rId40"/>
    <p:sldId id="289" r:id="rId41"/>
    <p:sldId id="290" r:id="rId42"/>
    <p:sldId id="291" r:id="rId43"/>
    <p:sldId id="292" r:id="rId44"/>
    <p:sldId id="293" r:id="rId45"/>
    <p:sldId id="294" r:id="rId46"/>
    <p:sldId id="295" r:id="rId47"/>
    <p:sldId id="296" r:id="rId48"/>
    <p:sldId id="297" r:id="rId49"/>
    <p:sldId id="298" r:id="rId50"/>
    <p:sldId id="299" r:id="rId51"/>
    <p:sldId id="300" r:id="rId52"/>
    <p:sldId id="301" r:id="rId53"/>
    <p:sldId id="302" r:id="rId54"/>
    <p:sldId id="303" r:id="rId55"/>
    <p:sldId id="304" r:id="rId56"/>
    <p:sldId id="305" r:id="rId57"/>
    <p:sldId id="306" r:id="rId58"/>
    <p:sldId id="307" r:id="rId59"/>
    <p:sldId id="308" r:id="rId60"/>
    <p:sldId id="309" r:id="rId61"/>
    <p:sldId id="310" r:id="rId62"/>
    <p:sldId id="311" r:id="rId63"/>
    <p:sldId id="312" r:id="rId64"/>
    <p:sldId id="313" r:id="rId65"/>
    <p:sldId id="314" r:id="rId66"/>
    <p:sldId id="315" r:id="rId67"/>
    <p:sldId id="316" r:id="rId68"/>
    <p:sldId id="317" r:id="rId69"/>
    <p:sldId id="318" r:id="rId70"/>
    <p:sldId id="319" r:id="rId71"/>
    <p:sldId id="320" r:id="rId72"/>
    <p:sldId id="321" r:id="rId73"/>
    <p:sldId id="322" r:id="rId74"/>
    <p:sldId id="323" r:id="rId75"/>
    <p:sldId id="324" r:id="rId76"/>
    <p:sldId id="325" r:id="rId77"/>
    <p:sldId id="326" r:id="rId78"/>
    <p:sldId id="327" r:id="rId79"/>
    <p:sldId id="328" r:id="rId80"/>
    <p:sldId id="329" r:id="rId81"/>
    <p:sldId id="330" r:id="rId82"/>
    <p:sldId id="331" r:id="rId83"/>
    <p:sldId id="332" r:id="rId84"/>
    <p:sldId id="333" r:id="rId85"/>
    <p:sldId id="334" r:id="rId86"/>
    <p:sldId id="335" r:id="rId87"/>
    <p:sldId id="336" r:id="rId88"/>
    <p:sldId id="337" r:id="rId89"/>
    <p:sldId id="338" r:id="rId90"/>
    <p:sldId id="339" r:id="rId91"/>
    <p:sldId id="340" r:id="rId92"/>
    <p:sldId id="341" r:id="rId93"/>
    <p:sldId id="342" r:id="rId94"/>
    <p:sldId id="343" r:id="rId95"/>
    <p:sldId id="344" r:id="rId96"/>
    <p:sldId id="345" r:id="rId97"/>
    <p:sldId id="346" r:id="rId98"/>
    <p:sldId id="347" r:id="rId99"/>
    <p:sldId id="348" r:id="rId100"/>
    <p:sldId id="349" r:id="rId101"/>
    <p:sldId id="350" r:id="rId102"/>
    <p:sldId id="351" r:id="rId103"/>
    <p:sldId id="352" r:id="rId104"/>
    <p:sldId id="353" r:id="rId105"/>
    <p:sldId id="354" r:id="rId106"/>
    <p:sldId id="355" r:id="rId107"/>
    <p:sldId id="356" r:id="rId108"/>
    <p:sldId id="357" r:id="rId109"/>
    <p:sldId id="358" r:id="rId110"/>
    <p:sldId id="359" r:id="rId111"/>
    <p:sldId id="360" r:id="rId112"/>
    <p:sldId id="361" r:id="rId113"/>
    <p:sldId id="362" r:id="rId114"/>
    <p:sldId id="363" r:id="rId115"/>
    <p:sldId id="364" r:id="rId116"/>
    <p:sldId id="365" r:id="rId117"/>
    <p:sldId id="366" r:id="rId118"/>
    <p:sldId id="367" r:id="rId119"/>
    <p:sldId id="368" r:id="rId120"/>
    <p:sldId id="369" r:id="rId121"/>
    <p:sldId id="370" r:id="rId122"/>
    <p:sldId id="371" r:id="rId123"/>
    <p:sldId id="372" r:id="rId124"/>
    <p:sldId id="373" r:id="rId125"/>
    <p:sldId id="374" r:id="rId126"/>
    <p:sldId id="375" r:id="rId127"/>
    <p:sldId id="376" r:id="rId128"/>
    <p:sldId id="377" r:id="rId129"/>
    <p:sldId id="378" r:id="rId130"/>
    <p:sldId id="379" r:id="rId131"/>
    <p:sldId id="380" r:id="rId132"/>
    <p:sldId id="381" r:id="rId133"/>
    <p:sldId id="382" r:id="rId134"/>
    <p:sldId id="383" r:id="rId135"/>
    <p:sldId id="384" r:id="rId136"/>
    <p:sldId id="385" r:id="rId137"/>
    <p:sldId id="386" r:id="rId138"/>
    <p:sldId id="387" r:id="rId13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notesMaster" Target="notesMasters/notesMaster1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Relationship Id="rId20" Type="http://schemas.openxmlformats.org/officeDocument/2006/relationships/slide" Target="slides/slide13.xml"/><Relationship Id="rId21" Type="http://schemas.openxmlformats.org/officeDocument/2006/relationships/slide" Target="slides/slide14.xml"/><Relationship Id="rId22" Type="http://schemas.openxmlformats.org/officeDocument/2006/relationships/slide" Target="slides/slide15.xml"/><Relationship Id="rId23" Type="http://schemas.openxmlformats.org/officeDocument/2006/relationships/slide" Target="slides/slide16.xml"/><Relationship Id="rId24" Type="http://schemas.openxmlformats.org/officeDocument/2006/relationships/slide" Target="slides/slide17.xml"/><Relationship Id="rId25" Type="http://schemas.openxmlformats.org/officeDocument/2006/relationships/slide" Target="slides/slide18.xml"/><Relationship Id="rId26" Type="http://schemas.openxmlformats.org/officeDocument/2006/relationships/slide" Target="slides/slide19.xml"/><Relationship Id="rId27" Type="http://schemas.openxmlformats.org/officeDocument/2006/relationships/slide" Target="slides/slide20.xml"/><Relationship Id="rId28" Type="http://schemas.openxmlformats.org/officeDocument/2006/relationships/slide" Target="slides/slide21.xml"/><Relationship Id="rId29" Type="http://schemas.openxmlformats.org/officeDocument/2006/relationships/slide" Target="slides/slide22.xml"/><Relationship Id="rId30" Type="http://schemas.openxmlformats.org/officeDocument/2006/relationships/slide" Target="slides/slide23.xml"/><Relationship Id="rId31" Type="http://schemas.openxmlformats.org/officeDocument/2006/relationships/slide" Target="slides/slide24.xml"/><Relationship Id="rId32" Type="http://schemas.openxmlformats.org/officeDocument/2006/relationships/slide" Target="slides/slide25.xml"/><Relationship Id="rId33" Type="http://schemas.openxmlformats.org/officeDocument/2006/relationships/slide" Target="slides/slide26.xml"/><Relationship Id="rId34" Type="http://schemas.openxmlformats.org/officeDocument/2006/relationships/slide" Target="slides/slide27.xml"/><Relationship Id="rId35" Type="http://schemas.openxmlformats.org/officeDocument/2006/relationships/slide" Target="slides/slide28.xml"/><Relationship Id="rId36" Type="http://schemas.openxmlformats.org/officeDocument/2006/relationships/slide" Target="slides/slide29.xml"/><Relationship Id="rId37" Type="http://schemas.openxmlformats.org/officeDocument/2006/relationships/slide" Target="slides/slide30.xml"/><Relationship Id="rId38" Type="http://schemas.openxmlformats.org/officeDocument/2006/relationships/slide" Target="slides/slide31.xml"/><Relationship Id="rId39" Type="http://schemas.openxmlformats.org/officeDocument/2006/relationships/slide" Target="slides/slide32.xml"/><Relationship Id="rId40" Type="http://schemas.openxmlformats.org/officeDocument/2006/relationships/slide" Target="slides/slide33.xml"/><Relationship Id="rId41" Type="http://schemas.openxmlformats.org/officeDocument/2006/relationships/slide" Target="slides/slide34.xml"/><Relationship Id="rId42" Type="http://schemas.openxmlformats.org/officeDocument/2006/relationships/slide" Target="slides/slide35.xml"/><Relationship Id="rId43" Type="http://schemas.openxmlformats.org/officeDocument/2006/relationships/slide" Target="slides/slide36.xml"/><Relationship Id="rId44" Type="http://schemas.openxmlformats.org/officeDocument/2006/relationships/slide" Target="slides/slide37.xml"/><Relationship Id="rId45" Type="http://schemas.openxmlformats.org/officeDocument/2006/relationships/slide" Target="slides/slide38.xml"/><Relationship Id="rId46" Type="http://schemas.openxmlformats.org/officeDocument/2006/relationships/slide" Target="slides/slide39.xml"/><Relationship Id="rId47" Type="http://schemas.openxmlformats.org/officeDocument/2006/relationships/slide" Target="slides/slide40.xml"/><Relationship Id="rId48" Type="http://schemas.openxmlformats.org/officeDocument/2006/relationships/slide" Target="slides/slide41.xml"/><Relationship Id="rId49" Type="http://schemas.openxmlformats.org/officeDocument/2006/relationships/slide" Target="slides/slide42.xml"/><Relationship Id="rId50" Type="http://schemas.openxmlformats.org/officeDocument/2006/relationships/slide" Target="slides/slide43.xml"/><Relationship Id="rId51" Type="http://schemas.openxmlformats.org/officeDocument/2006/relationships/slide" Target="slides/slide44.xml"/><Relationship Id="rId52" Type="http://schemas.openxmlformats.org/officeDocument/2006/relationships/slide" Target="slides/slide45.xml"/><Relationship Id="rId53" Type="http://schemas.openxmlformats.org/officeDocument/2006/relationships/slide" Target="slides/slide46.xml"/><Relationship Id="rId54" Type="http://schemas.openxmlformats.org/officeDocument/2006/relationships/slide" Target="slides/slide47.xml"/><Relationship Id="rId55" Type="http://schemas.openxmlformats.org/officeDocument/2006/relationships/slide" Target="slides/slide48.xml"/><Relationship Id="rId56" Type="http://schemas.openxmlformats.org/officeDocument/2006/relationships/slide" Target="slides/slide49.xml"/><Relationship Id="rId57" Type="http://schemas.openxmlformats.org/officeDocument/2006/relationships/slide" Target="slides/slide50.xml"/><Relationship Id="rId58" Type="http://schemas.openxmlformats.org/officeDocument/2006/relationships/slide" Target="slides/slide51.xml"/><Relationship Id="rId59" Type="http://schemas.openxmlformats.org/officeDocument/2006/relationships/slide" Target="slides/slide52.xml"/><Relationship Id="rId60" Type="http://schemas.openxmlformats.org/officeDocument/2006/relationships/slide" Target="slides/slide53.xml"/><Relationship Id="rId61" Type="http://schemas.openxmlformats.org/officeDocument/2006/relationships/slide" Target="slides/slide54.xml"/><Relationship Id="rId62" Type="http://schemas.openxmlformats.org/officeDocument/2006/relationships/slide" Target="slides/slide55.xml"/><Relationship Id="rId63" Type="http://schemas.openxmlformats.org/officeDocument/2006/relationships/slide" Target="slides/slide56.xml"/><Relationship Id="rId64" Type="http://schemas.openxmlformats.org/officeDocument/2006/relationships/slide" Target="slides/slide57.xml"/><Relationship Id="rId65" Type="http://schemas.openxmlformats.org/officeDocument/2006/relationships/slide" Target="slides/slide58.xml"/><Relationship Id="rId66" Type="http://schemas.openxmlformats.org/officeDocument/2006/relationships/slide" Target="slides/slide59.xml"/><Relationship Id="rId67" Type="http://schemas.openxmlformats.org/officeDocument/2006/relationships/slide" Target="slides/slide60.xml"/><Relationship Id="rId68" Type="http://schemas.openxmlformats.org/officeDocument/2006/relationships/slide" Target="slides/slide61.xml"/><Relationship Id="rId69" Type="http://schemas.openxmlformats.org/officeDocument/2006/relationships/slide" Target="slides/slide62.xml"/><Relationship Id="rId70" Type="http://schemas.openxmlformats.org/officeDocument/2006/relationships/slide" Target="slides/slide63.xml"/><Relationship Id="rId71" Type="http://schemas.openxmlformats.org/officeDocument/2006/relationships/slide" Target="slides/slide64.xml"/><Relationship Id="rId72" Type="http://schemas.openxmlformats.org/officeDocument/2006/relationships/slide" Target="slides/slide65.xml"/><Relationship Id="rId73" Type="http://schemas.openxmlformats.org/officeDocument/2006/relationships/slide" Target="slides/slide66.xml"/><Relationship Id="rId74" Type="http://schemas.openxmlformats.org/officeDocument/2006/relationships/slide" Target="slides/slide67.xml"/><Relationship Id="rId75" Type="http://schemas.openxmlformats.org/officeDocument/2006/relationships/slide" Target="slides/slide68.xml"/><Relationship Id="rId76" Type="http://schemas.openxmlformats.org/officeDocument/2006/relationships/slide" Target="slides/slide69.xml"/><Relationship Id="rId77" Type="http://schemas.openxmlformats.org/officeDocument/2006/relationships/slide" Target="slides/slide70.xml"/><Relationship Id="rId78" Type="http://schemas.openxmlformats.org/officeDocument/2006/relationships/slide" Target="slides/slide71.xml"/><Relationship Id="rId79" Type="http://schemas.openxmlformats.org/officeDocument/2006/relationships/slide" Target="slides/slide72.xml"/><Relationship Id="rId80" Type="http://schemas.openxmlformats.org/officeDocument/2006/relationships/slide" Target="slides/slide73.xml"/><Relationship Id="rId81" Type="http://schemas.openxmlformats.org/officeDocument/2006/relationships/slide" Target="slides/slide74.xml"/><Relationship Id="rId82" Type="http://schemas.openxmlformats.org/officeDocument/2006/relationships/slide" Target="slides/slide75.xml"/><Relationship Id="rId83" Type="http://schemas.openxmlformats.org/officeDocument/2006/relationships/slide" Target="slides/slide76.xml"/><Relationship Id="rId84" Type="http://schemas.openxmlformats.org/officeDocument/2006/relationships/slide" Target="slides/slide77.xml"/><Relationship Id="rId85" Type="http://schemas.openxmlformats.org/officeDocument/2006/relationships/slide" Target="slides/slide78.xml"/><Relationship Id="rId86" Type="http://schemas.openxmlformats.org/officeDocument/2006/relationships/slide" Target="slides/slide79.xml"/><Relationship Id="rId87" Type="http://schemas.openxmlformats.org/officeDocument/2006/relationships/slide" Target="slides/slide80.xml"/><Relationship Id="rId88" Type="http://schemas.openxmlformats.org/officeDocument/2006/relationships/slide" Target="slides/slide81.xml"/><Relationship Id="rId89" Type="http://schemas.openxmlformats.org/officeDocument/2006/relationships/slide" Target="slides/slide82.xml"/><Relationship Id="rId90" Type="http://schemas.openxmlformats.org/officeDocument/2006/relationships/slide" Target="slides/slide83.xml"/><Relationship Id="rId91" Type="http://schemas.openxmlformats.org/officeDocument/2006/relationships/slide" Target="slides/slide84.xml"/><Relationship Id="rId92" Type="http://schemas.openxmlformats.org/officeDocument/2006/relationships/slide" Target="slides/slide85.xml"/><Relationship Id="rId93" Type="http://schemas.openxmlformats.org/officeDocument/2006/relationships/slide" Target="slides/slide86.xml"/><Relationship Id="rId94" Type="http://schemas.openxmlformats.org/officeDocument/2006/relationships/slide" Target="slides/slide87.xml"/><Relationship Id="rId95" Type="http://schemas.openxmlformats.org/officeDocument/2006/relationships/slide" Target="slides/slide88.xml"/><Relationship Id="rId96" Type="http://schemas.openxmlformats.org/officeDocument/2006/relationships/slide" Target="slides/slide89.xml"/><Relationship Id="rId97" Type="http://schemas.openxmlformats.org/officeDocument/2006/relationships/slide" Target="slides/slide90.xml"/><Relationship Id="rId98" Type="http://schemas.openxmlformats.org/officeDocument/2006/relationships/slide" Target="slides/slide91.xml"/><Relationship Id="rId99" Type="http://schemas.openxmlformats.org/officeDocument/2006/relationships/slide" Target="slides/slide92.xml"/><Relationship Id="rId100" Type="http://schemas.openxmlformats.org/officeDocument/2006/relationships/slide" Target="slides/slide93.xml"/><Relationship Id="rId101" Type="http://schemas.openxmlformats.org/officeDocument/2006/relationships/slide" Target="slides/slide94.xml"/><Relationship Id="rId102" Type="http://schemas.openxmlformats.org/officeDocument/2006/relationships/slide" Target="slides/slide95.xml"/><Relationship Id="rId103" Type="http://schemas.openxmlformats.org/officeDocument/2006/relationships/slide" Target="slides/slide96.xml"/><Relationship Id="rId104" Type="http://schemas.openxmlformats.org/officeDocument/2006/relationships/slide" Target="slides/slide97.xml"/><Relationship Id="rId105" Type="http://schemas.openxmlformats.org/officeDocument/2006/relationships/slide" Target="slides/slide98.xml"/><Relationship Id="rId106" Type="http://schemas.openxmlformats.org/officeDocument/2006/relationships/slide" Target="slides/slide99.xml"/><Relationship Id="rId107" Type="http://schemas.openxmlformats.org/officeDocument/2006/relationships/slide" Target="slides/slide100.xml"/><Relationship Id="rId108" Type="http://schemas.openxmlformats.org/officeDocument/2006/relationships/slide" Target="slides/slide101.xml"/><Relationship Id="rId109" Type="http://schemas.openxmlformats.org/officeDocument/2006/relationships/slide" Target="slides/slide102.xml"/><Relationship Id="rId110" Type="http://schemas.openxmlformats.org/officeDocument/2006/relationships/slide" Target="slides/slide103.xml"/><Relationship Id="rId111" Type="http://schemas.openxmlformats.org/officeDocument/2006/relationships/slide" Target="slides/slide104.xml"/><Relationship Id="rId112" Type="http://schemas.openxmlformats.org/officeDocument/2006/relationships/slide" Target="slides/slide105.xml"/><Relationship Id="rId113" Type="http://schemas.openxmlformats.org/officeDocument/2006/relationships/slide" Target="slides/slide106.xml"/><Relationship Id="rId114" Type="http://schemas.openxmlformats.org/officeDocument/2006/relationships/slide" Target="slides/slide107.xml"/><Relationship Id="rId115" Type="http://schemas.openxmlformats.org/officeDocument/2006/relationships/slide" Target="slides/slide108.xml"/><Relationship Id="rId116" Type="http://schemas.openxmlformats.org/officeDocument/2006/relationships/slide" Target="slides/slide109.xml"/><Relationship Id="rId117" Type="http://schemas.openxmlformats.org/officeDocument/2006/relationships/slide" Target="slides/slide110.xml"/><Relationship Id="rId118" Type="http://schemas.openxmlformats.org/officeDocument/2006/relationships/slide" Target="slides/slide111.xml"/><Relationship Id="rId119" Type="http://schemas.openxmlformats.org/officeDocument/2006/relationships/slide" Target="slides/slide112.xml"/><Relationship Id="rId120" Type="http://schemas.openxmlformats.org/officeDocument/2006/relationships/slide" Target="slides/slide113.xml"/><Relationship Id="rId121" Type="http://schemas.openxmlformats.org/officeDocument/2006/relationships/slide" Target="slides/slide114.xml"/><Relationship Id="rId122" Type="http://schemas.openxmlformats.org/officeDocument/2006/relationships/slide" Target="slides/slide115.xml"/><Relationship Id="rId123" Type="http://schemas.openxmlformats.org/officeDocument/2006/relationships/slide" Target="slides/slide116.xml"/><Relationship Id="rId124" Type="http://schemas.openxmlformats.org/officeDocument/2006/relationships/slide" Target="slides/slide117.xml"/><Relationship Id="rId125" Type="http://schemas.openxmlformats.org/officeDocument/2006/relationships/slide" Target="slides/slide118.xml"/><Relationship Id="rId126" Type="http://schemas.openxmlformats.org/officeDocument/2006/relationships/slide" Target="slides/slide119.xml"/><Relationship Id="rId127" Type="http://schemas.openxmlformats.org/officeDocument/2006/relationships/slide" Target="slides/slide120.xml"/><Relationship Id="rId128" Type="http://schemas.openxmlformats.org/officeDocument/2006/relationships/slide" Target="slides/slide121.xml"/><Relationship Id="rId129" Type="http://schemas.openxmlformats.org/officeDocument/2006/relationships/slide" Target="slides/slide122.xml"/><Relationship Id="rId130" Type="http://schemas.openxmlformats.org/officeDocument/2006/relationships/slide" Target="slides/slide123.xml"/><Relationship Id="rId131" Type="http://schemas.openxmlformats.org/officeDocument/2006/relationships/slide" Target="slides/slide124.xml"/><Relationship Id="rId132" Type="http://schemas.openxmlformats.org/officeDocument/2006/relationships/slide" Target="slides/slide125.xml"/><Relationship Id="rId133" Type="http://schemas.openxmlformats.org/officeDocument/2006/relationships/slide" Target="slides/slide126.xml"/><Relationship Id="rId134" Type="http://schemas.openxmlformats.org/officeDocument/2006/relationships/slide" Target="slides/slide127.xml"/><Relationship Id="rId135" Type="http://schemas.openxmlformats.org/officeDocument/2006/relationships/slide" Target="slides/slide128.xml"/><Relationship Id="rId136" Type="http://schemas.openxmlformats.org/officeDocument/2006/relationships/slide" Target="slides/slide129.xml"/><Relationship Id="rId137" Type="http://schemas.openxmlformats.org/officeDocument/2006/relationships/slide" Target="slides/slide130.xml"/><Relationship Id="rId138" Type="http://schemas.openxmlformats.org/officeDocument/2006/relationships/slide" Target="slides/slide131.xml"/><Relationship Id="rId139" Type="http://schemas.openxmlformats.org/officeDocument/2006/relationships/slide" Target="slides/slide132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Level</c:v>
                </c:pt>
              </c:strCache>
            </c:strRef>
          </c:tx>
          <c:dPt>
            <c:idx val="0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2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3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5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9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0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1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2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3"/>
            <c:spPr>
              <a:solidFill>
                <a:srgbClr val="B6D7A8"/>
              </a:solidFill>
              <a:ln w="9525">
                <a:solidFill>
                  <a:srgbClr val="111827"/>
                </a:solidFill>
              </a:ln>
            </c:spPr>
          </c:dPt>
          <c:dPt>
            <c:idx val="14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5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6"/>
            <c:spPr>
              <a:solidFill>
                <a:srgbClr val="FFD966"/>
              </a:solidFill>
              <a:ln w="9525">
                <a:solidFill>
                  <a:srgbClr val="111827"/>
                </a:solidFill>
              </a:ln>
            </c:spPr>
          </c:dPt>
          <c:dPt>
            <c:idx val="17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dPt>
            <c:idx val="18"/>
            <c:spPr>
              <a:solidFill>
                <a:srgbClr val="F6B26B"/>
              </a:solidFill>
              <a:ln w="9525">
                <a:solidFill>
                  <a:srgbClr val="111827"/>
                </a:solidFill>
              </a:ln>
            </c:spPr>
          </c:dPt>
          <c:cat>
            <c:strRef>
              <c:f>Sheet1!$A$2:$A$20</c:f>
              <c:strCache>
                <c:ptCount val="19"/>
                <c:pt idx="0">
                  <c:v>Q1</c:v>
                </c:pt>
                <c:pt idx="1">
                  <c:v>Q2</c:v>
                </c:pt>
                <c:pt idx="2">
                  <c:v>Q3</c:v>
                </c:pt>
                <c:pt idx="3">
                  <c:v>Q4</c:v>
                </c:pt>
                <c:pt idx="4">
                  <c:v>Q5</c:v>
                </c:pt>
                <c:pt idx="5">
                  <c:v>Q6</c:v>
                </c:pt>
                <c:pt idx="6">
                  <c:v>Q7</c:v>
                </c:pt>
                <c:pt idx="7">
                  <c:v>Q8</c:v>
                </c:pt>
                <c:pt idx="8">
                  <c:v>Q9</c:v>
                </c:pt>
                <c:pt idx="9">
                  <c:v>Q10</c:v>
                </c:pt>
                <c:pt idx="10">
                  <c:v>Q11</c:v>
                </c:pt>
                <c:pt idx="11">
                  <c:v>Q12</c:v>
                </c:pt>
                <c:pt idx="12">
                  <c:v>Q13</c:v>
                </c:pt>
                <c:pt idx="13">
                  <c:v>Q14</c:v>
                </c:pt>
                <c:pt idx="14">
                  <c:v>Q15</c:v>
                </c:pt>
                <c:pt idx="15">
                  <c:v>Q16</c:v>
                </c:pt>
                <c:pt idx="16">
                  <c:v>Q17</c:v>
                </c:pt>
                <c:pt idx="17">
                  <c:v>Q18</c:v>
                </c:pt>
                <c:pt idx="18">
                  <c:v>Q19</c:v>
                </c:pt>
              </c:strCache>
            </c:strRef>
          </c:cat>
          <c:val>
            <c:numRef>
              <c:f>Sheet1!$B$2:$B$20</c:f>
              <c:numCache>
                <c:formatCode>General</c:formatCode>
                <c:ptCount val="19"/>
                <c:pt idx="0">
                  <c:v>2.0</c:v>
                </c:pt>
                <c:pt idx="1">
                  <c:v>2.0</c:v>
                </c:pt>
                <c:pt idx="2">
                  <c:v>1.0</c:v>
                </c:pt>
                <c:pt idx="3">
                  <c:v>3.0</c:v>
                </c:pt>
                <c:pt idx="4">
                  <c:v>2.0</c:v>
                </c:pt>
                <c:pt idx="5">
                  <c:v>1.0</c:v>
                </c:pt>
                <c:pt idx="6">
                  <c:v>2.0</c:v>
                </c:pt>
                <c:pt idx="7">
                  <c:v>3.0</c:v>
                </c:pt>
                <c:pt idx="8">
                  <c:v>3.0</c:v>
                </c:pt>
                <c:pt idx="9">
                  <c:v>3.0</c:v>
                </c:pt>
                <c:pt idx="10">
                  <c:v>3.0</c:v>
                </c:pt>
                <c:pt idx="11">
                  <c:v>2.0</c:v>
                </c:pt>
                <c:pt idx="12">
                  <c:v>3.0</c:v>
                </c:pt>
                <c:pt idx="13">
                  <c:v>1.0</c:v>
                </c:pt>
                <c:pt idx="14">
                  <c:v>2.0</c:v>
                </c:pt>
                <c:pt idx="15">
                  <c:v>2.0</c:v>
                </c:pt>
                <c:pt idx="16">
                  <c:v>2.0</c:v>
                </c:pt>
                <c:pt idx="17">
                  <c:v>3.0</c:v>
                </c:pt>
                <c:pt idx="18">
                  <c:v>3.0</c:v>
                </c:pt>
              </c:numCache>
            </c:numRef>
          </c:val>
        </c:ser>
        <c:dLbls>
          <c:numFmt formatCode="0.0#" sourceLinked="0"/>
          <c:txPr>
            <a:bodyPr/>
            <a:lstStyle/>
            <a:p>
              <a:pPr>
                <a:defRPr sz="2000" b="1">
                  <a:solidFill>
                    <a:srgbClr val="111827"/>
                  </a:solidFill>
                  <a:latin typeface="Arial"/>
                </a:defRPr>
              </a:pPr>
            </a:p>
          </c:txPr>
          <c:dLblPos val="out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4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txPr>
          <a:bodyPr/>
          <a:lstStyle/>
          <a:p>
            <a:pPr>
              <a:defRPr sz="2000" b="1">
                <a:latin typeface="Arial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max val="5.5"/>
          <c:min val="0.0"/>
        </c:scaling>
        <c:delete val="0"/>
        <c:axPos val="l"/>
        <c:majorGridlines>
          <c:spPr>
            <a:ln>
              <a:solidFill>
                <a:srgbClr val="D1D5DB"/>
              </a:solidFill>
            </a:ln>
          </c:spPr>
        </c:majorGridlines>
        <c:title>
          <c:tx>
            <c:rich>
              <a:bodyPr/>
              <a:lstStyle/>
              <a:p>
                <a:r>
                  <a:rPr sz="2000"/>
                  <a:t>Level</a:t>
                </a:r>
              </a:p>
            </c:rich>
          </c:tx>
          <c:layout/>
          <c:overlay val="0"/>
        </c:title>
        <c:majorTickMark val="out"/>
        <c:minorTickMark val="none"/>
        <c:tickLblPos val="nextTo"/>
        <c:txPr>
          <a:bodyPr/>
          <a:lstStyle/>
          <a:p>
            <a:pPr>
              <a:defRPr sz="2000">
                <a:latin typeface="Arial"/>
              </a:defRPr>
            </a:pPr>
          </a:p>
        </c:txPr>
        <c:crossAx val="-2068027336"/>
        <c:crosses val="autoZero"/>
        <c:majorUnit val="1.0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4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8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5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0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6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2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0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0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8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$\sqrt{1-6x}$ in the first step; it should be $\sqrt{1-6x^2}$. It also rejects $x=-\frac13$ without a reason (only says $x&gt;0$); the reason (sum exceeds $\frac\pi2$ for $x&lt;0$) was added.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PDF's first line replaces $\cot^{-1}x$ by $\sin^{-1}\frac1{\sqrt{1+x^2}}$, which is true only for $x\ge0$ (for $x&lt;0$, $\cot^{-1}x=\pi-\sin^{-1}\frac1{\sqrt{1+x^2}}$). The conclusion is unaffected because only the sine is used; the working was rewritten as $\sin(\cot^{-1}x)=\frac1{\sqrt{1+x^2}}$ for all $x$.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Case II of the PDF is only two lines ($\tan^{-1}(\frac12\tan2A)-\tan^{-1}(\frac12\tan2A)=0$) with no derivation; the missing steps (no $\pi$ because $\cot^4A&lt;1$, same simplification) were added. Result unchanged; checked numerically.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PDF has no usable solution for this question; the solution was written by Claude.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The PDF writes 'So $k=2$' straight after the perfect-square form, without saying why no other integer works (the discriminant only gives $K\ge2$). The upper bound argument for $K\ge3$ was added. Final answer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copied from the PDF in full and checked step by step - it is correct.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Solution taken from the PDF but CORRECTED by Claude.</a:t>
            </a:r>
          </a:p>
          <a:p>
            <a:r>
              <a:t>WHAT WAS WRONG IN THE PDF AND WHAT CHANGED: Part (B), Case II: the PDF writes $f(x)=\cos^{-1}(-x+1-x+2)=\cos^{-1}(3-2x)$. For $1&lt;x&lt;2$, $|x-1|=x-1$ and $|x-2|=2-x$, so the argument is $(x-1)-(2-x)=2x-3$, not $3-2x$. The answer (B $\to$ Q) is unchanged.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/Relationships>
</file>

<file path=ppt/slides/_rels/slide3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4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5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5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6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/Relationships>
</file>

<file path=ppt/slides/_rels/slide7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7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3.xml"/></Relationships>
</file>

<file path=ppt/slides/_rels/slide8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4.xml"/></Relationships>
</file>

<file path=ppt/slides/_rels/slide9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5.xml"/></Relationships>
</file>

<file path=ppt/slides/_rels/slide9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6.xml"/></Relationships>
</file>

<file path=ppt/slides/_rels/slide10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7.xml"/></Relationships>
</file>

<file path=ppt/slides/_rels/slide10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8.xml"/></Relationships>
</file>

<file path=ppt/slides/_rels/slide1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9.xml"/></Relationships>
</file>

<file path=ppt/slides/_rels/slide1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_rels/slide13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/>
          <a:lstStyle>
            <a:lvl1pPr>
              <a:defRPr sz="4000">
                <a:solidFill>
                  <a:srgbClr val="FFFFFF"/>
                </a:solidFill>
              </a:defRPr>
            </a:lvl1pPr>
          </a:lstStyle>
          <a:p>
            <a:pPr algn="ctr">
              <a:defRPr sz="4000">
                <a:solidFill>
                  <a:srgbClr val="FFFFFF"/>
                </a:solidFill>
              </a:defRPr>
            </a:pPr>
            <a:r>
              <a:rPr sz="4000" b="1">
                <a:solidFill>
                  <a:srgbClr val="FFFFFF"/>
                </a:solidFill>
                <a:latin typeface="Arial"/>
              </a:rPr>
              <a:t>SHEET ITF (C2) — Paper Analysis</a:t>
            </a:r>
            <a:endParaRPr sz="4000">
              <a:solidFill>
                <a:srgbClr val="FFFFFF"/>
              </a:solidFill>
            </a:endParaRPr>
          </a:p>
          <a:p>
            <a:pPr algn="ctr"/>
            <a:r>
              <a:rPr sz="2200">
                <a:solidFill>
                  <a:srgbClr val="FFFFFF"/>
                </a:solidFill>
                <a:latin typeface="Arial"/>
              </a:rPr>
              <a:t>Exercise C-II (Inverse Trigonometric Functions) · detailed solutions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Q01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Prove / solve;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equation: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equation: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$\cos^{-1}(\sqrt6x)+\cos^{-1}(3\sqrt3x^2)=\frac\pi2$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Equations involving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Complementary angles: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quadratic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Complementary angles: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$\cos^{-1}a+\cos^{-1}b=\frac\pi2$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forces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$b=\sqrt{1-a^2}$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 quadratic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case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dealt with at the end.)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holds when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middle term: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$\cos^{-1}(\sqrt6x)=\sin^{-1}\left(\sqrt{1-6x^2}\right)$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case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dealt with at the end.)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equation becomes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$\sin^{-1}\left(\sqrt{1-6x^2}\right)+\cos^{-1}\left(3\sqrt3x^2\right)=\frac\pi2$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$\sin^{-1}t+\cos^{-1}t=\frac\pi2$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this holds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$\sqrt{1-6x^2}=3\sqrt3x^2$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$1-6x^2=27x^4$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$27x^4+6x^2-1=0$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 the middle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$27x^4+9x^2-3x^2-1=0$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factor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Reject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exceeds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angles are complementary.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$9x^2(3x^2+1)-1(3x^2+1)=0$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$(9x^2-1)(3x^2+1)=0$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$x^2=\frac19\Rightarrow x=\pm\frac13$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factor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$3x^2+1=0$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possible.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Reject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$\cos^{-1}(\sqrt6x)&gt;\frac\pi2$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$\cos^{-1}(3\sqrt3x^2)\ge0$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sum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$\sqrt6x=\frac{\sqrt6}3$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$3\sqrt3x^2=\frac1{\sqrt3}$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$\frac23+\frac13=1$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angles are complementary.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is strictly decreasing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at most one root exists; guess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coefficients and verify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591056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left side is strictly decreasing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$x\ge0$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at most one root exists; guess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from the coefficients and verify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$\cos^2a+\cos^2b=1$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term exceeds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is non-negative, so no root: look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6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e>
                    </m:ra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increase, so both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decrease: the left side is strictly decreasing and the equation has at most one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008375"/>
                <a:ext cx="10725912" cy="3666744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Domain: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$|\sqrt6x|\le1$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$3\sqrt3x^2\le1$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$|x|\le\frac1{\sqrt6}$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first term exceeds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second is non-negative, so no root: look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$0\le x\le\frac1{\sqrt6}$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$\left[0,\frac1{\sqrt6}\right]$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$\sqrt6x$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$3\sqrt3x^2$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increase, so both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 decrease: the left side is strictly decreasing and the equation has at most one root.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27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coefficients suggest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27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lies in the domain,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strict monotonicity it is the only root: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$a=\cos^{-1}p$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$b=\cos^{-1}q$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$a+b=\frac\pi2\iff\cos b=\sin a\iff p^2+q^2=1$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$p^2+q^2=6x^2+27x^4$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coefficients suggest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$x^2=\frac19$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$\frac69+\frac{27}{81}=\frac23+\frac13=1$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(which lies in the domain,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$\frac13&lt;\frac1{\sqrt6}$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is a root.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By strict monotonicity it is the only root: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$x=\frac13$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(complementary angles).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functions that are all decreasing (or all increasing) is strictly monotonic, so the equation has at most one root: guess and prove uniqueness.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can add roots, so always return to the domain and sign conditions: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squared equation but not the original (the sum is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3.48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$a,b\in[0,1]$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$\cos^{-1}a+\cos^{-1}b=\frac\pi2\iff a^2+b^2=1$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(complementary angles).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$a=\frac{\sqrt6}3,\ b=\frac1{\sqrt3}$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$\frac23+\frac13=1$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functions that are all decreasing (or all increasing) is strictly monotonic, so the equation has at most one root: guess and prove uniqueness.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Squaring can add roots, so always return to the domain and sign conditions: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satisfies the squared equation but not the original (the sum is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$3.48\neq\frac\pi2$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Q02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number of ordered pairs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number of ordered pairs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$(x,y)$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which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$y=\cos^{-1}(\cos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$-2\pi\le x\le2\pi$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Graphs of inverse trigonometric functions and number of solutions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triangular wave through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away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contact happens only where both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$\cos^{-1}(\cos x)$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the triangular wave through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$(0,0),(\pi,\pi),(2\pi,0)$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$|\sin x|&lt;|x|$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away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contact happens only where both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zigzag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down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up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down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chain of arches of height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zeros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zigzag is the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arch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arch lies below the line: they meet only 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$y=\cos^{-1}(\cos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$-\pi\le x\le\pi$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$\pi\le x\le2\pi$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$2\pi+x$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$-2\pi\le x\le-\pi$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zigzag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$(-2\pi,0)$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$(-\pi,\pi)$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$(\pi,\pi)$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$(2\pi,0)$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chain of arches of height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zeros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$-2\pi,-\pi,0,\pi,2\pi$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zigzag is the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arch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$y=\sin 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x&lt;x$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arch lies below the line: they meet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zigzag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arch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again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curves are even functions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picture is the mirror image: the 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points are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zigzag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$y=2\pi-x$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$u=2\pi-x\in[0,\pi]$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arch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x|=\sin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again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$u=\sin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point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$(2\pi,0)$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Both curves are even functions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$[-2\pi,0]$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picture is the mirror image: the 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$(-2\pi,0)$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common points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$(-2\pi,0),\ (0,0),\ (2\pi,0)$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exactly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functions depend only 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nearest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they become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Both functions depend only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 distance from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 the nearest multiple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they become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 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$u\in[0,\pi]$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nearest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equations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therefore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only solution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nearest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x=\cos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 x)=u$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x|=\sin 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two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$y=|\sin 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$y=\cos^{-1}(\cos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therefore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u=u$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$t-\sin 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$1-\cos t\ge0$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t&lt;t$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only solution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$[-2\pi,2\pi]$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these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$x=-2\pi,0,2\pi$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each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ordered pairs.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$3$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-periodic triangular wave: it equals the distance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nearest multiple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intersections of a bounded arch with a line-like graph, look first at the common zeros and check tangency there, then use a size comparison such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t&lt;t$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x|\le|x|$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only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 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-periodic triangular wave: it equals the distance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nearest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 count intersections of a bounded arch with a line-like graph, look first at the common zeros and check tangency there, then use a size comparison such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t&lt;t$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Q03 – Q04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Prove / solve;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cot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$\cos\left(\tan^{-1}\left(\sin\left(\cot^{-1}x\right)\right)\right)=\sqrt{\frac{x^2+1}{x^2+2}}$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from the inside: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Work from the inside: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$\sin(\cot^{-1}x)=\frac1{\sqrt{1+x^2}}$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$\tan^{-1}t=\cos^{-1}\frac1{\sqrt{1+t^2}}$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writes this 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$\theta=\cot^{-1}x\in(0,\pi)$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$\cot\theta=x$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(true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$=\cos\left(\tan^{-1}\frac1{\sqrt{1+x^2}}\right)$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(The PDF writes this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$\cos\tan^{-1}\sin\sin^{-1}\frac1{\sqrt{1+x^2}}$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$\tan^{-1}t=\cos^{-1}\frac1{\sqrt{1+t^2}}$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$t=\frac1{\sqrt{1+x^2}}$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$1+t^2=\frac{x^2+2}{x^2+1}$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num>
                              <m:den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ra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the argument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the RHS. Hence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$\tan^{-1}\frac1{\sqrt{1+x^2}}=\cos^{-1}\sqrt{\frac{x^2+1}{x^2+2}}$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$=\cos\left(\cos^{-1}\sqrt{\frac{x^2+1}{x^2+2}}\right)=\sqrt{\frac{x^2+1}{x^2+2}}$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because the argument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This equals the RHS. Hence proved.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both sides equal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Proved: both sides equal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$\sqrt{\frac{x^2+1}{x^2+2}}$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each layer from a right-angled triangle: first angle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the angle whose tangent is its sine.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each layer from a right-angled triangle: first angle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then the angle whose tangent is its sine.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a right triangle with legs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(adjacent)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(opposite) for 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result depends only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Hypotenuse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a right triangle with opposite side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adjacent side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hypotenuse is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Take a right triangle with legs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(adjacent)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(opposite) for 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$\theta=\cot^{-1}x$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result depends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Hypotenuse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$\sin\theta=\frac1{\sqrt{x^2+1}}$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angle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$\varphi=\tan^{-1}(\sin\theta)$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$\tan\varphi=\frac{1}{\sqrt{x^2+1}}$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take a right triangle with opposite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adjacent 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$\sqrt{x^2+1}$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hypotenuse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$\sqrt{1+(x^2+1)}=\sqrt{x^2+2}$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𝑎𝑑𝑗𝑎𝑐𝑒𝑛𝑡</m:t>
                        </m:r>
                      </m:num>
                      <m:den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ℎ𝑦𝑝𝑜𝑡𝑒𝑛𝑢𝑠𝑒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rad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quantity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(it depends only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identity holds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Therefore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$\cos\varphi=\frac{\text{adjacent}}{\text{hypotenuse}}=\frac{\sqrt{x^2+1}}{\sqrt{x^2+2}}=\sqrt{\frac{x^2+1}{x^2+2}}$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quantity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$\sin\theta=\frac1{\sqrt{1+x^2}}$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unchanged (it depends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identity holds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both sides equal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800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ra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Proved: both sides equal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$\sqrt{\frac{x^2+1}{x^2+2}}$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𝑡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Nested compositions are best opened from the inside out; each layer adds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the root. The same method gives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cot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$\sin(\cot^{-1}x)=\frac1{\sqrt{1+x^2}}$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$\cos(\cot^{-1}x)=\frac x{\sqrt{1+x^2}}$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$\cot^{-1}(-1)=\frac{3\pi}4$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$\cos\frac{3\pi}4=-\frac1{\sqrt2}$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$\cos(\tan^{-1}t)=\frac1{\sqrt{1+t^2}}$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$\sin(\tan^{-1}t)=\frac t{\sqrt{1+t^2}}$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$\cos\frac\pi4=\frac1{\sqrt2}$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Nested compositions are best opened from the inside out; each layer adds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under the root. The same method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$\sin\left(\tan^{-1}\left(\sin\left(\cot^{-1}x\right)\right)\right)=\frac1{\sqrt{x^2+2}}$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π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4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&lt;</m:t>
                              </m:r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π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den>
                              </m:f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$\tan^{-1}\left(\frac12\tan2A\right)+\tan^{-1}(\cot A)+\tan^{-1}\left(\cot^3A\right)=\begin{cases}\pi,&amp;0&lt;A&lt;\frac\pi4\\0,&amp;\frac\pi4&lt;A&lt;\frac\pi2\end{cases}$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Sum of inverse tangents (domain-wise conditions)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first: it equals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plus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Combine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$\tan^{-1}\cot A+\tan^{-1}\cot^3A$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first: it equals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$\pm\tan^{-1}\left(\frac12\tan2A\right)$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plus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exactly when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$\cot^4A&gt;1$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both numbers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$=\tan^{-1}\left(\frac12\tan2A\right)+\tan^{-1}(\cot A)+\tan^{-1}\left(\cot^3A\right)$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$0&lt;A&lt;\frac\pi4$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A\cdot\cot^3A&gt;1$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both numbers positive.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$\tan^{-1}\cot A+\tan^{-1}\cot^3A=\pi+\tan^{-1}\frac{\cot A+\cot^3A}{1-\cot^4A}$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terms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𝐴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$\frac{\cot A\left(1+\cot^2A\right)}{\left(1-\cot^2A\right)\left(1+\cot^2A\right)}=\frac{\cot A}{1-\cot^2A}$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terms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$\frac{1/\tan A}{\left(\tan^2A-1\right)/\tan^2A}=\frac{\tan A}{\tan^2A-1}=\frac12\times\frac{-2\tan A}{1-\tan^2A}=-\frac12\tan2A$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$=\pi+\tan^{-1}\left(\frac12\tan2A\right)+\tan^{-1}\left(-\frac12\tan2A\right)=\pi+\tan^{-1}\left(\frac12\tan2A\right)-\tan^{-1}\left(\frac12\tan2A\right)=\pi$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Now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added: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same algebra.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$\frac\pi4&lt;A&lt;\frac\pi2$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 A\cdot\cot^3A&lt;1$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added: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$\tan^{-1}\cot A+\tan^{-1}\cot^3A=\tan^{-1}\frac{\cot A}{1-\cot^2A}=\tan^{-1}\left(-\frac12\tan2A\right)$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by the same algebra.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$=\tan^{-1}\left(\frac12\tan2A\right)-\tan^{-1}\left(\frac12\tan2A\right)=0$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$0&lt;A&lt;\frac\pi4$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$\frac\pi4&lt;A&lt;\frac\pi2$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of the three angles is the argument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product turns out to be real, so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of the three angles is the argument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$(1+ik)(1+ic)(1+ic^3)$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this product turns out to be real, so the sum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by the sign.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required sum; each term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arg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Imaginary part: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$c=\cot 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$k=\frac12\tan2A$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$\tan2A=\frac{2c}{c^2-1}$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$k=\frac{c}{c^2-1}$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required sum; each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$\arg(1+ik)$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$\arg(1+ic)$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$\arg\left(1+ic^3\right)$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values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$\Theta=\arg 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$Z=(1+ik)(1+ic)\left(1+ic^3\right)$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$(1+ic)\left(1+ic^3\right)=\left(1-c^4\right)+i\left(c+c^3\right)$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$(1+ik)$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Imaginary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$\left(1-c^4\right)k+c+c^3=\left(1-c^2\right)\left(1+c^2\right)\frac{c}{c^2-1}+c+c^3=-c\left(1+c^2\right)+c\left(1+c^2\right)=0$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real.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sign is the sign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three terms lie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𝑍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mod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part: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$\left(1-c^4\right)-k\left(c+c^3\right)=\left(1+c^2\right)\left[\left(1-c^2\right)+\frac{c^2}{1-c^2}\right]=\frac{\left(1+c^2\right)\left(1-c^2+c^4\right)}{1-c^2}$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whose sign is the sign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$1-c^2$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$1-c^2+c^4&gt;0$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$0&lt;A&lt;\frac\pi4$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$\Theta\equiv\pi\pmod{2\pi}$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all three terms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$\Theta\in\left(0,\frac{3\pi}2\right)$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$\frac\pi4&lt;A&lt;\frac\pi2$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$Z&gt;0$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$\Theta\equiv0\pmod{2\pi}$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$\tan2A&lt;0$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$\Theta\in\left(-\frac\pi2,\pi\right)$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$0&lt;A&lt;\frac\pi4$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for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$\frac\pi4&lt;A&lt;\frac\pi2$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no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2.214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inverse tangents is the argument of a 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that product is real the sum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fixed by its sign and the size of the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$\tan^{-1}a+\tan^{-1}b=\pi+\tan^{-1}\frac{a+b}{1-ab}$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there is no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$a=b=2$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$2.214=\pi+\tan^{-1}\left(-\frac43\right)$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$\tan2A=\frac{2\cot A}{\cot^2A-1}$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$\frac12\tan2A=\frac{\cot A}{\cot^2A-1}$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sum of inverse tangents is the argument of a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$\prod(1+ia_j)$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if that product is real 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fixed by its sign and the size of the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4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Q05 – Q07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𝑖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positive integral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sgn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sgn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signum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599436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$f(x)=\frac\pi4+\cos^{-1}\left(\frac x{\sqrt{1+x^2}}\right)-\tan^{-1}x$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$a_i\ (a_i&lt;a_{i+1},\ i=1,2,\dots,n)$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positive integral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$\operatorname{sgn}(f(x))=1$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$\operatorname{sgn}(y)$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signum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$\sum_{i=1}^{n}a_i^2$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08196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Simplification of inverse trigonometric functions, Signum function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$\cos^{-1}\frac x{\sqrt{1+x^2}}=\cot^{-1}x$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$f(x)=\frac{3\pi}4-2\tan^{-1}x$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decreasing.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sgn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 x{\sqrt{1+x^2}}=\cot^{-1}x$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$\cot^{-1}x\in(0,\pi)$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$\cos\left(\cot^{-1}x\right)=\frac x{\sqrt{1+x^2}}$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$f(x)=\frac\pi4+\cot^{-1}x-\tan^{-1}x=\frac\pi4+\frac\pi2-\tan^{-1}x-\tan^{-1}x=\frac{3\pi}4-2\tan^{-1}x$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$\operatorname{sgn}(f(x))=1\Rightarrow f(x)&gt;0$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$\frac{3\pi}4-2\tan^{-1}x&gt;0\Rightarrow\tan^{-1}x&lt;\frac{3\pi}8\Rightarrow x&lt;\tan\frac{3\pi}8=\sqrt2+1\approx2.414$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possible positive integral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  <m:e>
                        <m:sSub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e>
                          <m:sub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𝑖</m:t>
                            </m:r>
                          </m:sub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b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possible positive integral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$\sum_{i=1}^{n}a_i^2=\sum_{i=1}^{2}a_i^2=a_1^2+a_2^2=1+4=5$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 the tangent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lies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Avoid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$\tan\frac{3\pi}8$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take the tangent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lies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$\left(\frac\pi2,\pi\right)$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where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increasing.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is negative,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$f(x)=\frac{3\pi}4-2\tan^{-1}x$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$f(1)=\frac\pi4&gt;0$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included.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$2\tan^{-1}x\in\left(\frac\pi2,\pi\right)$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$f(x)&gt;0\iff2\tan^{-1}x&lt;\frac{3\pi}4\iff\tan\left(2\tan^{-1}x\right)&lt;\tan\frac{3\pi}4=-1$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$\tan\left(2\tan^{-1}x\right)=\frac{2x}{1-x^2}$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denominator is negative,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$\frac{2x}{1-x^2}&lt;-1\iff2x&gt;x^2-1\iff x^2-2x-1&lt;0\iff x&lt;1+\sqrt2$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(accepted);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(rejected).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b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Integers: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$4-4-1=-1&lt;0$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(accepted);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$9-6-1=2&gt;0$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(rejected).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$a_1=1$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$a_2=2$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a_i^2=1+4=5$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mixed expressions collapse to one function: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multiple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positive set is a ray.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values: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$\cos^{-1}\frac x{\sqrt{1+x^2}}=\cot^{-1}x$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$\sin^{-1}\frac x{\sqrt{1+x^2}}=\tan^{-1}x$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$\cos^{-1}\left(-\frac1{\sqrt2}\right)=\frac{3\pi}4=\cot^{-1}(-1)$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$\tan^{-1}x+\cot^{-1}x=\frac\pi2$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mixed expressions collapse to one function: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decreasing multiple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its positive set is a ray.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Useful values: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$\tan\frac\pi8=\sqrt2-1$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$\tan\frac{3\pi}8=\sqrt2+1$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$\tan\left(2\tan^{-1}x\right)=\frac{2x}{1-x^2}$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7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⋯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381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least value of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965452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$\tan\left(\tan^{-1}\frac13+\tan^{-1}\frac17+\tan^{-1}\frac1{13}+\cdots+\tan^{-1}\frac1{381}\right)=\frac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$m,n\in\mathbb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least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474212"/>
            <a:ext cx="10725912" cy="1603248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Telescoping sum of inverse tangents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disguise, so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$\frac1{1+k(k+1)}$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$\tan^{-1}(k+1)-\tan^{-1}k$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in disguise, so the sum telescopes.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381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each term as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terms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$\tan^{-1}\frac1{1+1\cdot2},\ \tan^{-1}\frac1{1+2\cdot3},\ \dots,\ \tan^{-1}\frac1{1+19\cdot20}$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$3=1+1\cdot2$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$7=1+2\cdot3$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$381=1+19\cdot20$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Write each term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$\tan^{-1}\frac{(k+1)-k}{1+k(k+1)}=\tan^{-1}(k+1)-\tan^{-1}k$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$\left(\tan^{-1}2-\tan^{-1}1\right)+\left(\tan^{-1}3-\tan^{-1}2\right)+\cdots+\left(\tan^{-1}20-\tan^{-1}19\right)=\tan^{-1}20-\tan^{-1}1$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no common factor, so any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least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b>
                        <m:r>
                          <m:rPr>
                            <m:nor/>
                          </m:r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𝑙𝑒𝑎𝑠𝑡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$\tan\left(\tan^{-1}20-\tan^{-1}1\right)=\frac{20-1}{1+20\cdot1}=\frac{19}{21}=\frac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have no common factor, so any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$(19t,21t)$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least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$n=21$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$(m+n)_{\text{least}}=40$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Prove by induction that the partial sum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only the addition formula for tangent.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Prove by induction that the partial sum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 S_k=\frac k{k+2}$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using only the addition formula for tangent.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𝑗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Claim: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Assume it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next term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𝑘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e>
                        </m: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$S_k=\sum_{j=1}^{k}\tan^{-1}\frac1{1+j(j+1)}$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Claim: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S_k=\frac k{k+2}$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True.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Assume it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next term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$\tan^{-1}\frac1{1+(k+1)(k+2)}=\tan^{-1}\frac1{k^2+3k+3}$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S_{k+1}=\frac{\frac k{k+2}+\frac1{k^2+3k+3}}{1-\frac k{k+2}\cdot\frac1{k^2+3k+3}}=\frac{k\left(k^2+3k+3\right)+(k+2)}{(k+2)\left(k^2+3k+3\right)-k}=\frac{k^3+3k^2+4k+2}{k^3+5k^2+8k+6}$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claim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$k^3+3k^2+4k+2=(k+1)\left(k^2+2k+2\right)$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$k^3+5k^2+8k+6=(k+3)\left(k^2+2k+2\right)$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S_{k+1}=\frac{k+1}{k+3}$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claim holds.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S_{19}=\frac{19}{21}$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giving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$(m,n)=(19,21)$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$m+n=40$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40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$40$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𝑏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(more generally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nary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Another telescoping family: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'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least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𝑚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questions reduce the fraction first; the least pair is the lowest-terms pair.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$\tan^{-1}\frac{b-a}{1+ab}=\tan^{-1}b-\tan^{-1}a$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$a,b\ge0$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(more generally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$ab&gt;-1$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$b=k+1,a=k$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$\tan^{-1}\frac1{1+k(k+1)}=\tan^{-1}(k+1)-\tan^{-1}k$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$\sum_{k=1}^{n}\tan^{-1}\frac1{1+k(k+1)}=\tan^{-1}\frac n{n+2}$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$n=19$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$\frac{19}{21}$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Another telescoping family: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$\tan^{-1}\frac2{k^2}=\tan^{-1}(k+1)-\tan^{-1}(k-1)$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$\tan^{-1}3-\tan^{-1}1=\tan^{-1}\frac12$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 '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mn$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least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$m+n$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' questions reduce the fraction first; the least pair is the lowest-terms pair.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$\sum_{n=0}^{\infty}2\cot^{-1}\left(\frac{n^2+n+4}2\right)=k\pi$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Infinite series of inverse trigonometric functions (telescoping)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4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term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Write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$\frac{2}{n^2+n+4}$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$\frac{d}{1+x(x+d)}$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$x=\frac n2,\ d=\frac12$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each term is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$\tan^{-1}\frac{n+1}2-\tan^{-1}\frac n2$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argument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(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𝑛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⋅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difference of the two numbers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$T_n=\cot^{-1}\frac{n^2+n+4}2=\tan^{-1}\frac2{n^2+n+4}$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argument is positive).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$\frac2{n^2+n+4}=\frac2{4\left(1+\frac{n(n+1)}4\right)}$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$=\frac{\frac12}{1+\frac n2\cdot\frac{n+1}2}$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$T_n=\tan^{-1}\frac{n+1}2-\tan^{-1}\frac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difference of the two numbers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partial sum is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$T_0=\tan^{-1}\frac12-\tan^{-1}0,\ \ T_1=\tan^{-1}\frac22-\tan^{-1}\frac12,\ \ T_2=\tan^{-1}\frac32-\tan^{-1}\frac22,\ \dots$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partial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$S_n=\tan^{-1}\frac{n+1}2-\tan^{-1}0=\tan^{-1}\frac{n+1}2$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$S_\infty=\frac\pi2-0=\frac\pi2$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$2S_\infty=\pi=k\pi$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Geometry: from a 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unit above the origin, the segments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subtend angles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tile a right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Geometry: from a 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unit above the origin, the segments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$\left[\frac n2,\frac{n+1}2\right]$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of the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-axis subtend angles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that tile a right angle.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angle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vertical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∠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tangent difference as in the primary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$Q=(0,1)$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$A_n=\left(\frac n2,0\right)$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angle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vertical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$QA_0$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$\angle A_nQA_{n+1}=\tan^{-1}\frac{n+1}2-\tan^{-1}\frac n2$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$T_n=\tan^{-1}\frac2{n^2+n+4}$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same tangent difference as in the primary solution).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angles are adjacent and fill the angle from the vertical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towards the ray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𝑁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𝑄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 to the horizontal direction, so the total angle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These angles are adjacent and fill the angle from the vertical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$QA_0$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towards the ray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$QA_N$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tends to the horizontal direction, so the total angle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 T_n=\frac\pi2$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$2\cdot\frac\pi2=\pi=k\pi$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telescoping series whose partial sum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infinite sum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limit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Numerically </a:t>
                </a: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×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6</m:t>
                            </m:r>
                          </m:sup>
                        </m:sSup>
                      </m: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nary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/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0.99999936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 d{1+x(x+d)}=\tan^{-1}(x+d)-\tan^{-1}x$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$x\ge0,\ d&gt;0$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 n2,\ d=\frac12$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$\frac2{0+0+4}=\frac12$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$\cot^{-1}y=\tan^{-1}\frac1y$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); here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$y=\frac{n^2+n+4}2&gt;0$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telescoping series whose partial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$\tan^{-1}u_n$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 infinite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of the limit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$u_n\to\infty$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Numerically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$\sum_{n=0}^{2\times10^6}2T_n/\pi=0.99999936$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4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5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Q08 – Q09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Multi-part / find / express;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)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α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β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γ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.\n(i) If the range of the quadratic trinomial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.\n(ii)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.\n(iii) Find the range of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𝐴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$\alpha,\beta,\gamma$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$x^3+6x+3=0$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$A=\cos^{-1}\left(\sin\left((\alpha+\beta)^{-1}+(\beta+\gamma)^{-1}+(\gamma+\alpha)^{-1}\right)\right)$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$B=\cos\left(\tan^{-1}\left(\sin\frac{\alpha+\beta+\gamma}2\right)\right)$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$C=\sec^{-1}\left(\operatorname{cosec}\left((1-\alpha)(1-\beta)(1-\gamma)\right)\right)$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.\n(i) If the range of the quadratic trinomial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$g(x)=x^2-2Bx+k$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.\n(ii)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$5A+B-C$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.\n(iii) Find the range of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$f(x)=\frac{(5A-C)x^5+6Bx^2}{x^4+(B-1)x^3+1}$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80051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Principal values and compositions of inverse trigonometric functions, Relations between roots and coefficients; range of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Vieta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(principal values after reducing the angles),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Vieta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$A=2-\frac\pi2$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$C=10-\frac{5\pi}2$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(principal values after reducing the angles),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$5A-C=0$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$f=\frac{6x^2}{x^4+1}$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γ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use evenness: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0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$x^3+6x+3=0$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$\alpha+\beta+\gamma=0$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$\alpha\beta+\beta\gamma+\gamma\alpha=6$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$\alpha\beta\gamma=-3$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$(\alpha+\beta)^{-1}+(\beta+\gamma)^{-1}+(\gamma+\alpha)^{-1}=-\left(\frac1\gamma+\frac1\alpha+\frac1\beta\right)=-\frac{\alpha\beta+\beta\gamma+\gamma\alpha}{\alpha\beta\gamma}=-\frac6{-3}=2$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$A=\cos^{-1}(\sin2)=\cos^{-1}\left[\cos\left(\frac\pi2-2\right)\right]$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$\frac\pi2-2&lt;0$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use evenness: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$\cos\left(\frac\pi2-2\right)=\cos\left(2-\frac\pi2\right)$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$2-\frac\pi2\in[0,\pi]$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$A=2-\frac\pi2$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$B=\cos\left[\tan^{-1}\left(\sin\frac{0}{2}\right)\right]=\cos\left[\tan^{-1}(\sin0)\right]=\cos\left[\tan^{-1}0\right]=\cos0=1$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10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Now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8.43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2.146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minimum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𝐷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range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$x^3+6x+3=(x-\alpha)(x-\beta)(x-\gamma)$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$1+6+3=(1-\alpha)(1-\beta)(1-\gamma)=10$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$C=\sec^{-1}(\operatorname{cosec}10)=\sec^{-1}\left(\sec\left(10-\frac\pi2\right)\right)$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Now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$10-\frac\pi2\approx8.43$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outside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$10-\frac\pi2-2\pi=10-\frac{5\pi}2\approx2.146\in[0,\pi]$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$C=10-\frac{5\pi}2$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$g(x)=x^2-2x+k=(x-1)^2+k-1$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minimum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 D{4a}=\frac{4k-4}4=k-1=0$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$5A+B-C=5\left(2-\frac\pi2\right)+1-\left(10-\frac{5\pi}2\right)=10-\frac{5\pi}2+1-10+\frac{5\pi}2=1$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quadratic in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 need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(3). Union of (2) and (3):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 Intersect with (1):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$5A-C=\left(10-\frac{5\pi}2\right)-\left(10-\frac{5\pi}2\right)=0$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$f(x)=\frac{6x^2}{x^4+1}$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$y=\frac{6x^2}{x^4+1}\ge0$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$yx^4-6x^2+y=0$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quadratic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real roots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$D=36-4y^2\ge0$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$(y-3)(y+3)\le0$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$y\in[-3,3]\setminus\{0\}$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 (3). Union of (2) and (3):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$y\in[-3,3]$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(4). Intersect with (1):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$y\in[0,3]$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(iii)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$\{1\}$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(iii)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$[0,3]$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𝐴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AM-GM 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range.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$\cos^{-1}t=\frac\pi2-\sin^{-1}t$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$\sin^{-1}(\sin t)=(-1)^k(t-k\pi)$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AM-GM on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$x^2+\frac1{x^2}$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the range.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parts (i), (ii) follow as in the primary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𝐴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$A=\cos^{-1}(\sin2)=\frac\pi2-\sin^{-1}(\sin2)$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$2\in\left[\frac\pi2,\frac{3\pi}2\right]$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$\sin^{-1}(\sin2)=\pi-2$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$A=\frac\pi2-\pi+2=2-\frac\pi2$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$C=\sec^{-1}(\operatorname{cosec}10)=\cos^{-1}(\sin10)=\frac\pi2-\sin^{-1}(\sin10)$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$\sin10=\sin(3\pi-10)$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$3\pi-10\approx-0.575\in\left[-\frac\pi2,\frac\pi2\right]$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$\sin^{-1}(\sin10)=3\pi-10$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$C=\frac\pi2-3\pi+10=10-\frac{5\pi}2$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$5A-C=10-\frac{5\pi}2-10+\frac{5\pi}2=0$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parts (i), (ii) follow as in the primary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$5A+B-C=1$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den>
                        </m:f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expression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(iii)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$f(x)=\frac{6x^2}{x^4+1}$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$f(x)=\frac6{x^2+\frac1{x^2}}$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$x^2+\frac1{x^2}\ge2$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equality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$0&lt;f(x)\le3$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expression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$x^2+\frac1{x^2}$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and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takes every value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(ii)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(iii)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$\{1\}$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(iii)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$[0,3]$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depressed cubic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γ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γ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monic cubic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𝑎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(AM-GM), so its range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𝑎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𝑐</m:t>
                                </m:r>
                              </m:e>
                            </m:ra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𝐵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vertex value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𝐵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 t)=(-1)^k(t-k\pi)$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$t\in\left[k\pi-\frac\pi2,k\pi+\frac\pi2\right]$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$3\pi-10$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a depressed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$x^3+px+q=0$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$\alpha+\beta=-\gamma$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etc.,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$\sum\frac1{\alpha+\beta}=-\sum\frac1\gamma=-\frac{p}{-q}=\frac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$\frac63=2$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$\prod(1-\alpha_i)=P(1)$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 monic cubic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$\frac{ax^2}{x^4+c}$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$a,c&gt;0$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a{x^2+c/x^2}\le\frac a{2\sqrt c}$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(AM-GM), so its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 a{2\sqrt c}\right]$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$a=6,c=1$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maximum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$x^2-2Bx+k$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means the vertex value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$k-B^2$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express the function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form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11785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$x\in\left[-1,-\frac12\right]$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express the function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$f(x)=\sin^{-1}\left(3x-4x^3\right)+\cos^{-1}\left(4x^3-3x\right)$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 the form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$a\cos^{-1}x+b\pi$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rational numbers.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identities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given interval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626611"/>
                <a:ext cx="10725912" cy="19751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Subjective Type(4 Marks)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Concept(s) : Inverse trigonometric identities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$3x-4x^3$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 given interval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2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Difficulty Level: Level 3(Average JEE Advanced Level)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$\theta=\cos^{-1}x\in\left[\frac{2\pi}3,\pi\right]$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$4x^3-3x=\cos3\theta$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$3\theta\in[2\pi,3\pi]$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$\cos^{-1}(\cos3\theta)=3\theta-2\pi$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function).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$\sin^{-1}\left(3x-4x^3\right)=-\sin^{-1}\left(4x^3-3x\right)$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(odd function).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$-\sin^{-1}\left(4x^3-3x\right)=-\left(\frac\pi2-\cos^{-1}\left(4x^3-3x\right)\right)=-\frac\pi2+\cos^{-1}\left(4x^3-3x\right)$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$f(x)=-\frac\pi2+2\cos^{-1}\left(4x^3-3x\right)$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$x\in\left[-1,-\frac12\right]$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$\theta\in\left[\frac{2\pi}3,\pi\right]$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$4x^3-3x=\cos3\theta$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5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$3\theta\in[2\pi,3\pi]$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$3\theta-2\pi\in[0,\pi]$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$\cos(3\theta-2\pi)=\cos3\theta$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$\cos^{-1}(\cos3\theta)=3\theta-2\pi$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$f=-\frac\pi2+2(3\theta-2\pi)=-\frac\pi2+6\theta-4\pi=6\theta-\frac{9\pi}2$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$f(x)=6\cos^{-1}x-\frac{9\pi}2$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$f(x)=6\cos^{-1}x-\frac{9\pi}2$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$b=-\frac92$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interval,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end-point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Differentiate: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$f'(x)=-\frac6{\sqrt{1-x^2}}$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on the interval,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$f=6\cos^{-1}x+C$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fix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at the end-point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before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$f(x)=-\frac\pi2+2\cos^{-1}\left(4x^3-3x\right)$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$x=\cos\theta$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$\theta\in\left[\frac{2\pi}3,\pi\right)$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$\sqrt{1-\left(4x^3-3x\right)^2}=|\sin3\theta|=\sin3\theta$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$3\theta\in[2\pi,3\pi]$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$\sin3\theta=\sin\theta\left(4x^2-1\right)=\sqrt{1-x^2}\left(4x^2-1\right)$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d{dx}\cos^{-1}\left(4x^3-3x\right)=-\frac{12x^2-3}{\sqrt{1-x^2}\left(4x^2-1\right)}=-\frac3{\sqrt{1-x^2}}$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𝑑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(continuity extends it to the closed interval):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$f'(x)=-\frac6{\sqrt{1-x^2}}=\frac d{dx}\left(6\cos^{-1}x\right)$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$\left(-1,-\frac12\right)$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$f(x)=6\cos^{-1}x+C$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$f(-1)=\sin^{-1}(1)+\cos^{-1}(-1)=\frac\pi2+\pi=\frac{3\pi}2$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$6\cos^{-1}(-1)=6\pi$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$C=\frac{3\pi}2-6\pi=-\frac{9\pi}2$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$f(x)=6\cos^{-1}x-\frac{9\pi}2$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(continuity extends it to the closed interval):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$b=-\frac92$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6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$f(x)=6\cos^{-1}x-\frac{9\pi}2$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so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$a=6$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,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$b=-\frac92$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09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outside it add or subtract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flip the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𝑔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 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fix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one point, usually an end-point. This avoids branch bookkeeping.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$\cos^{-1}\left(4x^3-3x\right)=3\cos^{-1}x$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$x\in\left[\frac12,1\right]$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$=2\pi-3\cos^{-1}x$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$x\in\left[-\frac12,\frac12\right]$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$=3\cos^{-1}x-2\pi$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$x\in\left[-1,-\frac12\right]$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$\frac\pi2=2\pi-\frac{3\pi}2$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$\pi=3\pi-2\pi$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$\sin^{-1}\left(3x-4x^3\right)=3\sin^{-1}x$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$\left[-\frac12,\frac12\right]$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outside it add or subtract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flip the sign.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$f'=c\,g'$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an interval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$f=c\,g+C$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fix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one point, usually an end-point. This avoids branch bookkeeping.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Numerical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Q10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Numerical value answer; complete solution (no alternate: see report)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28619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the equation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$x^2-4x+1=0\ (\alpha&gt;\beta)$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find 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$f(\alpha,\beta)=\frac{\beta^3}2\operatorname{cosec}^2\left(\frac12\tan^{-1}\frac\beta\alpha\right)+\frac{\alpha^3}2\sec^2\left(\frac12\tan^{-1}\frac\alpha\beta\right)$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3738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Numerical Type 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Half-angle formulae with inverse tangent, Relations between roots and coefficients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6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the half-angle squares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∓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rationalise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surds cancel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Turn the half-angle squares into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$\frac2{1\mp\cos\theta}$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rationalise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$\alpha^2+\beta^2=14$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the surds cancel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$14(\alpha+\beta)$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First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$\alpha+\beta=4$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$x=\frac{4\pm\sqrt{16-4}}2=2\pm\sqrt3$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$\alpha=2+\sqrt3$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$\beta=2-\sqrt3$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$\alpha^2+\beta^2=(\alpha+\beta)^2-2\alpha\beta=14$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Write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$c=\sqrt{14}$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$\theta=\tan^{-1}\frac\beta\alpha\in\left(0,\frac\pi2\right)$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$\cos\theta=\frac\alpha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$\sin\theta=\frac\beta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$\operatorname{cosec}^2\frac\theta2=\frac2{1-\cos\theta}=\frac{2c}{c-\alpha}$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First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$\frac{\beta^3}2\cdot\frac{2c}{c-\alpha}=\frac{\beta^3c}{c-\alpha}$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β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φ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term: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with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14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$c^2-\alpha^2=\beta^2$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$\frac{\beta^3c(c+\alpha)}{\beta^2}=\beta c(c+\alpha)=\beta\left(14+\alpha c\right)=14\beta+c$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(using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$\alpha\beta=1$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$\varphi=\tan^{-1}\frac\alpha\beta=\frac\pi2-\theta$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$\cos\varphi=\frac\beta 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$\sec^2\frac\varphi2=\frac2{1+\cos\varphi}=\frac{2c}{c+\beta}$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Second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$\frac{\alpha^3c}{c+\beta}$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Rationalise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$c^2-\beta^2=\alpha^2$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$\frac{\alpha^3c(c-\beta)}{\alpha^2}=\alpha c(c-\beta)=\alpha\left(14-\beta c\right)=14\alpha-c$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$f(\alpha,\beta)=(14\beta+c)+(14\alpha-c)=14(\alpha+\beta)=14\times4=56$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56</m:t>
                    </m:r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$56$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10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θ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𝑝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𝑞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angles in the question are complementary.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𝑐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α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uses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α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β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pairing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α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β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surd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 between the two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$\operatorname{cosec}^2\frac\theta2=\frac2{1-\cos\theta}$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$\sec^2\frac\theta2=\frac2{1+\cos\theta}$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$\operatorname{cosec}^2\frac\pi4=2$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$p,q&gt;0$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$\theta=\tan^{-1}\frac pq$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$\cos\theta=\frac q{\sqrt{p^2+q^2}}$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$\sin\theta=\frac p{\sqrt{p^2+q^2}}$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 pq+\tan^{-1}\frac qp=\frac\pi2$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two angles in the question are complementary.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Rationalising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$\frac1{c-\alpha}=\frac{c+\alpha}{c^2-\alpha^2}$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$c^2-\alpha^2=\beta^2$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$c^2=\alpha^2+\beta^2$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the pairing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$\alpha$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$\beta$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surd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cancel between the two terms.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6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7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Subjective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Q11 – Q13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4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Find / solve inequalities / prove; complete solution with alternate method and result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6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integral values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equations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arccos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arcsin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arcsin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arccos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possesses solutions, and find those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22758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Find the integral values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the system of equations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$\arccos x+(\arcsin y)^2=\frac{K\pi^2}4$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$(\arcsin y)^2\cdot\arccos x=\frac{\pi^4}{16}$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possesses solutions, and find those solutions.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736339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Range of inverse trigonometric functions, Quadratic equation: roots and discriminant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and product make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two roots of one quadratic; the principal ranges then cut the integers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sum and product make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$(\sin^{-1}y)^2$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the two roots of one quadratic; the principal ranges then cut the integers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system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roots: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𝐾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roots are positive (product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$\cos^{-1}x=p\in[0,\pi]$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$\sin^{-1}y=q\in\left[-\frac\pi2,\frac\pi2\right]$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system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$p+q^2=\frac{K\pi^2}4$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$p\cdot q^2=\frac{\pi^4}{16}$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$t^2-\frac{K\pi^2}4t+\frac{\pi^4}{16}=0$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$t^2-\frac{K\pi^2}4t+\left(\frac{\pi^2}4\right)^2=0$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Real roots: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$D=\frac{K^2\pi^4}{16}-\frac{\pi^4}4\ge0\Rightarrow K^2\ge4$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roots are positive (product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$=\frac{K\pi^2}4$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7.40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5.61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impossible. 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𝑡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sup>
                                </m:sSup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4</m:t>
                                </m:r>
                              </m:den>
                            </m:f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fit their ranges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2.47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 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Ranges: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$q^2\le\frac{\pi^2}4$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$p+q^2\le\pi+\frac{\pi^2}4\approx5.61$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$\frac{K\pi^2}4\ge\frac{3\pi^2}4\approx7.40&gt;5.61$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impossible. 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$t^2-\frac{\pi^2}2t+\frac{\pi^4}{16}=\left(t-\frac{\pi^2}4\right)^2=0$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$p=q^2=\frac{\pi^2}4$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Both fit their ranges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$\frac{\pi^2}4\approx2.47\le\pi$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$\cos^{-1}x=\frac{\pi^2}4\Rightarrow x=\cos\frac{\pi^2}4$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$q^2=\frac{\pi^2}4\Rightarrow\sin^{-1}y=\pm\frac\pi2\Rightarrow y=\sin\left(\pm\frac\pi2\right)=\pm1$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Solutions: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$\left(\cos\frac{\pi^2}4,\,1\right)$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$\left(\cos\frac{\pi^2}4,\,-1\right)$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solutions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solutions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$\left(\cos\frac{\pi^2}4,1\right)$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$\left(\cos\frac{\pi^2}4,-1\right)$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eliminating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𝑞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using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2.058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contains only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AM-GM gives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eliminating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$p=\frac{\pi^4}{16q^2}$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using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$p\le\pi$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shows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$K\in\left[2,\frac\pi4+\frac4\pi\right]\approx[2,2.058]$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which contains only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𝑝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227832"/>
                <a:ext cx="10725912" cy="344728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$u=q^2=(\sin^{-1}y)^2$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$pu=\frac{\pi^4}{16}$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$p+u=\frac{K\pi^2}4$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AM-GM: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$p+u\ge2\sqrt{pu}=2\cdot\frac{\pi^2}4=\frac{\pi^2}2$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$\frac{K\pi^2}4\ge\frac{\pi^2}2$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$K\ge2$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equality iff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Eliminate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$p=\frac{\pi^4}{16u}$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conditions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$p\le\pi$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$u\le\frac{\pi^2}4$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$u\in\left[\frac{\pi^3}{16},\frac{\pi^2}4\right]$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𝐾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𝑢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𝑢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16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3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16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2.058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2.058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only integer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in the primary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$\frac{K\pi^2}4=u+\frac{\pi^4}{16u}$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$u\le\frac{\pi^2}4$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(derivative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$1-\frac{\pi^4}{16u^2}\le0$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$u=\frac{\pi^3}{16}$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 gives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$K=\frac4{\pi^2}\left(\frac{\pi^3}{16}+\pi\right)=\frac\pi4+\frac4\pi\approx2.058$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$K\in[2,2.058]$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only integer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attained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$u=\frac{\pi^2}4$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$\sin^{-1}y=\pm\frac\pi2$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$\cos^{-1}x=\frac{\pi^2}4$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as in the primary solution.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𝐾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solutions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$K=2$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; solutions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$\left(\cos\frac{\pi^2}4,1\right)$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and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$\left(\cos\frac{\pi^2}4,-1\right)$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11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unknown quantities with given sum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real roots need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𝑃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AM-GM in disguise).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bound inverse-trig variables by their principal ranges: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bounds decide which integer parameter values survive.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perfect-square quadratic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means a repeated root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𝑝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𝑞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both ranges, so it is attainable.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Two unknown quantities with given sum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product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the roots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$t^2-st+P=0$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real roots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$s^2\ge4P$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(this is AM-GM in disguise).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Always bound inverse-trig variables by their principal ranges: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$\cos^{-1}x\in[0,\pi]$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$\sin^{-1}y\in\left[-\frac\pi2,\frac\pi2\right]$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$(\sin^{-1}y)^2\in\left[0,\frac{\pi^2}4\right]$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these bounds decide which integer parameter values survive.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perfect-square quadratic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means a repeated root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$p=q^2$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$\frac{\pi^2}4$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inside both ranges, so it is attainable.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following inequalities:\n(a)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\n(c)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373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Solve the following inequalities:\n(a)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$\left(\cot^{-1}x\right)^2-5\cot^{-1}x+6&gt;0$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$\sin^{-1}x&gt;\cos^{-1}x$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\n(c)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$\tan^2\left(\sin^{-1}x\right)&gt;1$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324612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Inequalities involving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7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731520" y="1280160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Solve in the inverse-function variable first, intersect with its principal range, then pull back through the monotone function.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Factor: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the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graphs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(increasing)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(decreasing) cross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both equal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$\left(\cot^{-1}x-2\right)\left(\cot^{-1}x-3\right)&gt;0$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$\cot^{-1}x&gt;3$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the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this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$\cot^{-1}x\in(0,2)\cup(3,\pi)$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decreasing,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$\cot^{-1}x&lt;2\iff x&gt;\cot2$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$\cot^{-1}x&gt;3\iff x&lt;\cot3$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$x\in(-\infty,\cot3)\cup(\cot2,\infty)$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graphs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(increasing)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(decreasing) cross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where both equal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right of the crossing: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above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the right of the crossing: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$x\in\left(\frac1{\sqrt2},1\right]$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$\theta=\sin^{-1}x\in\left[-\frac\pi2,\frac\pi2\right]$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$\tan^2\theta&gt;1$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$\theta\in\left(-\frac\pi2,-\frac\pi4\right)\cup\left(\frac\pi4,\frac\pi2\right)$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$\theta=\pm\frac\pi2$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excluded,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undefined there).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$x=\sin\theta$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$x\in\left(-1,-\frac1{\sqrt2}\right)\cup\left(\frac1{\sqrt2},1\right)$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$(-\infty,\cot3)\cup(\cot2,\infty)$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$\left(\frac{\sqrt2}2,1\right]$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$\left(-1,-\frac{\sqrt2}2\right)\cup\left(\frac{\sqrt2}2,1\right)$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the graphs by algebra: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(b)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(c).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3289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Replace the graphs by algebra: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$\cos^{-1}x=\frac\pi2-\sin^{-1}x$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(b)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$\tan^2\left(\sin^{-1}x\right)=\frac{x^2}{1-x^2}$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for (c).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means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θ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746248"/>
                <a:ext cx="10725912" cy="39288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$\cos^{-1}x=\frac\pi2-\sin^{-1}x$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$\sin^{-1}x&gt;\cos^{-1}x\iff2\sin^{-1}x&gt;\frac\pi2\iff\sin^{-1}x&gt;\frac\pi4$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this means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$x&gt;\sin\frac\pi4=\frac1{\sqrt2}$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$\left(\frac1{\sqrt2},1\right]$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$\sin\theta=x$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$\cos\theta=\sqrt{1-x^2}&gt;0$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$\tan^2\theta=\frac{x^2}{1-x^2}$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7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denominator is positive)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with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undefined):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ad>
                              <m:radPr>
                                <m:degHide m:val="on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$\frac{x^2}{1-x^2}&gt;1\iff x^2&gt;1-x^2$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(the denominator is positive)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$\iff x^2&gt;\frac12\iff|x|&gt;\frac1{\sqrt2}$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Together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undefined):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$\left(-1,-\frac1{\sqrt2}\right)\cup\left(\frac1{\sqrt2},1\right)$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(b)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ad>
                              <m:radPr>
                                <m:degHide m:val="on"/>
                                <m:ctrlP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radPr>
                              <m:deg/>
                              <m:e>
                                <m:r>
                                  <a:rPr lang="en-IN" sz="2800" i="1">
                                    <a:solidFill>
                                      <a:srgbClr val="15803D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e>
                            </m:rad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$(-\infty,\cot3)\cup(\cot2,\infty)$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$\left(\frac{\sqrt2}2,1\right]$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$\left(-1,-\frac{\sqrt2}2\right)\cup\left(\frac{\sqrt2}2,1\right)$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12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mixed inequality into one on a single function: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0.6435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0.75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0.6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0.8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in an inverse function: factor, then intersect with its range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inverting. Inverting through a decreasing function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flips the inequality.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$\sin^{-1}x+\cos^{-1}x=\frac\pi2$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turns a mixed inequality into one on a single function: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$\sin^{-1}x&gt;\cos^{-1}x\iff x&gt;\frac1{\sqrt2}$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$\sin^{-1}x&lt;\cos^{-1}x\iff x&lt;\frac1{\sqrt2}$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$\tan\left(\sin^{-1}x\right)=\frac x{\sqrt{1-x^2}}$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$\tan\left(\cos^{-1}x\right)=\frac{\sqrt{1-x^2}}x$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$x=0.6$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$\tan(0.6435)=0.75=\frac{0.6}{0.8}$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quadratic in an inverse function: factor, then intersect with its range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$(0,\pi)$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before inverting. Inverting through a decreasing function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flips the inequality.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Solve the inequality: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6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.\n(b) If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prove that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.\n(c) Solve the following system of inequalities: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tan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971291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Solve the inequality: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$(\sec^{-1}x)^2-6\sec^{-1}x+8&gt;0$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.\n(b)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$\sin^2x+\sin^2y&lt;1$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$x,y\in\mathbb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prove that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$\sin^{-1}(\tan x\cdot\tan y)\in\left(-\frac\pi2,\frac\pi2\right)$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.\n(c) Solve the following system of inequalities: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$4\left(\tan^{-1}x\right)^2-8\tan^{-1}x+3&lt;0$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$4\cot^{-1}x-\left(\cot^{-1}x\right)^2-3\ge0$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480051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Subjective Type(4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Inequalities involving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8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each quadratic in the inverse function, intersect with its principal range; for (b) multiply the two ratios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each quadratic in the inverse function, intersect with its principal range; for (b) multiply the two ratios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$\frac{\sin^2x}{\cos^2y}&lt;1$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$\frac{\sin^2y}{\cos^2x}&lt;1$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sec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impossible. We need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 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2.40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Solution: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$\left(\sec^{-1}x-2\right)\left(\sec^{-1}x-4\right)&gt;0$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$\sec^{-1}x&gt;4$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range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$\left[0,\frac\pi2\right)\cup\left(\frac\pi2,\pi\right]$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$\pi&lt;4$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$\sec^{-1}x&gt;4$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impossible. We need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$\sec^{-1}x\in\left[0,\frac\pi2\right)\cup\left(\frac\pi2,2\right)$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$\sec^{-1}x\in\left[0,\frac\pi2\right)\iff x\ge1$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$\sec^{-1}x\in\left(\frac\pi2,2\right)\iff x&lt;\sec2\ (\approx-2.40)$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Solution: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$x\in(-\infty,\sec2)\cup[1,\infty)$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 (Here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defined, so the cosines are non-zero.)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(1) and (2):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with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First inequality: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sSup>
                      <m:e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cot</m:t>
                                </m:r>
                              </m:e>
                              <m:sup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1</m:t>
                                </m:r>
                              </m:sup>
                            </m:s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</m:d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$\sin^2x&lt;1-\sin^2y=\cos^2y$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$\frac{\sin^2x}{\cos^2y}&lt;1$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 (Here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x,\tan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defined, so the cosines are non-zero.)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Similarly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$\frac{\sin^2y}{\cos^2x}&lt;1$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Multiply (1) and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$\tan^2x\cdot\tan^2y&lt;1$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$-1&lt;\tan x\tan 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increasing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$\sin^{-1}(\pm1)=\pm\frac\pi2$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$-\frac\pi2&lt;\sin^{-1}(\tan x\tan y)&lt;\frac\pi2$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First inequality: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$(2\tan^{-1}x-1)(2\tan^{-1}x-3)&lt;0\Rightarrow\tan^{-1}x\in\left(\frac12,\frac32\right)\Rightarrow x\in\left(\tan\frac12,\tan\frac32\right)$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(1).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$\left(\cot^{-1}x\right)^2-4\cot^{-1}x+3\le0\Rightarrow\left(\cot^{-1}x-1\right)\left(\cot^{-1}x-3\right)\le0\Rightarrow\cot^{-1}x\in[1,3]\Rightarrow x\in[\cot3,\cot1]$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∩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0.546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cot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0.642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(1)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$\cap$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(2):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$\tan\frac12\approx0.546&lt;\cot1\approx0.642$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$x\in\left(\tan\frac12,\cot1\right]$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(b) proved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$(-\infty,\sec2)\cup[1,\infty)$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(b) proved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$\left(\tan\frac12,\cot1\right]$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(b) use the exact identity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(c) convert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everything is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700784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For (b) use the exact identity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$1-\tan^2x\tan^2y=\frac{1-\sin^2x-\sin^2y}{\cos^2x\cos^2y}$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; for (c) convert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$\cot^{-1}x=\frac\pi2-\tan^{-1}x$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so everything is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$t=\tan^{-1}x$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hypothesis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numerator positive, so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3118103"/>
                <a:ext cx="10725912" cy="3557016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 x\cos y\neq0$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$1-\tan^2x\tan^2y=\frac{\cos^2x\cos^2y-\sin^2x\sin^2y}{\cos^2x\cos^2y}$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Numerator: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$(1-\sin^2x)(1-\sin^2y)-\sin^2x\sin^2y=1-\sin^2x-\sin^2y$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hypothesis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$\sin^2x+\sin^2y&lt;1$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makes the numerator positive,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$\tan^2x\tan^2y&lt;1$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$|\tan x\tan y|&lt;1$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$\sin^{-1}(\tan x\tan y)\in\left(-\frac\pi2,\frac\pi2\right)$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Put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First: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𝑡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8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(non-empty because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f>
                              <m:fPr>
                                <m:type m:val="bar"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fPr>
                              <m:num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π</m:t>
                                </m:r>
                              </m:num>
                              <m:den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den>
                            </m:f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e>
                        </m:d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Put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$t=\tan^{-1}x\in\left(-\frac\pi2,\frac\pi2\right)$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$s=\cot^{-1}x=\frac\pi2-t$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First: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$4t^2-8t+3&lt;0\Rightarrow t\in\left(\frac12,\frac32\right)$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Second: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$s^2-4s+3\le0\Rightarrow s\in[1,3]\Rightarrow t\in\left[\frac\pi2-3,\frac\pi2-1\right]$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Intersection: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$t\in\left(\frac12,\frac\pi2-1\right]$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(non-empty because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$\frac\pi2-1&gt;\frac12\iff\pi&gt;3$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$x\in\left(\tan\frac12,\tan\left(\frac\pi2-1\right)\right]=\left(\tan\frac12,\cot1\right]$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(b) proved (c)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  <m:f>
                          <m:fPr>
                            <m:type m:val="bar"/>
                            <m:ctrlP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800" i="1">
                                <a:solidFill>
                                  <a:srgbClr val="15803D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6" name="Rounded Rectangle 5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(a)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$(-\infty,\sec2)\cup[1,\infty)$</a:t>
                </a: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 (b) proved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$\left(\tan\frac12,\cot1\right]$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13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4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via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num>
                      <m:den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𝑦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0.4596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20.5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20.5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0.089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⇔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∪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1.91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in it,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any system with both functions into one variable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the end-points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rather than their tangents.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When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 x,\tan 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exist: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$\sin^2x+\sin^2y&lt;1\iff|\tan x\tan y|&lt;1$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via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$1-\tan^2x\tan^2y=\frac{1-\sin^2x-\sin^2y}{\cos^2x\cos^2y}$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$x=y=0.5$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LHS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$0.4596&lt;1$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$\tan^20.5\cdot\tan^20.5=0.089&lt;1$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$\sec^{-1}x\in\left[0,\frac\pi2\right)\cup\left(\frac\pi2,\pi\right]$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$c\in\left(\frac\pi2,\pi\right)$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$\sec^{-1}x&lt;c\iff x\in(-\infty,\sec c)\cup[1,\infty)$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$\sec^{-1}(-3)=1.91&lt;2$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lies in it,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$x=-2$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does not.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$\cot^{-1}x=\frac\pi2-\tan^{-1}x$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converts any system with both functions into one variable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$t=\tan^{-1}x$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compare the end-points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against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rather than their tangents.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8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8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Paragraph Based Single Correct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Q14 – Q16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One paragraph (Q14-16); single correct option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8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16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correct order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61670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$S_n=\sum_{r=1}^{2n}\sin\left(\sin^{-1}x^{3r-2}\right)$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$C_n=\sum_{r=1}^{2n}\cos\left(\cos^{-1}x^{3r-1}\right)$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$T_n=\sum_{r=1}^{2n}\tan\left(\tan^{-1}x^{3r}\right)$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correct order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given by: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$S_n&gt;T_n&gt;C_n$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$S_n&lt;C_n&lt;T_n$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$S_n&lt;T_n&lt;C_n$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$S_n&gt;C_n&gt;T_n$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125467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a trigonometric function with its inverse, Geometric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1(JEE Main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inverse-trig layers cancel (arguments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leaving three power series in which each term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beats the matching term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The inverse-trig layers cancel (arguments lie in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), leaving three power series in which each term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beats the matching term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every argument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𝑚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these hold.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$\sin(\sin^{-1}u)=u$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$\cos(\cos^{-1}u)=u$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$\tan(\tan^{-1}u)=u$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Here every argument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$x^m$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these hold.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$S_n=x+x^4+x^7+x^{10}+\cdots$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$C_n=x^2+x^5+x^8+x^{11}+\cdots$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proper fraction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term by term: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$T_n=x^3+x^6+x^9+x^{12}+\cdots$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proper fraction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$0&lt;x&lt;\frac\pi4&lt;1$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$x&gt;x^2&gt;x^3$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likewise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$x^{3r-2}&gt;x^{3r-1}&gt;x^{3r}$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Adding term by term: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$S_n&gt;C_n&gt;T_n$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$S_n&gt;C_n&gt;T_n$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out the common geometric sum: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Factor out the common geometric sum: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$S_n=xG$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$C_n=x^2G$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$T_n=x^3G$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$G=\sum_{r=1}^{2n}x^{3(r-1)}&gt;0$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removing the inverse layers,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∑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(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𝐺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After removing the inverse layers,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 x^{3r-2}=x\sum x^{3(r-1)}$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$C_n=\sum x^{3r-1}=x^2\sum x^{3(r-1)}$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$T_n=\sum x^{3r}=x^3\sum x^{3(r-1)}$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$G=\sum_{r=1}^{2n}x^{3(r-1)}=1+x^3+x^6+\cdots&gt;0$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$S_n:C_n:T_n=x:x^2:x^3=1:x:x^2$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$xG&gt;x^2G&gt;x^3G$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i.e.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$S_n&gt;C_n&gt;T_n$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(D).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b>
                      <m:e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(D)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$S_n&gt;C_n&gt;T_n$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14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B6D7A8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1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powers decrease: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sums of such powers is comparing the powers, term by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tan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inner-then-outer is the identity on the principal domain. (The reverse,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needs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a sum by residue of the index modulo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series with a common factor: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powers decrease: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$x&gt;x^2&gt;x^3&gt;\cdots$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Comparing sums of such powers is comparing the powers, term by term.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$\sin(\sin^{-1}u)=u$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holds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$\cos(\cos^{-1}u)=u$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$\tan(\tan^{-1}u)=u$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inner-then-outer is the identity on the principal domain. (The reverse,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 t)=t$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.)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Splitting a sum by residue of the index modulo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series with a common factor: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$S:C:T=1:x:x^2$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264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264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$S_n=\sum_{r=1}^{2n}\sin\left(\sin^{-1}x^{3r-2}\right)$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$C_n=\sum_{r=1}^{2n}\cos\left(\cos^{-1}x^{3r-1}\right)$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$T_n=\sum_{r=1}^{2n}\tan\left(\tan^{-1}x^{3r}\right)$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$\lim_{n\to\infty}(S_n+C_n+T_n)$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equal to: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$\frac1{1-x}$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x{1+x}$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351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Composition of a trigonometric function with its inverse, Sum of an infinite geometric progression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9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contain every power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ordinary geometric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$S_n+C_n+T_n$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together contain every power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$x,x^2,\dots,x^{6n}$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 ordinary geometric series.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7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526792"/>
                <a:ext cx="10725912" cy="414832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$S_n=x+x^4+x^7+x^{10}+\cdots$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$C_n=x^2+x^5+x^8+x^{11}+\cdots$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$T_n=x^3+x^6+x^9+x^{12}+\cdots$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each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lim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⋯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GP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$S_n+C_n+T_n$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each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$x^1,x^2,x^3,\dots,x^{6n}$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exactly once.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$\lim_{n\to\infty}(S_n+C_n+T_n)=x+x^2+x^3+\cdots\infty$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GP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Its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x{1-x}$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the three series separately, each with ratio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simplify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Sum the three series separately, each with ratio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simplify with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$1-x^3=(1-x)\left(1+x+x^2\right)$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∞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d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526792"/>
                <a:ext cx="10725912" cy="326136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$S_\infty=\frac x{1-x^3}$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$C_\infty=\frac{x^2}{1-x^3}$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$T_\infty=\frac{x^3}{1-x^3}$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$|x^3|&lt;1$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Sum: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$\frac{x+x^2+x^3}{1-x^3}=\frac{x\left(1+x+x^2\right)}{(1-x)\left(1+x+x^2\right)}$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Cancel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$1+x+x^2&gt;0$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(B).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800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7" name="Rounded Rectangle 6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Same answer: (B)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$\frac x{1-x}$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15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𝑘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𝑁</m:t>
                        </m:r>
                      </m:sup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𝑘</m:t>
                            </m:r>
                          </m:sup>
                        </m:sSup>
                      </m:e>
                    </m:nary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𝑁</m:t>
                                </m:r>
                              </m:sup>
                            </m:sSup>
                          </m:e>
                        </m: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infinite sum is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/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sums of consecutive powers in groups of three telescope into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6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limit of a finite GP is the infinite-GP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$\sum_{k=1}^{N}x^k=\frac{x\left(1-x^N\right)}{1-x}$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the infinite sum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 x{1-x}$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Check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$x=\frac12$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$1=\frac{1/2}{1/2}$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$1-x^3=(1-x)\left(1+x+x^2\right)$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sums of consecutive powers in groups of three telescope into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$\frac{1}{1-x}$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$n\to\infty$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$x^{6n}\to0$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so the limit of a finite GP is the infinite-GP formula.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9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264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nary>
                      <m:naryPr>
                        <m:chr m:val="∑"/>
                        <m:limLoc m:val="undOvr"/>
                        <m:subHide m:val="off"/>
                        <m:supHide m:val="off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naryPr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=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</m:nary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N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2726435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$S_n=\sum_{r=1}^{2n}\sin\left(\sin^{-1}x^{3r-2}\right)$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$C_n=\sum_{r=1}^{2n}\cos\left(\cos^{-1}x^{3r-1}\right)$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$T_n=\sum_{r=1}^{2n}\tan\left(\tan^{-1}x^{3r}\right)$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$n\in\mathbb 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$n\ge3$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value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which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$S_n=C_n+T_n$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$2\sin\frac\pi5$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$2\sin\frac\pi{10}$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 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$\sin\frac\pi{10}$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ectangle 4"/>
          <p:cNvSpPr/>
          <p:nvPr/>
        </p:nvSpPr>
        <p:spPr>
          <a:xfrm>
            <a:off x="731520" y="4235195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Paragraph Based Single Correct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Finite sum of a geometric progression, Quadratic equation; trigonometric value of 18 degrees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0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of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factor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78350F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78350F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78350F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Each of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$S_n,C_n,T_n$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has the same factor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$\frac{\left(x^3\right)^{2n}-1}{x^3-1}$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$S_n=C_n+T_n$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reduces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$x=x^2+x^3$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(GP with first term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𝑛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𝑆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𝐶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b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𝑇</m:t>
                        </m:r>
                      </m:e>
                      <m:sub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⋅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d>
                              <m:dPr>
                                <m:begChr m:val="("/>
                                <m:sepChr m:val=""/>
                                <m:endChr m:val=")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𝑥</m:t>
                                    </m:r>
                                  </m:e>
                                  <m:sup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3</m:t>
                                    </m:r>
                                  </m:sup>
                                </m:sSup>
                              </m:e>
                            </m:d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𝑛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common factor is non-zero and cancels: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$S_n=x\cdot\frac{\left(x^3\right)^{2n}-1}{x^3-1}$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(GP with first term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ratio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$2n$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terms).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$C_n=x^2\cdot\frac{\left(x^3\right)^{2n}-1}{x^3-1}$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$T_n=x^3\cdot\frac{\left(x^3\right)^{2n}-1}{x^3-1}$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$S_n=C_n+T_n\Rightarrow x\cdot\frac{\left(x^3\right)^{2n}-1}{x^3-1}=x^2\cdot\frac{\left(x^3\right)^{2n}-1}{x^3-1}+x^3\cdot\frac{\left(x^3\right)^{2n}-1}{x^3-1}$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the common factor is non-zero and cancels: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$x=x^2+x^3$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±</m:t>
                        </m:r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positive root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0.618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negative root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$x=\frac{-1\pm\sqrt5}2$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positive root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$x=\frac{\sqrt5-1}2\approx0.618\in\left(0,\frac\pi4\right)$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negative root is rejected.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$\sin\frac\pi{10}=\sin18^\circ=\frac{\sqrt5-1}4$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$x=2\sin\frac\pi{10}$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Option (C).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14:m>
                  <m:oMath xmlns:m="http://schemas.openxmlformats.org/officeDocument/2006/math">
                    <m:r>
                      <a:rPr lang="en-IN" sz="2800" i="1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800">
                        <a:solidFill>
                          <a:srgbClr val="15803D"/>
                        </a:solidFill>
                        <a:latin typeface="Cambria Math" panose="02040503050406030204" pitchFamily="18" charset="0"/>
                      </a:rPr>
                      <m:t>sin</m:t>
                    </m:r>
                    <m:f>
                      <m:fPr>
                        <m:type m:val="bar"/>
                        <m:ctrlP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800" i="1">
                            <a:solidFill>
                              <a:srgbClr val="15803D"/>
                            </a:solidFill>
                            <a:latin typeface="Cambria Math" panose="02040503050406030204" pitchFamily="18" charset="0"/>
                          </a:rPr>
                          <m:t>10</m:t>
                        </m:r>
                      </m:den>
                    </m:f>
                  </m:oMath>
                </a14:m>
                <a:endParaRPr sz="2800">
                  <a:solidFill>
                    <a:srgbClr val="15803D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5897880"/>
                <a:ext cx="10725912" cy="777240"/>
              </a:xfrm>
              <a:prstGeom prst="roundRect">
                <a:avLst>
                  <a:gd name="adj" fmla="val 8000"/>
                </a:avLst>
              </a:prstGeom>
              <a:solidFill>
                <a:srgbClr val="DCFCE7"/>
              </a:solidFill>
              <a:ln w="25400">
                <a:solidFill>
                  <a:srgbClr val="15803D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5803D"/>
              </a:fontRef>
            </p:style>
            <p:txBody>
              <a:bodyPr rtlCol="0" anchor="ctr" wrap="square" lIns="228600" rIns="228600" tIns="18288" bIns="73152"/>
              <a:lstStyle>
                <a:lvl1pPr>
                  <a:defRPr sz="2800">
                    <a:solidFill>
                      <a:srgbClr val="15803D"/>
                    </a:solidFill>
                  </a:defRPr>
                </a:lvl1pPr>
              </a:lstStyle>
              <a:p>
                <a:pPr algn="ctr">
                  <a:defRPr sz="2800">
                    <a:solidFill>
                      <a:srgbClr val="15803D"/>
                    </a:solidFill>
                  </a:defRPr>
                </a:pPr>
                <a:r>
                  <a:rPr sz="2800" b="1">
                    <a:solidFill>
                      <a:srgbClr val="15803D"/>
                    </a:solidFill>
                    <a:latin typeface="Arial"/>
                  </a:rPr>
                  <a:t>Correct Answer: (C) </a:t>
                </a:r>
                <a:r>
                  <a:rPr lang="en-IN" sz="2800">
                    <a:solidFill>
                      <a:srgbClr val="15803D"/>
                    </a:solidFill>
                    <a:latin typeface="Cambria Math" panose="02040503050406030204" pitchFamily="18" charset="0"/>
                  </a:rPr>
                  <a:t>$2\sin\frac\pi{10}$</a:t>
                </a:r>
                <a:endParaRPr sz="2800">
                  <a:solidFill>
                    <a:srgbClr val="15803D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16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positive root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golden-ratio conjugate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rad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0.618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GPs with the same ratio and number of terms,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𝑆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𝐶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always; any linear relation among them reduces to a polynomial in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cancelling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𝑁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𝑟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answer against the domain: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1.176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B) is not even in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4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36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0.588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18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∘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≈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0.309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satisfy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$\sin18^\circ=\frac{\sqrt5-1}4$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$\cos36^\circ=\frac{\sqrt5+1}4$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the positive root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$x^2+x-1=0$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golden-ratio conjugate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$\frac{\sqrt5-1}2=2\sin18^\circ\approx0.618$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GPs with the same ratio and number of terms,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$S:C:T=x:x^2:x^3$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always; any linear relation among them reduces to a polynomial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after cancelling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$\frac{r^N-1}{r-1}$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(valid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$r\neq1$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Check the answer against the domain: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$2\sin36^\circ\approx1.176$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(option B) is not even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$\left(0,\frac\pi4\right)$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$\sin36^\circ\approx0.588$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$\sin18^\circ\approx0.309$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 not satisfy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$x^2+x=1$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463040"/>
            <a:ext cx="10362895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>
            <a:lvl1pPr>
              <a:defRPr sz="2800">
                <a:solidFill>
                  <a:srgbClr val="FFFFFF"/>
                </a:solidFill>
              </a:defRPr>
            </a:lvl1pPr>
          </a:lstStyle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93C5FD"/>
                </a:solidFill>
                <a:latin typeface="Arial"/>
              </a:rPr>
              <a:t>Section 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4400" b="1">
                <a:solidFill>
                  <a:srgbClr val="FFFFFF"/>
                </a:solidFill>
                <a:latin typeface="Arial"/>
              </a:rPr>
              <a:t>Matching List Type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Q17 – Q19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3 marks each (no marks printed in the paper: JEE Advanced default assumed)</a:t>
            </a:r>
            <a:endParaRPr sz="2800">
              <a:solidFill>
                <a:srgbClr val="FFFFFF"/>
              </a:solidFill>
            </a:endParaRPr>
          </a:p>
          <a:p>
            <a:pPr algn="ctr">
              <a:spcAft>
                <a:spcPts val="1000"/>
              </a:spcAft>
              <a:defRPr sz="2800">
                <a:solidFill>
                  <a:srgbClr val="FFFFFF"/>
                </a:solidFill>
              </a:defRPr>
            </a:pPr>
            <a:r>
              <a:rPr sz="2800" b="0">
                <a:solidFill>
                  <a:srgbClr val="FFFFFF"/>
                </a:solidFill>
                <a:latin typeface="Arial"/>
              </a:rPr>
              <a:t>Match Column I with Column II; one or more matches per row</a:t>
            </a:r>
            <a:endParaRPr sz="2800">
              <a:solidFill>
                <a:srgbClr val="FFFFFF"/>
              </a:solidFill>
            </a:endParaRPr>
          </a:p>
        </p:txBody>
      </p:sp>
    </p:spTree>
  </p:cSld>
  <p:clrMapOvr>
    <a:masterClrMapping/>
  </p:clrMapOvr>
</p:sld>
</file>

<file path=ppt/slides/slide10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0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cot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tan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f>
                                <m:fPr>
                                  <m:type m:val="bar"/>
                                  <m:ctrlP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</m:ctrlPr>
                                </m:fPr>
                                <m:num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num>
                                <m:den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den>
                              </m:f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{"/>
                        <m:sepChr m:val=""/>
                        <m:endChr m:val="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m>
                          <m:mPr>
                            <m:baseJc m:val="center"/>
                            <m:plcHide m:val="on"/>
                            <m:mcs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  <m:mc>
                                <m:mcPr>
                                  <m:count m:val="1"/>
                                  <m:mcJc m:val="left"/>
                                </m:mcPr>
                              </m:mc>
                            </m:mcs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mP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sSup>
                                <m:e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cot</m:t>
                                  </m:r>
                                </m:e>
                                <m:sup>
                                  <m:r>
                                    <m:rPr>
                                      <m:sty m:val="p"/>
                                    </m:rPr>
                                    <a:rPr lang="en-IN" sz="2400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−</m:t>
                                  </m:r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p>
                              </m:sSup>
                              <m:sSup>
                                <m:e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𝑥</m:t>
                                  </m:r>
                                </m:e>
                                <m:sup>
                                  <m:r>
                                    <a:rPr lang="en-IN" sz="2400" i="1">
                                      <a:solidFill>
                                        <a:srgbClr val="111827"/>
                                      </a:solidFill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p>
                              </m:sSup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≠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  <m:mr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</m:e>
                            <m:e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𝑥</m:t>
                              </m:r>
                              <m:r>
                                <m:rPr>
                                  <m:sty m:val="p"/>
                                </m:rPr>
                                <a:rPr lang="en-IN" sz="2400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=</m:t>
                              </m:r>
                              <m:r>
                                <a:rPr lang="en-IN" sz="2400" i="1">
                                  <a:solidFill>
                                    <a:srgbClr val="111827"/>
                                  </a:solidFill>
                                  <a:latin typeface="Cambria Math" panose="02040503050406030204" pitchFamily="18" charset="0"/>
                                </a:rPr>
                                <m:t>0</m:t>
                              </m:r>
                            </m:e>
                          </m:mr>
                        </m:m>
                      </m:e>
                    </m:d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even (Q) odd (R) neither even nor odd (S) even as well as odd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470147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$f(x)=\begin{cases}x\tan^{-1}\frac1x,&amp;x\neq0\\0,&amp;x=0\end{cases}$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$g(x)=\begin{cases}x\cot^{-1}x,&amp;x\neq0\\0,&amp;x=0\end{cases}$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$h(x)=\begin{cases}x^2\tan^{-1}\frac1x,&amp;x\neq0\\0,&amp;x=0\end{cases}$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$k(x)=\begin{cases}x\cot^{-1}x^2,&amp;x\neq0\\0,&amp;x=0\end{cases}$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even (Q) odd (R) neither even nor odd (S) even as well as odd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2194560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Even and odd functions, Properties of inverse trigonometric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2(A level below 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makes a function odd or even, the second spoils parity.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657600"/>
                <a:ext cx="10725912" cy="110947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$\tan^{-1}(-t)=-\tan^{-1}t$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$\cot^{-1}(-t)=\pi-\cot^{-1}t$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: the first makes a function odd or even, the second spoils parity.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tan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(P). It is not odd, since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4904232"/>
                <a:ext cx="10725912" cy="17708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$f(-x)=(-x)\tan^{-1}\left(-\frac1x\right)=(-x)\left(-\tan^{-1}\frac1x\right)=x\tan^{-1}\frac1x=f(x)$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(P). It is not odd, since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$f(1)=\frac\pi4\neq0$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cot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neither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e.g.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even nor odd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𝑘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R,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$g(-x)=(-x)\cot^{-1}(-x)=-x\left(\pi-\cot^{-1}x\right)=-\pi x+x\cot^{-1}x$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This is neither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$-g(x)$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e.g.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$g(1)=\frac\pi4$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$g(-1)=-\frac{3\pi}4$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neither even nor odd (R).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$h(-x)=x^2\tan^{-1}\left(-\frac1x\right)=-x^2\tan^{-1}\frac1x=-h(x)$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$k(-x)=(-x)\cot^{-1}\left((-x)^2\right)=-x\cot^{-1}x^2=-k(x)$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$k(0)=0$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$k$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(Q).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Answer: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R,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P; (B) R; (C) Q; (D) Q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Parity algebra: odd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even, even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odd,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'constant plus odd'.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219200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Parity algebra: odd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odd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even, even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odd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odd,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$\cot^{-1}x=\frac\pi2-\tan^{-1}x$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is 'constant plus odd'.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(composition of odd functions),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non-zero odd function (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minus a non-zero even function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Such a sum is neither even nor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636520"/>
                <a:ext cx="10725912" cy="4038599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 (composition of odd functions),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$f=x\tan^{-1}\frac1x$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$\cot^{-1}x=\frac\pi2-\tan^{-1}x$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$g(x)=\frac\pi2x-x\tan^{-1}x$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a non-zero odd function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minus a non-zero even function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Such a sum is neither even nor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$\tan^{-1}\frac1x$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even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0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function of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even; times the odd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P, (B) R, (C) Q, (D)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hence even; times the 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gives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P, (B) R, (C) Q, (D) Q.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P; (B) R; (C) Q; (D) Q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0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17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FD966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2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Parity rules: even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odd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even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×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odd; compositions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𝑔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are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odd, while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cot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is neither.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non-zero odd function plus a non-zero even function is neither even nor odd; only the zero function is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Parity rules: even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even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odd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even, even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$\times$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odd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$=$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odd; compositions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$f(g(x))$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$g$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even are even.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odd, while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$\cos^{-1}(-x)=\pi-\cos^{-1}x$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$\cot^{-1}(-x)=\pi-\cot^{-1}x$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$\sec^{-1}(-x)=\pi-\sec^{-1}x$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$\cot^{-1}x-\frac\pi2$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odd,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$\cot^{-1}x$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itself is neither.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non-zero odd function plus a non-zero even function is neither even nor odd; only the zero function is both.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94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(B)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sgn</m:t>
                        </m:r>
                        <m:d>
                          <m:dPr>
                            <m:begChr m:val="("/>
                            <m:sepChr m:val=""/>
                            <m:endChr m:val=")"/>
                            <m:grow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5</m:t>
                            </m:r>
                          </m:e>
                        </m:d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(where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sgn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signum function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(C)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(D) Let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: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5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4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one-one (Q) into (R) odd (S) non-invertible (T) aperiodic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3994404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$f:\mathbb R\to\mathbb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$f(x)=\sqrt[3]x+\tan^{-1}x$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(B)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$f:(-\infty,\infty)\to\{-1,0,1\}$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$f(x)=\sin^3\pi\left(\operatorname{sgn}\left(x^2+3x+5\right)\right)$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(where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$\operatorname{sgn}x$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denotes the signum function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(C)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$f:[-2,2]\to\left(0,e^2\right]$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$f(x)=e^{\sqrt{x^2}}$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(D) Let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$f:(-1,5)\to[0,3]$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 defined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$f(x)=\sqrt{5+4x-x^2}$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then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one-one (Q) into (R) odd (S) non-invertible (T) aperiodic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One-one, into, odd and periodic functions, Invertibility of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ounded Rectangle 4"/>
          <p:cNvSpPr/>
          <p:nvPr/>
        </p:nvSpPr>
        <p:spPr>
          <a:xfrm>
            <a:off x="731520" y="3438144"/>
            <a:ext cx="10725912" cy="1481328"/>
          </a:xfrm>
          <a:prstGeom prst="roundRect">
            <a:avLst>
              <a:gd name="adj" fmla="val 8000"/>
            </a:avLst>
          </a:prstGeom>
          <a:solidFill>
            <a:srgbClr val="FDE68A"/>
          </a:solidFill>
          <a:ln w="3175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54864" bIns="73152"/>
          <a:lstStyle>
            <a:lvl1pPr>
              <a:defRPr sz="2400">
                <a:solidFill>
                  <a:srgbClr val="78350F"/>
                </a:solidFill>
              </a:defRPr>
            </a:lvl1pPr>
          </a:lstStyle>
          <a:p>
            <a:pPr algn="l">
              <a:defRPr sz="2400">
                <a:solidFill>
                  <a:srgbClr val="78350F"/>
                </a:solidFill>
              </a:defRPr>
            </a:pPr>
            <a:r>
              <a:rPr sz="2400" b="1">
                <a:solidFill>
                  <a:srgbClr val="78350F"/>
                </a:solidFill>
                <a:latin typeface="Arial"/>
              </a:rPr>
              <a:t>Key idea:  </a:t>
            </a:r>
            <a:r>
              <a:rPr sz="2400" b="0">
                <a:solidFill>
                  <a:srgbClr val="78350F"/>
                </a:solidFill>
                <a:latin typeface="Arial"/>
              </a:rPr>
              <a:t>For each map decide: monotonic or not (one-one), range versus codomain (into or onto), symmetry (odd), and whether the domain allows a period.</a:t>
            </a:r>
            <a:endParaRPr sz="24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ad>
                      <m:deg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deg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tan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increasing,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increasing: one-one.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the range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onto, hence invertible (S false, Q false).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056632"/>
                <a:ext cx="10725912" cy="1618487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$\sqrt[3]x$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$\tan^{-1}x$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are both increasing,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strictly increasing: one-one.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$x\to\pm\infty$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$f\to\pm\infty$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continuous, 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onto, hence invertible (S false, Q false).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odd (R). A strictly monotonic function cannot be periodic: aperiodic (T). So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R,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𝐷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leading coefficient, so it is positive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sgn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into (Q).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≡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many-one, so non-invertible (S),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odd (R). A constant function is periodic (every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works), so T is false.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R,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ad>
                          <m:radPr>
                            <m:degHide m:val="on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radPr>
                          <m:deg/>
                          <m:e>
                            <m:sSup>
                              <m:e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</m:e>
                              <m: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2</m:t>
                                </m:r>
                              </m:sup>
                            </m:sSup>
                          </m:e>
                        </m:rad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⊊</m:t>
                    </m:r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into (Q).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many-one, non-invertible (S). The domain is bounded, so no period exists: aperiodic (T). It is even, not odd.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S,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odd (R). A strictly monotonic function cannot be periodic: aperiodic (T). So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R, T.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$x^2+3x+5$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$D=9-20&lt;0$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positive leading coefficient, so it is positive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$\operatorname{sgn}=1$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Hence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$f(x)=\sin^3\pi=0$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$\{0\}\subsetneq\{-1,0,1\}$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into (Q).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$f\equiv0$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many-one, so non-invertible (S),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$f(-x)=-f(x)$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odd (R). A constant function is periodic (every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works), so T is false.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R,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$f(x)=e^{\sqrt{x^2}}=e^{|x|}$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$[1,e^2]\subsetneq\left(0,e^2\right]$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into (Q).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$f(1)=f(-1)$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many-one, non-invertible (S). The domain is bounded, so no period exists: aperiodic (T). It is even, not odd.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S,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4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)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9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⊊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attained): into (Q).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8</m:t>
                        </m:r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many-one, non-invertible (S). Bounded domain: aperiodic (T).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S,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$5+4x-x^2=9-(x-2)^2\in(0,9]$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$x\in(-1,5)$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$(0,3]\subsetneq[0,3]$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not attained): into (Q).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$f(1)=f(3)=\sqrt8$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many-one, non-invertible (S). Bounded domain: aperiodic (T).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Q, S,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P, R, T; (B) Q, R, S; (C) Q, S, T; (D) Q, S, 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graphs and the horizontal-line test: a monotone curve, a constant line, a V-shaped curve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an upper semicircle.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Use graphs and the horizontal-line test: a monotone curve, a constant line, a V-shaped curve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$e^{|x|}$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an upper semicircle.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𝑓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′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3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/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3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graph rises throughout: every horizontal line cuts it once (one-one, onto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It is symmetric about the origin: odd; a rising curve never repeats: aperiodic.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graph is the horizontal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misses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(into), is cut by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(many-one, non-invertible), is symmetric about the origin (odd), and repeats under every shift (periodic).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$f'(x)=\frac1{3x^{2/3}}+\frac1{1+x^2}&gt;0$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continuous at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the graph rises throughout: every horizontal line cuts it once (one-one, onto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It is symmetric about the origin: odd; a rising curve never repeats: aperiodic.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The graph is the horizontal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it misses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(into), is cut by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at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(many-one, non-invertible), is symmetric about the origin (odd), and repeats under every shift (periodic).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graph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V-shaped curve from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up to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line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it twice (many-one); it never reaches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(into); bounded domain, so aperiodic.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9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 half of the circle with centre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end-points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5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removed. Lines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𝑐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cut it twice (many-one);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𝑦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attained (into); bounded domain, aperiodic.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P, R, T; (B) Q, R, S; (C) Q, S, T; (D) Q, S,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graph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$y=e^{|x|}$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V-shaped curve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$\left(-2,e^2\right)$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$(0,1)$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up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$\left(2,e^2\right)$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A line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$1&lt;c\le e^2$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cuts it twice (many-one); it never reaches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(into); bounded domain, so aperiodic.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$y=\sqrt{9-(x-2)^2}$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upper half of the circle with centre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$(2,0)$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radius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with the end-points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$(-1,0),(5,0)$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removed. Lines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$y=c$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$0&lt;c&lt;3$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cut it twice (many-one);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$y=0$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never attained (into); bounded domain, aperiodic.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So (A) P, R, T; (B) Q, R, S; (C) Q, S, T; (D) Q, S, T.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P, R, T; (B) Q, R, S; (C) Q, S, T; (D) Q, S, T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18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monotonic function is one-one and, if non-constant, aperiodic; a non-constant periodic function is never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with a bounded (or finite) domain cannot be periodic; a constant function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periodic (every real number is a period, no fundamental period) and is both even and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means range equals codomain; 'into' means the range is a proper subset. Always compare the actual range with the stated codomain: </a:t>
                </a:r>
                <a14:m>
                  <m:oMath xmlns:m="http://schemas.openxmlformats.org/officeDocument/2006/math"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sSup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𝑒</m:t>
                        </m:r>
                      </m:e>
                      <m: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14:m>
                  <m:oMath xmlns:m="http://schemas.openxmlformats.org/officeDocument/2006/math">
                    <m:d>
                      <m:dPr>
                        <m:begChr m:val="(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0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𝑒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ad>
                      <m:radPr>
                        <m:degHide m:val="on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radPr>
                      <m:deg/>
                      <m:e>
                        <m:sSup>
                          <m:e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𝑟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(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ℎ</m:t>
                        </m:r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)</m:t>
                            </m:r>
                          </m:e>
                          <m:sup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sup>
                        </m:sSup>
                      </m:e>
                    </m:ra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semicircle: with the end-points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excluded its range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𝑟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symmetric about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𝑡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many-one).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strictly monotonic function is one-one and, if non-constant, aperiodic; a non-constant periodic function is never one-one.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with a bounded (or finite) domain cannot be periodic; a constant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periodic (every real number is a period, no fundamental period) and is both even and odd.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Onto means range equals codomain; 'into' means the range is a proper subset. Always compare the actual range with the stated codomain: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$e^{|x|}$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$[-2,2]$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has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$[1,e^2]$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$\left(0,e^2\right]$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$\sqrt{r^2-(x-h)^2}$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semicircle: with the end-points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$x=h\pm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excluded its range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$(0,r]$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it is symmetric about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$x=h$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$f(h-t)=f(h+t)$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many-one).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61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sin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𝑥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|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d>
                              <m:dPr>
                                <m:begChr m:val="|"/>
                                <m:sepChr m:val=""/>
                                <m:endChr m:val="|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−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+</m:t>
                            </m:r>
                            <m:d>
                              <m:dPr>
                                <m:begChr m:val="|"/>
                                <m:sepChr m:val=""/>
                                <m:endChr m:val="|"/>
                                <m:grow/>
                                <m:ctrlP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</m:ctrlPr>
                              </m:dPr>
                              <m:e>
                                <m:sSup>
                                  <m:e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sin</m:t>
                                    </m:r>
                                  </m:e>
                                  <m:sup>
                                    <m:r>
                                      <m:rPr>
                                        <m:sty m:val="p"/>
                                      </m:rPr>
                                      <a:rPr lang="en-IN" sz="2400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−</m:t>
                                    </m:r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1</m:t>
                                    </m:r>
                                  </m:sup>
                                </m:sSup>
                                <m:r>
                                  <a:rPr lang="en-IN" sz="2400" i="1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𝑥</m:t>
                                </m:r>
                                <m:r>
                                  <m:rPr>
                                    <m:sty m:val="p"/>
                                  </m:rPr>
                                  <a:rPr lang="en-IN" sz="2400">
                                    <a:solidFill>
                                      <a:srgbClr val="111827"/>
                                    </a:solidFill>
                                    <a:latin typeface="Cambria Math" panose="02040503050406030204" pitchFamily="18" charset="0"/>
                                  </a:rPr>
                                  <m:t>+</m:t>
                                </m:r>
                                <m:f>
                                  <m:fPr>
                                    <m:type m:val="bar"/>
                                    <m:ctrlP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</m:ctrlPr>
                                  </m:fPr>
                                  <m:num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π</m:t>
                                    </m:r>
                                  </m:num>
                                  <m:den>
                                    <m:r>
                                      <a:rPr lang="en-IN" sz="2400" i="1">
                                        <a:solidFill>
                                          <a:srgbClr val="111827"/>
                                        </a:solidFill>
                                        <a:latin typeface="Cambria Math" panose="02040503050406030204" pitchFamily="18" charset="0"/>
                                      </a:rPr>
                                      <m:t>2</m:t>
                                    </m:r>
                                  </m:den>
                                </m:f>
                              </m:e>
                            </m:d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𝑥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|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periodic (Q) Domain of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Range consists only of irrational numbers (S)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function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ounded Rectangle 3"/>
              <p:cNvSpPr/>
              <p:nvPr/>
            </p:nvSpPr>
            <p:spPr>
              <a:xfrm>
                <a:off x="731520" y="1280160"/>
                <a:ext cx="10725912" cy="4061460"/>
              </a:xfrm>
              <a:prstGeom prst="roundRect">
                <a:avLst>
                  <a:gd name="adj" fmla="val 8000"/>
                </a:avLst>
              </a:prstGeom>
              <a:solidFill>
                <a:srgbClr val="E0ECFF"/>
              </a:solidFill>
              <a:ln w="25400">
                <a:solidFill>
                  <a:srgbClr val="1D4ED8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Match the following columns: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I: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$f(x)=\sin^{-1}\left(\frac2{|\sin x-1|+|\sin x+1|}\right)$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$f(x)=\cos^{-1}\left(|x-1|-|x-2|\right)$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$f(x)=\sin^{-1}\left(\frac\pi{\left|\sin^{-1}x-\frac\pi2\right|+\left|\sin^{-1}x+\frac\pi2\right|}\right)$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$f(x)=\cos\left(\cos^{-1}|x|\right)+\sin^{-1}(\sin x)-\operatorname{cosec}^{-1}(\operatorname{cosec}x)+\operatorname{cosec}^{-1}|x|$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>
                  <a:spcAft>
                    <a:spcPts val="500"/>
                  </a:spcAft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Column II: (P)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periodic (Q) Domain of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 Range consists only of irrational numbers (S)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constant function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731520" y="1280160"/>
            <a:ext cx="10725912" cy="1975103"/>
          </a:xfrm>
          <a:prstGeom prst="rect">
            <a:avLst/>
          </a:prstGeom>
          <a:solidFill>
            <a:srgbClr val="FFFFFF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Matching List Type(3 Marks)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Concept(s) : Domain and range of inverse trigonometric functions, Periodic and constant functions</a:t>
            </a:r>
            <a:endParaRPr sz="2400">
              <a:solidFill>
                <a:srgbClr val="111827"/>
              </a:solidFill>
            </a:endParaRPr>
          </a:p>
          <a:p>
            <a:pPr algn="l">
              <a:spcAft>
                <a:spcPts val="200"/>
              </a:spcAft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Difficulty Level: Level 3(Average JEE Advanced Level)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each modulus expression on the right interval; the constant values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78350F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domain of (D) collapses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3438144"/>
                <a:ext cx="10725912" cy="1810512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Key 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Simplify each modulus expression on the right interval; the constant values are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$1+\frac\pi2$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, and the domain of (D) collapses to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$\{-1,1\}$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5385816"/>
                <a:ext cx="10725912" cy="1289303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x-1\le0$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 x+1\ge0$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$|\sin x-1|+|\sin x+1|=(1-\sin x)+(1+\sin x)=2$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domain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(Q), constant (S), periodic (P: every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𝑇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period), range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irrational (R). 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Q, R,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Case 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III,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&gt;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$f(x)=\sin^{-1}1=\frac\pi2$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(Q), constant (S), periodic (P: every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$T&gt;0$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a period),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$\left\{\frac\pi2\right\}$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irrational (R). 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P, Q, R, 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Case 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$x&lt;1$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$|x-1|-|x-2|=(1-x)-(2-x)=-1$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$f(x)=\cos^{-1}(-1)=\pi$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$1&lt;x&lt;2$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$|x-1|-|x-2|=(x-1)-(2-x)=2x-3$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$f(x)=\cos^{-1}(2x-3)$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Case III,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$x&gt;2$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$|x-1|-|x-2|=(x-1)-(x-2)=1$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$f(x)=\cos^{-1}1=0$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always lies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domain is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far to the left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far to the right, so it is not periodic or constant, and its range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the rational number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 false). 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(needed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|"/>
                        <m:sepChr m:val=""/>
                        <m:endChr m:val="|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𝑠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constant (S) with irrational range (R); the 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bounded domain forbids periodicity. (C)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argument always lies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(Q).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far to the left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far to the right, so it is not periodic or constant, and its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$[0,\pi]$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contains the rational number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 false). 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Q.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(needed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$s=\sin^{-1}x\in\left[-\frac\pi2,\frac\pi2\right]$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$\left|s-\frac\pi2\right|+\left|s+\frac\pi2\right|=\left(\frac\pi2-s\right)+\left(s+\frac\pi2\right)=\pi$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$f(x)=\sin^{-1}1=\frac\pi2$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constant (S) with irrational range (R);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$[-1,1]\neq\mathbb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a bounded domain forbids periodicity. (C)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domain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d>
                      <m:dPr>
                        <m:begChr m:val="("/>
                        <m:sepChr m:val=""/>
                        <m:endChr m:val=")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p>
                          <m:e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cos</m:t>
                            </m:r>
                          </m:e>
                          <m:sup>
                            <m:r>
                              <m:rPr>
                                <m:sty m:val="p"/>
                              </m:rPr>
                              <a:rPr lang="en-IN" sz="2400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−</m:t>
                            </m:r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1</m:t>
                            </m:r>
                          </m:sup>
                        </m:sSup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\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(S) with irrational range </a:t>
                </a:r>
                <a14:m>
                  <m:oMath xmlns:m="http://schemas.openxmlformats.org/officeDocument/2006/math">
                    <m:d>
                      <m:dPr>
                        <m:begChr m:val="{"/>
                        <m:sepChr m:val=""/>
                        <m:endChr m:val="}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+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(R); the domain is not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not periodic. (D)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→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4" name="Rectangle 3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$\operatorname{cosec}^{-1}|x|$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needs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so the domain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$x=\pm1$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$\cos\left(\cos^{-1}1\right)=1$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 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$\operatorname{cosec}^{-1}(\operatorname{cosec}x)=x$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$\pm1\in\left[-\frac\pi2,\frac\pi2\right]\setminus\{0\}$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$\operatorname{cosec}^{-1}1=\frac\pi2$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$f(\pm1)=1+(\pm1)-(\pm1)+\frac\pi2=1+\frac\pi2$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Constant (S) with irrational range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$\left\{1+\frac\pi2\right\}$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(R); the domain is not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not periodic. (D)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$\to$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5" name="Rounded Rectangle 4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Correct Answer: (A) P, Q, R, S; (B) Q; (C) R, S; (D) R, 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78350F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distances on a number line: inside a segment the sum of the two distances is the segment length, and the difference is a ramp.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Choice>
        <mc:Fallback>
          <p:sp>
            <p:nvSpPr>
              <p:cNvPr id="5" name="Rounded Rectangle 4"/>
              <p:cNvSpPr/>
              <p:nvPr/>
            </p:nvSpPr>
            <p:spPr>
              <a:xfrm>
                <a:off x="731520" y="1280160"/>
                <a:ext cx="10725912" cy="1481328"/>
              </a:xfrm>
              <a:prstGeom prst="roundRect">
                <a:avLst>
                  <a:gd name="adj" fmla="val 8000"/>
                </a:avLst>
              </a:prstGeom>
              <a:solidFill>
                <a:srgbClr val="FDE68A"/>
              </a:solidFill>
              <a:ln w="31750">
                <a:solidFill>
                  <a:srgbClr val="D97706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78350F"/>
              </a:fontRef>
            </p:style>
            <p:txBody>
              <a:bodyPr rtlCol="0" anchor="ctr" wrap="square" lIns="228600" rIns="228600" tIns="54864" bIns="73152"/>
              <a:lstStyle>
                <a:lvl1pPr>
                  <a:defRPr sz="2400">
                    <a:solidFill>
                      <a:srgbClr val="78350F"/>
                    </a:solidFill>
                  </a:defRPr>
                </a:lvl1pPr>
              </a:lstStyle>
              <a:p>
                <a:pPr algn="l">
                  <a:defRPr sz="2400">
                    <a:solidFill>
                      <a:srgbClr val="78350F"/>
                    </a:solidFill>
                  </a:defRPr>
                </a:pPr>
                <a:r>
                  <a:rPr sz="2400" b="1">
                    <a:solidFill>
                      <a:srgbClr val="78350F"/>
                    </a:solidFill>
                    <a:latin typeface="Arial"/>
                  </a:rPr>
                  <a:t>Idea:  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Read </a:t>
                </a:r>
                <a:r>
                  <a:rPr lang="en-IN" sz="2400">
                    <a:solidFill>
                      <a:srgbClr val="78350F"/>
                    </a:solidFill>
                    <a:latin typeface="Cambria Math" panose="02040503050406030204" pitchFamily="18" charset="0"/>
                  </a:rPr>
                  <a:t>$|x-a|\pm|x-b|$</a:t>
                </a:r>
                <a:r>
                  <a:rPr sz="2400" b="0">
                    <a:solidFill>
                      <a:srgbClr val="78350F"/>
                    </a:solidFill>
                    <a:latin typeface="Arial"/>
                  </a:rPr>
                  <a:t> as distances on a number line: inside a segment the sum of the two distances is the segment length, and the difference is a ramp.</a:t>
                </a:r>
                <a:endParaRPr sz="2400">
                  <a:solidFill>
                    <a:srgbClr val="78350F"/>
                  </a:solidFill>
                </a:endParaRP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the distances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point between them it equals the segment length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With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distances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𝑠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them. So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6" name="Rectangle 5"/>
              <p:cNvSpPr/>
              <p:nvPr/>
            </p:nvSpPr>
            <p:spPr>
              <a:xfrm>
                <a:off x="731520" y="2898648"/>
                <a:ext cx="10725912" cy="3776472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(A)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$|s-1|+|s+1|$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 x\in[-1,1]$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the distances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for a point between them it equals the segment length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$f=\sin^{-1}1=\frac\pi2$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 constant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(C) With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$s=\sin^{-1}x\in\left[-\frac\pi2,\frac\pi2\right]$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$|s-\frac\pi2|+|s+\frac\pi2|$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the sum of distances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$\pm\frac\pi2$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which equals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$s$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them. So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$f=\sin^{-1}1=\frac\pi2$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FDE68A"/>
          </a:solidFill>
          <a:ln w="25400">
            <a:solidFill>
              <a:srgbClr val="D97706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78350F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78350F"/>
                </a:solidFill>
              </a:defRPr>
            </a:lvl1pPr>
          </a:lstStyle>
          <a:p>
            <a:pPr algn="ctr">
              <a:defRPr sz="2200">
                <a:solidFill>
                  <a:srgbClr val="78350F"/>
                </a:solidFill>
              </a:defRPr>
            </a:pPr>
            <a:r>
              <a:rPr sz="2200" b="1">
                <a:solidFill>
                  <a:srgbClr val="78350F"/>
                </a:solidFill>
                <a:latin typeface="Arial"/>
              </a:rPr>
              <a:t>Alternate Solution</a:t>
            </a:r>
            <a:endParaRPr sz="2200">
              <a:solidFill>
                <a:srgbClr val="78350F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Left of both points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𝑑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of both it is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between them it increases linearly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3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its values lie in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[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]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domain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𝑓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stays there: not periodic, not constant,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range.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Intersect the domains: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±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two terms give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Results: (A) P, Q, R, S; (B) Q; (C) R, S; (D) R,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4434840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(B)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$|x-1|-|x-2|=d(x,1)-d(x,2)$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Left of both points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$-d(1,2)=-1$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right of both 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$+1$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, and between them it increases linearly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$2x-3$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 So its values lie 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$[-1,1]$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all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domain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$f=\cos^{-1}$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goes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down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stays there: not periodic, not constant,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in the range.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(D) Intersect the domains: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$\{\pm1\}$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 There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 x)-\operatorname{cosec}^{-1}(\operatorname{cosec}x)=x-x=0$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the other two terms give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both points.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Results: (A) P, Q, R, S; (B) Q; (C) R, S; (D) R, S.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  <p:sp>
        <p:nvSpPr>
          <p:cNvPr id="6" name="Rounded Rectangle 5"/>
          <p:cNvSpPr/>
          <p:nvPr/>
        </p:nvSpPr>
        <p:spPr>
          <a:xfrm>
            <a:off x="731520" y="5897880"/>
            <a:ext cx="10725912" cy="777240"/>
          </a:xfrm>
          <a:prstGeom prst="roundRect">
            <a:avLst>
              <a:gd name="adj" fmla="val 8000"/>
            </a:avLst>
          </a:prstGeom>
          <a:solidFill>
            <a:srgbClr val="DCFCE7"/>
          </a:solidFill>
          <a:ln w="25400">
            <a:solidFill>
              <a:srgbClr val="15803D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5803D"/>
          </a:fontRef>
        </p:style>
        <p:txBody>
          <a:bodyPr rtlCol="0" anchor="ctr" wrap="square" lIns="228600" rIns="228600" tIns="18288" bIns="73152"/>
          <a:lstStyle>
            <a:lvl1pPr>
              <a:defRPr sz="2800">
                <a:solidFill>
                  <a:srgbClr val="15803D"/>
                </a:solidFill>
              </a:defRPr>
            </a:lvl1pPr>
          </a:lstStyle>
          <a:p>
            <a:pPr algn="ctr">
              <a:defRPr sz="2800">
                <a:solidFill>
                  <a:srgbClr val="15803D"/>
                </a:solidFill>
              </a:defRPr>
            </a:pPr>
            <a:r>
              <a:rPr sz="2800" b="1">
                <a:solidFill>
                  <a:srgbClr val="15803D"/>
                </a:solidFill>
                <a:latin typeface="Arial"/>
              </a:rPr>
              <a:t>Same answer: (A) P, Q, R, S; (B) Q; (C) R, S; (D) R, S</a:t>
            </a:r>
            <a:endParaRPr sz="2800">
              <a:solidFill>
                <a:srgbClr val="15803D"/>
              </a:solidFill>
            </a:endParaRPr>
          </a:p>
        </p:txBody>
      </p:sp>
    </p:spTree>
  </p:cSld>
  <p:clrMapOvr>
    <a:masterClrMapping/>
  </p:clrMapOvr>
</p:sld>
</file>

<file path=ppt/slides/slide1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&lt;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∞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2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𝑎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𝑏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Inverse-trig identities need their principal ranges: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𝑢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sin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sin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(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cosec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)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=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∈</m:t>
                    </m:r>
                    <m:d>
                      <m:dPr>
                        <m:begChr m:val="["/>
                        <m:sepChr m:val=""/>
                        <m:endChr m:val="]"/>
                        <m:grow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,</m:t>
                        </m:r>
                        <m:f>
                          <m:fPr>
                            <m:type m:val="bar"/>
                            <m:ctrlP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π</m:t>
                            </m:r>
                          </m:num>
                          <m:den>
                            <m:r>
                              <a:rPr lang="en-IN" sz="2400" i="1">
                                <a:solidFill>
                                  <a:srgbClr val="111827"/>
                                </a:solidFill>
                                <a:latin typeface="Cambria Math" panose="02040503050406030204" pitchFamily="18" charset="0"/>
                              </a:rPr>
                              <m:t>2</m:t>
                            </m:r>
                          </m:den>
                        </m:f>
                      </m:e>
                    </m:d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≠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0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For real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$a&lt;b$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$a\le x\le 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$|x-a|+|b-x|=b-a$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$|x-a|-|x-b|$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increases 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$-(b-a)$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to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$b-a$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runs over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$(-\infty,\infty)$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(it is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$2x-a-b$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between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$a$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$b$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Inverse-trig identities need their principal ranges: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$\cos(\cos^{-1}u)=u$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$|u|\le1$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;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$\sin^{-1}(\sin 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$\operatorname{cosec}^{-1}(\operatorname{cosec}x)=x$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only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$x\in\left[-\frac\pi2,\frac\pi2\right]$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$x\neq0$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for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$\operatorname{cosec}^{-1}$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Question 19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894015" y="246887"/>
            <a:ext cx="3840480" cy="603504"/>
          </a:xfrm>
          <a:prstGeom prst="roundRect">
            <a:avLst>
              <a:gd name="adj" fmla="val 50000"/>
            </a:avLst>
          </a:prstGeom>
          <a:solidFill>
            <a:srgbClr val="F6B26B"/>
          </a:solidFill>
          <a:ln w="19050">
            <a:solidFill>
              <a:srgbClr val="FFFFFF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18288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Level 3  ·  3 Marks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4" name="Rounded Rectangle 3"/>
          <p:cNvSpPr/>
          <p:nvPr/>
        </p:nvSpPr>
        <p:spPr>
          <a:xfrm>
            <a:off x="3520440" y="265176"/>
            <a:ext cx="4206240" cy="566928"/>
          </a:xfrm>
          <a:prstGeom prst="roundRect">
            <a:avLst>
              <a:gd name="adj" fmla="val 50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8288" bIns="18288"/>
          <a:lstStyle>
            <a:lvl1pPr>
              <a:defRPr sz="2200">
                <a:solidFill>
                  <a:srgbClr val="0B1F3A"/>
                </a:solidFill>
              </a:defRPr>
            </a:lvl1pPr>
          </a:lstStyle>
          <a:p>
            <a:pPr algn="ctr">
              <a:defRPr sz="2200">
                <a:solidFill>
                  <a:srgbClr val="0B1F3A"/>
                </a:solidFill>
              </a:defRPr>
            </a:pPr>
            <a:r>
              <a:rPr sz="2200" b="1">
                <a:solidFill>
                  <a:srgbClr val="0B1F3A"/>
                </a:solidFill>
                <a:latin typeface="Arial"/>
              </a:rPr>
              <a:t>Useful Result / Pattern</a:t>
            </a:r>
            <a:endParaRPr sz="2200">
              <a:solidFill>
                <a:srgbClr val="0B1F3A"/>
              </a:solidFill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a sum of inverse functions is the intersection of the domains: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≤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≥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14:m>
                  <m:oMath xmlns:m="http://schemas.openxmlformats.org/officeDocument/2006/math">
                    <m:sSup>
                      <m:e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cosec</m:t>
                        </m:r>
                      </m:e>
                      <m:sup>
                        <m:r>
                          <m:rPr>
                            <m:sty m:val="p"/>
                          </m:rPr>
                          <a:rPr lang="en-IN" sz="2400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−</m:t>
                        </m:r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1</m:t>
                        </m:r>
                      </m:sup>
                    </m:sSup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𝑥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|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leave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{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−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,</m:t>
                    </m:r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on a bounded or finite domain is not periodic; a constant function on </a:t>
                </a:r>
                <a14:m>
                  <m:oMath xmlns:m="http://schemas.openxmlformats.org/officeDocument/2006/math">
                    <m:r>
                      <m:rPr>
                        <m:scr m:val="double-struck"/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R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periodic. If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π</m:t>
                    </m:r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 then so are </a:t>
                </a:r>
                <a14:m>
                  <m:oMath xmlns:m="http://schemas.openxmlformats.org/officeDocument/2006/math"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14:m>
                  <m:oMath xmlns:m="http://schemas.openxmlformats.org/officeDocument/2006/math">
                    <m:r>
                      <a:rPr lang="en-IN" sz="2400" i="1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1</m:t>
                    </m:r>
                    <m:r>
                      <m:rPr>
                        <m:sty m:val="p"/>
                      </m:rPr>
                      <a:rPr lang="en-IN" sz="2400">
                        <a:solidFill>
                          <a:srgbClr val="111827"/>
                        </a:solidFill>
                        <a:latin typeface="Cambria Math" panose="02040503050406030204" pitchFamily="18" charset="0"/>
                      </a:rPr>
                      <m:t>+</m:t>
                    </m:r>
                    <m:f>
                      <m:fPr>
                        <m:type m:val="bar"/>
                        <m:ctrlP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π</m:t>
                        </m:r>
                      </m:num>
                      <m:den>
                        <m:r>
                          <a:rPr lang="en-IN" sz="2400" i="1">
                            <a:solidFill>
                              <a:srgbClr val="111827"/>
                            </a:solidFill>
                            <a:latin typeface="Cambria Math" panose="02040503050406030204" pitchFamily="18" charset="0"/>
                          </a:rPr>
                          <m:t>2</m:t>
                        </m:r>
                      </m:den>
                    </m:f>
                  </m:oMath>
                </a14:m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Choice>
        <mc:Fallback>
          <p:sp>
            <p:nvSpPr>
              <p:cNvPr id="5" name="Rectangle 4"/>
              <p:cNvSpPr/>
              <p:nvPr/>
            </p:nvSpPr>
            <p:spPr>
              <a:xfrm>
                <a:off x="731520" y="1353312"/>
                <a:ext cx="10725912" cy="5321808"/>
              </a:xfrm>
              <a:prstGeom prst="rect">
                <a:avLst/>
              </a:prstGeom>
              <a:solidFill>
                <a:srgbClr val="FFFFFF"/>
              </a:solidFill>
              <a:ln w="19050">
                <a:solidFill>
                  <a:srgbClr val="6B7280"/>
                </a:solidFill>
              </a:ln>
              <a:effectLst/>
            </p:spPr>
            <p:style>
              <a:lnRef idx="1">
                <a:schemeClr val="accent1"/>
              </a:lnRef>
              <a:fillRef idx="3">
                <a:schemeClr val="accent1"/>
              </a:fillRef>
              <a:effectRef idx="2">
                <a:schemeClr val="accent1"/>
              </a:effectRef>
              <a:fontRef idx="minor">
                <a:srgbClr val="111827"/>
              </a:fontRef>
            </p:style>
            <p:txBody>
              <a:bodyPr rtlCol="0" anchor="t" wrap="square" lIns="228600" rIns="228600" tIns="137160" bIns="73152"/>
              <a:lstStyle>
                <a:lvl1pPr>
                  <a:defRPr sz="2400">
                    <a:solidFill>
                      <a:srgbClr val="111827"/>
                    </a:solidFill>
                  </a:defRPr>
                </a:lvl1pPr>
              </a:lstStyle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The domain of a sum of inverse functions is the intersection of the domains: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$|x|\le1$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$\cos^{-1}|x|$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$|x|\ge1$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(from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$\operatorname{cosec}^{-1}|x|$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) leave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$\{-1,1\}$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  <a:p>
                <a:pPr algn="l" marL="274320" indent="-274320">
                  <a:spcAft>
                    <a:spcPts val="600"/>
                  </a:spcAft>
                  <a:buFont typeface="Arial"/>
                  <a:buChar char="•"/>
                  <a:defRPr sz="2400">
                    <a:solidFill>
                      <a:srgbClr val="111827"/>
                    </a:solidFill>
                  </a:defRPr>
                </a:pP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A function on a bounded or finite domain is not periodic; a constant function on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$\mathbb R$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periodic. If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$\pi$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is irrational then so are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 and </a:t>
                </a:r>
                <a:r>
                  <a:rPr lang="en-IN" sz="2400">
                    <a:solidFill>
                      <a:srgbClr val="111827"/>
                    </a:solidFill>
                    <a:latin typeface="Cambria Math" panose="02040503050406030204" pitchFamily="18" charset="0"/>
                  </a:rPr>
                  <a:t>$1+\frac\pi2$</a:t>
                </a:r>
                <a:r>
                  <a:rPr sz="2400" b="0">
                    <a:solidFill>
                      <a:srgbClr val="111827"/>
                    </a:solidFill>
                    <a:latin typeface="Arial"/>
                  </a:rPr>
                  <a:t>.</a:t>
                </a:r>
                <a:endParaRPr sz="2400">
                  <a:solidFill>
                    <a:srgbClr val="111827"/>
                  </a:solidFill>
                </a:endParaRPr>
              </a:p>
            </p:txBody>
          </p:sp>
        </mc:Fallback>
      </mc:AlternateContent>
    </p:spTree>
  </p:cSld>
  <p:clrMapOvr>
    <a:masterClrMapping/>
  </p:clrMapOvr>
</p:sld>
</file>

<file path=ppt/slides/slide1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(1/4)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(2/4)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09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10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Numerical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(3/4)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5029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11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12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Subjective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14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JEE Main Level</a:t>
                      </a:r>
                    </a:p>
                  </a:txBody>
                  <a:tcPr anchor="ctr" marL="91440" marR="91440">
                    <a:solidFill>
                      <a:srgbClr val="B6D7A8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15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 (4/4)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457200" y="1325880"/>
          <a:ext cx="11274552" cy="41605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05840"/>
                <a:gridCol w="2926080"/>
                <a:gridCol w="1280160"/>
                <a:gridCol w="1188720"/>
                <a:gridCol w="4873752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 No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Question Type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Marks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FFFFFF"/>
                          </a:solidFill>
                          <a:latin typeface="Arial"/>
                        </a:rPr>
                        <a:t>Level Description</a:t>
                      </a:r>
                    </a:p>
                  </a:txBody>
                  <a:tcPr anchor="ctr" marL="91440" marR="91440">
                    <a:solidFill>
                      <a:srgbClr val="0B1F3A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16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Paragraph Single Correct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17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2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 level below Average JEE Advanced Level</a:t>
                      </a:r>
                    </a:p>
                  </a:txBody>
                  <a:tcPr anchor="ctr" marL="91440" marR="91440">
                    <a:solidFill>
                      <a:srgbClr val="FFD966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18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  <a:tr h="868680"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19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Matching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400" b="1">
                          <a:solidFill>
                            <a:srgbClr val="111827"/>
                          </a:solidFill>
                          <a:latin typeface="Arial"/>
                        </a:rPr>
                        <a:t>3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  <a:tc>
                  <a:txBody>
                    <a:bodyPr/>
                    <a:lstStyle/>
                    <a:p>
                      <a:pPr algn="l"/>
                      <a:r>
                        <a:rPr sz="2400" b="0">
                          <a:solidFill>
                            <a:srgbClr val="111827"/>
                          </a:solidFill>
                          <a:latin typeface="Arial"/>
                        </a:rPr>
                        <a:t>Average JEE Advanced Level</a:t>
                      </a:r>
                    </a:p>
                  </a:txBody>
                  <a:tcPr anchor="ctr" marL="91440" marR="91440">
                    <a:solidFill>
                      <a:srgbClr val="F6B26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1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Overall Difficulty Analysis</a:t>
            </a:r>
            <a:endParaRPr sz="3200">
              <a:solidFill>
                <a:srgbClr val="FFFFFF"/>
              </a:solidFill>
            </a:endParaRPr>
          </a:p>
        </p:txBody>
      </p:sp>
      <p:sp>
        <p:nvSpPr>
          <p:cNvPr id="3" name="Rounded Rectangle 2"/>
          <p:cNvSpPr/>
          <p:nvPr/>
        </p:nvSpPr>
        <p:spPr>
          <a:xfrm>
            <a:off x="731520" y="1417320"/>
            <a:ext cx="4754880" cy="3291840"/>
          </a:xfrm>
          <a:prstGeom prst="roundRect">
            <a:avLst>
              <a:gd name="adj" fmla="val 8000"/>
            </a:avLst>
          </a:prstGeom>
          <a:solidFill>
            <a:srgbClr val="E0ECFF"/>
          </a:solidFill>
          <a:ln w="25400">
            <a:solidFill>
              <a:srgbClr val="1D4ED8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0B1F3A"/>
          </a:fontRef>
        </p:style>
        <p:txBody>
          <a:bodyPr rtlCol="0" anchor="ctr" wrap="square" lIns="228600" rIns="228600" tIns="137160" bIns="73152"/>
          <a:lstStyle>
            <a:lvl1pPr>
              <a:defRPr sz="3000">
                <a:solidFill>
                  <a:srgbClr val="0B1F3A"/>
                </a:solidFill>
              </a:defRPr>
            </a:lvl1pPr>
          </a:lstStyle>
          <a:p>
            <a:pPr algn="ctr">
              <a:defRPr sz="3000">
                <a:solidFill>
                  <a:srgbClr val="0B1F3A"/>
                </a:solidFill>
              </a:defRPr>
            </a:pPr>
            <a:r>
              <a:rPr sz="3000" b="1">
                <a:solidFill>
                  <a:srgbClr val="0B1F3A"/>
                </a:solidFill>
                <a:latin typeface="Arial"/>
              </a:rPr>
              <a:t>Difficulty Index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8800" b="1">
                <a:solidFill>
                  <a:srgbClr val="0B1F3A"/>
                </a:solidFill>
                <a:latin typeface="Arial"/>
              </a:rPr>
              <a:t>2.27</a:t>
            </a:r>
            <a:endParaRPr sz="3000">
              <a:solidFill>
                <a:srgbClr val="0B1F3A"/>
              </a:solidFill>
            </a:endParaRPr>
          </a:p>
          <a:p>
            <a:pPr algn="ctr">
              <a:defRPr sz="3000">
                <a:solidFill>
                  <a:srgbClr val="0B1F3A"/>
                </a:solidFill>
              </a:defRPr>
            </a:pPr>
            <a:r>
              <a:rPr sz="2400" b="0">
                <a:solidFill>
                  <a:srgbClr val="0B1F3A"/>
                </a:solidFill>
                <a:latin typeface="Arial"/>
              </a:rPr>
              <a:t>out of 5</a:t>
            </a:r>
            <a:endParaRPr sz="3000">
              <a:solidFill>
                <a:srgbClr val="0B1F3A"/>
              </a:solidFill>
            </a:endParaRPr>
          </a:p>
        </p:txBody>
      </p:sp>
      <p:sp>
        <p:nvSpPr>
          <p:cNvPr id="4" name="Rectangle 3"/>
          <p:cNvSpPr/>
          <p:nvPr/>
        </p:nvSpPr>
        <p:spPr>
          <a:xfrm>
            <a:off x="5852160" y="1417320"/>
            <a:ext cx="5605272" cy="603504"/>
          </a:xfrm>
          <a:prstGeom prst="rect">
            <a:avLst/>
          </a:prstGeom>
          <a:solidFill>
            <a:srgbClr val="93C47D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JEE Main or easier:  3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5" name="Rectangle 4"/>
          <p:cNvSpPr/>
          <p:nvPr/>
        </p:nvSpPr>
        <p:spPr>
          <a:xfrm>
            <a:off x="5852160" y="2093976"/>
            <a:ext cx="5605272" cy="603504"/>
          </a:xfrm>
          <a:prstGeom prst="rect">
            <a:avLst/>
          </a:prstGeom>
          <a:solidFill>
            <a:srgbClr val="FFD966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Below average: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6" name="Rectangle 5"/>
          <p:cNvSpPr/>
          <p:nvPr/>
        </p:nvSpPr>
        <p:spPr>
          <a:xfrm>
            <a:off x="5852160" y="2770632"/>
            <a:ext cx="5605272" cy="603504"/>
          </a:xfrm>
          <a:prstGeom prst="rect">
            <a:avLst/>
          </a:prstGeom>
          <a:solidFill>
            <a:srgbClr val="F6B26B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Average Advanced:  8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7" name="Rectangle 6"/>
          <p:cNvSpPr/>
          <p:nvPr/>
        </p:nvSpPr>
        <p:spPr>
          <a:xfrm>
            <a:off x="5852160" y="3447288"/>
            <a:ext cx="5605272" cy="603504"/>
          </a:xfrm>
          <a:prstGeom prst="rect">
            <a:avLst/>
          </a:prstGeom>
          <a:solidFill>
            <a:srgbClr val="E88080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l">
              <a:defRPr sz="2400">
                <a:solidFill>
                  <a:srgbClr val="111827"/>
                </a:solidFill>
              </a:defRPr>
            </a:pPr>
            <a:r>
              <a:rPr sz="2400" b="1">
                <a:solidFill>
                  <a:srgbClr val="111827"/>
                </a:solidFill>
                <a:latin typeface="Arial"/>
              </a:rPr>
              <a:t>Above average:  0 questions</a:t>
            </a:r>
            <a:endParaRPr sz="2400">
              <a:solidFill>
                <a:srgbClr val="111827"/>
              </a:solidFill>
            </a:endParaRPr>
          </a:p>
        </p:txBody>
      </p:sp>
      <p:sp>
        <p:nvSpPr>
          <p:cNvPr id="8" name="Rectangle 7"/>
          <p:cNvSpPr/>
          <p:nvPr/>
        </p:nvSpPr>
        <p:spPr>
          <a:xfrm>
            <a:off x="5852160" y="4123944"/>
            <a:ext cx="5605272" cy="603504"/>
          </a:xfrm>
          <a:prstGeom prst="rect">
            <a:avLst/>
          </a:prstGeom>
          <a:solidFill>
            <a:srgbClr val="CC4125"/>
          </a:solidFill>
          <a:ln w="19050">
            <a:solidFill>
              <a:srgbClr val="6B7280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wrap="square" lIns="228600" rIns="228600" tIns="18288" bIns="73152"/>
          <a:lstStyle>
            <a:lvl1pPr>
              <a:defRPr sz="2400">
                <a:solidFill>
                  <a:srgbClr val="FFFFFF"/>
                </a:solidFill>
              </a:defRPr>
            </a:lvl1pPr>
          </a:lstStyle>
          <a:p>
            <a:pPr algn="l">
              <a:defRPr sz="2400">
                <a:solidFill>
                  <a:srgbClr val="FFFFFF"/>
                </a:solidFill>
              </a:defRPr>
            </a:pPr>
            <a:r>
              <a:rPr sz="2400" b="1">
                <a:solidFill>
                  <a:srgbClr val="FFFFFF"/>
                </a:solidFill>
                <a:latin typeface="Arial"/>
              </a:rPr>
              <a:t>Very difficult:  0 questions</a:t>
            </a:r>
            <a:endParaRPr sz="2400">
              <a:solidFill>
                <a:srgbClr val="FFFFFF"/>
              </a:solidFill>
            </a:endParaRPr>
          </a:p>
        </p:txBody>
      </p:sp>
      <p:sp>
        <p:nvSpPr>
          <p:cNvPr id="9" name="Rectangle 8"/>
          <p:cNvSpPr/>
          <p:nvPr/>
        </p:nvSpPr>
        <p:spPr>
          <a:xfrm>
            <a:off x="731520" y="5029200"/>
            <a:ext cx="10725912" cy="1097280"/>
          </a:xfrm>
          <a:prstGeom prst="rect">
            <a:avLst/>
          </a:prstGeom>
          <a:solidFill>
            <a:srgbClr val="FFFFFF"/>
          </a:solidFill>
          <a:ln w="19050"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111827"/>
          </a:fontRef>
        </p:style>
        <p:txBody>
          <a:bodyPr rtlCol="0" anchor="t" wrap="square" lIns="228600" rIns="228600" tIns="137160" bIns="73152"/>
          <a:lstStyle>
            <a:lvl1pPr>
              <a:defRPr sz="2400">
                <a:solidFill>
                  <a:srgbClr val="111827"/>
                </a:solidFill>
              </a:defRPr>
            </a:lvl1pPr>
          </a:lstStyle>
          <a:p>
            <a:pPr algn="ctr">
              <a:defRPr sz="2400">
                <a:solidFill>
                  <a:srgbClr val="111827"/>
                </a:solidFill>
              </a:defRPr>
            </a:pPr>
            <a:r>
              <a:rPr sz="2400" b="0">
                <a:solidFill>
                  <a:srgbClr val="111827"/>
                </a:solidFill>
                <a:latin typeface="Arial"/>
              </a:rPr>
              <a:t>Total: 19 questions, 70 marks.  Index = Σ(marks × level) ÷ Σ marks, on the 0-5 scale.</a:t>
            </a:r>
            <a:endParaRPr sz="24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slides/slide1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Difficulty Profile of the Paper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457200" y="1280160"/>
          <a:ext cx="11274552" cy="534924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13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1097280"/>
          </a:xfrm>
          <a:prstGeom prst="rect">
            <a:avLst/>
          </a:prstGeom>
          <a:solidFill>
            <a:srgbClr val="0B1F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rgbClr val="FFFFFF"/>
          </a:fontRef>
        </p:style>
        <p:txBody>
          <a:bodyPr rtlCol="0" anchor="ctr" lIns="731520"/>
          <a:lstStyle>
            <a:lvl1pPr>
              <a:defRPr sz="3200">
                <a:solidFill>
                  <a:srgbClr val="FFFFFF"/>
                </a:solidFill>
              </a:defRPr>
            </a:lvl1pPr>
          </a:lstStyle>
          <a:p>
            <a:pPr algn="l">
              <a:defRPr sz="3200">
                <a:solidFill>
                  <a:srgbClr val="FFFFFF"/>
                </a:solidFill>
              </a:defRPr>
            </a:pPr>
            <a:r>
              <a:rPr sz="3200" b="1">
                <a:solidFill>
                  <a:srgbClr val="FFFFFF"/>
                </a:solidFill>
                <a:latin typeface="Arial"/>
              </a:rPr>
              <a:t>Comparison with JEE Advanced Papers</a:t>
            </a:r>
            <a:endParaRPr sz="3200">
              <a:solidFill>
                <a:srgbClr val="FFFFFF"/>
              </a:solidFill>
            </a:endParaRP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1661007" y="1371600"/>
          <a:ext cx="8869680" cy="45262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760720"/>
                <a:gridCol w="3108960"/>
              </a:tblGrid>
              <a:tr h="685800"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Paper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FFFFFF"/>
                          </a:solidFill>
                          <a:latin typeface="Arial"/>
                        </a:rPr>
                        <a:t>Difficulty Index</a:t>
                      </a:r>
                    </a:p>
                  </a:txBody>
                  <a:tcPr anchor="ctr" marL="137160" marR="137160">
                    <a:solidFill>
                      <a:srgbClr val="0B1F3A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2.76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2023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3.19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2024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2.59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2025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3.21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0">
                          <a:solidFill>
                            <a:srgbClr val="111827"/>
                          </a:solidFill>
                          <a:latin typeface="Arial"/>
                        </a:rPr>
                        <a:t>JEE Advanced 2026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111827"/>
                          </a:solidFill>
                          <a:latin typeface="Arial"/>
                        </a:rPr>
                        <a:t>3.02</a:t>
                      </a:r>
                    </a:p>
                  </a:txBody>
                  <a:tcPr anchor="ctr" marL="137160" marR="137160">
                    <a:solidFill>
                      <a:srgbClr val="FFFFFF"/>
                    </a:solidFill>
                  </a:tcPr>
                </a:tc>
              </a:tr>
              <a:tr h="640080">
                <a:tc>
                  <a:txBody>
                    <a:bodyPr/>
                    <a:lstStyle/>
                    <a:p>
                      <a:pPr algn="l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ITF Sheet C2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2600" b="1">
                          <a:solidFill>
                            <a:srgbClr val="0B1F3A"/>
                          </a:solidFill>
                          <a:latin typeface="Arial"/>
                        </a:rPr>
                        <a:t>2.27</a:t>
                      </a:r>
                    </a:p>
                  </a:txBody>
                  <a:tcPr anchor="ctr" marL="137160" marR="137160">
                    <a:solidFill>
                      <a:srgbClr val="E0ECFF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731520" y="6080759"/>
            <a:ext cx="10725912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lvl1pPr>
              <a:defRPr sz="2000">
                <a:solidFill>
                  <a:srgbClr val="111827"/>
                </a:solidFill>
              </a:defRPr>
            </a:lvl1pPr>
          </a:lstStyle>
          <a:p>
            <a:pPr algn="ctr">
              <a:defRPr sz="2000">
                <a:solidFill>
                  <a:srgbClr val="111827"/>
                </a:solidFill>
              </a:defRPr>
            </a:pPr>
            <a:r>
              <a:rPr sz="2000" b="0">
                <a:solidFill>
                  <a:srgbClr val="111827"/>
                </a:solidFill>
                <a:latin typeface="Arial"/>
              </a:rPr>
              <a:t>Marks-weighted difficulty index on the 0-5 scale</a:t>
            </a:r>
            <a:endParaRPr sz="2000">
              <a:solidFill>
                <a:srgbClr val="111827"/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