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FFD966"/>
              </a:solidFill>
              <a:ln w="9525">
                <a:solidFill>
                  <a:srgbClr val="111827"/>
                </a:solidFill>
              </a:ln>
            </c:spPr>
          </c:dPt>
          <c:dPt>
            <c:idx val="1"/>
            <c:spPr>
              <a:solidFill>
                <a:srgbClr val="B6D7A8"/>
              </a:solidFill>
              <a:ln w="9525">
                <a:solidFill>
                  <a:srgbClr val="111827"/>
                </a:solidFill>
              </a:ln>
            </c:spPr>
          </c:dPt>
          <c:dPt>
            <c:idx val="2"/>
            <c:spPr>
              <a:solidFill>
                <a:srgbClr val="FFD966"/>
              </a:solidFill>
              <a:ln w="9525">
                <a:solidFill>
                  <a:srgbClr val="111827"/>
                </a:solidFill>
              </a:ln>
            </c:spPr>
          </c:dPt>
          <c:dPt>
            <c:idx val="3"/>
            <c:spPr>
              <a:solidFill>
                <a:srgbClr val="FFD966"/>
              </a:solidFill>
              <a:ln w="9525">
                <a:solidFill>
                  <a:srgbClr val="111827"/>
                </a:solidFill>
              </a:ln>
            </c:spPr>
          </c:dPt>
          <c:dPt>
            <c:idx val="4"/>
            <c:spPr>
              <a:solidFill>
                <a:srgbClr val="FFD966"/>
              </a:solidFill>
              <a:ln w="9525">
                <a:solidFill>
                  <a:srgbClr val="111827"/>
                </a:solidFill>
              </a:ln>
            </c:spPr>
          </c:dPt>
          <c:dPt>
            <c:idx val="5"/>
            <c:spPr>
              <a:solidFill>
                <a:srgbClr val="FFD966"/>
              </a:solidFill>
              <a:ln w="9525">
                <a:solidFill>
                  <a:srgbClr val="111827"/>
                </a:solidFill>
              </a:ln>
            </c:spPr>
          </c:dPt>
          <c:dPt>
            <c:idx val="6"/>
            <c:spPr>
              <a:solidFill>
                <a:srgbClr val="F6B26B"/>
              </a:solidFill>
              <a:ln w="9525">
                <a:solidFill>
                  <a:srgbClr val="111827"/>
                </a:solidFill>
              </a:ln>
            </c:spPr>
          </c:dPt>
          <c:dPt>
            <c:idx val="7"/>
            <c:spPr>
              <a:solidFill>
                <a:srgbClr val="FFD966"/>
              </a:solidFill>
              <a:ln w="9525">
                <a:solidFill>
                  <a:srgbClr val="111827"/>
                </a:solidFill>
              </a:ln>
            </c:spPr>
          </c:dPt>
          <c:dPt>
            <c:idx val="8"/>
            <c:spPr>
              <a:solidFill>
                <a:srgbClr val="F6B26B"/>
              </a:solidFill>
              <a:ln w="9525">
                <a:solidFill>
                  <a:srgbClr val="111827"/>
                </a:solidFill>
              </a:ln>
            </c:spPr>
          </c:dPt>
          <c:dPt>
            <c:idx val="9"/>
            <c:spPr>
              <a:solidFill>
                <a:srgbClr val="F6B26B"/>
              </a:solidFill>
              <a:ln w="9525">
                <a:solidFill>
                  <a:srgbClr val="111827"/>
                </a:solidFill>
              </a:ln>
            </c:spPr>
          </c:dPt>
          <c:dPt>
            <c:idx val="10"/>
            <c:spPr>
              <a:solidFill>
                <a:srgbClr val="F6B26B"/>
              </a:solidFill>
              <a:ln w="9525">
                <a:solidFill>
                  <a:srgbClr val="111827"/>
                </a:solidFill>
              </a:ln>
            </c:spPr>
          </c:dPt>
          <c:dPt>
            <c:idx val="11"/>
            <c:spPr>
              <a:solidFill>
                <a:srgbClr val="F6B26B"/>
              </a:solidFill>
              <a:ln w="9525">
                <a:solidFill>
                  <a:srgbClr val="111827"/>
                </a:solidFill>
              </a:ln>
            </c:spPr>
          </c:dPt>
          <c:dPt>
            <c:idx val="12"/>
            <c:spPr>
              <a:solidFill>
                <a:srgbClr val="F6B26B"/>
              </a:solidFill>
              <a:ln w="9525">
                <a:solidFill>
                  <a:srgbClr val="111827"/>
                </a:solidFill>
              </a:ln>
            </c:spPr>
          </c:dPt>
          <c:dPt>
            <c:idx val="13"/>
            <c:spPr>
              <a:solidFill>
                <a:srgbClr val="FFD966"/>
              </a:solidFill>
              <a:ln w="9525">
                <a:solidFill>
                  <a:srgbClr val="111827"/>
                </a:solidFill>
              </a:ln>
            </c:spPr>
          </c:dPt>
          <c:dPt>
            <c:idx val="14"/>
            <c:spPr>
              <a:solidFill>
                <a:srgbClr val="F6B26B"/>
              </a:solidFill>
              <a:ln w="9525">
                <a:solidFill>
                  <a:srgbClr val="111827"/>
                </a:solidFill>
              </a:ln>
            </c:spPr>
          </c:dPt>
          <c:dPt>
            <c:idx val="15"/>
            <c:spPr>
              <a:solidFill>
                <a:srgbClr val="FFD966"/>
              </a:solidFill>
              <a:ln w="9525">
                <a:solidFill>
                  <a:srgbClr val="111827"/>
                </a:solidFill>
              </a:ln>
            </c:spPr>
          </c:dPt>
          <c:dPt>
            <c:idx val="16"/>
            <c:spPr>
              <a:solidFill>
                <a:srgbClr val="FFD966"/>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6B26B"/>
              </a:solidFill>
              <a:ln w="9525">
                <a:solidFill>
                  <a:srgbClr val="111827"/>
                </a:solidFill>
              </a:ln>
            </c:spPr>
          </c:dPt>
          <c:dPt>
            <c:idx val="20"/>
            <c:spPr>
              <a:solidFill>
                <a:srgbClr val="FFD966"/>
              </a:solidFill>
              <a:ln w="9525">
                <a:solidFill>
                  <a:srgbClr val="111827"/>
                </a:solidFill>
              </a:ln>
            </c:spPr>
          </c:dPt>
          <c:dPt>
            <c:idx val="21"/>
            <c:spPr>
              <a:solidFill>
                <a:srgbClr val="F6B26B"/>
              </a:solidFill>
              <a:ln w="9525">
                <a:solidFill>
                  <a:srgbClr val="111827"/>
                </a:solidFill>
              </a:ln>
            </c:spPr>
          </c:dPt>
          <c:dPt>
            <c:idx val="22"/>
            <c:spPr>
              <a:solidFill>
                <a:srgbClr val="FFD966"/>
              </a:solidFill>
              <a:ln w="9525">
                <a:solidFill>
                  <a:srgbClr val="111827"/>
                </a:solidFill>
              </a:ln>
            </c:spPr>
          </c:dPt>
          <c:dPt>
            <c:idx val="23"/>
            <c:spPr>
              <a:solidFill>
                <a:srgbClr val="FFD966"/>
              </a:solidFill>
              <a:ln w="9525">
                <a:solidFill>
                  <a:srgbClr val="111827"/>
                </a:solidFill>
              </a:ln>
            </c:spPr>
          </c:dPt>
          <c:dPt>
            <c:idx val="24"/>
            <c:spPr>
              <a:solidFill>
                <a:srgbClr val="F6B26B"/>
              </a:solidFill>
              <a:ln w="9525">
                <a:solidFill>
                  <a:srgbClr val="111827"/>
                </a:solidFill>
              </a:ln>
            </c:spPr>
          </c:dPt>
          <c:dPt>
            <c:idx val="25"/>
            <c:spPr>
              <a:solidFill>
                <a:srgbClr val="FFD966"/>
              </a:solidFill>
              <a:ln w="9525">
                <a:solidFill>
                  <a:srgbClr val="111827"/>
                </a:solidFill>
              </a:ln>
            </c:spPr>
          </c:dPt>
          <c:dPt>
            <c:idx val="26"/>
            <c:spPr>
              <a:solidFill>
                <a:srgbClr val="B6D7A8"/>
              </a:solidFill>
              <a:ln w="9525">
                <a:solidFill>
                  <a:srgbClr val="111827"/>
                </a:solidFill>
              </a:ln>
            </c:spPr>
          </c:dPt>
          <c:dPt>
            <c:idx val="27"/>
            <c:spPr>
              <a:solidFill>
                <a:srgbClr val="F6B26B"/>
              </a:solidFill>
              <a:ln w="9525">
                <a:solidFill>
                  <a:srgbClr val="111827"/>
                </a:solidFill>
              </a:ln>
            </c:spPr>
          </c:dPt>
          <c:dPt>
            <c:idx val="28"/>
            <c:spPr>
              <a:solidFill>
                <a:srgbClr val="B6D7A8"/>
              </a:solidFill>
              <a:ln w="9525">
                <a:solidFill>
                  <a:srgbClr val="111827"/>
                </a:solidFill>
              </a:ln>
            </c:spPr>
          </c:dPt>
          <c:dPt>
            <c:idx val="29"/>
            <c:spPr>
              <a:solidFill>
                <a:srgbClr val="B6D7A8"/>
              </a:solidFill>
              <a:ln w="9525">
                <a:solidFill>
                  <a:srgbClr val="111827"/>
                </a:solidFill>
              </a:ln>
            </c:spPr>
          </c:dPt>
          <c:dPt>
            <c:idx val="30"/>
            <c:spPr>
              <a:solidFill>
                <a:srgbClr val="F6B26B"/>
              </a:solidFill>
              <a:ln w="9525">
                <a:solidFill>
                  <a:srgbClr val="111827"/>
                </a:solidFill>
              </a:ln>
            </c:spPr>
          </c:dPt>
          <c:dPt>
            <c:idx val="31"/>
            <c:spPr>
              <a:solidFill>
                <a:srgbClr val="F6B26B"/>
              </a:solidFill>
              <a:ln w="9525">
                <a:solidFill>
                  <a:srgbClr val="111827"/>
                </a:solidFill>
              </a:ln>
            </c:spPr>
          </c:dPt>
          <c:dPt>
            <c:idx val="32"/>
            <c:spPr>
              <a:solidFill>
                <a:srgbClr val="F6B26B"/>
              </a:solidFill>
              <a:ln w="9525">
                <a:solidFill>
                  <a:srgbClr val="111827"/>
                </a:solidFill>
              </a:ln>
            </c:spPr>
          </c:dPt>
          <c:cat>
            <c:strRef>
              <c:f>Sheet1!$A$2:$A$34</c:f>
              <c:strCache>
                <c:ptCount val="33"/>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strCache>
            </c:strRef>
          </c:cat>
          <c:val>
            <c:numRef>
              <c:f>Sheet1!$B$2:$B$34</c:f>
              <c:numCache>
                <c:formatCode>General</c:formatCode>
                <c:ptCount val="33"/>
                <c:pt idx="0">
                  <c:v>2.0</c:v>
                </c:pt>
                <c:pt idx="1">
                  <c:v>1.0</c:v>
                </c:pt>
                <c:pt idx="2">
                  <c:v>2.0</c:v>
                </c:pt>
                <c:pt idx="3">
                  <c:v>2.0</c:v>
                </c:pt>
                <c:pt idx="4">
                  <c:v>2.0</c:v>
                </c:pt>
                <c:pt idx="5">
                  <c:v>2.0</c:v>
                </c:pt>
                <c:pt idx="6">
                  <c:v>3.0</c:v>
                </c:pt>
                <c:pt idx="7">
                  <c:v>2.0</c:v>
                </c:pt>
                <c:pt idx="8">
                  <c:v>3.0</c:v>
                </c:pt>
                <c:pt idx="9">
                  <c:v>3.0</c:v>
                </c:pt>
                <c:pt idx="10">
                  <c:v>3.0</c:v>
                </c:pt>
                <c:pt idx="11">
                  <c:v>3.0</c:v>
                </c:pt>
                <c:pt idx="12">
                  <c:v>3.0</c:v>
                </c:pt>
                <c:pt idx="13">
                  <c:v>2.0</c:v>
                </c:pt>
                <c:pt idx="14">
                  <c:v>3.0</c:v>
                </c:pt>
                <c:pt idx="15">
                  <c:v>2.0</c:v>
                </c:pt>
                <c:pt idx="16">
                  <c:v>2.0</c:v>
                </c:pt>
                <c:pt idx="17">
                  <c:v>2.0</c:v>
                </c:pt>
                <c:pt idx="18">
                  <c:v>2.0</c:v>
                </c:pt>
                <c:pt idx="19">
                  <c:v>3.0</c:v>
                </c:pt>
                <c:pt idx="20">
                  <c:v>2.0</c:v>
                </c:pt>
                <c:pt idx="21">
                  <c:v>3.0</c:v>
                </c:pt>
                <c:pt idx="22">
                  <c:v>2.0</c:v>
                </c:pt>
                <c:pt idx="23">
                  <c:v>2.0</c:v>
                </c:pt>
                <c:pt idx="24">
                  <c:v>3.0</c:v>
                </c:pt>
                <c:pt idx="25">
                  <c:v>2.0</c:v>
                </c:pt>
                <c:pt idx="26">
                  <c:v>1.0</c:v>
                </c:pt>
                <c:pt idx="27">
                  <c:v>3.0</c:v>
                </c:pt>
                <c:pt idx="28">
                  <c:v>1.0</c:v>
                </c:pt>
                <c:pt idx="29">
                  <c:v>1.0</c:v>
                </c:pt>
                <c:pt idx="30">
                  <c:v>3.0</c:v>
                </c:pt>
                <c:pt idx="31">
                  <c:v>3.0</c:v>
                </c:pt>
                <c:pt idx="32">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second line has the sign of the right side reversed ($-\frac{1}{2\sqrt{1-x^2}}$ instead of $+\frac{1}{2\sqrt{1-x^2}}$), which carries through to $\frac12\sin^{-1}x-\frac{y}{x-y}=\frac\pi4+2$. That curve satisfies the point $(1,2)$ but not the equation as printed (numerical check: left side $-0.530$, right side $+0.530$ at $x=1/3$). Correct: $\frac{y}{x-y}=-\frac12\sin^{-1}x+\frac\pi4-2$. The answer key is wrong for the printed equation (it would be right if the equation had $\frac{x\,dy-y\,dx}{(x-y)^2}$).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says the curve passes through $\left(e,\frac1e\right)$ when it solves for $c$; the question's point is $\left(1,\frac1e\right)$. With $\left(e,\frac1e\right)$ one would get $c=1$, not $c=e$. The PDF's $c=e$ and final curve are consistent with $\left(1,\frac1e\right)$, so only the printed point in the working is corrected.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middle lines are garbled: it writes the midpoint $R$ as $(0,y)$ and the equation as $x+x-y\frac{dx}{dy}$ over 2 equal to $0$ without stating $Q$'s coordinates clearly; the final answer is right. Written out above with $R=(0,y/2)$ and $Q=\left(x-y\frac{dx}{dy},0\right)$.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subscripts are mis-typed in the step after (5): it writes $\frac32v_0=2Ve^{-k}$ and $v_0=Ve^{-k_1}$; they should be $2Ve^{-k_1}$ and $Ve^{-k_2}$. It also prints $T=\frac{\log2}{\log\frac43}$ as '$\log_4 2/3$' in the final line. Answer $\log_{4/3}2$ (numerically $2.409$)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stops at $m=5t\frac{100+t}{50+t}$ and never evaluates the amount after $10$ minutes, although the question asks for it (the key gives $91\frac23$). The last bullet is added: $m(10)=5\cdot10\cdot\frac{110}{60}=91\frac23$ gm.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equation as $\frac{dy}{dx}-\frac yx=kx^2$ and the solution as $y=\frac{kx^3}{2}+cx$ (signs lost in the printing), which does not match its own key $2y+kx^3=cx$. From $y-xy'=kx^3$ the correct equation is $\frac{dy}{dx}-\frac yx=-kx^2$, giving $y=-\frac{kx^3}{2}+cx$, i.e. the key's $2y+kx^3=cx$.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ends at $x-2\tan^{-1}x+c$ and does not apply the condition 'passes through the origin' (it gives $c=0$) before quoting the key $y=(x-2\tan^{-1}x)(1+x^2)$. The last two bullets are added.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In the first line of the PDF's working the denominator is printed as $f(h+(x+1))+f(x+1)$; it should be $f(h+(x+1))-f(x+1)$ (the PDF itself uses the minus sign from the next line on). Answer $1$ is correct and verified with $f(x)=x^2+1$.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Typographical slips only: the PDF prints $\frac{4}{2}$ for $\frac{2^2}{2}$ and has an intermediate line $e^2=\frac{-2}{1+f(2)}$ that drops the constant $2$ (since $\frac{2f}{1+f}=2-\frac{2}{1+f}$); the correct relation $e^2=\frac{2f(2)}{1+f(2)}$ gives $f(2)=\frac{e^2}{2-e^2}$. $k=2$ is correct as the intended answer. Note (see report): $y=\frac{1}{2e^{-x^2/2}-1}$ becomes infinite at $x=\sqrt{2\ln2}\approx1.18$, so $f(2)&lt;0$ is only formally obtained; the intended answer $k=2$ stands.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In (C) the PDF says the sign of $f'(x)$ changes 'from $-$ve to $+$ve' while $f$ passes through $x=\frac\pi6,\frac{5\pi}6$. That describes a local minimum; at these points $f'$ changes from $+$ve to $-$ve, which is why they are local maxima (e.g. $f\left(\frac\pi6\right)=\frac54$ is the largest value of $f$). The conclusion (P, Q, R, T) is unaffected. Also, the PDF lists the matches in (A), (B) and (D) without checking each interval; the checks are added. The answer key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Typographical slips in the PDF's working: in (C) the sum is printed as $|x+1|+|x-2|+|x+1|+|x+2|$ (the first term should be $|x-1|$); in (D) it writes $y=c^{x+c}-1$ for $y=e^{x+c}-1$; in (A) it only quotes the graph without the monotonicity argument. Rewritten with the integer table for (C). The answer key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SHEET Differential Equation (C2) — Paper Analysis</a:t>
            </a:r>
            <a:endParaRPr sz="4000">
              <a:solidFill>
                <a:srgbClr val="FFFFFF"/>
              </a:solidFill>
            </a:endParaRPr>
          </a:p>
          <a:p>
            <a:pPr algn="ctr"/>
            <a:r>
              <a:rPr sz="2200">
                <a:solidFill>
                  <a:srgbClr val="FFFFFF"/>
                </a:solidFill>
                <a:latin typeface="Arial"/>
              </a:rPr>
              <a:t>Exercise C-II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Q21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Complete solution required</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r>
                  <a:rPr lang="en-IN" sz="2400">
                    <a:solidFill>
                      <a:srgbClr val="111827"/>
                    </a:solidFill>
                    <a:latin typeface="Cambria Math" panose="02040503050406030204" pitchFamily="18" charset="0"/>
                  </a:rPr>
                  <a:t>$(x^3+y^2+2)\,dx+2y\,dy=0$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 by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Putting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𝑣</m:t>
                    </m:r>
                  </m:oMath>
                </a14:m>
                <a:r>
                  <a:rPr sz="2400" b="0">
                    <a:solidFill>
                      <a:srgbClr val="78350F"/>
                    </a:solidFill>
                    <a:latin typeface="Arial"/>
                  </a:rPr>
                  <a:t> turns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oMath>
                </a14:m>
                <a:r>
                  <a:rPr sz="2400" b="0">
                    <a:solidFill>
                      <a:srgbClr val="78350F"/>
                    </a:solidFill>
                    <a:latin typeface="Arial"/>
                  </a:rPr>
                  <a:t> into </a:t>
                </a:r>
                <a14:m>
                  <m:oMath xmlns:m="http://schemas.openxmlformats.org/officeDocument/2006/math">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𝑣</m:t>
                    </m:r>
                  </m:oMath>
                </a14:m>
                <a:r>
                  <a:rPr sz="2400" b="0">
                    <a:solidFill>
                      <a:srgbClr val="78350F"/>
                    </a:solidFill>
                    <a:latin typeface="Arial"/>
                  </a:rPr>
                  <a:t> and the equation into a linear one in </a:t>
                </a:r>
                <a14:m>
                  <m:oMath xmlns:m="http://schemas.openxmlformats.org/officeDocument/2006/math">
                    <m:r>
                      <a:rPr lang="en-IN" sz="2400" i="1">
                        <a:solidFill>
                          <a:srgbClr val="78350F"/>
                        </a:solidFill>
                        <a:latin typeface="Cambria Math" panose="02040503050406030204" pitchFamily="18" charset="0"/>
                      </a:rPr>
                      <m:t>𝑣</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Putting </a:t>
                </a:r>
                <a:r>
                  <a:rPr lang="en-IN" sz="2400">
                    <a:solidFill>
                      <a:srgbClr val="78350F"/>
                    </a:solidFill>
                    <a:latin typeface="Cambria Math" panose="02040503050406030204" pitchFamily="18" charset="0"/>
                  </a:rPr>
                  <a:t>$y^2+2=v$</a:t>
                </a:r>
                <a:r>
                  <a:rPr sz="2400" b="0">
                    <a:solidFill>
                      <a:srgbClr val="78350F"/>
                    </a:solidFill>
                    <a:latin typeface="Arial"/>
                  </a:rPr>
                  <a:t> turns </a:t>
                </a:r>
                <a:r>
                  <a:rPr lang="en-IN" sz="2400">
                    <a:solidFill>
                      <a:srgbClr val="78350F"/>
                    </a:solidFill>
                    <a:latin typeface="Cambria Math" panose="02040503050406030204" pitchFamily="18" charset="0"/>
                  </a:rPr>
                  <a:t>$2y\,dy$</a:t>
                </a:r>
                <a:r>
                  <a:rPr sz="2400" b="0">
                    <a:solidFill>
                      <a:srgbClr val="78350F"/>
                    </a:solidFill>
                    <a:latin typeface="Arial"/>
                  </a:rPr>
                  <a:t> into </a:t>
                </a:r>
                <a:r>
                  <a:rPr lang="en-IN" sz="2400">
                    <a:solidFill>
                      <a:srgbClr val="78350F"/>
                    </a:solidFill>
                    <a:latin typeface="Cambria Math" panose="02040503050406030204" pitchFamily="18" charset="0"/>
                  </a:rPr>
                  <a:t>$dv$</a:t>
                </a:r>
                <a:r>
                  <a:rPr sz="2400" b="0">
                    <a:solidFill>
                      <a:srgbClr val="78350F"/>
                    </a:solidFill>
                    <a:latin typeface="Arial"/>
                  </a:rPr>
                  <a:t> and the equation into a linear one in </a:t>
                </a:r>
                <a:r>
                  <a:rPr lang="en-IN" sz="2400">
                    <a:solidFill>
                      <a:srgbClr val="78350F"/>
                    </a:solidFill>
                    <a:latin typeface="Cambria Math" panose="02040503050406030204" pitchFamily="18" charset="0"/>
                  </a:rPr>
                  <a:t>$v$</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in (1):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which is linear in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factor: </a:t>
                </a: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$(x^3+y^2+2)\,dx+2y\,dy=0$</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$y^2+2=v$</a:t>
                </a:r>
                <a:r>
                  <a:rPr sz="2400" b="0">
                    <a:solidFill>
                      <a:srgbClr val="111827"/>
                    </a:solidFill>
                    <a:latin typeface="Arial"/>
                  </a:rPr>
                  <a:t>. Then </a:t>
                </a:r>
                <a:r>
                  <a:rPr lang="en-IN" sz="2400">
                    <a:solidFill>
                      <a:srgbClr val="111827"/>
                    </a:solidFill>
                    <a:latin typeface="Cambria Math" panose="02040503050406030204" pitchFamily="18" charset="0"/>
                  </a:rPr>
                  <a:t>$2y\,dy=dv$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in (1): </a:t>
                </a:r>
                <a:r>
                  <a:rPr lang="en-IN" sz="2400">
                    <a:solidFill>
                      <a:srgbClr val="111827"/>
                    </a:solidFill>
                    <a:latin typeface="Cambria Math" panose="02040503050406030204" pitchFamily="18" charset="0"/>
                  </a:rPr>
                  <a:t>$(x^3+v)\,dx+dv=0$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$\frac{dv}{dx}+v=-x^3$</a:t>
                </a:r>
                <a:r>
                  <a:rPr sz="2400" b="0">
                    <a:solidFill>
                      <a:srgbClr val="111827"/>
                    </a:solidFill>
                    <a:latin typeface="Arial"/>
                  </a:rPr>
                  <a:t>, which is linear in </a:t>
                </a:r>
                <a:r>
                  <a:rPr lang="en-IN" sz="2400">
                    <a:solidFill>
                      <a:srgbClr val="111827"/>
                    </a:solidFill>
                    <a:latin typeface="Cambria Math" panose="02040503050406030204" pitchFamily="18" charset="0"/>
                  </a:rPr>
                  <a:t>$v$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factor: </a:t>
                </a:r>
                <a:r>
                  <a:rPr lang="en-IN" sz="2400">
                    <a:solidFill>
                      <a:srgbClr val="111827"/>
                    </a:solidFill>
                    <a:latin typeface="Cambria Math" panose="02040503050406030204" pitchFamily="18" charset="0"/>
                  </a:rPr>
                  <a:t>$\text{I.F.}=e^{\int 1\,dx}=e^{x}$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by parts three times,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$v\cdot e^{x}=\int -x^3e^{x}\,dx+C$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by parts three times, </a:t>
                </a:r>
                <a:r>
                  <a:rPr lang="en-IN" sz="2400">
                    <a:solidFill>
                      <a:srgbClr val="111827"/>
                    </a:solidFill>
                    <a:latin typeface="Cambria Math" panose="02040503050406030204" pitchFamily="18" charset="0"/>
                  </a:rPr>
                  <a:t>$\int x^3e^x\,dx=(x^3-3x^2+6x-6)e^x$</a:t>
                </a:r>
                <a:r>
                  <a:rPr sz="2400" b="0">
                    <a:solidFill>
                      <a:srgbClr val="111827"/>
                    </a:solidFill>
                    <a:latin typeface="Arial"/>
                  </a:rPr>
                  <a:t>, so </a:t>
                </a:r>
                <a:r>
                  <a:rPr lang="en-IN" sz="2400">
                    <a:solidFill>
                      <a:srgbClr val="111827"/>
                    </a:solidFill>
                    <a:latin typeface="Cambria Math" panose="02040503050406030204" pitchFamily="18" charset="0"/>
                  </a:rPr>
                  <a:t>$v\,e^x=-(x^3-3x^2+6x-6)e^x+C$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$v=-x^3+3x^2-6x+6+Ce^{-x}$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$v=y^2+2$</a:t>
                </a:r>
                <a:r>
                  <a:rPr sz="2400" b="0">
                    <a:solidFill>
                      <a:srgbClr val="111827"/>
                    </a:solidFill>
                    <a:latin typeface="Arial"/>
                  </a:rPr>
                  <a:t>: </a:t>
                </a:r>
                <a:r>
                  <a:rPr lang="en-IN" sz="2400">
                    <a:solidFill>
                      <a:srgbClr val="111827"/>
                    </a:solidFill>
                    <a:latin typeface="Cambria Math" panose="02040503050406030204" pitchFamily="18" charset="0"/>
                  </a:rPr>
                  <a:t>$y^2=-x^3+3x^2-6x+4+ce^{-x}$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sSup>
                      <m:e>
                        <m:r>
                          <a:rPr lang="en-IN" sz="2800" i="1">
                            <a:solidFill>
                              <a:srgbClr val="15803D"/>
                            </a:solidFill>
                            <a:latin typeface="Cambria Math" panose="02040503050406030204" pitchFamily="18" charset="0"/>
                          </a:rPr>
                          <m:t>𝑒</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$y^2=-x^3+3x^2-6x+4+ce^{-x}$</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a:t>
                </a:r>
                <a14:m>
                  <m:oMath xmlns:m="http://schemas.openxmlformats.org/officeDocument/2006/math">
                    <m:sSup>
                      <m:e>
                        <m:r>
                          <a:rPr lang="en-IN" sz="2400" i="1">
                            <a:solidFill>
                              <a:srgbClr val="78350F"/>
                            </a:solidFill>
                            <a:latin typeface="Cambria Math" panose="02040503050406030204" pitchFamily="18" charset="0"/>
                          </a:rPr>
                          <m:t>𝑣</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with the operator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(undetermined coefficients) instead of integrating by parts.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a:t>
                </a:r>
                <a:r>
                  <a:rPr lang="en-IN" sz="2400">
                    <a:solidFill>
                      <a:srgbClr val="78350F"/>
                    </a:solidFill>
                    <a:latin typeface="Cambria Math" panose="02040503050406030204" pitchFamily="18" charset="0"/>
                  </a:rPr>
                  <a:t>$v'+v=-x^3$</a:t>
                </a:r>
                <a:r>
                  <a:rPr sz="2400" b="0">
                    <a:solidFill>
                      <a:srgbClr val="78350F"/>
                    </a:solidFill>
                    <a:latin typeface="Arial"/>
                  </a:rPr>
                  <a:t> with the operator </a:t>
                </a:r>
                <a:r>
                  <a:rPr lang="en-IN" sz="2400">
                    <a:solidFill>
                      <a:srgbClr val="78350F"/>
                    </a:solidFill>
                    <a:latin typeface="Cambria Math" panose="02040503050406030204" pitchFamily="18" charset="0"/>
                  </a:rPr>
                  <a:t>$(1+D)^{-1}$</a:t>
                </a:r>
                <a:r>
                  <a:rPr sz="2400" b="0">
                    <a:solidFill>
                      <a:srgbClr val="78350F"/>
                    </a:solidFill>
                    <a:latin typeface="Arial"/>
                  </a:rPr>
                  <a:t> (undetermined coefficients) instead of integrating by parts.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complementary function is </a:t>
                </a:r>
                <a14:m>
                  <m:oMath xmlns:m="http://schemas.openxmlformats.org/officeDocument/2006/math">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particular solution is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den>
                    </m:f>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$v=y^2+2$</a:t>
                </a:r>
                <a:r>
                  <a:rPr sz="2400" b="0">
                    <a:solidFill>
                      <a:srgbClr val="111827"/>
                    </a:solidFill>
                    <a:latin typeface="Arial"/>
                  </a:rPr>
                  <a:t> gives </a:t>
                </a:r>
                <a:r>
                  <a:rPr lang="en-IN" sz="2400">
                    <a:solidFill>
                      <a:srgbClr val="111827"/>
                    </a:solidFill>
                    <a:latin typeface="Cambria Math" panose="02040503050406030204" pitchFamily="18" charset="0"/>
                  </a:rPr>
                  <a:t>$\frac{dv}{dx}+v=-x^3$</a:t>
                </a:r>
                <a:r>
                  <a:rPr sz="2400" b="0">
                    <a:solidFill>
                      <a:srgbClr val="111827"/>
                    </a:solidFill>
                    <a:latin typeface="Arial"/>
                  </a:rPr>
                  <a:t>, i.e. </a:t>
                </a:r>
                <a:r>
                  <a:rPr lang="en-IN" sz="2400">
                    <a:solidFill>
                      <a:srgbClr val="111827"/>
                    </a:solidFill>
                    <a:latin typeface="Cambria Math" panose="02040503050406030204" pitchFamily="18" charset="0"/>
                  </a:rPr>
                  <a:t>$(D+1)v=-x^3$</a:t>
                </a:r>
                <a:r>
                  <a:rPr sz="2400" b="0">
                    <a:solidFill>
                      <a:srgbClr val="111827"/>
                    </a:solidFill>
                    <a:latin typeface="Arial"/>
                  </a:rPr>
                  <a:t> with </a:t>
                </a:r>
                <a:r>
                  <a:rPr lang="en-IN" sz="2400">
                    <a:solidFill>
                      <a:srgbClr val="111827"/>
                    </a:solidFill>
                    <a:latin typeface="Cambria Math" panose="02040503050406030204" pitchFamily="18" charset="0"/>
                  </a:rPr>
                  <a:t>$D=\frac{d}{dx}$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complementary function is </a:t>
                </a:r>
                <a:r>
                  <a:rPr lang="en-IN" sz="2400">
                    <a:solidFill>
                      <a:srgbClr val="111827"/>
                    </a:solidFill>
                    <a:latin typeface="Cambria Math" panose="02040503050406030204" pitchFamily="18" charset="0"/>
                  </a:rPr>
                  <a:t>$Ce^{-x}$</a:t>
                </a:r>
                <a:r>
                  <a:rPr sz="2400" b="0">
                    <a:solidFill>
                      <a:srgbClr val="111827"/>
                    </a:solidFill>
                    <a:latin typeface="Arial"/>
                  </a:rPr>
                  <a:t>, because </a:t>
                </a:r>
                <a:r>
                  <a:rPr lang="en-IN" sz="2400">
                    <a:solidFill>
                      <a:srgbClr val="111827"/>
                    </a:solidFill>
                    <a:latin typeface="Cambria Math" panose="02040503050406030204" pitchFamily="18" charset="0"/>
                  </a:rPr>
                  <a:t>$(D+1)v=0$</a:t>
                </a:r>
                <a:r>
                  <a:rPr sz="2400" b="0">
                    <a:solidFill>
                      <a:srgbClr val="111827"/>
                    </a:solidFill>
                    <a:latin typeface="Arial"/>
                  </a:rPr>
                  <a:t> gives </a:t>
                </a:r>
                <a:r>
                  <a:rPr lang="en-IN" sz="2400">
                    <a:solidFill>
                      <a:srgbClr val="111827"/>
                    </a:solidFill>
                    <a:latin typeface="Cambria Math" panose="02040503050406030204" pitchFamily="18" charset="0"/>
                  </a:rPr>
                  <a:t>$v=Ce^{-x}$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particular solution is </a:t>
                </a:r>
                <a:r>
                  <a:rPr lang="en-IN" sz="2400">
                    <a:solidFill>
                      <a:srgbClr val="111827"/>
                    </a:solidFill>
                    <a:latin typeface="Cambria Math" panose="02040503050406030204" pitchFamily="18" charset="0"/>
                  </a:rPr>
                  <a:t>$v_p=-\frac{1}{1+D}x^3=-(1-D+D^2-D^3+\cdots)x^3$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4</m:t>
                        </m:r>
                      </m:sup>
                    </m:s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series stops: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the same curve family.</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$D^4x^3=0$</a:t>
                </a:r>
                <a:r>
                  <a:rPr sz="2400" b="0">
                    <a:solidFill>
                      <a:srgbClr val="111827"/>
                    </a:solidFill>
                    <a:latin typeface="Arial"/>
                  </a:rPr>
                  <a:t> the series stops: </a:t>
                </a:r>
                <a:r>
                  <a:rPr lang="en-IN" sz="2400">
                    <a:solidFill>
                      <a:srgbClr val="111827"/>
                    </a:solidFill>
                    <a:latin typeface="Cambria Math" panose="02040503050406030204" pitchFamily="18" charset="0"/>
                  </a:rPr>
                  <a:t>$v_p=-(x^3-3x^2+6x-6)$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$v=-x^3+3x^2-6x+6+Ce^{-x}$</a:t>
                </a:r>
                <a:r>
                  <a:rPr sz="2400" b="0">
                    <a:solidFill>
                      <a:srgbClr val="111827"/>
                    </a:solidFill>
                    <a:latin typeface="Arial"/>
                  </a:rPr>
                  <a:t> and </a:t>
                </a:r>
                <a:r>
                  <a:rPr lang="en-IN" sz="2400">
                    <a:solidFill>
                      <a:srgbClr val="111827"/>
                    </a:solidFill>
                    <a:latin typeface="Cambria Math" panose="02040503050406030204" pitchFamily="18" charset="0"/>
                  </a:rPr>
                  <a:t>$y^2=v-2=-x^3+3x^2-6x+4+Ce^{-x}$</a:t>
                </a:r>
                <a:r>
                  <a:rPr sz="2400" b="0">
                    <a:solidFill>
                      <a:srgbClr val="111827"/>
                    </a:solidFill>
                    <a:latin typeface="Arial"/>
                  </a:rPr>
                  <a:t>, the same curve family.</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sSup>
                      <m:e>
                        <m:r>
                          <a:rPr lang="en-IN" sz="2800" i="1">
                            <a:solidFill>
                              <a:srgbClr val="15803D"/>
                            </a:solidFill>
                            <a:latin typeface="Cambria Math" panose="02040503050406030204" pitchFamily="18" charset="0"/>
                          </a:rPr>
                          <m:t>𝑒</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$y^2=-x^3+3x^2-6x+4+ce^{-x}$</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first-order equation has a factor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try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turns it into a linear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Polynomial forcing: </a:t>
                </a:r>
                <a14:m>
                  <m:oMath xmlns:m="http://schemas.openxmlformats.org/officeDocument/2006/math">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the particular solution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 same alternating-derivative pattern).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 first-order equation has a factor </a:t>
                </a:r>
                <a:r>
                  <a:rPr lang="en-IN" sz="2400">
                    <a:solidFill>
                      <a:srgbClr val="111827"/>
                    </a:solidFill>
                    <a:latin typeface="Cambria Math" panose="02040503050406030204" pitchFamily="18" charset="0"/>
                  </a:rPr>
                  <a:t>$y\,dy$</a:t>
                </a:r>
                <a:r>
                  <a:rPr sz="2400" b="0">
                    <a:solidFill>
                      <a:srgbClr val="111827"/>
                    </a:solidFill>
                    <a:latin typeface="Arial"/>
                  </a:rPr>
                  <a:t> (or </a:t>
                </a:r>
                <a:r>
                  <a:rPr lang="en-IN" sz="2400">
                    <a:solidFill>
                      <a:srgbClr val="111827"/>
                    </a:solidFill>
                    <a:latin typeface="Cambria Math" panose="02040503050406030204" pitchFamily="18" charset="0"/>
                  </a:rPr>
                  <a:t>$y\,y'$</a:t>
                </a:r>
                <a:r>
                  <a:rPr sz="2400" b="0">
                    <a:solidFill>
                      <a:srgbClr val="111827"/>
                    </a:solidFill>
                    <a:latin typeface="Arial"/>
                  </a:rPr>
                  <a:t>), try </a:t>
                </a:r>
                <a:r>
                  <a:rPr lang="en-IN" sz="2400">
                    <a:solidFill>
                      <a:srgbClr val="111827"/>
                    </a:solidFill>
                    <a:latin typeface="Cambria Math" panose="02040503050406030204" pitchFamily="18" charset="0"/>
                  </a:rPr>
                  <a:t>$y^2=v$</a:t>
                </a:r>
                <a:r>
                  <a:rPr sz="2400" b="0">
                    <a:solidFill>
                      <a:srgbClr val="111827"/>
                    </a:solidFill>
                    <a:latin typeface="Arial"/>
                  </a:rPr>
                  <a:t>: </a:t>
                </a:r>
                <a:r>
                  <a:rPr lang="en-IN" sz="2400">
                    <a:solidFill>
                      <a:srgbClr val="111827"/>
                    </a:solidFill>
                    <a:latin typeface="Cambria Math" panose="02040503050406030204" pitchFamily="18" charset="0"/>
                  </a:rPr>
                  <a:t>$y\,y'=\frac12 v'$</a:t>
                </a:r>
                <a:r>
                  <a:rPr sz="2400" b="0">
                    <a:solidFill>
                      <a:srgbClr val="111827"/>
                    </a:solidFill>
                    <a:latin typeface="Arial"/>
                  </a:rPr>
                  <a:t> turns it into a linear equation.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Polynomial forcing: </a:t>
                </a:r>
                <a:r>
                  <a:rPr lang="en-IN" sz="2400">
                    <a:solidFill>
                      <a:srgbClr val="111827"/>
                    </a:solidFill>
                    <a:latin typeface="Cambria Math" panose="02040503050406030204" pitchFamily="18" charset="0"/>
                  </a:rPr>
                  <a:t>$v'+v=P(x)$</a:t>
                </a:r>
                <a:r>
                  <a:rPr sz="2400" b="0">
                    <a:solidFill>
                      <a:srgbClr val="111827"/>
                    </a:solidFill>
                    <a:latin typeface="Arial"/>
                  </a:rPr>
                  <a:t> has the particular solution </a:t>
                </a:r>
                <a:r>
                  <a:rPr lang="en-IN" sz="2400">
                    <a:solidFill>
                      <a:srgbClr val="111827"/>
                    </a:solidFill>
                    <a:latin typeface="Cambria Math" panose="02040503050406030204" pitchFamily="18" charset="0"/>
                  </a:rPr>
                  <a:t>$(1-D+D^2-\cdots)P$</a:t>
                </a:r>
                <a:r>
                  <a:rPr sz="2400" b="0">
                    <a:solidFill>
                      <a:srgbClr val="111827"/>
                    </a:solidFill>
                    <a:latin typeface="Arial"/>
                  </a:rPr>
                  <a:t>, i.e. </a:t>
                </a:r>
                <a:r>
                  <a:rPr lang="en-IN" sz="2400">
                    <a:solidFill>
                      <a:srgbClr val="111827"/>
                    </a:solidFill>
                    <a:latin typeface="Cambria Math" panose="02040503050406030204" pitchFamily="18" charset="0"/>
                  </a:rPr>
                  <a:t>$P-P'+P''-\cdots$</a:t>
                </a:r>
                <a:r>
                  <a:rPr sz="2400" b="0">
                    <a:solidFill>
                      <a:srgbClr val="111827"/>
                    </a:solidFill>
                    <a:latin typeface="Arial"/>
                  </a:rPr>
                  <a:t>. Check: </a:t>
                </a:r>
                <a:r>
                  <a:rPr lang="en-IN" sz="2400">
                    <a:solidFill>
                      <a:srgbClr val="111827"/>
                    </a:solidFill>
                    <a:latin typeface="Cambria Math" panose="02040503050406030204" pitchFamily="18" charset="0"/>
                  </a:rPr>
                  <a:t>$P=x$</a:t>
                </a:r>
                <a:r>
                  <a:rPr sz="2400" b="0">
                    <a:solidFill>
                      <a:srgbClr val="111827"/>
                    </a:solidFill>
                    <a:latin typeface="Arial"/>
                  </a:rPr>
                  <a:t> gives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$(x-1)'+(x-1)=x$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 x^ne^{x}dx=e^x\left(x^n-nx^{n-1}+n(n-1)x^{n-2}-\cdots\right)+C$</a:t>
                </a:r>
                <a:r>
                  <a:rPr sz="2400" b="0">
                    <a:solidFill>
                      <a:srgbClr val="111827"/>
                    </a:solidFill>
                    <a:latin typeface="Arial"/>
                  </a:rPr>
                  <a:t> (the same alternating-derivative pattern).</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r>
                  <a:rPr lang="en-IN" sz="2400">
                    <a:solidFill>
                      <a:srgbClr val="111827"/>
                    </a:solidFill>
                    <a:latin typeface="Cambria Math" panose="02040503050406030204" pitchFamily="18" charset="0"/>
                  </a:rPr>
                  <a:t>$\left(\frac{dy}{dx}\right)^2-(x+y)\frac{dy}{dx}+xy=0$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Differential equations of first order and higher degree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quadratic in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oMath>
                </a14:m>
                <a:r>
                  <a:rPr sz="2400" b="0">
                    <a:solidFill>
                      <a:srgbClr val="78350F"/>
                    </a:solidFill>
                    <a:latin typeface="Arial"/>
                  </a:rPr>
                  <a:t> has sum of roots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and product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oMath>
                </a14:m>
                <a:r>
                  <a:rPr sz="2400" b="0">
                    <a:solidFill>
                      <a:srgbClr val="78350F"/>
                    </a:solidFill>
                    <a:latin typeface="Arial"/>
                  </a:rPr>
                  <a:t>, so it factorises as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quadratic in </a:t>
                </a:r>
                <a:r>
                  <a:rPr lang="en-IN" sz="2400">
                    <a:solidFill>
                      <a:srgbClr val="78350F"/>
                    </a:solidFill>
                    <a:latin typeface="Cambria Math" panose="02040503050406030204" pitchFamily="18" charset="0"/>
                  </a:rPr>
                  <a:t>$\frac{dy}{dx}$</a:t>
                </a:r>
                <a:r>
                  <a:rPr sz="2400" b="0">
                    <a:solidFill>
                      <a:srgbClr val="78350F"/>
                    </a:solidFill>
                    <a:latin typeface="Arial"/>
                  </a:rPr>
                  <a:t> has sum of roots </a:t>
                </a:r>
                <a:r>
                  <a:rPr lang="en-IN" sz="2400">
                    <a:solidFill>
                      <a:srgbClr val="78350F"/>
                    </a:solidFill>
                    <a:latin typeface="Cambria Math" panose="02040503050406030204" pitchFamily="18" charset="0"/>
                  </a:rPr>
                  <a:t>$x+y$</a:t>
                </a:r>
                <a:r>
                  <a:rPr sz="2400" b="0">
                    <a:solidFill>
                      <a:srgbClr val="78350F"/>
                    </a:solidFill>
                    <a:latin typeface="Arial"/>
                  </a:rPr>
                  <a:t> and product </a:t>
                </a:r>
                <a:r>
                  <a:rPr lang="en-IN" sz="2400">
                    <a:solidFill>
                      <a:srgbClr val="78350F"/>
                    </a:solidFill>
                    <a:latin typeface="Cambria Math" panose="02040503050406030204" pitchFamily="18" charset="0"/>
                  </a:rPr>
                  <a:t>$xy$</a:t>
                </a:r>
                <a:r>
                  <a:rPr sz="2400" b="0">
                    <a:solidFill>
                      <a:srgbClr val="78350F"/>
                    </a:solidFill>
                    <a:latin typeface="Arial"/>
                  </a:rPr>
                  <a:t>, so it factorises as </a:t>
                </a:r>
                <a:r>
                  <a:rPr lang="en-IN" sz="2400">
                    <a:solidFill>
                      <a:srgbClr val="78350F"/>
                    </a:solidFill>
                    <a:latin typeface="Cambria Math" panose="02040503050406030204" pitchFamily="18" charset="0"/>
                  </a:rPr>
                  <a:t>$(y'-y)(y'-x)$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Factorise: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e>
                    </m: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Factorise: </a:t>
                </a:r>
                <a:r>
                  <a:rPr lang="en-IN" sz="2400">
                    <a:solidFill>
                      <a:srgbClr val="111827"/>
                    </a:solidFill>
                    <a:latin typeface="Cambria Math" panose="02040503050406030204" pitchFamily="18" charset="0"/>
                  </a:rPr>
                  <a:t>$\left(\frac{dy}{dx}-y\right)\left(\frac{dy}{dx}-x\right)=0$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$\frac{dy}{dx}=y$</a:t>
                </a:r>
                <a:r>
                  <a:rPr sz="2400" b="0">
                    <a:solidFill>
                      <a:srgbClr val="111827"/>
                    </a:solidFill>
                    <a:latin typeface="Arial"/>
                  </a:rPr>
                  <a:t> or </a:t>
                </a:r>
                <a:r>
                  <a:rPr lang="en-IN" sz="2400">
                    <a:solidFill>
                      <a:srgbClr val="111827"/>
                    </a:solidFill>
                    <a:latin typeface="Cambria Math" panose="02040503050406030204" pitchFamily="18" charset="0"/>
                  </a:rPr>
                  <a:t>$\frac{dy}{dx}=x$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$\frac{dy}{dx}=y$</a:t>
                </a:r>
                <a:r>
                  <a:rPr sz="2400" b="0">
                    <a:solidFill>
                      <a:srgbClr val="111827"/>
                    </a:solidFill>
                    <a:latin typeface="Arial"/>
                  </a:rPr>
                  <a:t>: </a:t>
                </a:r>
                <a:r>
                  <a:rPr lang="en-IN" sz="2400">
                    <a:solidFill>
                      <a:srgbClr val="111827"/>
                    </a:solidFill>
                    <a:latin typeface="Cambria Math" panose="02040503050406030204" pitchFamily="18" charset="0"/>
                  </a:rPr>
                  <a:t>$\ln y=x+c$</a:t>
                </a:r>
                <a:r>
                  <a:rPr sz="2400" b="0">
                    <a:solidFill>
                      <a:srgbClr val="111827"/>
                    </a:solidFill>
                    <a:latin typeface="Arial"/>
                  </a:rPr>
                  <a:t>, so </a:t>
                </a:r>
                <a:r>
                  <a:rPr lang="en-IN" sz="2400">
                    <a:solidFill>
                      <a:srgbClr val="111827"/>
                    </a:solidFill>
                    <a:latin typeface="Cambria Math" panose="02040503050406030204" pitchFamily="18" charset="0"/>
                  </a:rPr>
                  <a:t>$y=ke^{x}$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solution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 product of the two families is the general integral).</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$\frac{dy}{dx}=x$</a:t>
                </a:r>
                <a:r>
                  <a:rPr sz="2400" b="0">
                    <a:solidFill>
                      <a:srgbClr val="111827"/>
                    </a:solidFill>
                    <a:latin typeface="Arial"/>
                  </a:rPr>
                  <a:t>: </a:t>
                </a:r>
                <a:r>
                  <a:rPr lang="en-IN" sz="2400">
                    <a:solidFill>
                      <a:srgbClr val="111827"/>
                    </a:solidFill>
                    <a:latin typeface="Cambria Math" panose="02040503050406030204" pitchFamily="18" charset="0"/>
                  </a:rPr>
                  <a:t>$y=\frac{x^2}{2}+c$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solution is </a:t>
                </a:r>
                <a:r>
                  <a:rPr lang="en-IN" sz="2400">
                    <a:solidFill>
                      <a:srgbClr val="111827"/>
                    </a:solidFill>
                    <a:latin typeface="Cambria Math" panose="02040503050406030204" pitchFamily="18" charset="0"/>
                  </a:rPr>
                  <a:t>$y=ke^{x}$</a:t>
                </a:r>
                <a:r>
                  <a:rPr sz="2400" b="0">
                    <a:solidFill>
                      <a:srgbClr val="111827"/>
                    </a:solidFill>
                    <a:latin typeface="Arial"/>
                  </a:rPr>
                  <a:t> or </a:t>
                </a:r>
                <a:r>
                  <a:rPr lang="en-IN" sz="2400">
                    <a:solidFill>
                      <a:srgbClr val="111827"/>
                    </a:solidFill>
                    <a:latin typeface="Cambria Math" panose="02040503050406030204" pitchFamily="18" charset="0"/>
                  </a:rPr>
                  <a:t>$y=\frac{x^2}{2}+c$</a:t>
                </a:r>
                <a:r>
                  <a:rPr sz="2400" b="0">
                    <a:solidFill>
                      <a:srgbClr val="111827"/>
                    </a:solidFill>
                    <a:latin typeface="Arial"/>
                  </a:rPr>
                  <a:t> (the product of the two families is the general integral).</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𝑥</m:t>
                        </m:r>
                      </m:sup>
                    </m:sSup>
                  </m:oMath>
                </a14:m>
                <a:r>
                  <a:rPr sz="2800" b="1">
                    <a:solidFill>
                      <a:srgbClr val="15803D"/>
                    </a:solidFill>
                    <a:latin typeface="Arial"/>
                  </a:rPr>
                  <a:t> or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$y=ce^{x}$</a:t>
                </a:r>
                <a:r>
                  <a:rPr sz="2800" b="1">
                    <a:solidFill>
                      <a:srgbClr val="15803D"/>
                    </a:solidFill>
                    <a:latin typeface="Arial"/>
                  </a:rPr>
                  <a:t> or </a:t>
                </a:r>
                <a:r>
                  <a:rPr lang="en-IN" sz="2800">
                    <a:solidFill>
                      <a:srgbClr val="15803D"/>
                    </a:solidFill>
                    <a:latin typeface="Cambria Math" panose="02040503050406030204" pitchFamily="18" charset="0"/>
                  </a:rPr>
                  <a:t>$y=c+\frac{x^2}{2}$</a:t>
                </a:r>
                <a:endParaRPr sz="2800">
                  <a:solidFill>
                    <a:srgbClr val="15803D"/>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first-degree-in-</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quadratic in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is solved by factorising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the sum and product of the roots are visible; each factor gives its own family.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complete solution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the pair of families, equivalently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𝐹</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the same arbitrary constant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 factors may give different constants; the answer is written as an 'or' statement, not as one formula.</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first-degree-in-</a:t>
                </a:r>
                <a:r>
                  <a:rPr lang="en-IN" sz="2400">
                    <a:solidFill>
                      <a:srgbClr val="111827"/>
                    </a:solidFill>
                    <a:latin typeface="Cambria Math" panose="02040503050406030204" pitchFamily="18" charset="0"/>
                  </a:rPr>
                  <a:t>$x,y$</a:t>
                </a:r>
                <a:r>
                  <a:rPr sz="2400" b="0">
                    <a:solidFill>
                      <a:srgbClr val="111827"/>
                    </a:solidFill>
                    <a:latin typeface="Arial"/>
                  </a:rPr>
                  <a:t> quadratic in </a:t>
                </a:r>
                <a:r>
                  <a:rPr lang="en-IN" sz="2400">
                    <a:solidFill>
                      <a:srgbClr val="111827"/>
                    </a:solidFill>
                    <a:latin typeface="Cambria Math" panose="02040503050406030204" pitchFamily="18" charset="0"/>
                  </a:rPr>
                  <a:t>$p=\frac{dy}{dx}$</a:t>
                </a:r>
                <a:r>
                  <a:rPr sz="2400" b="0">
                    <a:solidFill>
                      <a:srgbClr val="111827"/>
                    </a:solidFill>
                    <a:latin typeface="Arial"/>
                  </a:rPr>
                  <a:t> is solved by factorising </a:t>
                </a:r>
                <a:r>
                  <a:rPr lang="en-IN" sz="2400">
                    <a:solidFill>
                      <a:srgbClr val="111827"/>
                    </a:solidFill>
                    <a:latin typeface="Cambria Math" panose="02040503050406030204" pitchFamily="18" charset="0"/>
                  </a:rPr>
                  <a:t>$p^2-(a+b)p+ab=(p-a)(p-b)$</a:t>
                </a:r>
                <a:r>
                  <a:rPr sz="2400" b="0">
                    <a:solidFill>
                      <a:srgbClr val="111827"/>
                    </a:solidFill>
                    <a:latin typeface="Arial"/>
                  </a:rPr>
                  <a:t> when the sum and product of the roots are visible; each factor gives its own family.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complete solution of </a:t>
                </a:r>
                <a:r>
                  <a:rPr lang="en-IN" sz="2400">
                    <a:solidFill>
                      <a:srgbClr val="111827"/>
                    </a:solidFill>
                    <a:latin typeface="Cambria Math" panose="02040503050406030204" pitchFamily="18" charset="0"/>
                  </a:rPr>
                  <a:t>$(p-a)(p-b)=0$</a:t>
                </a:r>
                <a:r>
                  <a:rPr sz="2400" b="0">
                    <a:solidFill>
                      <a:srgbClr val="111827"/>
                    </a:solidFill>
                    <a:latin typeface="Arial"/>
                  </a:rPr>
                  <a:t> is the pair of families, equivalently </a:t>
                </a:r>
                <a:r>
                  <a:rPr lang="en-IN" sz="2400">
                    <a:solidFill>
                      <a:srgbClr val="111827"/>
                    </a:solidFill>
                    <a:latin typeface="Cambria Math" panose="02040503050406030204" pitchFamily="18" charset="0"/>
                  </a:rPr>
                  <a:t>$(y-F_1(x,c))(y-F_2(x,c))=0$</a:t>
                </a:r>
                <a:r>
                  <a:rPr sz="2400" b="0">
                    <a:solidFill>
                      <a:srgbClr val="111827"/>
                    </a:solidFill>
                    <a:latin typeface="Arial"/>
                  </a:rPr>
                  <a:t> with the same arbitrary constant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 factors may give different constants; the answer is written as an 'or' statement, not as one formula.</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r>
                  <a:rPr lang="en-IN" sz="2400">
                    <a:solidFill>
                      <a:srgbClr val="111827"/>
                    </a:solidFill>
                    <a:latin typeface="Cambria Math" panose="02040503050406030204" pitchFamily="18" charset="0"/>
                  </a:rPr>
                  <a:t>$\frac{dy}{dx}=\frac{y^2-x}{2y(x+1)}$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 by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Multiplying by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𝑦</m:t>
                    </m:r>
                  </m:oMath>
                </a14:m>
                <a:r>
                  <a:rPr sz="2400" b="0">
                    <a:solidFill>
                      <a:srgbClr val="78350F"/>
                    </a:solidFill>
                    <a:latin typeface="Arial"/>
                  </a:rPr>
                  <a:t> makes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gives a linear equation in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Multiplying by </a:t>
                </a:r>
                <a:r>
                  <a:rPr lang="en-IN" sz="2400">
                    <a:solidFill>
                      <a:srgbClr val="78350F"/>
                    </a:solidFill>
                    <a:latin typeface="Cambria Math" panose="02040503050406030204" pitchFamily="18" charset="0"/>
                  </a:rPr>
                  <a:t>$2y$</a:t>
                </a:r>
                <a:r>
                  <a:rPr sz="2400" b="0">
                    <a:solidFill>
                      <a:srgbClr val="78350F"/>
                    </a:solidFill>
                    <a:latin typeface="Arial"/>
                  </a:rPr>
                  <a:t> makes </a:t>
                </a:r>
                <a:r>
                  <a:rPr lang="en-IN" sz="2400">
                    <a:solidFill>
                      <a:srgbClr val="78350F"/>
                    </a:solidFill>
                    <a:latin typeface="Cambria Math" panose="02040503050406030204" pitchFamily="18" charset="0"/>
                  </a:rPr>
                  <a:t>$2y\,y'=\frac{d(y^2)}{dx}$</a:t>
                </a:r>
                <a:r>
                  <a:rPr sz="2400" b="0">
                    <a:solidFill>
                      <a:srgbClr val="78350F"/>
                    </a:solidFill>
                    <a:latin typeface="Arial"/>
                  </a:rPr>
                  <a:t>, so </a:t>
                </a:r>
                <a:r>
                  <a:rPr lang="en-IN" sz="2400">
                    <a:solidFill>
                      <a:srgbClr val="78350F"/>
                    </a:solidFill>
                    <a:latin typeface="Cambria Math" panose="02040503050406030204" pitchFamily="18" charset="0"/>
                  </a:rPr>
                  <a:t>$t=y^2$</a:t>
                </a:r>
                <a:r>
                  <a:rPr sz="2400" b="0">
                    <a:solidFill>
                      <a:srgbClr val="78350F"/>
                    </a:solidFill>
                    <a:latin typeface="Arial"/>
                  </a:rPr>
                  <a:t> gives a linear equation in </a:t>
                </a:r>
                <a:r>
                  <a:rPr lang="en-IN" sz="2400">
                    <a:solidFill>
                      <a:srgbClr val="78350F"/>
                    </a:solidFill>
                    <a:latin typeface="Cambria Math" panose="02040503050406030204" pitchFamily="18" charset="0"/>
                  </a:rPr>
                  <a:t>$t$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as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 a linear equation.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$\frac{dy}{dx}=\frac{y^2-x}{2y(x+1)}$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Rewrite as </a:t>
                </a:r>
                <a:r>
                  <a:rPr lang="en-IN" sz="2400">
                    <a:solidFill>
                      <a:srgbClr val="111827"/>
                    </a:solidFill>
                    <a:latin typeface="Cambria Math" panose="02040503050406030204" pitchFamily="18" charset="0"/>
                  </a:rPr>
                  <a:t>$2y\frac{dy}{dx}-\frac{y^2}{x+1}=\frac{-x}{x+1}$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$y^2=t$</a:t>
                </a:r>
                <a:r>
                  <a:rPr sz="2400" b="0">
                    <a:solidFill>
                      <a:srgbClr val="111827"/>
                    </a:solidFill>
                    <a:latin typeface="Arial"/>
                  </a:rPr>
                  <a:t>, so </a:t>
                </a:r>
                <a:r>
                  <a:rPr lang="en-IN" sz="2400">
                    <a:solidFill>
                      <a:srgbClr val="111827"/>
                    </a:solidFill>
                    <a:latin typeface="Cambria Math" panose="02040503050406030204" pitchFamily="18" charset="0"/>
                  </a:rPr>
                  <a:t>$2y\frac{dy}{dx}=\frac{dt}{dx}$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$\frac{dt}{dx}-\frac{t}{x+1}=\frac{-x}{1+x}$</a:t>
                </a:r>
                <a:r>
                  <a:rPr sz="2400" b="0">
                    <a:solidFill>
                      <a:srgbClr val="111827"/>
                    </a:solidFill>
                    <a:latin typeface="Arial"/>
                  </a:rPr>
                  <a:t>, a linear equation.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$\text{I.F.}=e^{-\int\frac{1}{x+1}dx}=e^{-\ln(x+1)}=\frac{1}{x+1}$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$\frac{t}{x+1}=\int\frac{1}{1+x}\cdot\frac{-x}{1+x}\,dx=\int\left(\frac{1}{(1+x)^2}-\frac{1}{1+x}\right)dx$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$\frac{t}{1+x}=\frac{-1}{1+x}-\ln(1+x)+\ln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$t=-1+(1+x)\ln\left(\frac{C}{1+x}\right)$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$y^2=-1+(1+x)\ln\left(\frac{C}{1+x}\right)$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ln</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𝑐</m:t>
                        </m:r>
                      </m:num>
                      <m:den>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$y^2=-1+(x+1)\ln\frac{c}{x+1}$</a:t>
                </a:r>
                <a:endParaRPr sz="2800">
                  <a:solidFill>
                    <a:srgbClr val="15803D"/>
                  </a:solidFill>
                </a:endParaRP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shift </a:t>
                </a:r>
                <a14:m>
                  <m:oMath xmlns:m="http://schemas.openxmlformats.org/officeDocument/2006/math">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equation becomes homogeneous, so use </a:t>
                </a:r>
                <a14:m>
                  <m:oMath xmlns:m="http://schemas.openxmlformats.org/officeDocument/2006/math">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𝑤</m:t>
                    </m:r>
                    <m:r>
                      <a:rPr lang="en-IN" sz="2400" i="1">
                        <a:solidFill>
                          <a:srgbClr val="78350F"/>
                        </a:solidFill>
                        <a:latin typeface="Cambria Math" panose="02040503050406030204" pitchFamily="18" charset="0"/>
                      </a:rPr>
                      <m:t>𝑢</m:t>
                    </m:r>
                  </m:oMath>
                </a14:m>
                <a:r>
                  <a:rPr sz="2400" b="0">
                    <a:solidFill>
                      <a:srgbClr val="78350F"/>
                    </a:solidFill>
                    <a:latin typeface="Arial"/>
                  </a:rPr>
                  <a:t> instead of an integrating factor.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After </a:t>
                </a:r>
                <a:r>
                  <a:rPr lang="en-IN" sz="2400">
                    <a:solidFill>
                      <a:srgbClr val="78350F"/>
                    </a:solidFill>
                    <a:latin typeface="Cambria Math" panose="02040503050406030204" pitchFamily="18" charset="0"/>
                  </a:rPr>
                  <a:t>$t=y^2$</a:t>
                </a:r>
                <a:r>
                  <a:rPr sz="2400" b="0">
                    <a:solidFill>
                      <a:srgbClr val="78350F"/>
                    </a:solidFill>
                    <a:latin typeface="Arial"/>
                  </a:rPr>
                  <a:t>, shift </a:t>
                </a:r>
                <a:r>
                  <a:rPr lang="en-IN" sz="2400">
                    <a:solidFill>
                      <a:srgbClr val="78350F"/>
                    </a:solidFill>
                    <a:latin typeface="Cambria Math" panose="02040503050406030204" pitchFamily="18" charset="0"/>
                  </a:rPr>
                  <a:t>$s=t+1,\ u=x+1$</a:t>
                </a:r>
                <a:r>
                  <a:rPr sz="2400" b="0">
                    <a:solidFill>
                      <a:srgbClr val="78350F"/>
                    </a:solidFill>
                    <a:latin typeface="Arial"/>
                  </a:rPr>
                  <a:t>: the equation becomes homogeneous, so use </a:t>
                </a:r>
                <a:r>
                  <a:rPr lang="en-IN" sz="2400">
                    <a:solidFill>
                      <a:srgbClr val="78350F"/>
                    </a:solidFill>
                    <a:latin typeface="Cambria Math" panose="02040503050406030204" pitchFamily="18" charset="0"/>
                  </a:rPr>
                  <a:t>$s=wu$</a:t>
                </a:r>
                <a:r>
                  <a:rPr sz="2400" b="0">
                    <a:solidFill>
                      <a:srgbClr val="78350F"/>
                    </a:solidFill>
                    <a:latin typeface="Arial"/>
                  </a:rPr>
                  <a:t> instead of an integrating factor.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equation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homogeneous: put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a:rPr lang="en-IN" sz="2400" i="1">
                        <a:solidFill>
                          <a:srgbClr val="111827"/>
                        </a:solidFill>
                        <a:latin typeface="Cambria Math" panose="02040503050406030204" pitchFamily="18" charset="0"/>
                      </a:rPr>
                      <m:t>𝑢</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$t=y^2$</a:t>
                </a:r>
                <a:r>
                  <a:rPr sz="2400" b="0">
                    <a:solidFill>
                      <a:srgbClr val="111827"/>
                    </a:solidFill>
                    <a:latin typeface="Arial"/>
                  </a:rPr>
                  <a:t> the equation is </a:t>
                </a:r>
                <a:r>
                  <a:rPr lang="en-IN" sz="2400">
                    <a:solidFill>
                      <a:srgbClr val="111827"/>
                    </a:solidFill>
                    <a:latin typeface="Cambria Math" panose="02040503050406030204" pitchFamily="18" charset="0"/>
                  </a:rPr>
                  <a:t>$\frac{dt}{dx}=\frac{t-x}{x+1}$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$u=x+1$</a:t>
                </a:r>
                <a:r>
                  <a:rPr sz="2400" b="0">
                    <a:solidFill>
                      <a:srgbClr val="111827"/>
                    </a:solidFill>
                    <a:latin typeface="Arial"/>
                  </a:rPr>
                  <a:t> and </a:t>
                </a:r>
                <a:r>
                  <a:rPr lang="en-IN" sz="2400">
                    <a:solidFill>
                      <a:srgbClr val="111827"/>
                    </a:solidFill>
                    <a:latin typeface="Cambria Math" panose="02040503050406030204" pitchFamily="18" charset="0"/>
                  </a:rPr>
                  <a:t>$s=t+1$</a:t>
                </a:r>
                <a:r>
                  <a:rPr sz="2400" b="0">
                    <a:solidFill>
                      <a:srgbClr val="111827"/>
                    </a:solidFill>
                    <a:latin typeface="Arial"/>
                  </a:rPr>
                  <a:t>. Then </a:t>
                </a:r>
                <a:r>
                  <a:rPr lang="en-IN" sz="2400">
                    <a:solidFill>
                      <a:srgbClr val="111827"/>
                    </a:solidFill>
                    <a:latin typeface="Cambria Math" panose="02040503050406030204" pitchFamily="18" charset="0"/>
                  </a:rPr>
                  <a:t>$t-x=s-u$</a:t>
                </a:r>
                <a:r>
                  <a:rPr sz="2400" b="0">
                    <a:solidFill>
                      <a:srgbClr val="111827"/>
                    </a:solidFill>
                    <a:latin typeface="Arial"/>
                  </a:rPr>
                  <a:t>, so </a:t>
                </a:r>
                <a:r>
                  <a:rPr lang="en-IN" sz="2400">
                    <a:solidFill>
                      <a:srgbClr val="111827"/>
                    </a:solidFill>
                    <a:latin typeface="Cambria Math" panose="02040503050406030204" pitchFamily="18" charset="0"/>
                  </a:rPr>
                  <a:t>$\frac{ds}{du}=\frac{s-u}{u}=\frac{s}{u}-1$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homogeneous: put </a:t>
                </a:r>
                <a:r>
                  <a:rPr lang="en-IN" sz="2400">
                    <a:solidFill>
                      <a:srgbClr val="111827"/>
                    </a:solidFill>
                    <a:latin typeface="Cambria Math" panose="02040503050406030204" pitchFamily="18" charset="0"/>
                  </a:rPr>
                  <a:t>$s=wu$</a:t>
                </a:r>
                <a:r>
                  <a:rPr sz="2400" b="0">
                    <a:solidFill>
                      <a:srgbClr val="111827"/>
                    </a:solidFill>
                    <a:latin typeface="Arial"/>
                  </a:rPr>
                  <a:t>, so </a:t>
                </a:r>
                <a:r>
                  <a:rPr lang="en-IN" sz="2400">
                    <a:solidFill>
                      <a:srgbClr val="111827"/>
                    </a:solidFill>
                    <a:latin typeface="Cambria Math" panose="02040503050406030204" pitchFamily="18" charset="0"/>
                  </a:rPr>
                  <a:t>$\frac{ds}{du}=w+u\frac{dw}{du}$</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𝑢</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𝑢</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𝑢</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$w+u\frac{dw}{du}=w-1$</a:t>
                </a:r>
                <a:r>
                  <a:rPr sz="2400" b="0">
                    <a:solidFill>
                      <a:srgbClr val="111827"/>
                    </a:solidFill>
                    <a:latin typeface="Arial"/>
                  </a:rPr>
                  <a:t>, i.e. </a:t>
                </a:r>
                <a:r>
                  <a:rPr lang="en-IN" sz="2400">
                    <a:solidFill>
                      <a:srgbClr val="111827"/>
                    </a:solidFill>
                    <a:latin typeface="Cambria Math" panose="02040503050406030204" pitchFamily="18" charset="0"/>
                  </a:rPr>
                  <a:t>$\frac{dw}{du}=-\frac1u$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$w=-\ln u+\ln C=\ln\frac{C}{u}$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$s=u\ln\frac{C}{u}$</a:t>
                </a:r>
                <a:r>
                  <a:rPr sz="2400" b="0">
                    <a:solidFill>
                      <a:srgbClr val="111827"/>
                    </a:solidFill>
                    <a:latin typeface="Arial"/>
                  </a:rPr>
                  <a:t>, i.e. </a:t>
                </a:r>
                <a:r>
                  <a:rPr lang="en-IN" sz="2400">
                    <a:solidFill>
                      <a:srgbClr val="111827"/>
                    </a:solidFill>
                    <a:latin typeface="Cambria Math" panose="02040503050406030204" pitchFamily="18" charset="0"/>
                  </a:rPr>
                  <a:t>$y^2+1=(x+1)\ln\frac{C}{x+1}$</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ln</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𝑐</m:t>
                        </m:r>
                      </m:num>
                      <m:den>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$y^2=-1+(x+1)\ln\frac{c}{x+1}$</a:t>
                </a:r>
                <a:endParaRPr sz="2800">
                  <a:solidFill>
                    <a:srgbClr val="15803D"/>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always set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it becomes the linear equation </a:t>
                </a:r>
                <a14:m>
                  <m:oMath xmlns:m="http://schemas.openxmlformats.org/officeDocument/2006/math">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num>
                      <m:den>
                        <m:r>
                          <a:rPr lang="en-IN" sz="2400" i="1">
                            <a:solidFill>
                              <a:srgbClr val="111827"/>
                            </a:solidFill>
                            <a:latin typeface="Cambria Math" panose="02040503050406030204" pitchFamily="18" charset="0"/>
                          </a:rPr>
                          <m:t>𝑔</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linear equation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oMath>
                </a14:m>
                <a:r>
                  <a:rPr sz="2400" b="0">
                    <a:solidFill>
                      <a:srgbClr val="111827"/>
                    </a:solidFill>
                    <a:latin typeface="Arial"/>
                  </a:rPr>
                  <a:t> with a linear denominator can also be shifted to a homogeneous one by translating the variables.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 write the numerator as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before integrating.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$\frac{dy}{dx}=\frac{y^2+\phi(x)}{2y\,g(x)}$</a:t>
                </a:r>
                <a:r>
                  <a:rPr sz="2400" b="0">
                    <a:solidFill>
                      <a:srgbClr val="111827"/>
                    </a:solidFill>
                    <a:latin typeface="Arial"/>
                  </a:rPr>
                  <a:t> always set </a:t>
                </a:r>
                <a:r>
                  <a:rPr lang="en-IN" sz="2400">
                    <a:solidFill>
                      <a:srgbClr val="111827"/>
                    </a:solidFill>
                    <a:latin typeface="Cambria Math" panose="02040503050406030204" pitchFamily="18" charset="0"/>
                  </a:rPr>
                  <a:t>$t=y^2$</a:t>
                </a:r>
                <a:r>
                  <a:rPr sz="2400" b="0">
                    <a:solidFill>
                      <a:srgbClr val="111827"/>
                    </a:solidFill>
                    <a:latin typeface="Arial"/>
                  </a:rPr>
                  <a:t>: it becomes the linear equation </a:t>
                </a:r>
                <a:r>
                  <a:rPr lang="en-IN" sz="2400">
                    <a:solidFill>
                      <a:srgbClr val="111827"/>
                    </a:solidFill>
                    <a:latin typeface="Cambria Math" panose="02040503050406030204" pitchFamily="18" charset="0"/>
                  </a:rPr>
                  <a:t>$t'=\frac{t+\phi}{g}$</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linear equation </a:t>
                </a:r>
                <a:r>
                  <a:rPr lang="en-IN" sz="2400">
                    <a:solidFill>
                      <a:srgbClr val="111827"/>
                    </a:solidFill>
                    <a:latin typeface="Cambria Math" panose="02040503050406030204" pitchFamily="18" charset="0"/>
                  </a:rPr>
                  <a:t>$\frac{dt}{dx}=\frac{t+a(x)}{x+k}$</a:t>
                </a:r>
                <a:r>
                  <a:rPr sz="2400" b="0">
                    <a:solidFill>
                      <a:srgbClr val="111827"/>
                    </a:solidFill>
                    <a:latin typeface="Arial"/>
                  </a:rPr>
                  <a:t> with a linear denominator can also be shifted to a homogeneous one by translating the variables.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$\frac{-x}{(1+x)^2}=\frac{1}{(1+x)^2}-\frac{1}{1+x}$</a:t>
                </a:r>
                <a:r>
                  <a:rPr sz="2400" b="0">
                    <a:solidFill>
                      <a:srgbClr val="111827"/>
                    </a:solidFill>
                    <a:latin typeface="Arial"/>
                  </a:rPr>
                  <a:t>: write the numerator as </a:t>
                </a:r>
                <a:r>
                  <a:rPr lang="en-IN" sz="2400">
                    <a:solidFill>
                      <a:srgbClr val="111827"/>
                    </a:solidFill>
                    <a:latin typeface="Cambria Math" panose="02040503050406030204" pitchFamily="18" charset="0"/>
                  </a:rPr>
                  <a:t>$1-(1+x)$</a:t>
                </a:r>
                <a:r>
                  <a:rPr sz="2400" b="0">
                    <a:solidFill>
                      <a:srgbClr val="111827"/>
                    </a:solidFill>
                    <a:latin typeface="Arial"/>
                  </a:rPr>
                  <a:t> before integrating.</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r>
                  <a:rPr lang="en-IN" sz="2400">
                    <a:solidFill>
                      <a:srgbClr val="111827"/>
                    </a:solidFill>
                    <a:latin typeface="Cambria Math" panose="02040503050406030204" pitchFamily="18" charset="0"/>
                  </a:rPr>
                  <a:t>$(1-xy+x^2y^2)\,dx=x^2\,dy$</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Differential equations reducible to variable separable form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𝑥</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𝑡</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and the variables separate.</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$xy=t$</a:t>
                </a:r>
                <a:r>
                  <a:rPr sz="2400" b="0">
                    <a:solidFill>
                      <a:srgbClr val="78350F"/>
                    </a:solidFill>
                    <a:latin typeface="Arial"/>
                  </a:rPr>
                  <a:t>: then </a:t>
                </a:r>
                <a:r>
                  <a:rPr lang="en-IN" sz="2400">
                    <a:solidFill>
                      <a:srgbClr val="78350F"/>
                    </a:solidFill>
                    <a:latin typeface="Cambria Math" panose="02040503050406030204" pitchFamily="18" charset="0"/>
                  </a:rPr>
                  <a:t>$x\frac{dy}{dx}=\frac{dt}{dx}-\frac tx$</a:t>
                </a:r>
                <a:r>
                  <a:rPr sz="2400" b="0">
                    <a:solidFill>
                      <a:srgbClr val="78350F"/>
                    </a:solidFill>
                    <a:latin typeface="Arial"/>
                  </a:rPr>
                  <a:t> and the variables separate.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Differentiating, </a:t>
                </a:r>
                <a14:m>
                  <m:oMath xmlns:m="http://schemas.openxmlformats.org/officeDocument/2006/math">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gives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$xy=t$</a:t>
                </a:r>
                <a:r>
                  <a:rPr sz="2400" b="0">
                    <a:solidFill>
                      <a:srgbClr val="111827"/>
                    </a:solidFill>
                    <a:latin typeface="Arial"/>
                  </a:rPr>
                  <a:t>. Differentiating, </a:t>
                </a:r>
                <a:r>
                  <a:rPr lang="en-IN" sz="2400">
                    <a:solidFill>
                      <a:srgbClr val="111827"/>
                    </a:solidFill>
                    <a:latin typeface="Cambria Math" panose="02040503050406030204" pitchFamily="18" charset="0"/>
                  </a:rPr>
                  <a:t>$x\frac{dy}{dx}+y=\frac{dt}{dx}$</a:t>
                </a:r>
                <a:r>
                  <a:rPr sz="2400" b="0">
                    <a:solidFill>
                      <a:srgbClr val="111827"/>
                    </a:solidFill>
                    <a:latin typeface="Arial"/>
                  </a:rPr>
                  <a:t>, so </a:t>
                </a:r>
                <a:r>
                  <a:rPr lang="en-IN" sz="2400">
                    <a:solidFill>
                      <a:srgbClr val="111827"/>
                    </a:solidFill>
                    <a:latin typeface="Cambria Math" panose="02040503050406030204" pitchFamily="18" charset="0"/>
                  </a:rPr>
                  <a:t>$x\frac{dy}{dx}=\frac{dt}{dx}-\frac{t}{x}$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gives </a:t>
                </a:r>
                <a:r>
                  <a:rPr lang="en-IN" sz="2400">
                    <a:solidFill>
                      <a:srgbClr val="111827"/>
                    </a:solidFill>
                    <a:latin typeface="Cambria Math" panose="02040503050406030204" pitchFamily="18" charset="0"/>
                  </a:rPr>
                  <a:t>$x^2\frac{dy}{dx}=1-xy+x^2y^2=1-t+t^2$</a:t>
                </a:r>
                <a:r>
                  <a:rPr sz="2400" b="0">
                    <a:solidFill>
                      <a:srgbClr val="111827"/>
                    </a:solidFill>
                    <a:latin typeface="Arial"/>
                  </a:rPr>
                  <a:t>, i.e. </a:t>
                </a:r>
                <a:r>
                  <a:rPr lang="en-IN" sz="2400">
                    <a:solidFill>
                      <a:srgbClr val="111827"/>
                    </a:solidFill>
                    <a:latin typeface="Cambria Math" panose="02040503050406030204" pitchFamily="18" charset="0"/>
                  </a:rPr>
                  <a:t>$(1-t+t^2)=x\left(\frac{dt}{dx}-\frac{t}{x}\right)$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$1-t+t^2+t=x\frac{dt}{dx}$</a:t>
                </a:r>
                <a:r>
                  <a:rPr sz="2400" b="0">
                    <a:solidFill>
                      <a:srgbClr val="111827"/>
                    </a:solidFill>
                    <a:latin typeface="Arial"/>
                  </a:rPr>
                  <a:t>, i.e. </a:t>
                </a:r>
                <a:r>
                  <a:rPr lang="en-IN" sz="2400">
                    <a:solidFill>
                      <a:srgbClr val="111827"/>
                    </a:solidFill>
                    <a:latin typeface="Cambria Math" panose="02040503050406030204" pitchFamily="18" charset="0"/>
                  </a:rPr>
                  <a:t>$\frac{dt}{1+t^2}=\frac{dx}{x}$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tan</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$\tan^{-1}t=\ln|x|+\ln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$\tan^{-1}(xy)=\ln|cx|$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$xy=\tan\left(\ln|cx|\right)$</a:t>
                </a:r>
                <a:r>
                  <a:rPr sz="2400" b="0">
                    <a:solidFill>
                      <a:srgbClr val="111827"/>
                    </a:solidFill>
                    <a:latin typeface="Arial"/>
                  </a:rPr>
                  <a:t>, i.e. </a:t>
                </a:r>
                <a:r>
                  <a:rPr lang="en-IN" sz="2400">
                    <a:solidFill>
                      <a:srgbClr val="111827"/>
                    </a:solidFill>
                    <a:latin typeface="Cambria Math" panose="02040503050406030204" pitchFamily="18" charset="0"/>
                  </a:rPr>
                  <a:t>$y=\frac1x\tan\left(\ln|cx|\right)$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𝑥</m:t>
                        </m:r>
                      </m:den>
                    </m:f>
                    <m:r>
                      <m:rPr>
                        <m:sty m:val="p"/>
                      </m:rPr>
                      <a:rPr lang="en-IN" sz="2800">
                        <a:solidFill>
                          <a:srgbClr val="15803D"/>
                        </a:solidFill>
                        <a:latin typeface="Cambria Math" panose="02040503050406030204" pitchFamily="18" charset="0"/>
                      </a:rPr>
                      <m:t>tan</m:t>
                    </m:r>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ln</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$y=\frac{1}{x}\tan\left(\ln|cx|\right)$</a:t>
                </a:r>
                <a:endParaRPr sz="2800">
                  <a:solidFill>
                    <a:srgbClr val="15803D"/>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terms into exact differentials: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divide by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Group the terms into exact differentials: </a:t>
                </a:r>
                <a:r>
                  <a:rPr lang="en-IN" sz="2400">
                    <a:solidFill>
                      <a:srgbClr val="78350F"/>
                    </a:solidFill>
                    <a:latin typeface="Cambria Math" panose="02040503050406030204" pitchFamily="18" charset="0"/>
                  </a:rPr>
                  <a:t>$(1+x^2y^2)dx-x\,d(xy)=0$</a:t>
                </a:r>
                <a:r>
                  <a:rPr sz="2400" b="0">
                    <a:solidFill>
                      <a:srgbClr val="78350F"/>
                    </a:solidFill>
                    <a:latin typeface="Arial"/>
                  </a:rPr>
                  <a:t>, and divide by </a:t>
                </a:r>
                <a:r>
                  <a:rPr lang="en-IN" sz="2400">
                    <a:solidFill>
                      <a:srgbClr val="78350F"/>
                    </a:solidFill>
                    <a:latin typeface="Cambria Math" panose="02040503050406030204" pitchFamily="18" charset="0"/>
                  </a:rPr>
                  <a:t>$x(1+x^2y^2)$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note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$dx-xy\,dx+x^2y^2\,dx-x^2\,dy=0$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Group as </a:t>
                </a:r>
                <a:r>
                  <a:rPr lang="en-IN" sz="2400">
                    <a:solidFill>
                      <a:srgbClr val="111827"/>
                    </a:solidFill>
                    <a:latin typeface="Cambria Math" panose="02040503050406030204" pitchFamily="18" charset="0"/>
                  </a:rPr>
                  <a:t>$(1+x^2y^2)\,dx-x\,(y\,dx+x\,dy)=0$</a:t>
                </a:r>
                <a:r>
                  <a:rPr sz="2400" b="0">
                    <a:solidFill>
                      <a:srgbClr val="111827"/>
                    </a:solidFill>
                    <a:latin typeface="Arial"/>
                  </a:rPr>
                  <a:t>, and note </a:t>
                </a:r>
                <a:r>
                  <a:rPr lang="en-IN" sz="2400">
                    <a:solidFill>
                      <a:srgbClr val="111827"/>
                    </a:solidFill>
                    <a:latin typeface="Cambria Math" panose="02040503050406030204" pitchFamily="18" charset="0"/>
                  </a:rPr>
                  <a:t>$y\,dx+x\,dy=d(xy)$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$(1+x^2y^2)\,dx=x\,d(xy)$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$x\,(1+x^2y^2)$</a:t>
                </a:r>
                <a:r>
                  <a:rPr sz="2400" b="0">
                    <a:solidFill>
                      <a:srgbClr val="111827"/>
                    </a:solidFill>
                    <a:latin typeface="Arial"/>
                  </a:rPr>
                  <a:t>: </a:t>
                </a:r>
                <a:r>
                  <a:rPr lang="en-IN" sz="2400">
                    <a:solidFill>
                      <a:srgbClr val="111827"/>
                    </a:solidFill>
                    <a:latin typeface="Cambria Math" panose="02040503050406030204" pitchFamily="18" charset="0"/>
                  </a:rPr>
                  <a:t>$\frac{dx}{x}=\frac{d(xy)}{1+(xy)^2}$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r>
                  <a:rPr lang="en-IN" sz="2400">
                    <a:solidFill>
                      <a:srgbClr val="111827"/>
                    </a:solidFill>
                    <a:latin typeface="Cambria Math" panose="02040503050406030204" pitchFamily="18" charset="0"/>
                  </a:rPr>
                  <a:t>$\ln|x|+\ln c=\tan^{-1}(xy)$</a:t>
                </a:r>
                <a:r>
                  <a:rPr sz="2400" b="0">
                    <a:solidFill>
                      <a:srgbClr val="111827"/>
                    </a:solidFill>
                    <a:latin typeface="Arial"/>
                  </a:rPr>
                  <a:t>, giving </a:t>
                </a:r>
                <a:r>
                  <a:rPr lang="en-IN" sz="2400">
                    <a:solidFill>
                      <a:srgbClr val="111827"/>
                    </a:solidFill>
                    <a:latin typeface="Cambria Math" panose="02040503050406030204" pitchFamily="18" charset="0"/>
                  </a:rPr>
                  <a:t>$y=\frac1x\tan\ln|cx|$</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𝑥</m:t>
                        </m:r>
                      </m:den>
                    </m:f>
                    <m:r>
                      <m:rPr>
                        <m:sty m:val="p"/>
                      </m:rPr>
                      <a:rPr lang="en-IN" sz="2800">
                        <a:solidFill>
                          <a:srgbClr val="15803D"/>
                        </a:solidFill>
                        <a:latin typeface="Cambria Math" panose="02040503050406030204" pitchFamily="18" charset="0"/>
                      </a:rPr>
                      <m:t>tan</m:t>
                    </m:r>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ln</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$y=\frac{1}{x}\tan\left(\ln|cx|\right)$</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combination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signals the substitution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terms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appearing together are the usual cue.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type separation always gives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 cues: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combination </a:t>
                </a:r>
                <a:r>
                  <a:rPr lang="en-IN" sz="2400">
                    <a:solidFill>
                      <a:srgbClr val="111827"/>
                    </a:solidFill>
                    <a:latin typeface="Cambria Math" panose="02040503050406030204" pitchFamily="18" charset="0"/>
                  </a:rPr>
                  <a:t>$y\,dx+x\,dy=d(xy)$</a:t>
                </a:r>
                <a:r>
                  <a:rPr sz="2400" b="0">
                    <a:solidFill>
                      <a:srgbClr val="111827"/>
                    </a:solidFill>
                    <a:latin typeface="Arial"/>
                  </a:rPr>
                  <a:t> signals the substitution </a:t>
                </a:r>
                <a:r>
                  <a:rPr lang="en-IN" sz="2400">
                    <a:solidFill>
                      <a:srgbClr val="111827"/>
                    </a:solidFill>
                    <a:latin typeface="Cambria Math" panose="02040503050406030204" pitchFamily="18" charset="0"/>
                  </a:rPr>
                  <a:t>$t=xy$</a:t>
                </a:r>
                <a:r>
                  <a:rPr sz="2400" b="0">
                    <a:solidFill>
                      <a:srgbClr val="111827"/>
                    </a:solidFill>
                    <a:latin typeface="Arial"/>
                  </a:rPr>
                  <a:t>; terms </a:t>
                </a:r>
                <a:r>
                  <a:rPr lang="en-IN" sz="2400">
                    <a:solidFill>
                      <a:srgbClr val="111827"/>
                    </a:solidFill>
                    <a:latin typeface="Cambria Math" panose="02040503050406030204" pitchFamily="18" charset="0"/>
                  </a:rPr>
                  <a:t>$x^2y^2$</a:t>
                </a:r>
                <a:r>
                  <a:rPr sz="2400" b="0">
                    <a:solidFill>
                      <a:srgbClr val="111827"/>
                    </a:solidFill>
                    <a:latin typeface="Arial"/>
                  </a:rPr>
                  <a:t> and </a:t>
                </a:r>
                <a:r>
                  <a:rPr lang="en-IN" sz="2400">
                    <a:solidFill>
                      <a:srgbClr val="111827"/>
                    </a:solidFill>
                    <a:latin typeface="Cambria Math" panose="02040503050406030204" pitchFamily="18" charset="0"/>
                  </a:rPr>
                  <a:t>$xy$</a:t>
                </a:r>
                <a:r>
                  <a:rPr sz="2400" b="0">
                    <a:solidFill>
                      <a:srgbClr val="111827"/>
                    </a:solidFill>
                    <a:latin typeface="Arial"/>
                  </a:rPr>
                  <a:t> appearing together are the usual cue.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$\frac{dt}{1+t^2}=\frac{dx}{x}$</a:t>
                </a:r>
                <a:r>
                  <a:rPr sz="2400" b="0">
                    <a:solidFill>
                      <a:srgbClr val="111827"/>
                    </a:solidFill>
                    <a:latin typeface="Arial"/>
                  </a:rPr>
                  <a:t> type separation always gives </a:t>
                </a:r>
                <a:r>
                  <a:rPr lang="en-IN" sz="2400">
                    <a:solidFill>
                      <a:srgbClr val="111827"/>
                    </a:solidFill>
                    <a:latin typeface="Cambria Math" panose="02040503050406030204" pitchFamily="18" charset="0"/>
                  </a:rPr>
                  <a:t>$t=\tan(\ln|cx|)$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 cues: </a:t>
                </a:r>
                <a:r>
                  <a:rPr lang="en-IN" sz="2400">
                    <a:solidFill>
                      <a:srgbClr val="111827"/>
                    </a:solidFill>
                    <a:latin typeface="Cambria Math" panose="02040503050406030204" pitchFamily="18" charset="0"/>
                  </a:rPr>
                  <a:t>$x\,dy-y\,dx\to\frac yx$</a:t>
                </a:r>
                <a:r>
                  <a:rPr sz="2400" b="0">
                    <a:solidFill>
                      <a:srgbClr val="111827"/>
                    </a:solidFill>
                    <a:latin typeface="Arial"/>
                  </a:rPr>
                  <a:t> or </a:t>
                </a:r>
                <a:r>
                  <a:rPr lang="en-IN" sz="2400">
                    <a:solidFill>
                      <a:srgbClr val="111827"/>
                    </a:solidFill>
                    <a:latin typeface="Cambria Math" panose="02040503050406030204" pitchFamily="18" charset="0"/>
                  </a:rPr>
                  <a:t>$\frac xy$</a:t>
                </a:r>
                <a:r>
                  <a:rPr sz="2400" b="0">
                    <a:solidFill>
                      <a:srgbClr val="111827"/>
                    </a:solidFill>
                    <a:latin typeface="Arial"/>
                  </a:rPr>
                  <a:t>; </a:t>
                </a:r>
                <a:r>
                  <a:rPr lang="en-IN" sz="2400">
                    <a:solidFill>
                      <a:srgbClr val="111827"/>
                    </a:solidFill>
                    <a:latin typeface="Cambria Math" panose="02040503050406030204" pitchFamily="18" charset="0"/>
                  </a:rPr>
                  <a:t>$x\,dx+y\,dy\to x^2+y^2$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the differential equation </a:t>
                </a:r>
                <a:r>
                  <a:rPr lang="en-IN" sz="2400">
                    <a:solidFill>
                      <a:srgbClr val="111827"/>
                    </a:solidFill>
                    <a:latin typeface="Cambria Math" panose="02040503050406030204" pitchFamily="18" charset="0"/>
                  </a:rPr>
                  <a:t>$(x^2+y)\frac{dy}{dx}=6x$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 (taking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as dependent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Choice>
        <mc:Fallback>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 (taking </a:t>
                </a:r>
                <a:r>
                  <a:rPr lang="en-IN" sz="2400">
                    <a:solidFill>
                      <a:srgbClr val="111827"/>
                    </a:solidFill>
                    <a:latin typeface="Cambria Math" panose="02040503050406030204" pitchFamily="18" charset="0"/>
                  </a:rPr>
                  <a:t>$x$</a:t>
                </a:r>
                <a:r>
                  <a:rPr sz="2400" b="0">
                    <a:solidFill>
                      <a:srgbClr val="111827"/>
                    </a:solidFill>
                    <a:latin typeface="Arial"/>
                  </a:rPr>
                  <a:t> as dependent variable)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equation is linear in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if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is taken as the independent variable: </a:t>
                </a:r>
                <a14:m>
                  <m:oMath xmlns:m="http://schemas.openxmlformats.org/officeDocument/2006/math">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𝑥</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equation is linear in </a:t>
                </a:r>
                <a:r>
                  <a:rPr lang="en-IN" sz="2400">
                    <a:solidFill>
                      <a:srgbClr val="78350F"/>
                    </a:solidFill>
                    <a:latin typeface="Cambria Math" panose="02040503050406030204" pitchFamily="18" charset="0"/>
                  </a:rPr>
                  <a:t>$x^2$</a:t>
                </a:r>
                <a:r>
                  <a:rPr sz="2400" b="0">
                    <a:solidFill>
                      <a:srgbClr val="78350F"/>
                    </a:solidFill>
                    <a:latin typeface="Arial"/>
                  </a:rPr>
                  <a:t> if </a:t>
                </a:r>
                <a:r>
                  <a:rPr lang="en-IN" sz="2400">
                    <a:solidFill>
                      <a:srgbClr val="78350F"/>
                    </a:solidFill>
                    <a:latin typeface="Cambria Math" panose="02040503050406030204" pitchFamily="18" charset="0"/>
                  </a:rPr>
                  <a:t>$y$</a:t>
                </a:r>
                <a:r>
                  <a:rPr sz="2400" b="0">
                    <a:solidFill>
                      <a:srgbClr val="78350F"/>
                    </a:solidFill>
                    <a:latin typeface="Arial"/>
                  </a:rPr>
                  <a:t> is taken as the independent variable: </a:t>
                </a:r>
                <a:r>
                  <a:rPr lang="en-IN" sz="2400">
                    <a:solidFill>
                      <a:srgbClr val="78350F"/>
                    </a:solidFill>
                    <a:latin typeface="Cambria Math" panose="02040503050406030204" pitchFamily="18" charset="0"/>
                  </a:rPr>
                  <a:t>$6x\frac{dx}{dy}=x^2+y$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Rewrite as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linear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Rewrite as </a:t>
                </a:r>
                <a:r>
                  <a:rPr lang="en-IN" sz="2400">
                    <a:solidFill>
                      <a:srgbClr val="111827"/>
                    </a:solidFill>
                    <a:latin typeface="Cambria Math" panose="02040503050406030204" pitchFamily="18" charset="0"/>
                  </a:rPr>
                  <a:t>$6x=(x^2+y)\frac{dy}{dx}$</a:t>
                </a:r>
                <a:r>
                  <a:rPr sz="2400" b="0">
                    <a:solidFill>
                      <a:srgbClr val="111827"/>
                    </a:solidFill>
                    <a:latin typeface="Arial"/>
                  </a:rPr>
                  <a:t>, i.e. </a:t>
                </a:r>
                <a:r>
                  <a:rPr lang="en-IN" sz="2400">
                    <a:solidFill>
                      <a:srgbClr val="111827"/>
                    </a:solidFill>
                    <a:latin typeface="Cambria Math" panose="02040503050406030204" pitchFamily="18" charset="0"/>
                  </a:rPr>
                  <a:t>$6x\frac{dx}{dy}=x^2+y$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$x^2=t$</a:t>
                </a:r>
                <a:r>
                  <a:rPr sz="2400" b="0">
                    <a:solidFill>
                      <a:srgbClr val="111827"/>
                    </a:solidFill>
                    <a:latin typeface="Arial"/>
                  </a:rPr>
                  <a:t>, so </a:t>
                </a:r>
                <a:r>
                  <a:rPr lang="en-IN" sz="2400">
                    <a:solidFill>
                      <a:srgbClr val="111827"/>
                    </a:solidFill>
                    <a:latin typeface="Cambria Math" panose="02040503050406030204" pitchFamily="18" charset="0"/>
                  </a:rPr>
                  <a:t>$2x\frac{dx}{dy}=\frac{dt}{dy}$</a:t>
                </a:r>
                <a:r>
                  <a:rPr sz="2400" b="0">
                    <a:solidFill>
                      <a:srgbClr val="111827"/>
                    </a:solidFill>
                    <a:latin typeface="Arial"/>
                  </a:rPr>
                  <a:t> and </a:t>
                </a:r>
                <a:r>
                  <a:rPr lang="en-IN" sz="2400">
                    <a:solidFill>
                      <a:srgbClr val="111827"/>
                    </a:solidFill>
                    <a:latin typeface="Cambria Math" panose="02040503050406030204" pitchFamily="18" charset="0"/>
                  </a:rPr>
                  <a:t>$3\frac{dt}{dy}=t+y$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$\frac{dt}{dy}-\frac{t}{3}=\frac{y}{3}$</a:t>
                </a:r>
                <a:r>
                  <a:rPr sz="2400" b="0">
                    <a:solidFill>
                      <a:srgbClr val="111827"/>
                    </a:solidFill>
                    <a:latin typeface="Arial"/>
                  </a:rPr>
                  <a:t>, linear in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$\text{I.F.}=e^{-\int\frac13dy}=e^{-y/3}$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by parts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logarithms, </a:t>
                </a:r>
                <a14:m>
                  <m:oMath xmlns:m="http://schemas.openxmlformats.org/officeDocument/2006/math">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𝐶</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$t\,e^{-y/3}=\int\frac{y}{3}e^{-y/3}dy$</a:t>
                </a:r>
                <a:r>
                  <a:rPr sz="2400" b="0">
                    <a:solidFill>
                      <a:srgbClr val="111827"/>
                    </a:solidFill>
                    <a:latin typeface="Arial"/>
                  </a:rPr>
                  <a:t>; by parts </a:t>
                </a:r>
                <a:r>
                  <a:rPr lang="en-IN" sz="2400">
                    <a:solidFill>
                      <a:srgbClr val="111827"/>
                    </a:solidFill>
                    <a:latin typeface="Cambria Math" panose="02040503050406030204" pitchFamily="18" charset="0"/>
                  </a:rPr>
                  <a:t>$=-(y+3)e^{-y/3}+C$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$x^2=-y-3+Ce^{y/3}$</a:t>
                </a:r>
                <a:r>
                  <a:rPr sz="2400" b="0">
                    <a:solidFill>
                      <a:srgbClr val="111827"/>
                    </a:solidFill>
                    <a:latin typeface="Arial"/>
                  </a:rPr>
                  <a:t>, i.e. </a:t>
                </a:r>
                <a:r>
                  <a:rPr lang="en-IN" sz="2400">
                    <a:solidFill>
                      <a:srgbClr val="111827"/>
                    </a:solidFill>
                    <a:latin typeface="Cambria Math" panose="02040503050406030204" pitchFamily="18" charset="0"/>
                  </a:rPr>
                  <a:t>$x^2+y+3=Ce^{y/3}$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logarithms, </a:t>
                </a:r>
                <a:r>
                  <a:rPr lang="en-IN" sz="2400">
                    <a:solidFill>
                      <a:srgbClr val="111827"/>
                    </a:solidFill>
                    <a:latin typeface="Cambria Math" panose="02040503050406030204" pitchFamily="18" charset="0"/>
                  </a:rPr>
                  <a:t>$\ln(x^2+y+3)=\frac y3+\ln C$</a:t>
                </a:r>
                <a:r>
                  <a:rPr sz="2400" b="0">
                    <a:solidFill>
                      <a:srgbClr val="111827"/>
                    </a:solidFill>
                    <a:latin typeface="Arial"/>
                  </a:rPr>
                  <a:t>, i.e. </a:t>
                </a:r>
                <a:r>
                  <a:rPr lang="en-IN" sz="2400">
                    <a:solidFill>
                      <a:srgbClr val="111827"/>
                    </a:solidFill>
                    <a:latin typeface="Cambria Math" panose="02040503050406030204" pitchFamily="18" charset="0"/>
                  </a:rPr>
                  <a:t>$y=3\ln(x^2+y+3)+C'$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ln</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$y=3\ln(x^2+y+3)+C$</a:t>
                </a:r>
                <a:endParaRPr sz="2800">
                  <a:solidFill>
                    <a:srgbClr val="15803D"/>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equation as </a:t>
                </a:r>
                <a14:m>
                  <m:oMath xmlns:m="http://schemas.openxmlformats.org/officeDocument/2006/math">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use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equation as </a:t>
                </a:r>
                <a:r>
                  <a:rPr lang="en-IN" sz="2400">
                    <a:solidFill>
                      <a:srgbClr val="78350F"/>
                    </a:solidFill>
                    <a:latin typeface="Cambria Math" panose="02040503050406030204" pitchFamily="18" charset="0"/>
                  </a:rPr>
                  <a:t>$(x^2+y)\,dy=3\,d(x^2)$</a:t>
                </a:r>
                <a:r>
                  <a:rPr sz="2400" b="0">
                    <a:solidFill>
                      <a:srgbClr val="78350F"/>
                    </a:solidFill>
                    <a:latin typeface="Arial"/>
                  </a:rPr>
                  <a:t> and use </a:t>
                </a:r>
                <a:r>
                  <a:rPr lang="en-IN" sz="2400">
                    <a:solidFill>
                      <a:srgbClr val="78350F"/>
                    </a:solidFill>
                    <a:latin typeface="Cambria Math" panose="02040503050406030204" pitchFamily="18" charset="0"/>
                  </a:rPr>
                  <a:t>$u=x^2+y$</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Separate: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$(x^2+y)\,dy=6x\,dx=3\,d(x^2)$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$u=x^2+y$</a:t>
                </a:r>
                <a:r>
                  <a:rPr sz="2400" b="0">
                    <a:solidFill>
                      <a:srgbClr val="111827"/>
                    </a:solidFill>
                    <a:latin typeface="Arial"/>
                  </a:rPr>
                  <a:t>. Then </a:t>
                </a:r>
                <a:r>
                  <a:rPr lang="en-IN" sz="2400">
                    <a:solidFill>
                      <a:srgbClr val="111827"/>
                    </a:solidFill>
                    <a:latin typeface="Cambria Math" panose="02040503050406030204" pitchFamily="18" charset="0"/>
                  </a:rPr>
                  <a:t>$d(x^2)=du-dy$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$u\,dy=3(du-dy)$</a:t>
                </a:r>
                <a:r>
                  <a:rPr sz="2400" b="0">
                    <a:solidFill>
                      <a:srgbClr val="111827"/>
                    </a:solidFill>
                    <a:latin typeface="Arial"/>
                  </a:rPr>
                  <a:t>, i.e. </a:t>
                </a:r>
                <a:r>
                  <a:rPr lang="en-IN" sz="2400">
                    <a:solidFill>
                      <a:srgbClr val="111827"/>
                    </a:solidFill>
                    <a:latin typeface="Cambria Math" panose="02040503050406030204" pitchFamily="18" charset="0"/>
                  </a:rPr>
                  <a:t>$(u+3)\,dy=3\,du$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Separate: </a:t>
                </a:r>
                <a:r>
                  <a:rPr lang="en-IN" sz="2400">
                    <a:solidFill>
                      <a:srgbClr val="111827"/>
                    </a:solidFill>
                    <a:latin typeface="Cambria Math" panose="02040503050406030204" pitchFamily="18" charset="0"/>
                  </a:rPr>
                  <a:t>$dy=\frac{3\,du}{u+3}$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a:t>
                </a:r>
                <a:r>
                  <a:rPr lang="en-IN" sz="2400">
                    <a:solidFill>
                      <a:srgbClr val="111827"/>
                    </a:solidFill>
                    <a:latin typeface="Cambria Math" panose="02040503050406030204" pitchFamily="18" charset="0"/>
                  </a:rPr>
                  <a:t>$y=3\ln(u+3)+C=3\ln(x^2+y+3)+C$</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ln</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$y=3\ln(x^2+y+3)+C$</a:t>
                </a:r>
                <a:endParaRPr sz="2800">
                  <a:solidFill>
                    <a:srgbClr val="15803D"/>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equation has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only through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(that is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elsewhere, treat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as one variable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combination such as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appears as a factor of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the substitution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often separates the variables.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solution may be left implicit: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acceptable when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cannot be isolated.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equation has </a:t>
                </a:r>
                <a:r>
                  <a:rPr lang="en-IN" sz="2400">
                    <a:solidFill>
                      <a:srgbClr val="111827"/>
                    </a:solidFill>
                    <a:latin typeface="Cambria Math" panose="02040503050406030204" pitchFamily="18" charset="0"/>
                  </a:rPr>
                  <a:t>$x$</a:t>
                </a:r>
                <a:r>
                  <a:rPr sz="2400" b="0">
                    <a:solidFill>
                      <a:srgbClr val="111827"/>
                    </a:solidFill>
                    <a:latin typeface="Arial"/>
                  </a:rPr>
                  <a:t> only through </a:t>
                </a:r>
                <a:r>
                  <a:rPr lang="en-IN" sz="2400">
                    <a:solidFill>
                      <a:srgbClr val="111827"/>
                    </a:solidFill>
                    <a:latin typeface="Cambria Math" panose="02040503050406030204" pitchFamily="18" charset="0"/>
                  </a:rPr>
                  <a:t>$x\,dx$</a:t>
                </a:r>
                <a:r>
                  <a:rPr sz="2400" b="0">
                    <a:solidFill>
                      <a:srgbClr val="111827"/>
                    </a:solidFill>
                    <a:latin typeface="Arial"/>
                  </a:rPr>
                  <a:t> (that is </a:t>
                </a:r>
                <a:r>
                  <a:rPr lang="en-IN" sz="2400">
                    <a:solidFill>
                      <a:srgbClr val="111827"/>
                    </a:solidFill>
                    <a:latin typeface="Cambria Math" panose="02040503050406030204" pitchFamily="18" charset="0"/>
                  </a:rPr>
                  <a:t>$d(x^2)$</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elsewhere, treat </a:t>
                </a:r>
                <a:r>
                  <a:rPr lang="en-IN" sz="2400">
                    <a:solidFill>
                      <a:srgbClr val="111827"/>
                    </a:solidFill>
                    <a:latin typeface="Cambria Math" panose="02040503050406030204" pitchFamily="18" charset="0"/>
                  </a:rPr>
                  <a:t>$x^2$</a:t>
                </a:r>
                <a:r>
                  <a:rPr sz="2400" b="0">
                    <a:solidFill>
                      <a:srgbClr val="111827"/>
                    </a:solidFill>
                    <a:latin typeface="Arial"/>
                  </a:rPr>
                  <a:t> as one variable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 combination such as </a:t>
                </a:r>
                <a:r>
                  <a:rPr lang="en-IN" sz="2400">
                    <a:solidFill>
                      <a:srgbClr val="111827"/>
                    </a:solidFill>
                    <a:latin typeface="Cambria Math" panose="02040503050406030204" pitchFamily="18" charset="0"/>
                  </a:rPr>
                  <a:t>$x^2+y$</a:t>
                </a:r>
                <a:r>
                  <a:rPr sz="2400" b="0">
                    <a:solidFill>
                      <a:srgbClr val="111827"/>
                    </a:solidFill>
                    <a:latin typeface="Arial"/>
                  </a:rPr>
                  <a:t> appears as a factor of </a:t>
                </a:r>
                <a:r>
                  <a:rPr lang="en-IN" sz="2400">
                    <a:solidFill>
                      <a:srgbClr val="111827"/>
                    </a:solidFill>
                    <a:latin typeface="Cambria Math" panose="02040503050406030204" pitchFamily="18" charset="0"/>
                  </a:rPr>
                  <a:t>$dy$</a:t>
                </a:r>
                <a:r>
                  <a:rPr sz="2400" b="0">
                    <a:solidFill>
                      <a:srgbClr val="111827"/>
                    </a:solidFill>
                    <a:latin typeface="Arial"/>
                  </a:rPr>
                  <a:t>, the substitution </a:t>
                </a:r>
                <a:r>
                  <a:rPr lang="en-IN" sz="2400">
                    <a:solidFill>
                      <a:srgbClr val="111827"/>
                    </a:solidFill>
                    <a:latin typeface="Cambria Math" panose="02040503050406030204" pitchFamily="18" charset="0"/>
                  </a:rPr>
                  <a:t>$u=x^2+y$</a:t>
                </a:r>
                <a:r>
                  <a:rPr sz="2400" b="0">
                    <a:solidFill>
                      <a:srgbClr val="111827"/>
                    </a:solidFill>
                    <a:latin typeface="Arial"/>
                  </a:rPr>
                  <a:t> often separates the variables.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solution may be left implicit: </a:t>
                </a:r>
                <a:r>
                  <a:rPr lang="en-IN" sz="2400">
                    <a:solidFill>
                      <a:srgbClr val="111827"/>
                    </a:solidFill>
                    <a:latin typeface="Cambria Math" panose="02040503050406030204" pitchFamily="18" charset="0"/>
                  </a:rPr>
                  <a:t>$y=3\ln(x^2+y+3)+C$</a:t>
                </a:r>
                <a:r>
                  <a:rPr sz="2400" b="0">
                    <a:solidFill>
                      <a:srgbClr val="111827"/>
                    </a:solidFill>
                    <a:latin typeface="Arial"/>
                  </a:rPr>
                  <a:t> is acceptable when </a:t>
                </a:r>
                <a:r>
                  <a:rPr lang="en-IN" sz="2400">
                    <a:solidFill>
                      <a:srgbClr val="111827"/>
                    </a:solidFill>
                    <a:latin typeface="Cambria Math" panose="02040503050406030204" pitchFamily="18" charset="0"/>
                  </a:rPr>
                  <a:t>$y$</a:t>
                </a:r>
                <a:r>
                  <a:rPr sz="2400" b="0">
                    <a:solidFill>
                      <a:srgbClr val="111827"/>
                    </a:solidFill>
                    <a:latin typeface="Arial"/>
                  </a:rPr>
                  <a:t> cannot be isolated.</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given that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is bounded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a:t>
                </a:r>
                <a:r>
                  <a:rPr lang="en-IN" sz="2400">
                    <a:solidFill>
                      <a:srgbClr val="111827"/>
                    </a:solidFill>
                    <a:latin typeface="Cambria Math" panose="02040503050406030204" pitchFamily="18" charset="0"/>
                  </a:rPr>
                  <a:t>$\frac{dy}{dx}-y\ln2=2^{\sin x}(\cos x-1)\ln2$</a:t>
                </a:r>
                <a:r>
                  <a:rPr sz="2400" b="0">
                    <a:solidFill>
                      <a:srgbClr val="111827"/>
                    </a:solidFill>
                    <a:latin typeface="Arial"/>
                  </a:rPr>
                  <a:t>, given that </a:t>
                </a:r>
                <a:r>
                  <a:rPr lang="en-IN" sz="2400">
                    <a:solidFill>
                      <a:srgbClr val="111827"/>
                    </a:solidFill>
                    <a:latin typeface="Cambria Math" panose="02040503050406030204" pitchFamily="18" charset="0"/>
                  </a:rPr>
                  <a:t>$y$</a:t>
                </a:r>
                <a:r>
                  <a:rPr sz="2400" b="0">
                    <a:solidFill>
                      <a:srgbClr val="111827"/>
                    </a:solidFill>
                    <a:latin typeface="Arial"/>
                  </a:rPr>
                  <a:t> is bounded as </a:t>
                </a:r>
                <a:r>
                  <a:rPr lang="en-IN" sz="2400">
                    <a:solidFill>
                      <a:srgbClr val="111827"/>
                    </a:solidFill>
                    <a:latin typeface="Cambria Math" panose="02040503050406030204" pitchFamily="18" charset="0"/>
                  </a:rPr>
                  <a:t>$x\to+\infty$</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 and bounded solution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complementary solution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 is unbounded as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boundedness forces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complementary solution </a:t>
                </a:r>
                <a:r>
                  <a:rPr lang="en-IN" sz="2400">
                    <a:solidFill>
                      <a:srgbClr val="78350F"/>
                    </a:solidFill>
                    <a:latin typeface="Cambria Math" panose="02040503050406030204" pitchFamily="18" charset="0"/>
                  </a:rPr>
                  <a:t>$c\cdot2^{x}$</a:t>
                </a:r>
                <a:r>
                  <a:rPr sz="2400" b="0">
                    <a:solidFill>
                      <a:srgbClr val="78350F"/>
                    </a:solidFill>
                    <a:latin typeface="Arial"/>
                  </a:rPr>
                  <a:t> is unbounded as </a:t>
                </a:r>
                <a:r>
                  <a:rPr lang="en-IN" sz="2400">
                    <a:solidFill>
                      <a:srgbClr val="78350F"/>
                    </a:solidFill>
                    <a:latin typeface="Cambria Math" panose="02040503050406030204" pitchFamily="18" charset="0"/>
                  </a:rPr>
                  <a:t>$x\to\infty$</a:t>
                </a:r>
                <a:r>
                  <a:rPr sz="2400" b="0">
                    <a:solidFill>
                      <a:srgbClr val="78350F"/>
                    </a:solidFill>
                    <a:latin typeface="Arial"/>
                  </a:rPr>
                  <a:t>, so boundedness forces </a:t>
                </a:r>
                <a:r>
                  <a:rPr lang="en-IN" sz="2400">
                    <a:solidFill>
                      <a:srgbClr val="78350F"/>
                    </a:solidFill>
                    <a:latin typeface="Cambria Math" panose="02040503050406030204" pitchFamily="18" charset="0"/>
                  </a:rPr>
                  <a:t>$c=0$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oMath>
                </a14:m>
                <a:r>
                  <a:rPr sz="2400" b="0">
                    <a:solidFill>
                      <a:srgbClr val="111827"/>
                    </a:solidFill>
                    <a:latin typeface="Arial"/>
                  </a:rPr>
                  <a:t>, a linear equation.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solution is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$\frac{dy}{dx}-y\log_e2=2^{\sin x}(\cos x-1)\log_e2$</a:t>
                </a:r>
                <a:r>
                  <a:rPr sz="2400" b="0">
                    <a:solidFill>
                      <a:srgbClr val="111827"/>
                    </a:solidFill>
                    <a:latin typeface="Arial"/>
                  </a:rPr>
                  <a:t>, a linear equation.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$\text{I.F.}=e^{-\log_e2\int dx}=e^{-x\log_e2}=2^{-x}$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solution is </a:t>
                </a:r>
                <a:r>
                  <a:rPr lang="en-IN" sz="2400">
                    <a:solidFill>
                      <a:srgbClr val="111827"/>
                    </a:solidFill>
                    <a:latin typeface="Cambria Math" panose="02040503050406030204" pitchFamily="18" charset="0"/>
                  </a:rPr>
                  <a:t>$y\,2^{-x}=\int2^{-x}2^{\sin x}(\cos x-1)\log_e2\,dx$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$\sin x-x=t$</a:t>
                </a:r>
                <a:r>
                  <a:rPr sz="2400" b="0">
                    <a:solidFill>
                      <a:srgbClr val="111827"/>
                    </a:solidFill>
                    <a:latin typeface="Arial"/>
                  </a:rPr>
                  <a:t>, so </a:t>
                </a:r>
                <a:r>
                  <a:rPr lang="en-IN" sz="2400">
                    <a:solidFill>
                      <a:srgbClr val="111827"/>
                    </a:solidFill>
                    <a:latin typeface="Cambria Math" panose="02040503050406030204" pitchFamily="18" charset="0"/>
                  </a:rPr>
                  <a:t>$(\cos x-1)\,dx=dt$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𝑒</m:t>
                        </m:r>
                      </m:sub>
                    </m:sSub>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𝑡</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is unbounded unless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while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lin"/>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bounded.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$y\,2^{-x}=\log_e2\int2^{t}\,dt=2^{t}+c$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$y=2^{x+t}+c\,2^{x}=2^{\sin x}+c\,2^{x}$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$x\to+\infty$</a:t>
                </a:r>
                <a:r>
                  <a:rPr sz="2400" b="0">
                    <a:solidFill>
                      <a:srgbClr val="111827"/>
                    </a:solidFill>
                    <a:latin typeface="Arial"/>
                  </a:rPr>
                  <a:t>, </a:t>
                </a:r>
                <a:r>
                  <a:rPr lang="en-IN" sz="2400">
                    <a:solidFill>
                      <a:srgbClr val="111827"/>
                    </a:solidFill>
                    <a:latin typeface="Cambria Math" panose="02040503050406030204" pitchFamily="18" charset="0"/>
                  </a:rPr>
                  <a:t>$c\,2^x$</a:t>
                </a:r>
                <a:r>
                  <a:rPr sz="2400" b="0">
                    <a:solidFill>
                      <a:srgbClr val="111827"/>
                    </a:solidFill>
                    <a:latin typeface="Arial"/>
                  </a:rPr>
                  <a:t> is unbounded unless </a:t>
                </a:r>
                <a:r>
                  <a:rPr lang="en-IN" sz="2400">
                    <a:solidFill>
                      <a:srgbClr val="111827"/>
                    </a:solidFill>
                    <a:latin typeface="Cambria Math" panose="02040503050406030204" pitchFamily="18" charset="0"/>
                  </a:rPr>
                  <a:t>$c=0$</a:t>
                </a:r>
                <a:r>
                  <a:rPr sz="2400" b="0">
                    <a:solidFill>
                      <a:srgbClr val="111827"/>
                    </a:solidFill>
                    <a:latin typeface="Arial"/>
                  </a:rPr>
                  <a:t>, while </a:t>
                </a:r>
                <a:r>
                  <a:rPr lang="en-IN" sz="2400">
                    <a:solidFill>
                      <a:srgbClr val="111827"/>
                    </a:solidFill>
                    <a:latin typeface="Cambria Math" panose="02040503050406030204" pitchFamily="18" charset="0"/>
                  </a:rPr>
                  <a:t>$2^{\sin x}\in[\tfrac12,2]$</a:t>
                </a:r>
                <a:r>
                  <a:rPr sz="2400" b="0">
                    <a:solidFill>
                      <a:srgbClr val="111827"/>
                    </a:solidFill>
                    <a:latin typeface="Arial"/>
                  </a:rPr>
                  <a:t> is bounded.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$c=0$</a:t>
                </a:r>
                <a:r>
                  <a:rPr sz="2400" b="0">
                    <a:solidFill>
                      <a:srgbClr val="111827"/>
                    </a:solidFill>
                    <a:latin typeface="Arial"/>
                  </a:rPr>
                  <a:t> and </a:t>
                </a:r>
                <a:r>
                  <a:rPr lang="en-IN" sz="2400">
                    <a:solidFill>
                      <a:srgbClr val="111827"/>
                    </a:solidFill>
                    <a:latin typeface="Cambria Math" panose="02040503050406030204" pitchFamily="18" charset="0"/>
                  </a:rPr>
                  <a:t>$y=2^{\sin 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2</m:t>
                        </m:r>
                      </m:e>
                      <m:sup>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$y=2^{\sin x}$</a:t>
                </a:r>
                <a:endParaRPr sz="2800">
                  <a:solidFill>
                    <a:srgbClr val="15803D"/>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Guess the particular solution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2</m:t>
                        </m:r>
                      </m:e>
                      <m:sup>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sup>
                    </m:sSup>
                  </m:oMath>
                </a14:m>
                <a:r>
                  <a:rPr sz="2400" b="0">
                    <a:solidFill>
                      <a:srgbClr val="78350F"/>
                    </a:solidFill>
                    <a:latin typeface="Arial"/>
                  </a:rPr>
                  <a:t> by inspection and verify it; boundedness then kills the homogeneous part.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Guess the particular solution </a:t>
                </a:r>
                <a:r>
                  <a:rPr lang="en-IN" sz="2400">
                    <a:solidFill>
                      <a:srgbClr val="78350F"/>
                    </a:solidFill>
                    <a:latin typeface="Cambria Math" panose="02040503050406030204" pitchFamily="18" charset="0"/>
                  </a:rPr>
                  <a:t>$y=2^{\sin x}$</a:t>
                </a:r>
                <a:r>
                  <a:rPr sz="2400" b="0">
                    <a:solidFill>
                      <a:srgbClr val="78350F"/>
                    </a:solidFill>
                    <a:latin typeface="Arial"/>
                  </a:rPr>
                  <a:t> by inspection and verify it; boundedness then kills the homogeneous part.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forcing term is </a:t>
                </a: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𝑝</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satisfies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which is the given right side.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forcing term is </a:t>
                </a:r>
                <a:r>
                  <a:rPr lang="en-IN" sz="2400">
                    <a:solidFill>
                      <a:srgbClr val="111827"/>
                    </a:solidFill>
                    <a:latin typeface="Cambria Math" panose="02040503050406030204" pitchFamily="18" charset="0"/>
                  </a:rPr>
                  <a:t>$2^{\sin x}(\cos x-1)\ln2=\frac{d}{dx}\left(2^{\sin x}\right)-\ln2\cdot2^{\sin x}$</a:t>
                </a:r>
                <a:r>
                  <a:rPr sz="2400" b="0">
                    <a:solidFill>
                      <a:srgbClr val="111827"/>
                    </a:solidFill>
                    <a:latin typeface="Arial"/>
                  </a:rPr>
                  <a:t>, since </a:t>
                </a:r>
                <a:r>
                  <a:rPr lang="en-IN" sz="2400">
                    <a:solidFill>
                      <a:srgbClr val="111827"/>
                    </a:solidFill>
                    <a:latin typeface="Cambria Math" panose="02040503050406030204" pitchFamily="18" charset="0"/>
                  </a:rPr>
                  <a:t>$\frac{d}{dx}2^{\sin x}=2^{\sin x}\ln2\cos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$y_p=2^{\sin x}$</a:t>
                </a:r>
                <a:r>
                  <a:rPr sz="2400" b="0">
                    <a:solidFill>
                      <a:srgbClr val="111827"/>
                    </a:solidFill>
                    <a:latin typeface="Arial"/>
                  </a:rPr>
                  <a:t> satisfies </a:t>
                </a:r>
                <a:r>
                  <a:rPr lang="en-IN" sz="2400">
                    <a:solidFill>
                      <a:srgbClr val="111827"/>
                    </a:solidFill>
                    <a:latin typeface="Cambria Math" panose="02040503050406030204" pitchFamily="18" charset="0"/>
                  </a:rPr>
                  <a:t>$y'-y\ln2=2^{\sin x}\ln2\cos x-2^{\sin x}\ln2$</a:t>
                </a:r>
                <a:r>
                  <a:rPr sz="2400" b="0">
                    <a:solidFill>
                      <a:srgbClr val="111827"/>
                    </a:solidFill>
                    <a:latin typeface="Arial"/>
                  </a:rPr>
                  <a:t>, which is the given right side.</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homogeneous equation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has the solution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is bounded;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Boundedness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homogeneous equation </a:t>
                </a:r>
                <a:r>
                  <a:rPr lang="en-IN" sz="2400">
                    <a:solidFill>
                      <a:srgbClr val="111827"/>
                    </a:solidFill>
                    <a:latin typeface="Cambria Math" panose="02040503050406030204" pitchFamily="18" charset="0"/>
                  </a:rPr>
                  <a:t>$y'=y\ln2$</a:t>
                </a:r>
                <a:r>
                  <a:rPr sz="2400" b="0">
                    <a:solidFill>
                      <a:srgbClr val="111827"/>
                    </a:solidFill>
                    <a:latin typeface="Arial"/>
                  </a:rPr>
                  <a:t> has the solution </a:t>
                </a:r>
                <a:r>
                  <a:rPr lang="en-IN" sz="2400">
                    <a:solidFill>
                      <a:srgbClr val="111827"/>
                    </a:solidFill>
                    <a:latin typeface="Cambria Math" panose="02040503050406030204" pitchFamily="18" charset="0"/>
                  </a:rPr>
                  <a:t>$c\,2^{x}$</a:t>
                </a:r>
                <a:r>
                  <a:rPr sz="2400" b="0">
                    <a:solidFill>
                      <a:srgbClr val="111827"/>
                    </a:solidFill>
                    <a:latin typeface="Arial"/>
                  </a:rPr>
                  <a:t>, so </a:t>
                </a:r>
                <a:r>
                  <a:rPr lang="en-IN" sz="2400">
                    <a:solidFill>
                      <a:srgbClr val="111827"/>
                    </a:solidFill>
                    <a:latin typeface="Cambria Math" panose="02040503050406030204" pitchFamily="18" charset="0"/>
                  </a:rPr>
                  <a:t>$y=2^{\sin x}+c\,2^{x}$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$2^{\sin x}$</a:t>
                </a:r>
                <a:r>
                  <a:rPr sz="2400" b="0">
                    <a:solidFill>
                      <a:srgbClr val="111827"/>
                    </a:solidFill>
                    <a:latin typeface="Arial"/>
                  </a:rPr>
                  <a:t> is bounded; </a:t>
                </a:r>
                <a:r>
                  <a:rPr lang="en-IN" sz="2400">
                    <a:solidFill>
                      <a:srgbClr val="111827"/>
                    </a:solidFill>
                    <a:latin typeface="Cambria Math" panose="02040503050406030204" pitchFamily="18" charset="0"/>
                  </a:rPr>
                  <a:t>$c\,2^x\to\pm\infty$</a:t>
                </a:r>
                <a:r>
                  <a:rPr sz="2400" b="0">
                    <a:solidFill>
                      <a:srgbClr val="111827"/>
                    </a:solidFill>
                    <a:latin typeface="Arial"/>
                  </a:rPr>
                  <a:t> for </a:t>
                </a:r>
                <a:r>
                  <a:rPr lang="en-IN" sz="2400">
                    <a:solidFill>
                      <a:srgbClr val="111827"/>
                    </a:solidFill>
                    <a:latin typeface="Cambria Math" panose="02040503050406030204" pitchFamily="18" charset="0"/>
                  </a:rPr>
                  <a:t>$c\ne0$</a:t>
                </a:r>
                <a:r>
                  <a:rPr sz="2400" b="0">
                    <a:solidFill>
                      <a:srgbClr val="111827"/>
                    </a:solidFill>
                    <a:latin typeface="Arial"/>
                  </a:rPr>
                  <a:t>. Boundedness gives </a:t>
                </a:r>
                <a:r>
                  <a:rPr lang="en-IN" sz="2400">
                    <a:solidFill>
                      <a:srgbClr val="111827"/>
                    </a:solidFill>
                    <a:latin typeface="Cambria Math" panose="02040503050406030204" pitchFamily="18" charset="0"/>
                  </a:rPr>
                  <a:t>$c=0$</a:t>
                </a:r>
                <a:r>
                  <a:rPr sz="2400" b="0">
                    <a:solidFill>
                      <a:srgbClr val="111827"/>
                    </a:solidFill>
                    <a:latin typeface="Arial"/>
                  </a:rPr>
                  <a:t> and </a:t>
                </a:r>
                <a:r>
                  <a:rPr lang="en-IN" sz="2400">
                    <a:solidFill>
                      <a:srgbClr val="111827"/>
                    </a:solidFill>
                    <a:latin typeface="Cambria Math" panose="02040503050406030204" pitchFamily="18" charset="0"/>
                  </a:rPr>
                  <a:t>$y=2^{\sin 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2</m:t>
                        </m:r>
                      </m:e>
                      <m:sup>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$y=2^{\sin x}$</a:t>
                </a:r>
                <a:endParaRPr sz="2800">
                  <a:solidFill>
                    <a:srgbClr val="15803D"/>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the complementary part </a:t>
                </a:r>
                <a14:m>
                  <m:oMath xmlns:m="http://schemas.openxmlformats.org/officeDocument/2006/math">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blows up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'bounded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selects the single solution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𝑥</m:t>
                        </m:r>
                      </m:sub>
                      <m:sup>
                        <m:r>
                          <m:rPr>
                            <m:sty m:val="p"/>
                          </m:rPr>
                          <a:rPr lang="en-IN" sz="2400">
                            <a:solidFill>
                              <a:srgbClr val="111827"/>
                            </a:solidFill>
                            <a:latin typeface="Cambria Math" panose="02040503050406030204" pitchFamily="18" charset="0"/>
                          </a:rPr>
                          <m:t>∞</m:t>
                        </m:r>
                      </m:sup>
                      <m:e>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sup>
                        </m:sSup>
                      </m:e>
                    </m:nary>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every solution tends to the steady-state part, so the condition is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appears in the forcing term, test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 particular solution.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$y'-ky=g(x)$</a:t>
                </a:r>
                <a:r>
                  <a:rPr sz="2400" b="0">
                    <a:solidFill>
                      <a:srgbClr val="111827"/>
                    </a:solidFill>
                    <a:latin typeface="Arial"/>
                  </a:rPr>
                  <a:t> with </a:t>
                </a:r>
                <a:r>
                  <a:rPr lang="en-IN" sz="2400">
                    <a:solidFill>
                      <a:srgbClr val="111827"/>
                    </a:solidFill>
                    <a:latin typeface="Cambria Math" panose="02040503050406030204" pitchFamily="18" charset="0"/>
                  </a:rPr>
                  <a:t>$k&gt;0$</a:t>
                </a:r>
                <a:r>
                  <a:rPr sz="2400" b="0">
                    <a:solidFill>
                      <a:srgbClr val="111827"/>
                    </a:solidFill>
                    <a:latin typeface="Arial"/>
                  </a:rPr>
                  <a:t>, the complementary part </a:t>
                </a:r>
                <a:r>
                  <a:rPr lang="en-IN" sz="2400">
                    <a:solidFill>
                      <a:srgbClr val="111827"/>
                    </a:solidFill>
                    <a:latin typeface="Cambria Math" panose="02040503050406030204" pitchFamily="18" charset="0"/>
                  </a:rPr>
                  <a:t>$ce^{kx}$</a:t>
                </a:r>
                <a:r>
                  <a:rPr sz="2400" b="0">
                    <a:solidFill>
                      <a:srgbClr val="111827"/>
                    </a:solidFill>
                    <a:latin typeface="Arial"/>
                  </a:rPr>
                  <a:t> blows up as </a:t>
                </a:r>
                <a:r>
                  <a:rPr lang="en-IN" sz="2400">
                    <a:solidFill>
                      <a:srgbClr val="111827"/>
                    </a:solidFill>
                    <a:latin typeface="Cambria Math" panose="02040503050406030204" pitchFamily="18" charset="0"/>
                  </a:rPr>
                  <a:t>$x\to\infty$</a:t>
                </a:r>
                <a:r>
                  <a:rPr sz="2400" b="0">
                    <a:solidFill>
                      <a:srgbClr val="111827"/>
                    </a:solidFill>
                    <a:latin typeface="Arial"/>
                  </a:rPr>
                  <a:t>; 'bounded as </a:t>
                </a:r>
                <a:r>
                  <a:rPr lang="en-IN" sz="2400">
                    <a:solidFill>
                      <a:srgbClr val="111827"/>
                    </a:solidFill>
                    <a:latin typeface="Cambria Math" panose="02040503050406030204" pitchFamily="18" charset="0"/>
                  </a:rPr>
                  <a:t>$x\to\infty$</a:t>
                </a:r>
                <a:r>
                  <a:rPr sz="2400" b="0">
                    <a:solidFill>
                      <a:srgbClr val="111827"/>
                    </a:solidFill>
                    <a:latin typeface="Arial"/>
                  </a:rPr>
                  <a:t>' selects the single solution </a:t>
                </a:r>
                <a:r>
                  <a:rPr lang="en-IN" sz="2400">
                    <a:solidFill>
                      <a:srgbClr val="111827"/>
                    </a:solidFill>
                    <a:latin typeface="Cambria Math" panose="02040503050406030204" pitchFamily="18" charset="0"/>
                  </a:rPr>
                  <a:t>$y=-\int_x^\infty e^{k(x-s)}g(s)\,ds$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$y'+ky=g(x)$</a:t>
                </a:r>
                <a:r>
                  <a:rPr sz="2400" b="0">
                    <a:solidFill>
                      <a:srgbClr val="111827"/>
                    </a:solidFill>
                    <a:latin typeface="Arial"/>
                  </a:rPr>
                  <a:t> with </a:t>
                </a:r>
                <a:r>
                  <a:rPr lang="en-IN" sz="2400">
                    <a:solidFill>
                      <a:srgbClr val="111827"/>
                    </a:solidFill>
                    <a:latin typeface="Cambria Math" panose="02040503050406030204" pitchFamily="18" charset="0"/>
                  </a:rPr>
                  <a:t>$k&gt;0$</a:t>
                </a:r>
                <a:r>
                  <a:rPr sz="2400" b="0">
                    <a:solidFill>
                      <a:srgbClr val="111827"/>
                    </a:solidFill>
                    <a:latin typeface="Arial"/>
                  </a:rPr>
                  <a:t> every solution tends to the steady-state part, so the condition is automatic.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$\frac{d}{dx}[h(x)]=h'(x)$</a:t>
                </a:r>
                <a:r>
                  <a:rPr sz="2400" b="0">
                    <a:solidFill>
                      <a:srgbClr val="111827"/>
                    </a:solidFill>
                    <a:latin typeface="Arial"/>
                  </a:rPr>
                  <a:t> appears in the forcing term, test </a:t>
                </a:r>
                <a:r>
                  <a:rPr lang="en-IN" sz="2400">
                    <a:solidFill>
                      <a:srgbClr val="111827"/>
                    </a:solidFill>
                    <a:latin typeface="Cambria Math" panose="02040503050406030204" pitchFamily="18" charset="0"/>
                  </a:rPr>
                  <a:t>$y=h(x)$</a:t>
                </a:r>
                <a:r>
                  <a:rPr sz="2400" b="0">
                    <a:solidFill>
                      <a:srgbClr val="111827"/>
                    </a:solidFill>
                    <a:latin typeface="Arial"/>
                  </a:rPr>
                  <a:t> as a particular solution.</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curve which passes through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the segment of the tangent between the point of tangency and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has a constant length equal 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curve which passes through the point </a:t>
                </a:r>
                <a:r>
                  <a:rPr lang="en-IN" sz="2400">
                    <a:solidFill>
                      <a:srgbClr val="111827"/>
                    </a:solidFill>
                    <a:latin typeface="Cambria Math" panose="02040503050406030204" pitchFamily="18" charset="0"/>
                  </a:rPr>
                  <a:t>$(2,0)$</a:t>
                </a:r>
                <a:r>
                  <a:rPr sz="2400" b="0">
                    <a:solidFill>
                      <a:srgbClr val="111827"/>
                    </a:solidFill>
                    <a:latin typeface="Arial"/>
                  </a:rPr>
                  <a:t> such that the segment of the tangent between the point of tangency and the </a:t>
                </a:r>
                <a:r>
                  <a:rPr lang="en-IN" sz="2400">
                    <a:solidFill>
                      <a:srgbClr val="111827"/>
                    </a:solidFill>
                    <a:latin typeface="Cambria Math" panose="02040503050406030204" pitchFamily="18" charset="0"/>
                  </a:rPr>
                  <a:t>$y$</a:t>
                </a:r>
                <a:r>
                  <a:rPr sz="2400" b="0">
                    <a:solidFill>
                      <a:srgbClr val="111827"/>
                    </a:solidFill>
                    <a:latin typeface="Arial"/>
                  </a:rPr>
                  <a:t>-axis has a constant length equal to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Formation of differential equations from geometric conditions, Tangent to a curve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tangent meets the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-axis at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e>
                    </m:d>
                  </m:oMath>
                </a14:m>
                <a:r>
                  <a:rPr sz="2400" b="0">
                    <a:solidFill>
                      <a:srgbClr val="78350F"/>
                    </a:solidFill>
                    <a:latin typeface="Arial"/>
                  </a:rPr>
                  <a:t>; the length condition gives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e>
                        </m:rad>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tangent meets the </a:t>
                </a:r>
                <a:r>
                  <a:rPr lang="en-IN" sz="2400">
                    <a:solidFill>
                      <a:srgbClr val="78350F"/>
                    </a:solidFill>
                    <a:latin typeface="Cambria Math" panose="02040503050406030204" pitchFamily="18" charset="0"/>
                  </a:rPr>
                  <a:t>$y$</a:t>
                </a:r>
                <a:r>
                  <a:rPr sz="2400" b="0">
                    <a:solidFill>
                      <a:srgbClr val="78350F"/>
                    </a:solidFill>
                    <a:latin typeface="Arial"/>
                  </a:rPr>
                  <a:t>-axis at </a:t>
                </a:r>
                <a:r>
                  <a:rPr lang="en-IN" sz="2400">
                    <a:solidFill>
                      <a:srgbClr val="78350F"/>
                    </a:solidFill>
                    <a:latin typeface="Cambria Math" panose="02040503050406030204" pitchFamily="18" charset="0"/>
                  </a:rPr>
                  <a:t>$\left(0,\,y-x\frac{dy}{dx}\right)$</a:t>
                </a:r>
                <a:r>
                  <a:rPr sz="2400" b="0">
                    <a:solidFill>
                      <a:srgbClr val="78350F"/>
                    </a:solidFill>
                    <a:latin typeface="Arial"/>
                  </a:rPr>
                  <a:t>; the length condition gives </a:t>
                </a:r>
                <a:r>
                  <a:rPr lang="en-IN" sz="2400">
                    <a:solidFill>
                      <a:srgbClr val="78350F"/>
                    </a:solidFill>
                    <a:latin typeface="Cambria Math" panose="02040503050406030204" pitchFamily="18" charset="0"/>
                  </a:rPr>
                  <a:t>$\frac{dy}{dx}=\pm\frac{\sqrt{4-x^2}}{x}$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curve be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slope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tangent is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meets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curve be </a:t>
                </a:r>
                <a:r>
                  <a:rPr lang="en-IN" sz="2400">
                    <a:solidFill>
                      <a:srgbClr val="111827"/>
                    </a:solidFill>
                    <a:latin typeface="Cambria Math" panose="02040503050406030204" pitchFamily="18" charset="0"/>
                  </a:rPr>
                  <a:t>$y=f(x)$</a:t>
                </a:r>
                <a:r>
                  <a:rPr sz="2400" b="0">
                    <a:solidFill>
                      <a:srgbClr val="111827"/>
                    </a:solidFill>
                    <a:latin typeface="Arial"/>
                  </a:rPr>
                  <a:t> with slope </a:t>
                </a:r>
                <a:r>
                  <a:rPr lang="en-IN" sz="2400">
                    <a:solidFill>
                      <a:srgbClr val="111827"/>
                    </a:solidFill>
                    <a:latin typeface="Cambria Math" panose="02040503050406030204" pitchFamily="18" charset="0"/>
                  </a:rPr>
                  <a:t>$\frac{dy}{dx}$</a:t>
                </a:r>
                <a:r>
                  <a:rPr sz="2400" b="0">
                    <a:solidFill>
                      <a:srgbClr val="111827"/>
                    </a:solidFill>
                    <a:latin typeface="Arial"/>
                  </a:rPr>
                  <a:t> at </a:t>
                </a:r>
                <a:r>
                  <a:rPr lang="en-IN" sz="2400">
                    <a:solidFill>
                      <a:srgbClr val="111827"/>
                    </a:solidFill>
                    <a:latin typeface="Cambria Math" panose="02040503050406030204" pitchFamily="18" charset="0"/>
                  </a:rPr>
                  <a:t>$P(x,y)$</a:t>
                </a:r>
                <a:r>
                  <a:rPr sz="2400" b="0">
                    <a:solidFill>
                      <a:srgbClr val="111827"/>
                    </a:solidFill>
                    <a:latin typeface="Arial"/>
                  </a:rPr>
                  <a:t>. The tangent is </a:t>
                </a:r>
                <a:r>
                  <a:rPr lang="en-IN" sz="2400">
                    <a:solidFill>
                      <a:srgbClr val="111827"/>
                    </a:solidFill>
                    <a:latin typeface="Cambria Math" panose="02040503050406030204" pitchFamily="18" charset="0"/>
                  </a:rPr>
                  <a:t>$Y-y=\frac{dy}{dx}(X-x)$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meets the </a:t>
                </a:r>
                <a:r>
                  <a:rPr lang="en-IN" sz="2400">
                    <a:solidFill>
                      <a:srgbClr val="111827"/>
                    </a:solidFill>
                    <a:latin typeface="Cambria Math" panose="02040503050406030204" pitchFamily="18" charset="0"/>
                  </a:rPr>
                  <a:t>$y$</a:t>
                </a:r>
                <a:r>
                  <a:rPr sz="2400" b="0">
                    <a:solidFill>
                      <a:srgbClr val="111827"/>
                    </a:solidFill>
                    <a:latin typeface="Arial"/>
                  </a:rPr>
                  <a:t>-axis (</a:t>
                </a:r>
                <a:r>
                  <a:rPr lang="en-IN" sz="2400">
                    <a:solidFill>
                      <a:srgbClr val="111827"/>
                    </a:solidFill>
                    <a:latin typeface="Cambria Math" panose="02040503050406030204" pitchFamily="18" charset="0"/>
                  </a:rPr>
                  <a:t>$X=0$</a:t>
                </a:r>
                <a:r>
                  <a:rPr sz="2400" b="0">
                    <a:solidFill>
                      <a:srgbClr val="111827"/>
                    </a:solidFill>
                    <a:latin typeface="Arial"/>
                  </a:rPr>
                  <a:t>) at </a:t>
                </a:r>
                <a:r>
                  <a:rPr lang="en-IN" sz="2400">
                    <a:solidFill>
                      <a:srgbClr val="111827"/>
                    </a:solidFill>
                    <a:latin typeface="Cambria Math" panose="02040503050406030204" pitchFamily="18" charset="0"/>
                  </a:rPr>
                  <a:t>$N$</a:t>
                </a:r>
                <a:r>
                  <a:rPr sz="2400" b="0">
                    <a:solidFill>
                      <a:srgbClr val="111827"/>
                    </a:solidFill>
                    <a:latin typeface="Arial"/>
                  </a:rPr>
                  <a:t> where </a:t>
                </a:r>
                <a:r>
                  <a:rPr lang="en-IN" sz="2400">
                    <a:solidFill>
                      <a:srgbClr val="111827"/>
                    </a:solidFill>
                    <a:latin typeface="Cambria Math" panose="02040503050406030204" pitchFamily="18" charset="0"/>
                  </a:rPr>
                  <a:t>$Y=y-x\frac{dy}{dx}$</a:t>
                </a:r>
                <a:r>
                  <a:rPr sz="2400" b="0">
                    <a:solidFill>
                      <a:srgbClr val="111827"/>
                    </a:solidFill>
                    <a:latin typeface="Arial"/>
                  </a:rPr>
                  <a:t>, so </a:t>
                </a:r>
                <a:r>
                  <a:rPr lang="en-IN" sz="2400">
                    <a:solidFill>
                      <a:srgbClr val="111827"/>
                    </a:solidFill>
                    <a:latin typeface="Cambria Math" panose="02040503050406030204" pitchFamily="18" charset="0"/>
                  </a:rPr>
                  <a:t>$N=\left(0,\,y-x\frac{dy}{dx}\right)$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$PN=2$</a:t>
                </a:r>
                <a:r>
                  <a:rPr sz="2400" b="0">
                    <a:solidFill>
                      <a:srgbClr val="111827"/>
                    </a:solidFill>
                    <a:latin typeface="Arial"/>
                  </a:rPr>
                  <a:t>: </a:t>
                </a:r>
                <a:r>
                  <a:rPr lang="en-IN" sz="2400">
                    <a:solidFill>
                      <a:srgbClr val="111827"/>
                    </a:solidFill>
                    <a:latin typeface="Cambria Math" panose="02040503050406030204" pitchFamily="18" charset="0"/>
                  </a:rPr>
                  <a:t>$x^2+\left(x\frac{dy}{dx}\right)^2=4$</a:t>
                </a:r>
                <a:r>
                  <a:rPr sz="2400" b="0">
                    <a:solidFill>
                      <a:srgbClr val="111827"/>
                    </a:solidFill>
                    <a:latin typeface="Arial"/>
                  </a:rPr>
                  <a:t>, i.e. </a:t>
                </a:r>
                <a:r>
                  <a:rPr lang="en-IN" sz="2400">
                    <a:solidFill>
                      <a:srgbClr val="111827"/>
                    </a:solidFill>
                    <a:latin typeface="Cambria Math" panose="02040503050406030204" pitchFamily="18" charset="0"/>
                  </a:rPr>
                  <a:t>$x^2+x^2\left(\frac{dy}{dx}\right)^2=4$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$\left(\frac{dy}{dx}\right)^2=\frac{4-x^2}{x^2}$</a:t>
                </a:r>
                <a:r>
                  <a:rPr sz="2400" b="0">
                    <a:solidFill>
                      <a:srgbClr val="111827"/>
                    </a:solidFill>
                    <a:latin typeface="Arial"/>
                  </a:rPr>
                  <a:t> and </a:t>
                </a:r>
                <a:r>
                  <a:rPr lang="en-IN" sz="2400">
                    <a:solidFill>
                      <a:srgbClr val="111827"/>
                    </a:solidFill>
                    <a:latin typeface="Cambria Math" panose="02040503050406030204" pitchFamily="18" charset="0"/>
                  </a:rPr>
                  <a:t>$\frac{dy}{dx}=\pm\frac{\sqrt{4-x^2}}{x}$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f>
                      <m:fPr>
                        <m:type m:val="bar"/>
                        <m:ctrlPr>
                          <a:rPr lang="en-IN" sz="2400" i="1">
                            <a:solidFill>
                              <a:srgbClr val="111827"/>
                            </a:solidFill>
                            <a:latin typeface="Cambria Math" panose="02040503050406030204" pitchFamily="18" charset="0"/>
                          </a:rPr>
                        </m:ctrlPr>
                      </m:fPr>
                      <m:num>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cosec</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e>
                    </m:d>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cosec</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cosec</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$dy=\pm\frac{\sqrt{4-x^2}}{x}\,dx$</a:t>
                </a:r>
                <a:r>
                  <a:rPr sz="2400" b="0">
                    <a:solidFill>
                      <a:srgbClr val="111827"/>
                    </a:solidFill>
                    <a:latin typeface="Arial"/>
                  </a:rPr>
                  <a:t>. Put </a:t>
                </a:r>
                <a:r>
                  <a:rPr lang="en-IN" sz="2400">
                    <a:solidFill>
                      <a:srgbClr val="111827"/>
                    </a:solidFill>
                    <a:latin typeface="Cambria Math" panose="02040503050406030204" pitchFamily="18" charset="0"/>
                  </a:rPr>
                  <a:t>$x=2\sin\theta$</a:t>
                </a:r>
                <a:r>
                  <a:rPr sz="2400" b="0">
                    <a:solidFill>
                      <a:srgbClr val="111827"/>
                    </a:solidFill>
                    <a:latin typeface="Arial"/>
                  </a:rPr>
                  <a:t>, </a:t>
                </a:r>
                <a:r>
                  <a:rPr lang="en-IN" sz="2400">
                    <a:solidFill>
                      <a:srgbClr val="111827"/>
                    </a:solidFill>
                    <a:latin typeface="Cambria Math" panose="02040503050406030204" pitchFamily="18" charset="0"/>
                  </a:rPr>
                  <a:t>$dx=2\cos\theta\,d\theta$</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$dy=\pm2\frac{\cos^2\theta}{\sin\theta}d\theta=\pm2\left(\operatorname{cosec}\theta-\sin\theta\right)d\theta$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$y=\pm2\left[\ln|\operatorname{cosec}\theta-\cot\theta|+\cos\theta\right]+c$</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r>
                  <a:rPr lang="en-IN" sz="2400">
                    <a:solidFill>
                      <a:srgbClr val="111827"/>
                    </a:solidFill>
                    <a:latin typeface="Cambria Math" panose="02040503050406030204" pitchFamily="18" charset="0"/>
                  </a:rPr>
                  <a:t>$\sin\theta=\frac x2$</a:t>
                </a:r>
                <a:r>
                  <a:rPr sz="2400" b="0">
                    <a:solidFill>
                      <a:srgbClr val="111827"/>
                    </a:solidFill>
                    <a:latin typeface="Arial"/>
                  </a:rPr>
                  <a:t>, </a:t>
                </a:r>
                <a:r>
                  <a:rPr lang="en-IN" sz="2400">
                    <a:solidFill>
                      <a:srgbClr val="111827"/>
                    </a:solidFill>
                    <a:latin typeface="Cambria Math" panose="02040503050406030204" pitchFamily="18" charset="0"/>
                  </a:rPr>
                  <a:t>$\cos\theta=\frac{\sqrt{4-x^2}}{2}$</a:t>
                </a:r>
                <a:r>
                  <a:rPr sz="2400" b="0">
                    <a:solidFill>
                      <a:srgbClr val="111827"/>
                    </a:solidFill>
                    <a:latin typeface="Arial"/>
                  </a:rPr>
                  <a:t>, </a:t>
                </a:r>
                <a:r>
                  <a:rPr lang="en-IN" sz="2400">
                    <a:solidFill>
                      <a:srgbClr val="111827"/>
                    </a:solidFill>
                    <a:latin typeface="Cambria Math" panose="02040503050406030204" pitchFamily="18" charset="0"/>
                  </a:rPr>
                  <a:t>$\operatorname{cosec}\theta=\frac2x$</a:t>
                </a:r>
                <a:r>
                  <a:rPr sz="2400" b="0">
                    <a:solidFill>
                      <a:srgbClr val="111827"/>
                    </a:solidFill>
                    <a:latin typeface="Arial"/>
                  </a:rPr>
                  <a:t>, </a:t>
                </a:r>
                <a:r>
                  <a:rPr lang="en-IN" sz="2400">
                    <a:solidFill>
                      <a:srgbClr val="111827"/>
                    </a:solidFill>
                    <a:latin typeface="Cambria Math" panose="02040503050406030204" pitchFamily="18" charset="0"/>
                  </a:rPr>
                  <a:t>$\cot\theta=\frac{\sqrt{4-x^2}}{x}$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 (the tractrix,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$y=\pm2\left[\ln\left(\frac{2-\sqrt{4-x^2}}{x}\right)+\frac{\sqrt{4-x^2}}{2}\right]+c$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$0=0+c$</a:t>
                </a:r>
                <a:r>
                  <a:rPr sz="2400" b="0">
                    <a:solidFill>
                      <a:srgbClr val="111827"/>
                    </a:solidFill>
                    <a:latin typeface="Arial"/>
                  </a:rPr>
                  <a:t>, so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$y=\pm\left[\sqrt{4-x^2}+2\ln\frac{2-\sqrt{4-x^2}}{x}\right]$</a:t>
                </a:r>
                <a:r>
                  <a:rPr sz="2400" b="0">
                    <a:solidFill>
                      <a:srgbClr val="111827"/>
                    </a:solidFill>
                    <a:latin typeface="Arial"/>
                  </a:rPr>
                  <a:t> (the tractrix, </a:t>
                </a:r>
                <a:r>
                  <a:rPr lang="en-IN" sz="2400">
                    <a:solidFill>
                      <a:srgbClr val="111827"/>
                    </a:solidFill>
                    <a:latin typeface="Cambria Math" panose="02040503050406030204" pitchFamily="18" charset="0"/>
                  </a:rPr>
                  <a:t>$0&lt;x\le2$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ln</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e>
                            </m:rad>
                          </m:num>
                          <m:den>
                            <m:r>
                              <a:rPr lang="en-IN" sz="2800" i="1">
                                <a:solidFill>
                                  <a:srgbClr val="15803D"/>
                                </a:solidFill>
                                <a:latin typeface="Cambria Math" panose="02040503050406030204" pitchFamily="18" charset="0"/>
                              </a:rPr>
                              <m:t>𝑥</m:t>
                            </m:r>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$y=\pm\left[\sqrt{4-x^2}+2\ln\frac{2-\sqrt{4-x^2}}{x}\right]$</a:t>
                </a:r>
                <a:endParaRPr sz="2800">
                  <a:solidFill>
                    <a:srgbClr val="15803D"/>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e>
                    </m:rad>
                  </m:oMath>
                </a14:m>
                <a:r>
                  <a:rPr sz="2400" b="0">
                    <a:solidFill>
                      <a:srgbClr val="78350F"/>
                    </a:solidFill>
                    <a:latin typeface="Arial"/>
                  </a:rPr>
                  <a:t> (an algebraic substitution) and integrate by partial fractions instead of using trigonometry.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Substitute </a:t>
                </a:r>
                <a:r>
                  <a:rPr lang="en-IN" sz="2400">
                    <a:solidFill>
                      <a:srgbClr val="78350F"/>
                    </a:solidFill>
                    <a:latin typeface="Cambria Math" panose="02040503050406030204" pitchFamily="18" charset="0"/>
                  </a:rPr>
                  <a:t>$u=\sqrt{4-x^2}$</a:t>
                </a:r>
                <a:r>
                  <a:rPr sz="2400" b="0">
                    <a:solidFill>
                      <a:srgbClr val="78350F"/>
                    </a:solidFill>
                    <a:latin typeface="Arial"/>
                  </a:rPr>
                  <a:t> (an algebraic substitution) and integrate by partial fractions instead of using trigonometry.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partial fractions,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$\frac{dy}{dx}=\pm\frac{\sqrt{4-x^2}}{x}$</a:t>
                </a:r>
                <a:r>
                  <a:rPr sz="2400" b="0">
                    <a:solidFill>
                      <a:srgbClr val="111827"/>
                    </a:solidFill>
                    <a:latin typeface="Arial"/>
                  </a:rPr>
                  <a:t>, let </a:t>
                </a:r>
                <a:r>
                  <a:rPr lang="en-IN" sz="2400">
                    <a:solidFill>
                      <a:srgbClr val="111827"/>
                    </a:solidFill>
                    <a:latin typeface="Cambria Math" panose="02040503050406030204" pitchFamily="18" charset="0"/>
                  </a:rPr>
                  <a:t>$u=\sqrt{4-x^2}$</a:t>
                </a:r>
                <a:r>
                  <a:rPr sz="2400" b="0">
                    <a:solidFill>
                      <a:srgbClr val="111827"/>
                    </a:solidFill>
                    <a:latin typeface="Arial"/>
                  </a:rPr>
                  <a:t>, so </a:t>
                </a:r>
                <a:r>
                  <a:rPr lang="en-IN" sz="2400">
                    <a:solidFill>
                      <a:srgbClr val="111827"/>
                    </a:solidFill>
                    <a:latin typeface="Cambria Math" panose="02040503050406030204" pitchFamily="18" charset="0"/>
                  </a:rPr>
                  <a:t>$x^2=4-u^2$</a:t>
                </a:r>
                <a:r>
                  <a:rPr sz="2400" b="0">
                    <a:solidFill>
                      <a:srgbClr val="111827"/>
                    </a:solidFill>
                    <a:latin typeface="Arial"/>
                  </a:rPr>
                  <a:t> and </a:t>
                </a:r>
                <a:r>
                  <a:rPr lang="en-IN" sz="2400">
                    <a:solidFill>
                      <a:srgbClr val="111827"/>
                    </a:solidFill>
                    <a:latin typeface="Cambria Math" panose="02040503050406030204" pitchFamily="18" charset="0"/>
                  </a:rPr>
                  <a:t>$x\,dx=-u\,du$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$dy=\pm\frac{u}{x}dx=\pm\frac{u\,(x\,dx)}{x^2}=\mp\frac{u^2}{4-u^2}du$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partial fractions, </a:t>
                </a:r>
                <a:r>
                  <a:rPr lang="en-IN" sz="2400">
                    <a:solidFill>
                      <a:srgbClr val="111827"/>
                    </a:solidFill>
                    <a:latin typeface="Cambria Math" panose="02040503050406030204" pitchFamily="18" charset="0"/>
                  </a:rPr>
                  <a:t>$\frac{u^2}{4-u^2}=-1+\frac{4}{4-u^2}=-1+\frac{1}{2-u}+\frac{1}{2+u}$</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e>
                    </m:d>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e>
                    </m:d>
                  </m:oMath>
                </a14:m>
                <a:r>
                  <a:rPr sz="2400" b="0">
                    <a:solidFill>
                      <a:srgbClr val="111827"/>
                    </a:solidFill>
                    <a:latin typeface="Arial"/>
                  </a:rPr>
                  <a:t> and 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this is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 the same curve.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$dy=\pm\left(1-\frac{1}{2-u}-\frac{1}{2+u}\right)du$</a:t>
                </a:r>
                <a:r>
                  <a:rPr sz="2400" b="0">
                    <a:solidFill>
                      <a:srgbClr val="111827"/>
                    </a:solidFill>
                    <a:latin typeface="Arial"/>
                  </a:rPr>
                  <a:t> and </a:t>
                </a:r>
                <a:r>
                  <a:rPr lang="en-IN" sz="2400">
                    <a:solidFill>
                      <a:srgbClr val="111827"/>
                    </a:solidFill>
                    <a:latin typeface="Cambria Math" panose="02040503050406030204" pitchFamily="18" charset="0"/>
                  </a:rPr>
                  <a:t>$y=\pm\left[u+\ln|2-u|-\ln|2+u|\right]+c$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$(2,0)$</a:t>
                </a:r>
                <a:r>
                  <a:rPr sz="2400" b="0">
                    <a:solidFill>
                      <a:srgbClr val="111827"/>
                    </a:solidFill>
                    <a:latin typeface="Arial"/>
                  </a:rPr>
                  <a:t>, </a:t>
                </a:r>
                <a:r>
                  <a:rPr lang="en-IN" sz="2400">
                    <a:solidFill>
                      <a:srgbClr val="111827"/>
                    </a:solidFill>
                    <a:latin typeface="Cambria Math" panose="02040503050406030204" pitchFamily="18" charset="0"/>
                  </a:rPr>
                  <a:t>$u=0$</a:t>
                </a:r>
                <a:r>
                  <a:rPr sz="2400" b="0">
                    <a:solidFill>
                      <a:srgbClr val="111827"/>
                    </a:solidFill>
                    <a:latin typeface="Arial"/>
                  </a:rPr>
                  <a:t>: </a:t>
                </a:r>
                <a:r>
                  <a:rPr lang="en-IN" sz="2400">
                    <a:solidFill>
                      <a:srgbClr val="111827"/>
                    </a:solidFill>
                    <a:latin typeface="Cambria Math" panose="02040503050406030204" pitchFamily="18" charset="0"/>
                  </a:rPr>
                  <a:t>$0=\pm[0+0]+c$</a:t>
                </a:r>
                <a:r>
                  <a:rPr sz="2400" b="0">
                    <a:solidFill>
                      <a:srgbClr val="111827"/>
                    </a:solidFill>
                    <a:latin typeface="Arial"/>
                  </a:rPr>
                  <a:t>, so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$y=\pm\left[\sqrt{4-x^2}+\ln\frac{2-u}{2+u}\right]$</a:t>
                </a:r>
                <a:r>
                  <a:rPr sz="2400" b="0">
                    <a:solidFill>
                      <a:srgbClr val="111827"/>
                    </a:solidFill>
                    <a:latin typeface="Arial"/>
                  </a:rPr>
                  <a:t> and since </a:t>
                </a:r>
                <a:r>
                  <a:rPr lang="en-IN" sz="2400">
                    <a:solidFill>
                      <a:srgbClr val="111827"/>
                    </a:solidFill>
                    <a:latin typeface="Cambria Math" panose="02040503050406030204" pitchFamily="18" charset="0"/>
                  </a:rPr>
                  <a:t>$\frac{2-u}{2+u}=\frac{(2-u)^2}{4-u^2}=\left(\frac{2-u}{x}\right)^2$</a:t>
                </a:r>
                <a:r>
                  <a:rPr sz="2400" b="0">
                    <a:solidFill>
                      <a:srgbClr val="111827"/>
                    </a:solidFill>
                    <a:latin typeface="Arial"/>
                  </a:rPr>
                  <a:t>, this is </a:t>
                </a:r>
                <a:r>
                  <a:rPr lang="en-IN" sz="2400">
                    <a:solidFill>
                      <a:srgbClr val="111827"/>
                    </a:solidFill>
                    <a:latin typeface="Cambria Math" panose="02040503050406030204" pitchFamily="18" charset="0"/>
                  </a:rPr>
                  <a:t>$\pm\left[\sqrt{4-x^2}+2\ln\frac{2-\sqrt{4-x^2}}{x}\right]$</a:t>
                </a:r>
                <a:r>
                  <a:rPr sz="2400" b="0">
                    <a:solidFill>
                      <a:srgbClr val="111827"/>
                    </a:solidFill>
                    <a:latin typeface="Arial"/>
                  </a:rPr>
                  <a:t>, the same curve.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e>
                        </m:ra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ln</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e>
                            </m:rad>
                          </m:num>
                          <m:den>
                            <m:r>
                              <a:rPr lang="en-IN" sz="2800" i="1">
                                <a:solidFill>
                                  <a:srgbClr val="15803D"/>
                                </a:solidFill>
                                <a:latin typeface="Cambria Math" panose="02040503050406030204" pitchFamily="18" charset="0"/>
                              </a:rPr>
                              <m:t>𝑥</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$y=\pm\left[\sqrt{4-x^2}+2\ln\frac{2-\sqrt{4-x^2}}{x}\right]$</a:t>
                </a:r>
                <a:endParaRPr sz="2800">
                  <a:solidFill>
                    <a:srgbClr val="15803D"/>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meets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normal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tangent length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up to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gives the tractrix: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Subtangent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e>
                    </m:d>
                  </m:oMath>
                </a14:m>
                <a:r>
                  <a:rPr sz="2400" b="0">
                    <a:solidFill>
                      <a:srgbClr val="111827"/>
                    </a:solidFill>
                    <a:latin typeface="Arial"/>
                  </a:rPr>
                  <a:t>, subnormal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e>
                    </m:d>
                  </m:oMath>
                </a14:m>
                <a:r>
                  <a:rPr sz="2400" b="0">
                    <a:solidFill>
                      <a:srgbClr val="111827"/>
                    </a:solidFill>
                    <a:latin typeface="Arial"/>
                  </a:rPr>
                  <a:t>, tangent length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e>
                    </m: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Integrals with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divided by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are done by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or by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r>
                  <a:rPr lang="en-IN" sz="2400">
                    <a:solidFill>
                      <a:srgbClr val="111827"/>
                    </a:solidFill>
                    <a:latin typeface="Cambria Math" panose="02040503050406030204" pitchFamily="18" charset="0"/>
                  </a:rPr>
                  <a:t>$(x,y)$</a:t>
                </a:r>
                <a:r>
                  <a:rPr sz="2400" b="0">
                    <a:solidFill>
                      <a:srgbClr val="111827"/>
                    </a:solidFill>
                    <a:latin typeface="Arial"/>
                  </a:rPr>
                  <a:t> meets the </a:t>
                </a:r>
                <a:r>
                  <a:rPr lang="en-IN" sz="2400">
                    <a:solidFill>
                      <a:srgbClr val="111827"/>
                    </a:solidFill>
                    <a:latin typeface="Cambria Math" panose="02040503050406030204" pitchFamily="18" charset="0"/>
                  </a:rPr>
                  <a:t>$y$</a:t>
                </a:r>
                <a:r>
                  <a:rPr sz="2400" b="0">
                    <a:solidFill>
                      <a:srgbClr val="111827"/>
                    </a:solidFill>
                    <a:latin typeface="Arial"/>
                  </a:rPr>
                  <a:t>-axis at </a:t>
                </a:r>
                <a:r>
                  <a:rPr lang="en-IN" sz="2400">
                    <a:solidFill>
                      <a:srgbClr val="111827"/>
                    </a:solidFill>
                    <a:latin typeface="Cambria Math" panose="02040503050406030204" pitchFamily="18" charset="0"/>
                  </a:rPr>
                  <a:t>$y-xy'$</a:t>
                </a:r>
                <a:r>
                  <a:rPr sz="2400" b="0">
                    <a:solidFill>
                      <a:srgbClr val="111827"/>
                    </a:solidFill>
                    <a:latin typeface="Arial"/>
                  </a:rPr>
                  <a:t> and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$x-\frac{y}{y'}$</a:t>
                </a:r>
                <a:r>
                  <a:rPr sz="2400" b="0">
                    <a:solidFill>
                      <a:srgbClr val="111827"/>
                    </a:solidFill>
                    <a:latin typeface="Arial"/>
                  </a:rPr>
                  <a:t>; normal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$x+yy'$</a:t>
                </a:r>
                <a:r>
                  <a:rPr sz="2400" b="0">
                    <a:solidFill>
                      <a:srgbClr val="111827"/>
                    </a:solidFill>
                    <a:latin typeface="Arial"/>
                  </a:rPr>
                  <a:t> and the </a:t>
                </a:r>
                <a:r>
                  <a:rPr lang="en-IN" sz="2400">
                    <a:solidFill>
                      <a:srgbClr val="111827"/>
                    </a:solidFill>
                    <a:latin typeface="Cambria Math" panose="02040503050406030204" pitchFamily="18" charset="0"/>
                  </a:rPr>
                  <a:t>$y$</a:t>
                </a:r>
                <a:r>
                  <a:rPr sz="2400" b="0">
                    <a:solidFill>
                      <a:srgbClr val="111827"/>
                    </a:solidFill>
                    <a:latin typeface="Arial"/>
                  </a:rPr>
                  <a:t>-axis at </a:t>
                </a:r>
                <a:r>
                  <a:rPr lang="en-IN" sz="2400">
                    <a:solidFill>
                      <a:srgbClr val="111827"/>
                    </a:solidFill>
                    <a:latin typeface="Cambria Math" panose="02040503050406030204" pitchFamily="18" charset="0"/>
                  </a:rPr>
                  <a:t>$y+\frac{x}{y'}$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Constant tangent length </a:t>
                </a:r>
                <a:r>
                  <a:rPr lang="en-IN" sz="2400">
                    <a:solidFill>
                      <a:srgbClr val="111827"/>
                    </a:solidFill>
                    <a:latin typeface="Cambria Math" panose="02040503050406030204" pitchFamily="18" charset="0"/>
                  </a:rPr>
                  <a:t>$a$</a:t>
                </a:r>
                <a:r>
                  <a:rPr sz="2400" b="0">
                    <a:solidFill>
                      <a:srgbClr val="111827"/>
                    </a:solidFill>
                    <a:latin typeface="Arial"/>
                  </a:rPr>
                  <a:t> up to the </a:t>
                </a:r>
                <a:r>
                  <a:rPr lang="en-IN" sz="2400">
                    <a:solidFill>
                      <a:srgbClr val="111827"/>
                    </a:solidFill>
                    <a:latin typeface="Cambria Math" panose="02040503050406030204" pitchFamily="18" charset="0"/>
                  </a:rPr>
                  <a:t>$y$</a:t>
                </a:r>
                <a:r>
                  <a:rPr sz="2400" b="0">
                    <a:solidFill>
                      <a:srgbClr val="111827"/>
                    </a:solidFill>
                    <a:latin typeface="Arial"/>
                  </a:rPr>
                  <a:t>-axis gives the tractrix: </a:t>
                </a:r>
                <a:r>
                  <a:rPr lang="en-IN" sz="2400">
                    <a:solidFill>
                      <a:srgbClr val="111827"/>
                    </a:solidFill>
                    <a:latin typeface="Cambria Math" panose="02040503050406030204" pitchFamily="18" charset="0"/>
                  </a:rPr>
                  <a:t>$\frac{dy}{dx}=\pm\frac{\sqrt{a^2-x^2}}{x}$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Subtangent </a:t>
                </a:r>
                <a:r>
                  <a:rPr lang="en-IN" sz="2400">
                    <a:solidFill>
                      <a:srgbClr val="111827"/>
                    </a:solidFill>
                    <a:latin typeface="Cambria Math" panose="02040503050406030204" pitchFamily="18" charset="0"/>
                  </a:rPr>
                  <a:t>$=\left|\frac{y}{y'}\right|$</a:t>
                </a:r>
                <a:r>
                  <a:rPr sz="2400" b="0">
                    <a:solidFill>
                      <a:srgbClr val="111827"/>
                    </a:solidFill>
                    <a:latin typeface="Arial"/>
                  </a:rPr>
                  <a:t>, subnormal </a:t>
                </a:r>
                <a:r>
                  <a:rPr lang="en-IN" sz="2400">
                    <a:solidFill>
                      <a:srgbClr val="111827"/>
                    </a:solidFill>
                    <a:latin typeface="Cambria Math" panose="02040503050406030204" pitchFamily="18" charset="0"/>
                  </a:rPr>
                  <a:t>$=\left|yy'\right|$</a:t>
                </a:r>
                <a:r>
                  <a:rPr sz="2400" b="0">
                    <a:solidFill>
                      <a:srgbClr val="111827"/>
                    </a:solidFill>
                    <a:latin typeface="Arial"/>
                  </a:rPr>
                  <a:t>, tangent length </a:t>
                </a:r>
                <a:r>
                  <a:rPr lang="en-IN" sz="2400">
                    <a:solidFill>
                      <a:srgbClr val="111827"/>
                    </a:solidFill>
                    <a:latin typeface="Cambria Math" panose="02040503050406030204" pitchFamily="18" charset="0"/>
                  </a:rPr>
                  <a:t>$=\left|\frac{y}{y'}\right|\sqrt{1+y'^2}$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Integrals with </a:t>
                </a:r>
                <a:r>
                  <a:rPr lang="en-IN" sz="2400">
                    <a:solidFill>
                      <a:srgbClr val="111827"/>
                    </a:solidFill>
                    <a:latin typeface="Cambria Math" panose="02040503050406030204" pitchFamily="18" charset="0"/>
                  </a:rPr>
                  <a:t>$\sqrt{a^2-x^2}$</a:t>
                </a:r>
                <a:r>
                  <a:rPr sz="2400" b="0">
                    <a:solidFill>
                      <a:srgbClr val="111827"/>
                    </a:solidFill>
                    <a:latin typeface="Arial"/>
                  </a:rPr>
                  <a:t> divided by </a:t>
                </a:r>
                <a:r>
                  <a:rPr lang="en-IN" sz="2400">
                    <a:solidFill>
                      <a:srgbClr val="111827"/>
                    </a:solidFill>
                    <a:latin typeface="Cambria Math" panose="02040503050406030204" pitchFamily="18" charset="0"/>
                  </a:rPr>
                  <a:t>$x$</a:t>
                </a:r>
                <a:r>
                  <a:rPr sz="2400" b="0">
                    <a:solidFill>
                      <a:srgbClr val="111827"/>
                    </a:solidFill>
                    <a:latin typeface="Arial"/>
                  </a:rPr>
                  <a:t> are done by </a:t>
                </a:r>
                <a:r>
                  <a:rPr lang="en-IN" sz="2400">
                    <a:solidFill>
                      <a:srgbClr val="111827"/>
                    </a:solidFill>
                    <a:latin typeface="Cambria Math" panose="02040503050406030204" pitchFamily="18" charset="0"/>
                  </a:rPr>
                  <a:t>$x=a\sin\theta$</a:t>
                </a:r>
                <a:r>
                  <a:rPr sz="2400" b="0">
                    <a:solidFill>
                      <a:srgbClr val="111827"/>
                    </a:solidFill>
                    <a:latin typeface="Arial"/>
                  </a:rPr>
                  <a:t> or by </a:t>
                </a:r>
                <a:r>
                  <a:rPr lang="en-IN" sz="2400">
                    <a:solidFill>
                      <a:srgbClr val="111827"/>
                    </a:solidFill>
                    <a:latin typeface="Cambria Math" panose="02040503050406030204" pitchFamily="18" charset="0"/>
                  </a:rPr>
                  <a:t>$u=\sqrt{a^2-x^2}$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a:t>
                </a:r>
                <a:r>
                  <a:rPr lang="en-IN" sz="2400">
                    <a:solidFill>
                      <a:srgbClr val="111827"/>
                    </a:solidFill>
                    <a:latin typeface="Cambria Math" panose="02040503050406030204" pitchFamily="18" charset="0"/>
                  </a:rPr>
                  <a:t>$x\,dy+y\,dx+\frac{x\,dy-y\,dx}{x^2+y^2}=0$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Exact differential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d>
                      <m:dPr>
                        <m:begChr m:val="("/>
                        <m:sepChr m:val=""/>
                        <m:endChr m:val=")"/>
                        <m:grow/>
                        <m:ctrlPr>
                          <a:rPr lang="en-IN" sz="2400" i="1">
                            <a:solidFill>
                              <a:srgbClr val="78350F"/>
                            </a:solidFill>
                            <a:latin typeface="Cambria Math" panose="02040503050406030204" pitchFamily="18" charset="0"/>
                          </a:rPr>
                        </m:ctrlPr>
                      </m:dPr>
                      <m:e>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𝑥</m:t>
                            </m:r>
                          </m:den>
                        </m:f>
                      </m:e>
                    </m:d>
                  </m:oMath>
                </a14:m>
                <a:r>
                  <a:rPr sz="2400" b="0">
                    <a:solidFill>
                      <a:srgbClr val="78350F"/>
                    </a:solidFill>
                    <a:latin typeface="Arial"/>
                  </a:rPr>
                  <a:t>, so the equation is exact.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$x\,dy+y\,dx=d(xy)$</a:t>
                </a:r>
                <a:r>
                  <a:rPr sz="2400" b="0">
                    <a:solidFill>
                      <a:srgbClr val="78350F"/>
                    </a:solidFill>
                    <a:latin typeface="Arial"/>
                  </a:rPr>
                  <a:t> and </a:t>
                </a:r>
                <a:r>
                  <a:rPr lang="en-IN" sz="2400">
                    <a:solidFill>
                      <a:srgbClr val="78350F"/>
                    </a:solidFill>
                    <a:latin typeface="Cambria Math" panose="02040503050406030204" pitchFamily="18" charset="0"/>
                  </a:rPr>
                  <a:t>$\frac{x\,dy-y\,dx}{x^2+y^2}=d\left(\tan^{-1}\frac yx\right)$</a:t>
                </a:r>
                <a:r>
                  <a:rPr sz="2400" b="0">
                    <a:solidFill>
                      <a:srgbClr val="78350F"/>
                    </a:solidFill>
                    <a:latin typeface="Arial"/>
                  </a:rPr>
                  <a:t>, so the equation is exact.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$x\,dy+y\,dx+\frac{x\,dy-y\,dx}{x^2+y^2}=0$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$x\,dy+y\,dx=d(xy)$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$\frac{x\,dy-y\,dx}{x^2+y^2}=d\left(\tan^{-1}\frac yx\right)$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$d(xy)+d\left(\tan^{-1}\frac yx\right)=0$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$xy+\tan^{-1}\frac yx=c$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𝑥</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sSup>
                      <m:e>
                        <m:r>
                          <m:rPr>
                            <m:sty m:val="p"/>
                          </m:rPr>
                          <a:rPr lang="en-IN" sz="2800">
                            <a:solidFill>
                              <a:srgbClr val="15803D"/>
                            </a:solidFill>
                            <a:latin typeface="Cambria Math" panose="02040503050406030204" pitchFamily="18" charset="0"/>
                          </a:rPr>
                          <m:t>tan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
                          <a:rPr lang="en-IN" sz="2800" i="1">
                            <a:solidFill>
                              <a:srgbClr val="15803D"/>
                            </a:solidFill>
                            <a:latin typeface="Cambria Math" panose="02040503050406030204" pitchFamily="18" charset="0"/>
                          </a:rPr>
                          <m:t>𝑥</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$xy+\tan^{-1}\frac yx=c$</a:t>
                </a:r>
                <a:endParaRPr sz="2800">
                  <a:solidFill>
                    <a:srgbClr val="15803D"/>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polar coordinates: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θ</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polar coordinates: </a:t>
                </a:r>
                <a:r>
                  <a:rPr lang="en-IN" sz="2400">
                    <a:solidFill>
                      <a:srgbClr val="78350F"/>
                    </a:solidFill>
                    <a:latin typeface="Cambria Math" panose="02040503050406030204" pitchFamily="18" charset="0"/>
                  </a:rPr>
                  <a:t>$x\,dy-y\,dx=r^2d\theta$</a:t>
                </a:r>
                <a:r>
                  <a:rPr sz="2400" b="0">
                    <a:solidFill>
                      <a:srgbClr val="78350F"/>
                    </a:solidFill>
                    <a:latin typeface="Arial"/>
                  </a:rPr>
                  <a:t> and </a:t>
                </a:r>
                <a:r>
                  <a:rPr lang="en-IN" sz="2400">
                    <a:solidFill>
                      <a:srgbClr val="78350F"/>
                    </a:solidFill>
                    <a:latin typeface="Cambria Math" panose="02040503050406030204" pitchFamily="18" charset="0"/>
                  </a:rPr>
                  <a:t>$x^2+y^2=r^2$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154936"/>
                <a:ext cx="10725912" cy="36332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$x=r\cos\theta,\ y=r\sin\theta$</a:t>
                </a:r>
                <a:r>
                  <a:rPr sz="2400" b="0">
                    <a:solidFill>
                      <a:srgbClr val="111827"/>
                    </a:solidFill>
                    <a:latin typeface="Arial"/>
                  </a:rPr>
                  <a:t>. Then </a:t>
                </a:r>
                <a:r>
                  <a:rPr lang="en-IN" sz="2400">
                    <a:solidFill>
                      <a:srgbClr val="111827"/>
                    </a:solidFill>
                    <a:latin typeface="Cambria Math" panose="02040503050406030204" pitchFamily="18" charset="0"/>
                  </a:rPr>
                  <a:t>$x^2+y^2=r^2$</a:t>
                </a:r>
                <a:r>
                  <a:rPr sz="2400" b="0">
                    <a:solidFill>
                      <a:srgbClr val="111827"/>
                    </a:solidFill>
                    <a:latin typeface="Arial"/>
                  </a:rPr>
                  <a:t> and </a:t>
                </a:r>
                <a:r>
                  <a:rPr lang="en-IN" sz="2400">
                    <a:solidFill>
                      <a:srgbClr val="111827"/>
                    </a:solidFill>
                    <a:latin typeface="Cambria Math" panose="02040503050406030204" pitchFamily="18" charset="0"/>
                  </a:rPr>
                  <a:t>$x\,dy-y\,dx=r^2\,d\theta$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$\frac{x\,dy-y\,dx}{x^2+y^2}=d\theta$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$xy=r^2\sin\theta\cos\theta$</a:t>
                </a:r>
                <a:r>
                  <a:rPr sz="2400" b="0">
                    <a:solidFill>
                      <a:srgbClr val="111827"/>
                    </a:solidFill>
                    <a:latin typeface="Arial"/>
                  </a:rPr>
                  <a:t>, and </a:t>
                </a:r>
                <a:r>
                  <a:rPr lang="en-IN" sz="2400">
                    <a:solidFill>
                      <a:srgbClr val="111827"/>
                    </a:solidFill>
                    <a:latin typeface="Cambria Math" panose="02040503050406030204" pitchFamily="18" charset="0"/>
                  </a:rPr>
                  <a:t>$x\,dy+y\,dx=d(xy)$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r>
                  <a:rPr lang="en-IN" sz="2400">
                    <a:solidFill>
                      <a:srgbClr val="111827"/>
                    </a:solidFill>
                    <a:latin typeface="Cambria Math" panose="02040503050406030204" pitchFamily="18" charset="0"/>
                  </a:rPr>
                  <a:t>$d(xy)+d\theta=0$</a:t>
                </a:r>
                <a:r>
                  <a:rPr sz="2400" b="0">
                    <a:solidFill>
                      <a:srgbClr val="111827"/>
                    </a:solidFill>
                    <a:latin typeface="Arial"/>
                  </a:rPr>
                  <a:t>, so </a:t>
                </a:r>
                <a:r>
                  <a:rPr lang="en-IN" sz="2400">
                    <a:solidFill>
                      <a:srgbClr val="111827"/>
                    </a:solidFill>
                    <a:latin typeface="Cambria Math" panose="02040503050406030204" pitchFamily="18" charset="0"/>
                  </a:rPr>
                  <a:t>$xy+\theta=c$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$\theta=\tan^{-1}\frac yx$</a:t>
                </a:r>
                <a:r>
                  <a:rPr sz="2400" b="0">
                    <a:solidFill>
                      <a:srgbClr val="111827"/>
                    </a:solidFill>
                    <a:latin typeface="Arial"/>
                  </a:rPr>
                  <a:t> this is </a:t>
                </a:r>
                <a:r>
                  <a:rPr lang="en-IN" sz="2400">
                    <a:solidFill>
                      <a:srgbClr val="111827"/>
                    </a:solidFill>
                    <a:latin typeface="Cambria Math" panose="02040503050406030204" pitchFamily="18" charset="0"/>
                  </a:rPr>
                  <a:t>$xy+\tan^{-1}\frac yx=c$</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𝑥</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sSup>
                      <m:e>
                        <m:r>
                          <m:rPr>
                            <m:sty m:val="p"/>
                          </m:rPr>
                          <a:rPr lang="en-IN" sz="2800">
                            <a:solidFill>
                              <a:srgbClr val="15803D"/>
                            </a:solidFill>
                            <a:latin typeface="Cambria Math" panose="02040503050406030204" pitchFamily="18" charset="0"/>
                          </a:rPr>
                          <m:t>tan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
                          <a:rPr lang="en-IN" sz="2800" i="1">
                            <a:solidFill>
                              <a:srgbClr val="15803D"/>
                            </a:solidFill>
                            <a:latin typeface="Cambria Math" panose="02040503050406030204" pitchFamily="18" charset="0"/>
                          </a:rPr>
                          <m:t>𝑥</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$xy+\tan^{-1}\frac yx=c$</a:t>
                </a:r>
                <a:endParaRPr sz="2800">
                  <a:solidFill>
                    <a:srgbClr val="15803D"/>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Standard exact differentials: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polar form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θ</m:t>
                    </m:r>
                  </m:oMath>
                </a14:m>
                <a:r>
                  <a:rPr sz="2400" b="0">
                    <a:solidFill>
                      <a:srgbClr val="111827"/>
                    </a:solidFill>
                    <a:latin typeface="Arial"/>
                  </a:rPr>
                  <a:t>; use polar coordinates whenever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appears.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Standard exact differentials: </a:t>
                </a:r>
                <a:r>
                  <a:rPr lang="en-IN" sz="2400">
                    <a:solidFill>
                      <a:srgbClr val="111827"/>
                    </a:solidFill>
                    <a:latin typeface="Cambria Math" panose="02040503050406030204" pitchFamily="18" charset="0"/>
                  </a:rPr>
                  <a:t>$d(xy)=x\,dy+y\,dx$</a:t>
                </a:r>
                <a:r>
                  <a:rPr sz="2400" b="0">
                    <a:solidFill>
                      <a:srgbClr val="111827"/>
                    </a:solidFill>
                    <a:latin typeface="Arial"/>
                  </a:rPr>
                  <a:t>; </a:t>
                </a:r>
                <a:r>
                  <a:rPr lang="en-IN" sz="2400">
                    <a:solidFill>
                      <a:srgbClr val="111827"/>
                    </a:solidFill>
                    <a:latin typeface="Cambria Math" panose="02040503050406030204" pitchFamily="18" charset="0"/>
                  </a:rPr>
                  <a:t>$d\left(\frac yx\right)=\frac{x\,dy-y\,dx}{x^2}$</a:t>
                </a:r>
                <a:r>
                  <a:rPr sz="2400" b="0">
                    <a:solidFill>
                      <a:srgbClr val="111827"/>
                    </a:solidFill>
                    <a:latin typeface="Arial"/>
                  </a:rPr>
                  <a:t>; </a:t>
                </a:r>
                <a:r>
                  <a:rPr lang="en-IN" sz="2400">
                    <a:solidFill>
                      <a:srgbClr val="111827"/>
                    </a:solidFill>
                    <a:latin typeface="Cambria Math" panose="02040503050406030204" pitchFamily="18" charset="0"/>
                  </a:rPr>
                  <a:t>$d\left(\tan^{-1}\frac yx\right)=\frac{x\,dy-y\,dx}{x^2+y^2}$</a:t>
                </a:r>
                <a:r>
                  <a:rPr sz="2400" b="0">
                    <a:solidFill>
                      <a:srgbClr val="111827"/>
                    </a:solidFill>
                    <a:latin typeface="Arial"/>
                  </a:rPr>
                  <a:t>; </a:t>
                </a:r>
                <a:r>
                  <a:rPr lang="en-IN" sz="2400">
                    <a:solidFill>
                      <a:srgbClr val="111827"/>
                    </a:solidFill>
                    <a:latin typeface="Cambria Math" panose="02040503050406030204" pitchFamily="18" charset="0"/>
                  </a:rPr>
                  <a:t>$d\left(\frac12\ln(x^2+y^2)\right)=\frac{x\,dx+y\,dy}{x^2+y^2}$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$d\left(\ln\frac yx\right)=\frac{x\,dy-y\,dx}{xy}$</a:t>
                </a:r>
                <a:r>
                  <a:rPr sz="2400" b="0">
                    <a:solidFill>
                      <a:srgbClr val="111827"/>
                    </a:solidFill>
                    <a:latin typeface="Arial"/>
                  </a:rPr>
                  <a:t> and </a:t>
                </a:r>
                <a:r>
                  <a:rPr lang="en-IN" sz="2400">
                    <a:solidFill>
                      <a:srgbClr val="111827"/>
                    </a:solidFill>
                    <a:latin typeface="Cambria Math" panose="02040503050406030204" pitchFamily="18" charset="0"/>
                  </a:rPr>
                  <a:t>$d\left(\frac{x^2+y^2}{2}\right)=x\,dx+y\,dy$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polar form </a:t>
                </a:r>
                <a:r>
                  <a:rPr lang="en-IN" sz="2400">
                    <a:solidFill>
                      <a:srgbClr val="111827"/>
                    </a:solidFill>
                    <a:latin typeface="Cambria Math" panose="02040503050406030204" pitchFamily="18" charset="0"/>
                  </a:rPr>
                  <a:t>$x\,dx+y\,dy=r\,dr$</a:t>
                </a:r>
                <a:r>
                  <a:rPr sz="2400" b="0">
                    <a:solidFill>
                      <a:srgbClr val="111827"/>
                    </a:solidFill>
                    <a:latin typeface="Arial"/>
                  </a:rPr>
                  <a:t> and </a:t>
                </a:r>
                <a:r>
                  <a:rPr lang="en-IN" sz="2400">
                    <a:solidFill>
                      <a:srgbClr val="111827"/>
                    </a:solidFill>
                    <a:latin typeface="Cambria Math" panose="02040503050406030204" pitchFamily="18" charset="0"/>
                  </a:rPr>
                  <a:t>$x\,dy-y\,dx=r^2d\theta$</a:t>
                </a:r>
                <a:r>
                  <a:rPr sz="2400" b="0">
                    <a:solidFill>
                      <a:srgbClr val="111827"/>
                    </a:solidFill>
                    <a:latin typeface="Arial"/>
                  </a:rPr>
                  <a:t>; use polar coordinates whenever </a:t>
                </a:r>
                <a:r>
                  <a:rPr lang="en-IN" sz="2400">
                    <a:solidFill>
                      <a:srgbClr val="111827"/>
                    </a:solidFill>
                    <a:latin typeface="Cambria Math" panose="02040503050406030204" pitchFamily="18" charset="0"/>
                  </a:rPr>
                  <a:t>$x^2+y^2$</a:t>
                </a:r>
                <a:r>
                  <a:rPr sz="2400" b="0">
                    <a:solidFill>
                      <a:srgbClr val="111827"/>
                    </a:solidFill>
                    <a:latin typeface="Arial"/>
                  </a:rPr>
                  <a:t> appears.</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given that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Solve </a:t>
                </a:r>
                <a:r>
                  <a:rPr lang="en-IN" sz="2400">
                    <a:solidFill>
                      <a:srgbClr val="111827"/>
                    </a:solidFill>
                    <a:latin typeface="Cambria Math" panose="02040503050406030204" pitchFamily="18" charset="0"/>
                  </a:rPr>
                  <a:t>$\frac{y\,dx-x\,dy}{(x-y)^2}=\frac{dx}{2\sqrt{1-x^2}}$</a:t>
                </a:r>
                <a:r>
                  <a:rPr sz="2400" b="0">
                    <a:solidFill>
                      <a:srgbClr val="111827"/>
                    </a:solidFill>
                    <a:latin typeface="Arial"/>
                  </a:rPr>
                  <a:t>, given that </a:t>
                </a:r>
                <a:r>
                  <a:rPr lang="en-IN" sz="2400">
                    <a:solidFill>
                      <a:srgbClr val="111827"/>
                    </a:solidFill>
                    <a:latin typeface="Cambria Math" panose="02040503050406030204" pitchFamily="18" charset="0"/>
                  </a:rPr>
                  <a:t>$y=2$</a:t>
                </a:r>
                <a:r>
                  <a:rPr sz="2400" b="0">
                    <a:solidFill>
                      <a:srgbClr val="111827"/>
                    </a:solidFill>
                    <a:latin typeface="Arial"/>
                  </a:rPr>
                  <a:t> when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Exact differential equations, Inverse trigonometric integration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num>
                      <m:den>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den>
                        </m:f>
                      </m:e>
                    </m:d>
                  </m:oMath>
                </a14:m>
                <a:r>
                  <a:rPr sz="2400" b="0">
                    <a:solidFill>
                      <a:srgbClr val="78350F"/>
                    </a:solidFill>
                    <a:latin typeface="Arial"/>
                  </a:rPr>
                  <a:t>, so the left side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𝑑</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den>
                        </m:f>
                      </m:e>
                    </m:d>
                  </m:oMath>
                </a14:m>
                <a:r>
                  <a:rPr sz="2400" b="0">
                    <a:solidFill>
                      <a:srgbClr val="78350F"/>
                    </a:solidFill>
                    <a:latin typeface="Arial"/>
                  </a:rPr>
                  <a:t> and the equation is separable.</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$\frac{x\,dy-y\,dx}{(x-y)^2}=d\left(\frac{y}{x-y}\right)$</a:t>
                </a:r>
                <a:r>
                  <a:rPr sz="2400" b="0">
                    <a:solidFill>
                      <a:srgbClr val="78350F"/>
                    </a:solidFill>
                    <a:latin typeface="Arial"/>
                  </a:rPr>
                  <a:t>, so the left side is </a:t>
                </a:r>
                <a:r>
                  <a:rPr lang="en-IN" sz="2400">
                    <a:solidFill>
                      <a:srgbClr val="78350F"/>
                    </a:solidFill>
                    <a:latin typeface="Cambria Math" panose="02040503050406030204" pitchFamily="18" charset="0"/>
                  </a:rPr>
                  <a:t>$-d\left(\frac{y}{x-y}\right)$</a:t>
                </a:r>
                <a:r>
                  <a:rPr sz="2400" b="0">
                    <a:solidFill>
                      <a:srgbClr val="78350F"/>
                    </a:solidFill>
                    <a:latin typeface="Arial"/>
                  </a:rPr>
                  <a:t> and the equation is separable.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equation as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oMath>
                </a14:m>
                <a:r>
                  <a:rPr sz="2400" b="0">
                    <a:solidFill>
                      <a:srgbClr val="111827"/>
                    </a:solidFill>
                    <a:latin typeface="Arial"/>
                  </a:rPr>
                  <a:t>, then divide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the equation as </a:t>
                </a:r>
                <a:r>
                  <a:rPr lang="en-IN" sz="2400">
                    <a:solidFill>
                      <a:srgbClr val="111827"/>
                    </a:solidFill>
                    <a:latin typeface="Cambria Math" panose="02040503050406030204" pitchFamily="18" charset="0"/>
                  </a:rPr>
                  <a:t>$y-x\frac{dy}{dx}=\frac{(x-y)^2}{2\sqrt{1-x^2}}$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$y-x\frac{dy}{dx}=-(x-y)+x\left(1-\frac{dy}{dx}\right)$</a:t>
                </a:r>
                <a:r>
                  <a:rPr sz="2400" b="0">
                    <a:solidFill>
                      <a:srgbClr val="111827"/>
                    </a:solidFill>
                    <a:latin typeface="Arial"/>
                  </a:rPr>
                  <a:t>, then divide by </a:t>
                </a:r>
                <a:r>
                  <a:rPr lang="en-IN" sz="2400">
                    <a:solidFill>
                      <a:srgbClr val="111827"/>
                    </a:solidFill>
                    <a:latin typeface="Cambria Math" panose="02040503050406030204" pitchFamily="18" charset="0"/>
                  </a:rPr>
                  <a:t>$(x-y)^2$</a:t>
                </a:r>
                <a:r>
                  <a:rPr sz="2400" b="0">
                    <a:solidFill>
                      <a:srgbClr val="111827"/>
                    </a:solidFill>
                    <a:latin typeface="Arial"/>
                  </a:rPr>
                  <a:t>: </a:t>
                </a:r>
                <a:r>
                  <a:rPr lang="en-IN" sz="2400">
                    <a:solidFill>
                      <a:srgbClr val="111827"/>
                    </a:solidFill>
                    <a:latin typeface="Cambria Math" panose="02040503050406030204" pitchFamily="18" charset="0"/>
                  </a:rPr>
                  <a:t>$\frac{x}{(x-y)^2}\left(1-\frac{dy}{dx}\right)-\frac{1}{x-y}=+\frac{1}{2\sqrt{1-x^2}}$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$-\frac{1}{x-y}=t$</a:t>
                </a:r>
                <a:r>
                  <a:rPr sz="2400" b="0">
                    <a:solidFill>
                      <a:srgbClr val="111827"/>
                    </a:solidFill>
                    <a:latin typeface="Arial"/>
                  </a:rPr>
                  <a:t>, so </a:t>
                </a:r>
                <a:r>
                  <a:rPr lang="en-IN" sz="2400">
                    <a:solidFill>
                      <a:srgbClr val="111827"/>
                    </a:solidFill>
                    <a:latin typeface="Cambria Math" panose="02040503050406030204" pitchFamily="18" charset="0"/>
                  </a:rPr>
                  <a:t>$\frac{dt}{dx}=\frac{1}{(x-y)^2}\left(1-\frac{dy}{dx}\right)$</a:t>
                </a:r>
                <a:r>
                  <a:rPr sz="2400" b="0">
                    <a:solidFill>
                      <a:srgbClr val="111827"/>
                    </a:solidFill>
                    <a:latin typeface="Arial"/>
                  </a:rPr>
                  <a:t>. Then </a:t>
                </a:r>
                <a:r>
                  <a:rPr lang="en-IN" sz="2400">
                    <a:solidFill>
                      <a:srgbClr val="111827"/>
                    </a:solidFill>
                    <a:latin typeface="Cambria Math" panose="02040503050406030204" pitchFamily="18" charset="0"/>
                  </a:rPr>
                  <a:t>$x\frac{dt}{dx}+t=\frac{1}{2\sqrt{1-x^2}}$</a:t>
                </a:r>
                <a:r>
                  <a:rPr sz="2400" b="0">
                    <a:solidFill>
                      <a:srgbClr val="111827"/>
                    </a:solidFill>
                    <a:latin typeface="Arial"/>
                  </a:rPr>
                  <a:t>, i.e. </a:t>
                </a:r>
                <a:r>
                  <a:rPr lang="en-IN" sz="2400">
                    <a:solidFill>
                      <a:srgbClr val="111827"/>
                    </a:solidFill>
                    <a:latin typeface="Cambria Math" panose="02040503050406030204" pitchFamily="18" charset="0"/>
                  </a:rPr>
                  <a:t>$\frac{dt}{dx}+\frac tx=\frac{1}{2x\sqrt{1-x^2}}$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$\text{I.F.}=e^{\int\frac1x dx}=x$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i.e. (since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$t\cdot x=\int\frac{x}{2x\sqrt{1-x^2}}dx=\frac12\int\frac{dx}{\sqrt{1-x^2}}=\frac12\sin^{-1}x+c$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$-\frac{x}{x-y}=\frac12\sin^{-1}x+c$</a:t>
                </a:r>
                <a:r>
                  <a:rPr sz="2400" b="0">
                    <a:solidFill>
                      <a:srgbClr val="111827"/>
                    </a:solidFill>
                    <a:latin typeface="Arial"/>
                  </a:rPr>
                  <a:t>, i.e. (since </a:t>
                </a:r>
                <a:r>
                  <a:rPr lang="en-IN" sz="2400">
                    <a:solidFill>
                      <a:srgbClr val="111827"/>
                    </a:solidFill>
                    <a:latin typeface="Cambria Math" panose="02040503050406030204" pitchFamily="18" charset="0"/>
                  </a:rPr>
                  <a:t>$\frac{x}{x-y}=1+\frac{y}{x-y}$</a:t>
                </a:r>
                <a:r>
                  <a:rPr sz="2400" b="0">
                    <a:solidFill>
                      <a:srgbClr val="111827"/>
                    </a:solidFill>
                    <a:latin typeface="Arial"/>
                  </a:rPr>
                  <a:t>) </a:t>
                </a:r>
                <a:r>
                  <a:rPr lang="en-IN" sz="2400">
                    <a:solidFill>
                      <a:srgbClr val="111827"/>
                    </a:solidFill>
                    <a:latin typeface="Cambria Math" panose="02040503050406030204" pitchFamily="18" charset="0"/>
                  </a:rPr>
                  <a:t>$\frac{y}{x-y}=-\frac12\sin^{-1}x+c_1$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$(x,y)=(1,2)$</a:t>
                </a:r>
                <a:r>
                  <a:rPr sz="2400" b="0">
                    <a:solidFill>
                      <a:srgbClr val="111827"/>
                    </a:solidFill>
                    <a:latin typeface="Arial"/>
                  </a:rPr>
                  <a:t>: </a:t>
                </a:r>
                <a:r>
                  <a:rPr lang="en-IN" sz="2400">
                    <a:solidFill>
                      <a:srgbClr val="111827"/>
                    </a:solidFill>
                    <a:latin typeface="Cambria Math" panose="02040503050406030204" pitchFamily="18" charset="0"/>
                  </a:rPr>
                  <a:t>$\frac{2}{1-2}=-2=-\frac12\cdot\frac\pi2+c_1$</a:t>
                </a:r>
                <a:r>
                  <a:rPr sz="2400" b="0">
                    <a:solidFill>
                      <a:srgbClr val="111827"/>
                    </a:solidFill>
                    <a:latin typeface="Arial"/>
                  </a:rPr>
                  <a:t>, so </a:t>
                </a:r>
                <a:r>
                  <a:rPr lang="en-IN" sz="2400">
                    <a:solidFill>
                      <a:srgbClr val="111827"/>
                    </a:solidFill>
                    <a:latin typeface="Cambria Math" panose="02040503050406030204" pitchFamily="18" charset="0"/>
                  </a:rPr>
                  <a:t>$c_1=\frac\pi4-2$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$\frac12\sin^{-1}x+\frac{y}{x-y}=\frac\pi4-2$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sSup>
                      <m:e>
                        <m:r>
                          <m:rPr>
                            <m:sty m:val="p"/>
                          </m:rPr>
                          <a:rPr lang="en-IN" sz="2800">
                            <a:solidFill>
                              <a:srgbClr val="15803D"/>
                            </a:solidFill>
                            <a:latin typeface="Cambria Math" panose="02040503050406030204" pitchFamily="18" charset="0"/>
                          </a:rPr>
                          <m:t>sin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(the printed key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sSup>
                      <m:e>
                        <m:r>
                          <m:rPr>
                            <m:sty m:val="p"/>
                          </m:rPr>
                          <a:rPr lang="en-IN" sz="2800">
                            <a:solidFill>
                              <a:srgbClr val="15803D"/>
                            </a:solidFill>
                            <a:latin typeface="Cambria Math" panose="02040503050406030204" pitchFamily="18" charset="0"/>
                          </a:rPr>
                          <m:t>sin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has the wrong sign)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$\frac12\sin^{-1}x+\frac{y}{x-y}=\frac\pi4-2$</a:t>
                </a:r>
                <a:r>
                  <a:rPr sz="2800" b="1">
                    <a:solidFill>
                      <a:srgbClr val="15803D"/>
                    </a:solidFill>
                    <a:latin typeface="Arial"/>
                  </a:rPr>
                  <a:t> (the printed key </a:t>
                </a:r>
                <a:r>
                  <a:rPr lang="en-IN" sz="2800">
                    <a:solidFill>
                      <a:srgbClr val="15803D"/>
                    </a:solidFill>
                    <a:latin typeface="Cambria Math" panose="02040503050406030204" pitchFamily="18" charset="0"/>
                  </a:rPr>
                  <a:t>$\frac12\sin^{-1}x-\frac{y}{x-y}=\frac\pi4+2$</a:t>
                </a:r>
                <a:r>
                  <a:rPr sz="2800" b="1">
                    <a:solidFill>
                      <a:srgbClr val="15803D"/>
                    </a:solidFill>
                    <a:latin typeface="Arial"/>
                  </a:rPr>
                  <a:t> has the wrong sign)</a:t>
                </a:r>
                <a:endParaRPr sz="2800">
                  <a:solidFill>
                    <a:srgbClr val="15803D"/>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a:rPr lang="en-IN" sz="2400" i="1">
                        <a:solidFill>
                          <a:srgbClr val="78350F"/>
                        </a:solidFill>
                        <a:latin typeface="Cambria Math" panose="02040503050406030204" pitchFamily="18" charset="0"/>
                      </a:rPr>
                      <m:t>𝑥</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𝑢</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so the variables separate at once.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$y=ux$</a:t>
                </a:r>
                <a:r>
                  <a:rPr sz="2400" b="0">
                    <a:solidFill>
                      <a:srgbClr val="78350F"/>
                    </a:solidFill>
                    <a:latin typeface="Arial"/>
                  </a:rPr>
                  <a:t>: then </a:t>
                </a:r>
                <a:r>
                  <a:rPr lang="en-IN" sz="2400">
                    <a:solidFill>
                      <a:srgbClr val="78350F"/>
                    </a:solidFill>
                    <a:latin typeface="Cambria Math" panose="02040503050406030204" pitchFamily="18" charset="0"/>
                  </a:rPr>
                  <a:t>$y\,dx-x\,dy=-x^2du$</a:t>
                </a:r>
                <a:r>
                  <a:rPr sz="2400" b="0">
                    <a:solidFill>
                      <a:srgbClr val="78350F"/>
                    </a:solidFill>
                    <a:latin typeface="Arial"/>
                  </a:rPr>
                  <a:t> and </a:t>
                </a:r>
                <a:r>
                  <a:rPr lang="en-IN" sz="2400">
                    <a:solidFill>
                      <a:srgbClr val="78350F"/>
                    </a:solidFill>
                    <a:latin typeface="Cambria Math" panose="02040503050406030204" pitchFamily="18" charset="0"/>
                  </a:rPr>
                  <a:t>$(x-y)^2=x^2(1-u)^2$</a:t>
                </a:r>
                <a:r>
                  <a:rPr sz="2400" b="0">
                    <a:solidFill>
                      <a:srgbClr val="78350F"/>
                    </a:solidFill>
                    <a:latin typeface="Arial"/>
                  </a:rPr>
                  <a:t>, so the variables separate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$y=ux$</a:t>
                </a:r>
                <a:r>
                  <a:rPr sz="2400" b="0">
                    <a:solidFill>
                      <a:srgbClr val="111827"/>
                    </a:solidFill>
                    <a:latin typeface="Arial"/>
                  </a:rPr>
                  <a:t>, so </a:t>
                </a:r>
                <a:r>
                  <a:rPr lang="en-IN" sz="2400">
                    <a:solidFill>
                      <a:srgbClr val="111827"/>
                    </a:solidFill>
                    <a:latin typeface="Cambria Math" panose="02040503050406030204" pitchFamily="18" charset="0"/>
                  </a:rPr>
                  <a:t>$dy=u\,dx+x\,du$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$y\,dx-x\,dy=ux\,dx-ux\,dx-x^2du=-x^2\,du$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$(x-y)^2=x^2(1-u)^2$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becomes </a:t>
                </a:r>
                <a:r>
                  <a:rPr lang="en-IN" sz="2400">
                    <a:solidFill>
                      <a:srgbClr val="111827"/>
                    </a:solidFill>
                    <a:latin typeface="Cambria Math" panose="02040503050406030204" pitchFamily="18" charset="0"/>
                  </a:rPr>
                  <a:t>$\frac{-du}{(1-u)^2}=\frac{dx}{2\sqrt{1-x^2}}$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Integrate: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Using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Integrate: </a:t>
                </a:r>
                <a:r>
                  <a:rPr lang="en-IN" sz="2400">
                    <a:solidFill>
                      <a:srgbClr val="111827"/>
                    </a:solidFill>
                    <a:latin typeface="Cambria Math" panose="02040503050406030204" pitchFamily="18" charset="0"/>
                  </a:rPr>
                  <a:t>$-\frac{1}{1-u}=\frac12\sin^{-1}x+c$</a:t>
                </a:r>
                <a:r>
                  <a:rPr sz="2400" b="0">
                    <a:solidFill>
                      <a:srgbClr val="111827"/>
                    </a:solidFill>
                    <a:latin typeface="Arial"/>
                  </a:rPr>
                  <a:t> (since </a:t>
                </a:r>
                <a:r>
                  <a:rPr lang="en-IN" sz="2400">
                    <a:solidFill>
                      <a:srgbClr val="111827"/>
                    </a:solidFill>
                    <a:latin typeface="Cambria Math" panose="02040503050406030204" pitchFamily="18" charset="0"/>
                  </a:rPr>
                  <a:t>$\int\frac{du}{(1-u)^2}=\frac{1}{1-u}$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$u=\frac yx$</a:t>
                </a:r>
                <a:r>
                  <a:rPr sz="2400" b="0">
                    <a:solidFill>
                      <a:srgbClr val="111827"/>
                    </a:solidFill>
                    <a:latin typeface="Arial"/>
                  </a:rPr>
                  <a:t>: </a:t>
                </a:r>
                <a:r>
                  <a:rPr lang="en-IN" sz="2400">
                    <a:solidFill>
                      <a:srgbClr val="111827"/>
                    </a:solidFill>
                    <a:latin typeface="Cambria Math" panose="02040503050406030204" pitchFamily="18" charset="0"/>
                  </a:rPr>
                  <a:t>$\frac{1}{1-u}=\frac{x}{x-y}$</a:t>
                </a:r>
                <a:r>
                  <a:rPr sz="2400" b="0">
                    <a:solidFill>
                      <a:srgbClr val="111827"/>
                    </a:solidFill>
                    <a:latin typeface="Arial"/>
                  </a:rPr>
                  <a:t>, so </a:t>
                </a:r>
                <a:r>
                  <a:rPr lang="en-IN" sz="2400">
                    <a:solidFill>
                      <a:srgbClr val="111827"/>
                    </a:solidFill>
                    <a:latin typeface="Cambria Math" panose="02040503050406030204" pitchFamily="18" charset="0"/>
                  </a:rPr>
                  <a:t>$-\frac{x}{x-y}=\frac12\sin^{-1}x+c$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$u=2$</a:t>
                </a:r>
                <a:r>
                  <a:rPr sz="2400" b="0">
                    <a:solidFill>
                      <a:srgbClr val="111827"/>
                    </a:solidFill>
                    <a:latin typeface="Arial"/>
                  </a:rPr>
                  <a:t>, </a:t>
                </a:r>
                <a:r>
                  <a:rPr lang="en-IN" sz="2400">
                    <a:solidFill>
                      <a:srgbClr val="111827"/>
                    </a:solidFill>
                    <a:latin typeface="Cambria Math" panose="02040503050406030204" pitchFamily="18" charset="0"/>
                  </a:rPr>
                  <a:t>$-\frac{1}{1-2}=1=\frac\pi4+c$</a:t>
                </a:r>
                <a:r>
                  <a:rPr sz="2400" b="0">
                    <a:solidFill>
                      <a:srgbClr val="111827"/>
                    </a:solidFill>
                    <a:latin typeface="Arial"/>
                  </a:rPr>
                  <a:t>, so </a:t>
                </a:r>
                <a:r>
                  <a:rPr lang="en-IN" sz="2400">
                    <a:solidFill>
                      <a:srgbClr val="111827"/>
                    </a:solidFill>
                    <a:latin typeface="Cambria Math" panose="02040503050406030204" pitchFamily="18" charset="0"/>
                  </a:rPr>
                  <a:t>$c=1-\frac\pi4$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$-\frac{x}{x-y}=\frac12\sin^{-1}x+1-\frac\pi4$</a:t>
                </a:r>
                <a:r>
                  <a:rPr sz="2400" b="0">
                    <a:solidFill>
                      <a:srgbClr val="111827"/>
                    </a:solidFill>
                    <a:latin typeface="Arial"/>
                  </a:rPr>
                  <a:t>. Using </a:t>
                </a:r>
                <a:r>
                  <a:rPr lang="en-IN" sz="2400">
                    <a:solidFill>
                      <a:srgbClr val="111827"/>
                    </a:solidFill>
                    <a:latin typeface="Cambria Math" panose="02040503050406030204" pitchFamily="18" charset="0"/>
                  </a:rPr>
                  <a:t>$\frac{x}{x-y}=1+\frac{y}{x-y}$</a:t>
                </a:r>
                <a:r>
                  <a:rPr sz="2400" b="0">
                    <a:solidFill>
                      <a:srgbClr val="111827"/>
                    </a:solidFill>
                    <a:latin typeface="Arial"/>
                  </a:rPr>
                  <a:t> gives </a:t>
                </a:r>
                <a:r>
                  <a:rPr lang="en-IN" sz="2400">
                    <a:solidFill>
                      <a:srgbClr val="111827"/>
                    </a:solidFill>
                    <a:latin typeface="Cambria Math" panose="02040503050406030204" pitchFamily="18" charset="0"/>
                  </a:rPr>
                  <a:t>$\frac12\sin^{-1}x+\frac{y}{x-y}=\frac\pi4-2$</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sSup>
                      <m:e>
                        <m:r>
                          <m:rPr>
                            <m:sty m:val="p"/>
                          </m:rPr>
                          <a:rPr lang="en-IN" sz="2800">
                            <a:solidFill>
                              <a:srgbClr val="15803D"/>
                            </a:solidFill>
                            <a:latin typeface="Cambria Math" panose="02040503050406030204" pitchFamily="18" charset="0"/>
                          </a:rPr>
                          <m:t>sin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(the printed key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sSup>
                      <m:e>
                        <m:r>
                          <m:rPr>
                            <m:sty m:val="p"/>
                          </m:rPr>
                          <a:rPr lang="en-IN" sz="2800">
                            <a:solidFill>
                              <a:srgbClr val="15803D"/>
                            </a:solidFill>
                            <a:latin typeface="Cambria Math" panose="02040503050406030204" pitchFamily="18" charset="0"/>
                          </a:rPr>
                          <m:t>sin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num>
                      <m:den>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has the wrong sign)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$\frac12\sin^{-1}x+\frac{y}{x-y}=\frac\pi4-2$</a:t>
                </a:r>
                <a:r>
                  <a:rPr sz="2800" b="1">
                    <a:solidFill>
                      <a:srgbClr val="15803D"/>
                    </a:solidFill>
                    <a:latin typeface="Arial"/>
                  </a:rPr>
                  <a:t> (the printed key </a:t>
                </a:r>
                <a:r>
                  <a:rPr lang="en-IN" sz="2800">
                    <a:solidFill>
                      <a:srgbClr val="15803D"/>
                    </a:solidFill>
                    <a:latin typeface="Cambria Math" panose="02040503050406030204" pitchFamily="18" charset="0"/>
                  </a:rPr>
                  <a:t>$\frac12\sin^{-1}x-\frac{y}{x-y}=\frac\pi4+2$</a:t>
                </a:r>
                <a:r>
                  <a:rPr sz="2800" b="1">
                    <a:solidFill>
                      <a:srgbClr val="15803D"/>
                    </a:solidFill>
                    <a:latin typeface="Arial"/>
                  </a:rPr>
                  <a:t> has the wrong sign)</a:t>
                </a:r>
                <a:endParaRPr sz="2800">
                  <a:solidFill>
                    <a:srgbClr val="15803D"/>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 two differ by the constant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homogeneous equation in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with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denominator reduces by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𝑥</m:t>
                    </m:r>
                  </m:oMath>
                </a14:m>
                <a:r>
                  <a:rPr sz="2400" b="0">
                    <a:solidFill>
                      <a:srgbClr val="111827"/>
                    </a:solidFill>
                    <a:latin typeface="Arial"/>
                  </a:rPr>
                  <a:t>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-type integrals.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solving, test the answer at the given point and also differentiate it: the point test alone cannot detect a sign error in the equation (as in this question's key).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$d\left(\frac{y}{x-y}\right)=d\left(\frac{x}{x-y}\right)=\frac{x\,dy-y\,dx}{(x-y)^2}$</a:t>
                </a:r>
                <a:r>
                  <a:rPr sz="2400" b="0">
                    <a:solidFill>
                      <a:srgbClr val="111827"/>
                    </a:solidFill>
                    <a:latin typeface="Arial"/>
                  </a:rPr>
                  <a:t> (the two differ by the constant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$\frac{y\,dx-x\,dy}{x^2}=-d\left(\frac yx\right)$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homogeneous equation in </a:t>
                </a:r>
                <a:r>
                  <a:rPr lang="en-IN" sz="2400">
                    <a:solidFill>
                      <a:srgbClr val="111827"/>
                    </a:solidFill>
                    <a:latin typeface="Cambria Math" panose="02040503050406030204" pitchFamily="18" charset="0"/>
                  </a:rPr>
                  <a:t>$dx,dy$</a:t>
                </a:r>
                <a:r>
                  <a:rPr sz="2400" b="0">
                    <a:solidFill>
                      <a:srgbClr val="111827"/>
                    </a:solidFill>
                    <a:latin typeface="Arial"/>
                  </a:rPr>
                  <a:t> with a </a:t>
                </a:r>
                <a:r>
                  <a:rPr lang="en-IN" sz="2400">
                    <a:solidFill>
                      <a:srgbClr val="111827"/>
                    </a:solidFill>
                    <a:latin typeface="Cambria Math" panose="02040503050406030204" pitchFamily="18" charset="0"/>
                  </a:rPr>
                  <a:t>$(x-y)^2$</a:t>
                </a:r>
                <a:r>
                  <a:rPr sz="2400" b="0">
                    <a:solidFill>
                      <a:srgbClr val="111827"/>
                    </a:solidFill>
                    <a:latin typeface="Arial"/>
                  </a:rPr>
                  <a:t> denominator reduces by </a:t>
                </a:r>
                <a:r>
                  <a:rPr lang="en-IN" sz="2400">
                    <a:solidFill>
                      <a:srgbClr val="111827"/>
                    </a:solidFill>
                    <a:latin typeface="Cambria Math" panose="02040503050406030204" pitchFamily="18" charset="0"/>
                  </a:rPr>
                  <a:t>$y=ux$</a:t>
                </a:r>
                <a:r>
                  <a:rPr sz="2400" b="0">
                    <a:solidFill>
                      <a:srgbClr val="111827"/>
                    </a:solidFill>
                    <a:latin typeface="Arial"/>
                  </a:rPr>
                  <a:t> to </a:t>
                </a:r>
                <a:r>
                  <a:rPr lang="en-IN" sz="2400">
                    <a:solidFill>
                      <a:srgbClr val="111827"/>
                    </a:solidFill>
                    <a:latin typeface="Cambria Math" panose="02040503050406030204" pitchFamily="18" charset="0"/>
                  </a:rPr>
                  <a:t>$\frac{du}{(1-u)^2}$</a:t>
                </a:r>
                <a:r>
                  <a:rPr sz="2400" b="0">
                    <a:solidFill>
                      <a:srgbClr val="111827"/>
                    </a:solidFill>
                    <a:latin typeface="Arial"/>
                  </a:rPr>
                  <a:t>-type integrals.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solving, test the answer at the given point and also differentiate it: the point test alone cannot detect a sign error in the equation (as in this question's key).</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equation of the curve passing through the origin if the middle point of the segment of its normal from any point of the curve to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lies on the parabola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equation of the curve passing through the origin if the middle point of the segment of its normal from any point of the curve to the </a:t>
                </a:r>
                <a:r>
                  <a:rPr lang="en-IN" sz="2400">
                    <a:solidFill>
                      <a:srgbClr val="111827"/>
                    </a:solidFill>
                    <a:latin typeface="Cambria Math" panose="02040503050406030204" pitchFamily="18" charset="0"/>
                  </a:rPr>
                  <a:t>$x$</a:t>
                </a:r>
                <a:r>
                  <a:rPr sz="2400" b="0">
                    <a:solidFill>
                      <a:srgbClr val="111827"/>
                    </a:solidFill>
                    <a:latin typeface="Arial"/>
                  </a:rPr>
                  <a:t>-axis lies on the parabola </a:t>
                </a:r>
                <a:r>
                  <a:rPr lang="en-IN" sz="2400">
                    <a:solidFill>
                      <a:srgbClr val="111827"/>
                    </a:solidFill>
                    <a:latin typeface="Cambria Math" panose="02040503050406030204" pitchFamily="18" charset="0"/>
                  </a:rPr>
                  <a:t>$2y^2=x$</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Formation of differential equations from geometric conditions, Normal to a curve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normal at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meets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-axis at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e>
                    </m:d>
                  </m:oMath>
                </a14:m>
                <a:r>
                  <a:rPr sz="2400" b="0">
                    <a:solidFill>
                      <a:srgbClr val="78350F"/>
                    </a:solidFill>
                    <a:latin typeface="Arial"/>
                  </a:rPr>
                  <a:t>; putting the midpoint on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gives a linear equation in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normal at </a:t>
                </a:r>
                <a:r>
                  <a:rPr lang="en-IN" sz="2400">
                    <a:solidFill>
                      <a:srgbClr val="78350F"/>
                    </a:solidFill>
                    <a:latin typeface="Cambria Math" panose="02040503050406030204" pitchFamily="18" charset="0"/>
                  </a:rPr>
                  <a:t>$P(x,y)$</a:t>
                </a:r>
                <a:r>
                  <a:rPr sz="2400" b="0">
                    <a:solidFill>
                      <a:srgbClr val="78350F"/>
                    </a:solidFill>
                    <a:latin typeface="Arial"/>
                  </a:rPr>
                  <a:t> meets the </a:t>
                </a:r>
                <a:r>
                  <a:rPr lang="en-IN" sz="2400">
                    <a:solidFill>
                      <a:srgbClr val="78350F"/>
                    </a:solidFill>
                    <a:latin typeface="Cambria Math" panose="02040503050406030204" pitchFamily="18" charset="0"/>
                  </a:rPr>
                  <a:t>$x$</a:t>
                </a:r>
                <a:r>
                  <a:rPr sz="2400" b="0">
                    <a:solidFill>
                      <a:srgbClr val="78350F"/>
                    </a:solidFill>
                    <a:latin typeface="Arial"/>
                  </a:rPr>
                  <a:t>-axis at </a:t>
                </a:r>
                <a:r>
                  <a:rPr lang="en-IN" sz="2400">
                    <a:solidFill>
                      <a:srgbClr val="78350F"/>
                    </a:solidFill>
                    <a:latin typeface="Cambria Math" panose="02040503050406030204" pitchFamily="18" charset="0"/>
                  </a:rPr>
                  <a:t>$\left(x+y\frac{dy}{dx},0\right)$</a:t>
                </a:r>
                <a:r>
                  <a:rPr sz="2400" b="0">
                    <a:solidFill>
                      <a:srgbClr val="78350F"/>
                    </a:solidFill>
                    <a:latin typeface="Arial"/>
                  </a:rPr>
                  <a:t>; putting the midpoint on </a:t>
                </a:r>
                <a:r>
                  <a:rPr lang="en-IN" sz="2400">
                    <a:solidFill>
                      <a:srgbClr val="78350F"/>
                    </a:solidFill>
                    <a:latin typeface="Cambria Math" panose="02040503050406030204" pitchFamily="18" charset="0"/>
                  </a:rPr>
                  <a:t>$2y^2=x$</a:t>
                </a:r>
                <a:r>
                  <a:rPr sz="2400" b="0">
                    <a:solidFill>
                      <a:srgbClr val="78350F"/>
                    </a:solidFill>
                    <a:latin typeface="Arial"/>
                  </a:rPr>
                  <a:t> gives a linear equation in </a:t>
                </a:r>
                <a:r>
                  <a:rPr lang="en-IN" sz="2400">
                    <a:solidFill>
                      <a:srgbClr val="78350F"/>
                    </a:solidFill>
                    <a:latin typeface="Cambria Math" panose="02040503050406030204" pitchFamily="18" charset="0"/>
                  </a:rPr>
                  <a:t>$y^2$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normal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which lies on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(linear).</a:t>
                </a:r>
                <a:endParaRPr sz="2400">
                  <a:solidFill>
                    <a:srgbClr val="111827"/>
                  </a:solidFill>
                </a:endParaRPr>
              </a:p>
            </p:txBody>
          </p:sp>
        </mc:Choice>
        <mc:Fallback>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normal at </a:t>
                </a:r>
                <a:r>
                  <a:rPr lang="en-IN" sz="2400">
                    <a:solidFill>
                      <a:srgbClr val="111827"/>
                    </a:solidFill>
                    <a:latin typeface="Cambria Math" panose="02040503050406030204" pitchFamily="18" charset="0"/>
                  </a:rPr>
                  <a:t>$P(x,y)$</a:t>
                </a:r>
                <a:r>
                  <a:rPr sz="2400" b="0">
                    <a:solidFill>
                      <a:srgbClr val="111827"/>
                    </a:solidFill>
                    <a:latin typeface="Arial"/>
                  </a:rPr>
                  <a:t> is </a:t>
                </a:r>
                <a:r>
                  <a:rPr lang="en-IN" sz="2400">
                    <a:solidFill>
                      <a:srgbClr val="111827"/>
                    </a:solidFill>
                    <a:latin typeface="Cambria Math" panose="02040503050406030204" pitchFamily="18" charset="0"/>
                  </a:rPr>
                  <a:t>$\frac{dy}{dx}(Y-y)+(X-x)=0$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$A\left(x+y\frac{dy}{dx},\,0\right)$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midpoint of </a:t>
                </a:r>
                <a:r>
                  <a:rPr lang="en-IN" sz="2400">
                    <a:solidFill>
                      <a:srgbClr val="111827"/>
                    </a:solidFill>
                    <a:latin typeface="Cambria Math" panose="02040503050406030204" pitchFamily="18" charset="0"/>
                  </a:rPr>
                  <a:t>$AP$</a:t>
                </a:r>
                <a:r>
                  <a:rPr sz="2400" b="0">
                    <a:solidFill>
                      <a:srgbClr val="111827"/>
                    </a:solidFill>
                    <a:latin typeface="Arial"/>
                  </a:rPr>
                  <a:t> is </a:t>
                </a:r>
                <a:r>
                  <a:rPr lang="en-IN" sz="2400">
                    <a:solidFill>
                      <a:srgbClr val="111827"/>
                    </a:solidFill>
                    <a:latin typeface="Cambria Math" panose="02040503050406030204" pitchFamily="18" charset="0"/>
                  </a:rPr>
                  <a:t>$\left(x+\frac12y\frac{dy}{dx},\,\frac y2\right)$</a:t>
                </a:r>
                <a:r>
                  <a:rPr sz="2400" b="0">
                    <a:solidFill>
                      <a:srgbClr val="111827"/>
                    </a:solidFill>
                    <a:latin typeface="Arial"/>
                  </a:rPr>
                  <a:t>, which lies on </a:t>
                </a:r>
                <a:r>
                  <a:rPr lang="en-IN" sz="2400">
                    <a:solidFill>
                      <a:srgbClr val="111827"/>
                    </a:solidFill>
                    <a:latin typeface="Cambria Math" panose="02040503050406030204" pitchFamily="18" charset="0"/>
                  </a:rPr>
                  <a:t>$2y^2=x$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$2\cdot\frac{y^2}{4}=x+\frac12y\frac{dy}{dx}$</a:t>
                </a:r>
                <a:r>
                  <a:rPr sz="2400" b="0">
                    <a:solidFill>
                      <a:srgbClr val="111827"/>
                    </a:solidFill>
                    <a:latin typeface="Arial"/>
                  </a:rPr>
                  <a:t>, i.e. </a:t>
                </a:r>
                <a:r>
                  <a:rPr lang="en-IN" sz="2400">
                    <a:solidFill>
                      <a:srgbClr val="111827"/>
                    </a:solidFill>
                    <a:latin typeface="Cambria Math" panose="02040503050406030204" pitchFamily="18" charset="0"/>
                  </a:rPr>
                  <a:t>$y^2=2x+y\frac{dy}{dx}$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$y^2=t$</a:t>
                </a:r>
                <a:r>
                  <a:rPr sz="2400" b="0">
                    <a:solidFill>
                      <a:srgbClr val="111827"/>
                    </a:solidFill>
                    <a:latin typeface="Arial"/>
                  </a:rPr>
                  <a:t>, so </a:t>
                </a:r>
                <a:r>
                  <a:rPr lang="en-IN" sz="2400">
                    <a:solidFill>
                      <a:srgbClr val="111827"/>
                    </a:solidFill>
                    <a:latin typeface="Cambria Math" panose="02040503050406030204" pitchFamily="18" charset="0"/>
                  </a:rPr>
                  <a:t>$2y\frac{dy}{dx}=\frac{dt}{dx}$</a:t>
                </a:r>
                <a:r>
                  <a:rPr sz="2400" b="0">
                    <a:solidFill>
                      <a:srgbClr val="111827"/>
                    </a:solidFill>
                    <a:latin typeface="Arial"/>
                  </a:rPr>
                  <a:t>: </a:t>
                </a:r>
                <a:r>
                  <a:rPr lang="en-IN" sz="2400">
                    <a:solidFill>
                      <a:srgbClr val="111827"/>
                    </a:solidFill>
                    <a:latin typeface="Cambria Math" panose="02040503050406030204" pitchFamily="18" charset="0"/>
                  </a:rPr>
                  <a:t>$\frac{dt}{dx}-2t=-4x$</a:t>
                </a:r>
                <a:r>
                  <a:rPr sz="2400" b="0">
                    <a:solidFill>
                      <a:srgbClr val="111827"/>
                    </a:solidFill>
                    <a:latin typeface="Arial"/>
                  </a:rPr>
                  <a:t> (linear).</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is the required curve.</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$\text{I.F.}=e^{-2\int dx}=e^{-2x}$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$t\,e^{-2x}=-4\int xe^{-2x}dx+c=-4\left[-\frac12xe^{-2x}-\int-\frac12e^{-2x}\cdot1\,dx\right]+c$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$y^2e^{-2x}=2xe^{-2x}+e^{-2x}+c$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r>
                  <a:rPr lang="en-IN" sz="2400">
                    <a:solidFill>
                      <a:srgbClr val="111827"/>
                    </a:solidFill>
                    <a:latin typeface="Cambria Math" panose="02040503050406030204" pitchFamily="18" charset="0"/>
                  </a:rPr>
                  <a:t>$(0,0)$</a:t>
                </a:r>
                <a:r>
                  <a:rPr sz="2400" b="0">
                    <a:solidFill>
                      <a:srgbClr val="111827"/>
                    </a:solidFill>
                    <a:latin typeface="Arial"/>
                  </a:rPr>
                  <a:t>: </a:t>
                </a:r>
                <a:r>
                  <a:rPr lang="en-IN" sz="2400">
                    <a:solidFill>
                      <a:srgbClr val="111827"/>
                    </a:solidFill>
                    <a:latin typeface="Cambria Math" panose="02040503050406030204" pitchFamily="18" charset="0"/>
                  </a:rPr>
                  <a:t>$0=0+1+c$</a:t>
                </a:r>
                <a:r>
                  <a:rPr sz="2400" b="0">
                    <a:solidFill>
                      <a:srgbClr val="111827"/>
                    </a:solidFill>
                    <a:latin typeface="Arial"/>
                  </a:rPr>
                  <a:t>, so </a:t>
                </a:r>
                <a:r>
                  <a:rPr lang="en-IN" sz="2400">
                    <a:solidFill>
                      <a:srgbClr val="111827"/>
                    </a:solidFill>
                    <a:latin typeface="Cambria Math" panose="02040503050406030204" pitchFamily="18" charset="0"/>
                  </a:rPr>
                  <a:t>$c=-1$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$y^2=2x+1-e^{2x}$</a:t>
                </a:r>
                <a:r>
                  <a:rPr sz="2400" b="0">
                    <a:solidFill>
                      <a:srgbClr val="111827"/>
                    </a:solidFill>
                    <a:latin typeface="Arial"/>
                  </a:rPr>
                  <a:t> is the required curve.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$y^2=2x+1-e^{2x}$</a:t>
                </a:r>
                <a:endParaRPr sz="2800">
                  <a:solidFill>
                    <a:srgbClr val="15803D"/>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a:t>
                </a:r>
                <a14:m>
                  <m:oMath xmlns:m="http://schemas.openxmlformats.org/officeDocument/2006/math">
                    <m:sSup>
                      <m:e>
                        <m:r>
                          <a:rPr lang="en-IN" sz="2400" i="1">
                            <a:solidFill>
                              <a:srgbClr val="78350F"/>
                            </a:solidFill>
                            <a:latin typeface="Cambria Math" panose="02040503050406030204" pitchFamily="18" charset="0"/>
                          </a:rPr>
                          <m:t>𝑡</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oMath>
                </a14:m>
                <a:r>
                  <a:rPr sz="2400" b="0">
                    <a:solidFill>
                      <a:srgbClr val="78350F"/>
                    </a:solidFill>
                    <a:latin typeface="Arial"/>
                  </a:rPr>
                  <a:t> by undetermined coefficients: try a linear particular solution and add the complementary function.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Solve </a:t>
                </a:r>
                <a:r>
                  <a:rPr lang="en-IN" sz="2400">
                    <a:solidFill>
                      <a:srgbClr val="78350F"/>
                    </a:solidFill>
                    <a:latin typeface="Cambria Math" panose="02040503050406030204" pitchFamily="18" charset="0"/>
                  </a:rPr>
                  <a:t>$t'-2t=-4x$</a:t>
                </a:r>
                <a:r>
                  <a:rPr sz="2400" b="0">
                    <a:solidFill>
                      <a:srgbClr val="78350F"/>
                    </a:solidFill>
                    <a:latin typeface="Arial"/>
                  </a:rPr>
                  <a:t> by undetermined coefficients: try a linear particular solution and add the complementary function.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condition,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complementary function of </a:t>
                </a:r>
                <a14:m>
                  <m:oMath xmlns:m="http://schemas.openxmlformats.org/officeDocument/2006/math">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particular solution try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Comparing coefficients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constants: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condition, </a:t>
                </a:r>
                <a:r>
                  <a:rPr lang="en-IN" sz="2400">
                    <a:solidFill>
                      <a:srgbClr val="111827"/>
                    </a:solidFill>
                    <a:latin typeface="Cambria Math" panose="02040503050406030204" pitchFamily="18" charset="0"/>
                  </a:rPr>
                  <a:t>$y^2=2x+yy'$</a:t>
                </a:r>
                <a:r>
                  <a:rPr sz="2400" b="0">
                    <a:solidFill>
                      <a:srgbClr val="111827"/>
                    </a:solidFill>
                    <a:latin typeface="Arial"/>
                  </a:rPr>
                  <a:t>. With </a:t>
                </a:r>
                <a:r>
                  <a:rPr lang="en-IN" sz="2400">
                    <a:solidFill>
                      <a:srgbClr val="111827"/>
                    </a:solidFill>
                    <a:latin typeface="Cambria Math" panose="02040503050406030204" pitchFamily="18" charset="0"/>
                  </a:rPr>
                  <a:t>$t=y^2$</a:t>
                </a:r>
                <a:r>
                  <a:rPr sz="2400" b="0">
                    <a:solidFill>
                      <a:srgbClr val="111827"/>
                    </a:solidFill>
                    <a:latin typeface="Arial"/>
                  </a:rPr>
                  <a:t>: </a:t>
                </a:r>
                <a:r>
                  <a:rPr lang="en-IN" sz="2400">
                    <a:solidFill>
                      <a:srgbClr val="111827"/>
                    </a:solidFill>
                    <a:latin typeface="Cambria Math" panose="02040503050406030204" pitchFamily="18" charset="0"/>
                  </a:rPr>
                  <a:t>$t'=2t-4x$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complementary function of </a:t>
                </a:r>
                <a:r>
                  <a:rPr lang="en-IN" sz="2400">
                    <a:solidFill>
                      <a:srgbClr val="111827"/>
                    </a:solidFill>
                    <a:latin typeface="Cambria Math" panose="02040503050406030204" pitchFamily="18" charset="0"/>
                  </a:rPr>
                  <a:t>$t'-2t=0$</a:t>
                </a:r>
                <a:r>
                  <a:rPr sz="2400" b="0">
                    <a:solidFill>
                      <a:srgbClr val="111827"/>
                    </a:solidFill>
                    <a:latin typeface="Arial"/>
                  </a:rPr>
                  <a:t> is </a:t>
                </a:r>
                <a:r>
                  <a:rPr lang="en-IN" sz="2400">
                    <a:solidFill>
                      <a:srgbClr val="111827"/>
                    </a:solidFill>
                    <a:latin typeface="Cambria Math" panose="02040503050406030204" pitchFamily="18" charset="0"/>
                  </a:rPr>
                  <a:t>$Ce^{2x}$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particular solution try </a:t>
                </a:r>
                <a:r>
                  <a:rPr lang="en-IN" sz="2400">
                    <a:solidFill>
                      <a:srgbClr val="111827"/>
                    </a:solidFill>
                    <a:latin typeface="Cambria Math" panose="02040503050406030204" pitchFamily="18" charset="0"/>
                  </a:rPr>
                  <a:t>$t=ax+b$</a:t>
                </a:r>
                <a:r>
                  <a:rPr sz="2400" b="0">
                    <a:solidFill>
                      <a:srgbClr val="111827"/>
                    </a:solidFill>
                    <a:latin typeface="Arial"/>
                  </a:rPr>
                  <a:t>: </a:t>
                </a:r>
                <a:r>
                  <a:rPr lang="en-IN" sz="2400">
                    <a:solidFill>
                      <a:srgbClr val="111827"/>
                    </a:solidFill>
                    <a:latin typeface="Cambria Math" panose="02040503050406030204" pitchFamily="18" charset="0"/>
                  </a:rPr>
                  <a:t>$a=2ax+2b-4x$</a:t>
                </a:r>
                <a:r>
                  <a:rPr sz="2400" b="0">
                    <a:solidFill>
                      <a:srgbClr val="111827"/>
                    </a:solidFill>
                    <a:latin typeface="Arial"/>
                  </a:rPr>
                  <a:t>. Comparing coefficients of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$0=2a-4$</a:t>
                </a:r>
                <a:r>
                  <a:rPr sz="2400" b="0">
                    <a:solidFill>
                      <a:srgbClr val="111827"/>
                    </a:solidFill>
                    <a:latin typeface="Arial"/>
                  </a:rPr>
                  <a:t>, so </a:t>
                </a:r>
                <a:r>
                  <a:rPr lang="en-IN" sz="2400">
                    <a:solidFill>
                      <a:srgbClr val="111827"/>
                    </a:solidFill>
                    <a:latin typeface="Cambria Math" panose="02040503050406030204" pitchFamily="18" charset="0"/>
                  </a:rPr>
                  <a:t>$a=2$</a:t>
                </a:r>
                <a:r>
                  <a:rPr sz="2400" b="0">
                    <a:solidFill>
                      <a:srgbClr val="111827"/>
                    </a:solidFill>
                    <a:latin typeface="Arial"/>
                  </a:rPr>
                  <a:t>; constants: </a:t>
                </a:r>
                <a:r>
                  <a:rPr lang="en-IN" sz="2400">
                    <a:solidFill>
                      <a:srgbClr val="111827"/>
                    </a:solidFill>
                    <a:latin typeface="Cambria Math" panose="02040503050406030204" pitchFamily="18" charset="0"/>
                  </a:rPr>
                  <a:t>$a=2b$</a:t>
                </a:r>
                <a:r>
                  <a:rPr sz="2400" b="0">
                    <a:solidFill>
                      <a:srgbClr val="111827"/>
                    </a:solidFill>
                    <a:latin typeface="Arial"/>
                  </a:rPr>
                  <a:t>, so </a:t>
                </a:r>
                <a:r>
                  <a:rPr lang="en-IN" sz="2400">
                    <a:solidFill>
                      <a:srgbClr val="111827"/>
                    </a:solidFill>
                    <a:latin typeface="Cambria Math" panose="02040503050406030204" pitchFamily="18" charset="0"/>
                  </a:rPr>
                  <a:t>$b=1$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$t=2x+1+Ce^{2x}$</a:t>
                </a:r>
                <a:r>
                  <a:rPr sz="2400" b="0">
                    <a:solidFill>
                      <a:srgbClr val="111827"/>
                    </a:solidFill>
                    <a:latin typeface="Arial"/>
                  </a:rPr>
                  <a:t>, i.e. </a:t>
                </a:r>
                <a:r>
                  <a:rPr lang="en-IN" sz="2400">
                    <a:solidFill>
                      <a:srgbClr val="111827"/>
                    </a:solidFill>
                    <a:latin typeface="Cambria Math" panose="02040503050406030204" pitchFamily="18" charset="0"/>
                  </a:rPr>
                  <a:t>$y^2=2x+1+Ce^{2x}$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$(0,0)$</a:t>
                </a:r>
                <a:r>
                  <a:rPr sz="2400" b="0">
                    <a:solidFill>
                      <a:srgbClr val="111827"/>
                    </a:solidFill>
                    <a:latin typeface="Arial"/>
                  </a:rPr>
                  <a:t>: </a:t>
                </a:r>
                <a:r>
                  <a:rPr lang="en-IN" sz="2400">
                    <a:solidFill>
                      <a:srgbClr val="111827"/>
                    </a:solidFill>
                    <a:latin typeface="Cambria Math" panose="02040503050406030204" pitchFamily="18" charset="0"/>
                  </a:rPr>
                  <a:t>$0=1+C$</a:t>
                </a:r>
                <a:r>
                  <a:rPr sz="2400" b="0">
                    <a:solidFill>
                      <a:srgbClr val="111827"/>
                    </a:solidFill>
                    <a:latin typeface="Arial"/>
                  </a:rPr>
                  <a:t>, so </a:t>
                </a:r>
                <a:r>
                  <a:rPr lang="en-IN" sz="2400">
                    <a:solidFill>
                      <a:srgbClr val="111827"/>
                    </a:solidFill>
                    <a:latin typeface="Cambria Math" panose="02040503050406030204" pitchFamily="18" charset="0"/>
                  </a:rPr>
                  <a:t>$C=-1$</a:t>
                </a:r>
                <a:r>
                  <a:rPr sz="2400" b="0">
                    <a:solidFill>
                      <a:srgbClr val="111827"/>
                    </a:solidFill>
                    <a:latin typeface="Arial"/>
                  </a:rPr>
                  <a:t> and </a:t>
                </a:r>
                <a:r>
                  <a:rPr lang="en-IN" sz="2400">
                    <a:solidFill>
                      <a:srgbClr val="111827"/>
                    </a:solidFill>
                    <a:latin typeface="Cambria Math" panose="02040503050406030204" pitchFamily="18" charset="0"/>
                  </a:rPr>
                  <a:t>$y^2=2x+1-e^{2x}$</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$y^2=2x+1-e^{2x}$</a:t>
                </a:r>
                <a:endParaRPr sz="2800">
                  <a:solidFill>
                    <a:srgbClr val="15803D"/>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Normal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Tangent: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midpoint (or ratio) condition on a segment cut by the axes gives a first-order equation in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whenever </a:t>
                </a:r>
                <a14:m>
                  <m:oMath xmlns:m="http://schemas.openxmlformats.org/officeDocument/2006/math">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appears; set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p>
                      <m:e>
                        <m:r>
                          <a:rPr lang="en-IN" sz="2400" i="1">
                            <a:solidFill>
                              <a:srgbClr val="111827"/>
                            </a:solidFill>
                            <a:latin typeface="Cambria Math" panose="02040503050406030204" pitchFamily="18" charset="0"/>
                          </a:rPr>
                          <m:t>𝑡</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with polynomial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and constant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try a polynomial of the same degree as </a:t>
                </a:r>
                <a14:m>
                  <m:oMath xmlns:m="http://schemas.openxmlformats.org/officeDocument/2006/math">
                    <m:r>
                      <a:rPr lang="en-IN" sz="2400" i="1">
                        <a:solidFill>
                          <a:srgbClr val="111827"/>
                        </a:solidFill>
                        <a:latin typeface="Cambria Math" panose="02040503050406030204" pitchFamily="18" charset="0"/>
                      </a:rPr>
                      <m:t>𝑞</m:t>
                    </m:r>
                  </m:oMath>
                </a14:m>
                <a:r>
                  <a:rPr sz="2400" b="0">
                    <a:solidFill>
                      <a:srgbClr val="111827"/>
                    </a:solidFill>
                    <a:latin typeface="Arial"/>
                  </a:rPr>
                  <a:t> as the particular solution.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Normal at </a:t>
                </a:r>
                <a:r>
                  <a:rPr lang="en-IN" sz="2400">
                    <a:solidFill>
                      <a:srgbClr val="111827"/>
                    </a:solidFill>
                    <a:latin typeface="Cambria Math" panose="02040503050406030204" pitchFamily="18" charset="0"/>
                  </a:rPr>
                  <a:t>$(x,y)$</a:t>
                </a:r>
                <a:r>
                  <a:rPr sz="2400" b="0">
                    <a:solidFill>
                      <a:srgbClr val="111827"/>
                    </a:solidFill>
                    <a:latin typeface="Arial"/>
                  </a:rPr>
                  <a: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$x+yy'$</a:t>
                </a:r>
                <a:r>
                  <a:rPr sz="2400" b="0">
                    <a:solidFill>
                      <a:srgbClr val="111827"/>
                    </a:solidFill>
                    <a:latin typeface="Arial"/>
                  </a:rPr>
                  <a:t>, the </a:t>
                </a:r>
                <a:r>
                  <a:rPr lang="en-IN" sz="2400">
                    <a:solidFill>
                      <a:srgbClr val="111827"/>
                    </a:solidFill>
                    <a:latin typeface="Cambria Math" panose="02040503050406030204" pitchFamily="18" charset="0"/>
                  </a:rPr>
                  <a:t>$y$</a:t>
                </a:r>
                <a:r>
                  <a:rPr sz="2400" b="0">
                    <a:solidFill>
                      <a:srgbClr val="111827"/>
                    </a:solidFill>
                    <a:latin typeface="Arial"/>
                  </a:rPr>
                  <a:t>-axis at </a:t>
                </a:r>
                <a:r>
                  <a:rPr lang="en-IN" sz="2400">
                    <a:solidFill>
                      <a:srgbClr val="111827"/>
                    </a:solidFill>
                    <a:latin typeface="Cambria Math" panose="02040503050406030204" pitchFamily="18" charset="0"/>
                  </a:rPr>
                  <a:t>$y+\frac{x}{y'}$</a:t>
                </a:r>
                <a:r>
                  <a:rPr sz="2400" b="0">
                    <a:solidFill>
                      <a:srgbClr val="111827"/>
                    </a:solidFill>
                    <a:latin typeface="Arial"/>
                  </a:rPr>
                  <a:t>. Tangent: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$x-\frac{y}{y'}$</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-axis at </a:t>
                </a:r>
                <a:r>
                  <a:rPr lang="en-IN" sz="2400">
                    <a:solidFill>
                      <a:srgbClr val="111827"/>
                    </a:solidFill>
                    <a:latin typeface="Cambria Math" panose="02040503050406030204" pitchFamily="18" charset="0"/>
                  </a:rPr>
                  <a:t>$y-xy'$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midpoint (or ratio) condition on a segment cut by the axes gives a first-order equation in </a:t>
                </a:r>
                <a:r>
                  <a:rPr lang="en-IN" sz="2400">
                    <a:solidFill>
                      <a:srgbClr val="111827"/>
                    </a:solidFill>
                    <a:latin typeface="Cambria Math" panose="02040503050406030204" pitchFamily="18" charset="0"/>
                  </a:rPr>
                  <a:t>$y^2$</a:t>
                </a:r>
                <a:r>
                  <a:rPr sz="2400" b="0">
                    <a:solidFill>
                      <a:srgbClr val="111827"/>
                    </a:solidFill>
                    <a:latin typeface="Arial"/>
                  </a:rPr>
                  <a:t> whenever </a:t>
                </a:r>
                <a:r>
                  <a:rPr lang="en-IN" sz="2400">
                    <a:solidFill>
                      <a:srgbClr val="111827"/>
                    </a:solidFill>
                    <a:latin typeface="Cambria Math" panose="02040503050406030204" pitchFamily="18" charset="0"/>
                  </a:rPr>
                  <a:t>$yy'$</a:t>
                </a:r>
                <a:r>
                  <a:rPr sz="2400" b="0">
                    <a:solidFill>
                      <a:srgbClr val="111827"/>
                    </a:solidFill>
                    <a:latin typeface="Arial"/>
                  </a:rPr>
                  <a:t> appears; set </a:t>
                </a:r>
                <a:r>
                  <a:rPr lang="en-IN" sz="2400">
                    <a:solidFill>
                      <a:srgbClr val="111827"/>
                    </a:solidFill>
                    <a:latin typeface="Cambria Math" panose="02040503050406030204" pitchFamily="18" charset="0"/>
                  </a:rPr>
                  <a:t>$t=y^2$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$t'+pt=q$</a:t>
                </a:r>
                <a:r>
                  <a:rPr sz="2400" b="0">
                    <a:solidFill>
                      <a:srgbClr val="111827"/>
                    </a:solidFill>
                    <a:latin typeface="Arial"/>
                  </a:rPr>
                  <a:t> with polynomial </a:t>
                </a:r>
                <a:r>
                  <a:rPr lang="en-IN" sz="2400">
                    <a:solidFill>
                      <a:srgbClr val="111827"/>
                    </a:solidFill>
                    <a:latin typeface="Cambria Math" panose="02040503050406030204" pitchFamily="18" charset="0"/>
                  </a:rPr>
                  <a:t>$q$</a:t>
                </a:r>
                <a:r>
                  <a:rPr sz="2400" b="0">
                    <a:solidFill>
                      <a:srgbClr val="111827"/>
                    </a:solidFill>
                    <a:latin typeface="Arial"/>
                  </a:rPr>
                  <a:t> and constant </a:t>
                </a:r>
                <a:r>
                  <a:rPr lang="en-IN" sz="2400">
                    <a:solidFill>
                      <a:srgbClr val="111827"/>
                    </a:solidFill>
                    <a:latin typeface="Cambria Math" panose="02040503050406030204" pitchFamily="18" charset="0"/>
                  </a:rPr>
                  <a:t>$p$</a:t>
                </a:r>
                <a:r>
                  <a:rPr sz="2400" b="0">
                    <a:solidFill>
                      <a:srgbClr val="111827"/>
                    </a:solidFill>
                    <a:latin typeface="Arial"/>
                  </a:rPr>
                  <a:t>, try a polynomial of the same degree as </a:t>
                </a:r>
                <a:r>
                  <a:rPr lang="en-IN" sz="2400">
                    <a:solidFill>
                      <a:srgbClr val="111827"/>
                    </a:solidFill>
                    <a:latin typeface="Cambria Math" panose="02040503050406030204" pitchFamily="18" charset="0"/>
                  </a:rPr>
                  <a:t>$q$</a:t>
                </a:r>
                <a:r>
                  <a:rPr sz="2400" b="0">
                    <a:solidFill>
                      <a:srgbClr val="111827"/>
                    </a:solidFill>
                    <a:latin typeface="Arial"/>
                  </a:rPr>
                  <a:t> as the particular solution.</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continuous function which satisfies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𝑡</m:t>
                        </m:r>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all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continuous function which satisfies </a:t>
                </a:r>
                <a:r>
                  <a:rPr lang="en-IN" sz="2400">
                    <a:solidFill>
                      <a:srgbClr val="111827"/>
                    </a:solidFill>
                    <a:latin typeface="Cambria Math" panose="02040503050406030204" pitchFamily="18" charset="0"/>
                  </a:rPr>
                  <a:t>$\int_0^x t\,f(x-t)\,dt=\int_0^x f(t)\,dt+\sin x+\cos x-x-1$</a:t>
                </a:r>
                <a:r>
                  <a:rPr sz="2400" b="0">
                    <a:solidFill>
                      <a:srgbClr val="111827"/>
                    </a:solidFill>
                    <a:latin typeface="Arial"/>
                  </a:rPr>
                  <a:t> for all real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Definite integration (property of convolution), Integral equation reduced to a differential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nary>
                      <m:naryPr>
                        <m:chr m:val="∫"/>
                        <m:limLoc m:val="subSup"/>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0</m:t>
                        </m:r>
                      </m:sub>
                      <m:sup>
                        <m:r>
                          <a:rPr lang="en-IN" sz="2400" i="1">
                            <a:solidFill>
                              <a:srgbClr val="78350F"/>
                            </a:solidFill>
                            <a:latin typeface="Cambria Math" panose="02040503050406030204" pitchFamily="18" charset="0"/>
                          </a:rPr>
                          <m:t>𝑥</m:t>
                        </m:r>
                      </m:sup>
                      <m:e>
                        <m:r>
                          <a:rPr lang="en-IN" sz="2400" i="1">
                            <a:solidFill>
                              <a:srgbClr val="78350F"/>
                            </a:solidFill>
                            <a:latin typeface="Cambria Math" panose="02040503050406030204" pitchFamily="18" charset="0"/>
                          </a:rPr>
                          <m:t>𝑡</m:t>
                        </m:r>
                      </m:e>
                    </m:nary>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nary>
                      <m:naryPr>
                        <m:chr m:val="∫"/>
                        <m:limLoc m:val="subSup"/>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0</m:t>
                        </m:r>
                      </m:sub>
                      <m:sup>
                        <m:r>
                          <a:rPr lang="en-IN" sz="2400" i="1">
                            <a:solidFill>
                              <a:srgbClr val="78350F"/>
                            </a:solidFill>
                            <a:latin typeface="Cambria Math" panose="02040503050406030204" pitchFamily="18" charset="0"/>
                          </a:rPr>
                          <m:t>𝑥</m:t>
                        </m:r>
                      </m:sup>
                      <m:e>
                        <m:r>
                          <m:rPr>
                            <m:sty m:val="p"/>
                          </m:rPr>
                          <a:rPr lang="en-IN" sz="2400">
                            <a:solidFill>
                              <a:srgbClr val="78350F"/>
                            </a:solidFill>
                            <a:latin typeface="Cambria Math" panose="02040503050406030204" pitchFamily="18" charset="0"/>
                          </a:rPr>
                          <m:t>(</m:t>
                        </m:r>
                      </m:e>
                    </m:nary>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oMath>
                </a14:m>
                <a:r>
                  <a:rPr sz="2400" b="0">
                    <a:solidFill>
                      <a:srgbClr val="78350F"/>
                    </a:solidFill>
                    <a:latin typeface="Arial"/>
                  </a:rPr>
                  <a:t>, which can be differentiated twice to reach a linear equation.</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$\int_0^x tf(x-t)\,dt=\int_0^x(x-t)f(t)\,dt$</a:t>
                </a:r>
                <a:r>
                  <a:rPr sz="2400" b="0">
                    <a:solidFill>
                      <a:srgbClr val="78350F"/>
                    </a:solidFill>
                    <a:latin typeface="Arial"/>
                  </a:rPr>
                  <a:t>, which can be differentiated twice to reach a linear equation.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𝑎</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𝑎</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𝑡</m:t>
                        </m:r>
                      </m:e>
                    </m:nary>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𝑥</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𝑡</m:t>
                        </m:r>
                      </m:e>
                    </m:nary>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...(1).</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$\int_0^af(x)\,dx=\int_0^af(a-x)\,dx$</a:t>
                </a:r>
                <a:r>
                  <a:rPr sz="2400" b="0">
                    <a:solidFill>
                      <a:srgbClr val="111827"/>
                    </a:solidFill>
                    <a:latin typeface="Arial"/>
                  </a:rPr>
                  <a:t>: </a:t>
                </a:r>
                <a:r>
                  <a:rPr lang="en-IN" sz="2400">
                    <a:solidFill>
                      <a:srgbClr val="111827"/>
                    </a:solidFill>
                    <a:latin typeface="Cambria Math" panose="02040503050406030204" pitchFamily="18" charset="0"/>
                  </a:rPr>
                  <a:t>$\int_0^xtf(x-t)\,dt=\int_0^x(x-t)f(t)\,dt$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$\int_0^x(x-t)f(t)\,dt=\int_0^xf(t)\,dt+\sin x+\cos x-x-1$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$x\int_0^xf(t)\,dt-\int_0^xtf(t)\,dt=\int_0^xf(t)\,dt+\sin x+\cos x-x-1$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Differentiate: </a:t>
                </a:r>
                <a:r>
                  <a:rPr lang="en-IN" sz="2400">
                    <a:solidFill>
                      <a:srgbClr val="111827"/>
                    </a:solidFill>
                    <a:latin typeface="Cambria Math" panose="02040503050406030204" pitchFamily="18" charset="0"/>
                  </a:rPr>
                  <a:t>$\int_0^xf(t)\,dt+xf(x)-xf(x)=f(x)+\cos x-\sin 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$\int_0^xf(t)\,dt=f(x)+\cos x-\sin x-1$</a:t>
                </a:r>
                <a:r>
                  <a:rPr sz="2400" b="0">
                    <a:solidFill>
                      <a:srgbClr val="111827"/>
                    </a:solidFill>
                    <a:latin typeface="Arial"/>
                  </a:rPr>
                  <a:t> ...(1).</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again: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(1):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Differentiate again: </a:t>
                </a:r>
                <a:r>
                  <a:rPr lang="en-IN" sz="2400">
                    <a:solidFill>
                      <a:srgbClr val="111827"/>
                    </a:solidFill>
                    <a:latin typeface="Cambria Math" panose="02040503050406030204" pitchFamily="18" charset="0"/>
                  </a:rPr>
                  <a:t>$f(x)=f'(x)-\sin x-\cos x$</a:t>
                </a:r>
                <a:r>
                  <a:rPr sz="2400" b="0">
                    <a:solidFill>
                      <a:srgbClr val="111827"/>
                    </a:solidFill>
                    <a:latin typeface="Arial"/>
                  </a:rPr>
                  <a:t>, i.e. </a:t>
                </a:r>
                <a:r>
                  <a:rPr lang="en-IN" sz="2400">
                    <a:solidFill>
                      <a:srgbClr val="111827"/>
                    </a:solidFill>
                    <a:latin typeface="Cambria Math" panose="02040503050406030204" pitchFamily="18" charset="0"/>
                  </a:rPr>
                  <a:t>$\frac{dy}{dx}-y=\sin x+\cos x$</a:t>
                </a:r>
                <a:r>
                  <a:rPr sz="2400" b="0">
                    <a:solidFill>
                      <a:srgbClr val="111827"/>
                    </a:solidFill>
                    <a:latin typeface="Arial"/>
                  </a:rPr>
                  <a:t> with </a:t>
                </a:r>
                <a:r>
                  <a:rPr lang="en-IN" sz="2400">
                    <a:solidFill>
                      <a:srgbClr val="111827"/>
                    </a:solidFill>
                    <a:latin typeface="Cambria Math" panose="02040503050406030204" pitchFamily="18" charset="0"/>
                  </a:rPr>
                  <a:t>$y=f(x)$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$\text{I.F.}=e^{-x}$</a:t>
                </a:r>
                <a:r>
                  <a:rPr sz="2400" b="0">
                    <a:solidFill>
                      <a:srgbClr val="111827"/>
                    </a:solidFill>
                    <a:latin typeface="Arial"/>
                  </a:rPr>
                  <a:t>, so </a:t>
                </a:r>
                <a:r>
                  <a:rPr lang="en-IN" sz="2400">
                    <a:solidFill>
                      <a:srgbClr val="111827"/>
                    </a:solidFill>
                    <a:latin typeface="Cambria Math" panose="02040503050406030204" pitchFamily="18" charset="0"/>
                  </a:rPr>
                  <a:t>$ye^{-x}=\int e^{-x}(\sin x+\cos x)\,dx=-e^{-x}\cos x+c$</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$y=ce^{x}-\cos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$x=0$</a:t>
                </a:r>
                <a:r>
                  <a:rPr sz="2400" b="0">
                    <a:solidFill>
                      <a:srgbClr val="111827"/>
                    </a:solidFill>
                    <a:latin typeface="Arial"/>
                  </a:rPr>
                  <a:t> in (1): </a:t>
                </a:r>
                <a:r>
                  <a:rPr lang="en-IN" sz="2400">
                    <a:solidFill>
                      <a:srgbClr val="111827"/>
                    </a:solidFill>
                    <a:latin typeface="Cambria Math" panose="02040503050406030204" pitchFamily="18" charset="0"/>
                  </a:rPr>
                  <a:t>$0=f(0)+1-0-1$</a:t>
                </a:r>
                <a:r>
                  <a:rPr sz="2400" b="0">
                    <a:solidFill>
                      <a:srgbClr val="111827"/>
                    </a:solidFill>
                    <a:latin typeface="Arial"/>
                  </a:rPr>
                  <a:t>, so </a:t>
                </a:r>
                <a:r>
                  <a:rPr lang="en-IN" sz="2400">
                    <a:solidFill>
                      <a:srgbClr val="111827"/>
                    </a:solidFill>
                    <a:latin typeface="Cambria Math" panose="02040503050406030204" pitchFamily="18" charset="0"/>
                  </a:rPr>
                  <a:t>$f(0)=0$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$0=c-1$</a:t>
                </a:r>
                <a:r>
                  <a:rPr sz="2400" b="0">
                    <a:solidFill>
                      <a:srgbClr val="111827"/>
                    </a:solidFill>
                    <a:latin typeface="Arial"/>
                  </a:rPr>
                  <a:t>, so </a:t>
                </a:r>
                <a:r>
                  <a:rPr lang="en-IN" sz="2400">
                    <a:solidFill>
                      <a:srgbClr val="111827"/>
                    </a:solidFill>
                    <a:latin typeface="Cambria Math" panose="02040503050406030204" pitchFamily="18" charset="0"/>
                  </a:rPr>
                  <a:t>$c=1$</a:t>
                </a:r>
                <a:r>
                  <a:rPr sz="2400" b="0">
                    <a:solidFill>
                      <a:srgbClr val="111827"/>
                    </a:solidFill>
                    <a:latin typeface="Arial"/>
                  </a:rPr>
                  <a:t> and </a:t>
                </a:r>
                <a:r>
                  <a:rPr lang="en-IN" sz="2400">
                    <a:solidFill>
                      <a:srgbClr val="111827"/>
                    </a:solidFill>
                    <a:latin typeface="Cambria Math" panose="02040503050406030204" pitchFamily="18" charset="0"/>
                  </a:rPr>
                  <a:t>$f(x)=e^{x}-\cos 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𝑓</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𝑥</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𝑥</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$f(x)=e^{x}-\cos x$</a:t>
                </a:r>
                <a:endParaRPr sz="2800">
                  <a:solidFill>
                    <a:srgbClr val="15803D"/>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the Laplace transform: both sides are convolutions, so the equation becomes algebraic in </a:t>
                </a:r>
                <a14:m>
                  <m:oMath xmlns:m="http://schemas.openxmlformats.org/officeDocument/2006/math">
                    <m:r>
                      <a:rPr lang="en-IN" sz="2400" i="1">
                        <a:solidFill>
                          <a:srgbClr val="78350F"/>
                        </a:solidFill>
                        <a:latin typeface="Cambria Math" panose="02040503050406030204" pitchFamily="18" charset="0"/>
                      </a:rPr>
                      <m:t>𝐹</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Take the Laplace transform: both sides are convolutions, so the equation becomes algebraic in </a:t>
                </a:r>
                <a:r>
                  <a:rPr lang="en-IN" sz="2400">
                    <a:solidFill>
                      <a:srgbClr val="78350F"/>
                    </a:solidFill>
                    <a:latin typeface="Cambria Math" panose="02040503050406030204" pitchFamily="18" charset="0"/>
                  </a:rPr>
                  <a:t>$F(s)$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whose Laplace transform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Transform the right side: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𝐹</m:t>
                        </m:r>
                      </m:num>
                      <m:den>
                        <m:r>
                          <a:rPr lang="en-IN" sz="2400" i="1">
                            <a:solidFill>
                              <a:srgbClr val="111827"/>
                            </a:solidFill>
                            <a:latin typeface="Cambria Math" panose="02040503050406030204" pitchFamily="18" charset="0"/>
                          </a:rPr>
                          <m:t>𝑠</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𝐹</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𝑠</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r>
                  <a:rPr lang="en-IN" sz="2400">
                    <a:solidFill>
                      <a:srgbClr val="111827"/>
                    </a:solidFill>
                    <a:latin typeface="Cambria Math" panose="02040503050406030204" pitchFamily="18" charset="0"/>
                  </a:rPr>
                  <a:t>$\int_0^x(x-t)f(t)\,dt=(x*f)(x)$</a:t>
                </a:r>
                <a:r>
                  <a:rPr sz="2400" b="0">
                    <a:solidFill>
                      <a:srgbClr val="111827"/>
                    </a:solidFill>
                    <a:latin typeface="Arial"/>
                  </a:rPr>
                  <a:t>, whose Laplace transform is </a:t>
                </a:r>
                <a:r>
                  <a:rPr lang="en-IN" sz="2400">
                    <a:solidFill>
                      <a:srgbClr val="111827"/>
                    </a:solidFill>
                    <a:latin typeface="Cambria Math" panose="02040503050406030204" pitchFamily="18" charset="0"/>
                  </a:rPr>
                  <a:t>$\frac{F(s)}{s^2}$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Transform the right side: </a:t>
                </a:r>
                <a:r>
                  <a:rPr lang="en-IN" sz="2400">
                    <a:solidFill>
                      <a:srgbClr val="111827"/>
                    </a:solidFill>
                    <a:latin typeface="Cambria Math" panose="02040503050406030204" pitchFamily="18" charset="0"/>
                  </a:rPr>
                  <a:t>$\frac{F}{s}+\frac{1}{s^2+1}+\frac{s}{s^2+1}-\frac{1}{s^2}-\frac1s$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$F\left(\frac{1}{s^2}-\frac1s\right)=\frac{1+s}{s^2+1}-\frac{1+s}{s^2}=\frac{-(1+s)}{s^2(s^2+1)}$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fractions: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Inverting: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$F=\frac{1+s}{(s-1)(s^2+1)}$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Partial fractions: </a:t>
                </a:r>
                <a:r>
                  <a:rPr lang="en-IN" sz="2400">
                    <a:solidFill>
                      <a:srgbClr val="111827"/>
                    </a:solidFill>
                    <a:latin typeface="Cambria Math" panose="02040503050406030204" pitchFamily="18" charset="0"/>
                  </a:rPr>
                  <a:t>$\frac{1+s}{(s-1)(s^2+1)}=\frac{1}{s-1}-\frac{s}{s^2+1}$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Inverting: </a:t>
                </a:r>
                <a:r>
                  <a:rPr lang="en-IN" sz="2400">
                    <a:solidFill>
                      <a:srgbClr val="111827"/>
                    </a:solidFill>
                    <a:latin typeface="Cambria Math" panose="02040503050406030204" pitchFamily="18" charset="0"/>
                  </a:rPr>
                  <a:t>$f(x)=e^{x}-\cos x$</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𝑓</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𝑥</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𝑥</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$f(x)=e^{x}-\cos x$</a:t>
                </a:r>
                <a:endParaRPr sz="2800">
                  <a:solidFill>
                    <a:srgbClr val="15803D"/>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𝑡</m:t>
                        </m:r>
                      </m:e>
                    </m:nary>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differentiating twice gives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𝑥</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Integral equations with a variable upper limit are turned into differential equations by differentiating; the initial condition comes from putting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the original (or an earlier differentiated) equation.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are quick to recall.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$\int_0^x tf(x-t)\,dt=\int_0^x(x-t)f(t)\,dt=(x*f)(x)$</a:t>
                </a:r>
                <a:r>
                  <a:rPr sz="2400" b="0">
                    <a:solidFill>
                      <a:srgbClr val="111827"/>
                    </a:solidFill>
                    <a:latin typeface="Arial"/>
                  </a:rPr>
                  <a:t>; differentiating twice gives </a:t>
                </a:r>
                <a:r>
                  <a:rPr lang="en-IN" sz="2400">
                    <a:solidFill>
                      <a:srgbClr val="111827"/>
                    </a:solidFill>
                    <a:latin typeface="Cambria Math" panose="02040503050406030204" pitchFamily="18" charset="0"/>
                  </a:rPr>
                  <a:t>$\frac{d^2}{dx^2}\int_0^x(x-t)f(t)\,dt=f(x)$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Integral equations with a variable upper limit are turned into differential equations by differentiating; the initial condition comes from putting </a:t>
                </a:r>
                <a:r>
                  <a:rPr lang="en-IN" sz="2400">
                    <a:solidFill>
                      <a:srgbClr val="111827"/>
                    </a:solidFill>
                    <a:latin typeface="Cambria Math" panose="02040503050406030204" pitchFamily="18" charset="0"/>
                  </a:rPr>
                  <a:t>$x=0$</a:t>
                </a:r>
                <a:r>
                  <a:rPr sz="2400" b="0">
                    <a:solidFill>
                      <a:srgbClr val="111827"/>
                    </a:solidFill>
                    <a:latin typeface="Arial"/>
                  </a:rPr>
                  <a:t> in the original (or an earlier differentiated) equation.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 e^{-x}(\sin x+\cos x)\,dx=-e^{-x}\cos x$</a:t>
                </a:r>
                <a:r>
                  <a:rPr sz="2400" b="0">
                    <a:solidFill>
                      <a:srgbClr val="111827"/>
                    </a:solidFill>
                    <a:latin typeface="Arial"/>
                  </a:rPr>
                  <a:t> and </a:t>
                </a:r>
                <a:r>
                  <a:rPr lang="en-IN" sz="2400">
                    <a:solidFill>
                      <a:srgbClr val="111827"/>
                    </a:solidFill>
                    <a:latin typeface="Cambria Math" panose="02040503050406030204" pitchFamily="18" charset="0"/>
                  </a:rPr>
                  <a:t>$\int e^{x}(\sin x-\cos x)\,dx=-e^{x}\cos x$</a:t>
                </a:r>
                <a:r>
                  <a:rPr sz="2400" b="0">
                    <a:solidFill>
                      <a:srgbClr val="111827"/>
                    </a:solidFill>
                    <a:latin typeface="Arial"/>
                  </a:rPr>
                  <a:t> are quick to recall.</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two curves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passing through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 passing through the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The tangents drawn to both curves at the points with equal abscissae intersect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Find the curve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48970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two curves </a:t>
                </a:r>
                <a:r>
                  <a:rPr lang="en-IN" sz="2400">
                    <a:solidFill>
                      <a:srgbClr val="111827"/>
                    </a:solidFill>
                    <a:latin typeface="Cambria Math" panose="02040503050406030204" pitchFamily="18" charset="0"/>
                  </a:rPr>
                  <a:t>$y=f(x)$</a:t>
                </a:r>
                <a:r>
                  <a:rPr sz="2400" b="0">
                    <a:solidFill>
                      <a:srgbClr val="111827"/>
                    </a:solidFill>
                    <a:latin typeface="Arial"/>
                  </a:rPr>
                  <a:t> passing through the point </a:t>
                </a:r>
                <a:r>
                  <a:rPr lang="en-IN" sz="2400">
                    <a:solidFill>
                      <a:srgbClr val="111827"/>
                    </a:solidFill>
                    <a:latin typeface="Cambria Math" panose="02040503050406030204" pitchFamily="18" charset="0"/>
                  </a:rPr>
                  <a:t>$(0,1)$</a:t>
                </a:r>
                <a:r>
                  <a:rPr sz="2400" b="0">
                    <a:solidFill>
                      <a:srgbClr val="111827"/>
                    </a:solidFill>
                    <a:latin typeface="Arial"/>
                  </a:rPr>
                  <a:t> and </a:t>
                </a:r>
                <a:r>
                  <a:rPr lang="en-IN" sz="2400">
                    <a:solidFill>
                      <a:srgbClr val="111827"/>
                    </a:solidFill>
                    <a:latin typeface="Cambria Math" panose="02040503050406030204" pitchFamily="18" charset="0"/>
                  </a:rPr>
                  <a:t>$y=\int_{-\infty}^xf(t)\,dt$</a:t>
                </a:r>
                <a:r>
                  <a:rPr sz="2400" b="0">
                    <a:solidFill>
                      <a:srgbClr val="111827"/>
                    </a:solidFill>
                    <a:latin typeface="Arial"/>
                  </a:rPr>
                  <a:t> passing through the point </a:t>
                </a:r>
                <a:r>
                  <a:rPr lang="en-IN" sz="2400">
                    <a:solidFill>
                      <a:srgbClr val="111827"/>
                    </a:solidFill>
                    <a:latin typeface="Cambria Math" panose="02040503050406030204" pitchFamily="18" charset="0"/>
                  </a:rPr>
                  <a:t>$\left(0,\frac12\right)$</a:t>
                </a:r>
                <a:r>
                  <a:rPr sz="2400" b="0">
                    <a:solidFill>
                      <a:srgbClr val="111827"/>
                    </a:solidFill>
                    <a:latin typeface="Arial"/>
                  </a:rPr>
                  <a:t>. The tangents drawn to both curves at the points with equal abscissae intersect on the </a:t>
                </a:r>
                <a:r>
                  <a:rPr lang="en-IN" sz="2400">
                    <a:solidFill>
                      <a:srgbClr val="111827"/>
                    </a:solidFill>
                    <a:latin typeface="Cambria Math" panose="02040503050406030204" pitchFamily="18" charset="0"/>
                  </a:rPr>
                  <a:t>$x$</a:t>
                </a:r>
                <a:r>
                  <a:rPr sz="2400" b="0">
                    <a:solidFill>
                      <a:srgbClr val="111827"/>
                    </a:solidFill>
                    <a:latin typeface="Arial"/>
                  </a:rPr>
                  <a:t>-axis. Find the curve </a:t>
                </a:r>
                <a:r>
                  <a:rPr lang="en-IN" sz="2400">
                    <a:solidFill>
                      <a:srgbClr val="111827"/>
                    </a:solidFill>
                    <a:latin typeface="Cambria Math" panose="02040503050406030204" pitchFamily="18" charset="0"/>
                  </a:rPr>
                  <a:t>$f(x)$</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998467"/>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to a curve, Formation and solution of differential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Setting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nary>
                      <m:naryPr>
                        <m:chr m:val="∫"/>
                        <m:limLoc m:val="subSup"/>
                        <m:subHide m:val="off"/>
                        <m:supHide m:val="off"/>
                        <m:ctrlPr>
                          <a:rPr lang="en-IN" sz="2400" i="1">
                            <a:solidFill>
                              <a:srgbClr val="78350F"/>
                            </a:solidFill>
                            <a:latin typeface="Cambria Math" panose="02040503050406030204" pitchFamily="18" charset="0"/>
                          </a:rPr>
                        </m:ctrlPr>
                      </m:naryPr>
                      <m: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ub>
                      <m:sup>
                        <m:r>
                          <a:rPr lang="en-IN" sz="2400" i="1">
                            <a:solidFill>
                              <a:srgbClr val="78350F"/>
                            </a:solidFill>
                            <a:latin typeface="Cambria Math" panose="02040503050406030204" pitchFamily="18" charset="0"/>
                          </a:rPr>
                          <m:t>𝑥</m:t>
                        </m:r>
                      </m:sup>
                      <m:e>
                        <m:r>
                          <a:rPr lang="en-IN" sz="2400" i="1">
                            <a:solidFill>
                              <a:srgbClr val="78350F"/>
                            </a:solidFill>
                            <a:latin typeface="Cambria Math" panose="02040503050406030204" pitchFamily="18" charset="0"/>
                          </a:rPr>
                          <m:t>𝑓</m:t>
                        </m:r>
                      </m:e>
                    </m:nary>
                  </m:oMath>
                </a14:m>
                <a:r>
                  <a:rPr sz="2400" b="0">
                    <a:solidFill>
                      <a:srgbClr val="78350F"/>
                    </a:solidFill>
                    <a:latin typeface="Arial"/>
                  </a:rPr>
                  <a:t>, the equal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-intercepts give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num>
                      <m:den>
                        <m:r>
                          <a:rPr lang="en-IN" sz="2400" i="1">
                            <a:solidFill>
                              <a:srgbClr val="78350F"/>
                            </a:solidFill>
                            <a:latin typeface="Cambria Math" panose="02040503050406030204" pitchFamily="18" charset="0"/>
                          </a:rPr>
                          <m:t>𝑔</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num>
                      <m:den>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den>
                    </m:f>
                  </m:oMath>
                </a14:m>
                <a:r>
                  <a:rPr sz="2400" b="0">
                    <a:solidFill>
                      <a:srgbClr val="78350F"/>
                    </a:solidFill>
                    <a:latin typeface="Arial"/>
                  </a:rPr>
                  <a:t>, so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a:rPr lang="en-IN" sz="2400" i="1">
                        <a:solidFill>
                          <a:srgbClr val="78350F"/>
                        </a:solidFill>
                        <a:latin typeface="Cambria Math" panose="02040503050406030204" pitchFamily="18" charset="0"/>
                      </a:rPr>
                      <m:t>𝑔</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Setting </a:t>
                </a:r>
                <a:r>
                  <a:rPr lang="en-IN" sz="2400">
                    <a:solidFill>
                      <a:srgbClr val="78350F"/>
                    </a:solidFill>
                    <a:latin typeface="Cambria Math" panose="02040503050406030204" pitchFamily="18" charset="0"/>
                  </a:rPr>
                  <a:t>$g(x)=\int_{-\infty}^xf$</a:t>
                </a:r>
                <a:r>
                  <a:rPr sz="2400" b="0">
                    <a:solidFill>
                      <a:srgbClr val="78350F"/>
                    </a:solidFill>
                    <a:latin typeface="Arial"/>
                  </a:rPr>
                  <a:t>, the equal </a:t>
                </a:r>
                <a:r>
                  <a:rPr lang="en-IN" sz="2400">
                    <a:solidFill>
                      <a:srgbClr val="78350F"/>
                    </a:solidFill>
                    <a:latin typeface="Cambria Math" panose="02040503050406030204" pitchFamily="18" charset="0"/>
                  </a:rPr>
                  <a:t>$x$</a:t>
                </a:r>
                <a:r>
                  <a:rPr sz="2400" b="0">
                    <a:solidFill>
                      <a:srgbClr val="78350F"/>
                    </a:solidFill>
                    <a:latin typeface="Arial"/>
                  </a:rPr>
                  <a:t>-intercepts give </a:t>
                </a:r>
                <a:r>
                  <a:rPr lang="en-IN" sz="2400">
                    <a:solidFill>
                      <a:srgbClr val="78350F"/>
                    </a:solidFill>
                    <a:latin typeface="Cambria Math" panose="02040503050406030204" pitchFamily="18" charset="0"/>
                  </a:rPr>
                  <a:t>$\frac{g'}{g}=\frac{g''}{g'}$</a:t>
                </a:r>
                <a:r>
                  <a:rPr sz="2400" b="0">
                    <a:solidFill>
                      <a:srgbClr val="78350F"/>
                    </a:solidFill>
                    <a:latin typeface="Arial"/>
                  </a:rPr>
                  <a:t>, so </a:t>
                </a:r>
                <a:r>
                  <a:rPr lang="en-IN" sz="2400">
                    <a:solidFill>
                      <a:srgbClr val="78350F"/>
                    </a:solidFill>
                    <a:latin typeface="Cambria Math" panose="02040503050406030204" pitchFamily="18" charset="0"/>
                  </a:rPr>
                  <a:t>$g'=cg$</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abscissa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tangent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tangents meet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to </a:t>
                </a:r>
                <a:r>
                  <a:rPr lang="en-IN" sz="2400">
                    <a:solidFill>
                      <a:srgbClr val="111827"/>
                    </a:solidFill>
                    <a:latin typeface="Cambria Math" panose="02040503050406030204" pitchFamily="18" charset="0"/>
                  </a:rPr>
                  <a:t>$y=f(x)$</a:t>
                </a:r>
                <a:r>
                  <a:rPr sz="2400" b="0">
                    <a:solidFill>
                      <a:srgbClr val="111827"/>
                    </a:solidFill>
                    <a:latin typeface="Arial"/>
                  </a:rPr>
                  <a:t> at abscissa </a:t>
                </a:r>
                <a:r>
                  <a:rPr lang="en-IN" sz="2400">
                    <a:solidFill>
                      <a:srgbClr val="111827"/>
                    </a:solidFill>
                    <a:latin typeface="Cambria Math" panose="02040503050406030204" pitchFamily="18" charset="0"/>
                  </a:rPr>
                  <a:t>$x$</a:t>
                </a:r>
                <a:r>
                  <a:rPr sz="2400" b="0">
                    <a:solidFill>
                      <a:srgbClr val="111827"/>
                    </a:solidFill>
                    <a:latin typeface="Arial"/>
                  </a:rPr>
                  <a:t> is </a:t>
                </a:r>
                <a:r>
                  <a:rPr lang="en-IN" sz="2400">
                    <a:solidFill>
                      <a:srgbClr val="111827"/>
                    </a:solidFill>
                    <a:latin typeface="Cambria Math" panose="02040503050406030204" pitchFamily="18" charset="0"/>
                  </a:rPr>
                  <a:t>$Y-y=f'(x)(X-x)$</a:t>
                </a:r>
                <a:r>
                  <a:rPr sz="2400" b="0">
                    <a:solidFill>
                      <a:srgbClr val="111827"/>
                    </a:solidFill>
                    <a:latin typeface="Arial"/>
                  </a:rPr>
                  <a:t>; it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$X=x-\frac{y}{f'(x)}$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$g(x)=\int_{-\infty}^xf(t)\,dt=y_1$</a:t>
                </a:r>
                <a:r>
                  <a:rPr sz="2400" b="0">
                    <a:solidFill>
                      <a:srgbClr val="111827"/>
                    </a:solidFill>
                    <a:latin typeface="Arial"/>
                  </a:rPr>
                  <a:t>, so </a:t>
                </a:r>
                <a:r>
                  <a:rPr lang="en-IN" sz="2400">
                    <a:solidFill>
                      <a:srgbClr val="111827"/>
                    </a:solidFill>
                    <a:latin typeface="Cambria Math" panose="02040503050406030204" pitchFamily="18" charset="0"/>
                  </a:rPr>
                  <a:t>$g'(x)=f(x)$</a:t>
                </a:r>
                <a:r>
                  <a:rPr sz="2400" b="0">
                    <a:solidFill>
                      <a:srgbClr val="111827"/>
                    </a:solidFill>
                    <a:latin typeface="Arial"/>
                  </a:rPr>
                  <a:t>. Its tangent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$X=x-\frac{y_1}{f(x)}$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tangents meet on the </a:t>
                </a:r>
                <a:r>
                  <a:rPr lang="en-IN" sz="2400">
                    <a:solidFill>
                      <a:srgbClr val="111827"/>
                    </a:solidFill>
                    <a:latin typeface="Cambria Math" panose="02040503050406030204" pitchFamily="18" charset="0"/>
                  </a:rPr>
                  <a:t>$x$</a:t>
                </a:r>
                <a:r>
                  <a:rPr sz="2400" b="0">
                    <a:solidFill>
                      <a:srgbClr val="111827"/>
                    </a:solidFill>
                    <a:latin typeface="Arial"/>
                  </a:rPr>
                  <a:t>-axis, so </a:t>
                </a:r>
                <a:r>
                  <a:rPr lang="en-IN" sz="2400">
                    <a:solidFill>
                      <a:srgbClr val="111827"/>
                    </a:solidFill>
                    <a:latin typeface="Cambria Math" panose="02040503050406030204" pitchFamily="18" charset="0"/>
                  </a:rPr>
                  <a:t>$x-\frac{y}{f'(x)}=x-\frac{y_1}{f(x)}$</a:t>
                </a:r>
                <a:r>
                  <a:rPr sz="2400" b="0">
                    <a:solidFill>
                      <a:srgbClr val="111827"/>
                    </a:solidFill>
                    <a:latin typeface="Arial"/>
                  </a:rPr>
                  <a:t> with </a:t>
                </a:r>
                <a:r>
                  <a:rPr lang="en-IN" sz="2400">
                    <a:solidFill>
                      <a:srgbClr val="111827"/>
                    </a:solidFill>
                    <a:latin typeface="Cambria Math" panose="02040503050406030204" pitchFamily="18" charset="0"/>
                  </a:rPr>
                  <a:t>$y=f(x)$</a:t>
                </a:r>
                <a:r>
                  <a:rPr sz="2400" b="0">
                    <a:solidFill>
                      <a:srgbClr val="111827"/>
                    </a:solidFill>
                    <a:latin typeface="Arial"/>
                  </a:rPr>
                  <a:t>: </a:t>
                </a:r>
                <a:r>
                  <a:rPr lang="en-IN" sz="2400">
                    <a:solidFill>
                      <a:srgbClr val="111827"/>
                    </a:solidFill>
                    <a:latin typeface="Cambria Math" panose="02040503050406030204" pitchFamily="18" charset="0"/>
                  </a:rPr>
                  <a:t>$\frac{f(x)}{f'(x)}=\frac{y_1}{f(x)}$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terms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r>
                      <m:rPr>
                        <m:sty m:val="p"/>
                      </m:rPr>
                      <a:rPr lang="en-IN" sz="2400">
                        <a:solidFill>
                          <a:srgbClr val="111827"/>
                        </a:solidFill>
                        <a:latin typeface="Cambria Math" panose="02040503050406030204" pitchFamily="18" charset="0"/>
                      </a:rPr>
                      <m:t>ln</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passes through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terms of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$\frac{g'(x)}{g''(x)}=\frac{g(x)}{g'(x)}$</a:t>
                </a:r>
                <a:r>
                  <a:rPr sz="2400" b="0">
                    <a:solidFill>
                      <a:srgbClr val="111827"/>
                    </a:solidFill>
                    <a:latin typeface="Arial"/>
                  </a:rPr>
                  <a:t>, i.e. </a:t>
                </a:r>
                <a:r>
                  <a:rPr lang="en-IN" sz="2400">
                    <a:solidFill>
                      <a:srgbClr val="111827"/>
                    </a:solidFill>
                    <a:latin typeface="Cambria Math" panose="02040503050406030204" pitchFamily="18" charset="0"/>
                  </a:rPr>
                  <a:t>$\frac{g'(x)}{g(x)}=\frac{g''(x)}{g'(x)}$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$\ln g'(x)=\ln g(x)+\ln c$</a:t>
                </a:r>
                <a:r>
                  <a:rPr sz="2400" b="0">
                    <a:solidFill>
                      <a:srgbClr val="111827"/>
                    </a:solidFill>
                    <a:latin typeface="Arial"/>
                  </a:rPr>
                  <a:t>, so </a:t>
                </a:r>
                <a:r>
                  <a:rPr lang="en-IN" sz="2400">
                    <a:solidFill>
                      <a:srgbClr val="111827"/>
                    </a:solidFill>
                    <a:latin typeface="Cambria Math" panose="02040503050406030204" pitchFamily="18" charset="0"/>
                  </a:rPr>
                  <a:t>$g'(x)=c\,g(x)$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$g(x)=ke^{cx}$</a:t>
                </a:r>
                <a:r>
                  <a:rPr sz="2400" b="0">
                    <a:solidFill>
                      <a:srgbClr val="111827"/>
                    </a:solidFill>
                    <a:latin typeface="Arial"/>
                  </a:rPr>
                  <a:t> and </a:t>
                </a:r>
                <a:r>
                  <a:rPr lang="en-IN" sz="2400">
                    <a:solidFill>
                      <a:srgbClr val="111827"/>
                    </a:solidFill>
                    <a:latin typeface="Cambria Math" panose="02040503050406030204" pitchFamily="18" charset="0"/>
                  </a:rPr>
                  <a:t>$f(x)=g'(x)=kc\,e^{cx}$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$y=f(x)$</a:t>
                </a:r>
                <a:r>
                  <a:rPr sz="2400" b="0">
                    <a:solidFill>
                      <a:srgbClr val="111827"/>
                    </a:solidFill>
                    <a:latin typeface="Arial"/>
                  </a:rPr>
                  <a:t> passes through </a:t>
                </a:r>
                <a:r>
                  <a:rPr lang="en-IN" sz="2400">
                    <a:solidFill>
                      <a:srgbClr val="111827"/>
                    </a:solidFill>
                    <a:latin typeface="Cambria Math" panose="02040503050406030204" pitchFamily="18" charset="0"/>
                  </a:rPr>
                  <a:t>$(0,1)$</a:t>
                </a:r>
                <a:r>
                  <a:rPr sz="2400" b="0">
                    <a:solidFill>
                      <a:srgbClr val="111827"/>
                    </a:solidFill>
                    <a:latin typeface="Arial"/>
                  </a:rPr>
                  <a:t>: </a:t>
                </a:r>
                <a:r>
                  <a:rPr lang="en-IN" sz="2400">
                    <a:solidFill>
                      <a:srgbClr val="111827"/>
                    </a:solidFill>
                    <a:latin typeface="Cambria Math" panose="02040503050406030204" pitchFamily="18" charset="0"/>
                  </a:rPr>
                  <a:t>$kc=1$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a:t>
                </a:r>
                <a:r>
                  <a:rPr sz="2400" b="0">
                    <a:solidFill>
                      <a:srgbClr val="111827"/>
                    </a:solidFill>
                    <a:latin typeface="Arial"/>
                  </a:rPr>
                  <a:t> passes through </a:t>
                </a:r>
                <a:r>
                  <a:rPr lang="en-IN" sz="2400">
                    <a:solidFill>
                      <a:srgbClr val="111827"/>
                    </a:solidFill>
                    <a:latin typeface="Cambria Math" panose="02040503050406030204" pitchFamily="18" charset="0"/>
                  </a:rPr>
                  <a:t>$\left(0,\frac12\right)$</a:t>
                </a:r>
                <a:r>
                  <a:rPr sz="2400" b="0">
                    <a:solidFill>
                      <a:srgbClr val="111827"/>
                    </a:solidFill>
                    <a:latin typeface="Arial"/>
                  </a:rPr>
                  <a:t>: </a:t>
                </a:r>
                <a:r>
                  <a:rPr lang="en-IN" sz="2400">
                    <a:solidFill>
                      <a:srgbClr val="111827"/>
                    </a:solidFill>
                    <a:latin typeface="Cambria Math" panose="02040503050406030204" pitchFamily="18" charset="0"/>
                  </a:rPr>
                  <a:t>$k=\frac12$</a:t>
                </a:r>
                <a:r>
                  <a:rPr sz="2400" b="0">
                    <a:solidFill>
                      <a:srgbClr val="111827"/>
                    </a:solidFill>
                    <a:latin typeface="Arial"/>
                  </a:rPr>
                  <a:t>, so </a:t>
                </a:r>
                <a:r>
                  <a:rPr lang="en-IN" sz="2400">
                    <a:solidFill>
                      <a:srgbClr val="111827"/>
                    </a:solidFill>
                    <a:latin typeface="Cambria Math" panose="02040503050406030204" pitchFamily="18" charset="0"/>
                  </a:rPr>
                  <a:t>$c=2$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$f(x)=e^{2x}$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𝑓</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$f(x)=e^{2x}$</a:t>
                </a:r>
                <a:endParaRPr sz="2800">
                  <a:solidFill>
                    <a:srgbClr val="15803D"/>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to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abscissa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equal intercepts of two curves mean equal subtangents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ℎ</m:t>
                        </m:r>
                      </m:num>
                      <m:den>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𝑔</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num>
                      <m:den>
                        <m:r>
                          <a:rPr lang="en-IN" sz="2400" i="1">
                            <a:solidFill>
                              <a:srgbClr val="111827"/>
                            </a:solidFill>
                            <a:latin typeface="Cambria Math" panose="02040503050406030204" pitchFamily="18" charset="0"/>
                          </a:rPr>
                          <m:t>𝑔</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𝑔</m:t>
                    </m:r>
                  </m:oMath>
                </a14:m>
                <a:r>
                  <a:rPr sz="2400" b="0">
                    <a:solidFill>
                      <a:srgbClr val="111827"/>
                    </a:solidFill>
                    <a:latin typeface="Arial"/>
                  </a:rPr>
                  <a:t>: a function and its derivative with equal log-derivatives are proportional.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oMath>
                </a14:m>
                <a:r>
                  <a:rPr sz="2400" b="0">
                    <a:solidFill>
                      <a:srgbClr val="111827"/>
                    </a:solidFill>
                    <a:latin typeface="Arial"/>
                  </a:rPr>
                  <a:t> exists,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consistent with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to </a:t>
                </a:r>
                <a:r>
                  <a:rPr lang="en-IN" sz="2400">
                    <a:solidFill>
                      <a:srgbClr val="111827"/>
                    </a:solidFill>
                    <a:latin typeface="Cambria Math" panose="02040503050406030204" pitchFamily="18" charset="0"/>
                  </a:rPr>
                  <a:t>$y=h(x)$</a:t>
                </a:r>
                <a:r>
                  <a:rPr sz="2400" b="0">
                    <a:solidFill>
                      <a:srgbClr val="111827"/>
                    </a:solidFill>
                    <a:latin typeface="Arial"/>
                  </a:rPr>
                  <a:t> at abscissa </a:t>
                </a:r>
                <a:r>
                  <a:rPr lang="en-IN" sz="2400">
                    <a:solidFill>
                      <a:srgbClr val="111827"/>
                    </a:solidFill>
                    <a:latin typeface="Cambria Math" panose="02040503050406030204" pitchFamily="18" charset="0"/>
                  </a:rPr>
                  <a:t>$x$</a:t>
                </a:r>
                <a:r>
                  <a:rPr sz="2400" b="0">
                    <a:solidFill>
                      <a:srgbClr val="111827"/>
                    </a:solidFill>
                    <a:latin typeface="Arial"/>
                  </a:rPr>
                  <a: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$x-\frac{h}{h'}$</a:t>
                </a:r>
                <a:r>
                  <a:rPr sz="2400" b="0">
                    <a:solidFill>
                      <a:srgbClr val="111827"/>
                    </a:solidFill>
                    <a:latin typeface="Arial"/>
                  </a:rPr>
                  <a:t>; equal intercepts of two curves mean equal subtangents </a:t>
                </a:r>
                <a:r>
                  <a:rPr lang="en-IN" sz="2400">
                    <a:solidFill>
                      <a:srgbClr val="111827"/>
                    </a:solidFill>
                    <a:latin typeface="Cambria Math" panose="02040503050406030204" pitchFamily="18" charset="0"/>
                  </a:rPr>
                  <a:t>$\frac{h}{h'}$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$\frac{g'}{g}=\frac{g''}{g'}\iff\frac{d}{dx}\ln\frac{g'}{g}=0\iff g'=cg$</a:t>
                </a:r>
                <a:r>
                  <a:rPr sz="2400" b="0">
                    <a:solidFill>
                      <a:srgbClr val="111827"/>
                    </a:solidFill>
                    <a:latin typeface="Arial"/>
                  </a:rPr>
                  <a:t>: a function and its derivative with equal log-derivatives are proportional.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$g(x)=\int_{-\infty}^xf$</a:t>
                </a:r>
                <a:r>
                  <a:rPr sz="2400" b="0">
                    <a:solidFill>
                      <a:srgbClr val="111827"/>
                    </a:solidFill>
                    <a:latin typeface="Arial"/>
                  </a:rPr>
                  <a:t> exists, then </a:t>
                </a:r>
                <a:r>
                  <a:rPr lang="en-IN" sz="2400">
                    <a:solidFill>
                      <a:srgbClr val="111827"/>
                    </a:solidFill>
                    <a:latin typeface="Cambria Math" panose="02040503050406030204" pitchFamily="18" charset="0"/>
                  </a:rPr>
                  <a:t>$f=g'$</a:t>
                </a:r>
                <a:r>
                  <a:rPr sz="2400" b="0">
                    <a:solidFill>
                      <a:srgbClr val="111827"/>
                    </a:solidFill>
                    <a:latin typeface="Arial"/>
                  </a:rPr>
                  <a:t> and </a:t>
                </a:r>
                <a:r>
                  <a:rPr lang="en-IN" sz="2400">
                    <a:solidFill>
                      <a:srgbClr val="111827"/>
                    </a:solidFill>
                    <a:latin typeface="Cambria Math" panose="02040503050406030204" pitchFamily="18" charset="0"/>
                  </a:rPr>
                  <a:t>$g(x)\to0$</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consistent with </a:t>
                </a:r>
                <a:r>
                  <a:rPr lang="en-IN" sz="2400">
                    <a:solidFill>
                      <a:srgbClr val="111827"/>
                    </a:solidFill>
                    <a:latin typeface="Cambria Math" panose="02040503050406030204" pitchFamily="18" charset="0"/>
                  </a:rPr>
                  <a:t>$g=ke^{cx}$</a:t>
                </a:r>
                <a:r>
                  <a:rPr sz="2400" b="0">
                    <a:solidFill>
                      <a:srgbClr val="111827"/>
                    </a:solidFill>
                    <a:latin typeface="Arial"/>
                  </a:rPr>
                  <a:t>, </a:t>
                </a:r>
                <a:r>
                  <a:rPr lang="en-IN" sz="2400">
                    <a:solidFill>
                      <a:srgbClr val="111827"/>
                    </a:solidFill>
                    <a:latin typeface="Cambria Math" panose="02040503050406030204" pitchFamily="18" charset="0"/>
                  </a:rPr>
                  <a:t>$c&gt;0$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integral curve of the differential equation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which passes through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8557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integral curve of the differential equation </a:t>
                </a:r>
                <a:r>
                  <a:rPr lang="en-IN" sz="2400">
                    <a:solidFill>
                      <a:srgbClr val="111827"/>
                    </a:solidFill>
                    <a:latin typeface="Cambria Math" panose="02040503050406030204" pitchFamily="18" charset="0"/>
                  </a:rPr>
                  <a:t>$x(1-x\ln y)\frac{dy}{dx}+y=0$</a:t>
                </a:r>
                <a:r>
                  <a:rPr sz="2400" b="0">
                    <a:solidFill>
                      <a:srgbClr val="111827"/>
                    </a:solidFill>
                    <a:latin typeface="Arial"/>
                  </a:rPr>
                  <a:t> which passes through </a:t>
                </a:r>
                <a:r>
                  <a:rPr lang="en-IN" sz="2400">
                    <a:solidFill>
                      <a:srgbClr val="111827"/>
                    </a:solidFill>
                    <a:latin typeface="Cambria Math" panose="02040503050406030204" pitchFamily="18" charset="0"/>
                  </a:rPr>
                  <a:t>$\left(1,\frac1e\right)$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3644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 (taking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as dependent variable), Bernoulli-type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3644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 (taking </a:t>
                </a:r>
                <a:r>
                  <a:rPr lang="en-IN" sz="2400">
                    <a:solidFill>
                      <a:srgbClr val="111827"/>
                    </a:solidFill>
                    <a:latin typeface="Cambria Math" panose="02040503050406030204" pitchFamily="18" charset="0"/>
                  </a:rPr>
                  <a:t>$x$</a:t>
                </a:r>
                <a:r>
                  <a:rPr sz="2400" b="0">
                    <a:solidFill>
                      <a:srgbClr val="111827"/>
                    </a:solidFill>
                    <a:latin typeface="Arial"/>
                  </a:rPr>
                  <a:t> as dependent variable), Bernoulli-type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Treat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as the function of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𝑦</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𝑦</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𝑦</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it becomes linear twice over.</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Treat </a:t>
                </a:r>
                <a:r>
                  <a:rPr lang="en-IN" sz="2400">
                    <a:solidFill>
                      <a:srgbClr val="78350F"/>
                    </a:solidFill>
                    <a:latin typeface="Cambria Math" panose="02040503050406030204" pitchFamily="18" charset="0"/>
                  </a:rPr>
                  <a:t>$x$</a:t>
                </a:r>
                <a:r>
                  <a:rPr sz="2400" b="0">
                    <a:solidFill>
                      <a:srgbClr val="78350F"/>
                    </a:solidFill>
                    <a:latin typeface="Arial"/>
                  </a:rPr>
                  <a:t> as the function of </a:t>
                </a:r>
                <a:r>
                  <a:rPr lang="en-IN" sz="2400">
                    <a:solidFill>
                      <a:srgbClr val="78350F"/>
                    </a:solidFill>
                    <a:latin typeface="Cambria Math" panose="02040503050406030204" pitchFamily="18" charset="0"/>
                  </a:rPr>
                  <a:t>$y$</a:t>
                </a:r>
                <a:r>
                  <a:rPr sz="2400" b="0">
                    <a:solidFill>
                      <a:srgbClr val="78350F"/>
                    </a:solidFill>
                    <a:latin typeface="Arial"/>
                  </a:rPr>
                  <a:t> (</a:t>
                </a:r>
                <a:r>
                  <a:rPr lang="en-IN" sz="2400">
                    <a:solidFill>
                      <a:srgbClr val="78350F"/>
                    </a:solidFill>
                    <a:latin typeface="Cambria Math" panose="02040503050406030204" pitchFamily="18" charset="0"/>
                  </a:rPr>
                  <a:t>$y\frac{dx}{dy}=-x+x^2\ln y$</a:t>
                </a:r>
                <a:r>
                  <a:rPr sz="2400" b="0">
                    <a:solidFill>
                      <a:srgbClr val="78350F"/>
                    </a:solidFill>
                    <a:latin typeface="Arial"/>
                  </a:rPr>
                  <a:t>); with </a:t>
                </a:r>
                <a:r>
                  <a:rPr lang="en-IN" sz="2400">
                    <a:solidFill>
                      <a:srgbClr val="78350F"/>
                    </a:solidFill>
                    <a:latin typeface="Cambria Math" panose="02040503050406030204" pitchFamily="18" charset="0"/>
                  </a:rPr>
                  <a:t>$z=\ln y$</a:t>
                </a:r>
                <a:r>
                  <a:rPr sz="2400" b="0">
                    <a:solidFill>
                      <a:srgbClr val="78350F"/>
                    </a:solidFill>
                    <a:latin typeface="Arial"/>
                  </a:rPr>
                  <a:t> and </a:t>
                </a:r>
                <a:r>
                  <a:rPr lang="en-IN" sz="2400">
                    <a:solidFill>
                      <a:srgbClr val="78350F"/>
                    </a:solidFill>
                    <a:latin typeface="Cambria Math" panose="02040503050406030204" pitchFamily="18" charset="0"/>
                  </a:rPr>
                  <a:t>$v=\frac1x$</a:t>
                </a:r>
                <a:r>
                  <a:rPr sz="2400" b="0">
                    <a:solidFill>
                      <a:srgbClr val="78350F"/>
                    </a:solidFill>
                    <a:latin typeface="Arial"/>
                  </a:rPr>
                  <a:t> it becomes linear twice over.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den>
                    </m:f>
                  </m:oMath>
                </a14:m>
                <a:r>
                  <a:rPr sz="2400" b="0">
                    <a:solidFill>
                      <a:srgbClr val="111827"/>
                    </a:solidFill>
                    <a:latin typeface="Arial"/>
                  </a:rPr>
                  <a:t>. Then (1)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which is linear in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$x(1-x\ln y)\frac{dy}{dx}+y=0$</a:t>
                </a:r>
                <a:r>
                  <a:rPr sz="2400" b="0">
                    <a:solidFill>
                      <a:srgbClr val="111827"/>
                    </a:solidFill>
                    <a:latin typeface="Arial"/>
                  </a:rPr>
                  <a:t> as </a:t>
                </a:r>
                <a:r>
                  <a:rPr lang="en-IN" sz="2400">
                    <a:solidFill>
                      <a:srgbClr val="111827"/>
                    </a:solidFill>
                    <a:latin typeface="Cambria Math" panose="02040503050406030204" pitchFamily="18" charset="0"/>
                  </a:rPr>
                  <a:t>$y\frac{dx}{dy}=-x+x^2\ln y$</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$\ln y=z$</a:t>
                </a:r>
                <a:r>
                  <a:rPr sz="2400" b="0">
                    <a:solidFill>
                      <a:srgbClr val="111827"/>
                    </a:solidFill>
                    <a:latin typeface="Arial"/>
                  </a:rPr>
                  <a:t>, so </a:t>
                </a:r>
                <a:r>
                  <a:rPr lang="en-IN" sz="2400">
                    <a:solidFill>
                      <a:srgbClr val="111827"/>
                    </a:solidFill>
                    <a:latin typeface="Cambria Math" panose="02040503050406030204" pitchFamily="18" charset="0"/>
                  </a:rPr>
                  <a:t>$y\frac{dx}{dy}=\frac{dx}{dz}$</a:t>
                </a:r>
                <a:r>
                  <a:rPr sz="2400" b="0">
                    <a:solidFill>
                      <a:srgbClr val="111827"/>
                    </a:solidFill>
                    <a:latin typeface="Arial"/>
                  </a:rPr>
                  <a:t>. Then (1) gives </a:t>
                </a:r>
                <a:r>
                  <a:rPr lang="en-IN" sz="2400">
                    <a:solidFill>
                      <a:srgbClr val="111827"/>
                    </a:solidFill>
                    <a:latin typeface="Cambria Math" panose="02040503050406030204" pitchFamily="18" charset="0"/>
                  </a:rPr>
                  <a:t>$\frac{dx}{dz}=-x+x^2z$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$\frac{1}{x^2}\frac{dx}{dz}+\frac1x=z$</a:t>
                </a:r>
                <a:r>
                  <a:rPr sz="2400" b="0">
                    <a:solidFill>
                      <a:srgbClr val="111827"/>
                    </a:solidFill>
                    <a:latin typeface="Arial"/>
                  </a:rPr>
                  <a:t>, which is linear in </a:t>
                </a:r>
                <a:r>
                  <a:rPr lang="en-IN" sz="2400">
                    <a:solidFill>
                      <a:srgbClr val="111827"/>
                    </a:solidFill>
                    <a:latin typeface="Cambria Math" panose="02040503050406030204" pitchFamily="18" charset="0"/>
                  </a:rPr>
                  <a:t>$\frac1x$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den>
                    </m:f>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𝑧</m:t>
                        </m:r>
                      </m:sup>
                    </m:sSup>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𝑦</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$\frac1x=v$</a:t>
                </a:r>
                <a:r>
                  <a:rPr sz="2400" b="0">
                    <a:solidFill>
                      <a:srgbClr val="111827"/>
                    </a:solidFill>
                    <a:latin typeface="Arial"/>
                  </a:rPr>
                  <a:t>, so </a:t>
                </a:r>
                <a:r>
                  <a:rPr lang="en-IN" sz="2400">
                    <a:solidFill>
                      <a:srgbClr val="111827"/>
                    </a:solidFill>
                    <a:latin typeface="Cambria Math" panose="02040503050406030204" pitchFamily="18" charset="0"/>
                  </a:rPr>
                  <a:t>$-\frac{1}{x^2}\frac{dx}{dz}=\frac{dv}{dz}$</a:t>
                </a:r>
                <a:r>
                  <a:rPr sz="2400" b="0">
                    <a:solidFill>
                      <a:srgbClr val="111827"/>
                    </a:solidFill>
                    <a:latin typeface="Arial"/>
                  </a:rPr>
                  <a:t>. Then </a:t>
                </a:r>
                <a:r>
                  <a:rPr lang="en-IN" sz="2400">
                    <a:solidFill>
                      <a:srgbClr val="111827"/>
                    </a:solidFill>
                    <a:latin typeface="Cambria Math" panose="02040503050406030204" pitchFamily="18" charset="0"/>
                  </a:rPr>
                  <a:t>$-\frac{dv}{dz}+v=z$</a:t>
                </a:r>
                <a:r>
                  <a:rPr sz="2400" b="0">
                    <a:solidFill>
                      <a:srgbClr val="111827"/>
                    </a:solidFill>
                    <a:latin typeface="Arial"/>
                  </a:rPr>
                  <a:t>, i.e. </a:t>
                </a:r>
                <a:r>
                  <a:rPr lang="en-IN" sz="2400">
                    <a:solidFill>
                      <a:srgbClr val="111827"/>
                    </a:solidFill>
                    <a:latin typeface="Cambria Math" panose="02040503050406030204" pitchFamily="18" charset="0"/>
                  </a:rPr>
                  <a:t>$\frac{dv}{dz}-v=-z$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$\text{I.F.}=e^{-\int dz}=e^{-z}$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$v\,e^{-z}=\int-ze^{-z}dz+c=(z+1)e^{-z}+c$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$v=(z+1)+ce^{z}$</a:t>
                </a:r>
                <a:r>
                  <a:rPr sz="2400" b="0">
                    <a:solidFill>
                      <a:srgbClr val="111827"/>
                    </a:solidFill>
                    <a:latin typeface="Arial"/>
                  </a:rPr>
                  <a:t>, i.e. </a:t>
                </a:r>
                <a:r>
                  <a:rPr lang="en-IN" sz="2400">
                    <a:solidFill>
                      <a:srgbClr val="111827"/>
                    </a:solidFill>
                    <a:latin typeface="Cambria Math" panose="02040503050406030204" pitchFamily="18" charset="0"/>
                  </a:rPr>
                  <a:t>$\frac1x=(\ln y+1)+ce^{\ln y}=(\ln y+1)+cy$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r>
                  <a:rPr lang="en-IN" sz="2400">
                    <a:solidFill>
                      <a:srgbClr val="111827"/>
                    </a:solidFill>
                    <a:latin typeface="Cambria Math" panose="02040503050406030204" pitchFamily="18" charset="0"/>
                  </a:rPr>
                  <a:t>$\left(1,\frac1e\right)$</a:t>
                </a:r>
                <a:r>
                  <a:rPr sz="2400" b="0">
                    <a:solidFill>
                      <a:srgbClr val="111827"/>
                    </a:solidFill>
                    <a:latin typeface="Arial"/>
                  </a:rPr>
                  <a:t>: </a:t>
                </a:r>
                <a:r>
                  <a:rPr lang="en-IN" sz="2400">
                    <a:solidFill>
                      <a:srgbClr val="111827"/>
                    </a:solidFill>
                    <a:latin typeface="Cambria Math" panose="02040503050406030204" pitchFamily="18" charset="0"/>
                  </a:rPr>
                  <a:t>$1=(-1+1)+\frac ce$</a:t>
                </a:r>
                <a:r>
                  <a:rPr sz="2400" b="0">
                    <a:solidFill>
                      <a:srgbClr val="111827"/>
                    </a:solidFill>
                    <a:latin typeface="Arial"/>
                  </a:rPr>
                  <a:t>, so </a:t>
                </a:r>
                <a:r>
                  <a:rPr lang="en-IN" sz="2400">
                    <a:solidFill>
                      <a:srgbClr val="111827"/>
                    </a:solidFill>
                    <a:latin typeface="Cambria Math" panose="02040503050406030204" pitchFamily="18" charset="0"/>
                  </a:rPr>
                  <a:t>$c=e$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$\frac1x=(\ln y+1)+ey$</a:t>
                </a:r>
                <a:r>
                  <a:rPr sz="2400" b="0">
                    <a:solidFill>
                      <a:srgbClr val="111827"/>
                    </a:solidFill>
                    <a:latin typeface="Arial"/>
                  </a:rPr>
                  <a:t>, i.e. </a:t>
                </a:r>
                <a:r>
                  <a:rPr lang="en-IN" sz="2400">
                    <a:solidFill>
                      <a:srgbClr val="111827"/>
                    </a:solidFill>
                    <a:latin typeface="Cambria Math" panose="02040503050406030204" pitchFamily="18" charset="0"/>
                  </a:rPr>
                  <a:t>$x(ey+\ln y+1)=1$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𝑥</m:t>
                    </m:r>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𝑒</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ln</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e>
                    </m: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$x\left(ey+\ln y+1\right)=1$</a:t>
                </a:r>
                <a:endParaRPr sz="2800">
                  <a:solidFill>
                    <a:srgbClr val="15803D"/>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Rearrange to </a:t>
                </a:r>
                <a14:m>
                  <m:oMath xmlns:m="http://schemas.openxmlformats.org/officeDocument/2006/math">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𝑣</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𝑣</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and divide by </a:t>
                </a:r>
                <a14:m>
                  <m:oMath xmlns:m="http://schemas.openxmlformats.org/officeDocument/2006/math">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to get an exact differential </a:t>
                </a:r>
                <a14:m>
                  <m:oMath xmlns:m="http://schemas.openxmlformats.org/officeDocument/2006/math">
                    <m:r>
                      <a:rPr lang="en-IN" sz="2400" i="1">
                        <a:solidFill>
                          <a:srgbClr val="78350F"/>
                        </a:solidFill>
                        <a:latin typeface="Cambria Math" panose="02040503050406030204" pitchFamily="18" charset="0"/>
                      </a:rPr>
                      <m:t>𝑑</m:t>
                    </m:r>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𝑣</m:t>
                            </m:r>
                          </m:num>
                          <m:den>
                            <m:r>
                              <a:rPr lang="en-IN" sz="2400" i="1">
                                <a:solidFill>
                                  <a:srgbClr val="78350F"/>
                                </a:solidFill>
                                <a:latin typeface="Cambria Math" panose="02040503050406030204" pitchFamily="18" charset="0"/>
                              </a:rPr>
                              <m:t>𝑦</m:t>
                            </m:r>
                          </m:den>
                        </m:f>
                      </m:e>
                    </m: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Rearrange to </a:t>
                </a:r>
                <a:r>
                  <a:rPr lang="en-IN" sz="2400">
                    <a:solidFill>
                      <a:srgbClr val="78350F"/>
                    </a:solidFill>
                    <a:latin typeface="Cambria Math" panose="02040503050406030204" pitchFamily="18" charset="0"/>
                  </a:rPr>
                  <a:t>$y\,dv-v\,dy=-\ln y\,dy$</a:t>
                </a:r>
                <a:r>
                  <a:rPr sz="2400" b="0">
                    <a:solidFill>
                      <a:srgbClr val="78350F"/>
                    </a:solidFill>
                    <a:latin typeface="Arial"/>
                  </a:rPr>
                  <a:t> (with </a:t>
                </a:r>
                <a:r>
                  <a:rPr lang="en-IN" sz="2400">
                    <a:solidFill>
                      <a:srgbClr val="78350F"/>
                    </a:solidFill>
                    <a:latin typeface="Cambria Math" panose="02040503050406030204" pitchFamily="18" charset="0"/>
                  </a:rPr>
                  <a:t>$v=\frac1x$</a:t>
                </a:r>
                <a:r>
                  <a:rPr sz="2400" b="0">
                    <a:solidFill>
                      <a:srgbClr val="78350F"/>
                    </a:solidFill>
                    <a:latin typeface="Arial"/>
                  </a:rPr>
                  <a:t>) and divide by </a:t>
                </a:r>
                <a:r>
                  <a:rPr lang="en-IN" sz="2400">
                    <a:solidFill>
                      <a:srgbClr val="78350F"/>
                    </a:solidFill>
                    <a:latin typeface="Cambria Math" panose="02040503050406030204" pitchFamily="18" charset="0"/>
                  </a:rPr>
                  <a:t>$y^2$</a:t>
                </a:r>
                <a:r>
                  <a:rPr sz="2400" b="0">
                    <a:solidFill>
                      <a:srgbClr val="78350F"/>
                    </a:solidFill>
                    <a:latin typeface="Arial"/>
                  </a:rPr>
                  <a:t> to get an exact differential </a:t>
                </a:r>
                <a:r>
                  <a:rPr lang="en-IN" sz="2400">
                    <a:solidFill>
                      <a:srgbClr val="78350F"/>
                    </a:solidFill>
                    <a:latin typeface="Cambria Math" panose="02040503050406030204" pitchFamily="18" charset="0"/>
                  </a:rPr>
                  <a:t>$d\left(\frac vy\right)$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$x(1-x\ln y)\,dy+y\,dx=0$</a:t>
                </a:r>
                <a:r>
                  <a:rPr sz="2400" b="0">
                    <a:solidFill>
                      <a:srgbClr val="111827"/>
                    </a:solidFill>
                    <a:latin typeface="Arial"/>
                  </a:rPr>
                  <a:t>, i.e. </a:t>
                </a:r>
                <a:r>
                  <a:rPr lang="en-IN" sz="2400">
                    <a:solidFill>
                      <a:srgbClr val="111827"/>
                    </a:solidFill>
                    <a:latin typeface="Cambria Math" panose="02040503050406030204" pitchFamily="18" charset="0"/>
                  </a:rPr>
                  <a:t>$y\,dx+x\,dy=x^2\ln y\,dy$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$\frac{y\,dx}{x^2}+\frac{dy}{x}=\ln y\,dy$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$v=\frac1x$</a:t>
                </a:r>
                <a:r>
                  <a:rPr sz="2400" b="0">
                    <a:solidFill>
                      <a:srgbClr val="111827"/>
                    </a:solidFill>
                    <a:latin typeface="Arial"/>
                  </a:rPr>
                  <a:t>, </a:t>
                </a:r>
                <a:r>
                  <a:rPr lang="en-IN" sz="2400">
                    <a:solidFill>
                      <a:srgbClr val="111827"/>
                    </a:solidFill>
                    <a:latin typeface="Cambria Math" panose="02040503050406030204" pitchFamily="18" charset="0"/>
                  </a:rPr>
                  <a:t>$dv=-\frac{dx}{x^2}$</a:t>
                </a:r>
                <a:r>
                  <a:rPr sz="2400" b="0">
                    <a:solidFill>
                      <a:srgbClr val="111827"/>
                    </a:solidFill>
                    <a:latin typeface="Arial"/>
                  </a:rPr>
                  <a:t>: </a:t>
                </a:r>
                <a:r>
                  <a:rPr lang="en-IN" sz="2400">
                    <a:solidFill>
                      <a:srgbClr val="111827"/>
                    </a:solidFill>
                    <a:latin typeface="Cambria Math" panose="02040503050406030204" pitchFamily="18" charset="0"/>
                  </a:rPr>
                  <a:t>$-y\,dv+v\,dy=\ln y\,dy$</a:t>
                </a:r>
                <a:r>
                  <a:rPr sz="2400" b="0">
                    <a:solidFill>
                      <a:srgbClr val="111827"/>
                    </a:solidFill>
                    <a:latin typeface="Arial"/>
                  </a:rPr>
                  <a:t>, i.e. </a:t>
                </a:r>
                <a:r>
                  <a:rPr lang="en-IN" sz="2400">
                    <a:solidFill>
                      <a:srgbClr val="111827"/>
                    </a:solidFill>
                    <a:latin typeface="Cambria Math" panose="02040503050406030204" pitchFamily="18" charset="0"/>
                  </a:rPr>
                  <a:t>$y\,dv-v\,dy=-\ln y\,dy$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𝑦</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(check: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e>
                    </m: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$y^2$</a:t>
                </a:r>
                <a:r>
                  <a:rPr sz="2400" b="0">
                    <a:solidFill>
                      <a:srgbClr val="111827"/>
                    </a:solidFill>
                    <a:latin typeface="Arial"/>
                  </a:rPr>
                  <a:t>: </a:t>
                </a:r>
                <a:r>
                  <a:rPr lang="en-IN" sz="2400">
                    <a:solidFill>
                      <a:srgbClr val="111827"/>
                    </a:solidFill>
                    <a:latin typeface="Cambria Math" panose="02040503050406030204" pitchFamily="18" charset="0"/>
                  </a:rPr>
                  <a:t>$\frac{y\,dv-v\,dy}{y^2}=d\left(\frac vy\right)=-\frac{\ln y}{y^2}dy$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$\int\frac{-\ln y}{y^2}dy=\frac{\ln y+1}{y}+c$</a:t>
                </a:r>
                <a:r>
                  <a:rPr sz="2400" b="0">
                    <a:solidFill>
                      <a:srgbClr val="111827"/>
                    </a:solidFill>
                    <a:latin typeface="Arial"/>
                  </a:rPr>
                  <a:t> (check: </a:t>
                </a:r>
                <a:r>
                  <a:rPr lang="en-IN" sz="2400">
                    <a:solidFill>
                      <a:srgbClr val="111827"/>
                    </a:solidFill>
                    <a:latin typeface="Cambria Math" panose="02040503050406030204" pitchFamily="18" charset="0"/>
                  </a:rPr>
                  <a:t>$\frac{d}{dy}\frac{\ln y+1}{y}=\frac{1-\ln y-1}{y^2}$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 vy=\frac{\ln y+1}{y}+c$</a:t>
                </a:r>
                <a:r>
                  <a:rPr sz="2400" b="0">
                    <a:solidFill>
                      <a:srgbClr val="111827"/>
                    </a:solidFill>
                    <a:latin typeface="Arial"/>
                  </a:rPr>
                  <a:t>, i.e. </a:t>
                </a:r>
                <a:r>
                  <a:rPr lang="en-IN" sz="2400">
                    <a:solidFill>
                      <a:srgbClr val="111827"/>
                    </a:solidFill>
                    <a:latin typeface="Cambria Math" panose="02040503050406030204" pitchFamily="18" charset="0"/>
                  </a:rPr>
                  <a:t>$\frac1x=\ln y+1+cy$</a:t>
                </a:r>
                <a:r>
                  <a:rPr sz="2400" b="0">
                    <a:solidFill>
                      <a:srgbClr val="111827"/>
                    </a:solidFill>
                    <a:latin typeface="Arial"/>
                  </a:rPr>
                  <a:t>; </a:t>
                </a:r>
                <a:r>
                  <a:rPr lang="en-IN" sz="2400">
                    <a:solidFill>
                      <a:srgbClr val="111827"/>
                    </a:solidFill>
                    <a:latin typeface="Cambria Math" panose="02040503050406030204" pitchFamily="18" charset="0"/>
                  </a:rPr>
                  <a:t>$\left(1,\frac1e\right)$</a:t>
                </a:r>
                <a:r>
                  <a:rPr sz="2400" b="0">
                    <a:solidFill>
                      <a:srgbClr val="111827"/>
                    </a:solidFill>
                    <a:latin typeface="Arial"/>
                  </a:rPr>
                  <a:t> gives </a:t>
                </a:r>
                <a:r>
                  <a:rPr lang="en-IN" sz="2400">
                    <a:solidFill>
                      <a:srgbClr val="111827"/>
                    </a:solidFill>
                    <a:latin typeface="Cambria Math" panose="02040503050406030204" pitchFamily="18" charset="0"/>
                  </a:rPr>
                  <a:t>$c=e$</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𝑥</m:t>
                    </m:r>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𝑒</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ln</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e>
                    </m:d>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$x\left(ey+\ln y+1\right)=1$</a:t>
                </a:r>
                <a:endParaRPr sz="2800">
                  <a:solidFill>
                    <a:srgbClr val="15803D"/>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appears multiplied by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or by a product of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 function of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try swapping roles: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 Bernoulli equation, solved by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Bernoulli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up>
                    </m:sSup>
                  </m:oMath>
                </a14:m>
                <a:r>
                  <a:rPr sz="2400" b="0">
                    <a:solidFill>
                      <a:srgbClr val="111827"/>
                    </a:solidFill>
                    <a:latin typeface="Arial"/>
                  </a:rPr>
                  <a:t> to make it linear.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𝑦</m:t>
                            </m:r>
                          </m:den>
                        </m:f>
                      </m:e>
                    </m:d>
                  </m:oMath>
                </a14:m>
                <a:r>
                  <a:rPr sz="2400" b="0">
                    <a:solidFill>
                      <a:srgbClr val="111827"/>
                    </a:solidFill>
                    <a:latin typeface="Arial"/>
                  </a:rPr>
                  <a:t> - the quotient differential is the fastest route when </a:t>
                </a:r>
                <a14:m>
                  <m:oMath xmlns:m="http://schemas.openxmlformats.org/officeDocument/2006/math">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oMath>
                </a14:m>
                <a:r>
                  <a:rPr sz="2400" b="0">
                    <a:solidFill>
                      <a:srgbClr val="111827"/>
                    </a:solidFill>
                    <a:latin typeface="Arial"/>
                  </a:rPr>
                  <a:t> appear with opposite signs.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$\frac{dy}{dx}$</a:t>
                </a:r>
                <a:r>
                  <a:rPr sz="2400" b="0">
                    <a:solidFill>
                      <a:srgbClr val="111827"/>
                    </a:solidFill>
                    <a:latin typeface="Arial"/>
                  </a:rPr>
                  <a:t> appears multiplied by </a:t>
                </a:r>
                <a:r>
                  <a:rPr lang="en-IN" sz="2400">
                    <a:solidFill>
                      <a:srgbClr val="111827"/>
                    </a:solidFill>
                    <a:latin typeface="Cambria Math" panose="02040503050406030204" pitchFamily="18" charset="0"/>
                  </a:rPr>
                  <a:t>$x^2$</a:t>
                </a:r>
                <a:r>
                  <a:rPr sz="2400" b="0">
                    <a:solidFill>
                      <a:srgbClr val="111827"/>
                    </a:solidFill>
                    <a:latin typeface="Arial"/>
                  </a:rPr>
                  <a:t> or by a product of </a:t>
                </a:r>
                <a:r>
                  <a:rPr lang="en-IN" sz="2400">
                    <a:solidFill>
                      <a:srgbClr val="111827"/>
                    </a:solidFill>
                    <a:latin typeface="Cambria Math" panose="02040503050406030204" pitchFamily="18" charset="0"/>
                  </a:rPr>
                  <a:t>$x$</a:t>
                </a:r>
                <a:r>
                  <a:rPr sz="2400" b="0">
                    <a:solidFill>
                      <a:srgbClr val="111827"/>
                    </a:solidFill>
                    <a:latin typeface="Arial"/>
                  </a:rPr>
                  <a:t> and a function of </a:t>
                </a:r>
                <a:r>
                  <a:rPr lang="en-IN" sz="2400">
                    <a:solidFill>
                      <a:srgbClr val="111827"/>
                    </a:solidFill>
                    <a:latin typeface="Cambria Math" panose="02040503050406030204" pitchFamily="18" charset="0"/>
                  </a:rPr>
                  <a:t>$y$</a:t>
                </a:r>
                <a:r>
                  <a:rPr sz="2400" b="0">
                    <a:solidFill>
                      <a:srgbClr val="111827"/>
                    </a:solidFill>
                    <a:latin typeface="Arial"/>
                  </a:rPr>
                  <a:t>, try swapping roles: </a:t>
                </a:r>
                <a:r>
                  <a:rPr lang="en-IN" sz="2400">
                    <a:solidFill>
                      <a:srgbClr val="111827"/>
                    </a:solidFill>
                    <a:latin typeface="Cambria Math" panose="02040503050406030204" pitchFamily="18" charset="0"/>
                  </a:rPr>
                  <a:t>$\frac{dx}{dy}=Px+Qx^2$</a:t>
                </a:r>
                <a:r>
                  <a:rPr sz="2400" b="0">
                    <a:solidFill>
                      <a:srgbClr val="111827"/>
                    </a:solidFill>
                    <a:latin typeface="Arial"/>
                  </a:rPr>
                  <a:t> is a Bernoulli equation, solved by </a:t>
                </a:r>
                <a:r>
                  <a:rPr lang="en-IN" sz="2400">
                    <a:solidFill>
                      <a:srgbClr val="111827"/>
                    </a:solidFill>
                    <a:latin typeface="Cambria Math" panose="02040503050406030204" pitchFamily="18" charset="0"/>
                  </a:rPr>
                  <a:t>$v=\frac1x$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Bernoulli </a:t>
                </a:r>
                <a:r>
                  <a:rPr lang="en-IN" sz="2400">
                    <a:solidFill>
                      <a:srgbClr val="111827"/>
                    </a:solidFill>
                    <a:latin typeface="Cambria Math" panose="02040503050406030204" pitchFamily="18" charset="0"/>
                  </a:rPr>
                  <a:t>$\frac{dx}{dy}+Px=Qx^n$</a:t>
                </a:r>
                <a:r>
                  <a:rPr sz="2400" b="0">
                    <a:solidFill>
                      <a:srgbClr val="111827"/>
                    </a:solidFill>
                    <a:latin typeface="Arial"/>
                  </a:rPr>
                  <a:t>: put </a:t>
                </a:r>
                <a:r>
                  <a:rPr lang="en-IN" sz="2400">
                    <a:solidFill>
                      <a:srgbClr val="111827"/>
                    </a:solidFill>
                    <a:latin typeface="Cambria Math" panose="02040503050406030204" pitchFamily="18" charset="0"/>
                  </a:rPr>
                  <a:t>$v=x^{1-n}$</a:t>
                </a:r>
                <a:r>
                  <a:rPr sz="2400" b="0">
                    <a:solidFill>
                      <a:srgbClr val="111827"/>
                    </a:solidFill>
                    <a:latin typeface="Arial"/>
                  </a:rPr>
                  <a:t> to make it linear.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$y\,dv-v\,dy=y^2\,d\left(\frac vy\right)$</a:t>
                </a:r>
                <a:r>
                  <a:rPr sz="2400" b="0">
                    <a:solidFill>
                      <a:srgbClr val="111827"/>
                    </a:solidFill>
                    <a:latin typeface="Arial"/>
                  </a:rPr>
                  <a:t> - the quotient differential is the fastest route when </a:t>
                </a:r>
                <a:r>
                  <a:rPr lang="en-IN" sz="2400">
                    <a:solidFill>
                      <a:srgbClr val="111827"/>
                    </a:solidFill>
                    <a:latin typeface="Cambria Math" panose="02040503050406030204" pitchFamily="18" charset="0"/>
                  </a:rPr>
                  <a:t>$v\,dy$</a:t>
                </a:r>
                <a:r>
                  <a:rPr sz="2400" b="0">
                    <a:solidFill>
                      <a:srgbClr val="111827"/>
                    </a:solidFill>
                    <a:latin typeface="Arial"/>
                  </a:rPr>
                  <a:t> and </a:t>
                </a:r>
                <a:r>
                  <a:rPr lang="en-IN" sz="2400">
                    <a:solidFill>
                      <a:srgbClr val="111827"/>
                    </a:solidFill>
                    <a:latin typeface="Cambria Math" panose="02040503050406030204" pitchFamily="18" charset="0"/>
                  </a:rPr>
                  <a:t>$y\,dv$</a:t>
                </a:r>
                <a:r>
                  <a:rPr sz="2400" b="0">
                    <a:solidFill>
                      <a:srgbClr val="111827"/>
                    </a:solidFill>
                    <a:latin typeface="Arial"/>
                  </a:rPr>
                  <a:t> appear with opposite signs.</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all the curves possessing the following property: the segment of the tangent between the point of tangency and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is bisected at the point of intersection with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all the curves possessing the following property: the segment of the tangent between the point of tangency and the </a:t>
                </a:r>
                <a:r>
                  <a:rPr lang="en-IN" sz="2400">
                    <a:solidFill>
                      <a:srgbClr val="111827"/>
                    </a:solidFill>
                    <a:latin typeface="Cambria Math" panose="02040503050406030204" pitchFamily="18" charset="0"/>
                  </a:rPr>
                  <a:t>$x$</a:t>
                </a:r>
                <a:r>
                  <a:rPr sz="2400" b="0">
                    <a:solidFill>
                      <a:srgbClr val="111827"/>
                    </a:solidFill>
                    <a:latin typeface="Arial"/>
                  </a:rPr>
                  <a:t>-axis is bisected at the point of intersection with the </a:t>
                </a:r>
                <a:r>
                  <a:rPr lang="en-IN" sz="2400">
                    <a:solidFill>
                      <a:srgbClr val="111827"/>
                    </a:solidFill>
                    <a:latin typeface="Cambria Math" panose="02040503050406030204" pitchFamily="18" charset="0"/>
                  </a:rPr>
                  <a:t>$y$</a:t>
                </a:r>
                <a:r>
                  <a:rPr sz="2400" b="0">
                    <a:solidFill>
                      <a:srgbClr val="111827"/>
                    </a:solidFill>
                    <a:latin typeface="Arial"/>
                  </a:rPr>
                  <a:t>-axis.</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Formation of differential equations from geometric conditions, Tangent to a curve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-axis bisecting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𝑄</m:t>
                    </m:r>
                  </m:oMath>
                </a14:m>
                <a:r>
                  <a:rPr sz="2400" b="0">
                    <a:solidFill>
                      <a:srgbClr val="78350F"/>
                    </a:solidFill>
                    <a:latin typeface="Arial"/>
                  </a:rPr>
                  <a:t> means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-coordinates of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are negatives of each other, so </a:t>
                </a:r>
                <a14:m>
                  <m:oMath xmlns:m="http://schemas.openxmlformats.org/officeDocument/2006/math">
                    <m:r>
                      <a:rPr lang="en-IN" sz="2400" i="1">
                        <a:solidFill>
                          <a:srgbClr val="78350F"/>
                        </a:solidFill>
                        <a:latin typeface="Cambria Math" panose="02040503050406030204" pitchFamily="18" charset="0"/>
                      </a:rPr>
                      <m:t>𝑄</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$y$</a:t>
                </a:r>
                <a:r>
                  <a:rPr sz="2400" b="0">
                    <a:solidFill>
                      <a:srgbClr val="78350F"/>
                    </a:solidFill>
                    <a:latin typeface="Arial"/>
                  </a:rPr>
                  <a:t>-axis bisecting </a:t>
                </a:r>
                <a:r>
                  <a:rPr lang="en-IN" sz="2400">
                    <a:solidFill>
                      <a:srgbClr val="78350F"/>
                    </a:solidFill>
                    <a:latin typeface="Cambria Math" panose="02040503050406030204" pitchFamily="18" charset="0"/>
                  </a:rPr>
                  <a:t>$PQ$</a:t>
                </a:r>
                <a:r>
                  <a:rPr sz="2400" b="0">
                    <a:solidFill>
                      <a:srgbClr val="78350F"/>
                    </a:solidFill>
                    <a:latin typeface="Arial"/>
                  </a:rPr>
                  <a:t> means the </a:t>
                </a:r>
                <a:r>
                  <a:rPr lang="en-IN" sz="2400">
                    <a:solidFill>
                      <a:srgbClr val="78350F"/>
                    </a:solidFill>
                    <a:latin typeface="Cambria Math" panose="02040503050406030204" pitchFamily="18" charset="0"/>
                  </a:rPr>
                  <a:t>$x$</a:t>
                </a:r>
                <a:r>
                  <a:rPr sz="2400" b="0">
                    <a:solidFill>
                      <a:srgbClr val="78350F"/>
                    </a:solidFill>
                    <a:latin typeface="Arial"/>
                  </a:rPr>
                  <a:t>-coordinates of </a:t>
                </a:r>
                <a:r>
                  <a:rPr lang="en-IN" sz="2400">
                    <a:solidFill>
                      <a:srgbClr val="78350F"/>
                    </a:solidFill>
                    <a:latin typeface="Cambria Math" panose="02040503050406030204" pitchFamily="18" charset="0"/>
                  </a:rPr>
                  <a:t>$P$</a:t>
                </a:r>
                <a:r>
                  <a:rPr sz="2400" b="0">
                    <a:solidFill>
                      <a:srgbClr val="78350F"/>
                    </a:solidFill>
                    <a:latin typeface="Arial"/>
                  </a:rPr>
                  <a:t> and </a:t>
                </a:r>
                <a:r>
                  <a:rPr lang="en-IN" sz="2400">
                    <a:solidFill>
                      <a:srgbClr val="78350F"/>
                    </a:solidFill>
                    <a:latin typeface="Cambria Math" panose="02040503050406030204" pitchFamily="18" charset="0"/>
                  </a:rPr>
                  <a:t>$Q$</a:t>
                </a:r>
                <a:r>
                  <a:rPr sz="2400" b="0">
                    <a:solidFill>
                      <a:srgbClr val="78350F"/>
                    </a:solidFill>
                    <a:latin typeface="Arial"/>
                  </a:rPr>
                  <a:t> are negatives of each other, so </a:t>
                </a:r>
                <a:r>
                  <a:rPr lang="en-IN" sz="2400">
                    <a:solidFill>
                      <a:srgbClr val="78350F"/>
                    </a:solidFill>
                    <a:latin typeface="Cambria Math" panose="02040503050406030204" pitchFamily="18" charset="0"/>
                  </a:rPr>
                  <a:t>$Q=(-x,0)$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is bisected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so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-coordinate of the midpoint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at </a:t>
                </a:r>
                <a:r>
                  <a:rPr lang="en-IN" sz="2400">
                    <a:solidFill>
                      <a:srgbClr val="111827"/>
                    </a:solidFill>
                    <a:latin typeface="Cambria Math" panose="02040503050406030204" pitchFamily="18" charset="0"/>
                  </a:rPr>
                  <a:t>$P(x,y)$</a:t>
                </a:r>
                <a:r>
                  <a:rPr sz="2400" b="0">
                    <a:solidFill>
                      <a:srgbClr val="111827"/>
                    </a:solidFill>
                    <a:latin typeface="Arial"/>
                  </a:rPr>
                  <a:t> is </a:t>
                </a:r>
                <a:r>
                  <a:rPr lang="en-IN" sz="2400">
                    <a:solidFill>
                      <a:srgbClr val="111827"/>
                    </a:solidFill>
                    <a:latin typeface="Cambria Math" panose="02040503050406030204" pitchFamily="18" charset="0"/>
                  </a:rPr>
                  <a:t>$Y-y=\frac{dy}{dx}(X-x)$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meets the </a:t>
                </a:r>
                <a:r>
                  <a:rPr lang="en-IN" sz="2400">
                    <a:solidFill>
                      <a:srgbClr val="111827"/>
                    </a:solidFill>
                    <a:latin typeface="Cambria Math" panose="02040503050406030204" pitchFamily="18" charset="0"/>
                  </a:rPr>
                  <a:t>$x$</a:t>
                </a:r>
                <a:r>
                  <a:rPr sz="2400" b="0">
                    <a:solidFill>
                      <a:srgbClr val="111827"/>
                    </a:solidFill>
                    <a:latin typeface="Arial"/>
                  </a:rPr>
                  <a:t>-axis (</a:t>
                </a:r>
                <a:r>
                  <a:rPr lang="en-IN" sz="2400">
                    <a:solidFill>
                      <a:srgbClr val="111827"/>
                    </a:solidFill>
                    <a:latin typeface="Cambria Math" panose="02040503050406030204" pitchFamily="18" charset="0"/>
                  </a:rPr>
                  <a:t>$Y=0$</a:t>
                </a:r>
                <a:r>
                  <a:rPr sz="2400" b="0">
                    <a:solidFill>
                      <a:srgbClr val="111827"/>
                    </a:solidFill>
                    <a:latin typeface="Arial"/>
                  </a:rPr>
                  <a:t>) at </a:t>
                </a: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$-y=\frac{dy}{dx}(X-x)$</a:t>
                </a:r>
                <a:r>
                  <a:rPr sz="2400" b="0">
                    <a:solidFill>
                      <a:srgbClr val="111827"/>
                    </a:solidFill>
                    <a:latin typeface="Arial"/>
                  </a:rPr>
                  <a:t>, so </a:t>
                </a:r>
                <a:r>
                  <a:rPr lang="en-IN" sz="2400">
                    <a:solidFill>
                      <a:srgbClr val="111827"/>
                    </a:solidFill>
                    <a:latin typeface="Cambria Math" panose="02040503050406030204" pitchFamily="18" charset="0"/>
                  </a:rPr>
                  <a:t>$X=x-y\frac{dx}{dy}$</a:t>
                </a:r>
                <a:r>
                  <a:rPr sz="2400" b="0">
                    <a:solidFill>
                      <a:srgbClr val="111827"/>
                    </a:solidFill>
                    <a:latin typeface="Arial"/>
                  </a:rPr>
                  <a:t> and </a:t>
                </a:r>
                <a:r>
                  <a:rPr lang="en-IN" sz="2400">
                    <a:solidFill>
                      <a:srgbClr val="111827"/>
                    </a:solidFill>
                    <a:latin typeface="Cambria Math" panose="02040503050406030204" pitchFamily="18" charset="0"/>
                  </a:rPr>
                  <a:t>$Q=\left(x-y\frac{dx}{dy},\,0\right)$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$PQ$</a:t>
                </a:r>
                <a:r>
                  <a:rPr sz="2400" b="0">
                    <a:solidFill>
                      <a:srgbClr val="111827"/>
                    </a:solidFill>
                    <a:latin typeface="Arial"/>
                  </a:rPr>
                  <a:t> is bisected at </a:t>
                </a:r>
                <a:r>
                  <a:rPr lang="en-IN" sz="2400">
                    <a:solidFill>
                      <a:srgbClr val="111827"/>
                    </a:solidFill>
                    <a:latin typeface="Cambria Math" panose="02040503050406030204" pitchFamily="18" charset="0"/>
                  </a:rPr>
                  <a:t>$R(0,\,y/2)$</a:t>
                </a:r>
                <a:r>
                  <a:rPr sz="2400" b="0">
                    <a:solidFill>
                      <a:srgbClr val="111827"/>
                    </a:solidFill>
                    <a:latin typeface="Arial"/>
                  </a:rPr>
                  <a:t> on the </a:t>
                </a:r>
                <a:r>
                  <a:rPr lang="en-IN" sz="2400">
                    <a:solidFill>
                      <a:srgbClr val="111827"/>
                    </a:solidFill>
                    <a:latin typeface="Cambria Math" panose="02040503050406030204" pitchFamily="18" charset="0"/>
                  </a:rPr>
                  <a:t>$y$</a:t>
                </a:r>
                <a:r>
                  <a:rPr sz="2400" b="0">
                    <a:solidFill>
                      <a:srgbClr val="111827"/>
                    </a:solidFill>
                    <a:latin typeface="Arial"/>
                  </a:rPr>
                  <a:t>-axis, so the </a:t>
                </a:r>
                <a:r>
                  <a:rPr lang="en-IN" sz="2400">
                    <a:solidFill>
                      <a:srgbClr val="111827"/>
                    </a:solidFill>
                    <a:latin typeface="Cambria Math" panose="02040503050406030204" pitchFamily="18" charset="0"/>
                  </a:rPr>
                  <a:t>$x$</a:t>
                </a:r>
                <a:r>
                  <a:rPr sz="2400" b="0">
                    <a:solidFill>
                      <a:srgbClr val="111827"/>
                    </a:solidFill>
                    <a:latin typeface="Arial"/>
                  </a:rPr>
                  <a:t>-coordinate of the midpoint is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$\frac{x+x-y\frac{dx}{dy}}{2}=0$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$2x=y\frac{dx}{dy}$</a:t>
                </a:r>
                <a:r>
                  <a:rPr sz="2400" b="0">
                    <a:solidFill>
                      <a:srgbClr val="111827"/>
                    </a:solidFill>
                    <a:latin typeface="Arial"/>
                  </a:rPr>
                  <a:t>, i.e. </a:t>
                </a:r>
                <a:r>
                  <a:rPr lang="en-IN" sz="2400">
                    <a:solidFill>
                      <a:srgbClr val="111827"/>
                    </a:solidFill>
                    <a:latin typeface="Cambria Math" panose="02040503050406030204" pitchFamily="18" charset="0"/>
                  </a:rPr>
                  <a:t>$\frac{dy}{y}=\frac{dx}{2x}$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$\ln y=\frac12\ln x+\ln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$y^2=cx$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a:rPr lang="en-IN" sz="2800" i="1">
                        <a:solidFill>
                          <a:srgbClr val="15803D"/>
                        </a:solidFill>
                        <a:latin typeface="Cambria Math" panose="02040503050406030204" pitchFamily="18" charset="0"/>
                      </a:rPr>
                      <m:t>𝑥</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$y^2=cx$</a:t>
                </a:r>
                <a:endParaRPr sz="2800">
                  <a:solidFill>
                    <a:srgbClr val="15803D"/>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Midpoint conditions on the intercepts of a tangent reduce to linear relations between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family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 has constant ratio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it has the parabola property that the subtangent equals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(the tangent cuts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Subtangent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so 'tangent meets the axis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Midpoint conditions on the intercepts of a tangent reduce to linear relations between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$\frac{dy}{dx}$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family </a:t>
                </a:r>
                <a:r>
                  <a:rPr lang="en-IN" sz="2400">
                    <a:solidFill>
                      <a:srgbClr val="111827"/>
                    </a:solidFill>
                    <a:latin typeface="Cambria Math" panose="02040503050406030204" pitchFamily="18" charset="0"/>
                  </a:rPr>
                  <a:t>$y^2=cx$</a:t>
                </a:r>
                <a:r>
                  <a:rPr sz="2400" b="0">
                    <a:solidFill>
                      <a:srgbClr val="111827"/>
                    </a:solidFill>
                    <a:latin typeface="Arial"/>
                  </a:rPr>
                  <a:t> has constant ratio </a:t>
                </a:r>
                <a:r>
                  <a:rPr lang="en-IN" sz="2400">
                    <a:solidFill>
                      <a:srgbClr val="111827"/>
                    </a:solidFill>
                    <a:latin typeface="Cambria Math" panose="02040503050406030204" pitchFamily="18" charset="0"/>
                  </a:rPr>
                  <a:t>$\frac{y^2}{x}$</a:t>
                </a:r>
                <a:r>
                  <a:rPr sz="2400" b="0">
                    <a:solidFill>
                      <a:srgbClr val="111827"/>
                    </a:solidFill>
                    <a:latin typeface="Arial"/>
                  </a:rPr>
                  <a:t>; it has the parabola property that the subtangent equals </a:t>
                </a:r>
                <a:r>
                  <a:rPr lang="en-IN" sz="2400">
                    <a:solidFill>
                      <a:srgbClr val="111827"/>
                    </a:solidFill>
                    <a:latin typeface="Cambria Math" panose="02040503050406030204" pitchFamily="18" charset="0"/>
                  </a:rPr>
                  <a:t>$2x$</a:t>
                </a:r>
                <a:r>
                  <a:rPr sz="2400" b="0">
                    <a:solidFill>
                      <a:srgbClr val="111827"/>
                    </a:solidFill>
                    <a:latin typeface="Arial"/>
                  </a:rPr>
                  <a:t> (the tangent cuts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Subtangent </a:t>
                </a:r>
                <a:r>
                  <a:rPr lang="en-IN" sz="2400">
                    <a:solidFill>
                      <a:srgbClr val="111827"/>
                    </a:solidFill>
                    <a:latin typeface="Cambria Math" panose="02040503050406030204" pitchFamily="18" charset="0"/>
                  </a:rPr>
                  <a:t>$=\frac{y}{y'}$</a:t>
                </a:r>
                <a:r>
                  <a:rPr sz="2400" b="0">
                    <a:solidFill>
                      <a:srgbClr val="111827"/>
                    </a:solidFill>
                    <a:latin typeface="Arial"/>
                  </a:rPr>
                  <a:t>, so 'tangent meets the axis at </a:t>
                </a:r>
                <a:r>
                  <a:rPr lang="en-IN" sz="2400">
                    <a:solidFill>
                      <a:srgbClr val="111827"/>
                    </a:solidFill>
                    <a:latin typeface="Cambria Math" panose="02040503050406030204" pitchFamily="18" charset="0"/>
                  </a:rPr>
                  <a:t>$-x$</a:t>
                </a:r>
                <a:r>
                  <a:rPr sz="2400" b="0">
                    <a:solidFill>
                      <a:srgbClr val="111827"/>
                    </a:solidFill>
                    <a:latin typeface="Arial"/>
                  </a:rPr>
                  <a:t>' means </a:t>
                </a:r>
                <a:r>
                  <a:rPr lang="en-IN" sz="2400">
                    <a:solidFill>
                      <a:srgbClr val="111827"/>
                    </a:solidFill>
                    <a:latin typeface="Cambria Math" panose="02040503050406030204" pitchFamily="18" charset="0"/>
                  </a:rPr>
                  <a:t>$\frac{y}{y'}=2x$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curve passing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such that the ratio of the square of the intercept cut by any tangent off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to the subnormal is equal to the ratio of the product of the co-ordinates of the point of tangency to the product of the square of the slope of the tangent and the subtangent at the same point. Determine all such possible curves.</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curve passing through </a:t>
                </a:r>
                <a:r>
                  <a:rPr lang="en-IN" sz="2400">
                    <a:solidFill>
                      <a:srgbClr val="111827"/>
                    </a:solidFill>
                    <a:latin typeface="Cambria Math" panose="02040503050406030204" pitchFamily="18" charset="0"/>
                  </a:rPr>
                  <a:t>$(1,0)$</a:t>
                </a:r>
                <a:r>
                  <a:rPr sz="2400" b="0">
                    <a:solidFill>
                      <a:srgbClr val="111827"/>
                    </a:solidFill>
                    <a:latin typeface="Arial"/>
                  </a:rPr>
                  <a:t> is such that the ratio of the square of the intercept cut by any tangent off the </a:t>
                </a:r>
                <a:r>
                  <a:rPr lang="en-IN" sz="2400">
                    <a:solidFill>
                      <a:srgbClr val="111827"/>
                    </a:solidFill>
                    <a:latin typeface="Cambria Math" panose="02040503050406030204" pitchFamily="18" charset="0"/>
                  </a:rPr>
                  <a:t>$y$</a:t>
                </a:r>
                <a:r>
                  <a:rPr sz="2400" b="0">
                    <a:solidFill>
                      <a:srgbClr val="111827"/>
                    </a:solidFill>
                    <a:latin typeface="Arial"/>
                  </a:rPr>
                  <a:t>-axis to the subnormal is equal to the ratio of the product of the co-ordinates of the point of tangency to the product of the square of the slope of the tangent and the subtangent at the same point. Determine all such possible curves.</a:t>
                </a:r>
                <a:endParaRPr sz="2400">
                  <a:solidFill>
                    <a:srgbClr val="111827"/>
                  </a:solidFill>
                </a:endParaRPr>
              </a:p>
            </p:txBody>
          </p:sp>
        </mc:Fallback>
      </mc:AlternateContent>
      <p:sp>
        <p:nvSpPr>
          <p:cNvPr id="5" name="Rectangle 4"/>
          <p:cNvSpPr/>
          <p:nvPr/>
        </p:nvSpPr>
        <p:spPr>
          <a:xfrm>
            <a:off x="731520" y="4260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subtangent and subnormal, Homogeneous differential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slope </a:t>
                </a:r>
                <a14:m>
                  <m:oMath xmlns:m="http://schemas.openxmlformats.org/officeDocument/2006/math">
                    <m:r>
                      <a:rPr lang="en-IN" sz="2400" i="1">
                        <a:solidFill>
                          <a:srgbClr val="78350F"/>
                        </a:solidFill>
                        <a:latin typeface="Cambria Math" panose="02040503050406030204" pitchFamily="18" charset="0"/>
                      </a:rPr>
                      <m:t>𝑚</m:t>
                    </m:r>
                  </m:oMath>
                </a14:m>
                <a:r>
                  <a:rPr sz="2400" b="0">
                    <a:solidFill>
                      <a:srgbClr val="78350F"/>
                    </a:solidFill>
                    <a:latin typeface="Arial"/>
                  </a:rPr>
                  <a:t>: intercept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𝑚</m:t>
                    </m:r>
                  </m:oMath>
                </a14:m>
                <a:r>
                  <a:rPr sz="2400" b="0">
                    <a:solidFill>
                      <a:srgbClr val="78350F"/>
                    </a:solidFill>
                    <a:latin typeface="Arial"/>
                  </a:rPr>
                  <a:t>, subnormal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a:rPr lang="en-IN" sz="2400" i="1">
                        <a:solidFill>
                          <a:srgbClr val="78350F"/>
                        </a:solidFill>
                        <a:latin typeface="Cambria Math" panose="02040503050406030204" pitchFamily="18" charset="0"/>
                      </a:rPr>
                      <m:t>𝑦</m:t>
                    </m:r>
                  </m:oMath>
                </a14:m>
                <a:r>
                  <a:rPr sz="2400" b="0">
                    <a:solidFill>
                      <a:srgbClr val="78350F"/>
                    </a:solidFill>
                    <a:latin typeface="Arial"/>
                  </a:rPr>
                  <a:t>, subtangent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𝑚</m:t>
                        </m:r>
                      </m:den>
                    </m:f>
                  </m:oMath>
                </a14:m>
                <a:r>
                  <a:rPr sz="2400" b="0">
                    <a:solidFill>
                      <a:srgbClr val="78350F"/>
                    </a:solidFill>
                    <a:latin typeface="Arial"/>
                  </a:rPr>
                  <a:t>; the condition collapses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𝑚</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oMath>
                </a14:m>
                <a:r>
                  <a:rPr sz="2400" b="0">
                    <a:solidFill>
                      <a:srgbClr val="78350F"/>
                    </a:solidFill>
                    <a:latin typeface="Arial"/>
                  </a:rPr>
                  <a:t>, a homogeneous equation.</a:t>
                </a:r>
                <a:endParaRPr sz="2400">
                  <a:solidFill>
                    <a:srgbClr val="78350F"/>
                  </a:solidFill>
                </a:endParaRPr>
              </a:p>
            </p:txBody>
          </p:sp>
        </mc:Choice>
        <mc:Fallback>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slope </a:t>
                </a:r>
                <a:r>
                  <a:rPr lang="en-IN" sz="2400">
                    <a:solidFill>
                      <a:srgbClr val="78350F"/>
                    </a:solidFill>
                    <a:latin typeface="Cambria Math" panose="02040503050406030204" pitchFamily="18" charset="0"/>
                  </a:rPr>
                  <a:t>$m$</a:t>
                </a:r>
                <a:r>
                  <a:rPr sz="2400" b="0">
                    <a:solidFill>
                      <a:srgbClr val="78350F"/>
                    </a:solidFill>
                    <a:latin typeface="Arial"/>
                  </a:rPr>
                  <a:t>: intercept </a:t>
                </a:r>
                <a:r>
                  <a:rPr lang="en-IN" sz="2400">
                    <a:solidFill>
                      <a:srgbClr val="78350F"/>
                    </a:solidFill>
                    <a:latin typeface="Cambria Math" panose="02040503050406030204" pitchFamily="18" charset="0"/>
                  </a:rPr>
                  <a:t>$=y-xm$</a:t>
                </a:r>
                <a:r>
                  <a:rPr sz="2400" b="0">
                    <a:solidFill>
                      <a:srgbClr val="78350F"/>
                    </a:solidFill>
                    <a:latin typeface="Arial"/>
                  </a:rPr>
                  <a:t>, subnormal </a:t>
                </a:r>
                <a:r>
                  <a:rPr lang="en-IN" sz="2400">
                    <a:solidFill>
                      <a:srgbClr val="78350F"/>
                    </a:solidFill>
                    <a:latin typeface="Cambria Math" panose="02040503050406030204" pitchFamily="18" charset="0"/>
                  </a:rPr>
                  <a:t>$=my$</a:t>
                </a:r>
                <a:r>
                  <a:rPr sz="2400" b="0">
                    <a:solidFill>
                      <a:srgbClr val="78350F"/>
                    </a:solidFill>
                    <a:latin typeface="Arial"/>
                  </a:rPr>
                  <a:t>, subtangent </a:t>
                </a:r>
                <a:r>
                  <a:rPr lang="en-IN" sz="2400">
                    <a:solidFill>
                      <a:srgbClr val="78350F"/>
                    </a:solidFill>
                    <a:latin typeface="Cambria Math" panose="02040503050406030204" pitchFamily="18" charset="0"/>
                  </a:rPr>
                  <a:t>$=\frac ym$</a:t>
                </a:r>
                <a:r>
                  <a:rPr sz="2400" b="0">
                    <a:solidFill>
                      <a:srgbClr val="78350F"/>
                    </a:solidFill>
                    <a:latin typeface="Arial"/>
                  </a:rPr>
                  <a:t>; the condition collapses to </a:t>
                </a:r>
                <a:r>
                  <a:rPr lang="en-IN" sz="2400">
                    <a:solidFill>
                      <a:srgbClr val="78350F"/>
                    </a:solidFill>
                    <a:latin typeface="Cambria Math" panose="02040503050406030204" pitchFamily="18" charset="0"/>
                  </a:rPr>
                  <a:t>$(y-xm)^2=xy$</a:t>
                </a:r>
                <a:r>
                  <a:rPr sz="2400" b="0">
                    <a:solidFill>
                      <a:srgbClr val="78350F"/>
                    </a:solidFill>
                    <a:latin typeface="Arial"/>
                  </a:rPr>
                  <a:t>, a homogeneous equation.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-intercept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Subnormal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oMath>
                </a14:m>
                <a:r>
                  <a:rPr sz="2400" b="0">
                    <a:solidFill>
                      <a:srgbClr val="111827"/>
                    </a:solidFill>
                    <a:latin typeface="Arial"/>
                  </a:rPr>
                  <a:t> and subtangent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𝑚</m:t>
                            </m:r>
                          </m:den>
                        </m:f>
                      </m:den>
                    </m:f>
                  </m:oMath>
                </a14:m>
                <a:r>
                  <a:rPr sz="2400" b="0">
                    <a:solidFill>
                      <a:srgbClr val="111827"/>
                    </a:solidFill>
                    <a:latin typeface="Arial"/>
                  </a:rPr>
                  <a:t>; the right side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i.e.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Tangent at </a:t>
                </a:r>
                <a:r>
                  <a:rPr lang="en-IN" sz="2400">
                    <a:solidFill>
                      <a:srgbClr val="111827"/>
                    </a:solidFill>
                    <a:latin typeface="Cambria Math" panose="02040503050406030204" pitchFamily="18" charset="0"/>
                  </a:rPr>
                  <a:t>$P(x,y)$</a:t>
                </a:r>
                <a:r>
                  <a:rPr sz="2400" b="0">
                    <a:solidFill>
                      <a:srgbClr val="111827"/>
                    </a:solidFill>
                    <a:latin typeface="Arial"/>
                  </a:rPr>
                  <a:t>: </a:t>
                </a:r>
                <a:r>
                  <a:rPr lang="en-IN" sz="2400">
                    <a:solidFill>
                      <a:srgbClr val="111827"/>
                    </a:solidFill>
                    <a:latin typeface="Cambria Math" panose="02040503050406030204" pitchFamily="18" charset="0"/>
                  </a:rPr>
                  <a:t>$Y-y=\frac{dy}{dx}(X-x)$</a:t>
                </a:r>
                <a:r>
                  <a:rPr sz="2400" b="0">
                    <a:solidFill>
                      <a:srgbClr val="111827"/>
                    </a:solidFill>
                    <a:latin typeface="Arial"/>
                  </a:rPr>
                  <a:t>; for the </a:t>
                </a:r>
                <a:r>
                  <a:rPr lang="en-IN" sz="2400">
                    <a:solidFill>
                      <a:srgbClr val="111827"/>
                    </a:solidFill>
                    <a:latin typeface="Cambria Math" panose="02040503050406030204" pitchFamily="18" charset="0"/>
                  </a:rPr>
                  <a:t>$y$</a:t>
                </a:r>
                <a:r>
                  <a:rPr sz="2400" b="0">
                    <a:solidFill>
                      <a:srgbClr val="111827"/>
                    </a:solidFill>
                    <a:latin typeface="Arial"/>
                  </a:rPr>
                  <a:t>-intercept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$Y=y-x\frac{dy}{dx}$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$m=\frac{dy}{dx}$</a:t>
                </a:r>
                <a:r>
                  <a:rPr sz="2400" b="0">
                    <a:solidFill>
                      <a:srgbClr val="111827"/>
                    </a:solidFill>
                    <a:latin typeface="Arial"/>
                  </a:rPr>
                  <a:t>. Subnormal </a:t>
                </a:r>
                <a:r>
                  <a:rPr lang="en-IN" sz="2400">
                    <a:solidFill>
                      <a:srgbClr val="111827"/>
                    </a:solidFill>
                    <a:latin typeface="Cambria Math" panose="02040503050406030204" pitchFamily="18" charset="0"/>
                  </a:rPr>
                  <a:t>$=my$</a:t>
                </a:r>
                <a:r>
                  <a:rPr sz="2400" b="0">
                    <a:solidFill>
                      <a:srgbClr val="111827"/>
                    </a:solidFill>
                    <a:latin typeface="Arial"/>
                  </a:rPr>
                  <a:t> and subtangent </a:t>
                </a:r>
                <a:r>
                  <a:rPr lang="en-IN" sz="2400">
                    <a:solidFill>
                      <a:srgbClr val="111827"/>
                    </a:solidFill>
                    <a:latin typeface="Cambria Math" panose="02040503050406030204" pitchFamily="18" charset="0"/>
                  </a:rPr>
                  <a:t>$=\frac ym$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$\frac{Y^2}{my}=\frac{xy}{m^2\cdot\frac ym}$</a:t>
                </a:r>
                <a:r>
                  <a:rPr sz="2400" b="0">
                    <a:solidFill>
                      <a:srgbClr val="111827"/>
                    </a:solidFill>
                    <a:latin typeface="Arial"/>
                  </a:rPr>
                  <a:t>; the right side is </a:t>
                </a:r>
                <a:r>
                  <a:rPr lang="en-IN" sz="2400">
                    <a:solidFill>
                      <a:srgbClr val="111827"/>
                    </a:solidFill>
                    <a:latin typeface="Cambria Math" panose="02040503050406030204" pitchFamily="18" charset="0"/>
                  </a:rPr>
                  <a:t>$\frac{xy}{my}$</a:t>
                </a:r>
                <a:r>
                  <a:rPr sz="2400" b="0">
                    <a:solidFill>
                      <a:srgbClr val="111827"/>
                    </a:solidFill>
                    <a:latin typeface="Arial"/>
                  </a:rPr>
                  <a:t>, so </a:t>
                </a:r>
                <a:r>
                  <a:rPr lang="en-IN" sz="2400">
                    <a:solidFill>
                      <a:srgbClr val="111827"/>
                    </a:solidFill>
                    <a:latin typeface="Cambria Math" panose="02040503050406030204" pitchFamily="18" charset="0"/>
                  </a:rPr>
                  <a:t>$Y^2=xy$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$\left(y-x\frac{dy}{dx}\right)^2=xy$</a:t>
                </a:r>
                <a:r>
                  <a:rPr sz="2400" b="0">
                    <a:solidFill>
                      <a:srgbClr val="111827"/>
                    </a:solidFill>
                    <a:latin typeface="Arial"/>
                  </a:rPr>
                  <a:t>, i.e. </a:t>
                </a:r>
                <a:r>
                  <a:rPr lang="en-IN" sz="2400">
                    <a:solidFill>
                      <a:srgbClr val="111827"/>
                    </a:solidFill>
                    <a:latin typeface="Cambria Math" panose="02040503050406030204" pitchFamily="18" charset="0"/>
                  </a:rPr>
                  <a:t>$\left(\frac yx-\frac{dy}{dx}\right)^2=\frac yx$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Then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𝑣</m:t>
                        </m:r>
                      </m:e>
                    </m:rad>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𝑣</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𝑣</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$y=vx$</a:t>
                </a:r>
                <a:r>
                  <a:rPr sz="2400" b="0">
                    <a:solidFill>
                      <a:srgbClr val="111827"/>
                    </a:solidFill>
                    <a:latin typeface="Arial"/>
                  </a:rPr>
                  <a:t>, so </a:t>
                </a:r>
                <a:r>
                  <a:rPr lang="en-IN" sz="2400">
                    <a:solidFill>
                      <a:srgbClr val="111827"/>
                    </a:solidFill>
                    <a:latin typeface="Cambria Math" panose="02040503050406030204" pitchFamily="18" charset="0"/>
                  </a:rPr>
                  <a:t>$\frac{dy}{dx}=v+x\frac{dv}{dx}$</a:t>
                </a:r>
                <a:r>
                  <a:rPr sz="2400" b="0">
                    <a:solidFill>
                      <a:srgbClr val="111827"/>
                    </a:solidFill>
                    <a:latin typeface="Arial"/>
                  </a:rPr>
                  <a:t>. Then </a:t>
                </a:r>
                <a:r>
                  <a:rPr lang="en-IN" sz="2400">
                    <a:solidFill>
                      <a:srgbClr val="111827"/>
                    </a:solidFill>
                    <a:latin typeface="Cambria Math" panose="02040503050406030204" pitchFamily="18" charset="0"/>
                  </a:rPr>
                  <a:t>$\left(v-v-x\frac{dv}{dx}\right)^2=v$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$\left|x\frac{dv}{dx}\right|=\sqrt v$</a:t>
                </a:r>
                <a:r>
                  <a:rPr sz="2400" b="0">
                    <a:solidFill>
                      <a:srgbClr val="111827"/>
                    </a:solidFill>
                    <a:latin typeface="Arial"/>
                  </a:rPr>
                  <a:t>, i.e. </a:t>
                </a:r>
                <a:r>
                  <a:rPr lang="en-IN" sz="2400">
                    <a:solidFill>
                      <a:srgbClr val="111827"/>
                    </a:solidFill>
                    <a:latin typeface="Cambria Math" panose="02040503050406030204" pitchFamily="18" charset="0"/>
                  </a:rPr>
                  <a:t>$\int\frac{dv}{\pm\sqrt v}=\int\frac{dx}{x}$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$\pm2\sqrt v=\ln x+\ln c$</a:t>
                </a:r>
                <a:r>
                  <a:rPr sz="2400" b="0">
                    <a:solidFill>
                      <a:srgbClr val="111827"/>
                    </a:solidFill>
                    <a:latin typeface="Arial"/>
                  </a:rPr>
                  <a:t>, so </a:t>
                </a:r>
                <a:r>
                  <a:rPr lang="en-IN" sz="2400">
                    <a:solidFill>
                      <a:srgbClr val="111827"/>
                    </a:solidFill>
                    <a:latin typeface="Cambria Math" panose="02040503050406030204" pitchFamily="18" charset="0"/>
                  </a:rPr>
                  <a:t>$xc=e^{\pm2\sqrt{y/x}}$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$c=1$</a:t>
                </a:r>
                <a:r>
                  <a:rPr sz="2400" b="0">
                    <a:solidFill>
                      <a:srgbClr val="111827"/>
                    </a:solidFill>
                    <a:latin typeface="Arial"/>
                  </a:rPr>
                  <a:t>, so </a:t>
                </a:r>
                <a:r>
                  <a:rPr lang="en-IN" sz="2400">
                    <a:solidFill>
                      <a:srgbClr val="111827"/>
                    </a:solidFill>
                    <a:latin typeface="Cambria Math" panose="02040503050406030204" pitchFamily="18" charset="0"/>
                  </a:rPr>
                  <a:t>$x=e^{\pm2\sqrt{y/x}}$</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𝑒</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e>
                        </m:rad>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$x=e^{\pm2\sqrt{y/x}}$</a:t>
                </a:r>
                <a:endParaRPr sz="2800">
                  <a:solidFill>
                    <a:srgbClr val="15803D"/>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curve with slope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subtangent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subnormal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oMath>
                </a14:m>
                <a:r>
                  <a:rPr sz="2400" b="0">
                    <a:solidFill>
                      <a:srgbClr val="111827"/>
                    </a:solidFill>
                    <a:latin typeface="Arial"/>
                  </a:rPr>
                  <a:t>, tangent length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𝑚</m:t>
                            </m:r>
                          </m:den>
                        </m:f>
                      </m:e>
                    </m: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normal length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Conditions that are homogeneous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after clearing denominators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𝑚</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are solved by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 square root in a differential equation produces two families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pass through the given point, so keep both unless the geometry excludes one.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curve with slope </a:t>
                </a:r>
                <a:r>
                  <a:rPr lang="en-IN" sz="2400">
                    <a:solidFill>
                      <a:srgbClr val="111827"/>
                    </a:solidFill>
                    <a:latin typeface="Cambria Math" panose="02040503050406030204" pitchFamily="18" charset="0"/>
                  </a:rPr>
                  <a:t>$m$</a:t>
                </a:r>
                <a:r>
                  <a:rPr sz="2400" b="0">
                    <a:solidFill>
                      <a:srgbClr val="111827"/>
                    </a:solidFill>
                    <a:latin typeface="Arial"/>
                  </a:rPr>
                  <a:t> at </a:t>
                </a:r>
                <a:r>
                  <a:rPr lang="en-IN" sz="2400">
                    <a:solidFill>
                      <a:srgbClr val="111827"/>
                    </a:solidFill>
                    <a:latin typeface="Cambria Math" panose="02040503050406030204" pitchFamily="18" charset="0"/>
                  </a:rPr>
                  <a:t>$(x,y)$</a:t>
                </a:r>
                <a:r>
                  <a:rPr sz="2400" b="0">
                    <a:solidFill>
                      <a:srgbClr val="111827"/>
                    </a:solidFill>
                    <a:latin typeface="Arial"/>
                  </a:rPr>
                  <a:t>: subtangent </a:t>
                </a:r>
                <a:r>
                  <a:rPr lang="en-IN" sz="2400">
                    <a:solidFill>
                      <a:srgbClr val="111827"/>
                    </a:solidFill>
                    <a:latin typeface="Cambria Math" panose="02040503050406030204" pitchFamily="18" charset="0"/>
                  </a:rPr>
                  <a:t>$=\frac ym$</a:t>
                </a:r>
                <a:r>
                  <a:rPr sz="2400" b="0">
                    <a:solidFill>
                      <a:srgbClr val="111827"/>
                    </a:solidFill>
                    <a:latin typeface="Arial"/>
                  </a:rPr>
                  <a:t>, subnormal </a:t>
                </a:r>
                <a:r>
                  <a:rPr lang="en-IN" sz="2400">
                    <a:solidFill>
                      <a:srgbClr val="111827"/>
                    </a:solidFill>
                    <a:latin typeface="Cambria Math" panose="02040503050406030204" pitchFamily="18" charset="0"/>
                  </a:rPr>
                  <a:t>$=my$</a:t>
                </a:r>
                <a:r>
                  <a:rPr sz="2400" b="0">
                    <a:solidFill>
                      <a:srgbClr val="111827"/>
                    </a:solidFill>
                    <a:latin typeface="Arial"/>
                  </a:rPr>
                  <a:t>, tangent length </a:t>
                </a:r>
                <a:r>
                  <a:rPr lang="en-IN" sz="2400">
                    <a:solidFill>
                      <a:srgbClr val="111827"/>
                    </a:solidFill>
                    <a:latin typeface="Cambria Math" panose="02040503050406030204" pitchFamily="18" charset="0"/>
                  </a:rPr>
                  <a:t>$=\left|\frac ym\right|\sqrt{1+m^2}$</a:t>
                </a:r>
                <a:r>
                  <a:rPr sz="2400" b="0">
                    <a:solidFill>
                      <a:srgbClr val="111827"/>
                    </a:solidFill>
                    <a:latin typeface="Arial"/>
                  </a:rPr>
                  <a:t>, normal length </a:t>
                </a:r>
                <a:r>
                  <a:rPr lang="en-IN" sz="2400">
                    <a:solidFill>
                      <a:srgbClr val="111827"/>
                    </a:solidFill>
                    <a:latin typeface="Cambria Math" panose="02040503050406030204" pitchFamily="18" charset="0"/>
                  </a:rPr>
                  <a:t>$=|y|\sqrt{1+m^2}$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Conditions that are homogeneous in </a:t>
                </a:r>
                <a:r>
                  <a:rPr lang="en-IN" sz="2400">
                    <a:solidFill>
                      <a:srgbClr val="111827"/>
                    </a:solidFill>
                    <a:latin typeface="Cambria Math" panose="02040503050406030204" pitchFamily="18" charset="0"/>
                  </a:rPr>
                  <a:t>$x,y$</a:t>
                </a:r>
                <a:r>
                  <a:rPr sz="2400" b="0">
                    <a:solidFill>
                      <a:srgbClr val="111827"/>
                    </a:solidFill>
                    <a:latin typeface="Arial"/>
                  </a:rPr>
                  <a:t> after clearing denominators (here </a:t>
                </a:r>
                <a:r>
                  <a:rPr lang="en-IN" sz="2400">
                    <a:solidFill>
                      <a:srgbClr val="111827"/>
                    </a:solidFill>
                    <a:latin typeface="Cambria Math" panose="02040503050406030204" pitchFamily="18" charset="0"/>
                  </a:rPr>
                  <a:t>$(y-xm)^2=xy$</a:t>
                </a:r>
                <a:r>
                  <a:rPr sz="2400" b="0">
                    <a:solidFill>
                      <a:srgbClr val="111827"/>
                    </a:solidFill>
                    <a:latin typeface="Arial"/>
                  </a:rPr>
                  <a:t>) are solved by </a:t>
                </a:r>
                <a:r>
                  <a:rPr lang="en-IN" sz="2400">
                    <a:solidFill>
                      <a:srgbClr val="111827"/>
                    </a:solidFill>
                    <a:latin typeface="Cambria Math" panose="02040503050406030204" pitchFamily="18" charset="0"/>
                  </a:rPr>
                  <a:t>$y=vx$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 square root in a differential equation produces two families (</a:t>
                </a:r>
                <a:r>
                  <a:rPr lang="en-IN" sz="2400">
                    <a:solidFill>
                      <a:srgbClr val="111827"/>
                    </a:solidFill>
                    <a:latin typeface="Cambria Math" panose="02040503050406030204" pitchFamily="18" charset="0"/>
                  </a:rPr>
                  <a:t>$\pm$</a:t>
                </a:r>
                <a:r>
                  <a:rPr sz="2400" b="0">
                    <a:solidFill>
                      <a:srgbClr val="111827"/>
                    </a:solidFill>
                    <a:latin typeface="Arial"/>
                  </a:rPr>
                  <a:t>); both pass through the given point, so keep both unless the geometry excludes one.</a:t>
                </a:r>
                <a:endParaRPr sz="2400">
                  <a:solidFill>
                    <a:srgbClr val="111827"/>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674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two separate reservoirs of water. The capacity of reservoir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double the capacity of reservoir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Both are filled completely with water, their inlets are closed and the water is released simultaneously from both. The rate of flow of water out of each reservoir at any instant is proportional to the quantity of water in the reservoir at that time. One hour after the water is released, the quantity of water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times the quantity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After how many hours do both reservoirs have the same quantity of water?</a:t>
                </a:r>
                <a:endParaRPr sz="2400">
                  <a:solidFill>
                    <a:srgbClr val="111827"/>
                  </a:solidFill>
                </a:endParaRPr>
              </a:p>
            </p:txBody>
          </p:sp>
        </mc:Choice>
        <mc:Fallback>
          <p:sp>
            <p:nvSpPr>
              <p:cNvPr id="4" name="Rounded Rectangle 3"/>
              <p:cNvSpPr/>
              <p:nvPr/>
            </p:nvSpPr>
            <p:spPr>
              <a:xfrm>
                <a:off x="731520" y="1280160"/>
                <a:ext cx="10725912" cy="386740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are two separate reservoirs of water. The capacity of reservoir </a:t>
                </a:r>
                <a:r>
                  <a:rPr lang="en-IN" sz="2400">
                    <a:solidFill>
                      <a:srgbClr val="111827"/>
                    </a:solidFill>
                    <a:latin typeface="Cambria Math" panose="02040503050406030204" pitchFamily="18" charset="0"/>
                  </a:rPr>
                  <a:t>$A$</a:t>
                </a:r>
                <a:r>
                  <a:rPr sz="2400" b="0">
                    <a:solidFill>
                      <a:srgbClr val="111827"/>
                    </a:solidFill>
                    <a:latin typeface="Arial"/>
                  </a:rPr>
                  <a:t> is double the capacity of reservoir </a:t>
                </a:r>
                <a:r>
                  <a:rPr lang="en-IN" sz="2400">
                    <a:solidFill>
                      <a:srgbClr val="111827"/>
                    </a:solidFill>
                    <a:latin typeface="Cambria Math" panose="02040503050406030204" pitchFamily="18" charset="0"/>
                  </a:rPr>
                  <a:t>$B$</a:t>
                </a:r>
                <a:r>
                  <a:rPr sz="2400" b="0">
                    <a:solidFill>
                      <a:srgbClr val="111827"/>
                    </a:solidFill>
                    <a:latin typeface="Arial"/>
                  </a:rPr>
                  <a:t>. Both are filled completely with water, their inlets are closed and the water is released simultaneously from both. The rate of flow of water out of each reservoir at any instant is proportional to the quantity of water in the reservoir at that time. One hour after the water is released, the quantity of water in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$1.5$</a:t>
                </a:r>
                <a:r>
                  <a:rPr sz="2400" b="0">
                    <a:solidFill>
                      <a:srgbClr val="111827"/>
                    </a:solidFill>
                    <a:latin typeface="Arial"/>
                  </a:rPr>
                  <a:t> times the quantity in </a:t>
                </a:r>
                <a:r>
                  <a:rPr lang="en-IN" sz="2400">
                    <a:solidFill>
                      <a:srgbClr val="111827"/>
                    </a:solidFill>
                    <a:latin typeface="Cambria Math" panose="02040503050406030204" pitchFamily="18" charset="0"/>
                  </a:rPr>
                  <a:t>$B$</a:t>
                </a:r>
                <a:r>
                  <a:rPr sz="2400" b="0">
                    <a:solidFill>
                      <a:srgbClr val="111827"/>
                    </a:solidFill>
                    <a:latin typeface="Arial"/>
                  </a:rPr>
                  <a:t>. After how many hours do both reservoirs have the same quantity of water?</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Exponential growth and decay (rate problems)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quantities decay exponentially with their own constants, so only the ratio </a:t>
                </a:r>
                <a14:m>
                  <m:oMath xmlns:m="http://schemas.openxmlformats.org/officeDocument/2006/math">
                    <m:sSup>
                      <m:e>
                        <m:r>
                          <a:rPr lang="en-IN" sz="2400" i="1">
                            <a:solidFill>
                              <a:srgbClr val="78350F"/>
                            </a:solidFill>
                            <a:latin typeface="Cambria Math" panose="02040503050406030204" pitchFamily="18" charset="0"/>
                          </a:rPr>
                          <m:t>𝑒</m:t>
                        </m:r>
                      </m:e>
                      <m:sup>
                        <m:sSub>
                          <m:e>
                            <m:r>
                              <a:rPr lang="en-IN" sz="2400" i="1">
                                <a:solidFill>
                                  <a:srgbClr val="78350F"/>
                                </a:solidFill>
                                <a:latin typeface="Cambria Math" panose="02040503050406030204" pitchFamily="18" charset="0"/>
                              </a:rPr>
                              <m:t>𝑘</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𝑘</m:t>
                            </m:r>
                          </m:e>
                          <m:sub>
                            <m:r>
                              <a:rPr lang="en-IN" sz="2400" i="1">
                                <a:solidFill>
                                  <a:srgbClr val="78350F"/>
                                </a:solidFill>
                                <a:latin typeface="Cambria Math" panose="02040503050406030204" pitchFamily="18" charset="0"/>
                              </a:rPr>
                              <m:t>1</m:t>
                            </m:r>
                          </m:sub>
                        </m:sSub>
                      </m:sup>
                    </m:sSup>
                  </m:oMath>
                </a14:m>
                <a:r>
                  <a:rPr sz="2400" b="0">
                    <a:solidFill>
                      <a:srgbClr val="78350F"/>
                    </a:solidFill>
                    <a:latin typeface="Arial"/>
                  </a:rPr>
                  <a:t> matters, and it is fixed by the data at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quantities decay exponentially with their own constants, so only the ratio </a:t>
                </a:r>
                <a:r>
                  <a:rPr lang="en-IN" sz="2400">
                    <a:solidFill>
                      <a:srgbClr val="78350F"/>
                    </a:solidFill>
                    <a:latin typeface="Cambria Math" panose="02040503050406030204" pitchFamily="18" charset="0"/>
                  </a:rPr>
                  <a:t>$e^{k_2-k_1}$</a:t>
                </a:r>
                <a:r>
                  <a:rPr sz="2400" b="0">
                    <a:solidFill>
                      <a:srgbClr val="78350F"/>
                    </a:solidFill>
                    <a:latin typeface="Arial"/>
                  </a:rPr>
                  <a:t> matters, and it is fixed by the data at </a:t>
                </a:r>
                <a:r>
                  <a:rPr lang="en-IN" sz="2400">
                    <a:solidFill>
                      <a:srgbClr val="78350F"/>
                    </a:solidFill>
                    <a:latin typeface="Cambria Math" panose="02040503050406030204" pitchFamily="18" charset="0"/>
                  </a:rPr>
                  <a:t>$t=1$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𝑢</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 be the quantities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time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hours: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𝑢</m:t>
                    </m:r>
                  </m:oMath>
                </a14:m>
                <a:r>
                  <a:rPr sz="2400" b="0">
                    <a:solidFill>
                      <a:srgbClr val="111827"/>
                    </a:solidFill>
                    <a:latin typeface="Arial"/>
                  </a:rPr>
                  <a:t> ...(1),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𝑣</m:t>
                    </m:r>
                  </m:oMath>
                </a14:m>
                <a:r>
                  <a:rPr sz="2400" b="0">
                    <a:solidFill>
                      <a:srgbClr val="111827"/>
                    </a:solidFill>
                    <a:latin typeface="Arial"/>
                  </a:rPr>
                  <a:t> ...(2).</a:t>
                </a:r>
                <a:endParaRPr sz="2400">
                  <a:solidFill>
                    <a:srgbClr val="111827"/>
                  </a:solidFill>
                </a:endParaRPr>
              </a:p>
            </p:txBody>
          </p:sp>
        </mc:Choice>
        <mc:Fallback>
          <p:sp>
            <p:nvSpPr>
              <p:cNvPr id="6" name="Rectangle 5"/>
              <p:cNvSpPr/>
              <p:nvPr/>
            </p:nvSpPr>
            <p:spPr>
              <a:xfrm>
                <a:off x="731520" y="5056632"/>
                <a:ext cx="10725912" cy="16184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$u$</a:t>
                </a:r>
                <a:r>
                  <a:rPr sz="2400" b="0">
                    <a:solidFill>
                      <a:srgbClr val="111827"/>
                    </a:solidFill>
                    <a:latin typeface="Arial"/>
                  </a:rPr>
                  <a:t> and </a:t>
                </a:r>
                <a:r>
                  <a:rPr lang="en-IN" sz="2400">
                    <a:solidFill>
                      <a:srgbClr val="111827"/>
                    </a:solidFill>
                    <a:latin typeface="Cambria Math" panose="02040503050406030204" pitchFamily="18" charset="0"/>
                  </a:rPr>
                  <a:t>$v$</a:t>
                </a:r>
                <a:r>
                  <a:rPr sz="2400" b="0">
                    <a:solidFill>
                      <a:srgbClr val="111827"/>
                    </a:solidFill>
                    <a:latin typeface="Arial"/>
                  </a:rPr>
                  <a:t> be the quantities in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at time </a:t>
                </a:r>
                <a:r>
                  <a:rPr lang="en-IN" sz="2400">
                    <a:solidFill>
                      <a:srgbClr val="111827"/>
                    </a:solidFill>
                    <a:latin typeface="Cambria Math" panose="02040503050406030204" pitchFamily="18" charset="0"/>
                  </a:rPr>
                  <a:t>$t$</a:t>
                </a:r>
                <a:r>
                  <a:rPr sz="2400" b="0">
                    <a:solidFill>
                      <a:srgbClr val="111827"/>
                    </a:solidFill>
                    <a:latin typeface="Arial"/>
                  </a:rPr>
                  <a:t> hours: </a:t>
                </a:r>
                <a:r>
                  <a:rPr lang="en-IN" sz="2400">
                    <a:solidFill>
                      <a:srgbClr val="111827"/>
                    </a:solidFill>
                    <a:latin typeface="Cambria Math" panose="02040503050406030204" pitchFamily="18" charset="0"/>
                  </a:rPr>
                  <a:t>$\frac{du}{dt}=-k_1u$</a:t>
                </a:r>
                <a:r>
                  <a:rPr sz="2400" b="0">
                    <a:solidFill>
                      <a:srgbClr val="111827"/>
                    </a:solidFill>
                    <a:latin typeface="Arial"/>
                  </a:rPr>
                  <a:t> ...(1), </a:t>
                </a:r>
                <a:r>
                  <a:rPr lang="en-IN" sz="2400">
                    <a:solidFill>
                      <a:srgbClr val="111827"/>
                    </a:solidFill>
                    <a:latin typeface="Cambria Math" panose="02040503050406030204" pitchFamily="18" charset="0"/>
                  </a:rPr>
                  <a:t>$\frac{dv}{dt}=-k_2v$</a:t>
                </a:r>
                <a:r>
                  <a:rPr sz="2400" b="0">
                    <a:solidFill>
                      <a:srgbClr val="111827"/>
                    </a:solidFill>
                    <a:latin typeface="Arial"/>
                  </a:rPr>
                  <a:t> ...(2).</a:t>
                </a:r>
                <a:endParaRPr sz="2400">
                  <a:solidFill>
                    <a:srgbClr val="111827"/>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𝑉</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sup>
                    </m:sSup>
                  </m:oMath>
                </a14:m>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𝑡</m:t>
                        </m:r>
                      </m:sup>
                    </m:sSup>
                  </m:oMath>
                </a14:m>
                <a:r>
                  <a:rPr sz="2400" b="0">
                    <a:solidFill>
                      <a:srgbClr val="111827"/>
                    </a:solidFill>
                    <a:latin typeface="Arial"/>
                  </a:rPr>
                  <a:t> ...(4).</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from (2):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𝑡</m:t>
                        </m:r>
                      </m:sup>
                    </m:sSup>
                  </m:oMath>
                </a14:m>
                <a:r>
                  <a:rPr sz="2400" b="0">
                    <a:solidFill>
                      <a:srgbClr val="111827"/>
                    </a:solidFill>
                    <a:latin typeface="Arial"/>
                  </a:rPr>
                  <a:t> ...(5).</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(4):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oMath>
                </a14:m>
                <a:r>
                  <a:rPr sz="2400" b="0">
                    <a:solidFill>
                      <a:srgbClr val="111827"/>
                    </a:solidFill>
                    <a:latin typeface="Arial"/>
                  </a:rPr>
                  <a:t>, and from (5): </a:t>
                </a:r>
                <a14:m>
                  <m:oMath xmlns:m="http://schemas.openxmlformats.org/officeDocument/2006/math">
                    <m:sSub>
                      <m:e>
                        <m:r>
                          <a:rPr lang="en-IN" sz="2400" i="1">
                            <a:solidFill>
                              <a:srgbClr val="111827"/>
                            </a:solidFill>
                            <a:latin typeface="Cambria Math" panose="02040503050406030204" pitchFamily="18" charset="0"/>
                          </a:rPr>
                          <m:t>𝑣</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num>
                      <m:den>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𝑒</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...(6).</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$t=0$</a:t>
                </a:r>
                <a:r>
                  <a:rPr sz="2400" b="0">
                    <a:solidFill>
                      <a:srgbClr val="111827"/>
                    </a:solidFill>
                    <a:latin typeface="Arial"/>
                  </a:rPr>
                  <a:t>, </a:t>
                </a:r>
                <a:r>
                  <a:rPr lang="en-IN" sz="2400">
                    <a:solidFill>
                      <a:srgbClr val="111827"/>
                    </a:solidFill>
                    <a:latin typeface="Cambria Math" panose="02040503050406030204" pitchFamily="18" charset="0"/>
                  </a:rPr>
                  <a:t>$u=2V$</a:t>
                </a:r>
                <a:r>
                  <a:rPr sz="2400" b="0">
                    <a:solidFill>
                      <a:srgbClr val="111827"/>
                    </a:solidFill>
                    <a:latin typeface="Arial"/>
                  </a:rPr>
                  <a:t> and </a:t>
                </a:r>
                <a:r>
                  <a:rPr lang="en-IN" sz="2400">
                    <a:solidFill>
                      <a:srgbClr val="111827"/>
                    </a:solidFill>
                    <a:latin typeface="Cambria Math" panose="02040503050406030204" pitchFamily="18" charset="0"/>
                  </a:rPr>
                  <a:t>$v=V$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Solving (1): </a:t>
                </a:r>
                <a:r>
                  <a:rPr lang="en-IN" sz="2400">
                    <a:solidFill>
                      <a:srgbClr val="111827"/>
                    </a:solidFill>
                    <a:latin typeface="Cambria Math" panose="02040503050406030204" pitchFamily="18" charset="0"/>
                  </a:rPr>
                  <a:t>$\frac{du}{u}=-k_1dt$</a:t>
                </a:r>
                <a:r>
                  <a:rPr sz="2400" b="0">
                    <a:solidFill>
                      <a:srgbClr val="111827"/>
                    </a:solidFill>
                    <a:latin typeface="Arial"/>
                  </a:rPr>
                  <a:t>, so </a:t>
                </a:r>
                <a:r>
                  <a:rPr lang="en-IN" sz="2400">
                    <a:solidFill>
                      <a:srgbClr val="111827"/>
                    </a:solidFill>
                    <a:latin typeface="Cambria Math" panose="02040503050406030204" pitchFamily="18" charset="0"/>
                  </a:rPr>
                  <a:t>$\ln u=-k_1t+c_1$</a:t>
                </a:r>
                <a:r>
                  <a:rPr sz="2400" b="0">
                    <a:solidFill>
                      <a:srgbClr val="111827"/>
                    </a:solidFill>
                    <a:latin typeface="Arial"/>
                  </a:rPr>
                  <a:t> and </a:t>
                </a:r>
                <a:r>
                  <a:rPr lang="en-IN" sz="2400">
                    <a:solidFill>
                      <a:srgbClr val="111827"/>
                    </a:solidFill>
                    <a:latin typeface="Cambria Math" panose="02040503050406030204" pitchFamily="18" charset="0"/>
                  </a:rPr>
                  <a:t>$u=e^{-k_1t+c_1}$</a:t>
                </a:r>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$t=0$</a:t>
                </a:r>
                <a:r>
                  <a:rPr sz="2400" b="0">
                    <a:solidFill>
                      <a:srgbClr val="111827"/>
                    </a:solidFill>
                    <a:latin typeface="Arial"/>
                  </a:rPr>
                  <a:t>, </a:t>
                </a:r>
                <a:r>
                  <a:rPr lang="en-IN" sz="2400">
                    <a:solidFill>
                      <a:srgbClr val="111827"/>
                    </a:solidFill>
                    <a:latin typeface="Cambria Math" panose="02040503050406030204" pitchFamily="18" charset="0"/>
                  </a:rPr>
                  <a:t>$2V=e^{c_1}$</a:t>
                </a:r>
                <a:r>
                  <a:rPr sz="2400" b="0">
                    <a:solidFill>
                      <a:srgbClr val="111827"/>
                    </a:solidFill>
                    <a:latin typeface="Arial"/>
                  </a:rPr>
                  <a:t>, so </a:t>
                </a:r>
                <a:r>
                  <a:rPr lang="en-IN" sz="2400">
                    <a:solidFill>
                      <a:srgbClr val="111827"/>
                    </a:solidFill>
                    <a:latin typeface="Cambria Math" panose="02040503050406030204" pitchFamily="18" charset="0"/>
                  </a:rPr>
                  <a:t>$u=2Ve^{-k_1t}$</a:t>
                </a:r>
                <a:r>
                  <a:rPr sz="2400" b="0">
                    <a:solidFill>
                      <a:srgbClr val="111827"/>
                    </a:solidFill>
                    <a:latin typeface="Arial"/>
                  </a:rPr>
                  <a:t> ...(4).</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from (2): </a:t>
                </a:r>
                <a:r>
                  <a:rPr lang="en-IN" sz="2400">
                    <a:solidFill>
                      <a:srgbClr val="111827"/>
                    </a:solidFill>
                    <a:latin typeface="Cambria Math" panose="02040503050406030204" pitchFamily="18" charset="0"/>
                  </a:rPr>
                  <a:t>$v=Ve^{-k_2t}$</a:t>
                </a:r>
                <a:r>
                  <a:rPr sz="2400" b="0">
                    <a:solidFill>
                      <a:srgbClr val="111827"/>
                    </a:solidFill>
                    <a:latin typeface="Arial"/>
                  </a:rPr>
                  <a:t> ...(5).</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$t=1$</a:t>
                </a:r>
                <a:r>
                  <a:rPr sz="2400" b="0">
                    <a:solidFill>
                      <a:srgbClr val="111827"/>
                    </a:solidFill>
                    <a:latin typeface="Arial"/>
                  </a:rPr>
                  <a:t>, </a:t>
                </a:r>
                <a:r>
                  <a:rPr lang="en-IN" sz="2400">
                    <a:solidFill>
                      <a:srgbClr val="111827"/>
                    </a:solidFill>
                    <a:latin typeface="Cambria Math" panose="02040503050406030204" pitchFamily="18" charset="0"/>
                  </a:rPr>
                  <a:t>$u=\frac32v_0$</a:t>
                </a:r>
                <a:r>
                  <a:rPr sz="2400" b="0">
                    <a:solidFill>
                      <a:srgbClr val="111827"/>
                    </a:solidFill>
                    <a:latin typeface="Arial"/>
                  </a:rPr>
                  <a:t> where </a:t>
                </a:r>
                <a:r>
                  <a:rPr lang="en-IN" sz="2400">
                    <a:solidFill>
                      <a:srgbClr val="111827"/>
                    </a:solidFill>
                    <a:latin typeface="Cambria Math" panose="02040503050406030204" pitchFamily="18" charset="0"/>
                  </a:rPr>
                  <a:t>$v_0=v(1)$</a:t>
                </a:r>
                <a:r>
                  <a:rPr sz="2400" b="0">
                    <a:solidFill>
                      <a:srgbClr val="111827"/>
                    </a:solidFill>
                    <a:latin typeface="Arial"/>
                  </a:rPr>
                  <a:t>. From (4): </a:t>
                </a:r>
                <a:r>
                  <a:rPr lang="en-IN" sz="2400">
                    <a:solidFill>
                      <a:srgbClr val="111827"/>
                    </a:solidFill>
                    <a:latin typeface="Cambria Math" panose="02040503050406030204" pitchFamily="18" charset="0"/>
                  </a:rPr>
                  <a:t>$\frac32v_0=2Ve^{-k_1}$</a:t>
                </a:r>
                <a:r>
                  <a:rPr sz="2400" b="0">
                    <a:solidFill>
                      <a:srgbClr val="111827"/>
                    </a:solidFill>
                    <a:latin typeface="Arial"/>
                  </a:rPr>
                  <a:t>, and from (5): </a:t>
                </a:r>
                <a:r>
                  <a:rPr lang="en-IN" sz="2400">
                    <a:solidFill>
                      <a:srgbClr val="111827"/>
                    </a:solidFill>
                    <a:latin typeface="Cambria Math" panose="02040503050406030204" pitchFamily="18" charset="0"/>
                  </a:rPr>
                  <a:t>$v_0=Ve^{-k_2}$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a:t>
                </a:r>
                <a:r>
                  <a:rPr lang="en-IN" sz="2400">
                    <a:solidFill>
                      <a:srgbClr val="111827"/>
                    </a:solidFill>
                    <a:latin typeface="Cambria Math" panose="02040503050406030204" pitchFamily="18" charset="0"/>
                  </a:rPr>
                  <a:t>$\frac32=\frac{2e^{-k_1}}{e^{-k_2}}=2e^{k_2-k_1}$</a:t>
                </a:r>
                <a:r>
                  <a:rPr sz="2400" b="0">
                    <a:solidFill>
                      <a:srgbClr val="111827"/>
                    </a:solidFill>
                    <a:latin typeface="Arial"/>
                  </a:rPr>
                  <a:t>, so </a:t>
                </a:r>
                <a:r>
                  <a:rPr lang="en-IN" sz="2400">
                    <a:solidFill>
                      <a:srgbClr val="111827"/>
                    </a:solidFill>
                    <a:latin typeface="Cambria Math" panose="02040503050406030204" pitchFamily="18" charset="0"/>
                  </a:rPr>
                  <a:t>$e^{k_2-k_1}=\frac34$</a:t>
                </a:r>
                <a:r>
                  <a:rPr sz="2400" b="0">
                    <a:solidFill>
                      <a:srgbClr val="111827"/>
                    </a:solidFill>
                    <a:latin typeface="Arial"/>
                  </a:rPr>
                  <a:t> ...(6).</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time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the quantities are equal: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𝑇</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by (6).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2</m:t>
                    </m:r>
                  </m:oMath>
                </a14:m>
                <a:r>
                  <a:rPr sz="2400" b="0">
                    <a:solidFill>
                      <a:srgbClr val="111827"/>
                    </a:solidFill>
                    <a:latin typeface="Arial"/>
                  </a:rPr>
                  <a:t> hours.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time </a:t>
                </a:r>
                <a:r>
                  <a:rPr lang="en-IN" sz="2400">
                    <a:solidFill>
                      <a:srgbClr val="111827"/>
                    </a:solidFill>
                    <a:latin typeface="Cambria Math" panose="02040503050406030204" pitchFamily="18" charset="0"/>
                  </a:rPr>
                  <a:t>$T$</a:t>
                </a:r>
                <a:r>
                  <a:rPr sz="2400" b="0">
                    <a:solidFill>
                      <a:srgbClr val="111827"/>
                    </a:solidFill>
                    <a:latin typeface="Arial"/>
                  </a:rPr>
                  <a:t> the quantities are equal: </a:t>
                </a:r>
                <a:r>
                  <a:rPr lang="en-IN" sz="2400">
                    <a:solidFill>
                      <a:srgbClr val="111827"/>
                    </a:solidFill>
                    <a:latin typeface="Cambria Math" panose="02040503050406030204" pitchFamily="18" charset="0"/>
                  </a:rPr>
                  <a:t>$2Ve^{-k_1T}=Ve^{-k_2T}$</a:t>
                </a:r>
                <a:r>
                  <a:rPr sz="2400" b="0">
                    <a:solidFill>
                      <a:srgbClr val="111827"/>
                    </a:solidFill>
                    <a:latin typeface="Arial"/>
                  </a:rPr>
                  <a:t>, so </a:t>
                </a:r>
                <a:r>
                  <a:rPr lang="en-IN" sz="2400">
                    <a:solidFill>
                      <a:srgbClr val="111827"/>
                    </a:solidFill>
                    <a:latin typeface="Cambria Math" panose="02040503050406030204" pitchFamily="18" charset="0"/>
                  </a:rPr>
                  <a:t>$2=e^{(k_1-k_2)T}=\left(\frac43\right)^T$</a:t>
                </a:r>
                <a:r>
                  <a:rPr sz="2400" b="0">
                    <a:solidFill>
                      <a:srgbClr val="111827"/>
                    </a:solidFill>
                    <a:latin typeface="Arial"/>
                  </a:rPr>
                  <a:t> by (6).</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$T\ln\frac43=\ln2$</a:t>
                </a:r>
                <a:r>
                  <a:rPr sz="2400" b="0">
                    <a:solidFill>
                      <a:srgbClr val="111827"/>
                    </a:solidFill>
                    <a:latin typeface="Arial"/>
                  </a:rPr>
                  <a:t>, i.e. </a:t>
                </a:r>
                <a:r>
                  <a:rPr lang="en-IN" sz="2400">
                    <a:solidFill>
                      <a:srgbClr val="111827"/>
                    </a:solidFill>
                    <a:latin typeface="Cambria Math" panose="02040503050406030204" pitchFamily="18" charset="0"/>
                  </a:rPr>
                  <a:t>$T=\frac{\ln2}{\ln\frac43}=\log_{4/3}2$</a:t>
                </a:r>
                <a:r>
                  <a:rPr sz="2400" b="0">
                    <a:solidFill>
                      <a:srgbClr val="111827"/>
                    </a:solidFill>
                    <a:latin typeface="Arial"/>
                  </a:rPr>
                  <a:t> hours.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𝑇</m:t>
                    </m:r>
                    <m:r>
                      <m:rPr>
                        <m:sty m:val="p"/>
                      </m:rPr>
                      <a:rPr lang="en-IN" sz="2800">
                        <a:solidFill>
                          <a:srgbClr val="15803D"/>
                        </a:solidFill>
                        <a:latin typeface="Cambria Math" panose="02040503050406030204" pitchFamily="18" charset="0"/>
                      </a:rPr>
                      <m:t>=</m:t>
                    </m:r>
                    <m:sSub>
                      <m:e>
                        <m:r>
                          <m:rPr>
                            <m:sty m:val="p"/>
                          </m:rPr>
                          <a:rPr lang="en-IN" sz="2800">
                            <a:solidFill>
                              <a:srgbClr val="15803D"/>
                            </a:solidFill>
                            <a:latin typeface="Cambria Math" panose="02040503050406030204" pitchFamily="18" charset="0"/>
                          </a:rPr>
                          <m:t>log</m:t>
                        </m:r>
                      </m:e>
                      <m:sub>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sub>
                    </m:sSub>
                    <m:r>
                      <a:rPr lang="en-IN" sz="2800" i="1">
                        <a:solidFill>
                          <a:srgbClr val="15803D"/>
                        </a:solidFill>
                        <a:latin typeface="Cambria Math" panose="02040503050406030204" pitchFamily="18" charset="0"/>
                      </a:rPr>
                      <m:t>2</m:t>
                    </m:r>
                  </m:oMath>
                </a14:m>
                <a:r>
                  <a:rPr sz="2800" b="1">
                    <a:solidFill>
                      <a:srgbClr val="15803D"/>
                    </a:solidFill>
                    <a:latin typeface="Arial"/>
                  </a:rPr>
                  <a:t> hours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2.41</m:t>
                    </m:r>
                  </m:oMath>
                </a14:m>
                <a:r>
                  <a:rPr sz="2800" b="1">
                    <a:solidFill>
                      <a:srgbClr val="15803D"/>
                    </a:solidFill>
                    <a:latin typeface="Arial"/>
                  </a:rPr>
                  <a:t> hours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$T=\log_{4/3}2$</a:t>
                </a:r>
                <a:r>
                  <a:rPr sz="2800" b="1">
                    <a:solidFill>
                      <a:srgbClr val="15803D"/>
                    </a:solidFill>
                    <a:latin typeface="Arial"/>
                  </a:rPr>
                  <a:t> hours </a:t>
                </a:r>
                <a:r>
                  <a:rPr lang="en-IN" sz="2800">
                    <a:solidFill>
                      <a:srgbClr val="15803D"/>
                    </a:solidFill>
                    <a:latin typeface="Cambria Math" panose="02040503050406030204" pitchFamily="18" charset="0"/>
                  </a:rPr>
                  <a:t>$\approx2.41$</a:t>
                </a:r>
                <a:r>
                  <a:rPr sz="2800" b="1">
                    <a:solidFill>
                      <a:srgbClr val="15803D"/>
                    </a:solidFill>
                    <a:latin typeface="Arial"/>
                  </a:rPr>
                  <a:t> hours</a:t>
                </a:r>
                <a:endParaRPr sz="2800">
                  <a:solidFill>
                    <a:srgbClr val="15803D"/>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ratio </a:t>
                </a:r>
                <a14:m>
                  <m:oMath xmlns:m="http://schemas.openxmlformats.org/officeDocument/2006/math">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𝑣</m:t>
                    </m:r>
                  </m:oMath>
                </a14:m>
                <a:r>
                  <a:rPr sz="2400" b="0">
                    <a:solidFill>
                      <a:srgbClr val="78350F"/>
                    </a:solidFill>
                    <a:latin typeface="Arial"/>
                  </a:rPr>
                  <a:t> decays geometrically in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(a geometric progression), so two data points give </a:t>
                </a:r>
                <a14:m>
                  <m:oMath xmlns:m="http://schemas.openxmlformats.org/officeDocument/2006/math">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ratio </a:t>
                </a:r>
                <a:r>
                  <a:rPr lang="en-IN" sz="2400">
                    <a:solidFill>
                      <a:srgbClr val="78350F"/>
                    </a:solidFill>
                    <a:latin typeface="Cambria Math" panose="02040503050406030204" pitchFamily="18" charset="0"/>
                  </a:rPr>
                  <a:t>$R=u/v$</a:t>
                </a:r>
                <a:r>
                  <a:rPr sz="2400" b="0">
                    <a:solidFill>
                      <a:srgbClr val="78350F"/>
                    </a:solidFill>
                    <a:latin typeface="Arial"/>
                  </a:rPr>
                  <a:t> decays geometrically in </a:t>
                </a:r>
                <a:r>
                  <a:rPr lang="en-IN" sz="2400">
                    <a:solidFill>
                      <a:srgbClr val="78350F"/>
                    </a:solidFill>
                    <a:latin typeface="Cambria Math" panose="02040503050406030204" pitchFamily="18" charset="0"/>
                  </a:rPr>
                  <a:t>$t$</a:t>
                </a:r>
                <a:r>
                  <a:rPr sz="2400" b="0">
                    <a:solidFill>
                      <a:srgbClr val="78350F"/>
                    </a:solidFill>
                    <a:latin typeface="Arial"/>
                  </a:rPr>
                  <a:t> (a geometric progression), so two data points give </a:t>
                </a:r>
                <a:r>
                  <a:rPr lang="en-IN" sz="2400">
                    <a:solidFill>
                      <a:srgbClr val="78350F"/>
                    </a:solidFill>
                    <a:latin typeface="Cambria Math" panose="02040503050406030204" pitchFamily="18" charset="0"/>
                  </a:rPr>
                  <a:t>$R(t)$</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𝑡</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𝑉</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𝑡</m:t>
                        </m:r>
                      </m:sup>
                    </m:sSup>
                  </m:oMath>
                </a14:m>
                <a:r>
                  <a:rPr sz="2400" b="0">
                    <a:solidFill>
                      <a:srgbClr val="111827"/>
                    </a:solidFill>
                    <a:latin typeface="Arial"/>
                  </a:rPr>
                  <a:t>, the ratio is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𝑣</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𝑡</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reservoirs are equal when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𝑇</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b>
                    </m:sSub>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2.41</m:t>
                    </m:r>
                  </m:oMath>
                </a14:m>
                <a:r>
                  <a:rPr sz="2400" b="0">
                    <a:solidFill>
                      <a:srgbClr val="111827"/>
                    </a:solidFill>
                    <a:latin typeface="Arial"/>
                  </a:rPr>
                  <a:t> hours,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$u=2Ve^{-k_1t}$</a:t>
                </a:r>
                <a:r>
                  <a:rPr sz="2400" b="0">
                    <a:solidFill>
                      <a:srgbClr val="111827"/>
                    </a:solidFill>
                    <a:latin typeface="Arial"/>
                  </a:rPr>
                  <a:t> and </a:t>
                </a:r>
                <a:r>
                  <a:rPr lang="en-IN" sz="2400">
                    <a:solidFill>
                      <a:srgbClr val="111827"/>
                    </a:solidFill>
                    <a:latin typeface="Cambria Math" panose="02040503050406030204" pitchFamily="18" charset="0"/>
                  </a:rPr>
                  <a:t>$v=Ve^{-k_2t}$</a:t>
                </a:r>
                <a:r>
                  <a:rPr sz="2400" b="0">
                    <a:solidFill>
                      <a:srgbClr val="111827"/>
                    </a:solidFill>
                    <a:latin typeface="Arial"/>
                  </a:rPr>
                  <a:t>, the ratio is </a:t>
                </a:r>
                <a:r>
                  <a:rPr lang="en-IN" sz="2400">
                    <a:solidFill>
                      <a:srgbClr val="111827"/>
                    </a:solidFill>
                    <a:latin typeface="Cambria Math" panose="02040503050406030204" pitchFamily="18" charset="0"/>
                  </a:rPr>
                  <a:t>$R(t)=\frac uv=2e^{-(k_1-k_2)t}=2r^{t}$</a:t>
                </a:r>
                <a:r>
                  <a:rPr sz="2400" b="0">
                    <a:solidFill>
                      <a:srgbClr val="111827"/>
                    </a:solidFill>
                    <a:latin typeface="Arial"/>
                  </a:rPr>
                  <a:t> where </a:t>
                </a:r>
                <a:r>
                  <a:rPr lang="en-IN" sz="2400">
                    <a:solidFill>
                      <a:srgbClr val="111827"/>
                    </a:solidFill>
                    <a:latin typeface="Cambria Math" panose="02040503050406030204" pitchFamily="18" charset="0"/>
                  </a:rPr>
                  <a:t>$r=e^{k_2-k_1}$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$R(0)=2$</a:t>
                </a:r>
                <a:r>
                  <a:rPr sz="2400" b="0">
                    <a:solidFill>
                      <a:srgbClr val="111827"/>
                    </a:solidFill>
                    <a:latin typeface="Arial"/>
                  </a:rPr>
                  <a:t> and </a:t>
                </a:r>
                <a:r>
                  <a:rPr lang="en-IN" sz="2400">
                    <a:solidFill>
                      <a:srgbClr val="111827"/>
                    </a:solidFill>
                    <a:latin typeface="Cambria Math" panose="02040503050406030204" pitchFamily="18" charset="0"/>
                  </a:rPr>
                  <a:t>$R(1)=\frac32$</a:t>
                </a:r>
                <a:r>
                  <a:rPr sz="2400" b="0">
                    <a:solidFill>
                      <a:srgbClr val="111827"/>
                    </a:solidFill>
                    <a:latin typeface="Arial"/>
                  </a:rPr>
                  <a:t>, so </a:t>
                </a:r>
                <a:r>
                  <a:rPr lang="en-IN" sz="2400">
                    <a:solidFill>
                      <a:srgbClr val="111827"/>
                    </a:solidFill>
                    <a:latin typeface="Cambria Math" panose="02040503050406030204" pitchFamily="18" charset="0"/>
                  </a:rPr>
                  <a:t>$2r=\frac32$</a:t>
                </a:r>
                <a:r>
                  <a:rPr sz="2400" b="0">
                    <a:solidFill>
                      <a:srgbClr val="111827"/>
                    </a:solidFill>
                    <a:latin typeface="Arial"/>
                  </a:rPr>
                  <a:t> and </a:t>
                </a:r>
                <a:r>
                  <a:rPr lang="en-IN" sz="2400">
                    <a:solidFill>
                      <a:srgbClr val="111827"/>
                    </a:solidFill>
                    <a:latin typeface="Cambria Math" panose="02040503050406030204" pitchFamily="18" charset="0"/>
                  </a:rPr>
                  <a:t>$r=\frac34$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reservoirs are equal when </a:t>
                </a:r>
                <a:r>
                  <a:rPr lang="en-IN" sz="2400">
                    <a:solidFill>
                      <a:srgbClr val="111827"/>
                    </a:solidFill>
                    <a:latin typeface="Cambria Math" panose="02040503050406030204" pitchFamily="18" charset="0"/>
                  </a:rPr>
                  <a:t>$R(T)=1$</a:t>
                </a:r>
                <a:r>
                  <a:rPr sz="2400" b="0">
                    <a:solidFill>
                      <a:srgbClr val="111827"/>
                    </a:solidFill>
                    <a:latin typeface="Arial"/>
                  </a:rPr>
                  <a:t>: </a:t>
                </a:r>
                <a:r>
                  <a:rPr lang="en-IN" sz="2400">
                    <a:solidFill>
                      <a:srgbClr val="111827"/>
                    </a:solidFill>
                    <a:latin typeface="Cambria Math" panose="02040503050406030204" pitchFamily="18" charset="0"/>
                  </a:rPr>
                  <a:t>$2\left(\frac34\right)^T=1$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$\left(\frac43\right)^T=2$</a:t>
                </a:r>
                <a:r>
                  <a:rPr sz="2400" b="0">
                    <a:solidFill>
                      <a:srgbClr val="111827"/>
                    </a:solidFill>
                    <a:latin typeface="Arial"/>
                  </a:rPr>
                  <a:t> and </a:t>
                </a:r>
                <a:r>
                  <a:rPr lang="en-IN" sz="2400">
                    <a:solidFill>
                      <a:srgbClr val="111827"/>
                    </a:solidFill>
                    <a:latin typeface="Cambria Math" panose="02040503050406030204" pitchFamily="18" charset="0"/>
                  </a:rPr>
                  <a:t>$T=\log_{4/3}2\approx2.41$</a:t>
                </a:r>
                <a:r>
                  <a:rPr sz="2400" b="0">
                    <a:solidFill>
                      <a:srgbClr val="111827"/>
                    </a:solidFill>
                    <a:latin typeface="Arial"/>
                  </a:rPr>
                  <a:t> hours,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𝑇</m:t>
                    </m:r>
                    <m:r>
                      <m:rPr>
                        <m:sty m:val="p"/>
                      </m:rPr>
                      <a:rPr lang="en-IN" sz="2800">
                        <a:solidFill>
                          <a:srgbClr val="15803D"/>
                        </a:solidFill>
                        <a:latin typeface="Cambria Math" panose="02040503050406030204" pitchFamily="18" charset="0"/>
                      </a:rPr>
                      <m:t>=</m:t>
                    </m:r>
                    <m:sSub>
                      <m:e>
                        <m:r>
                          <m:rPr>
                            <m:sty m:val="p"/>
                          </m:rPr>
                          <a:rPr lang="en-IN" sz="2800">
                            <a:solidFill>
                              <a:srgbClr val="15803D"/>
                            </a:solidFill>
                            <a:latin typeface="Cambria Math" panose="02040503050406030204" pitchFamily="18" charset="0"/>
                          </a:rPr>
                          <m:t>log</m:t>
                        </m:r>
                      </m:e>
                      <m:sub>
                        <m:r>
                          <a:rPr lang="en-IN" sz="2800" i="1">
                            <a:solidFill>
                              <a:srgbClr val="15803D"/>
                            </a:solidFill>
                            <a:latin typeface="Cambria Math" panose="02040503050406030204" pitchFamily="18" charset="0"/>
                          </a:rPr>
                          <m:t>4</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sub>
                    </m:sSub>
                    <m:r>
                      <a:rPr lang="en-IN" sz="2800" i="1">
                        <a:solidFill>
                          <a:srgbClr val="15803D"/>
                        </a:solidFill>
                        <a:latin typeface="Cambria Math" panose="02040503050406030204" pitchFamily="18" charset="0"/>
                      </a:rPr>
                      <m:t>2</m:t>
                    </m:r>
                  </m:oMath>
                </a14:m>
                <a:r>
                  <a:rPr sz="2800" b="1">
                    <a:solidFill>
                      <a:srgbClr val="15803D"/>
                    </a:solidFill>
                    <a:latin typeface="Arial"/>
                  </a:rPr>
                  <a:t> hours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2.41</m:t>
                    </m:r>
                  </m:oMath>
                </a14:m>
                <a:r>
                  <a:rPr sz="2800" b="1">
                    <a:solidFill>
                      <a:srgbClr val="15803D"/>
                    </a:solidFill>
                    <a:latin typeface="Arial"/>
                  </a:rPr>
                  <a:t> hours</a:t>
                </a:r>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$T=\log_{4/3}2$</a:t>
                </a:r>
                <a:r>
                  <a:rPr sz="2800" b="1">
                    <a:solidFill>
                      <a:srgbClr val="15803D"/>
                    </a:solidFill>
                    <a:latin typeface="Arial"/>
                  </a:rPr>
                  <a:t> hours </a:t>
                </a:r>
                <a:r>
                  <a:rPr lang="en-IN" sz="2800">
                    <a:solidFill>
                      <a:srgbClr val="15803D"/>
                    </a:solidFill>
                    <a:latin typeface="Cambria Math" panose="02040503050406030204" pitchFamily="18" charset="0"/>
                  </a:rPr>
                  <a:t>$\approx2.41$</a:t>
                </a:r>
                <a:r>
                  <a:rPr sz="2800" b="1">
                    <a:solidFill>
                      <a:srgbClr val="15803D"/>
                    </a:solidFill>
                    <a:latin typeface="Arial"/>
                  </a:rPr>
                  <a:t> hours</a:t>
                </a:r>
                <a:endParaRPr sz="2800">
                  <a:solidFill>
                    <a:srgbClr val="15803D"/>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two quantities each decay as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𝑡</m:t>
                        </m:r>
                      </m:sup>
                    </m:sSup>
                  </m:oMath>
                </a14:m>
                <a:r>
                  <a:rPr sz="2400" b="0">
                    <a:solidFill>
                      <a:srgbClr val="111827"/>
                    </a:solidFill>
                    <a:latin typeface="Arial"/>
                  </a:rPr>
                  <a:t> with different constants, their ratio is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𝑡</m:t>
                        </m:r>
                      </m:sup>
                    </m:sSup>
                  </m:oMath>
                </a14:m>
                <a:r>
                  <a:rPr sz="2400" b="0">
                    <a:solidFill>
                      <a:srgbClr val="111827"/>
                    </a:solidFill>
                    <a:latin typeface="Arial"/>
                  </a:rPr>
                  <a:t>: it is geometric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and only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one later value are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Half-life / doubling-time form: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𝑄</m:t>
                        </m:r>
                      </m:e>
                      <m:sub>
                        <m:r>
                          <a:rPr lang="en-IN" sz="2400" i="1">
                            <a:solidFill>
                              <a:srgbClr val="111827"/>
                            </a:solidFill>
                            <a:latin typeface="Cambria Math" panose="02040503050406030204" pitchFamily="18" charset="0"/>
                          </a:rPr>
                          <m:t>0</m:t>
                        </m:r>
                      </m:sub>
                    </m:sSub>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𝑡</m:t>
                        </m:r>
                      </m:sup>
                    </m:sSup>
                  </m:oMath>
                </a14:m>
                <a:r>
                  <a:rPr sz="2400" b="0">
                    <a:solidFill>
                      <a:srgbClr val="111827"/>
                    </a:solidFill>
                    <a:latin typeface="Arial"/>
                  </a:rPr>
                  <a:t> equals </a:t>
                </a:r>
                <a14:m>
                  <m:oMath xmlns:m="http://schemas.openxmlformats.org/officeDocument/2006/math">
                    <m:sSub>
                      <m:e>
                        <m:r>
                          <a:rPr lang="en-IN" sz="2400" i="1">
                            <a:solidFill>
                              <a:srgbClr val="111827"/>
                            </a:solidFill>
                            <a:latin typeface="Cambria Math" panose="02040503050406030204" pitchFamily="18" charset="0"/>
                          </a:rPr>
                          <m:t>𝑄</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 here the time to equalise is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'Rate of outflow proportional to the quantity' always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𝑄</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𝑄</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𝑄</m:t>
                        </m:r>
                      </m:e>
                      <m:sub>
                        <m:r>
                          <a:rPr lang="en-IN" sz="2400" i="1">
                            <a:solidFill>
                              <a:srgbClr val="111827"/>
                            </a:solidFill>
                            <a:latin typeface="Cambria Math" panose="02040503050406030204" pitchFamily="18" charset="0"/>
                          </a:rPr>
                          <m:t>0</m:t>
                        </m:r>
                      </m:sub>
                    </m:sSub>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𝑡</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two quantities each decay as </a:t>
                </a:r>
                <a:r>
                  <a:rPr lang="en-IN" sz="2400">
                    <a:solidFill>
                      <a:srgbClr val="111827"/>
                    </a:solidFill>
                    <a:latin typeface="Cambria Math" panose="02040503050406030204" pitchFamily="18" charset="0"/>
                  </a:rPr>
                  <a:t>$e^{-kt}$</a:t>
                </a:r>
                <a:r>
                  <a:rPr sz="2400" b="0">
                    <a:solidFill>
                      <a:srgbClr val="111827"/>
                    </a:solidFill>
                    <a:latin typeface="Arial"/>
                  </a:rPr>
                  <a:t> with different constants, their ratio is </a:t>
                </a:r>
                <a:r>
                  <a:rPr lang="en-IN" sz="2400">
                    <a:solidFill>
                      <a:srgbClr val="111827"/>
                    </a:solidFill>
                    <a:latin typeface="Cambria Math" panose="02040503050406030204" pitchFamily="18" charset="0"/>
                  </a:rPr>
                  <a:t>$R(0)\,r^{t}$</a:t>
                </a:r>
                <a:r>
                  <a:rPr sz="2400" b="0">
                    <a:solidFill>
                      <a:srgbClr val="111827"/>
                    </a:solidFill>
                    <a:latin typeface="Arial"/>
                  </a:rPr>
                  <a:t>: it is geometric in </a:t>
                </a:r>
                <a:r>
                  <a:rPr lang="en-IN" sz="2400">
                    <a:solidFill>
                      <a:srgbClr val="111827"/>
                    </a:solidFill>
                    <a:latin typeface="Cambria Math" panose="02040503050406030204" pitchFamily="18" charset="0"/>
                  </a:rPr>
                  <a:t>$t$</a:t>
                </a:r>
                <a:r>
                  <a:rPr sz="2400" b="0">
                    <a:solidFill>
                      <a:srgbClr val="111827"/>
                    </a:solidFill>
                    <a:latin typeface="Arial"/>
                  </a:rPr>
                  <a:t>, and only </a:t>
                </a:r>
                <a:r>
                  <a:rPr lang="en-IN" sz="2400">
                    <a:solidFill>
                      <a:srgbClr val="111827"/>
                    </a:solidFill>
                    <a:latin typeface="Cambria Math" panose="02040503050406030204" pitchFamily="18" charset="0"/>
                  </a:rPr>
                  <a:t>$R(0)$</a:t>
                </a:r>
                <a:r>
                  <a:rPr sz="2400" b="0">
                    <a:solidFill>
                      <a:srgbClr val="111827"/>
                    </a:solidFill>
                    <a:latin typeface="Arial"/>
                  </a:rPr>
                  <a:t> and one later value are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Half-life / doubling-time form: </a:t>
                </a:r>
                <a:r>
                  <a:rPr lang="en-IN" sz="2400">
                    <a:solidFill>
                      <a:srgbClr val="111827"/>
                    </a:solidFill>
                    <a:latin typeface="Cambria Math" panose="02040503050406030204" pitchFamily="18" charset="0"/>
                  </a:rPr>
                  <a:t>$Q=Q_0e^{-kt}$</a:t>
                </a:r>
                <a:r>
                  <a:rPr sz="2400" b="0">
                    <a:solidFill>
                      <a:srgbClr val="111827"/>
                    </a:solidFill>
                    <a:latin typeface="Arial"/>
                  </a:rPr>
                  <a:t> equals </a:t>
                </a:r>
                <a:r>
                  <a:rPr lang="en-IN" sz="2400">
                    <a:solidFill>
                      <a:srgbClr val="111827"/>
                    </a:solidFill>
                    <a:latin typeface="Cambria Math" panose="02040503050406030204" pitchFamily="18" charset="0"/>
                  </a:rPr>
                  <a:t>$Q_0/2$</a:t>
                </a:r>
                <a:r>
                  <a:rPr sz="2400" b="0">
                    <a:solidFill>
                      <a:srgbClr val="111827"/>
                    </a:solidFill>
                    <a:latin typeface="Arial"/>
                  </a:rPr>
                  <a:t> at </a:t>
                </a:r>
                <a:r>
                  <a:rPr lang="en-IN" sz="2400">
                    <a:solidFill>
                      <a:srgbClr val="111827"/>
                    </a:solidFill>
                    <a:latin typeface="Cambria Math" panose="02040503050406030204" pitchFamily="18" charset="0"/>
                  </a:rPr>
                  <a:t>$t=\frac{\ln2}{k}$</a:t>
                </a:r>
                <a:r>
                  <a:rPr sz="2400" b="0">
                    <a:solidFill>
                      <a:srgbClr val="111827"/>
                    </a:solidFill>
                    <a:latin typeface="Arial"/>
                  </a:rPr>
                  <a:t>; here the time to equalise is </a:t>
                </a:r>
                <a:r>
                  <a:rPr lang="en-IN" sz="2400">
                    <a:solidFill>
                      <a:srgbClr val="111827"/>
                    </a:solidFill>
                    <a:latin typeface="Cambria Math" panose="02040503050406030204" pitchFamily="18" charset="0"/>
                  </a:rPr>
                  <a:t>$\frac{\ln(R_0)}{\ln(R(0)/R(1))}=\frac{\ln2}{\ln\frac43}$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'Rate of outflow proportional to the quantity' always means </a:t>
                </a:r>
                <a:r>
                  <a:rPr lang="en-IN" sz="2400">
                    <a:solidFill>
                      <a:srgbClr val="111827"/>
                    </a:solidFill>
                    <a:latin typeface="Cambria Math" panose="02040503050406030204" pitchFamily="18" charset="0"/>
                  </a:rPr>
                  <a:t>$\frac{dQ}{dt}=-kQ$</a:t>
                </a:r>
                <a:r>
                  <a:rPr sz="2400" b="0">
                    <a:solidFill>
                      <a:srgbClr val="111827"/>
                    </a:solidFill>
                    <a:latin typeface="Arial"/>
                  </a:rPr>
                  <a:t> with </a:t>
                </a:r>
                <a:r>
                  <a:rPr lang="en-IN" sz="2400">
                    <a:solidFill>
                      <a:srgbClr val="111827"/>
                    </a:solidFill>
                    <a:latin typeface="Cambria Math" panose="02040503050406030204" pitchFamily="18" charset="0"/>
                  </a:rPr>
                  <a:t>$Q=Q_0e^{-kt}$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tank consists of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litres of fresh water. Two litres of brine, each litre containing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gm of dissolved salt, run into the tank per minute; the mixture is kept uniform by stirring, and runs out at the rate of one litre per minute. If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grams of salt are present in the tank after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minutes, express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in terms of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and find the amount of salt present after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minutes.</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tank consists of </a:t>
                </a:r>
                <a:r>
                  <a:rPr lang="en-IN" sz="2400">
                    <a:solidFill>
                      <a:srgbClr val="111827"/>
                    </a:solidFill>
                    <a:latin typeface="Cambria Math" panose="02040503050406030204" pitchFamily="18" charset="0"/>
                  </a:rPr>
                  <a:t>$50$</a:t>
                </a:r>
                <a:r>
                  <a:rPr sz="2400" b="0">
                    <a:solidFill>
                      <a:srgbClr val="111827"/>
                    </a:solidFill>
                    <a:latin typeface="Arial"/>
                  </a:rPr>
                  <a:t> litres of fresh water. Two litres of brine, each litre containing </a:t>
                </a:r>
                <a:r>
                  <a:rPr lang="en-IN" sz="2400">
                    <a:solidFill>
                      <a:srgbClr val="111827"/>
                    </a:solidFill>
                    <a:latin typeface="Cambria Math" panose="02040503050406030204" pitchFamily="18" charset="0"/>
                  </a:rPr>
                  <a:t>$5$</a:t>
                </a:r>
                <a:r>
                  <a:rPr sz="2400" b="0">
                    <a:solidFill>
                      <a:srgbClr val="111827"/>
                    </a:solidFill>
                    <a:latin typeface="Arial"/>
                  </a:rPr>
                  <a:t> gm of dissolved salt, run into the tank per minute; the mixture is kept uniform by stirring, and runs out at the rate of one litre per minute. If </a:t>
                </a:r>
                <a:r>
                  <a:rPr lang="en-IN" sz="2400">
                    <a:solidFill>
                      <a:srgbClr val="111827"/>
                    </a:solidFill>
                    <a:latin typeface="Cambria Math" panose="02040503050406030204" pitchFamily="18" charset="0"/>
                  </a:rPr>
                  <a:t>$m$</a:t>
                </a:r>
                <a:r>
                  <a:rPr sz="2400" b="0">
                    <a:solidFill>
                      <a:srgbClr val="111827"/>
                    </a:solidFill>
                    <a:latin typeface="Arial"/>
                  </a:rPr>
                  <a:t> grams of salt are present in the tank after </a:t>
                </a:r>
                <a:r>
                  <a:rPr lang="en-IN" sz="2400">
                    <a:solidFill>
                      <a:srgbClr val="111827"/>
                    </a:solidFill>
                    <a:latin typeface="Cambria Math" panose="02040503050406030204" pitchFamily="18" charset="0"/>
                  </a:rPr>
                  <a:t>$t$</a:t>
                </a:r>
                <a:r>
                  <a:rPr sz="2400" b="0">
                    <a:solidFill>
                      <a:srgbClr val="111827"/>
                    </a:solidFill>
                    <a:latin typeface="Arial"/>
                  </a:rPr>
                  <a:t> minutes, express </a:t>
                </a:r>
                <a:r>
                  <a:rPr lang="en-IN" sz="2400">
                    <a:solidFill>
                      <a:srgbClr val="111827"/>
                    </a:solidFill>
                    <a:latin typeface="Cambria Math" panose="02040503050406030204" pitchFamily="18" charset="0"/>
                  </a:rPr>
                  <a:t>$m$</a:t>
                </a:r>
                <a:r>
                  <a:rPr sz="2400" b="0">
                    <a:solidFill>
                      <a:srgbClr val="111827"/>
                    </a:solidFill>
                    <a:latin typeface="Arial"/>
                  </a:rPr>
                  <a:t> in terms of </a:t>
                </a:r>
                <a:r>
                  <a:rPr lang="en-IN" sz="2400">
                    <a:solidFill>
                      <a:srgbClr val="111827"/>
                    </a:solidFill>
                    <a:latin typeface="Cambria Math" panose="02040503050406030204" pitchFamily="18" charset="0"/>
                  </a:rPr>
                  <a:t>$t$</a:t>
                </a:r>
                <a:r>
                  <a:rPr sz="2400" b="0">
                    <a:solidFill>
                      <a:srgbClr val="111827"/>
                    </a:solidFill>
                    <a:latin typeface="Arial"/>
                  </a:rPr>
                  <a:t> and find the amount of salt present after </a:t>
                </a:r>
                <a:r>
                  <a:rPr lang="en-IN" sz="2400">
                    <a:solidFill>
                      <a:srgbClr val="111827"/>
                    </a:solidFill>
                    <a:latin typeface="Cambria Math" panose="02040503050406030204" pitchFamily="18" charset="0"/>
                  </a:rPr>
                  <a:t>$10$</a:t>
                </a:r>
                <a:r>
                  <a:rPr sz="2400" b="0">
                    <a:solidFill>
                      <a:srgbClr val="111827"/>
                    </a:solidFill>
                    <a:latin typeface="Arial"/>
                  </a:rPr>
                  <a:t> minutes.</a:t>
                </a:r>
                <a:endParaRPr sz="2400">
                  <a:solidFill>
                    <a:srgbClr val="111827"/>
                  </a:solidFill>
                </a:endParaRPr>
              </a:p>
            </p:txBody>
          </p:sp>
        </mc:Fallback>
      </mc:AlternateContent>
      <p:sp>
        <p:nvSpPr>
          <p:cNvPr id="5" name="Rectangle 4"/>
          <p:cNvSpPr/>
          <p:nvPr/>
        </p:nvSpPr>
        <p:spPr>
          <a:xfrm>
            <a:off x="731520" y="4260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Mixture problems (linear differential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Volume grows as </a:t>
                </a:r>
                <a14:m>
                  <m:oMath xmlns:m="http://schemas.openxmlformats.org/officeDocument/2006/math">
                    <m:r>
                      <a:rPr lang="en-IN" sz="2400" i="1">
                        <a:solidFill>
                          <a:srgbClr val="78350F"/>
                        </a:solidFill>
                        <a:latin typeface="Cambria Math" panose="02040503050406030204" pitchFamily="18" charset="0"/>
                      </a:rPr>
                      <m:t>50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litres;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(rate in) </a:t>
                </a:r>
                <a14:m>
                  <m:oMath xmlns:m="http://schemas.openxmlformats.org/officeDocument/2006/math">
                    <m:r>
                      <m:rPr>
                        <m:sty m:val="p"/>
                      </m:rPr>
                      <a:rPr lang="en-IN" sz="2400">
                        <a:solidFill>
                          <a:srgbClr val="78350F"/>
                        </a:solidFill>
                        <a:latin typeface="Cambria Math" panose="02040503050406030204" pitchFamily="18" charset="0"/>
                      </a:rPr>
                      <m:t>−</m:t>
                    </m:r>
                  </m:oMath>
                </a14:m>
                <a:r>
                  <a:rPr sz="2400" b="0">
                    <a:solidFill>
                      <a:srgbClr val="78350F"/>
                    </a:solidFill>
                    <a:latin typeface="Arial"/>
                  </a:rPr>
                  <a:t> (rate out)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10</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𝑚</m:t>
                        </m:r>
                      </m:num>
                      <m:den>
                        <m:r>
                          <a:rPr lang="en-IN" sz="2400" i="1">
                            <a:solidFill>
                              <a:srgbClr val="78350F"/>
                            </a:solidFill>
                            <a:latin typeface="Cambria Math" panose="02040503050406030204" pitchFamily="18" charset="0"/>
                          </a:rPr>
                          <m:t>50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Volume grows as </a:t>
                </a:r>
                <a:r>
                  <a:rPr lang="en-IN" sz="2400">
                    <a:solidFill>
                      <a:srgbClr val="78350F"/>
                    </a:solidFill>
                    <a:latin typeface="Cambria Math" panose="02040503050406030204" pitchFamily="18" charset="0"/>
                  </a:rPr>
                  <a:t>$50+t$</a:t>
                </a:r>
                <a:r>
                  <a:rPr sz="2400" b="0">
                    <a:solidFill>
                      <a:srgbClr val="78350F"/>
                    </a:solidFill>
                    <a:latin typeface="Arial"/>
                  </a:rPr>
                  <a:t> litres; </a:t>
                </a:r>
                <a:r>
                  <a:rPr lang="en-IN" sz="2400">
                    <a:solidFill>
                      <a:srgbClr val="78350F"/>
                    </a:solidFill>
                    <a:latin typeface="Cambria Math" panose="02040503050406030204" pitchFamily="18" charset="0"/>
                  </a:rPr>
                  <a:t>$\frac{dm}{dt}=$</a:t>
                </a:r>
                <a:r>
                  <a:rPr sz="2400" b="0">
                    <a:solidFill>
                      <a:srgbClr val="78350F"/>
                    </a:solidFill>
                    <a:latin typeface="Arial"/>
                  </a:rPr>
                  <a:t> (rate in) </a:t>
                </a:r>
                <a:r>
                  <a:rPr lang="en-IN" sz="2400">
                    <a:solidFill>
                      <a:srgbClr val="78350F"/>
                    </a:solidFill>
                    <a:latin typeface="Cambria Math" panose="02040503050406030204" pitchFamily="18" charset="0"/>
                  </a:rPr>
                  <a:t>$-$</a:t>
                </a:r>
                <a:r>
                  <a:rPr sz="2400" b="0">
                    <a:solidFill>
                      <a:srgbClr val="78350F"/>
                    </a:solidFill>
                    <a:latin typeface="Arial"/>
                  </a:rPr>
                  <a:t> (rate out) </a:t>
                </a:r>
                <a:r>
                  <a:rPr lang="en-IN" sz="2400">
                    <a:solidFill>
                      <a:srgbClr val="78350F"/>
                    </a:solidFill>
                    <a:latin typeface="Cambria Math" panose="02040503050406030204" pitchFamily="18" charset="0"/>
                  </a:rPr>
                  <a:t>$=10-\frac{m}{50+t}$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Input rate of salt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gm/min.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time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the volume of the tank is </a:t>
                </a:r>
                <a14:m>
                  <m:oMath xmlns:m="http://schemas.openxmlformats.org/officeDocument/2006/math">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litres.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Concentration of salt at time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oMath>
                </a14:m>
                <a:r>
                  <a:rPr sz="2400" b="0">
                    <a:solidFill>
                      <a:srgbClr val="111827"/>
                    </a:solidFill>
                    <a:latin typeface="Arial"/>
                  </a:rPr>
                  <a:t> gm/litre.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Output rate of salt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gm/min.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(linear,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Input rate of salt </a:t>
                </a:r>
                <a:r>
                  <a:rPr lang="en-IN" sz="2400">
                    <a:solidFill>
                      <a:srgbClr val="111827"/>
                    </a:solidFill>
                    <a:latin typeface="Cambria Math" panose="02040503050406030204" pitchFamily="18" charset="0"/>
                  </a:rPr>
                  <a:t>$=2\times5=10$</a:t>
                </a:r>
                <a:r>
                  <a:rPr sz="2400" b="0">
                    <a:solidFill>
                      <a:srgbClr val="111827"/>
                    </a:solidFill>
                    <a:latin typeface="Arial"/>
                  </a:rPr>
                  <a:t> gm/min.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After time </a:t>
                </a:r>
                <a:r>
                  <a:rPr lang="en-IN" sz="2400">
                    <a:solidFill>
                      <a:srgbClr val="111827"/>
                    </a:solidFill>
                    <a:latin typeface="Cambria Math" panose="02040503050406030204" pitchFamily="18" charset="0"/>
                  </a:rPr>
                  <a:t>$t$</a:t>
                </a:r>
                <a:r>
                  <a:rPr sz="2400" b="0">
                    <a:solidFill>
                      <a:srgbClr val="111827"/>
                    </a:solidFill>
                    <a:latin typeface="Arial"/>
                  </a:rPr>
                  <a:t> the volume of the tank is </a:t>
                </a:r>
                <a:r>
                  <a:rPr lang="en-IN" sz="2400">
                    <a:solidFill>
                      <a:srgbClr val="111827"/>
                    </a:solidFill>
                    <a:latin typeface="Cambria Math" panose="02040503050406030204" pitchFamily="18" charset="0"/>
                  </a:rPr>
                  <a:t>$50+(2-1)t=50+t$</a:t>
                </a:r>
                <a:r>
                  <a:rPr sz="2400" b="0">
                    <a:solidFill>
                      <a:srgbClr val="111827"/>
                    </a:solidFill>
                    <a:latin typeface="Arial"/>
                  </a:rPr>
                  <a:t> litres.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Concentration of salt at time </a:t>
                </a:r>
                <a:r>
                  <a:rPr lang="en-IN" sz="2400">
                    <a:solidFill>
                      <a:srgbClr val="111827"/>
                    </a:solidFill>
                    <a:latin typeface="Cambria Math" panose="02040503050406030204" pitchFamily="18" charset="0"/>
                  </a:rPr>
                  <a:t>$t$</a:t>
                </a:r>
                <a:r>
                  <a:rPr sz="2400" b="0">
                    <a:solidFill>
                      <a:srgbClr val="111827"/>
                    </a:solidFill>
                    <a:latin typeface="Arial"/>
                  </a:rPr>
                  <a:t> is </a:t>
                </a:r>
                <a:r>
                  <a:rPr lang="en-IN" sz="2400">
                    <a:solidFill>
                      <a:srgbClr val="111827"/>
                    </a:solidFill>
                    <a:latin typeface="Cambria Math" panose="02040503050406030204" pitchFamily="18" charset="0"/>
                  </a:rPr>
                  <a:t>$\frac{m}{50+t}$</a:t>
                </a:r>
                <a:r>
                  <a:rPr sz="2400" b="0">
                    <a:solidFill>
                      <a:srgbClr val="111827"/>
                    </a:solidFill>
                    <a:latin typeface="Arial"/>
                  </a:rPr>
                  <a:t> gm/litre.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Output rate of salt </a:t>
                </a:r>
                <a:r>
                  <a:rPr lang="en-IN" sz="2400">
                    <a:solidFill>
                      <a:srgbClr val="111827"/>
                    </a:solidFill>
                    <a:latin typeface="Cambria Math" panose="02040503050406030204" pitchFamily="18" charset="0"/>
                  </a:rPr>
                  <a:t>$=\frac{m}{50+t}\cdot1$</a:t>
                </a:r>
                <a:r>
                  <a:rPr sz="2400" b="0">
                    <a:solidFill>
                      <a:srgbClr val="111827"/>
                    </a:solidFill>
                    <a:latin typeface="Arial"/>
                  </a:rPr>
                  <a:t> gm/min.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$\frac{dm}{dt}=10-\frac{m}{50+t}$</a:t>
                </a:r>
                <a:r>
                  <a:rPr sz="2400" b="0">
                    <a:solidFill>
                      <a:srgbClr val="111827"/>
                    </a:solidFill>
                    <a:latin typeface="Arial"/>
                  </a:rPr>
                  <a:t>, i.e. </a:t>
                </a:r>
                <a:r>
                  <a:rPr lang="en-IN" sz="2400">
                    <a:solidFill>
                      <a:srgbClr val="111827"/>
                    </a:solidFill>
                    <a:latin typeface="Cambria Math" panose="02040503050406030204" pitchFamily="18" charset="0"/>
                  </a:rPr>
                  <a:t>$\frac{dm}{dt}+\frac{m}{50+t}=10$</a:t>
                </a:r>
                <a:r>
                  <a:rPr sz="2400" b="0">
                    <a:solidFill>
                      <a:srgbClr val="111827"/>
                    </a:solidFill>
                    <a:latin typeface="Arial"/>
                  </a:rPr>
                  <a:t> (linear, I.F. </a:t>
                </a:r>
                <a:r>
                  <a:rPr lang="en-IN" sz="2400">
                    <a:solidFill>
                      <a:srgbClr val="111827"/>
                    </a:solidFill>
                    <a:latin typeface="Cambria Math" panose="02040503050406030204" pitchFamily="18" charset="0"/>
                  </a:rPr>
                  <a:t>$=50+t$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𝑡</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e>
                    </m:d>
                  </m:oMath>
                </a14:m>
                <a:r>
                  <a:rPr sz="2400" b="0">
                    <a:solidFill>
                      <a:srgbClr val="111827"/>
                    </a:solidFill>
                    <a:latin typeface="Arial"/>
                  </a:rPr>
                  <a:t>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110</m:t>
                        </m:r>
                      </m:num>
                      <m:den>
                        <m:r>
                          <a:rPr lang="en-IN" sz="2400" i="1">
                            <a:solidFill>
                              <a:srgbClr val="111827"/>
                            </a:solidFill>
                            <a:latin typeface="Cambria Math" panose="02040503050406030204" pitchFamily="18" charset="0"/>
                          </a:rPr>
                          <m:t>60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275</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gm.</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$m(50+t)=10\int(50+t)\,dt=500t+5t^2+c$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$t=0$</a:t>
                </a:r>
                <a:r>
                  <a:rPr sz="2400" b="0">
                    <a:solidFill>
                      <a:srgbClr val="111827"/>
                    </a:solidFill>
                    <a:latin typeface="Arial"/>
                  </a:rPr>
                  <a:t>, </a:t>
                </a:r>
                <a:r>
                  <a:rPr lang="en-IN" sz="2400">
                    <a:solidFill>
                      <a:srgbClr val="111827"/>
                    </a:solidFill>
                    <a:latin typeface="Cambria Math" panose="02040503050406030204" pitchFamily="18" charset="0"/>
                  </a:rPr>
                  <a:t>$m=0$</a:t>
                </a:r>
                <a:r>
                  <a:rPr sz="2400" b="0">
                    <a:solidFill>
                      <a:srgbClr val="111827"/>
                    </a:solidFill>
                    <a:latin typeface="Arial"/>
                  </a:rPr>
                  <a:t>, so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$m(50+t)=5(100t+t^2)$</a:t>
                </a:r>
                <a:r>
                  <a:rPr sz="2400" b="0">
                    <a:solidFill>
                      <a:srgbClr val="111827"/>
                    </a:solidFill>
                    <a:latin typeface="Arial"/>
                  </a:rPr>
                  <a:t>, so </a:t>
                </a:r>
                <a:r>
                  <a:rPr lang="en-IN" sz="2400">
                    <a:solidFill>
                      <a:srgbClr val="111827"/>
                    </a:solidFill>
                    <a:latin typeface="Cambria Math" panose="02040503050406030204" pitchFamily="18" charset="0"/>
                  </a:rPr>
                  <a:t>$m=5t\left(\frac{100+t}{50+t}\right)$</a:t>
                </a:r>
                <a:r>
                  <a:rPr sz="2400" b="0">
                    <a:solidFill>
                      <a:srgbClr val="111827"/>
                    </a:solidFill>
                    <a:latin typeface="Arial"/>
                  </a:rPr>
                  <a:t> gm.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$t=10$</a:t>
                </a:r>
                <a:r>
                  <a:rPr sz="2400" b="0">
                    <a:solidFill>
                      <a:srgbClr val="111827"/>
                    </a:solidFill>
                    <a:latin typeface="Arial"/>
                  </a:rPr>
                  <a:t>: </a:t>
                </a:r>
                <a:r>
                  <a:rPr lang="en-IN" sz="2400">
                    <a:solidFill>
                      <a:srgbClr val="111827"/>
                    </a:solidFill>
                    <a:latin typeface="Cambria Math" panose="02040503050406030204" pitchFamily="18" charset="0"/>
                  </a:rPr>
                  <a:t>$m=5\cdot10\cdot\frac{110}{60}=\frac{275}{3}=91\frac23$</a:t>
                </a:r>
                <a:r>
                  <a:rPr sz="2400" b="0">
                    <a:solidFill>
                      <a:srgbClr val="111827"/>
                    </a:solidFill>
                    <a:latin typeface="Arial"/>
                  </a:rPr>
                  <a:t> gm.</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r>
                          <a:rPr lang="en-IN" sz="2800" i="1">
                            <a:solidFill>
                              <a:srgbClr val="15803D"/>
                            </a:solidFill>
                            <a:latin typeface="Cambria Math" panose="02040503050406030204" pitchFamily="18" charset="0"/>
                          </a:rPr>
                          <m:t>𝑡</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𝑡</m:t>
                        </m:r>
                        <m:r>
                          <m:rPr>
                            <m:sty m:val="p"/>
                          </m:rPr>
                          <a:rPr lang="en-IN" sz="2800">
                            <a:solidFill>
                              <a:srgbClr val="15803D"/>
                            </a:solidFill>
                            <a:latin typeface="Cambria Math" panose="02040503050406030204" pitchFamily="18" charset="0"/>
                          </a:rPr>
                          <m:t>)</m:t>
                        </m:r>
                      </m:num>
                      <m:den>
                        <m:r>
                          <a:rPr lang="en-IN" sz="2800" i="1">
                            <a:solidFill>
                              <a:srgbClr val="15803D"/>
                            </a:solidFill>
                            <a:latin typeface="Cambria Math" panose="02040503050406030204" pitchFamily="18" charset="0"/>
                          </a:rPr>
                          <m:t>50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𝑡</m:t>
                        </m:r>
                      </m:den>
                    </m:f>
                  </m:oMath>
                </a14:m>
                <a:r>
                  <a:rPr sz="2800" b="1">
                    <a:solidFill>
                      <a:srgbClr val="15803D"/>
                    </a:solidFill>
                    <a:latin typeface="Arial"/>
                  </a:rPr>
                  <a:t> gm; after </a:t>
                </a:r>
                <a14:m>
                  <m:oMath xmlns:m="http://schemas.openxmlformats.org/officeDocument/2006/math">
                    <m:r>
                      <a:rPr lang="en-IN" sz="2800" i="1">
                        <a:solidFill>
                          <a:srgbClr val="15803D"/>
                        </a:solidFill>
                        <a:latin typeface="Cambria Math" panose="02040503050406030204" pitchFamily="18" charset="0"/>
                      </a:rPr>
                      <m:t>10</m:t>
                    </m:r>
                  </m:oMath>
                </a14:m>
                <a:r>
                  <a:rPr sz="2800" b="1">
                    <a:solidFill>
                      <a:srgbClr val="15803D"/>
                    </a:solidFill>
                    <a:latin typeface="Arial"/>
                  </a:rPr>
                  <a:t> minutes </a:t>
                </a:r>
                <a14:m>
                  <m:oMath xmlns:m="http://schemas.openxmlformats.org/officeDocument/2006/math">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91</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den>
                    </m:f>
                  </m:oMath>
                </a14:m>
                <a:r>
                  <a:rPr sz="2800" b="1">
                    <a:solidFill>
                      <a:srgbClr val="15803D"/>
                    </a:solidFill>
                    <a:latin typeface="Arial"/>
                  </a:rPr>
                  <a:t> gm</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$m=\frac{5t(100+t)}{50+t}$</a:t>
                </a:r>
                <a:r>
                  <a:rPr sz="2800" b="1">
                    <a:solidFill>
                      <a:srgbClr val="15803D"/>
                    </a:solidFill>
                    <a:latin typeface="Arial"/>
                  </a:rPr>
                  <a:t> gm; after </a:t>
                </a:r>
                <a:r>
                  <a:rPr lang="en-IN" sz="2800">
                    <a:solidFill>
                      <a:srgbClr val="15803D"/>
                    </a:solidFill>
                    <a:latin typeface="Cambria Math" panose="02040503050406030204" pitchFamily="18" charset="0"/>
                  </a:rPr>
                  <a:t>$10$</a:t>
                </a:r>
                <a:r>
                  <a:rPr sz="2800" b="1">
                    <a:solidFill>
                      <a:srgbClr val="15803D"/>
                    </a:solidFill>
                    <a:latin typeface="Arial"/>
                  </a:rPr>
                  <a:t> minutes </a:t>
                </a:r>
                <a:r>
                  <a:rPr lang="en-IN" sz="2800">
                    <a:solidFill>
                      <a:srgbClr val="15803D"/>
                    </a:solidFill>
                    <a:latin typeface="Cambria Math" panose="02040503050406030204" pitchFamily="18" charset="0"/>
                  </a:rPr>
                  <a:t>$m=91\frac23$</a:t>
                </a:r>
                <a:r>
                  <a:rPr sz="2800" b="1">
                    <a:solidFill>
                      <a:srgbClr val="15803D"/>
                    </a:solidFill>
                    <a:latin typeface="Arial"/>
                  </a:rPr>
                  <a:t> gm</a:t>
                </a:r>
                <a:endParaRPr sz="2800">
                  <a:solidFill>
                    <a:srgbClr val="15803D"/>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Track the salt deficit </a:t>
                </a:r>
                <a14:m>
                  <m:oMath xmlns:m="http://schemas.openxmlformats.org/officeDocument/2006/math">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oMath>
                </a14:m>
                <a:r>
                  <a:rPr sz="2400" b="0">
                    <a:solidFill>
                      <a:srgbClr val="78350F"/>
                    </a:solidFill>
                    <a:latin typeface="Arial"/>
                  </a:rPr>
                  <a:t> (salt missing compared with full-strength brine): it satisfies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𝑤</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𝑤</m:t>
                        </m:r>
                      </m:num>
                      <m:den>
                        <m:r>
                          <a:rPr lang="en-IN" sz="2400" i="1">
                            <a:solidFill>
                              <a:srgbClr val="78350F"/>
                            </a:solidFill>
                            <a:latin typeface="Cambria Math" panose="02040503050406030204" pitchFamily="18" charset="0"/>
                          </a:rPr>
                          <m:t>𝑉</m:t>
                        </m:r>
                      </m:den>
                    </m:f>
                  </m:oMath>
                </a14:m>
                <a:r>
                  <a:rPr sz="2400" b="0">
                    <a:solidFill>
                      <a:srgbClr val="78350F"/>
                    </a:solidFill>
                    <a:latin typeface="Arial"/>
                  </a:rPr>
                  <a:t> and is separable.</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Track the salt deficit </a:t>
                </a:r>
                <a:r>
                  <a:rPr lang="en-IN" sz="2400">
                    <a:solidFill>
                      <a:srgbClr val="78350F"/>
                    </a:solidFill>
                    <a:latin typeface="Cambria Math" panose="02040503050406030204" pitchFamily="18" charset="0"/>
                  </a:rPr>
                  <a:t>$w=5V-m$</a:t>
                </a:r>
                <a:r>
                  <a:rPr sz="2400" b="0">
                    <a:solidFill>
                      <a:srgbClr val="78350F"/>
                    </a:solidFill>
                    <a:latin typeface="Arial"/>
                  </a:rPr>
                  <a:t> (salt missing compared with full-strength brine): it satisfies </a:t>
                </a:r>
                <a:r>
                  <a:rPr lang="en-IN" sz="2400">
                    <a:solidFill>
                      <a:srgbClr val="78350F"/>
                    </a:solidFill>
                    <a:latin typeface="Cambria Math" panose="02040503050406030204" pitchFamily="18" charset="0"/>
                  </a:rPr>
                  <a:t>$\frac{dw}{dt}=-\frac wV$</a:t>
                </a:r>
                <a:r>
                  <a:rPr sz="2400" b="0">
                    <a:solidFill>
                      <a:srgbClr val="78350F"/>
                    </a:solidFill>
                    <a:latin typeface="Arial"/>
                  </a:rPr>
                  <a:t> and is separable.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 (the amount of salt by which the tank falls short of brine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gm/litre).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𝑉</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𝑤</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𝑤</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𝑐𝑜𝑛𝑠𝑡</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$V=50+t$</a:t>
                </a:r>
                <a:r>
                  <a:rPr sz="2400" b="0">
                    <a:solidFill>
                      <a:srgbClr val="111827"/>
                    </a:solidFill>
                    <a:latin typeface="Arial"/>
                  </a:rPr>
                  <a:t> and </a:t>
                </a:r>
                <a:r>
                  <a:rPr lang="en-IN" sz="2400">
                    <a:solidFill>
                      <a:srgbClr val="111827"/>
                    </a:solidFill>
                    <a:latin typeface="Cambria Math" panose="02040503050406030204" pitchFamily="18" charset="0"/>
                  </a:rPr>
                  <a:t>$w=5V-m$</a:t>
                </a:r>
                <a:r>
                  <a:rPr sz="2400" b="0">
                    <a:solidFill>
                      <a:srgbClr val="111827"/>
                    </a:solidFill>
                    <a:latin typeface="Arial"/>
                  </a:rPr>
                  <a:t> (the amount of salt by which the tank falls short of brine at </a:t>
                </a:r>
                <a:r>
                  <a:rPr lang="en-IN" sz="2400">
                    <a:solidFill>
                      <a:srgbClr val="111827"/>
                    </a:solidFill>
                    <a:latin typeface="Cambria Math" panose="02040503050406030204" pitchFamily="18" charset="0"/>
                  </a:rPr>
                  <a:t>$5$</a:t>
                </a:r>
                <a:r>
                  <a:rPr sz="2400" b="0">
                    <a:solidFill>
                      <a:srgbClr val="111827"/>
                    </a:solidFill>
                    <a:latin typeface="Arial"/>
                  </a:rPr>
                  <a:t> gm/litre).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$\frac{dw}{dt}=5-\frac{dm}{dt}=5-10+\frac mV=-5+\frac{5V-w}{V}=-\frac wV$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$\frac{dw}{w}=-\frac{dt}{50+t}$</a:t>
                </a:r>
                <a:r>
                  <a:rPr sz="2400" b="0">
                    <a:solidFill>
                      <a:srgbClr val="111827"/>
                    </a:solidFill>
                    <a:latin typeface="Arial"/>
                  </a:rPr>
                  <a:t> and </a:t>
                </a:r>
                <a:r>
                  <a:rPr lang="en-IN" sz="2400">
                    <a:solidFill>
                      <a:srgbClr val="111827"/>
                    </a:solidFill>
                    <a:latin typeface="Cambria Math" panose="02040503050406030204" pitchFamily="18" charset="0"/>
                  </a:rPr>
                  <a:t>$w\,(50+t)=\text{const}$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12500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12500</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oMath>
                </a14:m>
                <a:r>
                  <a:rPr sz="2400" b="0">
                    <a:solidFill>
                      <a:srgbClr val="111827"/>
                    </a:solidFill>
                    <a:latin typeface="Arial"/>
                  </a:rPr>
                  <a:t>, which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12500</m:t>
                        </m:r>
                      </m:num>
                      <m:den>
                        <m:r>
                          <a:rPr lang="en-IN" sz="2400" i="1">
                            <a:solidFill>
                              <a:srgbClr val="111827"/>
                            </a:solidFill>
                            <a:latin typeface="Cambria Math" panose="02040503050406030204" pitchFamily="18" charset="0"/>
                          </a:rPr>
                          <m:t>60</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208.33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gm,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$t=0$</a:t>
                </a:r>
                <a:r>
                  <a:rPr sz="2400" b="0">
                    <a:solidFill>
                      <a:srgbClr val="111827"/>
                    </a:solidFill>
                    <a:latin typeface="Arial"/>
                  </a:rPr>
                  <a:t>: </a:t>
                </a:r>
                <a:r>
                  <a:rPr lang="en-IN" sz="2400">
                    <a:solidFill>
                      <a:srgbClr val="111827"/>
                    </a:solidFill>
                    <a:latin typeface="Cambria Math" panose="02040503050406030204" pitchFamily="18" charset="0"/>
                  </a:rPr>
                  <a:t>$w=250$</a:t>
                </a:r>
                <a:r>
                  <a:rPr sz="2400" b="0">
                    <a:solidFill>
                      <a:srgbClr val="111827"/>
                    </a:solidFill>
                    <a:latin typeface="Arial"/>
                  </a:rPr>
                  <a:t>, so </a:t>
                </a:r>
                <a:r>
                  <a:rPr lang="en-IN" sz="2400">
                    <a:solidFill>
                      <a:srgbClr val="111827"/>
                    </a:solidFill>
                    <a:latin typeface="Cambria Math" panose="02040503050406030204" pitchFamily="18" charset="0"/>
                  </a:rPr>
                  <a:t>$w(50+t)=250\cdot50=12500$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$m=5(50+t)-\frac{12500}{50+t}$</a:t>
                </a:r>
                <a:r>
                  <a:rPr sz="2400" b="0">
                    <a:solidFill>
                      <a:srgbClr val="111827"/>
                    </a:solidFill>
                    <a:latin typeface="Arial"/>
                  </a:rPr>
                  <a:t>, which equals </a:t>
                </a:r>
                <a:r>
                  <a:rPr lang="en-IN" sz="2400">
                    <a:solidFill>
                      <a:srgbClr val="111827"/>
                    </a:solidFill>
                    <a:latin typeface="Cambria Math" panose="02040503050406030204" pitchFamily="18" charset="0"/>
                  </a:rPr>
                  <a:t>$\frac{5t(100+t)}{50+t}$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$t=10$</a:t>
                </a:r>
                <a:r>
                  <a:rPr sz="2400" b="0">
                    <a:solidFill>
                      <a:srgbClr val="111827"/>
                    </a:solidFill>
                    <a:latin typeface="Arial"/>
                  </a:rPr>
                  <a:t>: </a:t>
                </a:r>
                <a:r>
                  <a:rPr lang="en-IN" sz="2400">
                    <a:solidFill>
                      <a:srgbClr val="111827"/>
                    </a:solidFill>
                    <a:latin typeface="Cambria Math" panose="02040503050406030204" pitchFamily="18" charset="0"/>
                  </a:rPr>
                  <a:t>$m=300-\frac{12500}{60}=300-208.33=91\frac23$</a:t>
                </a:r>
                <a:r>
                  <a:rPr sz="2400" b="0">
                    <a:solidFill>
                      <a:srgbClr val="111827"/>
                    </a:solidFill>
                    <a:latin typeface="Arial"/>
                  </a:rPr>
                  <a:t> gm,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r>
                          <a:rPr lang="en-IN" sz="2800" i="1">
                            <a:solidFill>
                              <a:srgbClr val="15803D"/>
                            </a:solidFill>
                            <a:latin typeface="Cambria Math" panose="02040503050406030204" pitchFamily="18" charset="0"/>
                          </a:rPr>
                          <m:t>𝑡</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100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𝑡</m:t>
                        </m:r>
                        <m:r>
                          <m:rPr>
                            <m:sty m:val="p"/>
                          </m:rPr>
                          <a:rPr lang="en-IN" sz="2800">
                            <a:solidFill>
                              <a:srgbClr val="15803D"/>
                            </a:solidFill>
                            <a:latin typeface="Cambria Math" panose="02040503050406030204" pitchFamily="18" charset="0"/>
                          </a:rPr>
                          <m:t>)</m:t>
                        </m:r>
                      </m:num>
                      <m:den>
                        <m:r>
                          <a:rPr lang="en-IN" sz="2800" i="1">
                            <a:solidFill>
                              <a:srgbClr val="15803D"/>
                            </a:solidFill>
                            <a:latin typeface="Cambria Math" panose="02040503050406030204" pitchFamily="18" charset="0"/>
                          </a:rPr>
                          <m:t>50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𝑡</m:t>
                        </m:r>
                      </m:den>
                    </m:f>
                  </m:oMath>
                </a14:m>
                <a:r>
                  <a:rPr sz="2800" b="1">
                    <a:solidFill>
                      <a:srgbClr val="15803D"/>
                    </a:solidFill>
                    <a:latin typeface="Arial"/>
                  </a:rPr>
                  <a:t> gm; after </a:t>
                </a:r>
                <a14:m>
                  <m:oMath xmlns:m="http://schemas.openxmlformats.org/officeDocument/2006/math">
                    <m:r>
                      <a:rPr lang="en-IN" sz="2800" i="1">
                        <a:solidFill>
                          <a:srgbClr val="15803D"/>
                        </a:solidFill>
                        <a:latin typeface="Cambria Math" panose="02040503050406030204" pitchFamily="18" charset="0"/>
                      </a:rPr>
                      <m:t>10</m:t>
                    </m:r>
                  </m:oMath>
                </a14:m>
                <a:r>
                  <a:rPr sz="2800" b="1">
                    <a:solidFill>
                      <a:srgbClr val="15803D"/>
                    </a:solidFill>
                    <a:latin typeface="Arial"/>
                  </a:rPr>
                  <a:t> minutes </a:t>
                </a:r>
                <a14:m>
                  <m:oMath xmlns:m="http://schemas.openxmlformats.org/officeDocument/2006/math">
                    <m:r>
                      <a:rPr lang="en-IN" sz="2800" i="1">
                        <a:solidFill>
                          <a:srgbClr val="15803D"/>
                        </a:solidFill>
                        <a:latin typeface="Cambria Math" panose="02040503050406030204" pitchFamily="18" charset="0"/>
                      </a:rPr>
                      <m:t>𝑚</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91</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den>
                    </m:f>
                  </m:oMath>
                </a14:m>
                <a:r>
                  <a:rPr sz="2800" b="1">
                    <a:solidFill>
                      <a:srgbClr val="15803D"/>
                    </a:solidFill>
                    <a:latin typeface="Arial"/>
                  </a:rPr>
                  <a:t> gm</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$m=\frac{5t(100+t)}{50+t}$</a:t>
                </a:r>
                <a:r>
                  <a:rPr sz="2800" b="1">
                    <a:solidFill>
                      <a:srgbClr val="15803D"/>
                    </a:solidFill>
                    <a:latin typeface="Arial"/>
                  </a:rPr>
                  <a:t> gm; after </a:t>
                </a:r>
                <a:r>
                  <a:rPr lang="en-IN" sz="2800">
                    <a:solidFill>
                      <a:srgbClr val="15803D"/>
                    </a:solidFill>
                    <a:latin typeface="Cambria Math" panose="02040503050406030204" pitchFamily="18" charset="0"/>
                  </a:rPr>
                  <a:t>$10$</a:t>
                </a:r>
                <a:r>
                  <a:rPr sz="2800" b="1">
                    <a:solidFill>
                      <a:srgbClr val="15803D"/>
                    </a:solidFill>
                    <a:latin typeface="Arial"/>
                  </a:rPr>
                  <a:t> minutes </a:t>
                </a:r>
                <a:r>
                  <a:rPr lang="en-IN" sz="2800">
                    <a:solidFill>
                      <a:srgbClr val="15803D"/>
                    </a:solidFill>
                    <a:latin typeface="Cambria Math" panose="02040503050406030204" pitchFamily="18" charset="0"/>
                  </a:rPr>
                  <a:t>$m=91\frac23$</a:t>
                </a:r>
                <a:r>
                  <a:rPr sz="2800" b="1">
                    <a:solidFill>
                      <a:srgbClr val="15803D"/>
                    </a:solidFill>
                    <a:latin typeface="Arial"/>
                  </a:rPr>
                  <a:t> gm</a:t>
                </a:r>
                <a:endParaRPr sz="2800">
                  <a:solidFill>
                    <a:srgbClr val="15803D"/>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Mixture problems: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𝑖𝑛𝑓𝑙𝑜𝑤 𝑐𝑜𝑛𝑐𝑒𝑛𝑡𝑟𝑎𝑡𝑖𝑜𝑛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𝑖𝑛𝑓𝑙𝑜𝑤 𝑟𝑎𝑡𝑒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𝑜𝑢𝑡𝑓𝑙𝑜𝑤 𝑟𝑎𝑡𝑒</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𝑉</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𝑜</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𝑡</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the 'saturation level' </a:t>
                </a:r>
                <a14:m>
                  <m:oMath xmlns:m="http://schemas.openxmlformats.org/officeDocument/2006/math">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𝑉</m:t>
                    </m:r>
                  </m:oMath>
                </a14:m>
                <a:r>
                  <a:rPr sz="2400" b="0">
                    <a:solidFill>
                      <a:srgbClr val="111827"/>
                    </a:solidFill>
                    <a:latin typeface="Arial"/>
                  </a:rPr>
                  <a:t> (inflow concentration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times volume) from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often makes the equation separable.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checks: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upper limit as the tank approaches brine strength, so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always (here </a:t>
                </a:r>
                <a14:m>
                  <m:oMath xmlns:m="http://schemas.openxmlformats.org/officeDocument/2006/math">
                    <m:r>
                      <a:rPr lang="en-IN" sz="2400" i="1">
                        <a:solidFill>
                          <a:srgbClr val="111827"/>
                        </a:solidFill>
                        <a:latin typeface="Cambria Math" panose="02040503050406030204" pitchFamily="18" charset="0"/>
                      </a:rPr>
                      <m:t>91</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Mixture problems: </a:t>
                </a:r>
                <a:r>
                  <a:rPr lang="en-IN" sz="2400">
                    <a:solidFill>
                      <a:srgbClr val="111827"/>
                    </a:solidFill>
                    <a:latin typeface="Cambria Math" panose="02040503050406030204" pitchFamily="18" charset="0"/>
                  </a:rPr>
                  <a:t>$\frac{dm}{dt}=(\text{inflow concentration})(\text{inflow rate})-\frac{m}{V(t)}(\text{outflow rate})$</a:t>
                </a:r>
                <a:r>
                  <a:rPr sz="2400" b="0">
                    <a:solidFill>
                      <a:srgbClr val="111827"/>
                    </a:solidFill>
                    <a:latin typeface="Arial"/>
                  </a:rPr>
                  <a:t> with </a:t>
                </a:r>
                <a:r>
                  <a:rPr lang="en-IN" sz="2400">
                    <a:solidFill>
                      <a:srgbClr val="111827"/>
                    </a:solidFill>
                    <a:latin typeface="Cambria Math" panose="02040503050406030204" pitchFamily="18" charset="0"/>
                  </a:rPr>
                  <a:t>$V(t)=V_0+(r_{in}-r_{out})t$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the 'saturation level' </a:t>
                </a:r>
                <a:r>
                  <a:rPr lang="en-IN" sz="2400">
                    <a:solidFill>
                      <a:srgbClr val="111827"/>
                    </a:solidFill>
                    <a:latin typeface="Cambria Math" panose="02040503050406030204" pitchFamily="18" charset="0"/>
                  </a:rPr>
                  <a:t>$cV$</a:t>
                </a:r>
                <a:r>
                  <a:rPr sz="2400" b="0">
                    <a:solidFill>
                      <a:srgbClr val="111827"/>
                    </a:solidFill>
                    <a:latin typeface="Arial"/>
                  </a:rPr>
                  <a:t> (inflow concentration </a:t>
                </a:r>
                <a:r>
                  <a:rPr lang="en-IN" sz="2400">
                    <a:solidFill>
                      <a:srgbClr val="111827"/>
                    </a:solidFill>
                    <a:latin typeface="Cambria Math" panose="02040503050406030204" pitchFamily="18" charset="0"/>
                  </a:rPr>
                  <a:t>$c$</a:t>
                </a:r>
                <a:r>
                  <a:rPr sz="2400" b="0">
                    <a:solidFill>
                      <a:srgbClr val="111827"/>
                    </a:solidFill>
                    <a:latin typeface="Arial"/>
                  </a:rPr>
                  <a:t> times volume) from </a:t>
                </a:r>
                <a:r>
                  <a:rPr lang="en-IN" sz="2400">
                    <a:solidFill>
                      <a:srgbClr val="111827"/>
                    </a:solidFill>
                    <a:latin typeface="Cambria Math" panose="02040503050406030204" pitchFamily="18" charset="0"/>
                  </a:rPr>
                  <a:t>$m$</a:t>
                </a:r>
                <a:r>
                  <a:rPr sz="2400" b="0">
                    <a:solidFill>
                      <a:srgbClr val="111827"/>
                    </a:solidFill>
                    <a:latin typeface="Arial"/>
                  </a:rPr>
                  <a:t> often makes the equation separable.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Sanity checks: </a:t>
                </a:r>
                <a:r>
                  <a:rPr lang="en-IN" sz="2400">
                    <a:solidFill>
                      <a:srgbClr val="111827"/>
                    </a:solidFill>
                    <a:latin typeface="Cambria Math" panose="02040503050406030204" pitchFamily="18" charset="0"/>
                  </a:rPr>
                  <a:t>$m(0)=0$</a:t>
                </a:r>
                <a:r>
                  <a:rPr sz="2400" b="0">
                    <a:solidFill>
                      <a:srgbClr val="111827"/>
                    </a:solidFill>
                    <a:latin typeface="Arial"/>
                  </a:rPr>
                  <a:t>, and </a:t>
                </a:r>
                <a:r>
                  <a:rPr lang="en-IN" sz="2400">
                    <a:solidFill>
                      <a:srgbClr val="111827"/>
                    </a:solidFill>
                    <a:latin typeface="Cambria Math" panose="02040503050406030204" pitchFamily="18" charset="0"/>
                  </a:rPr>
                  <a:t>$m(t)\to5V(t)$</a:t>
                </a:r>
                <a:r>
                  <a:rPr sz="2400" b="0">
                    <a:solidFill>
                      <a:srgbClr val="111827"/>
                    </a:solidFill>
                    <a:latin typeface="Arial"/>
                  </a:rPr>
                  <a:t> is the upper limit as the tank approaches brine strength, so </a:t>
                </a:r>
                <a:r>
                  <a:rPr lang="en-IN" sz="2400">
                    <a:solidFill>
                      <a:srgbClr val="111827"/>
                    </a:solidFill>
                    <a:latin typeface="Cambria Math" panose="02040503050406030204" pitchFamily="18" charset="0"/>
                  </a:rPr>
                  <a:t>$m&lt;5(50+t)$</a:t>
                </a:r>
                <a:r>
                  <a:rPr sz="2400" b="0">
                    <a:solidFill>
                      <a:srgbClr val="111827"/>
                    </a:solidFill>
                    <a:latin typeface="Arial"/>
                  </a:rPr>
                  <a:t> always (here </a:t>
                </a:r>
                <a:r>
                  <a:rPr lang="en-IN" sz="2400">
                    <a:solidFill>
                      <a:srgbClr val="111827"/>
                    </a:solidFill>
                    <a:latin typeface="Cambria Math" panose="02040503050406030204" pitchFamily="18" charset="0"/>
                  </a:rPr>
                  <a:t>$91\frac23&lt;300$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curve for which the portion of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cut off between the origin and the tangent varies as the cube of the abscissa of the point of contact.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curve for which the portion of the </a:t>
                </a:r>
                <a:r>
                  <a:rPr lang="en-IN" sz="2400">
                    <a:solidFill>
                      <a:srgbClr val="111827"/>
                    </a:solidFill>
                    <a:latin typeface="Cambria Math" panose="02040503050406030204" pitchFamily="18" charset="0"/>
                  </a:rPr>
                  <a:t>$y$</a:t>
                </a:r>
                <a:r>
                  <a:rPr sz="2400" b="0">
                    <a:solidFill>
                      <a:srgbClr val="111827"/>
                    </a:solidFill>
                    <a:latin typeface="Arial"/>
                  </a:rPr>
                  <a:t>-axis cut off between the origin and the tangent varies as the cube of the abscissa of the point of contact.</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Formation of differential equations from geometric conditions, Linear differential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-intercept of the tangent is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oMath>
                </a14:m>
                <a:r>
                  <a:rPr sz="2400" b="0">
                    <a:solidFill>
                      <a:srgbClr val="78350F"/>
                    </a:solidFill>
                    <a:latin typeface="Arial"/>
                  </a:rPr>
                  <a:t>; setting it equal to </a:t>
                </a:r>
                <a14:m>
                  <m:oMath xmlns:m="http://schemas.openxmlformats.org/officeDocument/2006/math">
                    <m:r>
                      <a:rPr lang="en-IN" sz="2400" i="1">
                        <a:solidFill>
                          <a:srgbClr val="78350F"/>
                        </a:solidFill>
                        <a:latin typeface="Cambria Math" panose="02040503050406030204" pitchFamily="18" charset="0"/>
                      </a:rPr>
                      <m:t>𝑘</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oMath>
                </a14:m>
                <a:r>
                  <a:rPr sz="2400" b="0">
                    <a:solidFill>
                      <a:srgbClr val="78350F"/>
                    </a:solidFill>
                    <a:latin typeface="Arial"/>
                  </a:rPr>
                  <a:t> gives a linear equation solvable by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a:t>
                </a:r>
                <a:r>
                  <a:rPr lang="en-IN" sz="2400">
                    <a:solidFill>
                      <a:srgbClr val="78350F"/>
                    </a:solidFill>
                    <a:latin typeface="Cambria Math" panose="02040503050406030204" pitchFamily="18" charset="0"/>
                  </a:rPr>
                  <a:t>$y$</a:t>
                </a:r>
                <a:r>
                  <a:rPr sz="2400" b="0">
                    <a:solidFill>
                      <a:srgbClr val="78350F"/>
                    </a:solidFill>
                    <a:latin typeface="Arial"/>
                  </a:rPr>
                  <a:t>-intercept of the tangent is </a:t>
                </a:r>
                <a:r>
                  <a:rPr lang="en-IN" sz="2400">
                    <a:solidFill>
                      <a:srgbClr val="78350F"/>
                    </a:solidFill>
                    <a:latin typeface="Cambria Math" panose="02040503050406030204" pitchFamily="18" charset="0"/>
                  </a:rPr>
                  <a:t>$y-x\frac{dy}{dx}$</a:t>
                </a:r>
                <a:r>
                  <a:rPr sz="2400" b="0">
                    <a:solidFill>
                      <a:srgbClr val="78350F"/>
                    </a:solidFill>
                    <a:latin typeface="Arial"/>
                  </a:rPr>
                  <a:t>; setting it equal to </a:t>
                </a:r>
                <a:r>
                  <a:rPr lang="en-IN" sz="2400">
                    <a:solidFill>
                      <a:srgbClr val="78350F"/>
                    </a:solidFill>
                    <a:latin typeface="Cambria Math" panose="02040503050406030204" pitchFamily="18" charset="0"/>
                  </a:rPr>
                  <a:t>$kx^3$</a:t>
                </a:r>
                <a:r>
                  <a:rPr sz="2400" b="0">
                    <a:solidFill>
                      <a:srgbClr val="78350F"/>
                    </a:solidFill>
                    <a:latin typeface="Arial"/>
                  </a:rPr>
                  <a:t> gives a linear equation solvable by </a:t>
                </a:r>
                <a:r>
                  <a:rPr lang="en-IN" sz="2400">
                    <a:solidFill>
                      <a:srgbClr val="78350F"/>
                    </a:solidFill>
                    <a:latin typeface="Cambria Math" panose="02040503050406030204" pitchFamily="18" charset="0"/>
                  </a:rPr>
                  <a:t>$\frac yx$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the intercept varies as the cube of the abscissa,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tangent at </a:t>
                </a:r>
                <a:r>
                  <a:rPr lang="en-IN" sz="2400">
                    <a:solidFill>
                      <a:srgbClr val="111827"/>
                    </a:solidFill>
                    <a:latin typeface="Cambria Math" panose="02040503050406030204" pitchFamily="18" charset="0"/>
                  </a:rPr>
                  <a:t>$(x,y)$</a:t>
                </a:r>
                <a:r>
                  <a:rPr sz="2400" b="0">
                    <a:solidFill>
                      <a:srgbClr val="111827"/>
                    </a:solidFill>
                    <a:latin typeface="Arial"/>
                  </a:rPr>
                  <a:t> is </a:t>
                </a:r>
                <a:r>
                  <a:rPr lang="en-IN" sz="2400">
                    <a:solidFill>
                      <a:srgbClr val="111827"/>
                    </a:solidFill>
                    <a:latin typeface="Cambria Math" panose="02040503050406030204" pitchFamily="18" charset="0"/>
                  </a:rPr>
                  <a:t>$Y-y=\frac{dy}{dx}(X-x)$</a:t>
                </a:r>
                <a:r>
                  <a:rPr sz="2400" b="0">
                    <a:solidFill>
                      <a:srgbClr val="111827"/>
                    </a:solidFill>
                    <a:latin typeface="Arial"/>
                  </a:rPr>
                  <a:t>; for the </a:t>
                </a:r>
                <a:r>
                  <a:rPr lang="en-IN" sz="2400">
                    <a:solidFill>
                      <a:srgbClr val="111827"/>
                    </a:solidFill>
                    <a:latin typeface="Cambria Math" panose="02040503050406030204" pitchFamily="18" charset="0"/>
                  </a:rPr>
                  <a:t>$y$</a:t>
                </a:r>
                <a:r>
                  <a:rPr sz="2400" b="0">
                    <a:solidFill>
                      <a:srgbClr val="111827"/>
                    </a:solidFill>
                    <a:latin typeface="Arial"/>
                  </a:rPr>
                  <a:t>-axis,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$Y=y-x\frac{dy}{dx}$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the intercept varies as the cube of the abscissa, so </a:t>
                </a:r>
                <a:r>
                  <a:rPr lang="en-IN" sz="2400">
                    <a:solidFill>
                      <a:srgbClr val="111827"/>
                    </a:solidFill>
                    <a:latin typeface="Cambria Math" panose="02040503050406030204" pitchFamily="18" charset="0"/>
                  </a:rPr>
                  <a:t>$y-x\frac{dy}{dx}=kx^3$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$\frac{dy}{dx}-\frac yx=-kx^2$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 (absorbing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oMath>
                </a14:m>
                <a:r>
                  <a:rPr sz="2400" b="0">
                    <a:solidFill>
                      <a:srgbClr val="111827"/>
                    </a:solidFill>
                    <a:latin typeface="Arial"/>
                  </a:rPr>
                  <a:t> into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$\text{I.F.}=e^{-\int\frac1xdx}=\frac1x$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yx=\int-kx\,dx=-\frac{kx^2}{2}+c$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$y=-\frac{kx^3}{2}+cx$</a:t>
                </a:r>
                <a:r>
                  <a:rPr sz="2400" b="0">
                    <a:solidFill>
                      <a:srgbClr val="111827"/>
                    </a:solidFill>
                    <a:latin typeface="Arial"/>
                  </a:rPr>
                  <a:t>, i.e. </a:t>
                </a:r>
                <a:r>
                  <a:rPr lang="en-IN" sz="2400">
                    <a:solidFill>
                      <a:srgbClr val="111827"/>
                    </a:solidFill>
                    <a:latin typeface="Cambria Math" panose="02040503050406030204" pitchFamily="18" charset="0"/>
                  </a:rPr>
                  <a:t>$2y+kx^3=cx$</a:t>
                </a:r>
                <a:r>
                  <a:rPr sz="2400" b="0">
                    <a:solidFill>
                      <a:srgbClr val="111827"/>
                    </a:solidFill>
                    <a:latin typeface="Arial"/>
                  </a:rPr>
                  <a:t> (absorbing </a:t>
                </a:r>
                <a:r>
                  <a:rPr lang="en-IN" sz="2400">
                    <a:solidFill>
                      <a:srgbClr val="111827"/>
                    </a:solidFill>
                    <a:latin typeface="Cambria Math" panose="02040503050406030204" pitchFamily="18" charset="0"/>
                  </a:rPr>
                  <a:t>$2c$</a:t>
                </a:r>
                <a:r>
                  <a:rPr sz="2400" b="0">
                    <a:solidFill>
                      <a:srgbClr val="111827"/>
                    </a:solidFill>
                    <a:latin typeface="Arial"/>
                  </a:rPr>
                  <a:t> into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𝑘</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a:rPr lang="en-IN" sz="2800" i="1">
                        <a:solidFill>
                          <a:srgbClr val="15803D"/>
                        </a:solidFill>
                        <a:latin typeface="Cambria Math" panose="02040503050406030204" pitchFamily="18" charset="0"/>
                      </a:rPr>
                      <m:t>𝑥</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$2y+kx^3=cx$</a:t>
                </a:r>
                <a:endParaRPr sz="2800">
                  <a:solidFill>
                    <a:srgbClr val="15803D"/>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d>
                      <m:dPr>
                        <m:begChr m:val="("/>
                        <m:sepChr m:val=""/>
                        <m:endChr m:val=")"/>
                        <m:grow/>
                        <m:ctrlPr>
                          <a:rPr lang="en-IN" sz="2400" i="1">
                            <a:solidFill>
                              <a:srgbClr val="78350F"/>
                            </a:solidFill>
                            <a:latin typeface="Cambria Math" panose="02040503050406030204" pitchFamily="18" charset="0"/>
                          </a:rPr>
                        </m:ctrlPr>
                      </m:dPr>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𝑥</m:t>
                            </m:r>
                          </m:den>
                        </m:f>
                      </m:e>
                    </m:d>
                  </m:oMath>
                </a14:m>
                <a:r>
                  <a:rPr sz="2400" b="0">
                    <a:solidFill>
                      <a:srgbClr val="78350F"/>
                    </a:solidFill>
                    <a:latin typeface="Arial"/>
                  </a:rPr>
                  <a:t>, so the equation integrates directly.</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r>
                  <a:rPr lang="en-IN" sz="2400">
                    <a:solidFill>
                      <a:srgbClr val="78350F"/>
                    </a:solidFill>
                    <a:latin typeface="Cambria Math" panose="02040503050406030204" pitchFamily="18" charset="0"/>
                  </a:rPr>
                  <a:t>$y-xy'=-x^2\frac{d}{dx}\left(\frac yx\right)$</a:t>
                </a:r>
                <a:r>
                  <a:rPr sz="2400" b="0">
                    <a:solidFill>
                      <a:srgbClr val="78350F"/>
                    </a:solidFill>
                    <a:latin typeface="Arial"/>
                  </a:rPr>
                  <a:t>, so the equation integrates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quotient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becomes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quotient rule, </a:t>
                </a:r>
                <a:r>
                  <a:rPr lang="en-IN" sz="2400">
                    <a:solidFill>
                      <a:srgbClr val="111827"/>
                    </a:solidFill>
                    <a:latin typeface="Cambria Math" panose="02040503050406030204" pitchFamily="18" charset="0"/>
                  </a:rPr>
                  <a:t>$\frac{d}{dx}\left(\frac yx\right)=\frac{xy'-y}{x^2}$</a:t>
                </a:r>
                <a:r>
                  <a:rPr sz="2400" b="0">
                    <a:solidFill>
                      <a:srgbClr val="111827"/>
                    </a:solidFill>
                    <a:latin typeface="Arial"/>
                  </a:rPr>
                  <a:t>, so </a:t>
                </a:r>
                <a:r>
                  <a:rPr lang="en-IN" sz="2400">
                    <a:solidFill>
                      <a:srgbClr val="111827"/>
                    </a:solidFill>
                    <a:latin typeface="Cambria Math" panose="02040503050406030204" pitchFamily="18" charset="0"/>
                  </a:rPr>
                  <a:t>$y-xy'=-x^2\frac{d}{dx}\left(\frac yx\right)$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r>
                  <a:rPr lang="en-IN" sz="2400">
                    <a:solidFill>
                      <a:srgbClr val="111827"/>
                    </a:solidFill>
                    <a:latin typeface="Cambria Math" panose="02040503050406030204" pitchFamily="18" charset="0"/>
                  </a:rPr>
                  <a:t>$y-xy'=kx^3$</a:t>
                </a:r>
                <a:r>
                  <a:rPr sz="2400" b="0">
                    <a:solidFill>
                      <a:srgbClr val="111827"/>
                    </a:solidFill>
                    <a:latin typeface="Arial"/>
                  </a:rPr>
                  <a:t> becomes </a:t>
                </a:r>
                <a:r>
                  <a:rPr lang="en-IN" sz="2400">
                    <a:solidFill>
                      <a:srgbClr val="111827"/>
                    </a:solidFill>
                    <a:latin typeface="Cambria Math" panose="02040503050406030204" pitchFamily="18" charset="0"/>
                  </a:rPr>
                  <a:t>$-x^2\frac{d}{dx}\left(\frac yx\right)=kx^3$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 the same family.</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$\frac{d}{dx}\left(\frac yx\right)=-kx$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$\frac yx=-\frac{kx^2}{2}+c$</a:t>
                </a:r>
                <a:r>
                  <a:rPr sz="2400" b="0">
                    <a:solidFill>
                      <a:srgbClr val="111827"/>
                    </a:solidFill>
                    <a:latin typeface="Arial"/>
                  </a:rPr>
                  <a:t>, i.e. </a:t>
                </a:r>
                <a:r>
                  <a:rPr lang="en-IN" sz="2400">
                    <a:solidFill>
                      <a:srgbClr val="111827"/>
                    </a:solidFill>
                    <a:latin typeface="Cambria Math" panose="02040503050406030204" pitchFamily="18" charset="0"/>
                  </a:rPr>
                  <a:t>$2y+kx^3=2cx$</a:t>
                </a:r>
                <a:r>
                  <a:rPr sz="2400" b="0">
                    <a:solidFill>
                      <a:srgbClr val="111827"/>
                    </a:solidFill>
                    <a:latin typeface="Arial"/>
                  </a:rPr>
                  <a:t>, the same family.</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𝑘</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a:rPr lang="en-IN" sz="2800" i="1">
                        <a:solidFill>
                          <a:srgbClr val="15803D"/>
                        </a:solidFill>
                        <a:latin typeface="Cambria Math" panose="02040503050406030204" pitchFamily="18" charset="0"/>
                      </a:rPr>
                      <m:t>𝑥</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$2y+kx^3=cx$</a:t>
                </a:r>
                <a:endParaRPr sz="2800">
                  <a:solidFill>
                    <a:srgbClr val="15803D"/>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𝑥</m:t>
                                </m:r>
                              </m:den>
                            </m:f>
                          </m:e>
                        </m:d>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intercept conditions 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integrate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-intercept of the tangent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 straight-line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oMath>
                </a14:m>
                <a:r>
                  <a:rPr sz="2400" b="0">
                    <a:solidFill>
                      <a:srgbClr val="111827"/>
                    </a:solidFill>
                    <a:latin typeface="Arial"/>
                  </a:rPr>
                  <a:t> has intercept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as it should).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'Varies as' means a constant of proportionality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which stays in the answer.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$y-xy'=-x^2\left(\frac yx\right)'$</a:t>
                </a:r>
                <a:r>
                  <a:rPr sz="2400" b="0">
                    <a:solidFill>
                      <a:srgbClr val="111827"/>
                    </a:solidFill>
                    <a:latin typeface="Arial"/>
                  </a:rPr>
                  <a:t> and </a:t>
                </a:r>
                <a:r>
                  <a:rPr lang="en-IN" sz="2400">
                    <a:solidFill>
                      <a:srgbClr val="111827"/>
                    </a:solidFill>
                    <a:latin typeface="Cambria Math" panose="02040503050406030204" pitchFamily="18" charset="0"/>
                  </a:rPr>
                  <a:t>$xy'-y=x^2\left(\frac yx\right)'$</a:t>
                </a:r>
                <a:r>
                  <a:rPr sz="2400" b="0">
                    <a:solidFill>
                      <a:srgbClr val="111827"/>
                    </a:solidFill>
                    <a:latin typeface="Arial"/>
                  </a:rPr>
                  <a:t>: intercept conditions with </a:t>
                </a:r>
                <a:r>
                  <a:rPr lang="en-IN" sz="2400">
                    <a:solidFill>
                      <a:srgbClr val="111827"/>
                    </a:solidFill>
                    <a:latin typeface="Cambria Math" panose="02040503050406030204" pitchFamily="18" charset="0"/>
                  </a:rPr>
                  <a:t>$y-xy'$</a:t>
                </a:r>
                <a:r>
                  <a:rPr sz="2400" b="0">
                    <a:solidFill>
                      <a:srgbClr val="111827"/>
                    </a:solidFill>
                    <a:latin typeface="Arial"/>
                  </a:rPr>
                  <a:t> integrate immediately.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$y$</a:t>
                </a:r>
                <a:r>
                  <a:rPr sz="2400" b="0">
                    <a:solidFill>
                      <a:srgbClr val="111827"/>
                    </a:solidFill>
                    <a:latin typeface="Arial"/>
                  </a:rPr>
                  <a:t>-intercept of the tangent is </a:t>
                </a:r>
                <a:r>
                  <a:rPr lang="en-IN" sz="2400">
                    <a:solidFill>
                      <a:srgbClr val="111827"/>
                    </a:solidFill>
                    <a:latin typeface="Cambria Math" panose="02040503050406030204" pitchFamily="18" charset="0"/>
                  </a:rPr>
                  <a:t>$y-xy'$</a:t>
                </a:r>
                <a:r>
                  <a:rPr sz="2400" b="0">
                    <a:solidFill>
                      <a:srgbClr val="111827"/>
                    </a:solidFill>
                    <a:latin typeface="Arial"/>
                  </a:rPr>
                  <a:t> (a straight-line curve </a:t>
                </a:r>
                <a:r>
                  <a:rPr lang="en-IN" sz="2400">
                    <a:solidFill>
                      <a:srgbClr val="111827"/>
                    </a:solidFill>
                    <a:latin typeface="Cambria Math" panose="02040503050406030204" pitchFamily="18" charset="0"/>
                  </a:rPr>
                  <a:t>$y=mx$</a:t>
                </a:r>
                <a:r>
                  <a:rPr sz="2400" b="0">
                    <a:solidFill>
                      <a:srgbClr val="111827"/>
                    </a:solidFill>
                    <a:latin typeface="Arial"/>
                  </a:rPr>
                  <a:t> has intercept </a:t>
                </a:r>
                <a:r>
                  <a:rPr lang="en-IN" sz="2400">
                    <a:solidFill>
                      <a:srgbClr val="111827"/>
                    </a:solidFill>
                    <a:latin typeface="Cambria Math" panose="02040503050406030204" pitchFamily="18" charset="0"/>
                  </a:rPr>
                  <a:t>$0$</a:t>
                </a:r>
                <a:r>
                  <a:rPr sz="2400" b="0">
                    <a:solidFill>
                      <a:srgbClr val="111827"/>
                    </a:solidFill>
                    <a:latin typeface="Arial"/>
                  </a:rPr>
                  <a:t>, as it should).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'Varies as' means a constant of proportionality </a:t>
                </a:r>
                <a:r>
                  <a:rPr lang="en-IN" sz="2400">
                    <a:solidFill>
                      <a:srgbClr val="111827"/>
                    </a:solidFill>
                    <a:latin typeface="Cambria Math" panose="02040503050406030204" pitchFamily="18" charset="0"/>
                  </a:rPr>
                  <a:t>$k$</a:t>
                </a:r>
                <a:r>
                  <a:rPr sz="2400" b="0">
                    <a:solidFill>
                      <a:srgbClr val="111827"/>
                    </a:solidFill>
                    <a:latin typeface="Arial"/>
                  </a:rPr>
                  <a:t>, which stays in the answer.</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equation of the curve which passes through the origin and the tangent to which at every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slope equal to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equation of the curve which passes through the origin and the tangent to which at every point </a:t>
                </a:r>
                <a:r>
                  <a:rPr lang="en-IN" sz="2400">
                    <a:solidFill>
                      <a:srgbClr val="111827"/>
                    </a:solidFill>
                    <a:latin typeface="Cambria Math" panose="02040503050406030204" pitchFamily="18" charset="0"/>
                  </a:rPr>
                  <a:t>$(x,y)$</a:t>
                </a:r>
                <a:r>
                  <a:rPr sz="2400" b="0">
                    <a:solidFill>
                      <a:srgbClr val="111827"/>
                    </a:solidFill>
                    <a:latin typeface="Arial"/>
                  </a:rPr>
                  <a:t> has slope equal to </a:t>
                </a:r>
                <a:r>
                  <a:rPr lang="en-IN" sz="2400">
                    <a:solidFill>
                      <a:srgbClr val="111827"/>
                    </a:solidFill>
                    <a:latin typeface="Cambria Math" panose="02040503050406030204" pitchFamily="18" charset="0"/>
                  </a:rPr>
                  <a:t>$\frac{x^4+2xy-1}{1+x^2}$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5475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differential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Moving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oMath>
                </a14:m>
                <a:r>
                  <a:rPr sz="2400" b="0">
                    <a:solidFill>
                      <a:srgbClr val="78350F"/>
                    </a:solidFill>
                    <a:latin typeface="Arial"/>
                  </a:rPr>
                  <a:t> to the left gives a linear equation whose integrating factor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Moving </a:t>
                </a:r>
                <a:r>
                  <a:rPr lang="en-IN" sz="2400">
                    <a:solidFill>
                      <a:srgbClr val="78350F"/>
                    </a:solidFill>
                    <a:latin typeface="Cambria Math" panose="02040503050406030204" pitchFamily="18" charset="0"/>
                  </a:rPr>
                  <a:t>$2xy$</a:t>
                </a:r>
                <a:r>
                  <a:rPr sz="2400" b="0">
                    <a:solidFill>
                      <a:srgbClr val="78350F"/>
                    </a:solidFill>
                    <a:latin typeface="Arial"/>
                  </a:rPr>
                  <a:t> to the left gives a linear equation whose integrating factor is </a:t>
                </a:r>
                <a:r>
                  <a:rPr lang="en-IN" sz="2400">
                    <a:solidFill>
                      <a:srgbClr val="78350F"/>
                    </a:solidFill>
                    <a:latin typeface="Cambria Math" panose="02040503050406030204" pitchFamily="18" charset="0"/>
                  </a:rPr>
                  <a:t>$\frac{1}{1+x^2}$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 is given that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which is a linear differential equation.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solution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 is given that </a:t>
                </a:r>
                <a:r>
                  <a:rPr lang="en-IN" sz="2400">
                    <a:solidFill>
                      <a:srgbClr val="111827"/>
                    </a:solidFill>
                    <a:latin typeface="Cambria Math" panose="02040503050406030204" pitchFamily="18" charset="0"/>
                  </a:rPr>
                  <a:t>$\frac{dy}{dx}=\frac{x^4+2xy-1}{1+x^2}$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$\frac{dy}{dx}-\frac{2x}{1+x^2}y=\frac{x^4-1}{1+x^2}$</a:t>
                </a:r>
                <a:r>
                  <a:rPr sz="2400" b="0">
                    <a:solidFill>
                      <a:srgbClr val="111827"/>
                    </a:solidFill>
                    <a:latin typeface="Arial"/>
                  </a:rPr>
                  <a:t>, which is a linear differential equation.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$\text{I.F.}=e^{-\int\frac{2x}{1+x^2}dx}=e^{-\ln(x^2+1)}=\frac{1}{x^2+1}$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solution is </a:t>
                </a:r>
                <a:r>
                  <a:rPr lang="en-IN" sz="2400">
                    <a:solidFill>
                      <a:srgbClr val="111827"/>
                    </a:solidFill>
                    <a:latin typeface="Cambria Math" panose="02040503050406030204" pitchFamily="18" charset="0"/>
                  </a:rPr>
                  <a:t>$y\cdot\frac{1}{x^2+1}=\int\frac{x^4-1}{(x^2+1)^2}dx+c$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(since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the origin: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$\frac{y}{x^2+1}=\int\frac{x^2-1}{x^2+1}dx+c$</a:t>
                </a:r>
                <a:r>
                  <a:rPr sz="2400" b="0">
                    <a:solidFill>
                      <a:srgbClr val="111827"/>
                    </a:solidFill>
                    <a:latin typeface="Arial"/>
                  </a:rPr>
                  <a:t> (since </a:t>
                </a:r>
                <a:r>
                  <a:rPr lang="en-IN" sz="2400">
                    <a:solidFill>
                      <a:srgbClr val="111827"/>
                    </a:solidFill>
                    <a:latin typeface="Cambria Math" panose="02040503050406030204" pitchFamily="18" charset="0"/>
                  </a:rPr>
                  <a:t>$x^4-1=(x^2-1)(x^2+1)$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$=\int\left(1-\frac{2}{x^2+1}\right)dx+c=x-2\tan^{-1}x+c$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curve passes through the origin: </a:t>
                </a:r>
                <a:r>
                  <a:rPr lang="en-IN" sz="2400">
                    <a:solidFill>
                      <a:srgbClr val="111827"/>
                    </a:solidFill>
                    <a:latin typeface="Cambria Math" panose="02040503050406030204" pitchFamily="18" charset="0"/>
                  </a:rPr>
                  <a:t>$0=0-0+c$</a:t>
                </a:r>
                <a:r>
                  <a:rPr sz="2400" b="0">
                    <a:solidFill>
                      <a:srgbClr val="111827"/>
                    </a:solidFill>
                    <a:latin typeface="Arial"/>
                  </a:rPr>
                  <a:t>, so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$y=(x-2\tan^{-1}x)(1+x^2)$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sSup>
                      <m:e>
                        <m:r>
                          <m:rPr>
                            <m:sty m:val="p"/>
                          </m:rPr>
                          <a:rPr lang="en-IN" sz="2800">
                            <a:solidFill>
                              <a:srgbClr val="15803D"/>
                            </a:solidFill>
                            <a:latin typeface="Cambria Math" panose="02040503050406030204" pitchFamily="18" charset="0"/>
                          </a:rPr>
                          <m:t>tan</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$y=(x-2\tan^{-1}x)(1+x^2)$</a:t>
                </a:r>
                <a:endParaRPr sz="2800">
                  <a:solidFill>
                    <a:srgbClr val="15803D"/>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oMath>
                </a14:m>
                <a:r>
                  <a:rPr sz="2400" b="0">
                    <a:solidFill>
                      <a:srgbClr val="111827"/>
                    </a:solidFill>
                    <a:latin typeface="Arial"/>
                  </a:rPr>
                  <a:t> has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in general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ϕ</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ϕ</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ϕ</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reduce rational functions by factoring the numerator before integrating.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apply the initial condition ('passes through ...') at the end; the constant is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$\frac{dy}{dx}-\frac{2x}{1+x^2}y=g$</a:t>
                </a:r>
                <a:r>
                  <a:rPr sz="2400" b="0">
                    <a:solidFill>
                      <a:srgbClr val="111827"/>
                    </a:solidFill>
                    <a:latin typeface="Arial"/>
                  </a:rPr>
                  <a:t> has I.F. </a:t>
                </a:r>
                <a:r>
                  <a:rPr lang="en-IN" sz="2400">
                    <a:solidFill>
                      <a:srgbClr val="111827"/>
                    </a:solidFill>
                    <a:latin typeface="Cambria Math" panose="02040503050406030204" pitchFamily="18" charset="0"/>
                  </a:rPr>
                  <a:t>$\frac{1}{1+x^2}$</a:t>
                </a:r>
                <a:r>
                  <a:rPr sz="2400" b="0">
                    <a:solidFill>
                      <a:srgbClr val="111827"/>
                    </a:solidFill>
                    <a:latin typeface="Arial"/>
                  </a:rPr>
                  <a:t>; in general </a:t>
                </a:r>
                <a:r>
                  <a:rPr lang="en-IN" sz="2400">
                    <a:solidFill>
                      <a:srgbClr val="111827"/>
                    </a:solidFill>
                    <a:latin typeface="Cambria Math" panose="02040503050406030204" pitchFamily="18" charset="0"/>
                  </a:rPr>
                  <a:t>$\frac{d}{dx}\left[\frac{y}{\phi}\right]=\frac{\phi y'-\phi'y}{\phi^2}$</a:t>
                </a:r>
                <a:r>
                  <a:rPr sz="2400" b="0">
                    <a:solidFill>
                      <a:srgbClr val="111827"/>
                    </a:solidFill>
                    <a:latin typeface="Arial"/>
                  </a:rPr>
                  <a:t> with </a:t>
                </a:r>
                <a:r>
                  <a:rPr lang="en-IN" sz="2400">
                    <a:solidFill>
                      <a:srgbClr val="111827"/>
                    </a:solidFill>
                    <a:latin typeface="Cambria Math" panose="02040503050406030204" pitchFamily="18" charset="0"/>
                  </a:rPr>
                  <a:t>$\phi=1+x^2$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$\frac{x^4-1}{(x^2+1)^2}=\frac{x^2-1}{x^2+1}=1-\frac{2}{x^2+1}$</a:t>
                </a:r>
                <a:r>
                  <a:rPr sz="2400" b="0">
                    <a:solidFill>
                      <a:srgbClr val="111827"/>
                    </a:solidFill>
                    <a:latin typeface="Arial"/>
                  </a:rPr>
                  <a:t>: reduce rational functions by factoring the numerator before integrating.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apply the initial condition ('passes through ...') at the end; the constant is </a:t>
                </a:r>
                <a:r>
                  <a:rPr lang="en-IN" sz="2400">
                    <a:solidFill>
                      <a:srgbClr val="111827"/>
                    </a:solidFill>
                    <a:latin typeface="Cambria Math" panose="02040503050406030204" pitchFamily="18" charset="0"/>
                  </a:rPr>
                  <a:t>$c=0$</a:t>
                </a:r>
                <a:r>
                  <a:rPr sz="2400" b="0">
                    <a:solidFill>
                      <a:srgbClr val="111827"/>
                    </a:solidFill>
                    <a:latin typeface="Arial"/>
                  </a:rPr>
                  <a:t> here.</a:t>
                </a:r>
                <a:endParaRPr sz="2400">
                  <a:solidFill>
                    <a:srgbClr val="111827"/>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right circular cone with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height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(vertex downward) contains a liquid which evaporates at a rate proportional to its surface area in contact with air (proportionality constant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Find the time after which the cone is empty.</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right circular cone with radius </a:t>
                </a:r>
                <a:r>
                  <a:rPr lang="en-IN" sz="2400">
                    <a:solidFill>
                      <a:srgbClr val="111827"/>
                    </a:solidFill>
                    <a:latin typeface="Cambria Math" panose="02040503050406030204" pitchFamily="18" charset="0"/>
                  </a:rPr>
                  <a:t>$R$</a:t>
                </a:r>
                <a:r>
                  <a:rPr sz="2400" b="0">
                    <a:solidFill>
                      <a:srgbClr val="111827"/>
                    </a:solidFill>
                    <a:latin typeface="Arial"/>
                  </a:rPr>
                  <a:t> and height </a:t>
                </a:r>
                <a:r>
                  <a:rPr lang="en-IN" sz="2400">
                    <a:solidFill>
                      <a:srgbClr val="111827"/>
                    </a:solidFill>
                    <a:latin typeface="Cambria Math" panose="02040503050406030204" pitchFamily="18" charset="0"/>
                  </a:rPr>
                  <a:t>$H$</a:t>
                </a:r>
                <a:r>
                  <a:rPr sz="2400" b="0">
                    <a:solidFill>
                      <a:srgbClr val="111827"/>
                    </a:solidFill>
                    <a:latin typeface="Arial"/>
                  </a:rPr>
                  <a:t> (vertex downward) contains a liquid which evaporates at a rate proportional to its surface area in contact with air (proportionality constant </a:t>
                </a:r>
                <a:r>
                  <a:rPr lang="en-IN" sz="2400">
                    <a:solidFill>
                      <a:srgbClr val="111827"/>
                    </a:solidFill>
                    <a:latin typeface="Cambria Math" panose="02040503050406030204" pitchFamily="18" charset="0"/>
                  </a:rPr>
                  <a:t>$=k&gt;0$</a:t>
                </a:r>
                <a:r>
                  <a:rPr sz="2400" b="0">
                    <a:solidFill>
                      <a:srgbClr val="111827"/>
                    </a:solidFill>
                    <a:latin typeface="Arial"/>
                  </a:rPr>
                  <a:t>). Find the time after which the cone is empty.</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Rate of change (related rates and differential equations), Mensuration of cone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cone of liquid with surface radius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and height </a:t>
                </a:r>
                <a14:m>
                  <m:oMath xmlns:m="http://schemas.openxmlformats.org/officeDocument/2006/math">
                    <m:r>
                      <a:rPr lang="en-IN" sz="2400" i="1">
                        <a:solidFill>
                          <a:srgbClr val="78350F"/>
                        </a:solidFill>
                        <a:latin typeface="Cambria Math" panose="02040503050406030204" pitchFamily="18" charset="0"/>
                      </a:rPr>
                      <m:t>ℎ</m:t>
                    </m:r>
                  </m:oMath>
                </a14:m>
                <a:r>
                  <a:rPr sz="2400" b="0">
                    <a:solidFill>
                      <a:srgbClr val="78350F"/>
                    </a:solidFill>
                    <a:latin typeface="Arial"/>
                  </a:rPr>
                  <a: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ℎ</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𝑅</m:t>
                        </m:r>
                      </m:num>
                      <m:den>
                        <m:r>
                          <a:rPr lang="en-IN" sz="2400" i="1">
                            <a:solidFill>
                              <a:srgbClr val="78350F"/>
                            </a:solidFill>
                            <a:latin typeface="Cambria Math" panose="02040503050406030204" pitchFamily="18" charset="0"/>
                          </a:rPr>
                          <m:t>𝐻</m:t>
                        </m:r>
                      </m:den>
                    </m:f>
                  </m:oMath>
                </a14:m>
                <a:r>
                  <a:rPr sz="2400" b="0">
                    <a:solidFill>
                      <a:srgbClr val="78350F"/>
                    </a:solidFill>
                    <a:latin typeface="Arial"/>
                  </a:rPr>
                  <a:t> is fixed, so </a:t>
                </a:r>
                <a14:m>
                  <m:oMath xmlns:m="http://schemas.openxmlformats.org/officeDocument/2006/math">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3</m:t>
                        </m:r>
                      </m:den>
                    </m:f>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θ</m:t>
                    </m:r>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𝑉</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a:rPr lang="en-IN" sz="2400" i="1">
                        <a:solidFill>
                          <a:srgbClr val="78350F"/>
                        </a:solidFill>
                        <a:latin typeface="Cambria Math" panose="02040503050406030204" pitchFamily="18" charset="0"/>
                      </a:rPr>
                      <m:t>π</m:t>
                    </m:r>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θ</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𝑟</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𝑡</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cone of liquid with surface radius </a:t>
                </a:r>
                <a:r>
                  <a:rPr lang="en-IN" sz="2400">
                    <a:solidFill>
                      <a:srgbClr val="78350F"/>
                    </a:solidFill>
                    <a:latin typeface="Cambria Math" panose="02040503050406030204" pitchFamily="18" charset="0"/>
                  </a:rPr>
                  <a:t>$r$</a:t>
                </a:r>
                <a:r>
                  <a:rPr sz="2400" b="0">
                    <a:solidFill>
                      <a:srgbClr val="78350F"/>
                    </a:solidFill>
                    <a:latin typeface="Arial"/>
                  </a:rPr>
                  <a:t> and height </a:t>
                </a:r>
                <a:r>
                  <a:rPr lang="en-IN" sz="2400">
                    <a:solidFill>
                      <a:srgbClr val="78350F"/>
                    </a:solidFill>
                    <a:latin typeface="Cambria Math" panose="02040503050406030204" pitchFamily="18" charset="0"/>
                  </a:rPr>
                  <a:t>$h$</a:t>
                </a:r>
                <a:r>
                  <a:rPr sz="2400" b="0">
                    <a:solidFill>
                      <a:srgbClr val="78350F"/>
                    </a:solidFill>
                    <a:latin typeface="Arial"/>
                  </a:rPr>
                  <a:t>, </a:t>
                </a:r>
                <a:r>
                  <a:rPr lang="en-IN" sz="2400">
                    <a:solidFill>
                      <a:srgbClr val="78350F"/>
                    </a:solidFill>
                    <a:latin typeface="Cambria Math" panose="02040503050406030204" pitchFamily="18" charset="0"/>
                  </a:rPr>
                  <a:t>$\frac rh=\frac RH$</a:t>
                </a:r>
                <a:r>
                  <a:rPr sz="2400" b="0">
                    <a:solidFill>
                      <a:srgbClr val="78350F"/>
                    </a:solidFill>
                    <a:latin typeface="Arial"/>
                  </a:rPr>
                  <a:t> is fixed, so </a:t>
                </a:r>
                <a:r>
                  <a:rPr lang="en-IN" sz="2400">
                    <a:solidFill>
                      <a:srgbClr val="78350F"/>
                    </a:solidFill>
                    <a:latin typeface="Cambria Math" panose="02040503050406030204" pitchFamily="18" charset="0"/>
                  </a:rPr>
                  <a:t>$V=\frac\pi3r^3\cot\theta$</a:t>
                </a:r>
                <a:r>
                  <a:rPr sz="2400" b="0">
                    <a:solidFill>
                      <a:srgbClr val="78350F"/>
                    </a:solidFill>
                    <a:latin typeface="Arial"/>
                  </a:rPr>
                  <a:t> and </a:t>
                </a:r>
                <a:r>
                  <a:rPr lang="en-IN" sz="2400">
                    <a:solidFill>
                      <a:srgbClr val="78350F"/>
                    </a:solidFill>
                    <a:latin typeface="Cambria Math" panose="02040503050406030204" pitchFamily="18" charset="0"/>
                  </a:rPr>
                  <a:t>$\frac{dV}{dt}=-k\pi r^2$</a:t>
                </a:r>
                <a:r>
                  <a:rPr sz="2400" b="0">
                    <a:solidFill>
                      <a:srgbClr val="78350F"/>
                    </a:solidFill>
                    <a:latin typeface="Arial"/>
                  </a:rPr>
                  <a:t> gives </a:t>
                </a:r>
                <a:r>
                  <a:rPr lang="en-IN" sz="2400">
                    <a:solidFill>
                      <a:srgbClr val="78350F"/>
                    </a:solidFill>
                    <a:latin typeface="Cambria Math" panose="02040503050406030204" pitchFamily="18" charset="0"/>
                  </a:rPr>
                  <a:t>$\cot\theta\frac{dr}{dt}=-k$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liquid evaporates at a rate proportional to the surface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𝑆</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volume of the liquid cone is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ℎ</m:t>
                    </m:r>
                  </m:oMath>
                </a14:m>
                <a:r>
                  <a:rPr sz="2400" b="0">
                    <a:solidFill>
                      <a:srgbClr val="111827"/>
                    </a:solidFill>
                    <a:latin typeface="Arial"/>
                  </a:rPr>
                  <a:t> and the free surface area is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𝐻</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(2) and (3):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...(4).</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liquid evaporates at a rate proportional to the surface area: </a:t>
                </a:r>
                <a:r>
                  <a:rPr lang="en-IN" sz="2400">
                    <a:solidFill>
                      <a:srgbClr val="111827"/>
                    </a:solidFill>
                    <a:latin typeface="Cambria Math" panose="02040503050406030204" pitchFamily="18" charset="0"/>
                  </a:rPr>
                  <a:t>$\frac{dV}{dt}\propto-S$</a:t>
                </a:r>
                <a:r>
                  <a:rPr sz="2400" b="0">
                    <a:solidFill>
                      <a:srgbClr val="111827"/>
                    </a:solidFill>
                    <a:latin typeface="Arial"/>
                  </a:rPr>
                  <a:t>, i.e. </a:t>
                </a:r>
                <a:r>
                  <a:rPr lang="en-IN" sz="2400">
                    <a:solidFill>
                      <a:srgbClr val="111827"/>
                    </a:solidFill>
                    <a:latin typeface="Cambria Math" panose="02040503050406030204" pitchFamily="18" charset="0"/>
                  </a:rPr>
                  <a:t>$\frac{dV}{dt}=-kS$</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volume of the liquid cone is </a:t>
                </a:r>
                <a:r>
                  <a:rPr lang="en-IN" sz="2400">
                    <a:solidFill>
                      <a:srgbClr val="111827"/>
                    </a:solidFill>
                    <a:latin typeface="Cambria Math" panose="02040503050406030204" pitchFamily="18" charset="0"/>
                  </a:rPr>
                  <a:t>$V=\frac13\pi r^2h$</a:t>
                </a:r>
                <a:r>
                  <a:rPr sz="2400" b="0">
                    <a:solidFill>
                      <a:srgbClr val="111827"/>
                    </a:solidFill>
                    <a:latin typeface="Arial"/>
                  </a:rPr>
                  <a:t> and the free surface area is </a:t>
                </a:r>
                <a:r>
                  <a:rPr lang="en-IN" sz="2400">
                    <a:solidFill>
                      <a:srgbClr val="111827"/>
                    </a:solidFill>
                    <a:latin typeface="Cambria Math" panose="02040503050406030204" pitchFamily="18" charset="0"/>
                  </a:rPr>
                  <a:t>$S=\pi r^2$</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$\tan\theta=\frac RH$</a:t>
                </a:r>
                <a:r>
                  <a:rPr sz="2400" b="0">
                    <a:solidFill>
                      <a:srgbClr val="111827"/>
                    </a:solidFill>
                    <a:latin typeface="Arial"/>
                  </a:rPr>
                  <a:t> and </a:t>
                </a:r>
                <a:r>
                  <a:rPr lang="en-IN" sz="2400">
                    <a:solidFill>
                      <a:srgbClr val="111827"/>
                    </a:solidFill>
                    <a:latin typeface="Cambria Math" panose="02040503050406030204" pitchFamily="18" charset="0"/>
                  </a:rPr>
                  <a:t>$\frac rh=\tan\theta$</a:t>
                </a:r>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(2) and (3): </a:t>
                </a:r>
                <a:r>
                  <a:rPr lang="en-IN" sz="2400">
                    <a:solidFill>
                      <a:srgbClr val="111827"/>
                    </a:solidFill>
                    <a:latin typeface="Cambria Math" panose="02040503050406030204" pitchFamily="18" charset="0"/>
                  </a:rPr>
                  <a:t>$V=\frac13\pi r^3\cot\theta$</a:t>
                </a:r>
                <a:r>
                  <a:rPr sz="2400" b="0">
                    <a:solidFill>
                      <a:srgbClr val="111827"/>
                    </a:solidFill>
                    <a:latin typeface="Arial"/>
                  </a:rPr>
                  <a:t> and </a:t>
                </a:r>
                <a:r>
                  <a:rPr lang="en-IN" sz="2400">
                    <a:solidFill>
                      <a:srgbClr val="111827"/>
                    </a:solidFill>
                    <a:latin typeface="Cambria Math" panose="02040503050406030204" pitchFamily="18" charset="0"/>
                  </a:rPr>
                  <a:t>$S=\pi r^2$</a:t>
                </a:r>
                <a:r>
                  <a:rPr sz="2400" b="0">
                    <a:solidFill>
                      <a:srgbClr val="111827"/>
                    </a:solidFill>
                    <a:latin typeface="Arial"/>
                  </a:rPr>
                  <a:t> ...(4).</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(4) in (1):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from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𝑅</m:t>
                        </m:r>
                      </m:sub>
                      <m:sup>
                        <m:r>
                          <a:rPr lang="en-IN" sz="2400" i="1">
                            <a:solidFill>
                              <a:srgbClr val="111827"/>
                            </a:solidFill>
                            <a:latin typeface="Cambria Math" panose="02040503050406030204" pitchFamily="18" charset="0"/>
                          </a:rPr>
                          <m:t>0</m:t>
                        </m:r>
                      </m:sup>
                      <m:e>
                        <m:r>
                          <a:rPr lang="en-IN" sz="2400" i="1">
                            <a:solidFill>
                              <a:srgbClr val="111827"/>
                            </a:solidFill>
                            <a:latin typeface="Cambria Math" panose="02040503050406030204" pitchFamily="18" charset="0"/>
                          </a:rPr>
                          <m:t>𝑑</m:t>
                        </m:r>
                      </m:e>
                    </m:nary>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𝑇</m:t>
                        </m:r>
                      </m:sup>
                      <m:e>
                        <m:r>
                          <a:rPr lang="en-IN" sz="2400" i="1">
                            <a:solidFill>
                              <a:srgbClr val="111827"/>
                            </a:solidFill>
                            <a:latin typeface="Cambria Math" panose="02040503050406030204" pitchFamily="18" charset="0"/>
                          </a:rPr>
                          <m:t>𝑑</m:t>
                        </m:r>
                      </m:e>
                    </m:nary>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𝑇</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(3),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𝑇</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𝐻</m:t>
                        </m:r>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(4) in (1): </a:t>
                </a:r>
                <a:r>
                  <a:rPr lang="en-IN" sz="2400">
                    <a:solidFill>
                      <a:srgbClr val="111827"/>
                    </a:solidFill>
                    <a:latin typeface="Cambria Math" panose="02040503050406030204" pitchFamily="18" charset="0"/>
                  </a:rPr>
                  <a:t>$\frac\pi3\cot\theta\cdot3r^2\frac{dr}{dt}=-k\pi r^2$</a:t>
                </a:r>
                <a:r>
                  <a:rPr sz="2400" b="0">
                    <a:solidFill>
                      <a:srgbClr val="111827"/>
                    </a:solidFill>
                    <a:latin typeface="Arial"/>
                  </a:rPr>
                  <a:t>, i.e. </a:t>
                </a:r>
                <a:r>
                  <a:rPr lang="en-IN" sz="2400">
                    <a:solidFill>
                      <a:srgbClr val="111827"/>
                    </a:solidFill>
                    <a:latin typeface="Cambria Math" panose="02040503050406030204" pitchFamily="18" charset="0"/>
                  </a:rPr>
                  <a:t>$\cot\theta\frac{dr}{dt}=-k$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Integrate from </a:t>
                </a:r>
                <a:r>
                  <a:rPr lang="en-IN" sz="2400">
                    <a:solidFill>
                      <a:srgbClr val="111827"/>
                    </a:solidFill>
                    <a:latin typeface="Cambria Math" panose="02040503050406030204" pitchFamily="18" charset="0"/>
                  </a:rPr>
                  <a:t>$r=R$</a:t>
                </a:r>
                <a:r>
                  <a:rPr sz="2400" b="0">
                    <a:solidFill>
                      <a:srgbClr val="111827"/>
                    </a:solidFill>
                    <a:latin typeface="Arial"/>
                  </a:rPr>
                  <a:t> at </a:t>
                </a:r>
                <a:r>
                  <a:rPr lang="en-IN" sz="2400">
                    <a:solidFill>
                      <a:srgbClr val="111827"/>
                    </a:solidFill>
                    <a:latin typeface="Cambria Math" panose="02040503050406030204" pitchFamily="18" charset="0"/>
                  </a:rPr>
                  <a:t>$t=0$</a:t>
                </a:r>
                <a:r>
                  <a:rPr sz="2400" b="0">
                    <a:solidFill>
                      <a:srgbClr val="111827"/>
                    </a:solidFill>
                    <a:latin typeface="Arial"/>
                  </a:rPr>
                  <a:t> to </a:t>
                </a:r>
                <a:r>
                  <a:rPr lang="en-IN" sz="2400">
                    <a:solidFill>
                      <a:srgbClr val="111827"/>
                    </a:solidFill>
                    <a:latin typeface="Cambria Math" panose="02040503050406030204" pitchFamily="18" charset="0"/>
                  </a:rPr>
                  <a:t>$r=0$</a:t>
                </a:r>
                <a:r>
                  <a:rPr sz="2400" b="0">
                    <a:solidFill>
                      <a:srgbClr val="111827"/>
                    </a:solidFill>
                    <a:latin typeface="Arial"/>
                  </a:rPr>
                  <a:t> at </a:t>
                </a:r>
                <a:r>
                  <a:rPr lang="en-IN" sz="2400">
                    <a:solidFill>
                      <a:srgbClr val="111827"/>
                    </a:solidFill>
                    <a:latin typeface="Cambria Math" panose="02040503050406030204" pitchFamily="18" charset="0"/>
                  </a:rPr>
                  <a:t>$t=T$</a:t>
                </a:r>
                <a:r>
                  <a:rPr sz="2400" b="0">
                    <a:solidFill>
                      <a:srgbClr val="111827"/>
                    </a:solidFill>
                    <a:latin typeface="Arial"/>
                  </a:rPr>
                  <a:t>: </a:t>
                </a:r>
                <a:r>
                  <a:rPr lang="en-IN" sz="2400">
                    <a:solidFill>
                      <a:srgbClr val="111827"/>
                    </a:solidFill>
                    <a:latin typeface="Cambria Math" panose="02040503050406030204" pitchFamily="18" charset="0"/>
                  </a:rPr>
                  <a:t>$\cot\theta\int_R^0dr=-k\int_0^Tdt$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$\cot\theta(0-R)=-k(T-0)$</a:t>
                </a:r>
                <a:r>
                  <a:rPr sz="2400" b="0">
                    <a:solidFill>
                      <a:srgbClr val="111827"/>
                    </a:solidFill>
                    <a:latin typeface="Arial"/>
                  </a:rPr>
                  <a:t>, so </a:t>
                </a:r>
                <a:r>
                  <a:rPr lang="en-IN" sz="2400">
                    <a:solidFill>
                      <a:srgbClr val="111827"/>
                    </a:solidFill>
                    <a:latin typeface="Cambria Math" panose="02040503050406030204" pitchFamily="18" charset="0"/>
                  </a:rPr>
                  <a:t>$R\cot\theta=kT$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(3), </a:t>
                </a:r>
                <a:r>
                  <a:rPr lang="en-IN" sz="2400">
                    <a:solidFill>
                      <a:srgbClr val="111827"/>
                    </a:solidFill>
                    <a:latin typeface="Cambria Math" panose="02040503050406030204" pitchFamily="18" charset="0"/>
                  </a:rPr>
                  <a:t>$R\cot\theta=H$</a:t>
                </a:r>
                <a:r>
                  <a:rPr sz="2400" b="0">
                    <a:solidFill>
                      <a:srgbClr val="111827"/>
                    </a:solidFill>
                    <a:latin typeface="Arial"/>
                  </a:rPr>
                  <a:t>, so </a:t>
                </a:r>
                <a:r>
                  <a:rPr lang="en-IN" sz="2400">
                    <a:solidFill>
                      <a:srgbClr val="111827"/>
                    </a:solidFill>
                    <a:latin typeface="Cambria Math" panose="02040503050406030204" pitchFamily="18" charset="0"/>
                  </a:rPr>
                  <a:t>$H=kT$</a:t>
                </a:r>
                <a:r>
                  <a:rPr sz="2400" b="0">
                    <a:solidFill>
                      <a:srgbClr val="111827"/>
                    </a:solidFill>
                    <a:latin typeface="Arial"/>
                  </a:rPr>
                  <a:t> and </a:t>
                </a:r>
                <a:r>
                  <a:rPr lang="en-IN" sz="2400">
                    <a:solidFill>
                      <a:srgbClr val="111827"/>
                    </a:solidFill>
                    <a:latin typeface="Cambria Math" panose="02040503050406030204" pitchFamily="18" charset="0"/>
                  </a:rPr>
                  <a:t>$T=\frac Hk$</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𝑇</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𝐻</m:t>
                        </m:r>
                      </m:num>
                      <m:den>
                        <m:r>
                          <a:rPr lang="en-IN" sz="2800" i="1">
                            <a:solidFill>
                              <a:srgbClr val="15803D"/>
                            </a:solidFill>
                            <a:latin typeface="Cambria Math" panose="02040503050406030204" pitchFamily="18" charset="0"/>
                          </a:rPr>
                          <m:t>𝑘</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$T=\frac Hk$</a:t>
                </a:r>
                <a:endParaRPr sz="2800">
                  <a:solidFill>
                    <a:srgbClr val="15803D"/>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𝑉</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ℎ</m:t>
                        </m:r>
                      </m:den>
                    </m:f>
                  </m:oMath>
                </a14:m>
                <a:r>
                  <a:rPr sz="2400" b="0">
                    <a:solidFill>
                      <a:srgbClr val="78350F"/>
                    </a:solidFill>
                    <a:latin typeface="Arial"/>
                  </a:rPr>
                  <a:t> equals the area of the free surface, so the height itself falls at the constant rate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$\frac{dV}{dh}$</a:t>
                </a:r>
                <a:r>
                  <a:rPr sz="2400" b="0">
                    <a:solidFill>
                      <a:srgbClr val="78350F"/>
                    </a:solidFill>
                    <a:latin typeface="Arial"/>
                  </a:rPr>
                  <a:t> equals the area of the free surface, so the height itself falls at the constant rate </a:t>
                </a:r>
                <a:r>
                  <a:rPr lang="en-IN" sz="2400">
                    <a:solidFill>
                      <a:srgbClr val="78350F"/>
                    </a:solidFill>
                    <a:latin typeface="Cambria Math" panose="02040503050406030204" pitchFamily="18" charset="0"/>
                  </a:rPr>
                  <a:t>$k$</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the liquid depth changes by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oMath>
                </a14:m>
                <a:r>
                  <a:rPr sz="2400" b="0">
                    <a:solidFill>
                      <a:srgbClr val="111827"/>
                    </a:solidFill>
                    <a:latin typeface="Arial"/>
                  </a:rPr>
                  <a:t>, the volume changes by (area of the free surface)</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evaporation law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the liquid depth changes by </a:t>
                </a:r>
                <a:r>
                  <a:rPr lang="en-IN" sz="2400">
                    <a:solidFill>
                      <a:srgbClr val="111827"/>
                    </a:solidFill>
                    <a:latin typeface="Cambria Math" panose="02040503050406030204" pitchFamily="18" charset="0"/>
                  </a:rPr>
                  <a:t>$dh$</a:t>
                </a:r>
                <a:r>
                  <a:rPr sz="2400" b="0">
                    <a:solidFill>
                      <a:srgbClr val="111827"/>
                    </a:solidFill>
                    <a:latin typeface="Arial"/>
                  </a:rPr>
                  <a:t>, the volume changes by (area of the free surface)</a:t>
                </a:r>
                <a:r>
                  <a:rPr lang="en-IN" sz="2400">
                    <a:solidFill>
                      <a:srgbClr val="111827"/>
                    </a:solidFill>
                    <a:latin typeface="Cambria Math" panose="02040503050406030204" pitchFamily="18" charset="0"/>
                  </a:rPr>
                  <a:t>$\times dh$</a:t>
                </a:r>
                <a:r>
                  <a:rPr sz="2400" b="0">
                    <a:solidFill>
                      <a:srgbClr val="111827"/>
                    </a:solidFill>
                    <a:latin typeface="Arial"/>
                  </a:rPr>
                  <a:t>: </a:t>
                </a:r>
                <a:r>
                  <a:rPr lang="en-IN" sz="2400">
                    <a:solidFill>
                      <a:srgbClr val="111827"/>
                    </a:solidFill>
                    <a:latin typeface="Cambria Math" panose="02040503050406030204" pitchFamily="18" charset="0"/>
                  </a:rPr>
                  <a:t>$dV=S\,dh$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evaporation law is </a:t>
                </a:r>
                <a:r>
                  <a:rPr lang="en-IN" sz="2400">
                    <a:solidFill>
                      <a:srgbClr val="111827"/>
                    </a:solidFill>
                    <a:latin typeface="Cambria Math" panose="02040503050406030204" pitchFamily="18" charset="0"/>
                  </a:rPr>
                  <a:t>$\frac{dV}{dt}=-kS$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𝑆</m:t>
                    </m:r>
                  </m:oMath>
                </a14:m>
                <a:r>
                  <a:rPr sz="2400" b="0">
                    <a:solidFill>
                      <a:srgbClr val="111827"/>
                    </a:solidFill>
                    <a:latin typeface="Arial"/>
                  </a:rPr>
                  <a:t>, and since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depth falls linearly from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the constant speed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so the time is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𝐻</m:t>
                        </m:r>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$S\frac{dh}{dt}=-kS$</a:t>
                </a:r>
                <a:r>
                  <a:rPr sz="2400" b="0">
                    <a:solidFill>
                      <a:srgbClr val="111827"/>
                    </a:solidFill>
                    <a:latin typeface="Arial"/>
                  </a:rPr>
                  <a:t>, and since </a:t>
                </a:r>
                <a:r>
                  <a:rPr lang="en-IN" sz="2400">
                    <a:solidFill>
                      <a:srgbClr val="111827"/>
                    </a:solidFill>
                    <a:latin typeface="Cambria Math" panose="02040503050406030204" pitchFamily="18" charset="0"/>
                  </a:rPr>
                  <a:t>$S&gt;0$</a:t>
                </a:r>
                <a:r>
                  <a:rPr sz="2400" b="0">
                    <a:solidFill>
                      <a:srgbClr val="111827"/>
                    </a:solidFill>
                    <a:latin typeface="Arial"/>
                  </a:rPr>
                  <a:t>, </a:t>
                </a:r>
                <a:r>
                  <a:rPr lang="en-IN" sz="2400">
                    <a:solidFill>
                      <a:srgbClr val="111827"/>
                    </a:solidFill>
                    <a:latin typeface="Cambria Math" panose="02040503050406030204" pitchFamily="18" charset="0"/>
                  </a:rPr>
                  <a:t>$\frac{dh}{dt}=-k$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depth falls linearly from </a:t>
                </a:r>
                <a:r>
                  <a:rPr lang="en-IN" sz="2400">
                    <a:solidFill>
                      <a:srgbClr val="111827"/>
                    </a:solidFill>
                    <a:latin typeface="Cambria Math" panose="02040503050406030204" pitchFamily="18" charset="0"/>
                  </a:rPr>
                  <a:t>$H$</a:t>
                </a:r>
                <a:r>
                  <a:rPr sz="2400" b="0">
                    <a:solidFill>
                      <a:srgbClr val="111827"/>
                    </a:solidFill>
                    <a:latin typeface="Arial"/>
                  </a:rPr>
                  <a:t> to </a:t>
                </a:r>
                <a:r>
                  <a:rPr lang="en-IN" sz="2400">
                    <a:solidFill>
                      <a:srgbClr val="111827"/>
                    </a:solidFill>
                    <a:latin typeface="Cambria Math" panose="02040503050406030204" pitchFamily="18" charset="0"/>
                  </a:rPr>
                  <a:t>$0$</a:t>
                </a:r>
                <a:r>
                  <a:rPr sz="2400" b="0">
                    <a:solidFill>
                      <a:srgbClr val="111827"/>
                    </a:solidFill>
                    <a:latin typeface="Arial"/>
                  </a:rPr>
                  <a:t> at the constant speed </a:t>
                </a:r>
                <a:r>
                  <a:rPr lang="en-IN" sz="2400">
                    <a:solidFill>
                      <a:srgbClr val="111827"/>
                    </a:solidFill>
                    <a:latin typeface="Cambria Math" panose="02040503050406030204" pitchFamily="18" charset="0"/>
                  </a:rPr>
                  <a:t>$k$</a:t>
                </a:r>
                <a:r>
                  <a:rPr sz="2400" b="0">
                    <a:solidFill>
                      <a:srgbClr val="111827"/>
                    </a:solidFill>
                    <a:latin typeface="Arial"/>
                  </a:rPr>
                  <a:t>, so the time is </a:t>
                </a:r>
                <a:r>
                  <a:rPr lang="en-IN" sz="2400">
                    <a:solidFill>
                      <a:srgbClr val="111827"/>
                    </a:solidFill>
                    <a:latin typeface="Cambria Math" panose="02040503050406030204" pitchFamily="18" charset="0"/>
                  </a:rPr>
                  <a:t>$T=\frac Hk$</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𝑇</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𝐻</m:t>
                        </m:r>
                      </m:num>
                      <m:den>
                        <m:r>
                          <a:rPr lang="en-IN" sz="2800" i="1">
                            <a:solidFill>
                              <a:srgbClr val="15803D"/>
                            </a:solidFill>
                            <a:latin typeface="Cambria Math" panose="02040503050406030204" pitchFamily="18" charset="0"/>
                          </a:rPr>
                          <m:t>𝑘</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$T=\frac Hk$</a:t>
                </a:r>
                <a:endParaRPr sz="2800">
                  <a:solidFill>
                    <a:srgbClr val="15803D"/>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vessel,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free-surface area; evaporation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then makes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independent of the shape.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contrast, drainage through a hole (Torricelli)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ℎ</m:t>
                        </m:r>
                      </m:e>
                    </m:rad>
                  </m:oMath>
                </a14:m>
                <a:r>
                  <a:rPr sz="2400" b="0">
                    <a:solidFill>
                      <a:srgbClr val="111827"/>
                    </a:solidFill>
                    <a:latin typeface="Arial"/>
                  </a:rPr>
                  <a:t> and the shape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Similar-figure bookkeeping: for a cone with fixed semi-vertical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vessel, </a:t>
                </a:r>
                <a:r>
                  <a:rPr lang="en-IN" sz="2400">
                    <a:solidFill>
                      <a:srgbClr val="111827"/>
                    </a:solidFill>
                    <a:latin typeface="Cambria Math" panose="02040503050406030204" pitchFamily="18" charset="0"/>
                  </a:rPr>
                  <a:t>$\frac{dV}{dt}=A(h)\frac{dh}{dt}$</a:t>
                </a:r>
                <a:r>
                  <a:rPr sz="2400" b="0">
                    <a:solidFill>
                      <a:srgbClr val="111827"/>
                    </a:solidFill>
                    <a:latin typeface="Arial"/>
                  </a:rPr>
                  <a:t> where </a:t>
                </a:r>
                <a:r>
                  <a:rPr lang="en-IN" sz="2400">
                    <a:solidFill>
                      <a:srgbClr val="111827"/>
                    </a:solidFill>
                    <a:latin typeface="Cambria Math" panose="02040503050406030204" pitchFamily="18" charset="0"/>
                  </a:rPr>
                  <a:t>$A(h)$</a:t>
                </a:r>
                <a:r>
                  <a:rPr sz="2400" b="0">
                    <a:solidFill>
                      <a:srgbClr val="111827"/>
                    </a:solidFill>
                    <a:latin typeface="Arial"/>
                  </a:rPr>
                  <a:t> is the free-surface area; evaporation </a:t>
                </a:r>
                <a:r>
                  <a:rPr lang="en-IN" sz="2400">
                    <a:solidFill>
                      <a:srgbClr val="111827"/>
                    </a:solidFill>
                    <a:latin typeface="Cambria Math" panose="02040503050406030204" pitchFamily="18" charset="0"/>
                  </a:rPr>
                  <a:t>$\propto A$</a:t>
                </a:r>
                <a:r>
                  <a:rPr sz="2400" b="0">
                    <a:solidFill>
                      <a:srgbClr val="111827"/>
                    </a:solidFill>
                    <a:latin typeface="Arial"/>
                  </a:rPr>
                  <a:t> then makes </a:t>
                </a:r>
                <a:r>
                  <a:rPr lang="en-IN" sz="2400">
                    <a:solidFill>
                      <a:srgbClr val="111827"/>
                    </a:solidFill>
                    <a:latin typeface="Cambria Math" panose="02040503050406030204" pitchFamily="18" charset="0"/>
                  </a:rPr>
                  <a:t>$\frac{dh}{dt}=-k$</a:t>
                </a:r>
                <a:r>
                  <a:rPr sz="2400" b="0">
                    <a:solidFill>
                      <a:srgbClr val="111827"/>
                    </a:solidFill>
                    <a:latin typeface="Arial"/>
                  </a:rPr>
                  <a:t> independent of the shape.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contrast, drainage through a hole (Torricelli) gives </a:t>
                </a:r>
                <a:r>
                  <a:rPr lang="en-IN" sz="2400">
                    <a:solidFill>
                      <a:srgbClr val="111827"/>
                    </a:solidFill>
                    <a:latin typeface="Cambria Math" panose="02040503050406030204" pitchFamily="18" charset="0"/>
                  </a:rPr>
                  <a:t>$\frac{dV}{dt}\propto-\sqrt h$</a:t>
                </a:r>
                <a:r>
                  <a:rPr sz="2400" b="0">
                    <a:solidFill>
                      <a:srgbClr val="111827"/>
                    </a:solidFill>
                    <a:latin typeface="Arial"/>
                  </a:rPr>
                  <a:t> and the shape matters.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Similar-figure bookkeeping: for a cone with fixed semi-vertical angle </a:t>
                </a:r>
                <a:r>
                  <a:rPr lang="en-IN" sz="2400">
                    <a:solidFill>
                      <a:srgbClr val="111827"/>
                    </a:solidFill>
                    <a:latin typeface="Cambria Math" panose="02040503050406030204" pitchFamily="18" charset="0"/>
                  </a:rPr>
                  <a:t>$\theta$</a:t>
                </a:r>
                <a:r>
                  <a:rPr sz="2400" b="0">
                    <a:solidFill>
                      <a:srgbClr val="111827"/>
                    </a:solidFill>
                    <a:latin typeface="Arial"/>
                  </a:rPr>
                  <a:t>, </a:t>
                </a:r>
                <a:r>
                  <a:rPr lang="en-IN" sz="2400">
                    <a:solidFill>
                      <a:srgbClr val="111827"/>
                    </a:solidFill>
                    <a:latin typeface="Cambria Math" panose="02040503050406030204" pitchFamily="18" charset="0"/>
                  </a:rPr>
                  <a:t>$r=h\tan\theta$</a:t>
                </a:r>
                <a:r>
                  <a:rPr sz="2400" b="0">
                    <a:solidFill>
                      <a:srgbClr val="111827"/>
                    </a:solidFill>
                    <a:latin typeface="Arial"/>
                  </a:rPr>
                  <a:t>, </a:t>
                </a:r>
                <a:r>
                  <a:rPr lang="en-IN" sz="2400">
                    <a:solidFill>
                      <a:srgbClr val="111827"/>
                    </a:solidFill>
                    <a:latin typeface="Cambria Math" panose="02040503050406030204" pitchFamily="18" charset="0"/>
                  </a:rPr>
                  <a:t>$V=\frac\pi3h^3\tan^2\theta$</a:t>
                </a:r>
                <a:r>
                  <a:rPr sz="2400" b="0">
                    <a:solidFill>
                      <a:srgbClr val="111827"/>
                    </a:solidFill>
                    <a:latin typeface="Arial"/>
                  </a:rPr>
                  <a:t>, </a:t>
                </a:r>
                <a:r>
                  <a:rPr lang="en-IN" sz="2400">
                    <a:solidFill>
                      <a:srgbClr val="111827"/>
                    </a:solidFill>
                    <a:latin typeface="Cambria Math" panose="02040503050406030204" pitchFamily="18" charset="0"/>
                  </a:rPr>
                  <a:t>$S=\pi h^2\tan^2\theta$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prove that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$P(1)=0$</a:t>
                </a:r>
                <a:r>
                  <a:rPr sz="2400" b="0">
                    <a:solidFill>
                      <a:srgbClr val="111827"/>
                    </a:solidFill>
                    <a:latin typeface="Arial"/>
                  </a:rPr>
                  <a:t> and </a:t>
                </a:r>
                <a:r>
                  <a:rPr lang="en-IN" sz="2400">
                    <a:solidFill>
                      <a:srgbClr val="111827"/>
                    </a:solidFill>
                    <a:latin typeface="Cambria Math" panose="02040503050406030204" pitchFamily="18" charset="0"/>
                  </a:rPr>
                  <a:t>$\frac{dP(x)}{dx}&gt;P(x)$</a:t>
                </a:r>
                <a:r>
                  <a:rPr sz="2400" b="0">
                    <a:solidFill>
                      <a:srgbClr val="111827"/>
                    </a:solidFill>
                    <a:latin typeface="Arial"/>
                  </a:rPr>
                  <a:t> for all </a:t>
                </a:r>
                <a:r>
                  <a:rPr lang="en-IN" sz="2400">
                    <a:solidFill>
                      <a:srgbClr val="111827"/>
                    </a:solidFill>
                    <a:latin typeface="Cambria Math" panose="02040503050406030204" pitchFamily="18" charset="0"/>
                  </a:rPr>
                  <a:t>$x\ge1$</a:t>
                </a:r>
                <a:r>
                  <a:rPr sz="2400" b="0">
                    <a:solidFill>
                      <a:srgbClr val="111827"/>
                    </a:solidFill>
                    <a:latin typeface="Arial"/>
                  </a:rPr>
                  <a:t>, then prove that </a:t>
                </a:r>
                <a:r>
                  <a:rPr lang="en-IN" sz="2400">
                    <a:solidFill>
                      <a:srgbClr val="111827"/>
                    </a:solidFill>
                    <a:latin typeface="Cambria Math" panose="02040503050406030204" pitchFamily="18" charset="0"/>
                  </a:rPr>
                  <a:t>$P(x)&gt;0$</a:t>
                </a:r>
                <a:r>
                  <a:rPr sz="2400" b="0">
                    <a:solidFill>
                      <a:srgbClr val="111827"/>
                    </a:solidFill>
                    <a:latin typeface="Arial"/>
                  </a:rPr>
                  <a:t> for all </a:t>
                </a:r>
                <a:r>
                  <a:rPr lang="en-IN" sz="2400">
                    <a:solidFill>
                      <a:srgbClr val="111827"/>
                    </a:solidFill>
                    <a:latin typeface="Cambria Math" panose="02040503050406030204" pitchFamily="18" charset="0"/>
                  </a:rPr>
                  <a:t>$x&gt;1$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Differential inequality (monotonicity using an integrating factor)</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Multiplying </a:t>
                </a:r>
                <a14:m>
                  <m:oMath xmlns:m="http://schemas.openxmlformats.org/officeDocument/2006/math">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by </a:t>
                </a:r>
                <a14:m>
                  <m:oMath xmlns:m="http://schemas.openxmlformats.org/officeDocument/2006/math">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up>
                    </m:sSup>
                  </m:oMath>
                </a14:m>
                <a:r>
                  <a:rPr sz="2400" b="0">
                    <a:solidFill>
                      <a:srgbClr val="78350F"/>
                    </a:solidFill>
                    <a:latin typeface="Arial"/>
                  </a:rPr>
                  <a:t> gives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up>
                        </m:sSup>
                      </m:e>
                    </m:d>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up>
                    </m:sSup>
                  </m:oMath>
                </a14:m>
                <a:r>
                  <a:rPr sz="2400" b="0">
                    <a:solidFill>
                      <a:srgbClr val="78350F"/>
                    </a:solidFill>
                    <a:latin typeface="Arial"/>
                  </a:rPr>
                  <a:t> is increasing.</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Multiplying </a:t>
                </a:r>
                <a:r>
                  <a:rPr lang="en-IN" sz="2400">
                    <a:solidFill>
                      <a:srgbClr val="78350F"/>
                    </a:solidFill>
                    <a:latin typeface="Cambria Math" panose="02040503050406030204" pitchFamily="18" charset="0"/>
                  </a:rPr>
                  <a:t>$P'-P&gt;0$</a:t>
                </a:r>
                <a:r>
                  <a:rPr sz="2400" b="0">
                    <a:solidFill>
                      <a:srgbClr val="78350F"/>
                    </a:solidFill>
                    <a:latin typeface="Arial"/>
                  </a:rPr>
                  <a:t> by </a:t>
                </a:r>
                <a:r>
                  <a:rPr lang="en-IN" sz="2400">
                    <a:solidFill>
                      <a:srgbClr val="78350F"/>
                    </a:solidFill>
                    <a:latin typeface="Cambria Math" panose="02040503050406030204" pitchFamily="18" charset="0"/>
                  </a:rPr>
                  <a:t>$e^{-x}$</a:t>
                </a:r>
                <a:r>
                  <a:rPr sz="2400" b="0">
                    <a:solidFill>
                      <a:srgbClr val="78350F"/>
                    </a:solidFill>
                    <a:latin typeface="Arial"/>
                  </a:rPr>
                  <a:t> gives </a:t>
                </a:r>
                <a:r>
                  <a:rPr lang="en-IN" sz="2400">
                    <a:solidFill>
                      <a:srgbClr val="78350F"/>
                    </a:solidFill>
                    <a:latin typeface="Cambria Math" panose="02040503050406030204" pitchFamily="18" charset="0"/>
                  </a:rPr>
                  <a:t>$\frac{d}{dx}\left(P(x)e^{-x}\right)&gt;0$</a:t>
                </a:r>
                <a:r>
                  <a:rPr sz="2400" b="0">
                    <a:solidFill>
                      <a:srgbClr val="78350F"/>
                    </a:solidFill>
                    <a:latin typeface="Arial"/>
                  </a:rPr>
                  <a:t>, so </a:t>
                </a:r>
                <a:r>
                  <a:rPr lang="en-IN" sz="2400">
                    <a:solidFill>
                      <a:srgbClr val="78350F"/>
                    </a:solidFill>
                    <a:latin typeface="Cambria Math" panose="02040503050406030204" pitchFamily="18" charset="0"/>
                  </a:rPr>
                  <a:t>$P(x)e^{-x}$</a:t>
                </a:r>
                <a:r>
                  <a:rPr sz="2400" b="0">
                    <a:solidFill>
                      <a:srgbClr val="78350F"/>
                    </a:solidFill>
                    <a:latin typeface="Arial"/>
                  </a:rPr>
                  <a:t> is increasing.</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(1) by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e>
                    </m: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$P(1)=0$</a:t>
                </a:r>
                <a:r>
                  <a:rPr sz="2400" b="0">
                    <a:solidFill>
                      <a:srgbClr val="111827"/>
                    </a:solidFill>
                    <a:latin typeface="Arial"/>
                  </a:rPr>
                  <a:t> and </a:t>
                </a:r>
                <a:r>
                  <a:rPr lang="en-IN" sz="2400">
                    <a:solidFill>
                      <a:srgbClr val="111827"/>
                    </a:solidFill>
                    <a:latin typeface="Cambria Math" panose="02040503050406030204" pitchFamily="18" charset="0"/>
                  </a:rPr>
                  <a:t>$\frac{dP(x)}{dx}-P(x)&gt;0$</a:t>
                </a:r>
                <a:r>
                  <a:rPr sz="2400" b="0">
                    <a:solidFill>
                      <a:srgbClr val="111827"/>
                    </a:solidFill>
                    <a:latin typeface="Arial"/>
                  </a:rPr>
                  <a:t> for all </a:t>
                </a:r>
                <a:r>
                  <a:rPr lang="en-IN" sz="2400">
                    <a:solidFill>
                      <a:srgbClr val="111827"/>
                    </a:solidFill>
                    <a:latin typeface="Cambria Math" panose="02040503050406030204" pitchFamily="18" charset="0"/>
                  </a:rPr>
                  <a:t>$x\ge1$</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(1) by </a:t>
                </a:r>
                <a:r>
                  <a:rPr lang="en-IN" sz="2400">
                    <a:solidFill>
                      <a:srgbClr val="111827"/>
                    </a:solidFill>
                    <a:latin typeface="Cambria Math" panose="02040503050406030204" pitchFamily="18" charset="0"/>
                  </a:rPr>
                  <a:t>$e^{-x}&gt;0$</a:t>
                </a:r>
                <a:r>
                  <a:rPr sz="2400" b="0">
                    <a:solidFill>
                      <a:srgbClr val="111827"/>
                    </a:solidFill>
                    <a:latin typeface="Arial"/>
                  </a:rPr>
                  <a:t>: </a:t>
                </a:r>
                <a:r>
                  <a:rPr lang="en-IN" sz="2400">
                    <a:solidFill>
                      <a:srgbClr val="111827"/>
                    </a:solidFill>
                    <a:latin typeface="Cambria Math" panose="02040503050406030204" pitchFamily="18" charset="0"/>
                  </a:rPr>
                  <a:t>$e^{-x}\frac{d}{dx}P(x)+P(x)\frac{d}{dx}e^{-x}&gt;0$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r>
                  <a:rPr lang="en-IN" sz="2400">
                    <a:solidFill>
                      <a:srgbClr val="111827"/>
                    </a:solidFill>
                    <a:latin typeface="Cambria Math" panose="02040503050406030204" pitchFamily="18" charset="0"/>
                  </a:rPr>
                  <a:t>$\frac{d}{dx}\left(P(x)\cdot e^{-x}\right)&gt;0$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is an increasing function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$P(x)\cdot e^{-x}$</a:t>
                </a:r>
                <a:r>
                  <a:rPr sz="2400" b="0">
                    <a:solidFill>
                      <a:srgbClr val="111827"/>
                    </a:solidFill>
                    <a:latin typeface="Arial"/>
                  </a:rPr>
                  <a:t> is an increasing function for </a:t>
                </a:r>
                <a:r>
                  <a:rPr lang="en-IN" sz="2400">
                    <a:solidFill>
                      <a:srgbClr val="111827"/>
                    </a:solidFill>
                    <a:latin typeface="Cambria Math" panose="02040503050406030204" pitchFamily="18" charset="0"/>
                  </a:rPr>
                  <a:t>$x\ge1$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for </a:t>
                </a:r>
                <a:r>
                  <a:rPr lang="en-IN" sz="2400">
                    <a:solidFill>
                      <a:srgbClr val="111827"/>
                    </a:solidFill>
                    <a:latin typeface="Cambria Math" panose="02040503050406030204" pitchFamily="18" charset="0"/>
                  </a:rPr>
                  <a:t>$x&gt;1$</a:t>
                </a:r>
                <a:r>
                  <a:rPr sz="2400" b="0">
                    <a:solidFill>
                      <a:srgbClr val="111827"/>
                    </a:solidFill>
                    <a:latin typeface="Arial"/>
                  </a:rPr>
                  <a:t>: </a:t>
                </a:r>
                <a:r>
                  <a:rPr lang="en-IN" sz="2400">
                    <a:solidFill>
                      <a:srgbClr val="111827"/>
                    </a:solidFill>
                    <a:latin typeface="Cambria Math" panose="02040503050406030204" pitchFamily="18" charset="0"/>
                  </a:rPr>
                  <a:t>$P(x)\cdot e^{-x}&gt;P(1)\cdot e^{-1}=0$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$e^{-x}&gt;0$</a:t>
                </a:r>
                <a:r>
                  <a:rPr sz="2400" b="0">
                    <a:solidFill>
                      <a:srgbClr val="111827"/>
                    </a:solidFill>
                    <a:latin typeface="Arial"/>
                  </a:rPr>
                  <a:t>, </a:t>
                </a:r>
                <a:r>
                  <a:rPr lang="en-IN" sz="2400">
                    <a:solidFill>
                      <a:srgbClr val="111827"/>
                    </a:solidFill>
                    <a:latin typeface="Cambria Math" panose="02040503050406030204" pitchFamily="18" charset="0"/>
                  </a:rPr>
                  <a:t>$P(x)&gt;0$</a:t>
                </a:r>
                <a:r>
                  <a:rPr sz="2400" b="0">
                    <a:solidFill>
                      <a:srgbClr val="111827"/>
                    </a:solidFill>
                    <a:latin typeface="Arial"/>
                  </a:rPr>
                  <a:t> for all </a:t>
                </a:r>
                <a:r>
                  <a:rPr lang="en-IN" sz="2400">
                    <a:solidFill>
                      <a:srgbClr val="111827"/>
                    </a:solidFill>
                    <a:latin typeface="Cambria Math" panose="02040503050406030204" pitchFamily="18" charset="0"/>
                  </a:rPr>
                  <a:t>$x&gt;1$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14:m>
                  <m:oMath xmlns:m="http://schemas.openxmlformats.org/officeDocument/2006/math">
                    <m:r>
                      <a:rPr lang="en-IN" sz="2800" i="1">
                        <a:solidFill>
                          <a:srgbClr val="15803D"/>
                        </a:solidFill>
                        <a:latin typeface="Cambria Math" panose="02040503050406030204" pitchFamily="18" charset="0"/>
                      </a:rPr>
                      <m:t>𝑃</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&gt;</m:t>
                    </m:r>
                    <m:r>
                      <a:rPr lang="en-IN" sz="2800" i="1">
                        <a:solidFill>
                          <a:srgbClr val="15803D"/>
                        </a:solidFill>
                        <a:latin typeface="Cambria Math" panose="02040503050406030204" pitchFamily="18" charset="0"/>
                      </a:rPr>
                      <m:t>0</m:t>
                    </m:r>
                  </m:oMath>
                </a14:m>
                <a:r>
                  <a:rPr sz="2800" b="1">
                    <a:solidFill>
                      <a:srgbClr val="15803D"/>
                    </a:solidFill>
                    <a:latin typeface="Arial"/>
                  </a:rPr>
                  <a:t> for all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&gt;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r>
                  <a:rPr lang="en-IN" sz="2800">
                    <a:solidFill>
                      <a:srgbClr val="15803D"/>
                    </a:solidFill>
                    <a:latin typeface="Cambria Math" panose="02040503050406030204" pitchFamily="18" charset="0"/>
                  </a:rPr>
                  <a:t>$P(x)&gt;0$</a:t>
                </a:r>
                <a:r>
                  <a:rPr sz="2800" b="1">
                    <a:solidFill>
                      <a:srgbClr val="15803D"/>
                    </a:solidFill>
                    <a:latin typeface="Arial"/>
                  </a:rPr>
                  <a:t> for all </a:t>
                </a:r>
                <a:r>
                  <a:rPr lang="en-IN" sz="2800">
                    <a:solidFill>
                      <a:srgbClr val="15803D"/>
                    </a:solidFill>
                    <a:latin typeface="Cambria Math" panose="02040503050406030204" pitchFamily="18" charset="0"/>
                  </a:rPr>
                  <a:t>$x&gt;1$</a:t>
                </a:r>
                <a:endParaRPr sz="2800">
                  <a:solidFill>
                    <a:srgbClr val="15803D"/>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Argue by contradiction at the first zero after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using only the sign of </a:t>
                </a:r>
                <a14:m>
                  <m:oMath xmlns:m="http://schemas.openxmlformats.org/officeDocument/2006/math">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there (no integrating factor).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Argue by contradiction at the first zero after </a:t>
                </a:r>
                <a:r>
                  <a:rPr lang="en-IN" sz="2400">
                    <a:solidFill>
                      <a:srgbClr val="78350F"/>
                    </a:solidFill>
                    <a:latin typeface="Cambria Math" panose="02040503050406030204" pitchFamily="18" charset="0"/>
                  </a:rPr>
                  <a:t>$x=1$</a:t>
                </a:r>
                <a:r>
                  <a:rPr sz="2400" b="0">
                    <a:solidFill>
                      <a:srgbClr val="78350F"/>
                    </a:solidFill>
                    <a:latin typeface="Arial"/>
                  </a:rPr>
                  <a:t>, using only the sign of </a:t>
                </a:r>
                <a:r>
                  <a:rPr lang="en-IN" sz="2400">
                    <a:solidFill>
                      <a:srgbClr val="78350F"/>
                    </a:solidFill>
                    <a:latin typeface="Cambria Math" panose="02040503050406030204" pitchFamily="18" charset="0"/>
                  </a:rPr>
                  <a:t>$P'$</a:t>
                </a:r>
                <a:r>
                  <a:rPr sz="2400" b="0">
                    <a:solidFill>
                      <a:srgbClr val="78350F"/>
                    </a:solidFill>
                    <a:latin typeface="Arial"/>
                  </a:rPr>
                  <a:t> there (no integrating factor).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strictly increasing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some interval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Suppose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inf</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continuity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$P'(1)&gt;P(1)=0$</a:t>
                </a:r>
                <a:r>
                  <a:rPr sz="2400" b="0">
                    <a:solidFill>
                      <a:srgbClr val="111827"/>
                    </a:solidFill>
                    <a:latin typeface="Arial"/>
                  </a:rPr>
                  <a:t>, so </a:t>
                </a:r>
                <a:r>
                  <a:rPr lang="en-IN" sz="2400">
                    <a:solidFill>
                      <a:srgbClr val="111827"/>
                    </a:solidFill>
                    <a:latin typeface="Cambria Math" panose="02040503050406030204" pitchFamily="18" charset="0"/>
                  </a:rPr>
                  <a:t>$P$</a:t>
                </a:r>
                <a:r>
                  <a:rPr sz="2400" b="0">
                    <a:solidFill>
                      <a:srgbClr val="111827"/>
                    </a:solidFill>
                    <a:latin typeface="Arial"/>
                  </a:rPr>
                  <a:t> is strictly increasing at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$P&gt;0$</a:t>
                </a:r>
                <a:r>
                  <a:rPr sz="2400" b="0">
                    <a:solidFill>
                      <a:srgbClr val="111827"/>
                    </a:solidFill>
                    <a:latin typeface="Arial"/>
                  </a:rPr>
                  <a:t> on some interval </a:t>
                </a:r>
                <a:r>
                  <a:rPr lang="en-IN" sz="2400">
                    <a:solidFill>
                      <a:srgbClr val="111827"/>
                    </a:solidFill>
                    <a:latin typeface="Cambria Math" panose="02040503050406030204" pitchFamily="18" charset="0"/>
                  </a:rPr>
                  <a:t>$(1,1+\delta)$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Suppose </a:t>
                </a:r>
                <a:r>
                  <a:rPr lang="en-IN" sz="2400">
                    <a:solidFill>
                      <a:srgbClr val="111827"/>
                    </a:solidFill>
                    <a:latin typeface="Cambria Math" panose="02040503050406030204" pitchFamily="18" charset="0"/>
                  </a:rPr>
                  <a:t>$P(a)\le0$</a:t>
                </a:r>
                <a:r>
                  <a:rPr sz="2400" b="0">
                    <a:solidFill>
                      <a:srgbClr val="111827"/>
                    </a:solidFill>
                    <a:latin typeface="Arial"/>
                  </a:rPr>
                  <a:t> for some </a:t>
                </a:r>
                <a:r>
                  <a:rPr lang="en-IN" sz="2400">
                    <a:solidFill>
                      <a:srgbClr val="111827"/>
                    </a:solidFill>
                    <a:latin typeface="Cambria Math" panose="02040503050406030204" pitchFamily="18" charset="0"/>
                  </a:rPr>
                  <a:t>$a&gt;1$</a:t>
                </a:r>
                <a:r>
                  <a:rPr sz="2400" b="0">
                    <a:solidFill>
                      <a:srgbClr val="111827"/>
                    </a:solidFill>
                    <a:latin typeface="Arial"/>
                  </a:rPr>
                  <a:t>. Let </a:t>
                </a:r>
                <a:r>
                  <a:rPr lang="en-IN" sz="2400">
                    <a:solidFill>
                      <a:srgbClr val="111827"/>
                    </a:solidFill>
                    <a:latin typeface="Cambria Math" panose="02040503050406030204" pitchFamily="18" charset="0"/>
                  </a:rPr>
                  <a:t>$c=\inf\{x&gt;1:\ P(x)\le0\}$</a:t>
                </a:r>
                <a:r>
                  <a:rPr sz="2400" b="0">
                    <a:solidFill>
                      <a:srgbClr val="111827"/>
                    </a:solidFill>
                    <a:latin typeface="Arial"/>
                  </a:rPr>
                  <a:t>; then </a:t>
                </a:r>
                <a:r>
                  <a:rPr lang="en-IN" sz="2400">
                    <a:solidFill>
                      <a:srgbClr val="111827"/>
                    </a:solidFill>
                    <a:latin typeface="Cambria Math" panose="02040503050406030204" pitchFamily="18" charset="0"/>
                  </a:rPr>
                  <a:t>$c\ge1+\delta&gt;1$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continuity </a:t>
                </a:r>
                <a:r>
                  <a:rPr lang="en-IN" sz="2400">
                    <a:solidFill>
                      <a:srgbClr val="111827"/>
                    </a:solidFill>
                    <a:latin typeface="Cambria Math" panose="02040503050406030204" pitchFamily="18" charset="0"/>
                  </a:rPr>
                  <a:t>$P(c)=0$</a:t>
                </a:r>
                <a:r>
                  <a:rPr sz="2400" b="0">
                    <a:solidFill>
                      <a:srgbClr val="111827"/>
                    </a:solidFill>
                    <a:latin typeface="Arial"/>
                  </a:rPr>
                  <a:t> and </a:t>
                </a:r>
                <a:r>
                  <a:rPr lang="en-IN" sz="2400">
                    <a:solidFill>
                      <a:srgbClr val="111827"/>
                    </a:solidFill>
                    <a:latin typeface="Cambria Math" panose="02040503050406030204" pitchFamily="18" charset="0"/>
                  </a:rPr>
                  <a:t>$P&gt;0$</a:t>
                </a:r>
                <a:r>
                  <a:rPr sz="2400" b="0">
                    <a:solidFill>
                      <a:srgbClr val="111827"/>
                    </a:solidFill>
                    <a:latin typeface="Arial"/>
                  </a:rPr>
                  <a:t> on </a:t>
                </a:r>
                <a:r>
                  <a:rPr lang="en-IN" sz="2400">
                    <a:solidFill>
                      <a:srgbClr val="111827"/>
                    </a:solidFill>
                    <a:latin typeface="Cambria Math" panose="02040503050406030204" pitchFamily="18" charset="0"/>
                  </a:rPr>
                  <a:t>$(1,c)$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the hypothesis gives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contradiction. Hence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$P'(c)=\lim_{h\to0^-}\frac{P(c+h)-P(c)}{h}=\lim_{h\to0^-}\frac{P(c+h)}{h}\le0$</a:t>
                </a:r>
                <a:r>
                  <a:rPr sz="2400" b="0">
                    <a:solidFill>
                      <a:srgbClr val="111827"/>
                    </a:solidFill>
                    <a:latin typeface="Arial"/>
                  </a:rPr>
                  <a:t> because </a:t>
                </a:r>
                <a:r>
                  <a:rPr lang="en-IN" sz="2400">
                    <a:solidFill>
                      <a:srgbClr val="111827"/>
                    </a:solidFill>
                    <a:latin typeface="Cambria Math" panose="02040503050406030204" pitchFamily="18" charset="0"/>
                  </a:rPr>
                  <a:t>$P(c+h)&gt;0$</a:t>
                </a:r>
                <a:r>
                  <a:rPr sz="2400" b="0">
                    <a:solidFill>
                      <a:srgbClr val="111827"/>
                    </a:solidFill>
                    <a:latin typeface="Arial"/>
                  </a:rPr>
                  <a:t> and </a:t>
                </a:r>
                <a:r>
                  <a:rPr lang="en-IN" sz="2400">
                    <a:solidFill>
                      <a:srgbClr val="111827"/>
                    </a:solidFill>
                    <a:latin typeface="Cambria Math" panose="02040503050406030204" pitchFamily="18" charset="0"/>
                  </a:rPr>
                  <a:t>$h&lt;0$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the hypothesis gives </a:t>
                </a:r>
                <a:r>
                  <a:rPr lang="en-IN" sz="2400">
                    <a:solidFill>
                      <a:srgbClr val="111827"/>
                    </a:solidFill>
                    <a:latin typeface="Cambria Math" panose="02040503050406030204" pitchFamily="18" charset="0"/>
                  </a:rPr>
                  <a:t>$P'(c)&gt;P(c)=0$</a:t>
                </a:r>
                <a:r>
                  <a:rPr sz="2400" b="0">
                    <a:solidFill>
                      <a:srgbClr val="111827"/>
                    </a:solidFill>
                    <a:latin typeface="Arial"/>
                  </a:rPr>
                  <a:t>, a contradiction. Hence </a:t>
                </a:r>
                <a:r>
                  <a:rPr lang="en-IN" sz="2400">
                    <a:solidFill>
                      <a:srgbClr val="111827"/>
                    </a:solidFill>
                    <a:latin typeface="Cambria Math" panose="02040503050406030204" pitchFamily="18" charset="0"/>
                  </a:rPr>
                  <a:t>$P(x)&gt;0$</a:t>
                </a:r>
                <a:r>
                  <a:rPr sz="2400" b="0">
                    <a:solidFill>
                      <a:srgbClr val="111827"/>
                    </a:solidFill>
                    <a:latin typeface="Arial"/>
                  </a:rPr>
                  <a:t> for all </a:t>
                </a:r>
                <a:r>
                  <a:rPr lang="en-IN" sz="2400">
                    <a:solidFill>
                      <a:srgbClr val="111827"/>
                    </a:solidFill>
                    <a:latin typeface="Cambria Math" panose="02040503050406030204" pitchFamily="18" charset="0"/>
                  </a:rPr>
                  <a:t>$x&gt;1$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14:m>
                  <m:oMath xmlns:m="http://schemas.openxmlformats.org/officeDocument/2006/math">
                    <m:r>
                      <a:rPr lang="en-IN" sz="2800" i="1">
                        <a:solidFill>
                          <a:srgbClr val="15803D"/>
                        </a:solidFill>
                        <a:latin typeface="Cambria Math" panose="02040503050406030204" pitchFamily="18" charset="0"/>
                      </a:rPr>
                      <m:t>𝑃</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&gt;</m:t>
                    </m:r>
                    <m:r>
                      <a:rPr lang="en-IN" sz="2800" i="1">
                        <a:solidFill>
                          <a:srgbClr val="15803D"/>
                        </a:solidFill>
                        <a:latin typeface="Cambria Math" panose="02040503050406030204" pitchFamily="18" charset="0"/>
                      </a:rPr>
                      <m:t>0</m:t>
                    </m:r>
                  </m:oMath>
                </a14:m>
                <a:r>
                  <a:rPr sz="2800" b="1">
                    <a:solidFill>
                      <a:srgbClr val="15803D"/>
                    </a:solidFill>
                    <a:latin typeface="Arial"/>
                  </a:rPr>
                  <a:t> for all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&gt;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r>
                  <a:rPr lang="en-IN" sz="2800">
                    <a:solidFill>
                      <a:srgbClr val="15803D"/>
                    </a:solidFill>
                    <a:latin typeface="Cambria Math" panose="02040503050406030204" pitchFamily="18" charset="0"/>
                  </a:rPr>
                  <a:t>$P(x)&gt;0$</a:t>
                </a:r>
                <a:r>
                  <a:rPr sz="2800" b="1">
                    <a:solidFill>
                      <a:srgbClr val="15803D"/>
                    </a:solidFill>
                    <a:latin typeface="Arial"/>
                  </a:rPr>
                  <a:t> for all </a:t>
                </a:r>
                <a:r>
                  <a:rPr lang="en-IN" sz="2800">
                    <a:solidFill>
                      <a:srgbClr val="15803D"/>
                    </a:solidFill>
                    <a:latin typeface="Cambria Math" panose="02040503050406030204" pitchFamily="18" charset="0"/>
                  </a:rPr>
                  <a:t>$x&gt;1$</a:t>
                </a:r>
                <a:endParaRPr sz="2800">
                  <a:solidFill>
                    <a:srgbClr val="15803D"/>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sup>
                        </m:sSup>
                      </m:e>
                    </m: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is increasing; this is the differential-inequality form of the integrating factor (Gronwall).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Consequently if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with strict inequality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imply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𝑎</m:t>
                    </m:r>
                  </m:oMath>
                </a14:m>
                <a:r>
                  <a:rPr sz="2400" b="0">
                    <a:solidFill>
                      <a:srgbClr val="111827"/>
                    </a:solidFill>
                    <a:latin typeface="Arial"/>
                  </a:rPr>
                  <a:t>; the same trick works for any continuous coefficient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using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$y'&gt;ky$</a:t>
                </a:r>
                <a:r>
                  <a:rPr sz="2400" b="0">
                    <a:solidFill>
                      <a:srgbClr val="111827"/>
                    </a:solidFill>
                    <a:latin typeface="Arial"/>
                  </a:rPr>
                  <a:t> (or </a:t>
                </a:r>
                <a:r>
                  <a:rPr lang="en-IN" sz="2400">
                    <a:solidFill>
                      <a:srgbClr val="111827"/>
                    </a:solidFill>
                    <a:latin typeface="Cambria Math" panose="02040503050406030204" pitchFamily="18" charset="0"/>
                  </a:rPr>
                  <a:t>$y'\ge ky$</a:t>
                </a:r>
                <a:r>
                  <a:rPr sz="2400" b="0">
                    <a:solidFill>
                      <a:srgbClr val="111827"/>
                    </a:solidFill>
                    <a:latin typeface="Arial"/>
                  </a:rPr>
                  <a:t>) </a:t>
                </a:r>
                <a:r>
                  <a:rPr lang="en-IN" sz="2400">
                    <a:solidFill>
                      <a:srgbClr val="111827"/>
                    </a:solidFill>
                    <a:latin typeface="Cambria Math" panose="02040503050406030204" pitchFamily="18" charset="0"/>
                  </a:rPr>
                  <a:t>$\Rightarrow\frac{d}{dx}\left(ye^{-kx}\right)&gt;0$</a:t>
                </a:r>
                <a:r>
                  <a:rPr sz="2400" b="0">
                    <a:solidFill>
                      <a:srgbClr val="111827"/>
                    </a:solidFill>
                    <a:latin typeface="Arial"/>
                  </a:rPr>
                  <a:t> (or </a:t>
                </a:r>
                <a:r>
                  <a:rPr lang="en-IN" sz="2400">
                    <a:solidFill>
                      <a:srgbClr val="111827"/>
                    </a:solidFill>
                    <a:latin typeface="Cambria Math" panose="02040503050406030204" pitchFamily="18" charset="0"/>
                  </a:rPr>
                  <a:t>$\ge0$</a:t>
                </a:r>
                <a:r>
                  <a:rPr sz="2400" b="0">
                    <a:solidFill>
                      <a:srgbClr val="111827"/>
                    </a:solidFill>
                    <a:latin typeface="Arial"/>
                  </a:rPr>
                  <a:t>): </a:t>
                </a:r>
                <a:r>
                  <a:rPr lang="en-IN" sz="2400">
                    <a:solidFill>
                      <a:srgbClr val="111827"/>
                    </a:solidFill>
                    <a:latin typeface="Cambria Math" panose="02040503050406030204" pitchFamily="18" charset="0"/>
                  </a:rPr>
                  <a:t>$y e^{-kx}$</a:t>
                </a:r>
                <a:r>
                  <a:rPr sz="2400" b="0">
                    <a:solidFill>
                      <a:srgbClr val="111827"/>
                    </a:solidFill>
                    <a:latin typeface="Arial"/>
                  </a:rPr>
                  <a:t> is increasing; this is the differential-inequality form of the integrating factor (Gronwall).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Consequently if </a:t>
                </a:r>
                <a:r>
                  <a:rPr lang="en-IN" sz="2400">
                    <a:solidFill>
                      <a:srgbClr val="111827"/>
                    </a:solidFill>
                    <a:latin typeface="Cambria Math" panose="02040503050406030204" pitchFamily="18" charset="0"/>
                  </a:rPr>
                  <a:t>$y(a)\ge0$</a:t>
                </a:r>
                <a:r>
                  <a:rPr sz="2400" b="0">
                    <a:solidFill>
                      <a:srgbClr val="111827"/>
                    </a:solidFill>
                    <a:latin typeface="Arial"/>
                  </a:rPr>
                  <a:t> and </a:t>
                </a:r>
                <a:r>
                  <a:rPr lang="en-IN" sz="2400">
                    <a:solidFill>
                      <a:srgbClr val="111827"/>
                    </a:solidFill>
                    <a:latin typeface="Cambria Math" panose="02040503050406030204" pitchFamily="18" charset="0"/>
                  </a:rPr>
                  <a:t>$y'\ge ky$</a:t>
                </a:r>
                <a:r>
                  <a:rPr sz="2400" b="0">
                    <a:solidFill>
                      <a:srgbClr val="111827"/>
                    </a:solidFill>
                    <a:latin typeface="Arial"/>
                  </a:rPr>
                  <a:t> for </a:t>
                </a:r>
                <a:r>
                  <a:rPr lang="en-IN" sz="2400">
                    <a:solidFill>
                      <a:srgbClr val="111827"/>
                    </a:solidFill>
                    <a:latin typeface="Cambria Math" panose="02040503050406030204" pitchFamily="18" charset="0"/>
                  </a:rPr>
                  <a:t>$x\ge a$</a:t>
                </a:r>
                <a:r>
                  <a:rPr sz="2400" b="0">
                    <a:solidFill>
                      <a:srgbClr val="111827"/>
                    </a:solidFill>
                    <a:latin typeface="Arial"/>
                  </a:rPr>
                  <a:t>, then </a:t>
                </a:r>
                <a:r>
                  <a:rPr lang="en-IN" sz="2400">
                    <a:solidFill>
                      <a:srgbClr val="111827"/>
                    </a:solidFill>
                    <a:latin typeface="Cambria Math" panose="02040503050406030204" pitchFamily="18" charset="0"/>
                  </a:rPr>
                  <a:t>$y(x)\ge0$</a:t>
                </a:r>
                <a:r>
                  <a:rPr sz="2400" b="0">
                    <a:solidFill>
                      <a:srgbClr val="111827"/>
                    </a:solidFill>
                    <a:latin typeface="Arial"/>
                  </a:rPr>
                  <a:t> for all </a:t>
                </a:r>
                <a:r>
                  <a:rPr lang="en-IN" sz="2400">
                    <a:solidFill>
                      <a:srgbClr val="111827"/>
                    </a:solidFill>
                    <a:latin typeface="Cambria Math" panose="02040503050406030204" pitchFamily="18" charset="0"/>
                  </a:rPr>
                  <a:t>$x\ge a$</a:t>
                </a:r>
                <a:r>
                  <a:rPr sz="2400" b="0">
                    <a:solidFill>
                      <a:srgbClr val="111827"/>
                    </a:solidFill>
                    <a:latin typeface="Arial"/>
                  </a:rPr>
                  <a:t>; with strict inequality </a:t>
                </a:r>
                <a:r>
                  <a:rPr lang="en-IN" sz="2400">
                    <a:solidFill>
                      <a:srgbClr val="111827"/>
                    </a:solidFill>
                    <a:latin typeface="Cambria Math" panose="02040503050406030204" pitchFamily="18" charset="0"/>
                  </a:rPr>
                  <a:t>$y&gt;0$</a:t>
                </a:r>
                <a:r>
                  <a:rPr sz="2400" b="0">
                    <a:solidFill>
                      <a:srgbClr val="111827"/>
                    </a:solidFill>
                    <a:latin typeface="Arial"/>
                  </a:rPr>
                  <a:t> for </a:t>
                </a:r>
                <a:r>
                  <a:rPr lang="en-IN" sz="2400">
                    <a:solidFill>
                      <a:srgbClr val="111827"/>
                    </a:solidFill>
                    <a:latin typeface="Cambria Math" panose="02040503050406030204" pitchFamily="18" charset="0"/>
                  </a:rPr>
                  <a:t>$x&gt;a$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$y'&lt;ky$</a:t>
                </a:r>
                <a:r>
                  <a:rPr sz="2400" b="0">
                    <a:solidFill>
                      <a:srgbClr val="111827"/>
                    </a:solidFill>
                    <a:latin typeface="Arial"/>
                  </a:rPr>
                  <a:t> and </a:t>
                </a:r>
                <a:r>
                  <a:rPr lang="en-IN" sz="2400">
                    <a:solidFill>
                      <a:srgbClr val="111827"/>
                    </a:solidFill>
                    <a:latin typeface="Cambria Math" panose="02040503050406030204" pitchFamily="18" charset="0"/>
                  </a:rPr>
                  <a:t>$y(a)=0$</a:t>
                </a:r>
                <a:r>
                  <a:rPr sz="2400" b="0">
                    <a:solidFill>
                      <a:srgbClr val="111827"/>
                    </a:solidFill>
                    <a:latin typeface="Arial"/>
                  </a:rPr>
                  <a:t> imply </a:t>
                </a:r>
                <a:r>
                  <a:rPr lang="en-IN" sz="2400">
                    <a:solidFill>
                      <a:srgbClr val="111827"/>
                    </a:solidFill>
                    <a:latin typeface="Cambria Math" panose="02040503050406030204" pitchFamily="18" charset="0"/>
                  </a:rPr>
                  <a:t>$y&lt;0$</a:t>
                </a:r>
                <a:r>
                  <a:rPr sz="2400" b="0">
                    <a:solidFill>
                      <a:srgbClr val="111827"/>
                    </a:solidFill>
                    <a:latin typeface="Arial"/>
                  </a:rPr>
                  <a:t> for </a:t>
                </a:r>
                <a:r>
                  <a:rPr lang="en-IN" sz="2400">
                    <a:solidFill>
                      <a:srgbClr val="111827"/>
                    </a:solidFill>
                    <a:latin typeface="Cambria Math" panose="02040503050406030204" pitchFamily="18" charset="0"/>
                  </a:rPr>
                  <a:t>$x&gt;a$</a:t>
                </a:r>
                <a:r>
                  <a:rPr sz="2400" b="0">
                    <a:solidFill>
                      <a:srgbClr val="111827"/>
                    </a:solidFill>
                    <a:latin typeface="Arial"/>
                  </a:rPr>
                  <a:t>; the same trick works for any continuous coefficient </a:t>
                </a:r>
                <a:r>
                  <a:rPr lang="en-IN" sz="2400">
                    <a:solidFill>
                      <a:srgbClr val="111827"/>
                    </a:solidFill>
                    <a:latin typeface="Cambria Math" panose="02040503050406030204" pitchFamily="18" charset="0"/>
                  </a:rPr>
                  <a:t>$p(x)$</a:t>
                </a:r>
                <a:r>
                  <a:rPr sz="2400" b="0">
                    <a:solidFill>
                      <a:srgbClr val="111827"/>
                    </a:solidFill>
                    <a:latin typeface="Arial"/>
                  </a:rPr>
                  <a:t> using </a:t>
                </a:r>
                <a:r>
                  <a:rPr lang="en-IN" sz="2400">
                    <a:solidFill>
                      <a:srgbClr val="111827"/>
                    </a:solidFill>
                    <a:latin typeface="Cambria Math" panose="02040503050406030204" pitchFamily="18" charset="0"/>
                  </a:rPr>
                  <a:t>$e^{-\int 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Integer Type (0 to 9)</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Q22 – Q24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Single-digit integer answer</a:t>
            </a:r>
            <a:endParaRPr sz="2800">
              <a:solidFill>
                <a:srgbClr val="FFFFFF"/>
              </a:solidFill>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differentiable function in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such that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Find the value of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$f(x)$</a:t>
                </a:r>
                <a:r>
                  <a:rPr sz="2400" b="0">
                    <a:solidFill>
                      <a:srgbClr val="111827"/>
                    </a:solidFill>
                    <a:latin typeface="Arial"/>
                  </a:rPr>
                  <a:t> be a differentiable function in </a:t>
                </a:r>
                <a:r>
                  <a:rPr lang="en-IN" sz="2400">
                    <a:solidFill>
                      <a:srgbClr val="111827"/>
                    </a:solidFill>
                    <a:latin typeface="Cambria Math" panose="02040503050406030204" pitchFamily="18" charset="0"/>
                  </a:rPr>
                  <a:t>$[-1,\infty)$</a:t>
                </a:r>
                <a:r>
                  <a:rPr sz="2400" b="0">
                    <a:solidFill>
                      <a:srgbClr val="111827"/>
                    </a:solidFill>
                    <a:latin typeface="Arial"/>
                  </a:rPr>
                  <a:t> and </a:t>
                </a:r>
                <a:r>
                  <a:rPr lang="en-IN" sz="2400">
                    <a:solidFill>
                      <a:srgbClr val="111827"/>
                    </a:solidFill>
                    <a:latin typeface="Cambria Math" panose="02040503050406030204" pitchFamily="18" charset="0"/>
                  </a:rPr>
                  <a:t>$f(0)=1$</a:t>
                </a:r>
                <a:r>
                  <a:rPr sz="2400" b="0">
                    <a:solidFill>
                      <a:srgbClr val="111827"/>
                    </a:solidFill>
                    <a:latin typeface="Arial"/>
                  </a:rPr>
                  <a:t> such that </a:t>
                </a:r>
                <a:r>
                  <a:rPr lang="en-IN" sz="2400">
                    <a:solidFill>
                      <a:srgbClr val="111827"/>
                    </a:solidFill>
                    <a:latin typeface="Cambria Math" panose="02040503050406030204" pitchFamily="18" charset="0"/>
                  </a:rPr>
                  <a:t>$\lim_{t\to x+1}\frac{t^2f(x+1)-(x+1)^2f(t)}{f(t)-f(x+1)}=1$</a:t>
                </a:r>
                <a:r>
                  <a:rPr sz="2400" b="0">
                    <a:solidFill>
                      <a:srgbClr val="111827"/>
                    </a:solidFill>
                    <a:latin typeface="Arial"/>
                  </a:rPr>
                  <a:t>. Find the value of </a:t>
                </a:r>
                <a:r>
                  <a:rPr lang="en-IN" sz="2400">
                    <a:solidFill>
                      <a:srgbClr val="111827"/>
                    </a:solidFill>
                    <a:latin typeface="Cambria Math" panose="02040503050406030204" pitchFamily="18" charset="0"/>
                  </a:rPr>
                  <a:t>$\lim_{x\to1}\frac{\ln(f(x))-\ln2}{x-1}$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7363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Limits (derivative as a limit), Variable separable differential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oMath>
                </a14:m>
                <a:r>
                  <a:rPr sz="2400" b="0">
                    <a:solidFill>
                      <a:srgbClr val="78350F"/>
                    </a:solidFill>
                    <a:latin typeface="Arial"/>
                  </a:rPr>
                  <a:t> the limit becomes a derivative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gives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$t=x+1+h$</a:t>
                </a:r>
                <a:r>
                  <a:rPr sz="2400" b="0">
                    <a:solidFill>
                      <a:srgbClr val="78350F"/>
                    </a:solidFill>
                    <a:latin typeface="Arial"/>
                  </a:rPr>
                  <a:t> the limit becomes a derivative at </a:t>
                </a:r>
                <a:r>
                  <a:rPr lang="en-IN" sz="2400">
                    <a:solidFill>
                      <a:srgbClr val="78350F"/>
                    </a:solidFill>
                    <a:latin typeface="Cambria Math" panose="02040503050406030204" pitchFamily="18" charset="0"/>
                  </a:rPr>
                  <a:t>$x+1$</a:t>
                </a:r>
                <a:r>
                  <a:rPr sz="2400" b="0">
                    <a:solidFill>
                      <a:srgbClr val="78350F"/>
                    </a:solidFill>
                    <a:latin typeface="Arial"/>
                  </a:rPr>
                  <a:t> and gives </a:t>
                </a:r>
                <a:r>
                  <a:rPr lang="en-IN" sz="2400">
                    <a:solidFill>
                      <a:srgbClr val="78350F"/>
                    </a:solidFill>
                    <a:latin typeface="Cambria Math" panose="02040503050406030204" pitchFamily="18" charset="0"/>
                  </a:rPr>
                  <a:t>$f'(x)(x^2+1)=2xf(x)$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the numerator: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$h=t-(x+1)$</a:t>
                </a:r>
                <a:r>
                  <a:rPr sz="2400" b="0">
                    <a:solidFill>
                      <a:srgbClr val="111827"/>
                    </a:solidFill>
                    <a:latin typeface="Arial"/>
                  </a:rPr>
                  <a:t>, so </a:t>
                </a:r>
                <a:r>
                  <a:rPr lang="en-IN" sz="2400">
                    <a:solidFill>
                      <a:srgbClr val="111827"/>
                    </a:solidFill>
                    <a:latin typeface="Cambria Math" panose="02040503050406030204" pitchFamily="18" charset="0"/>
                  </a:rPr>
                  <a:t>$t=(x+1)+h$</a:t>
                </a:r>
                <a:r>
                  <a:rPr sz="2400" b="0">
                    <a:solidFill>
                      <a:srgbClr val="111827"/>
                    </a:solidFill>
                    <a:latin typeface="Arial"/>
                  </a:rPr>
                  <a:t> and </a:t>
                </a:r>
                <a:r>
                  <a:rPr lang="en-IN" sz="2400">
                    <a:solidFill>
                      <a:srgbClr val="111827"/>
                    </a:solidFill>
                    <a:latin typeface="Cambria Math" panose="02040503050406030204" pitchFamily="18" charset="0"/>
                  </a:rPr>
                  <a:t>$h\to0$</a:t>
                </a:r>
                <a:r>
                  <a:rPr sz="2400" b="0">
                    <a:solidFill>
                      <a:srgbClr val="111827"/>
                    </a:solidFill>
                    <a:latin typeface="Arial"/>
                  </a:rPr>
                  <a:t>: </a:t>
                </a:r>
                <a:r>
                  <a:rPr lang="en-IN" sz="2400">
                    <a:solidFill>
                      <a:srgbClr val="111827"/>
                    </a:solidFill>
                    <a:latin typeface="Cambria Math" panose="02040503050406030204" pitchFamily="18" charset="0"/>
                  </a:rPr>
                  <a:t>$\lim_{h\to0}\frac{(h+(x+1))^2f(x+1)-(x+1)^2f(h+(x+1))}{f(h+(x+1))-f(x+1)}=1$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the numerator: </a:t>
                </a:r>
                <a:r>
                  <a:rPr lang="en-IN" sz="2400">
                    <a:solidFill>
                      <a:srgbClr val="111827"/>
                    </a:solidFill>
                    <a:latin typeface="Cambria Math" panose="02040503050406030204" pitchFamily="18" charset="0"/>
                  </a:rPr>
                  <a:t>$(h^2+2h(x+1))f(x+1)-\left[f(h+(x+1))-f(x+1)\right](x+1)^2$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numerator and denominator by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$\lim_{h\to0}\frac{(h+2(x+1))f(x+1)-(x+1)^2\frac{f(h+(x+1))-f(x+1)}{h}}{\frac{f(h+(x+1))-f(x+1)}{h}}=1$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definition of the derivative: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Replace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definition of the derivative: </a:t>
                </a:r>
                <a:r>
                  <a:rPr lang="en-IN" sz="2400">
                    <a:solidFill>
                      <a:srgbClr val="111827"/>
                    </a:solidFill>
                    <a:latin typeface="Cambria Math" panose="02040503050406030204" pitchFamily="18" charset="0"/>
                  </a:rPr>
                  <a:t>$\frac{2(x+1)f(x+1)-f'(x+1)(x+1)^2}{f'(x+1)}=1$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$f'(x+1)\left((x+1)^2+1\right)-2(x+1)f(x+1)=0$</a:t>
                </a:r>
                <a:r>
                  <a:rPr sz="2400" b="0">
                    <a:solidFill>
                      <a:srgbClr val="111827"/>
                    </a:solidFill>
                    <a:latin typeface="Arial"/>
                  </a:rPr>
                  <a:t>. Replace </a:t>
                </a:r>
                <a:r>
                  <a:rPr lang="en-IN" sz="2400">
                    <a:solidFill>
                      <a:srgbClr val="111827"/>
                    </a:solidFill>
                    <a:latin typeface="Cambria Math" panose="02040503050406030204" pitchFamily="18" charset="0"/>
                  </a:rPr>
                  <a:t>$x+1$</a:t>
                </a:r>
                <a:r>
                  <a:rPr sz="2400" b="0">
                    <a:solidFill>
                      <a:srgbClr val="111827"/>
                    </a:solidFill>
                    <a:latin typeface="Arial"/>
                  </a:rPr>
                  <a:t> by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$f'(x)(x^2+1)-2xf(x)=0$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$y=f(x)$</a:t>
                </a:r>
                <a:r>
                  <a:rPr sz="2400" b="0">
                    <a:solidFill>
                      <a:srgbClr val="111827"/>
                    </a:solidFill>
                    <a:latin typeface="Arial"/>
                  </a:rPr>
                  <a:t>: </a:t>
                </a:r>
                <a:r>
                  <a:rPr lang="en-IN" sz="2400">
                    <a:solidFill>
                      <a:srgbClr val="111827"/>
                    </a:solidFill>
                    <a:latin typeface="Cambria Math" panose="02040503050406030204" pitchFamily="18" charset="0"/>
                  </a:rPr>
                  <a:t>$\frac{dy}{dx}-\frac{2x}{x^2+1}y=0$</a:t>
                </a:r>
                <a:r>
                  <a:rPr sz="2400" b="0">
                    <a:solidFill>
                      <a:srgbClr val="111827"/>
                    </a:solidFill>
                    <a:latin typeface="Arial"/>
                  </a:rPr>
                  <a:t>, i.e. </a:t>
                </a:r>
                <a:r>
                  <a:rPr lang="en-IN" sz="2400">
                    <a:solidFill>
                      <a:srgbClr val="111827"/>
                    </a:solidFill>
                    <a:latin typeface="Cambria Math" panose="02040503050406030204" pitchFamily="18" charset="0"/>
                  </a:rPr>
                  <a:t>$\frac{dy}{y}-\frac{2x}{x^2+1}dx=0$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(using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$\ln y-\ln(x^2+1)=\ln c$</a:t>
                </a:r>
                <a:r>
                  <a:rPr sz="2400" b="0">
                    <a:solidFill>
                      <a:srgbClr val="111827"/>
                    </a:solidFill>
                    <a:latin typeface="Arial"/>
                  </a:rPr>
                  <a:t>, so </a:t>
                </a:r>
                <a:r>
                  <a:rPr lang="en-IN" sz="2400">
                    <a:solidFill>
                      <a:srgbClr val="111827"/>
                    </a:solidFill>
                    <a:latin typeface="Cambria Math" panose="02040503050406030204" pitchFamily="18" charset="0"/>
                  </a:rPr>
                  <a:t>$y=c(x^2+1)$</a:t>
                </a:r>
                <a:r>
                  <a:rPr sz="2400" b="0">
                    <a:solidFill>
                      <a:srgbClr val="111827"/>
                    </a:solidFill>
                    <a:latin typeface="Arial"/>
                  </a:rPr>
                  <a:t>. 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$y=1$</a:t>
                </a:r>
                <a:r>
                  <a:rPr sz="2400" b="0">
                    <a:solidFill>
                      <a:srgbClr val="111827"/>
                    </a:solidFill>
                    <a:latin typeface="Arial"/>
                  </a:rPr>
                  <a:t>, so </a:t>
                </a:r>
                <a:r>
                  <a:rPr lang="en-IN" sz="2400">
                    <a:solidFill>
                      <a:srgbClr val="111827"/>
                    </a:solidFill>
                    <a:latin typeface="Cambria Math" panose="02040503050406030204" pitchFamily="18" charset="0"/>
                  </a:rPr>
                  <a:t>$c=1$</a:t>
                </a:r>
                <a:r>
                  <a:rPr sz="2400" b="0">
                    <a:solidFill>
                      <a:srgbClr val="111827"/>
                    </a:solidFill>
                    <a:latin typeface="Arial"/>
                  </a:rPr>
                  <a:t> and </a:t>
                </a:r>
                <a:r>
                  <a:rPr lang="en-IN" sz="2400">
                    <a:solidFill>
                      <a:srgbClr val="111827"/>
                    </a:solidFill>
                    <a:latin typeface="Cambria Math" panose="02040503050406030204" pitchFamily="18" charset="0"/>
                  </a:rPr>
                  <a:t>$f(x)=x^2+1$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$\lim_{x\to1}\frac{\ln f(x)-\ln2}{x-1}=\lim_{x\to1}\frac{\ln\frac{x^2+1}{2}}{x-1}=\lim_{x\to1}\frac{\frac{x^2+1}{2}-1}{x-1}$</a:t>
                </a:r>
                <a:r>
                  <a:rPr sz="2400" b="0">
                    <a:solidFill>
                      <a:srgbClr val="111827"/>
                    </a:solidFill>
                    <a:latin typeface="Arial"/>
                  </a:rPr>
                  <a:t> (using </a:t>
                </a:r>
                <a:r>
                  <a:rPr lang="en-IN" sz="2400">
                    <a:solidFill>
                      <a:srgbClr val="111827"/>
                    </a:solidFill>
                    <a:latin typeface="Cambria Math" panose="02040503050406030204" pitchFamily="18" charset="0"/>
                  </a:rPr>
                  <a:t>$\frac{\ln(1+u)}{u}\to1$</a:t>
                </a:r>
                <a:r>
                  <a:rPr sz="2400" b="0">
                    <a:solidFill>
                      <a:srgbClr val="111827"/>
                    </a:solidFill>
                    <a:latin typeface="Arial"/>
                  </a:rPr>
                  <a:t> with </a:t>
                </a:r>
                <a:r>
                  <a:rPr lang="en-IN" sz="2400">
                    <a:solidFill>
                      <a:srgbClr val="111827"/>
                    </a:solidFill>
                    <a:latin typeface="Cambria Math" panose="02040503050406030204" pitchFamily="18" charset="0"/>
                  </a:rPr>
                  <a:t>$u=\frac{x^2-1}{2}\to0$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$=\frac12\lim_{x\to1}\frac{x^2-1}{x-1}=\frac12\lim_{x\to1}(x+1)=1$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a:t>
                </a:r>
                <a:endParaRPr sz="2800">
                  <a:solidFill>
                    <a:srgbClr val="15803D"/>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the required limit as the derivative of </a:t>
                </a:r>
                <a14:m>
                  <m:oMath xmlns:m="http://schemas.openxmlformats.org/officeDocument/2006/math">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𝑓</m:t>
                    </m:r>
                  </m:oMath>
                </a14:m>
                <a:r>
                  <a:rPr sz="2400" b="0">
                    <a:solidFill>
                      <a:srgbClr val="78350F"/>
                    </a:solidFill>
                    <a:latin typeface="Arial"/>
                  </a:rPr>
                  <a:t>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read it from the log-derivative form of the equation.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the required limit as the derivative of </a:t>
                </a:r>
                <a:r>
                  <a:rPr lang="en-IN" sz="2400">
                    <a:solidFill>
                      <a:srgbClr val="78350F"/>
                    </a:solidFill>
                    <a:latin typeface="Cambria Math" panose="02040503050406030204" pitchFamily="18" charset="0"/>
                  </a:rPr>
                  <a:t>$\ln f$</a:t>
                </a:r>
                <a:r>
                  <a:rPr sz="2400" b="0">
                    <a:solidFill>
                      <a:srgbClr val="78350F"/>
                    </a:solidFill>
                    <a:latin typeface="Arial"/>
                  </a:rPr>
                  <a:t> at </a:t>
                </a:r>
                <a:r>
                  <a:rPr lang="en-IN" sz="2400">
                    <a:solidFill>
                      <a:srgbClr val="78350F"/>
                    </a:solidFill>
                    <a:latin typeface="Cambria Math" panose="02040503050406030204" pitchFamily="18" charset="0"/>
                  </a:rPr>
                  <a:t>$x=1$</a:t>
                </a:r>
                <a:r>
                  <a:rPr sz="2400" b="0">
                    <a:solidFill>
                      <a:srgbClr val="78350F"/>
                    </a:solidFill>
                    <a:latin typeface="Arial"/>
                  </a:rPr>
                  <a:t> and read it from the log-derivative form of the equation.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limit condition (as above)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near the origin (as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divide by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constant;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 equals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in particular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limit condition (as above) </a:t>
                </a:r>
                <a:r>
                  <a:rPr lang="en-IN" sz="2400">
                    <a:solidFill>
                      <a:srgbClr val="111827"/>
                    </a:solidFill>
                    <a:latin typeface="Cambria Math" panose="02040503050406030204" pitchFamily="18" charset="0"/>
                  </a:rPr>
                  <a:t>$f'(x)(x^2+1)=2xf(x)$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$f&gt;0$</a:t>
                </a:r>
                <a:r>
                  <a:rPr sz="2400" b="0">
                    <a:solidFill>
                      <a:srgbClr val="111827"/>
                    </a:solidFill>
                    <a:latin typeface="Arial"/>
                  </a:rPr>
                  <a:t> near the origin (as </a:t>
                </a:r>
                <a:r>
                  <a:rPr lang="en-IN" sz="2400">
                    <a:solidFill>
                      <a:srgbClr val="111827"/>
                    </a:solidFill>
                    <a:latin typeface="Cambria Math" panose="02040503050406030204" pitchFamily="18" charset="0"/>
                  </a:rPr>
                  <a:t>$f(0)=1$</a:t>
                </a:r>
                <a:r>
                  <a:rPr sz="2400" b="0">
                    <a:solidFill>
                      <a:srgbClr val="111827"/>
                    </a:solidFill>
                    <a:latin typeface="Arial"/>
                  </a:rPr>
                  <a:t>), divide by </a:t>
                </a:r>
                <a:r>
                  <a:rPr lang="en-IN" sz="2400">
                    <a:solidFill>
                      <a:srgbClr val="111827"/>
                    </a:solidFill>
                    <a:latin typeface="Cambria Math" panose="02040503050406030204" pitchFamily="18" charset="0"/>
                  </a:rPr>
                  <a:t>$f$</a:t>
                </a:r>
                <a:r>
                  <a:rPr sz="2400" b="0">
                    <a:solidFill>
                      <a:srgbClr val="111827"/>
                    </a:solidFill>
                    <a:latin typeface="Arial"/>
                  </a:rPr>
                  <a:t>: </a:t>
                </a:r>
                <a:r>
                  <a:rPr lang="en-IN" sz="2400">
                    <a:solidFill>
                      <a:srgbClr val="111827"/>
                    </a:solidFill>
                    <a:latin typeface="Cambria Math" panose="02040503050406030204" pitchFamily="18" charset="0"/>
                  </a:rPr>
                  <a:t>$\frac{d}{dx}\ln f(x)=\frac{2x}{1+x^2}=\frac{d}{dx}\ln(1+x^2)$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$\ln f(x)-\ln(1+x^2)$</a:t>
                </a:r>
                <a:r>
                  <a:rPr sz="2400" b="0">
                    <a:solidFill>
                      <a:srgbClr val="111827"/>
                    </a:solidFill>
                    <a:latin typeface="Arial"/>
                  </a:rPr>
                  <a:t> is constant; at </a:t>
                </a:r>
                <a:r>
                  <a:rPr lang="en-IN" sz="2400">
                    <a:solidFill>
                      <a:srgbClr val="111827"/>
                    </a:solidFill>
                    <a:latin typeface="Cambria Math" panose="02040503050406030204" pitchFamily="18" charset="0"/>
                  </a:rPr>
                  <a:t>$x=0$</a:t>
                </a:r>
                <a:r>
                  <a:rPr sz="2400" b="0">
                    <a:solidFill>
                      <a:srgbClr val="111827"/>
                    </a:solidFill>
                    <a:latin typeface="Arial"/>
                  </a:rPr>
                  <a:t> it equals </a:t>
                </a:r>
                <a:r>
                  <a:rPr lang="en-IN" sz="2400">
                    <a:solidFill>
                      <a:srgbClr val="111827"/>
                    </a:solidFill>
                    <a:latin typeface="Cambria Math" panose="02040503050406030204" pitchFamily="18" charset="0"/>
                  </a:rPr>
                  <a:t>$\ln1-\ln1=0$</a:t>
                </a:r>
                <a:r>
                  <a:rPr sz="2400" b="0">
                    <a:solidFill>
                      <a:srgbClr val="111827"/>
                    </a:solidFill>
                    <a:latin typeface="Arial"/>
                  </a:rPr>
                  <a:t>, so </a:t>
                </a:r>
                <a:r>
                  <a:rPr lang="en-IN" sz="2400">
                    <a:solidFill>
                      <a:srgbClr val="111827"/>
                    </a:solidFill>
                    <a:latin typeface="Cambria Math" panose="02040503050406030204" pitchFamily="18" charset="0"/>
                  </a:rPr>
                  <a:t>$f(x)=1+x^2$</a:t>
                </a:r>
                <a:r>
                  <a:rPr sz="2400" b="0">
                    <a:solidFill>
                      <a:srgbClr val="111827"/>
                    </a:solidFill>
                    <a:latin typeface="Arial"/>
                  </a:rPr>
                  <a:t> and in particular </a:t>
                </a:r>
                <a:r>
                  <a:rPr lang="en-IN" sz="2400">
                    <a:solidFill>
                      <a:srgbClr val="111827"/>
                    </a:solidFill>
                    <a:latin typeface="Cambria Math" panose="02040503050406030204" pitchFamily="18" charset="0"/>
                  </a:rPr>
                  <a:t>$f(1)=2$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$f(1)=2$</a:t>
                </a:r>
                <a:r>
                  <a:rPr sz="2400" b="0">
                    <a:solidFill>
                      <a:srgbClr val="111827"/>
                    </a:solidFill>
                    <a:latin typeface="Arial"/>
                  </a:rPr>
                  <a:t>, </a:t>
                </a:r>
                <a:r>
                  <a:rPr lang="en-IN" sz="2400">
                    <a:solidFill>
                      <a:srgbClr val="111827"/>
                    </a:solidFill>
                    <a:latin typeface="Cambria Math" panose="02040503050406030204" pitchFamily="18" charset="0"/>
                  </a:rPr>
                  <a:t>$\frac{\ln f(x)-\ln2}{x-1}=\frac{\ln f(x)-\ln f(1)}{x-1}\to(\ln f)'(1)$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$(\ln f)'(1)=\frac{2\cdot1}{1+1^2}=1$</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a:t>
                </a:r>
                <a:endParaRPr sz="2800">
                  <a:solidFill>
                    <a:srgbClr val="15803D"/>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oMath>
                </a14:m>
                <a:r>
                  <a:rPr sz="2400" b="0">
                    <a:solidFill>
                      <a:srgbClr val="111827"/>
                    </a:solidFill>
                    <a:latin typeface="Arial"/>
                  </a:rPr>
                  <a:t> in a limit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dividing by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converts expressions like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 into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this turns limit conditions into differential equations.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is constant; more generally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ϕ</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𝑓</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ϕ</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Substituting </a:t>
                </a:r>
                <a:r>
                  <a:rPr lang="en-IN" sz="2400">
                    <a:solidFill>
                      <a:srgbClr val="111827"/>
                    </a:solidFill>
                    <a:latin typeface="Cambria Math" panose="02040503050406030204" pitchFamily="18" charset="0"/>
                  </a:rPr>
                  <a:t>$t=a+h$</a:t>
                </a:r>
                <a:r>
                  <a:rPr sz="2400" b="0">
                    <a:solidFill>
                      <a:srgbClr val="111827"/>
                    </a:solidFill>
                    <a:latin typeface="Arial"/>
                  </a:rPr>
                  <a:t> in a limit with </a:t>
                </a:r>
                <a:r>
                  <a:rPr lang="en-IN" sz="2400">
                    <a:solidFill>
                      <a:srgbClr val="111827"/>
                    </a:solidFill>
                    <a:latin typeface="Cambria Math" panose="02040503050406030204" pitchFamily="18" charset="0"/>
                  </a:rPr>
                  <a:t>$t\to a$</a:t>
                </a:r>
                <a:r>
                  <a:rPr sz="2400" b="0">
                    <a:solidFill>
                      <a:srgbClr val="111827"/>
                    </a:solidFill>
                    <a:latin typeface="Arial"/>
                  </a:rPr>
                  <a:t> and dividing by </a:t>
                </a:r>
                <a:r>
                  <a:rPr lang="en-IN" sz="2400">
                    <a:solidFill>
                      <a:srgbClr val="111827"/>
                    </a:solidFill>
                    <a:latin typeface="Cambria Math" panose="02040503050406030204" pitchFamily="18" charset="0"/>
                  </a:rPr>
                  <a:t>$h$</a:t>
                </a:r>
                <a:r>
                  <a:rPr sz="2400" b="0">
                    <a:solidFill>
                      <a:srgbClr val="111827"/>
                    </a:solidFill>
                    <a:latin typeface="Arial"/>
                  </a:rPr>
                  <a:t> converts expressions like </a:t>
                </a:r>
                <a:r>
                  <a:rPr lang="en-IN" sz="2400">
                    <a:solidFill>
                      <a:srgbClr val="111827"/>
                    </a:solidFill>
                    <a:latin typeface="Cambria Math" panose="02040503050406030204" pitchFamily="18" charset="0"/>
                  </a:rPr>
                  <a:t>$\frac{f(a+h)-f(a)}{h}$</a:t>
                </a:r>
                <a:r>
                  <a:rPr sz="2400" b="0">
                    <a:solidFill>
                      <a:srgbClr val="111827"/>
                    </a:solidFill>
                    <a:latin typeface="Arial"/>
                  </a:rPr>
                  <a:t> into </a:t>
                </a:r>
                <a:r>
                  <a:rPr lang="en-IN" sz="2400">
                    <a:solidFill>
                      <a:srgbClr val="111827"/>
                    </a:solidFill>
                    <a:latin typeface="Cambria Math" panose="02040503050406030204" pitchFamily="18" charset="0"/>
                  </a:rPr>
                  <a:t>$f'(a)$</a:t>
                </a:r>
                <a:r>
                  <a:rPr sz="2400" b="0">
                    <a:solidFill>
                      <a:srgbClr val="111827"/>
                    </a:solidFill>
                    <a:latin typeface="Arial"/>
                  </a:rPr>
                  <a:t>; this turns limit conditions into differential equations.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 a}\frac{\ln f(x)-\ln f(a)}{x-a}=\frac{f'(a)}{f(a)}=(\ln f)'(a)$</a:t>
                </a:r>
                <a:r>
                  <a:rPr sz="2400" b="0">
                    <a:solidFill>
                      <a:srgbClr val="111827"/>
                    </a:solidFill>
                    <a:latin typeface="Arial"/>
                  </a:rPr>
                  <a:t> when </a:t>
                </a:r>
                <a:r>
                  <a:rPr lang="en-IN" sz="2400">
                    <a:solidFill>
                      <a:srgbClr val="111827"/>
                    </a:solidFill>
                    <a:latin typeface="Cambria Math" panose="02040503050406030204" pitchFamily="18" charset="0"/>
                  </a:rPr>
                  <a:t>$f(a)&gt;0$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$f'(x)(x^2+1)=2xf(x)$</a:t>
                </a:r>
                <a:r>
                  <a:rPr sz="2400" b="0">
                    <a:solidFill>
                      <a:srgbClr val="111827"/>
                    </a:solidFill>
                    <a:latin typeface="Arial"/>
                  </a:rPr>
                  <a:t> means </a:t>
                </a:r>
                <a:r>
                  <a:rPr lang="en-IN" sz="2400">
                    <a:solidFill>
                      <a:srgbClr val="111827"/>
                    </a:solidFill>
                    <a:latin typeface="Cambria Math" panose="02040503050406030204" pitchFamily="18" charset="0"/>
                  </a:rPr>
                  <a:t>$\frac{f}{x^2+1}$</a:t>
                </a:r>
                <a:r>
                  <a:rPr sz="2400" b="0">
                    <a:solidFill>
                      <a:srgbClr val="111827"/>
                    </a:solidFill>
                    <a:latin typeface="Arial"/>
                  </a:rPr>
                  <a:t> is constant; more generally </a:t>
                </a:r>
                <a:r>
                  <a:rPr lang="en-IN" sz="2400">
                    <a:solidFill>
                      <a:srgbClr val="111827"/>
                    </a:solidFill>
                    <a:latin typeface="Cambria Math" panose="02040503050406030204" pitchFamily="18" charset="0"/>
                  </a:rPr>
                  <a:t>$f'\phi=\phi'f$</a:t>
                </a:r>
                <a:r>
                  <a:rPr sz="2400" b="0">
                    <a:solidFill>
                      <a:srgbClr val="111827"/>
                    </a:solidFill>
                    <a:latin typeface="Arial"/>
                  </a:rPr>
                  <a:t> means </a:t>
                </a:r>
                <a:r>
                  <a:rPr lang="en-IN" sz="2400">
                    <a:solidFill>
                      <a:srgbClr val="111827"/>
                    </a:solidFill>
                    <a:latin typeface="Cambria Math" panose="02040503050406030204" pitchFamily="18" charset="0"/>
                  </a:rPr>
                  <a:t>$f=c\phi$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are parameters, represent a family of curves. The differential equation for the given family is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$y=(a\sin x+(b+c)\cos x)e^{x+d}$</a:t>
                </a:r>
                <a:r>
                  <a:rPr sz="2400" b="0">
                    <a:solidFill>
                      <a:srgbClr val="111827"/>
                    </a:solidFill>
                    <a:latin typeface="Arial"/>
                  </a:rPr>
                  <a:t>, where </a:t>
                </a:r>
                <a:r>
                  <a:rPr lang="en-IN" sz="2400">
                    <a:solidFill>
                      <a:srgbClr val="111827"/>
                    </a:solidFill>
                    <a:latin typeface="Cambria Math" panose="02040503050406030204" pitchFamily="18" charset="0"/>
                  </a:rPr>
                  <a:t>$a,b,c$</a:t>
                </a:r>
                <a:r>
                  <a:rPr sz="2400" b="0">
                    <a:solidFill>
                      <a:srgbClr val="111827"/>
                    </a:solidFill>
                    <a:latin typeface="Arial"/>
                  </a:rPr>
                  <a:t> and </a:t>
                </a:r>
                <a:r>
                  <a:rPr lang="en-IN" sz="2400">
                    <a:solidFill>
                      <a:srgbClr val="111827"/>
                    </a:solidFill>
                    <a:latin typeface="Cambria Math" panose="02040503050406030204" pitchFamily="18" charset="0"/>
                  </a:rPr>
                  <a:t>$d$</a:t>
                </a:r>
                <a:r>
                  <a:rPr sz="2400" b="0">
                    <a:solidFill>
                      <a:srgbClr val="111827"/>
                    </a:solidFill>
                    <a:latin typeface="Arial"/>
                  </a:rPr>
                  <a:t> are parameters, represent a family of curves. The differential equation for the given family is </a:t>
                </a:r>
                <a:r>
                  <a:rPr lang="en-IN" sz="2400">
                    <a:solidFill>
                      <a:srgbClr val="111827"/>
                    </a:solidFill>
                    <a:latin typeface="Cambria Math" panose="02040503050406030204" pitchFamily="18" charset="0"/>
                  </a:rPr>
                  <a:t>$y''-\alpha y'+\beta y=0$</a:t>
                </a:r>
                <a:r>
                  <a:rPr sz="2400" b="0">
                    <a:solidFill>
                      <a:srgbClr val="111827"/>
                    </a:solidFill>
                    <a:latin typeface="Arial"/>
                  </a:rPr>
                  <a:t>. Then </a:t>
                </a:r>
                <a:r>
                  <a:rPr lang="en-IN" sz="2400">
                    <a:solidFill>
                      <a:srgbClr val="111827"/>
                    </a:solidFill>
                    <a:latin typeface="Cambria Math" panose="02040503050406030204" pitchFamily="18" charset="0"/>
                  </a:rPr>
                  <a:t>$\alpha+\beta=$</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Formation of differential equations (family of curves)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Only two independent constants survive: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 so a second-order equation is obtained by eliminating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Only two independent constants survive: </a:t>
                </a:r>
                <a:r>
                  <a:rPr lang="en-IN" sz="2400">
                    <a:solidFill>
                      <a:srgbClr val="78350F"/>
                    </a:solidFill>
                    <a:latin typeface="Cambria Math" panose="02040503050406030204" pitchFamily="18" charset="0"/>
                  </a:rPr>
                  <a:t>$y=(A\sin x+B\cos x)e^x$</a:t>
                </a:r>
                <a:r>
                  <a:rPr sz="2400" b="0">
                    <a:solidFill>
                      <a:srgbClr val="78350F"/>
                    </a:solidFill>
                    <a:latin typeface="Arial"/>
                  </a:rPr>
                  <a:t>, so a second-order equation is obtained by eliminating </a:t>
                </a:r>
                <a:r>
                  <a:rPr lang="en-IN" sz="2400">
                    <a:solidFill>
                      <a:srgbClr val="78350F"/>
                    </a:solidFill>
                    <a:latin typeface="Cambria Math" panose="02040503050406030204" pitchFamily="18" charset="0"/>
                  </a:rPr>
                  <a:t>$A,B$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...(1),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𝑑</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𝑑</m:t>
                        </m:r>
                      </m:sup>
                    </m:sSup>
                  </m:oMath>
                </a14:m>
                <a:r>
                  <a:rPr sz="2400" b="0">
                    <a:solidFill>
                      <a:srgbClr val="111827"/>
                    </a:solidFill>
                    <a:latin typeface="Arial"/>
                  </a:rPr>
                  <a:t> (two independent constants).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(2):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$y=(a\sin x+(b+c)\cos x)e^{x+d}=(A\sin x+B\cos x)e^{x}$</a:t>
                </a:r>
                <a:r>
                  <a:rPr sz="2400" b="0">
                    <a:solidFill>
                      <a:srgbClr val="111827"/>
                    </a:solidFill>
                    <a:latin typeface="Arial"/>
                  </a:rPr>
                  <a:t> ...(1), with </a:t>
                </a:r>
                <a:r>
                  <a:rPr lang="en-IN" sz="2400">
                    <a:solidFill>
                      <a:srgbClr val="111827"/>
                    </a:solidFill>
                    <a:latin typeface="Cambria Math" panose="02040503050406030204" pitchFamily="18" charset="0"/>
                  </a:rPr>
                  <a:t>$A=ae^d$</a:t>
                </a:r>
                <a:r>
                  <a:rPr sz="2400" b="0">
                    <a:solidFill>
                      <a:srgbClr val="111827"/>
                    </a:solidFill>
                    <a:latin typeface="Arial"/>
                  </a:rPr>
                  <a:t>, </a:t>
                </a:r>
                <a:r>
                  <a:rPr lang="en-IN" sz="2400">
                    <a:solidFill>
                      <a:srgbClr val="111827"/>
                    </a:solidFill>
                    <a:latin typeface="Cambria Math" panose="02040503050406030204" pitchFamily="18" charset="0"/>
                  </a:rPr>
                  <a:t>$B=(b+c)e^d$</a:t>
                </a:r>
                <a:r>
                  <a:rPr sz="2400" b="0">
                    <a:solidFill>
                      <a:srgbClr val="111827"/>
                    </a:solidFill>
                    <a:latin typeface="Arial"/>
                  </a:rPr>
                  <a:t> (two independent constants).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$y'=e^x(A\sin x+B\cos x)+e^x(A\cos x-B\sin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$y'=y+e^x(A\cos x-B\sin x)$</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Differentiating (2): </a:t>
                </a:r>
                <a:r>
                  <a:rPr lang="en-IN" sz="2400">
                    <a:solidFill>
                      <a:srgbClr val="111827"/>
                    </a:solidFill>
                    <a:latin typeface="Cambria Math" panose="02040503050406030204" pitchFamily="18" charset="0"/>
                  </a:rPr>
                  <a:t>$y''=y'+e^x(A\cos x-B\sin x)+e^x(-A\sin x-B\cos 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(2) and (1):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(2) and (1): </a:t>
                </a:r>
                <a:r>
                  <a:rPr lang="en-IN" sz="2400">
                    <a:solidFill>
                      <a:srgbClr val="111827"/>
                    </a:solidFill>
                    <a:latin typeface="Cambria Math" panose="02040503050406030204" pitchFamily="18" charset="0"/>
                  </a:rPr>
                  <a:t>$y''=y'+(y'-y)-y=2y'-2y$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$y''-2y'+2y=0$</a:t>
                </a:r>
                <a:r>
                  <a:rPr sz="2400" b="0">
                    <a:solidFill>
                      <a:srgbClr val="111827"/>
                    </a:solidFill>
                    <a:latin typeface="Arial"/>
                  </a:rPr>
                  <a:t>, giving </a:t>
                </a:r>
                <a:r>
                  <a:rPr lang="en-IN" sz="2400">
                    <a:solidFill>
                      <a:srgbClr val="111827"/>
                    </a:solidFill>
                    <a:latin typeface="Cambria Math" panose="02040503050406030204" pitchFamily="18" charset="0"/>
                  </a:rPr>
                  <a:t>$\alpha=2$</a:t>
                </a:r>
                <a:r>
                  <a:rPr sz="2400" b="0">
                    <a:solidFill>
                      <a:srgbClr val="111827"/>
                    </a:solidFill>
                    <a:latin typeface="Arial"/>
                  </a:rPr>
                  <a:t> and </a:t>
                </a:r>
                <a:r>
                  <a:rPr lang="en-IN" sz="2400">
                    <a:solidFill>
                      <a:srgbClr val="111827"/>
                    </a:solidFill>
                    <a:latin typeface="Cambria Math" panose="02040503050406030204" pitchFamily="18" charset="0"/>
                  </a:rPr>
                  <a:t>$\beta=2$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$\alpha+\beta=4$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equation off the characteristic roots: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is the general solution for roots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Read the equation off the characteristic roots: </a:t>
                </a:r>
                <a:r>
                  <a:rPr lang="en-IN" sz="2400">
                    <a:solidFill>
                      <a:srgbClr val="78350F"/>
                    </a:solidFill>
                    <a:latin typeface="Cambria Math" panose="02040503050406030204" pitchFamily="18" charset="0"/>
                  </a:rPr>
                  <a:t>$e^x(A\sin x+B\cos x)$</a:t>
                </a:r>
                <a:r>
                  <a:rPr sz="2400" b="0">
                    <a:solidFill>
                      <a:srgbClr val="78350F"/>
                    </a:solidFill>
                    <a:latin typeface="Arial"/>
                  </a:rPr>
                  <a:t> is the general solution for roots </a:t>
                </a:r>
                <a:r>
                  <a:rPr lang="en-IN" sz="2400">
                    <a:solidFill>
                      <a:srgbClr val="78350F"/>
                    </a:solidFill>
                    <a:latin typeface="Cambria Math" panose="02040503050406030204" pitchFamily="18" charset="0"/>
                  </a:rPr>
                  <a:t>$1\pm 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are the real and imaginary parts of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so the family is the general solution of the constant-coefficient equation with characteristic roots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characteristic polynomial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equation is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(sum of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same answer.</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$e^{x}\sin x$</a:t>
                </a:r>
                <a:r>
                  <a:rPr sz="2400" b="0">
                    <a:solidFill>
                      <a:srgbClr val="111827"/>
                    </a:solidFill>
                    <a:latin typeface="Arial"/>
                  </a:rPr>
                  <a:t> and </a:t>
                </a:r>
                <a:r>
                  <a:rPr lang="en-IN" sz="2400">
                    <a:solidFill>
                      <a:srgbClr val="111827"/>
                    </a:solidFill>
                    <a:latin typeface="Cambria Math" panose="02040503050406030204" pitchFamily="18" charset="0"/>
                  </a:rPr>
                  <a:t>$e^{x}\cos x$</a:t>
                </a:r>
                <a:r>
                  <a:rPr sz="2400" b="0">
                    <a:solidFill>
                      <a:srgbClr val="111827"/>
                    </a:solidFill>
                    <a:latin typeface="Arial"/>
                  </a:rPr>
                  <a:t> are the real and imaginary parts of </a:t>
                </a:r>
                <a:r>
                  <a:rPr lang="en-IN" sz="2400">
                    <a:solidFill>
                      <a:srgbClr val="111827"/>
                    </a:solidFill>
                    <a:latin typeface="Cambria Math" panose="02040503050406030204" pitchFamily="18" charset="0"/>
                  </a:rPr>
                  <a:t>$e^{(1+i)x}$</a:t>
                </a:r>
                <a:r>
                  <a:rPr sz="2400" b="0">
                    <a:solidFill>
                      <a:srgbClr val="111827"/>
                    </a:solidFill>
                    <a:latin typeface="Arial"/>
                  </a:rPr>
                  <a:t>, so the family is the general solution of the constant-coefficient equation with characteristic roots </a:t>
                </a:r>
                <a:r>
                  <a:rPr lang="en-IN" sz="2400">
                    <a:solidFill>
                      <a:srgbClr val="111827"/>
                    </a:solidFill>
                    <a:latin typeface="Cambria Math" panose="02040503050406030204" pitchFamily="18" charset="0"/>
                  </a:rPr>
                  <a:t>$1\pm 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characteristic polynomial is </a:t>
                </a:r>
                <a:r>
                  <a:rPr lang="en-IN" sz="2400">
                    <a:solidFill>
                      <a:srgbClr val="111827"/>
                    </a:solidFill>
                    <a:latin typeface="Cambria Math" panose="02040503050406030204" pitchFamily="18" charset="0"/>
                  </a:rPr>
                  <a:t>$(r-(1+i))(r-(1-i))=r^2-2r+2$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equation is </a:t>
                </a:r>
                <a:r>
                  <a:rPr lang="en-IN" sz="2400">
                    <a:solidFill>
                      <a:srgbClr val="111827"/>
                    </a:solidFill>
                    <a:latin typeface="Cambria Math" panose="02040503050406030204" pitchFamily="18" charset="0"/>
                  </a:rPr>
                  <a:t>$y''-2y'+2y=0$</a:t>
                </a:r>
                <a:r>
                  <a:rPr sz="2400" b="0">
                    <a:solidFill>
                      <a:srgbClr val="111827"/>
                    </a:solidFill>
                    <a:latin typeface="Arial"/>
                  </a:rPr>
                  <a:t>, hence </a:t>
                </a:r>
                <a:r>
                  <a:rPr lang="en-IN" sz="2400">
                    <a:solidFill>
                      <a:srgbClr val="111827"/>
                    </a:solidFill>
                    <a:latin typeface="Cambria Math" panose="02040503050406030204" pitchFamily="18" charset="0"/>
                  </a:rPr>
                  <a:t>$\alpha=2$</a:t>
                </a:r>
                <a:r>
                  <a:rPr sz="2400" b="0">
                    <a:solidFill>
                      <a:srgbClr val="111827"/>
                    </a:solidFill>
                    <a:latin typeface="Arial"/>
                  </a:rPr>
                  <a:t>, </a:t>
                </a:r>
                <a:r>
                  <a:rPr lang="en-IN" sz="2400">
                    <a:solidFill>
                      <a:srgbClr val="111827"/>
                    </a:solidFill>
                    <a:latin typeface="Cambria Math" panose="02040503050406030204" pitchFamily="18" charset="0"/>
                  </a:rPr>
                  <a:t>$\beta=2$</a:t>
                </a:r>
                <a:r>
                  <a:rPr sz="2400" b="0">
                    <a:solidFill>
                      <a:srgbClr val="111827"/>
                    </a:solidFill>
                    <a:latin typeface="Arial"/>
                  </a:rPr>
                  <a:t> (sum of roots </a:t>
                </a:r>
                <a:r>
                  <a:rPr lang="en-IN" sz="2400">
                    <a:solidFill>
                      <a:srgbClr val="111827"/>
                    </a:solidFill>
                    <a:latin typeface="Cambria Math" panose="02040503050406030204" pitchFamily="18" charset="0"/>
                  </a:rPr>
                  <a:t>$=\alpha$</a:t>
                </a:r>
                <a:r>
                  <a:rPr sz="2400" b="0">
                    <a:solidFill>
                      <a:srgbClr val="111827"/>
                    </a:solidFill>
                    <a:latin typeface="Arial"/>
                  </a:rPr>
                  <a:t>, product </a:t>
                </a:r>
                <a:r>
                  <a:rPr lang="en-IN" sz="2400">
                    <a:solidFill>
                      <a:srgbClr val="111827"/>
                    </a:solidFill>
                    <a:latin typeface="Cambria Math" panose="02040503050406030204" pitchFamily="18" charset="0"/>
                  </a:rPr>
                  <a:t>$=\beta$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$\alpha+\beta=4$</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4</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$4$</a:t>
                </a:r>
                <a:endParaRPr sz="2800">
                  <a:solidFill>
                    <a:srgbClr val="15803D"/>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order of the differential equation of a family equals the number of independent parameters; combinations like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𝑎</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𝑑</m:t>
                        </m:r>
                      </m:sup>
                    </m:sSup>
                  </m:oMath>
                </a14:m>
                <a:r>
                  <a:rPr sz="2400" b="0">
                    <a:solidFill>
                      <a:srgbClr val="111827"/>
                    </a:solidFill>
                    <a:latin typeface="Arial"/>
                  </a:rPr>
                  <a:t> count as one.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general solution of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(roots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𝑞</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and product of roots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order of the differential equation of a family equals the number of independent parameters; combinations like </a:t>
                </a:r>
                <a:r>
                  <a:rPr lang="en-IN" sz="2400">
                    <a:solidFill>
                      <a:srgbClr val="111827"/>
                    </a:solidFill>
                    <a:latin typeface="Cambria Math" panose="02040503050406030204" pitchFamily="18" charset="0"/>
                  </a:rPr>
                  <a:t>$b+c$</a:t>
                </a:r>
                <a:r>
                  <a:rPr sz="2400" b="0">
                    <a:solidFill>
                      <a:srgbClr val="111827"/>
                    </a:solidFill>
                    <a:latin typeface="Arial"/>
                  </a:rPr>
                  <a:t> or </a:t>
                </a:r>
                <a:r>
                  <a:rPr lang="en-IN" sz="2400">
                    <a:solidFill>
                      <a:srgbClr val="111827"/>
                    </a:solidFill>
                    <a:latin typeface="Cambria Math" panose="02040503050406030204" pitchFamily="18" charset="0"/>
                  </a:rPr>
                  <a:t>$ae^d$</a:t>
                </a:r>
                <a:r>
                  <a:rPr sz="2400" b="0">
                    <a:solidFill>
                      <a:srgbClr val="111827"/>
                    </a:solidFill>
                    <a:latin typeface="Arial"/>
                  </a:rPr>
                  <a:t> count as one.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$e^{px}(A\cos qx+B\sin qx)$</a:t>
                </a:r>
                <a:r>
                  <a:rPr sz="2400" b="0">
                    <a:solidFill>
                      <a:srgbClr val="111827"/>
                    </a:solidFill>
                    <a:latin typeface="Arial"/>
                  </a:rPr>
                  <a:t> is the general solution of </a:t>
                </a:r>
                <a:r>
                  <a:rPr lang="en-IN" sz="2400">
                    <a:solidFill>
                      <a:srgbClr val="111827"/>
                    </a:solidFill>
                    <a:latin typeface="Cambria Math" panose="02040503050406030204" pitchFamily="18" charset="0"/>
                  </a:rPr>
                  <a:t>$y''-2py'+(p^2+q^2)y=0$</a:t>
                </a:r>
                <a:r>
                  <a:rPr sz="2400" b="0">
                    <a:solidFill>
                      <a:srgbClr val="111827"/>
                    </a:solidFill>
                    <a:latin typeface="Arial"/>
                  </a:rPr>
                  <a:t> (roots </a:t>
                </a:r>
                <a:r>
                  <a:rPr lang="en-IN" sz="2400">
                    <a:solidFill>
                      <a:srgbClr val="111827"/>
                    </a:solidFill>
                    <a:latin typeface="Cambria Math" panose="02040503050406030204" pitchFamily="18" charset="0"/>
                  </a:rPr>
                  <a:t>$p\pm iq$</a:t>
                </a:r>
                <a:r>
                  <a:rPr sz="2400" b="0">
                    <a:solidFill>
                      <a:srgbClr val="111827"/>
                    </a:solidFill>
                    <a:latin typeface="Arial"/>
                  </a:rPr>
                  <a:t>). Here </a:t>
                </a:r>
                <a:r>
                  <a:rPr lang="en-IN" sz="2400">
                    <a:solidFill>
                      <a:srgbClr val="111827"/>
                    </a:solidFill>
                    <a:latin typeface="Cambria Math" panose="02040503050406030204" pitchFamily="18" charset="0"/>
                  </a:rPr>
                  <a:t>$p=1,q=1$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roots </a:t>
                </a:r>
                <a:r>
                  <a:rPr lang="en-IN" sz="2400">
                    <a:solidFill>
                      <a:srgbClr val="111827"/>
                    </a:solidFill>
                    <a:latin typeface="Cambria Math" panose="02040503050406030204" pitchFamily="18" charset="0"/>
                  </a:rPr>
                  <a:t>$=\alpha$</a:t>
                </a:r>
                <a:r>
                  <a:rPr sz="2400" b="0">
                    <a:solidFill>
                      <a:srgbClr val="111827"/>
                    </a:solidFill>
                    <a:latin typeface="Arial"/>
                  </a:rPr>
                  <a:t> and product of roots </a:t>
                </a:r>
                <a:r>
                  <a:rPr lang="en-IN" sz="2400">
                    <a:solidFill>
                      <a:srgbClr val="111827"/>
                    </a:solidFill>
                    <a:latin typeface="Cambria Math" panose="02040503050406030204" pitchFamily="18" charset="0"/>
                  </a:rPr>
                  <a:t>$=\beta$</a:t>
                </a:r>
                <a:r>
                  <a:rPr sz="2400" b="0">
                    <a:solidFill>
                      <a:srgbClr val="111827"/>
                    </a:solidFill>
                    <a:latin typeface="Arial"/>
                  </a:rPr>
                  <a:t> for </a:t>
                </a:r>
                <a:r>
                  <a:rPr lang="en-IN" sz="2400">
                    <a:solidFill>
                      <a:srgbClr val="111827"/>
                    </a:solidFill>
                    <a:latin typeface="Cambria Math" panose="02040503050406030204" pitchFamily="18" charset="0"/>
                  </a:rPr>
                  <a:t>$y''-\alpha y'+\beta y=0$</a:t>
                </a:r>
                <a:r>
                  <a:rPr sz="2400" b="0">
                    <a:solidFill>
                      <a:srgbClr val="111827"/>
                    </a:solidFill>
                    <a:latin typeface="Arial"/>
                  </a:rPr>
                  <a:t>, so </a:t>
                </a:r>
                <a:r>
                  <a:rPr lang="en-IN" sz="2400">
                    <a:solidFill>
                      <a:srgbClr val="111827"/>
                    </a:solidFill>
                    <a:latin typeface="Cambria Math" panose="02040503050406030204" pitchFamily="18" charset="0"/>
                  </a:rPr>
                  <a:t>$\alpha=2p$</a:t>
                </a:r>
                <a:r>
                  <a:rPr sz="2400" b="0">
                    <a:solidFill>
                      <a:srgbClr val="111827"/>
                    </a:solidFill>
                    <a:latin typeface="Arial"/>
                  </a:rPr>
                  <a:t> and </a:t>
                </a:r>
                <a:r>
                  <a:rPr lang="en-IN" sz="2400">
                    <a:solidFill>
                      <a:srgbClr val="111827"/>
                    </a:solidFill>
                    <a:latin typeface="Cambria Math" panose="02040503050406030204" pitchFamily="18" charset="0"/>
                  </a:rPr>
                  <a:t>$\beta=p^2+q^2$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satisfy the differential equation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then find the value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4599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$y=f(x)$</a:t>
                </a:r>
                <a:r>
                  <a:rPr sz="2400" b="0">
                    <a:solidFill>
                      <a:srgbClr val="111827"/>
                    </a:solidFill>
                    <a:latin typeface="Arial"/>
                  </a:rPr>
                  <a:t> satisfy the differential equation </a:t>
                </a:r>
                <a:r>
                  <a:rPr lang="en-IN" sz="2400">
                    <a:solidFill>
                      <a:srgbClr val="111827"/>
                    </a:solidFill>
                    <a:latin typeface="Cambria Math" panose="02040503050406030204" pitchFamily="18" charset="0"/>
                  </a:rPr>
                  <a:t>$xy(1+y)\,dx=dy$</a:t>
                </a:r>
                <a:r>
                  <a:rPr sz="2400" b="0">
                    <a:solidFill>
                      <a:srgbClr val="111827"/>
                    </a:solidFill>
                    <a:latin typeface="Arial"/>
                  </a:rPr>
                  <a:t>. If </a:t>
                </a:r>
                <a:r>
                  <a:rPr lang="en-IN" sz="2400">
                    <a:solidFill>
                      <a:srgbClr val="111827"/>
                    </a:solidFill>
                    <a:latin typeface="Cambria Math" panose="02040503050406030204" pitchFamily="18" charset="0"/>
                  </a:rPr>
                  <a:t>$f(0)=1$</a:t>
                </a:r>
                <a:r>
                  <a:rPr sz="2400" b="0">
                    <a:solidFill>
                      <a:srgbClr val="111827"/>
                    </a:solidFill>
                    <a:latin typeface="Arial"/>
                  </a:rPr>
                  <a:t> and </a:t>
                </a:r>
                <a:r>
                  <a:rPr lang="en-IN" sz="2400">
                    <a:solidFill>
                      <a:srgbClr val="111827"/>
                    </a:solidFill>
                    <a:latin typeface="Cambria Math" panose="02040503050406030204" pitchFamily="18" charset="0"/>
                  </a:rPr>
                  <a:t>$f(2)=\frac{e^2}{k-e^2}$</a:t>
                </a:r>
                <a:r>
                  <a:rPr sz="2400" b="0">
                    <a:solidFill>
                      <a:srgbClr val="111827"/>
                    </a:solidFill>
                    <a:latin typeface="Arial"/>
                  </a:rPr>
                  <a:t>, then find the value of </a:t>
                </a:r>
                <a:r>
                  <a:rPr lang="en-IN" sz="2400">
                    <a:solidFill>
                      <a:srgbClr val="111827"/>
                    </a:solidFill>
                    <a:latin typeface="Cambria Math" panose="02040503050406030204" pitchFamily="18" charset="0"/>
                  </a:rPr>
                  <a:t>$k$</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54755"/>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Integer Type(0 to 9)(4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Variable separable differential equations, Partial fractions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Separate the variables,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and split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𝑦</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Separate the variables, </a:t>
                </a:r>
                <a:r>
                  <a:rPr lang="en-IN" sz="2400">
                    <a:solidFill>
                      <a:srgbClr val="78350F"/>
                    </a:solidFill>
                    <a:latin typeface="Cambria Math" panose="02040503050406030204" pitchFamily="18" charset="0"/>
                  </a:rPr>
                  <a:t>$x\,dx=\frac{dy}{y(1+y)}$</a:t>
                </a:r>
                <a:r>
                  <a:rPr sz="2400" b="0">
                    <a:solidFill>
                      <a:srgbClr val="78350F"/>
                    </a:solidFill>
                    <a:latin typeface="Arial"/>
                  </a:rPr>
                  <a:t>, and split </a:t>
                </a:r>
                <a:r>
                  <a:rPr lang="en-IN" sz="2400">
                    <a:solidFill>
                      <a:srgbClr val="78350F"/>
                    </a:solidFill>
                    <a:latin typeface="Cambria Math" panose="02040503050406030204" pitchFamily="18" charset="0"/>
                  </a:rPr>
                  <a:t>$\frac{1}{y(1+y)}=\frac1y-\frac1{1+y}$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e>
                    </m:d>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is </a:t>
                </a:r>
                <a:r>
                  <a:rPr lang="en-IN" sz="2400">
                    <a:solidFill>
                      <a:srgbClr val="111827"/>
                    </a:solidFill>
                    <a:latin typeface="Cambria Math" panose="02040503050406030204" pitchFamily="18" charset="0"/>
                  </a:rPr>
                  <a:t>$xy(1+y)\,dx=dy$</a:t>
                </a:r>
                <a:r>
                  <a:rPr sz="2400" b="0">
                    <a:solidFill>
                      <a:srgbClr val="111827"/>
                    </a:solidFill>
                    <a:latin typeface="Arial"/>
                  </a:rPr>
                  <a:t>, so </a:t>
                </a:r>
                <a:r>
                  <a:rPr lang="en-IN" sz="2400">
                    <a:solidFill>
                      <a:srgbClr val="111827"/>
                    </a:solidFill>
                    <a:latin typeface="Cambria Math" panose="02040503050406030204" pitchFamily="18" charset="0"/>
                  </a:rPr>
                  <a:t>$x\,dx=\frac{1}{y(1+y)}dy$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$\frac{1}{y(1+y)}=\frac{1+y-y}{y(1+y)}=\frac1y-\frac{1}{1+y}$</a:t>
                </a:r>
                <a:r>
                  <a:rPr sz="2400" b="0">
                    <a:solidFill>
                      <a:srgbClr val="111827"/>
                    </a:solidFill>
                    <a:latin typeface="Arial"/>
                  </a:rPr>
                  <a:t>, so </a:t>
                </a:r>
                <a:r>
                  <a:rPr lang="en-IN" sz="2400">
                    <a:solidFill>
                      <a:srgbClr val="111827"/>
                    </a:solidFill>
                    <a:latin typeface="Cambria Math" panose="02040503050406030204" pitchFamily="18" charset="0"/>
                  </a:rPr>
                  <a:t>$x\,dx=\left(\frac1y-\frac1{1+y}\right)dy$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Integrating, </a:t>
                </a:r>
                <a:r>
                  <a:rPr lang="en-IN" sz="2400">
                    <a:solidFill>
                      <a:srgbClr val="111827"/>
                    </a:solidFill>
                    <a:latin typeface="Cambria Math" panose="02040503050406030204" pitchFamily="18" charset="0"/>
                  </a:rPr>
                  <a:t>$\frac{x^2}{2}=\ln y-\ln(1+y)+\ln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$f(0)=1$</a:t>
                </a:r>
                <a:r>
                  <a:rPr sz="2400" b="0">
                    <a:solidFill>
                      <a:srgbClr val="111827"/>
                    </a:solidFill>
                    <a:latin typeface="Arial"/>
                  </a:rPr>
                  <a:t>: </a:t>
                </a:r>
                <a:r>
                  <a:rPr lang="en-IN" sz="2400">
                    <a:solidFill>
                      <a:srgbClr val="111827"/>
                    </a:solidFill>
                    <a:latin typeface="Cambria Math" panose="02040503050406030204" pitchFamily="18" charset="0"/>
                  </a:rPr>
                  <a:t>$0=\ln1-\ln2+\ln C$</a:t>
                </a:r>
                <a:r>
                  <a:rPr sz="2400" b="0">
                    <a:solidFill>
                      <a:srgbClr val="111827"/>
                    </a:solidFill>
                    <a:latin typeface="Arial"/>
                  </a:rPr>
                  <a:t>, so </a:t>
                </a:r>
                <a:r>
                  <a:rPr lang="en-IN" sz="2400">
                    <a:solidFill>
                      <a:srgbClr val="111827"/>
                    </a:solidFill>
                    <a:latin typeface="Cambria Math" panose="02040503050406030204" pitchFamily="18" charset="0"/>
                  </a:rPr>
                  <a:t>$C=2$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which gives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$\frac42=\ln f(2)-\ln(1+f(2))+\ln2$</a:t>
                </a:r>
                <a:r>
                  <a:rPr sz="2400" b="0">
                    <a:solidFill>
                      <a:srgbClr val="111827"/>
                    </a:solidFill>
                    <a:latin typeface="Arial"/>
                  </a:rPr>
                  <a:t>, i.e. </a:t>
                </a:r>
                <a:r>
                  <a:rPr lang="en-IN" sz="2400">
                    <a:solidFill>
                      <a:srgbClr val="111827"/>
                    </a:solidFill>
                    <a:latin typeface="Cambria Math" panose="02040503050406030204" pitchFamily="18" charset="0"/>
                  </a:rPr>
                  <a:t>$2=\ln\frac{2f(2)}{1+f(2)}$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$e^2=\frac{2f(2)}{1+f(2)}$</a:t>
                </a:r>
                <a:r>
                  <a:rPr sz="2400" b="0">
                    <a:solidFill>
                      <a:srgbClr val="111827"/>
                    </a:solidFill>
                    <a:latin typeface="Arial"/>
                  </a:rPr>
                  <a:t>, which gives </a:t>
                </a:r>
                <a:r>
                  <a:rPr lang="en-IN" sz="2400">
                    <a:solidFill>
                      <a:srgbClr val="111827"/>
                    </a:solidFill>
                    <a:latin typeface="Cambria Math" panose="02040503050406030204" pitchFamily="18" charset="0"/>
                  </a:rPr>
                  <a:t>$f(2)\,(2-e^2)=e^2$</a:t>
                </a:r>
                <a:r>
                  <a:rPr sz="2400" b="0">
                    <a:solidFill>
                      <a:srgbClr val="111827"/>
                    </a:solidFill>
                    <a:latin typeface="Arial"/>
                  </a:rPr>
                  <a:t>, i.e. </a:t>
                </a:r>
                <a:r>
                  <a:rPr lang="en-IN" sz="2400">
                    <a:solidFill>
                      <a:srgbClr val="111827"/>
                    </a:solidFill>
                    <a:latin typeface="Cambria Math" panose="02040503050406030204" pitchFamily="18" charset="0"/>
                  </a:rPr>
                  <a:t>$f(2)=\frac{e^2}{2-e^2}$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$f(2)=\frac{e^2}{k-e^2}$</a:t>
                </a:r>
                <a:r>
                  <a:rPr sz="2400" b="0">
                    <a:solidFill>
                      <a:srgbClr val="111827"/>
                    </a:solidFill>
                    <a:latin typeface="Arial"/>
                  </a:rPr>
                  <a:t>: </a:t>
                </a:r>
                <a:r>
                  <a:rPr lang="en-IN" sz="2400">
                    <a:solidFill>
                      <a:srgbClr val="111827"/>
                    </a:solidFill>
                    <a:latin typeface="Cambria Math" panose="02040503050406030204" pitchFamily="18" charset="0"/>
                  </a:rPr>
                  <a:t>$k=2$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𝑦</m:t>
                        </m:r>
                      </m:den>
                    </m:f>
                  </m:oMath>
                </a14:m>
                <a:r>
                  <a:rPr sz="2400" b="0">
                    <a:solidFill>
                      <a:srgbClr val="78350F"/>
                    </a:solidFill>
                    <a:latin typeface="Arial"/>
                  </a:rPr>
                  <a:t>: the equation becomes linear-homogeneous in </a:t>
                </a:r>
                <a14:m>
                  <m:oMath xmlns:m="http://schemas.openxmlformats.org/officeDocument/2006/math">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integrates at once.</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$w=\frac1y$</a:t>
                </a:r>
                <a:r>
                  <a:rPr sz="2400" b="0">
                    <a:solidFill>
                      <a:srgbClr val="78350F"/>
                    </a:solidFill>
                    <a:latin typeface="Arial"/>
                  </a:rPr>
                  <a:t>: the equation becomes linear-homogeneous in </a:t>
                </a:r>
                <a:r>
                  <a:rPr lang="en-IN" sz="2400">
                    <a:solidFill>
                      <a:srgbClr val="78350F"/>
                    </a:solidFill>
                    <a:latin typeface="Cambria Math" panose="02040503050406030204" pitchFamily="18" charset="0"/>
                  </a:rPr>
                  <a:t>$w+1$</a:t>
                </a:r>
                <a:r>
                  <a:rPr sz="2400" b="0">
                    <a:solidFill>
                      <a:srgbClr val="78350F"/>
                    </a:solidFill>
                    <a:latin typeface="Arial"/>
                  </a:rPr>
                  <a:t> and integrates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𝑤</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$w=\frac1y$</a:t>
                </a:r>
                <a:r>
                  <a:rPr sz="2400" b="0">
                    <a:solidFill>
                      <a:srgbClr val="111827"/>
                    </a:solidFill>
                    <a:latin typeface="Arial"/>
                  </a:rPr>
                  <a:t>. Then </a:t>
                </a:r>
                <a:r>
                  <a:rPr lang="en-IN" sz="2400">
                    <a:solidFill>
                      <a:srgbClr val="111827"/>
                    </a:solidFill>
                    <a:latin typeface="Cambria Math" panose="02040503050406030204" pitchFamily="18" charset="0"/>
                  </a:rPr>
                  <a:t>$\frac{dw}{dx}=-\frac{1}{y^2}\frac{dy}{dx}=-\frac{x(1+y)}{y}=-x\left(w+1\right)$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$\frac{d(w+1)}{w+1}=-x\,dx$</a:t>
                </a:r>
                <a:r>
                  <a:rPr sz="2400" b="0">
                    <a:solidFill>
                      <a:srgbClr val="111827"/>
                    </a:solidFill>
                    <a:latin typeface="Arial"/>
                  </a:rPr>
                  <a:t>, giving </a:t>
                </a:r>
                <a:r>
                  <a:rPr lang="en-IN" sz="2400">
                    <a:solidFill>
                      <a:srgbClr val="111827"/>
                    </a:solidFill>
                    <a:latin typeface="Cambria Math" panose="02040503050406030204" pitchFamily="18" charset="0"/>
                  </a:rPr>
                  <a:t>$w+1=Ce^{-x^2/2}$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$f(0)=1$</a:t>
                </a:r>
                <a:r>
                  <a:rPr sz="2400" b="0">
                    <a:solidFill>
                      <a:srgbClr val="111827"/>
                    </a:solidFill>
                    <a:latin typeface="Arial"/>
                  </a:rPr>
                  <a:t>: </a:t>
                </a:r>
                <a:r>
                  <a:rPr lang="en-IN" sz="2400">
                    <a:solidFill>
                      <a:srgbClr val="111827"/>
                    </a:solidFill>
                    <a:latin typeface="Cambria Math" panose="02040503050406030204" pitchFamily="18" charset="0"/>
                  </a:rPr>
                  <a:t>$w=1$</a:t>
                </a:r>
                <a:r>
                  <a:rPr sz="2400" b="0">
                    <a:solidFill>
                      <a:srgbClr val="111827"/>
                    </a:solidFill>
                    <a:latin typeface="Arial"/>
                  </a:rPr>
                  <a:t>, so </a:t>
                </a:r>
                <a:r>
                  <a:rPr lang="en-IN" sz="2400">
                    <a:solidFill>
                      <a:srgbClr val="111827"/>
                    </a:solidFill>
                    <a:latin typeface="Cambria Math" panose="02040503050406030204" pitchFamily="18" charset="0"/>
                  </a:rPr>
                  <a:t>$2=C$</a:t>
                </a:r>
                <a:r>
                  <a:rPr sz="2400" b="0">
                    <a:solidFill>
                      <a:srgbClr val="111827"/>
                    </a:solidFill>
                    <a:latin typeface="Arial"/>
                  </a:rPr>
                  <a:t>. Thus </a:t>
                </a:r>
                <a:r>
                  <a:rPr lang="en-IN" sz="2400">
                    <a:solidFill>
                      <a:srgbClr val="111827"/>
                    </a:solidFill>
                    <a:latin typeface="Cambria Math" panose="02040503050406030204" pitchFamily="18" charset="0"/>
                  </a:rPr>
                  <a:t>$\frac1y+1=2e^{-x^2/2}$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$\frac{1}{f(2)}=2e^{-2}-1=\frac{2-e^2}{e^2}$</a:t>
                </a:r>
                <a:r>
                  <a:rPr sz="2400" b="0">
                    <a:solidFill>
                      <a:srgbClr val="111827"/>
                    </a:solidFill>
                    <a:latin typeface="Arial"/>
                  </a:rPr>
                  <a:t>, so </a:t>
                </a:r>
                <a:r>
                  <a:rPr lang="en-IN" sz="2400">
                    <a:solidFill>
                      <a:srgbClr val="111827"/>
                    </a:solidFill>
                    <a:latin typeface="Cambria Math" panose="02040503050406030204" pitchFamily="18" charset="0"/>
                  </a:rPr>
                  <a:t>$f(2)=\frac{e^2}{2-e^2}$</a:t>
                </a:r>
                <a:r>
                  <a:rPr sz="2400" b="0">
                    <a:solidFill>
                      <a:srgbClr val="111827"/>
                    </a:solidFill>
                    <a:latin typeface="Arial"/>
                  </a:rPr>
                  <a:t> and </a:t>
                </a:r>
                <a:r>
                  <a:rPr lang="en-IN" sz="2400">
                    <a:solidFill>
                      <a:srgbClr val="111827"/>
                    </a:solidFill>
                    <a:latin typeface="Cambria Math" panose="02040503050406030204" pitchFamily="18" charset="0"/>
                  </a:rPr>
                  <a:t>$k=2$</a:t>
                </a:r>
                <a:r>
                  <a:rPr sz="2400" b="0">
                    <a:solidFill>
                      <a:srgbClr val="111827"/>
                    </a:solidFill>
                    <a:latin typeface="Arial"/>
                  </a:rPr>
                  <a:t>,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a:t>
                </a:r>
                <a:endParaRPr sz="2800">
                  <a:solidFill>
                    <a:srgbClr val="15803D"/>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logistic-type equation;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denominator splits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oMath>
                </a14:m>
                <a:r>
                  <a:rPr sz="2400" b="0">
                    <a:solidFill>
                      <a:srgbClr val="111827"/>
                    </a:solidFill>
                    <a:latin typeface="Arial"/>
                  </a:rPr>
                  <a:t> and the solution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partial fractions: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Caution: for the solution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𝑒</m:t>
                        </m:r>
                      </m:e>
                      <m:sup>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en>
                    </m:f>
                  </m:oMath>
                </a14:m>
                <a:r>
                  <a:rPr sz="2400" b="0">
                    <a:solidFill>
                      <a:srgbClr val="111827"/>
                    </a:solidFill>
                    <a:latin typeface="Arial"/>
                  </a:rPr>
                  <a:t> exceeds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e>
                    </m:rad>
                  </m:oMath>
                </a14:m>
                <a:r>
                  <a:rPr sz="2400" b="0">
                    <a:solidFill>
                      <a:srgbClr val="111827"/>
                    </a:solidFill>
                    <a:latin typeface="Arial"/>
                  </a:rPr>
                  <a:t>, which forces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through infinity: check that a formal solution is actually defined on the interval used.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$\frac{dy}{dx}=p(x)\,y(1+y)$</a:t>
                </a:r>
                <a:r>
                  <a:rPr sz="2400" b="0">
                    <a:solidFill>
                      <a:srgbClr val="111827"/>
                    </a:solidFill>
                    <a:latin typeface="Arial"/>
                  </a:rPr>
                  <a:t> is a logistic-type equation; </a:t>
                </a:r>
                <a:r>
                  <a:rPr lang="en-IN" sz="2400">
                    <a:solidFill>
                      <a:srgbClr val="111827"/>
                    </a:solidFill>
                    <a:latin typeface="Cambria Math" panose="02040503050406030204" pitchFamily="18" charset="0"/>
                  </a:rPr>
                  <a:t>$y(1+y)$</a:t>
                </a:r>
                <a:r>
                  <a:rPr sz="2400" b="0">
                    <a:solidFill>
                      <a:srgbClr val="111827"/>
                    </a:solidFill>
                    <a:latin typeface="Arial"/>
                  </a:rPr>
                  <a:t> in the denominator splits as </a:t>
                </a:r>
                <a:r>
                  <a:rPr lang="en-IN" sz="2400">
                    <a:solidFill>
                      <a:srgbClr val="111827"/>
                    </a:solidFill>
                    <a:latin typeface="Cambria Math" panose="02040503050406030204" pitchFamily="18" charset="0"/>
                  </a:rPr>
                  <a:t>$\frac1y-\frac1{1+y}$</a:t>
                </a:r>
                <a:r>
                  <a:rPr sz="2400" b="0">
                    <a:solidFill>
                      <a:srgbClr val="111827"/>
                    </a:solidFill>
                    <a:latin typeface="Arial"/>
                  </a:rPr>
                  <a:t> and the solution is </a:t>
                </a:r>
                <a:r>
                  <a:rPr lang="en-IN" sz="2400">
                    <a:solidFill>
                      <a:srgbClr val="111827"/>
                    </a:solidFill>
                    <a:latin typeface="Cambria Math" panose="02040503050406030204" pitchFamily="18" charset="0"/>
                  </a:rPr>
                  <a:t>$\frac{y}{1+y}=Ce^{\int 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General partial fractions: </a:t>
                </a:r>
                <a:r>
                  <a:rPr lang="en-IN" sz="2400">
                    <a:solidFill>
                      <a:srgbClr val="111827"/>
                    </a:solidFill>
                    <a:latin typeface="Cambria Math" panose="02040503050406030204" pitchFamily="18" charset="0"/>
                  </a:rPr>
                  <a:t>$\frac{1}{y(y+a)}=\frac1a\left(\frac1y-\frac1{y+a}\right)$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Caution: for the solution </a:t>
                </a:r>
                <a:r>
                  <a:rPr lang="en-IN" sz="2400">
                    <a:solidFill>
                      <a:srgbClr val="111827"/>
                    </a:solidFill>
                    <a:latin typeface="Cambria Math" panose="02040503050406030204" pitchFamily="18" charset="0"/>
                  </a:rPr>
                  <a:t>$\frac{y}{1+y}=\frac12e^{x^2/2}$</a:t>
                </a:r>
                <a:r>
                  <a:rPr sz="2400" b="0">
                    <a:solidFill>
                      <a:srgbClr val="111827"/>
                    </a:solidFill>
                    <a:latin typeface="Arial"/>
                  </a:rPr>
                  <a:t> the value of </a:t>
                </a:r>
                <a:r>
                  <a:rPr lang="en-IN" sz="2400">
                    <a:solidFill>
                      <a:srgbClr val="111827"/>
                    </a:solidFill>
                    <a:latin typeface="Cambria Math" panose="02040503050406030204" pitchFamily="18" charset="0"/>
                  </a:rPr>
                  <a:t>$\frac{y}{1+y}$</a:t>
                </a:r>
                <a:r>
                  <a:rPr sz="2400" b="0">
                    <a:solidFill>
                      <a:srgbClr val="111827"/>
                    </a:solidFill>
                    <a:latin typeface="Arial"/>
                  </a:rPr>
                  <a:t> exceeds </a:t>
                </a:r>
                <a:r>
                  <a:rPr lang="en-IN" sz="2400">
                    <a:solidFill>
                      <a:srgbClr val="111827"/>
                    </a:solidFill>
                    <a:latin typeface="Cambria Math" panose="02040503050406030204" pitchFamily="18" charset="0"/>
                  </a:rPr>
                  <a:t>$1$</a:t>
                </a:r>
                <a:r>
                  <a:rPr sz="2400" b="0">
                    <a:solidFill>
                      <a:srgbClr val="111827"/>
                    </a:solidFill>
                    <a:latin typeface="Arial"/>
                  </a:rPr>
                  <a:t> for </a:t>
                </a:r>
                <a:r>
                  <a:rPr lang="en-IN" sz="2400">
                    <a:solidFill>
                      <a:srgbClr val="111827"/>
                    </a:solidFill>
                    <a:latin typeface="Cambria Math" panose="02040503050406030204" pitchFamily="18" charset="0"/>
                  </a:rPr>
                  <a:t>$x&gt;\sqrt{2\ln2}$</a:t>
                </a:r>
                <a:r>
                  <a:rPr sz="2400" b="0">
                    <a:solidFill>
                      <a:srgbClr val="111827"/>
                    </a:solidFill>
                    <a:latin typeface="Arial"/>
                  </a:rPr>
                  <a:t>, which forces </a:t>
                </a:r>
                <a:r>
                  <a:rPr lang="en-IN" sz="2400">
                    <a:solidFill>
                      <a:srgbClr val="111827"/>
                    </a:solidFill>
                    <a:latin typeface="Cambria Math" panose="02040503050406030204" pitchFamily="18" charset="0"/>
                  </a:rPr>
                  <a:t>$y$</a:t>
                </a:r>
                <a:r>
                  <a:rPr sz="2400" b="0">
                    <a:solidFill>
                      <a:srgbClr val="111827"/>
                    </a:solidFill>
                    <a:latin typeface="Arial"/>
                  </a:rPr>
                  <a:t> through infinity: check that a formal solution is actually defined on the interval used.</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Paragraph Based 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Q25 – Q30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marks each (no marks printed: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Two paragraphs: Q25-27 and Q28-30</a:t>
            </a:r>
            <a:endParaRPr sz="2800">
              <a:solidFill>
                <a:srgbClr val="FFFFFF"/>
              </a:solidFill>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78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function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which has a derivative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which satisfies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function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878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function </a:t>
                </a:r>
                <a:r>
                  <a:rPr lang="en-IN" sz="2400">
                    <a:solidFill>
                      <a:srgbClr val="111827"/>
                    </a:solidFill>
                    <a:latin typeface="Cambria Math" panose="02040503050406030204" pitchFamily="18" charset="0"/>
                  </a:rPr>
                  <a:t>$g$</a:t>
                </a:r>
                <a:r>
                  <a:rPr sz="2400" b="0">
                    <a:solidFill>
                      <a:srgbClr val="111827"/>
                    </a:solidFill>
                    <a:latin typeface="Arial"/>
                  </a:rPr>
                  <a:t> which has a derivative </a:t>
                </a:r>
                <a:r>
                  <a:rPr lang="en-IN" sz="2400">
                    <a:solidFill>
                      <a:srgbClr val="111827"/>
                    </a:solidFill>
                    <a:latin typeface="Cambria Math" panose="02040503050406030204" pitchFamily="18" charset="0"/>
                  </a:rPr>
                  <a:t>$g'(x)$</a:t>
                </a:r>
                <a:r>
                  <a:rPr sz="2400" b="0">
                    <a:solidFill>
                      <a:srgbClr val="111827"/>
                    </a:solidFill>
                    <a:latin typeface="Arial"/>
                  </a:rPr>
                  <a:t> for every real </a:t>
                </a:r>
                <a:r>
                  <a:rPr lang="en-IN" sz="2400">
                    <a:solidFill>
                      <a:srgbClr val="111827"/>
                    </a:solidFill>
                    <a:latin typeface="Cambria Math" panose="02040503050406030204" pitchFamily="18" charset="0"/>
                  </a:rPr>
                  <a:t>$x$</a:t>
                </a:r>
                <a:r>
                  <a:rPr sz="2400" b="0">
                    <a:solidFill>
                      <a:srgbClr val="111827"/>
                    </a:solidFill>
                    <a:latin typeface="Arial"/>
                  </a:rPr>
                  <a:t> and which satisfies </a:t>
                </a:r>
                <a:r>
                  <a:rPr lang="en-IN" sz="2400">
                    <a:solidFill>
                      <a:srgbClr val="111827"/>
                    </a:solidFill>
                    <a:latin typeface="Cambria Math" panose="02040503050406030204" pitchFamily="18" charset="0"/>
                  </a:rPr>
                  <a:t>$g'(0)=2$</a:t>
                </a:r>
                <a:r>
                  <a:rPr sz="2400" b="0">
                    <a:solidFill>
                      <a:srgbClr val="111827"/>
                    </a:solidFill>
                    <a:latin typeface="Arial"/>
                  </a:rPr>
                  <a:t> and </a:t>
                </a:r>
                <a:r>
                  <a:rPr lang="en-IN" sz="2400">
                    <a:solidFill>
                      <a:srgbClr val="111827"/>
                    </a:solidFill>
                    <a:latin typeface="Cambria Math" panose="02040503050406030204" pitchFamily="18" charset="0"/>
                  </a:rPr>
                  <a:t>$g(x+y)=e^yg(x)+e^xg(y)$</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function </a:t>
                </a:r>
                <a:r>
                  <a:rPr lang="en-IN" sz="2400">
                    <a:solidFill>
                      <a:srgbClr val="111827"/>
                    </a:solidFill>
                    <a:latin typeface="Cambria Math" panose="02040503050406030204" pitchFamily="18" charset="0"/>
                  </a:rPr>
                  <a:t>$g(x)$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$x(2+xe^x)$</a:t>
                </a:r>
                <a:r>
                  <a:rPr sz="2400" b="0">
                    <a:solidFill>
                      <a:srgbClr val="111827"/>
                    </a:solidFill>
                    <a:latin typeface="Arial"/>
                  </a:rPr>
                  <a:t>   (B) </a:t>
                </a:r>
                <a:r>
                  <a:rPr lang="en-IN" sz="2400">
                    <a:solidFill>
                      <a:srgbClr val="111827"/>
                    </a:solidFill>
                    <a:latin typeface="Cambria Math" panose="02040503050406030204" pitchFamily="18" charset="0"/>
                  </a:rPr>
                  <a:t>$x(e^x+1)$</a:t>
                </a:r>
                <a:r>
                  <a:rPr sz="2400" b="0">
                    <a:solidFill>
                      <a:srgbClr val="111827"/>
                    </a:solidFill>
                    <a:latin typeface="Arial"/>
                  </a:rPr>
                  <a:t>   (C) </a:t>
                </a:r>
                <a:r>
                  <a:rPr lang="en-IN" sz="2400">
                    <a:solidFill>
                      <a:srgbClr val="111827"/>
                    </a:solidFill>
                    <a:latin typeface="Cambria Math" panose="02040503050406030204" pitchFamily="18" charset="0"/>
                  </a:rPr>
                  <a:t>$2xe^x$</a:t>
                </a:r>
                <a:r>
                  <a:rPr sz="2400" b="0">
                    <a:solidFill>
                      <a:srgbClr val="111827"/>
                    </a:solidFill>
                    <a:latin typeface="Arial"/>
                  </a:rPr>
                  <a:t>   (D) </a:t>
                </a:r>
                <a:r>
                  <a:rPr lang="en-IN" sz="2400">
                    <a:solidFill>
                      <a:srgbClr val="111827"/>
                    </a:solidFill>
                    <a:latin typeface="Cambria Math" panose="02040503050406030204" pitchFamily="18" charset="0"/>
                  </a:rPr>
                  <a:t>$x+\ln(x+1)$</a:t>
                </a:r>
                <a:endParaRPr sz="2400">
                  <a:solidFill>
                    <a:srgbClr val="111827"/>
                  </a:solidFill>
                </a:endParaRPr>
              </a:p>
            </p:txBody>
          </p:sp>
        </mc:Fallback>
      </mc:AlternateContent>
      <p:sp>
        <p:nvSpPr>
          <p:cNvPr id="5" name="Rectangle 4"/>
          <p:cNvSpPr/>
          <p:nvPr/>
        </p:nvSpPr>
        <p:spPr>
          <a:xfrm>
            <a:off x="731520" y="4387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Functional equations and differentiability, Linear differential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Differentiating the functional equation from first principles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gives </a:t>
                </a:r>
                <a14:m>
                  <m:oMath xmlns:m="http://schemas.openxmlformats.org/officeDocument/2006/math">
                    <m:sSup>
                      <m:e>
                        <m:r>
                          <a:rPr lang="en-IN" sz="2400" i="1">
                            <a:solidFill>
                              <a:srgbClr val="78350F"/>
                            </a:solidFill>
                            <a:latin typeface="Cambria Math" panose="02040503050406030204" pitchFamily="18" charset="0"/>
                          </a:rPr>
                          <m:t>𝑔</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Differentiating the functional equation from first principles (</a:t>
                </a:r>
                <a:r>
                  <a:rPr lang="en-IN" sz="2400">
                    <a:solidFill>
                      <a:srgbClr val="78350F"/>
                    </a:solidFill>
                    <a:latin typeface="Cambria Math" panose="02040503050406030204" pitchFamily="18" charset="0"/>
                  </a:rPr>
                  <a:t>$y=h\to0$</a:t>
                </a:r>
                <a:r>
                  <a:rPr sz="2400" b="0">
                    <a:solidFill>
                      <a:srgbClr val="78350F"/>
                    </a:solidFill>
                    <a:latin typeface="Arial"/>
                  </a:rPr>
                  <a:t>) gives </a:t>
                </a:r>
                <a:r>
                  <a:rPr lang="en-IN" sz="2400">
                    <a:solidFill>
                      <a:srgbClr val="78350F"/>
                    </a:solidFill>
                    <a:latin typeface="Cambria Math" panose="02040503050406030204" pitchFamily="18" charset="0"/>
                  </a:rPr>
                  <a:t>$g'(x)=g(x)+2e^x$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ℎ</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ℎ</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ℎ</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$g(0)=g(0)+g(0)$</a:t>
                </a:r>
                <a:r>
                  <a:rPr sz="2400" b="0">
                    <a:solidFill>
                      <a:srgbClr val="111827"/>
                    </a:solidFill>
                    <a:latin typeface="Arial"/>
                  </a:rPr>
                  <a:t>, so </a:t>
                </a:r>
                <a:r>
                  <a:rPr lang="en-IN" sz="2400">
                    <a:solidFill>
                      <a:srgbClr val="111827"/>
                    </a:solidFill>
                    <a:latin typeface="Cambria Math" panose="02040503050406030204" pitchFamily="18" charset="0"/>
                  </a:rPr>
                  <a:t>$g(0)=0$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$g'(0)=\lim_{h\to0}\frac{g(h)}{h}=2$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$g'(x)=\lim_{h\to0}\frac{g(x+h)-g(x)}{h}=\lim_{h\to0}\frac{e^hg(x)+e^xg(h)-g(x)}{h}$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$=g(x)\lim_{h\to0}\frac{e^h-1}{h}+e^x\lim_{h\to0}\frac{g(h)}{h}$</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Multiply by </a:t>
                </a:r>
                <a14:m>
                  <m:oMath xmlns:m="http://schemas.openxmlformats.org/officeDocument/2006/math">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Given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Answer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$g'(x)=g(x)+2e^x$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$g(x)=y$</a:t>
                </a:r>
                <a:r>
                  <a:rPr sz="2400" b="0">
                    <a:solidFill>
                      <a:srgbClr val="111827"/>
                    </a:solidFill>
                    <a:latin typeface="Arial"/>
                  </a:rPr>
                  <a:t>: </a:t>
                </a:r>
                <a:r>
                  <a:rPr lang="en-IN" sz="2400">
                    <a:solidFill>
                      <a:srgbClr val="111827"/>
                    </a:solidFill>
                    <a:latin typeface="Cambria Math" panose="02040503050406030204" pitchFamily="18" charset="0"/>
                  </a:rPr>
                  <a:t>$\frac{dy}{dx}-y=2e^x$</a:t>
                </a:r>
                <a:r>
                  <a:rPr sz="2400" b="0">
                    <a:solidFill>
                      <a:srgbClr val="111827"/>
                    </a:solidFill>
                    <a:latin typeface="Arial"/>
                  </a:rPr>
                  <a:t>. Multiply by </a:t>
                </a:r>
                <a:r>
                  <a:rPr lang="en-IN" sz="2400">
                    <a:solidFill>
                      <a:srgbClr val="111827"/>
                    </a:solidFill>
                    <a:latin typeface="Cambria Math" panose="02040503050406030204" pitchFamily="18" charset="0"/>
                  </a:rPr>
                  <a:t>$e^{-x}$</a:t>
                </a:r>
                <a:r>
                  <a:rPr sz="2400" b="0">
                    <a:solidFill>
                      <a:srgbClr val="111827"/>
                    </a:solidFill>
                    <a:latin typeface="Arial"/>
                  </a:rPr>
                  <a:t> (I.F.): </a:t>
                </a:r>
                <a:r>
                  <a:rPr lang="en-IN" sz="2400">
                    <a:solidFill>
                      <a:srgbClr val="111827"/>
                    </a:solidFill>
                    <a:latin typeface="Cambria Math" panose="02040503050406030204" pitchFamily="18" charset="0"/>
                  </a:rPr>
                  <a:t>$\frac{d}{dx}\left(ye^{-x}\right)=2$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$ye^{-x}=2x+c$</a:t>
                </a:r>
                <a:r>
                  <a:rPr sz="2400" b="0">
                    <a:solidFill>
                      <a:srgbClr val="111827"/>
                    </a:solidFill>
                    <a:latin typeface="Arial"/>
                  </a:rPr>
                  <a:t>. Given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$ye^{-x}=2x$</a:t>
                </a:r>
                <a:r>
                  <a:rPr sz="2400" b="0">
                    <a:solidFill>
                      <a:srgbClr val="111827"/>
                    </a:solidFill>
                    <a:latin typeface="Arial"/>
                  </a:rPr>
                  <a:t>, i.e. </a:t>
                </a:r>
                <a:r>
                  <a:rPr lang="en-IN" sz="2400">
                    <a:solidFill>
                      <a:srgbClr val="111827"/>
                    </a:solidFill>
                    <a:latin typeface="Cambria Math" panose="02040503050406030204" pitchFamily="18" charset="0"/>
                  </a:rPr>
                  <a:t>$g(x)=2xe^x$</a:t>
                </a:r>
                <a:r>
                  <a:rPr sz="2400" b="0">
                    <a:solidFill>
                      <a:srgbClr val="111827"/>
                    </a:solidFill>
                    <a:latin typeface="Arial"/>
                  </a:rPr>
                  <a:t>. Answer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𝑥</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$2xe^x$</a:t>
                </a:r>
                <a:endParaRPr sz="2800">
                  <a:solidFill>
                    <a:srgbClr val="15803D"/>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Divide the functional equation by </a:t>
                </a:r>
                <a14:m>
                  <m:oMath xmlns:m="http://schemas.openxmlformats.org/officeDocument/2006/math">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sup>
                    </m:sSup>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num>
                      <m:den>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den>
                    </m:f>
                  </m:oMath>
                </a14:m>
                <a:r>
                  <a:rPr sz="2400" b="0">
                    <a:solidFill>
                      <a:srgbClr val="78350F"/>
                    </a:solidFill>
                    <a:latin typeface="Arial"/>
                  </a:rPr>
                  <a:t> is additive, hence linear.</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Divide the functional equation by </a:t>
                </a:r>
                <a:r>
                  <a:rPr lang="en-IN" sz="2400">
                    <a:solidFill>
                      <a:srgbClr val="78350F"/>
                    </a:solidFill>
                    <a:latin typeface="Cambria Math" panose="02040503050406030204" pitchFamily="18" charset="0"/>
                  </a:rPr>
                  <a:t>$e^{x+y}$</a:t>
                </a:r>
                <a:r>
                  <a:rPr sz="2400" b="0">
                    <a:solidFill>
                      <a:srgbClr val="78350F"/>
                    </a:solidFill>
                    <a:latin typeface="Arial"/>
                  </a:rPr>
                  <a:t>: </a:t>
                </a:r>
                <a:r>
                  <a:rPr lang="en-IN" sz="2400">
                    <a:solidFill>
                      <a:srgbClr val="78350F"/>
                    </a:solidFill>
                    <a:latin typeface="Cambria Math" panose="02040503050406030204" pitchFamily="18" charset="0"/>
                  </a:rPr>
                  <a:t>$h(x)=\frac{g(x)}{e^x}$</a:t>
                </a:r>
                <a:r>
                  <a:rPr sz="2400" b="0">
                    <a:solidFill>
                      <a:srgbClr val="78350F"/>
                    </a:solidFill>
                    <a:latin typeface="Arial"/>
                  </a:rPr>
                  <a:t> is additive, hence linear.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satisfies Cauchy's equation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differentiable (as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hence continuous, so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a:t>
                </a:r>
                <a:r>
                  <a:rPr lang="en-IN" sz="2400">
                    <a:solidFill>
                      <a:srgbClr val="111827"/>
                    </a:solidFill>
                    <a:latin typeface="Cambria Math" panose="02040503050406030204" pitchFamily="18" charset="0"/>
                  </a:rPr>
                  <a:t>$g(x+y)=e^yg(x)+e^xg(y)$</a:t>
                </a:r>
                <a:r>
                  <a:rPr sz="2400" b="0">
                    <a:solidFill>
                      <a:srgbClr val="111827"/>
                    </a:solidFill>
                    <a:latin typeface="Arial"/>
                  </a:rPr>
                  <a:t> by </a:t>
                </a:r>
                <a:r>
                  <a:rPr lang="en-IN" sz="2400">
                    <a:solidFill>
                      <a:srgbClr val="111827"/>
                    </a:solidFill>
                    <a:latin typeface="Cambria Math" panose="02040503050406030204" pitchFamily="18" charset="0"/>
                  </a:rPr>
                  <a:t>$e^{x+y}$</a:t>
                </a:r>
                <a:r>
                  <a:rPr sz="2400" b="0">
                    <a:solidFill>
                      <a:srgbClr val="111827"/>
                    </a:solidFill>
                    <a:latin typeface="Arial"/>
                  </a:rPr>
                  <a:t>: </a:t>
                </a:r>
                <a:r>
                  <a:rPr lang="en-IN" sz="2400">
                    <a:solidFill>
                      <a:srgbClr val="111827"/>
                    </a:solidFill>
                    <a:latin typeface="Cambria Math" panose="02040503050406030204" pitchFamily="18" charset="0"/>
                  </a:rPr>
                  <a:t>$\frac{g(x+y)}{e^{x+y}}=\frac{g(x)}{e^x}+\frac{g(y)}{e^y}$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$h(x)=g(x)e^{-x}$</a:t>
                </a:r>
                <a:r>
                  <a:rPr sz="2400" b="0">
                    <a:solidFill>
                      <a:srgbClr val="111827"/>
                    </a:solidFill>
                    <a:latin typeface="Arial"/>
                  </a:rPr>
                  <a:t> satisfies Cauchy's equation </a:t>
                </a:r>
                <a:r>
                  <a:rPr lang="en-IN" sz="2400">
                    <a:solidFill>
                      <a:srgbClr val="111827"/>
                    </a:solidFill>
                    <a:latin typeface="Cambria Math" panose="02040503050406030204" pitchFamily="18" charset="0"/>
                  </a:rPr>
                  <a:t>$h(x+y)=h(x)+h(y)$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a:r>
                <a:r>
                  <a:rPr sz="2400" b="0">
                    <a:solidFill>
                      <a:srgbClr val="111827"/>
                    </a:solidFill>
                    <a:latin typeface="Arial"/>
                  </a:rPr>
                  <a:t> is differentiable (as </a:t>
                </a:r>
                <a:r>
                  <a:rPr lang="en-IN" sz="2400">
                    <a:solidFill>
                      <a:srgbClr val="111827"/>
                    </a:solidFill>
                    <a:latin typeface="Cambria Math" panose="02040503050406030204" pitchFamily="18" charset="0"/>
                  </a:rPr>
                  <a:t>$g$</a:t>
                </a:r>
                <a:r>
                  <a:rPr sz="2400" b="0">
                    <a:solidFill>
                      <a:srgbClr val="111827"/>
                    </a:solidFill>
                    <a:latin typeface="Arial"/>
                  </a:rPr>
                  <a:t> is), hence continuous, so </a:t>
                </a:r>
                <a:r>
                  <a:rPr lang="en-IN" sz="2400">
                    <a:solidFill>
                      <a:srgbClr val="111827"/>
                    </a:solidFill>
                    <a:latin typeface="Cambria Math" panose="02040503050406030204" pitchFamily="18" charset="0"/>
                  </a:rPr>
                  <a:t>$h(x)=cx$</a:t>
                </a:r>
                <a:r>
                  <a:rPr sz="2400" b="0">
                    <a:solidFill>
                      <a:srgbClr val="111827"/>
                    </a:solidFill>
                    <a:latin typeface="Arial"/>
                  </a:rPr>
                  <a:t> with </a:t>
                </a:r>
                <a:r>
                  <a:rPr lang="en-IN" sz="2400">
                    <a:solidFill>
                      <a:srgbClr val="111827"/>
                    </a:solidFill>
                    <a:latin typeface="Cambria Math" panose="02040503050406030204" pitchFamily="18" charset="0"/>
                  </a:rPr>
                  <a:t>$c=h'(0)$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by putting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option (C), the same answer.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$h'(x)=(g'(x)-g(x))e^{-x}$</a:t>
                </a:r>
                <a:r>
                  <a:rPr sz="2400" b="0">
                    <a:solidFill>
                      <a:srgbClr val="111827"/>
                    </a:solidFill>
                    <a:latin typeface="Arial"/>
                  </a:rPr>
                  <a:t>, so </a:t>
                </a:r>
                <a:r>
                  <a:rPr lang="en-IN" sz="2400">
                    <a:solidFill>
                      <a:srgbClr val="111827"/>
                    </a:solidFill>
                    <a:latin typeface="Cambria Math" panose="02040503050406030204" pitchFamily="18" charset="0"/>
                  </a:rPr>
                  <a:t>$c=g'(0)-g(0)=2-0=2$</a:t>
                </a:r>
                <a:r>
                  <a:rPr sz="2400" b="0">
                    <a:solidFill>
                      <a:srgbClr val="111827"/>
                    </a:solidFill>
                    <a:latin typeface="Arial"/>
                  </a:rPr>
                  <a:t> (here </a:t>
                </a:r>
                <a:r>
                  <a:rPr lang="en-IN" sz="2400">
                    <a:solidFill>
                      <a:srgbClr val="111827"/>
                    </a:solidFill>
                    <a:latin typeface="Cambria Math" panose="02040503050406030204" pitchFamily="18" charset="0"/>
                  </a:rPr>
                  <a:t>$g(0)=0$</a:t>
                </a:r>
                <a:r>
                  <a:rPr sz="2400" b="0">
                    <a:solidFill>
                      <a:srgbClr val="111827"/>
                    </a:solidFill>
                    <a:latin typeface="Arial"/>
                  </a:rPr>
                  <a:t> by putting </a:t>
                </a:r>
                <a:r>
                  <a:rPr lang="en-IN" sz="2400">
                    <a:solidFill>
                      <a:srgbClr val="111827"/>
                    </a:solidFill>
                    <a:latin typeface="Cambria Math" panose="02040503050406030204" pitchFamily="18" charset="0"/>
                  </a:rPr>
                  <a:t>$x=y=0$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$g(x)=2xe^x$</a:t>
                </a:r>
                <a:r>
                  <a:rPr sz="2400" b="0">
                    <a:solidFill>
                      <a:srgbClr val="111827"/>
                    </a:solidFill>
                    <a:latin typeface="Arial"/>
                  </a:rPr>
                  <a:t>, option (C), the same answer.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𝑥</m:t>
                    </m:r>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𝑥</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$2xe^x$</a:t>
                </a:r>
                <a:endParaRPr sz="2800">
                  <a:solidFill>
                    <a:srgbClr val="15803D"/>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equivalent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𝑔</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den>
                    </m:f>
                  </m:oMath>
                </a14:m>
                <a:r>
                  <a:rPr sz="2400" b="0">
                    <a:solidFill>
                      <a:srgbClr val="111827"/>
                    </a:solidFill>
                    <a:latin typeface="Arial"/>
                  </a:rPr>
                  <a:t> being additive, hence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similarly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Differentiability at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plus a functional equation gives a differential equation: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replaced using the functional equation.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$g(x+y)=e^yg(x)+e^xg(y)$</a:t>
                </a:r>
                <a:r>
                  <a:rPr sz="2400" b="0">
                    <a:solidFill>
                      <a:srgbClr val="111827"/>
                    </a:solidFill>
                    <a:latin typeface="Arial"/>
                  </a:rPr>
                  <a:t> is equivalent to </a:t>
                </a:r>
                <a:r>
                  <a:rPr lang="en-IN" sz="2400">
                    <a:solidFill>
                      <a:srgbClr val="111827"/>
                    </a:solidFill>
                    <a:latin typeface="Cambria Math" panose="02040503050406030204" pitchFamily="18" charset="0"/>
                  </a:rPr>
                  <a:t>$\frac{g}{e^x}$</a:t>
                </a:r>
                <a:r>
                  <a:rPr sz="2400" b="0">
                    <a:solidFill>
                      <a:srgbClr val="111827"/>
                    </a:solidFill>
                    <a:latin typeface="Arial"/>
                  </a:rPr>
                  <a:t> being additive, hence </a:t>
                </a:r>
                <a:r>
                  <a:rPr lang="en-IN" sz="2400">
                    <a:solidFill>
                      <a:srgbClr val="111827"/>
                    </a:solidFill>
                    <a:latin typeface="Cambria Math" panose="02040503050406030204" pitchFamily="18" charset="0"/>
                  </a:rPr>
                  <a:t>$g=cxe^x$</a:t>
                </a:r>
                <a:r>
                  <a:rPr sz="2400" b="0">
                    <a:solidFill>
                      <a:srgbClr val="111827"/>
                    </a:solidFill>
                    <a:latin typeface="Arial"/>
                  </a:rPr>
                  <a:t>; similarly </a:t>
                </a:r>
                <a:r>
                  <a:rPr lang="en-IN" sz="2400">
                    <a:solidFill>
                      <a:srgbClr val="111827"/>
                    </a:solidFill>
                    <a:latin typeface="Cambria Math" panose="02040503050406030204" pitchFamily="18" charset="0"/>
                  </a:rPr>
                  <a:t>$f(x+y)=f(x)f(y)\Rightarrow f=e^{kx}$</a:t>
                </a:r>
                <a:r>
                  <a:rPr sz="2400" b="0">
                    <a:solidFill>
                      <a:srgbClr val="111827"/>
                    </a:solidFill>
                    <a:latin typeface="Arial"/>
                  </a:rPr>
                  <a:t> and </a:t>
                </a:r>
                <a:r>
                  <a:rPr lang="en-IN" sz="2400">
                    <a:solidFill>
                      <a:srgbClr val="111827"/>
                    </a:solidFill>
                    <a:latin typeface="Cambria Math" panose="02040503050406030204" pitchFamily="18" charset="0"/>
                  </a:rPr>
                  <a:t>$f(xy)=f(x)+f(y)\Rightarrow f=k\ln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Differentiability at </a:t>
                </a:r>
                <a:r>
                  <a:rPr lang="en-IN" sz="2400">
                    <a:solidFill>
                      <a:srgbClr val="111827"/>
                    </a:solidFill>
                    <a:latin typeface="Cambria Math" panose="02040503050406030204" pitchFamily="18" charset="0"/>
                  </a:rPr>
                  <a:t>$0$</a:t>
                </a:r>
                <a:r>
                  <a:rPr sz="2400" b="0">
                    <a:solidFill>
                      <a:srgbClr val="111827"/>
                    </a:solidFill>
                    <a:latin typeface="Arial"/>
                  </a:rPr>
                  <a:t> plus a functional equation gives a differential equation: </a:t>
                </a:r>
                <a:r>
                  <a:rPr lang="en-IN" sz="2400">
                    <a:solidFill>
                      <a:srgbClr val="111827"/>
                    </a:solidFill>
                    <a:latin typeface="Cambria Math" panose="02040503050406030204" pitchFamily="18" charset="0"/>
                  </a:rPr>
                  <a:t>$f'(x)=\lim_{h\to0}\frac{f(x+h)-f(x)}{h}$</a:t>
                </a:r>
                <a:r>
                  <a:rPr sz="2400" b="0">
                    <a:solidFill>
                      <a:srgbClr val="111827"/>
                    </a:solidFill>
                    <a:latin typeface="Arial"/>
                  </a:rPr>
                  <a:t> with </a:t>
                </a:r>
                <a:r>
                  <a:rPr lang="en-IN" sz="2400">
                    <a:solidFill>
                      <a:srgbClr val="111827"/>
                    </a:solidFill>
                    <a:latin typeface="Cambria Math" panose="02040503050406030204" pitchFamily="18" charset="0"/>
                  </a:rPr>
                  <a:t>$f(x+h)$</a:t>
                </a:r>
                <a:r>
                  <a:rPr sz="2400" b="0">
                    <a:solidFill>
                      <a:srgbClr val="111827"/>
                    </a:solidFill>
                    <a:latin typeface="Arial"/>
                  </a:rPr>
                  <a:t> replaced using the functional equation.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$\frac{d}{dx}\left(ye^{-x}\right)=2\Rightarrow y=(2x+c)e^x$</a:t>
                </a:r>
                <a:r>
                  <a:rPr sz="2400" b="0">
                    <a:solidFill>
                      <a:srgbClr val="111827"/>
                    </a:solidFill>
                    <a:latin typeface="Arial"/>
                  </a:rPr>
                  <a:t>; check: </a:t>
                </a:r>
                <a:r>
                  <a:rPr lang="en-IN" sz="2400">
                    <a:solidFill>
                      <a:srgbClr val="111827"/>
                    </a:solidFill>
                    <a:latin typeface="Cambria Math" panose="02040503050406030204" pitchFamily="18" charset="0"/>
                  </a:rPr>
                  <a:t>$y=2xe^x$</a:t>
                </a:r>
                <a:r>
                  <a:rPr sz="2400" b="0">
                    <a:solidFill>
                      <a:srgbClr val="111827"/>
                    </a:solidFill>
                    <a:latin typeface="Arial"/>
                  </a:rPr>
                  <a:t> gives </a:t>
                </a:r>
                <a:r>
                  <a:rPr lang="en-IN" sz="2400">
                    <a:solidFill>
                      <a:srgbClr val="111827"/>
                    </a:solidFill>
                    <a:latin typeface="Cambria Math" panose="02040503050406030204" pitchFamily="18" charset="0"/>
                  </a:rPr>
                  <a:t>$y'=2e^x+2xe^x=y+2e^x$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98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function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which has a derivative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which satisfies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range of the function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098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function </a:t>
                </a:r>
                <a:r>
                  <a:rPr lang="en-IN" sz="2400">
                    <a:solidFill>
                      <a:srgbClr val="111827"/>
                    </a:solidFill>
                    <a:latin typeface="Cambria Math" panose="02040503050406030204" pitchFamily="18" charset="0"/>
                  </a:rPr>
                  <a:t>$g$</a:t>
                </a:r>
                <a:r>
                  <a:rPr sz="2400" b="0">
                    <a:solidFill>
                      <a:srgbClr val="111827"/>
                    </a:solidFill>
                    <a:latin typeface="Arial"/>
                  </a:rPr>
                  <a:t> which has a derivative </a:t>
                </a:r>
                <a:r>
                  <a:rPr lang="en-IN" sz="2400">
                    <a:solidFill>
                      <a:srgbClr val="111827"/>
                    </a:solidFill>
                    <a:latin typeface="Cambria Math" panose="02040503050406030204" pitchFamily="18" charset="0"/>
                  </a:rPr>
                  <a:t>$g'(x)$</a:t>
                </a:r>
                <a:r>
                  <a:rPr sz="2400" b="0">
                    <a:solidFill>
                      <a:srgbClr val="111827"/>
                    </a:solidFill>
                    <a:latin typeface="Arial"/>
                  </a:rPr>
                  <a:t> for every real </a:t>
                </a:r>
                <a:r>
                  <a:rPr lang="en-IN" sz="2400">
                    <a:solidFill>
                      <a:srgbClr val="111827"/>
                    </a:solidFill>
                    <a:latin typeface="Cambria Math" panose="02040503050406030204" pitchFamily="18" charset="0"/>
                  </a:rPr>
                  <a:t>$x$</a:t>
                </a:r>
                <a:r>
                  <a:rPr sz="2400" b="0">
                    <a:solidFill>
                      <a:srgbClr val="111827"/>
                    </a:solidFill>
                    <a:latin typeface="Arial"/>
                  </a:rPr>
                  <a:t> and which satisfies </a:t>
                </a:r>
                <a:r>
                  <a:rPr lang="en-IN" sz="2400">
                    <a:solidFill>
                      <a:srgbClr val="111827"/>
                    </a:solidFill>
                    <a:latin typeface="Cambria Math" panose="02040503050406030204" pitchFamily="18" charset="0"/>
                  </a:rPr>
                  <a:t>$g'(0)=2$</a:t>
                </a:r>
                <a:r>
                  <a:rPr sz="2400" b="0">
                    <a:solidFill>
                      <a:srgbClr val="111827"/>
                    </a:solidFill>
                    <a:latin typeface="Arial"/>
                  </a:rPr>
                  <a:t> and </a:t>
                </a:r>
                <a:r>
                  <a:rPr lang="en-IN" sz="2400">
                    <a:solidFill>
                      <a:srgbClr val="111827"/>
                    </a:solidFill>
                    <a:latin typeface="Cambria Math" panose="02040503050406030204" pitchFamily="18" charset="0"/>
                  </a:rPr>
                  <a:t>$g(x+y)=e^yg(x)+e^xg(y)$</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range of the function </a:t>
                </a:r>
                <a:r>
                  <a:rPr lang="en-IN" sz="2400">
                    <a:solidFill>
                      <a:srgbClr val="111827"/>
                    </a:solidFill>
                    <a:latin typeface="Cambria Math" panose="02040503050406030204" pitchFamily="18" charset="0"/>
                  </a:rPr>
                  <a:t>$g(x)$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$\mathbb{R}$</a:t>
                </a:r>
                <a:r>
                  <a:rPr sz="2400" b="0">
                    <a:solidFill>
                      <a:srgbClr val="111827"/>
                    </a:solidFill>
                    <a:latin typeface="Arial"/>
                  </a:rPr>
                  <a:t>   (B) </a:t>
                </a:r>
                <a:r>
                  <a:rPr lang="en-IN" sz="2400">
                    <a:solidFill>
                      <a:srgbClr val="111827"/>
                    </a:solidFill>
                    <a:latin typeface="Cambria Math" panose="02040503050406030204" pitchFamily="18" charset="0"/>
                  </a:rPr>
                  <a:t>$\left[-\frac2e,\infty\right)$</a:t>
                </a:r>
                <a:r>
                  <a:rPr sz="2400" b="0">
                    <a:solidFill>
                      <a:srgbClr val="111827"/>
                    </a:solidFill>
                    <a:latin typeface="Arial"/>
                  </a:rPr>
                  <a:t>   (C) </a:t>
                </a:r>
                <a:r>
                  <a:rPr lang="en-IN" sz="2400">
                    <a:solidFill>
                      <a:srgbClr val="111827"/>
                    </a:solidFill>
                    <a:latin typeface="Cambria Math" panose="02040503050406030204" pitchFamily="18" charset="0"/>
                  </a:rPr>
                  <a:t>$\left[-\frac1e,\infty\right)$</a:t>
                </a:r>
                <a:r>
                  <a:rPr sz="2400" b="0">
                    <a:solidFill>
                      <a:srgbClr val="111827"/>
                    </a:solidFill>
                    <a:latin typeface="Arial"/>
                  </a:rPr>
                  <a:t>   (D) </a:t>
                </a:r>
                <a:r>
                  <a:rPr lang="en-IN" sz="2400">
                    <a:solidFill>
                      <a:srgbClr val="111827"/>
                    </a:solidFill>
                    <a:latin typeface="Cambria Math" panose="02040503050406030204" pitchFamily="18" charset="0"/>
                  </a:rPr>
                  <a:t>$[0,\infty)$</a:t>
                </a:r>
                <a:endParaRPr sz="2400">
                  <a:solidFill>
                    <a:srgbClr val="111827"/>
                  </a:solidFill>
                </a:endParaRPr>
              </a:p>
            </p:txBody>
          </p:sp>
        </mc:Fallback>
      </mc:AlternateContent>
      <p:sp>
        <p:nvSpPr>
          <p:cNvPr id="5" name="Rectangle 4"/>
          <p:cNvSpPr/>
          <p:nvPr/>
        </p:nvSpPr>
        <p:spPr>
          <a:xfrm>
            <a:off x="731520" y="460705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Maxima and minima, Range of a function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 the derivative </a:t>
                </a:r>
                <a14:m>
                  <m:oMath xmlns:m="http://schemas.openxmlformats.org/officeDocument/2006/math">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changes sign only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giving the global minimum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𝑒</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t>
                </a:r>
                <a:r>
                  <a:rPr lang="en-IN" sz="2400">
                    <a:solidFill>
                      <a:srgbClr val="78350F"/>
                    </a:solidFill>
                    <a:latin typeface="Cambria Math" panose="02040503050406030204" pitchFamily="18" charset="0"/>
                  </a:rPr>
                  <a:t>$g(x)=2xe^x$</a:t>
                </a:r>
                <a:r>
                  <a:rPr sz="2400" b="0">
                    <a:solidFill>
                      <a:srgbClr val="78350F"/>
                    </a:solidFill>
                    <a:latin typeface="Arial"/>
                  </a:rPr>
                  <a:t> the derivative </a:t>
                </a:r>
                <a:r>
                  <a:rPr lang="en-IN" sz="2400">
                    <a:solidFill>
                      <a:srgbClr val="78350F"/>
                    </a:solidFill>
                    <a:latin typeface="Cambria Math" panose="02040503050406030204" pitchFamily="18" charset="0"/>
                  </a:rPr>
                  <a:t>$2e^x(1+x)$</a:t>
                </a:r>
                <a:r>
                  <a:rPr sz="2400" b="0">
                    <a:solidFill>
                      <a:srgbClr val="78350F"/>
                    </a:solidFill>
                    <a:latin typeface="Arial"/>
                  </a:rPr>
                  <a:t> changes sign only at </a:t>
                </a:r>
                <a:r>
                  <a:rPr lang="en-IN" sz="2400">
                    <a:solidFill>
                      <a:srgbClr val="78350F"/>
                    </a:solidFill>
                    <a:latin typeface="Cambria Math" panose="02040503050406030204" pitchFamily="18" charset="0"/>
                  </a:rPr>
                  <a:t>$x=-1$</a:t>
                </a:r>
                <a:r>
                  <a:rPr sz="2400" b="0">
                    <a:solidFill>
                      <a:srgbClr val="78350F"/>
                    </a:solidFill>
                    <a:latin typeface="Arial"/>
                  </a:rPr>
                  <a:t>, giving the global minimum </a:t>
                </a:r>
                <a:r>
                  <a:rPr lang="en-IN" sz="2400">
                    <a:solidFill>
                      <a:srgbClr val="78350F"/>
                    </a:solidFill>
                    <a:latin typeface="Cambria Math" panose="02040503050406030204" pitchFamily="18" charset="0"/>
                  </a:rPr>
                  <a:t>$-\frac2e$</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25,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has a minimum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25, </a:t>
                </a:r>
                <a:r>
                  <a:rPr lang="en-IN" sz="2400">
                    <a:solidFill>
                      <a:srgbClr val="111827"/>
                    </a:solidFill>
                    <a:latin typeface="Cambria Math" panose="02040503050406030204" pitchFamily="18" charset="0"/>
                  </a:rPr>
                  <a:t>$g(x)=2xe^x$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$\frac{dy}{dx}=2\left(e^x+xe^x\right)=2e^x(1+x)=0\Rightarrow 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$x&lt;-1$</a:t>
                </a:r>
                <a:r>
                  <a:rPr sz="2400" b="0">
                    <a:solidFill>
                      <a:srgbClr val="111827"/>
                    </a:solidFill>
                    <a:latin typeface="Arial"/>
                  </a:rPr>
                  <a:t>, </a:t>
                </a:r>
                <a:r>
                  <a:rPr lang="en-IN" sz="2400">
                    <a:solidFill>
                      <a:srgbClr val="111827"/>
                    </a:solidFill>
                    <a:latin typeface="Cambria Math" panose="02040503050406030204" pitchFamily="18" charset="0"/>
                  </a:rPr>
                  <a:t>$g'(x)&lt;0$</a:t>
                </a:r>
                <a:r>
                  <a:rPr sz="2400" b="0">
                    <a:solidFill>
                      <a:srgbClr val="111827"/>
                    </a:solidFill>
                    <a:latin typeface="Arial"/>
                  </a:rPr>
                  <a:t>; for </a:t>
                </a:r>
                <a:r>
                  <a:rPr lang="en-IN" sz="2400">
                    <a:solidFill>
                      <a:srgbClr val="111827"/>
                    </a:solidFill>
                    <a:latin typeface="Cambria Math" panose="02040503050406030204" pitchFamily="18" charset="0"/>
                  </a:rPr>
                  <a:t>$x&gt;-1$</a:t>
                </a:r>
                <a:r>
                  <a:rPr sz="2400" b="0">
                    <a:solidFill>
                      <a:srgbClr val="111827"/>
                    </a:solidFill>
                    <a:latin typeface="Arial"/>
                  </a:rPr>
                  <a:t>, </a:t>
                </a:r>
                <a:r>
                  <a:rPr lang="en-IN" sz="2400">
                    <a:solidFill>
                      <a:srgbClr val="111827"/>
                    </a:solidFill>
                    <a:latin typeface="Cambria Math" panose="02040503050406030204" pitchFamily="18" charset="0"/>
                  </a:rPr>
                  <a:t>$g'(x)&gt;0$</a:t>
                </a:r>
                <a:r>
                  <a:rPr sz="2400" b="0">
                    <a:solidFill>
                      <a:srgbClr val="111827"/>
                    </a:solidFill>
                    <a:latin typeface="Arial"/>
                  </a:rPr>
                  <a:t>, so </a:t>
                </a:r>
                <a:r>
                  <a:rPr lang="en-IN" sz="2400">
                    <a:solidFill>
                      <a:srgbClr val="111827"/>
                    </a:solidFill>
                    <a:latin typeface="Cambria Math" panose="02040503050406030204" pitchFamily="18" charset="0"/>
                  </a:rPr>
                  <a:t>$g$</a:t>
                </a:r>
                <a:r>
                  <a:rPr sz="2400" b="0">
                    <a:solidFill>
                      <a:srgbClr val="111827"/>
                    </a:solidFill>
                    <a:latin typeface="Arial"/>
                  </a:rPr>
                  <a:t> has a minimum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continuous, so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takes every value from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upwards.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Range of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Answer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$g(-1)=2(-1)e^{-1}=-\frac2e$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$x\to\infty$</a:t>
                </a:r>
                <a:r>
                  <a:rPr sz="2400" b="0">
                    <a:solidFill>
                      <a:srgbClr val="111827"/>
                    </a:solidFill>
                    <a:latin typeface="Arial"/>
                  </a:rPr>
                  <a:t>, </a:t>
                </a:r>
                <a:r>
                  <a:rPr lang="en-IN" sz="2400">
                    <a:solidFill>
                      <a:srgbClr val="111827"/>
                    </a:solidFill>
                    <a:latin typeface="Cambria Math" panose="02040503050406030204" pitchFamily="18" charset="0"/>
                  </a:rPr>
                  <a:t>$g(x)\to\infty$</a:t>
                </a:r>
                <a:r>
                  <a:rPr sz="2400" b="0">
                    <a:solidFill>
                      <a:srgbClr val="111827"/>
                    </a:solidFill>
                    <a:latin typeface="Arial"/>
                  </a:rPr>
                  <a:t> and </a:t>
                </a:r>
                <a:r>
                  <a:rPr lang="en-IN" sz="2400">
                    <a:solidFill>
                      <a:srgbClr val="111827"/>
                    </a:solidFill>
                    <a:latin typeface="Cambria Math" panose="02040503050406030204" pitchFamily="18" charset="0"/>
                  </a:rPr>
                  <a:t>$g$</a:t>
                </a:r>
                <a:r>
                  <a:rPr sz="2400" b="0">
                    <a:solidFill>
                      <a:srgbClr val="111827"/>
                    </a:solidFill>
                    <a:latin typeface="Arial"/>
                  </a:rPr>
                  <a:t> is continuous, so </a:t>
                </a:r>
                <a:r>
                  <a:rPr lang="en-IN" sz="2400">
                    <a:solidFill>
                      <a:srgbClr val="111827"/>
                    </a:solidFill>
                    <a:latin typeface="Cambria Math" panose="02040503050406030204" pitchFamily="18" charset="0"/>
                  </a:rPr>
                  <a:t>$g$</a:t>
                </a:r>
                <a:r>
                  <a:rPr sz="2400" b="0">
                    <a:solidFill>
                      <a:srgbClr val="111827"/>
                    </a:solidFill>
                    <a:latin typeface="Arial"/>
                  </a:rPr>
                  <a:t> takes every value from </a:t>
                </a:r>
                <a:r>
                  <a:rPr lang="en-IN" sz="2400">
                    <a:solidFill>
                      <a:srgbClr val="111827"/>
                    </a:solidFill>
                    <a:latin typeface="Cambria Math" panose="02040503050406030204" pitchFamily="18" charset="0"/>
                  </a:rPr>
                  <a:t>$-\frac2e$</a:t>
                </a:r>
                <a:r>
                  <a:rPr sz="2400" b="0">
                    <a:solidFill>
                      <a:srgbClr val="111827"/>
                    </a:solidFill>
                    <a:latin typeface="Arial"/>
                  </a:rPr>
                  <a:t> upwards.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Range of </a:t>
                </a:r>
                <a:r>
                  <a:rPr lang="en-IN" sz="2400">
                    <a:solidFill>
                      <a:srgbClr val="111827"/>
                    </a:solidFill>
                    <a:latin typeface="Cambria Math" panose="02040503050406030204" pitchFamily="18" charset="0"/>
                  </a:rPr>
                  <a:t>$g$</a:t>
                </a:r>
                <a:r>
                  <a:rPr sz="2400" b="0">
                    <a:solidFill>
                      <a:srgbClr val="111827"/>
                    </a:solidFill>
                    <a:latin typeface="Arial"/>
                  </a:rPr>
                  <a:t> is </a:t>
                </a:r>
                <a:r>
                  <a:rPr lang="en-IN" sz="2400">
                    <a:solidFill>
                      <a:srgbClr val="111827"/>
                    </a:solidFill>
                    <a:latin typeface="Cambria Math" panose="02040503050406030204" pitchFamily="18" charset="0"/>
                  </a:rPr>
                  <a:t>$\left[-\frac2e,\infty\right)$</a:t>
                </a:r>
                <a:r>
                  <a:rPr sz="2400" b="0">
                    <a:solidFill>
                      <a:srgbClr val="111827"/>
                    </a:solidFill>
                    <a:latin typeface="Arial"/>
                  </a:rPr>
                  <a:t>. Answer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𝑒</m:t>
                            </m:r>
                          </m:den>
                        </m:f>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$\left[-\frac2e,\infty\right)$</a:t>
                </a:r>
                <a:endParaRPr sz="2800">
                  <a:solidFill>
                    <a:srgbClr val="15803D"/>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has global minimum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range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has range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inverse of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Lambert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range questions: locate the critical points, evaluate the limits at the ends, and use continuity (IVT) to fill the interval.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$xe^x$</a:t>
                </a:r>
                <a:r>
                  <a:rPr sz="2400" b="0">
                    <a:solidFill>
                      <a:srgbClr val="111827"/>
                    </a:solidFill>
                    <a:latin typeface="Arial"/>
                  </a:rPr>
                  <a:t> has global minimum </a:t>
                </a:r>
                <a:r>
                  <a:rPr lang="en-IN" sz="2400">
                    <a:solidFill>
                      <a:srgbClr val="111827"/>
                    </a:solidFill>
                    <a:latin typeface="Cambria Math" panose="02040503050406030204" pitchFamily="18" charset="0"/>
                  </a:rPr>
                  <a:t>$-\frac1e$</a:t>
                </a:r>
                <a:r>
                  <a:rPr sz="2400" b="0">
                    <a:solidFill>
                      <a:srgbClr val="111827"/>
                    </a:solidFill>
                    <a:latin typeface="Arial"/>
                  </a:rPr>
                  <a:t> at </a:t>
                </a:r>
                <a:r>
                  <a:rPr lang="en-IN" sz="2400">
                    <a:solidFill>
                      <a:srgbClr val="111827"/>
                    </a:solidFill>
                    <a:latin typeface="Cambria Math" panose="02040503050406030204" pitchFamily="18" charset="0"/>
                  </a:rPr>
                  <a:t>$x=-1$</a:t>
                </a:r>
                <a:r>
                  <a:rPr sz="2400" b="0">
                    <a:solidFill>
                      <a:srgbClr val="111827"/>
                    </a:solidFill>
                    <a:latin typeface="Arial"/>
                  </a:rPr>
                  <a:t>, range </a:t>
                </a:r>
                <a:r>
                  <a:rPr lang="en-IN" sz="2400">
                    <a:solidFill>
                      <a:srgbClr val="111827"/>
                    </a:solidFill>
                    <a:latin typeface="Cambria Math" panose="02040503050406030204" pitchFamily="18" charset="0"/>
                  </a:rPr>
                  <a:t>$\left[-\frac1e,\infty\right)$</a:t>
                </a:r>
                <a:r>
                  <a:rPr sz="2400" b="0">
                    <a:solidFill>
                      <a:srgbClr val="111827"/>
                    </a:solidFill>
                    <a:latin typeface="Arial"/>
                  </a:rPr>
                  <a:t>, and </a:t>
                </a:r>
                <a:r>
                  <a:rPr lang="en-IN" sz="2400">
                    <a:solidFill>
                      <a:srgbClr val="111827"/>
                    </a:solidFill>
                    <a:latin typeface="Cambria Math" panose="02040503050406030204" pitchFamily="18" charset="0"/>
                  </a:rPr>
                  <a:t>$xe^x\to0^-$</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so </a:t>
                </a:r>
                <a:r>
                  <a:rPr lang="en-IN" sz="2400">
                    <a:solidFill>
                      <a:srgbClr val="111827"/>
                    </a:solidFill>
                    <a:latin typeface="Cambria Math" panose="02040503050406030204" pitchFamily="18" charset="0"/>
                  </a:rPr>
                  <a:t>$axe^x$</a:t>
                </a:r>
                <a:r>
                  <a:rPr sz="2400" b="0">
                    <a:solidFill>
                      <a:srgbClr val="111827"/>
                    </a:solidFill>
                    <a:latin typeface="Arial"/>
                  </a:rPr>
                  <a:t> (</a:t>
                </a:r>
                <a:r>
                  <a:rPr lang="en-IN" sz="2400">
                    <a:solidFill>
                      <a:srgbClr val="111827"/>
                    </a:solidFill>
                    <a:latin typeface="Cambria Math" panose="02040503050406030204" pitchFamily="18" charset="0"/>
                  </a:rPr>
                  <a:t>$a&gt;0$</a:t>
                </a:r>
                <a:r>
                  <a:rPr sz="2400" b="0">
                    <a:solidFill>
                      <a:srgbClr val="111827"/>
                    </a:solidFill>
                    <a:latin typeface="Arial"/>
                  </a:rPr>
                  <a:t>) has range </a:t>
                </a:r>
                <a:r>
                  <a:rPr lang="en-IN" sz="2400">
                    <a:solidFill>
                      <a:srgbClr val="111827"/>
                    </a:solidFill>
                    <a:latin typeface="Cambria Math" panose="02040503050406030204" pitchFamily="18" charset="0"/>
                  </a:rPr>
                  <a:t>$\left[-\frac ae,\infty\right)$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inverse of </a:t>
                </a:r>
                <a:r>
                  <a:rPr lang="en-IN" sz="2400">
                    <a:solidFill>
                      <a:srgbClr val="111827"/>
                    </a:solidFill>
                    <a:latin typeface="Cambria Math" panose="02040503050406030204" pitchFamily="18" charset="0"/>
                  </a:rPr>
                  <a:t>$xe^x$</a:t>
                </a:r>
                <a:r>
                  <a:rPr sz="2400" b="0">
                    <a:solidFill>
                      <a:srgbClr val="111827"/>
                    </a:solidFill>
                    <a:latin typeface="Arial"/>
                  </a:rPr>
                  <a:t> on </a:t>
                </a:r>
                <a:r>
                  <a:rPr lang="en-IN" sz="2400">
                    <a:solidFill>
                      <a:srgbClr val="111827"/>
                    </a:solidFill>
                    <a:latin typeface="Cambria Math" panose="02040503050406030204" pitchFamily="18" charset="0"/>
                  </a:rPr>
                  <a:t>$[-1,\infty)$</a:t>
                </a:r>
                <a:r>
                  <a:rPr sz="2400" b="0">
                    <a:solidFill>
                      <a:srgbClr val="111827"/>
                    </a:solidFill>
                    <a:latin typeface="Arial"/>
                  </a:rPr>
                  <a:t> is the Lambert </a:t>
                </a:r>
                <a:r>
                  <a:rPr lang="en-IN" sz="2400">
                    <a:solidFill>
                      <a:srgbClr val="111827"/>
                    </a:solidFill>
                    <a:latin typeface="Cambria Math" panose="02040503050406030204" pitchFamily="18" charset="0"/>
                  </a:rPr>
                  <a:t>$W$</a:t>
                </a:r>
                <a:r>
                  <a:rPr sz="2400" b="0">
                    <a:solidFill>
                      <a:srgbClr val="111827"/>
                    </a:solidFill>
                    <a:latin typeface="Arial"/>
                  </a:rPr>
                  <a:t>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range questions: locate the critical points, evaluate the limits at the ends, and use continuity (IVT) to fill the interval.</a:t>
                </a:r>
                <a:endParaRPr sz="2400">
                  <a:solidFill>
                    <a:srgbClr val="111827"/>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06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function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which has a derivative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every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which satisfies </a:t>
                </a:r>
                <a14:m>
                  <m:oMath xmlns:m="http://schemas.openxmlformats.org/officeDocument/2006/math">
                    <m:sSup>
                      <m:e>
                        <m:r>
                          <a:rPr lang="en-IN" sz="2400" i="1">
                            <a:solidFill>
                              <a:srgbClr val="111827"/>
                            </a:solidFill>
                            <a:latin typeface="Cambria Math" panose="02040503050406030204" pitchFamily="18" charset="0"/>
                          </a:rPr>
                          <m:t>𝑔</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𝑦</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 Does not exist</a:t>
                </a:r>
                <a:endParaRPr sz="2400">
                  <a:solidFill>
                    <a:srgbClr val="111827"/>
                  </a:solidFill>
                </a:endParaRPr>
              </a:p>
            </p:txBody>
          </p:sp>
        </mc:Choice>
        <mc:Fallback>
          <p:sp>
            <p:nvSpPr>
              <p:cNvPr id="4" name="Rounded Rectangle 3"/>
              <p:cNvSpPr/>
              <p:nvPr/>
            </p:nvSpPr>
            <p:spPr>
              <a:xfrm>
                <a:off x="731520" y="1280160"/>
                <a:ext cx="10725912" cy="2506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function </a:t>
                </a:r>
                <a:r>
                  <a:rPr lang="en-IN" sz="2400">
                    <a:solidFill>
                      <a:srgbClr val="111827"/>
                    </a:solidFill>
                    <a:latin typeface="Cambria Math" panose="02040503050406030204" pitchFamily="18" charset="0"/>
                  </a:rPr>
                  <a:t>$g$</a:t>
                </a:r>
                <a:r>
                  <a:rPr sz="2400" b="0">
                    <a:solidFill>
                      <a:srgbClr val="111827"/>
                    </a:solidFill>
                    <a:latin typeface="Arial"/>
                  </a:rPr>
                  <a:t> which has a derivative </a:t>
                </a:r>
                <a:r>
                  <a:rPr lang="en-IN" sz="2400">
                    <a:solidFill>
                      <a:srgbClr val="111827"/>
                    </a:solidFill>
                    <a:latin typeface="Cambria Math" panose="02040503050406030204" pitchFamily="18" charset="0"/>
                  </a:rPr>
                  <a:t>$g'(x)$</a:t>
                </a:r>
                <a:r>
                  <a:rPr sz="2400" b="0">
                    <a:solidFill>
                      <a:srgbClr val="111827"/>
                    </a:solidFill>
                    <a:latin typeface="Arial"/>
                  </a:rPr>
                  <a:t> for every real </a:t>
                </a:r>
                <a:r>
                  <a:rPr lang="en-IN" sz="2400">
                    <a:solidFill>
                      <a:srgbClr val="111827"/>
                    </a:solidFill>
                    <a:latin typeface="Cambria Math" panose="02040503050406030204" pitchFamily="18" charset="0"/>
                  </a:rPr>
                  <a:t>$x$</a:t>
                </a:r>
                <a:r>
                  <a:rPr sz="2400" b="0">
                    <a:solidFill>
                      <a:srgbClr val="111827"/>
                    </a:solidFill>
                    <a:latin typeface="Arial"/>
                  </a:rPr>
                  <a:t> and which satisfies </a:t>
                </a:r>
                <a:r>
                  <a:rPr lang="en-IN" sz="2400">
                    <a:solidFill>
                      <a:srgbClr val="111827"/>
                    </a:solidFill>
                    <a:latin typeface="Cambria Math" panose="02040503050406030204" pitchFamily="18" charset="0"/>
                  </a:rPr>
                  <a:t>$g'(0)=2$</a:t>
                </a:r>
                <a:r>
                  <a:rPr sz="2400" b="0">
                    <a:solidFill>
                      <a:srgbClr val="111827"/>
                    </a:solidFill>
                    <a:latin typeface="Arial"/>
                  </a:rPr>
                  <a:t> and </a:t>
                </a:r>
                <a:r>
                  <a:rPr lang="en-IN" sz="2400">
                    <a:solidFill>
                      <a:srgbClr val="111827"/>
                    </a:solidFill>
                    <a:latin typeface="Cambria Math" panose="02040503050406030204" pitchFamily="18" charset="0"/>
                  </a:rPr>
                  <a:t>$g(x+y)=e^yg(x)+e^xg(y)$</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$\lim_{x\to-\infty}g(x)$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a:t>
                </a:r>
                <a:r>
                  <a:rPr sz="2400" b="0">
                    <a:solidFill>
                      <a:srgbClr val="111827"/>
                    </a:solidFill>
                    <a:latin typeface="Arial"/>
                  </a:rPr>
                  <a:t>   (B) </a:t>
                </a:r>
                <a:r>
                  <a:rPr lang="en-IN" sz="2400">
                    <a:solidFill>
                      <a:srgbClr val="111827"/>
                    </a:solidFill>
                    <a:latin typeface="Cambria Math" panose="02040503050406030204" pitchFamily="18" charset="0"/>
                  </a:rPr>
                  <a:t>$1$</a:t>
                </a:r>
                <a:r>
                  <a:rPr sz="2400" b="0">
                    <a:solidFill>
                      <a:srgbClr val="111827"/>
                    </a:solidFill>
                    <a:latin typeface="Arial"/>
                  </a:rPr>
                  <a:t>   (C) </a:t>
                </a:r>
                <a:r>
                  <a:rPr lang="en-IN" sz="2400">
                    <a:solidFill>
                      <a:srgbClr val="111827"/>
                    </a:solidFill>
                    <a:latin typeface="Cambria Math" panose="02040503050406030204" pitchFamily="18" charset="0"/>
                  </a:rPr>
                  <a:t>$2$</a:t>
                </a:r>
                <a:r>
                  <a:rPr sz="2400" b="0">
                    <a:solidFill>
                      <a:srgbClr val="111827"/>
                    </a:solidFill>
                    <a:latin typeface="Arial"/>
                  </a:rPr>
                  <a:t>   (D) Does not exist</a:t>
                </a:r>
                <a:endParaRPr sz="2400">
                  <a:solidFill>
                    <a:srgbClr val="111827"/>
                  </a:solidFill>
                </a:endParaRPr>
              </a:p>
            </p:txBody>
          </p:sp>
        </mc:Fallback>
      </mc:AlternateContent>
      <p:sp>
        <p:nvSpPr>
          <p:cNvPr id="5" name="Rectangle 4"/>
          <p:cNvSpPr/>
          <p:nvPr/>
        </p:nvSpPr>
        <p:spPr>
          <a:xfrm>
            <a:off x="731520" y="4015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Limits at infinity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𝑔</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𝑥</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exponential decays faster than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grows.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$g(x)=2xe^x$</a:t>
                </a:r>
                <a:r>
                  <a:rPr sz="2400" b="0">
                    <a:solidFill>
                      <a:srgbClr val="78350F"/>
                    </a:solidFill>
                    <a:latin typeface="Arial"/>
                  </a:rPr>
                  <a:t> and </a:t>
                </a:r>
                <a:r>
                  <a:rPr lang="en-IN" sz="2400">
                    <a:solidFill>
                      <a:srgbClr val="78350F"/>
                    </a:solidFill>
                    <a:latin typeface="Cambria Math" panose="02040503050406030204" pitchFamily="18" charset="0"/>
                  </a:rPr>
                  <a:t>$x=-t$</a:t>
                </a:r>
                <a:r>
                  <a:rPr sz="2400" b="0">
                    <a:solidFill>
                      <a:srgbClr val="78350F"/>
                    </a:solidFill>
                    <a:latin typeface="Arial"/>
                  </a:rPr>
                  <a:t>, </a:t>
                </a:r>
                <a:r>
                  <a:rPr lang="en-IN" sz="2400">
                    <a:solidFill>
                      <a:srgbClr val="78350F"/>
                    </a:solidFill>
                    <a:latin typeface="Cambria Math" panose="02040503050406030204" pitchFamily="18" charset="0"/>
                  </a:rPr>
                  <a:t>$t\to\infty$</a:t>
                </a:r>
                <a:r>
                  <a:rPr sz="2400" b="0">
                    <a:solidFill>
                      <a:srgbClr val="78350F"/>
                    </a:solidFill>
                    <a:latin typeface="Arial"/>
                  </a:rPr>
                  <a:t>, the exponential decays faster than </a:t>
                </a:r>
                <a:r>
                  <a:rPr lang="en-IN" sz="2400">
                    <a:solidFill>
                      <a:srgbClr val="78350F"/>
                    </a:solidFill>
                    <a:latin typeface="Cambria Math" panose="02040503050406030204" pitchFamily="18" charset="0"/>
                  </a:rPr>
                  <a:t>$t$</a:t>
                </a:r>
                <a:r>
                  <a:rPr sz="2400" b="0">
                    <a:solidFill>
                      <a:srgbClr val="78350F"/>
                    </a:solidFill>
                    <a:latin typeface="Arial"/>
                  </a:rPr>
                  <a:t> grows.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25,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𝑡</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𝑡</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exponential dominates any power).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Answer (A).</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25, </a:t>
                </a:r>
                <a:r>
                  <a:rPr lang="en-IN" sz="2400">
                    <a:solidFill>
                      <a:srgbClr val="111827"/>
                    </a:solidFill>
                    <a:latin typeface="Cambria Math" panose="02040503050406030204" pitchFamily="18" charset="0"/>
                  </a:rPr>
                  <a:t>$g(x)=2xe^x$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$x=-t$</a:t>
                </a:r>
                <a:r>
                  <a:rPr sz="2400" b="0">
                    <a:solidFill>
                      <a:srgbClr val="111827"/>
                    </a:solidFill>
                    <a:latin typeface="Arial"/>
                  </a:rPr>
                  <a:t> with </a:t>
                </a:r>
                <a:r>
                  <a:rPr lang="en-IN" sz="2400">
                    <a:solidFill>
                      <a:srgbClr val="111827"/>
                    </a:solidFill>
                    <a:latin typeface="Cambria Math" panose="02040503050406030204" pitchFamily="18" charset="0"/>
                  </a:rPr>
                  <a:t>$t\to+\infty$</a:t>
                </a:r>
                <a:r>
                  <a:rPr sz="2400" b="0">
                    <a:solidFill>
                      <a:srgbClr val="111827"/>
                    </a:solidFill>
                    <a:latin typeface="Arial"/>
                  </a:rPr>
                  <a:t>: </a:t>
                </a:r>
                <a:r>
                  <a:rPr lang="en-IN" sz="2400">
                    <a:solidFill>
                      <a:srgbClr val="111827"/>
                    </a:solidFill>
                    <a:latin typeface="Cambria Math" panose="02040503050406030204" pitchFamily="18" charset="0"/>
                  </a:rPr>
                  <a:t>$g(x)=-\frac{2t}{e^{t}}$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$\lim_{t\to\infty}\frac{t}{e^t}=0$</a:t>
                </a:r>
                <a:r>
                  <a:rPr sz="2400" b="0">
                    <a:solidFill>
                      <a:srgbClr val="111827"/>
                    </a:solidFill>
                    <a:latin typeface="Arial"/>
                  </a:rPr>
                  <a:t> (the exponential dominates any power).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$\lim_{x\to-\infty}g(x)=0$</a:t>
                </a:r>
                <a:r>
                  <a:rPr sz="2400" b="0">
                    <a:solidFill>
                      <a:srgbClr val="111827"/>
                    </a:solidFill>
                    <a:latin typeface="Arial"/>
                  </a:rPr>
                  <a:t>. Answer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$0$</a:t>
                </a:r>
                <a:endParaRPr sz="2800">
                  <a:solidFill>
                    <a:srgbClr val="15803D"/>
                  </a:solidFill>
                </a:endParaRPr>
              </a:p>
            </p:txBody>
          </p:sp>
        </mc:Fallback>
      </mc:AlternateContent>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(exponential growth beats polynomial growth); hence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𝑛</m:t>
                        </m:r>
                      </m:sup>
                    </m:sSup>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𝑎</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horizontal asymptote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approached from below, since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$\lim_{x\to\infty}x^ne^{-x}=0$</a:t>
                </a:r>
                <a:r>
                  <a:rPr sz="2400" b="0">
                    <a:solidFill>
                      <a:srgbClr val="111827"/>
                    </a:solidFill>
                    <a:latin typeface="Arial"/>
                  </a:rPr>
                  <a:t> for every </a:t>
                </a:r>
                <a:r>
                  <a:rPr lang="en-IN" sz="2400">
                    <a:solidFill>
                      <a:srgbClr val="111827"/>
                    </a:solidFill>
                    <a:latin typeface="Cambria Math" panose="02040503050406030204" pitchFamily="18" charset="0"/>
                  </a:rPr>
                  <a:t>$n$</a:t>
                </a:r>
                <a:r>
                  <a:rPr sz="2400" b="0">
                    <a:solidFill>
                      <a:srgbClr val="111827"/>
                    </a:solidFill>
                    <a:latin typeface="Arial"/>
                  </a:rPr>
                  <a:t> (exponential growth beats polynomial growth); hence </a:t>
                </a:r>
                <a:r>
                  <a:rPr lang="en-IN" sz="2400">
                    <a:solidFill>
                      <a:srgbClr val="111827"/>
                    </a:solidFill>
                    <a:latin typeface="Cambria Math" panose="02040503050406030204" pitchFamily="18" charset="0"/>
                  </a:rPr>
                  <a:t>$\lim_{x\to-\infty}x^ne^{x}=0$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$\lim_{x\to\infty}\frac{\ln x}{x^a}=0$</a:t>
                </a:r>
                <a:r>
                  <a:rPr sz="2400" b="0">
                    <a:solidFill>
                      <a:srgbClr val="111827"/>
                    </a:solidFill>
                    <a:latin typeface="Arial"/>
                  </a:rPr>
                  <a:t> for </a:t>
                </a:r>
                <a:r>
                  <a:rPr lang="en-IN" sz="2400">
                    <a:solidFill>
                      <a:srgbClr val="111827"/>
                    </a:solidFill>
                    <a:latin typeface="Cambria Math" panose="02040503050406030204" pitchFamily="18" charset="0"/>
                  </a:rPr>
                  <a:t>$a&gt;0$</a:t>
                </a:r>
                <a:r>
                  <a:rPr sz="2400" b="0">
                    <a:solidFill>
                      <a:srgbClr val="111827"/>
                    </a:solidFill>
                    <a:latin typeface="Arial"/>
                  </a:rPr>
                  <a:t>, and </a:t>
                </a:r>
                <a:r>
                  <a:rPr lang="en-IN" sz="2400">
                    <a:solidFill>
                      <a:srgbClr val="111827"/>
                    </a:solidFill>
                    <a:latin typeface="Cambria Math" panose="02040503050406030204" pitchFamily="18" charset="0"/>
                  </a:rPr>
                  <a:t>$\lim_{x\to0^+}x^a\ln 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horizontal asymptote </a:t>
                </a:r>
                <a:r>
                  <a:rPr lang="en-IN" sz="2400">
                    <a:solidFill>
                      <a:srgbClr val="111827"/>
                    </a:solidFill>
                    <a:latin typeface="Cambria Math" panose="02040503050406030204" pitchFamily="18" charset="0"/>
                  </a:rPr>
                  <a:t>$y=0$</a:t>
                </a:r>
                <a:r>
                  <a:rPr sz="2400" b="0">
                    <a:solidFill>
                      <a:srgbClr val="111827"/>
                    </a:solidFill>
                    <a:latin typeface="Arial"/>
                  </a:rPr>
                  <a:t> of </a:t>
                </a:r>
                <a:r>
                  <a:rPr lang="en-IN" sz="2400">
                    <a:solidFill>
                      <a:srgbClr val="111827"/>
                    </a:solidFill>
                    <a:latin typeface="Cambria Math" panose="02040503050406030204" pitchFamily="18" charset="0"/>
                  </a:rPr>
                  <a:t>$xe^x$</a:t>
                </a:r>
                <a:r>
                  <a:rPr sz="2400" b="0">
                    <a:solidFill>
                      <a:srgbClr val="111827"/>
                    </a:solidFill>
                    <a:latin typeface="Arial"/>
                  </a:rPr>
                  <a:t> at </a:t>
                </a:r>
                <a:r>
                  <a:rPr lang="en-IN" sz="2400">
                    <a:solidFill>
                      <a:srgbClr val="111827"/>
                    </a:solidFill>
                    <a:latin typeface="Cambria Math" panose="02040503050406030204" pitchFamily="18" charset="0"/>
                  </a:rPr>
                  <a:t>$-\infty$</a:t>
                </a:r>
                <a:r>
                  <a:rPr sz="2400" b="0">
                    <a:solidFill>
                      <a:srgbClr val="111827"/>
                    </a:solidFill>
                    <a:latin typeface="Arial"/>
                  </a:rPr>
                  <a:t> is approached from below, since </a:t>
                </a:r>
                <a:r>
                  <a:rPr lang="en-IN" sz="2400">
                    <a:solidFill>
                      <a:srgbClr val="111827"/>
                    </a:solidFill>
                    <a:latin typeface="Cambria Math" panose="02040503050406030204" pitchFamily="18" charset="0"/>
                  </a:rPr>
                  <a:t>$xe^x&lt;0$</a:t>
                </a:r>
                <a:r>
                  <a:rPr sz="2400" b="0">
                    <a:solidFill>
                      <a:srgbClr val="111827"/>
                    </a:solidFill>
                    <a:latin typeface="Arial"/>
                  </a:rPr>
                  <a:t> for </a:t>
                </a:r>
                <a:r>
                  <a:rPr lang="en-IN" sz="2400">
                    <a:solidFill>
                      <a:srgbClr val="111827"/>
                    </a:solidFill>
                    <a:latin typeface="Cambria Math" panose="02040503050406030204" pitchFamily="18" charset="0"/>
                  </a:rPr>
                  <a:t>$x&lt;0$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98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m:rPr>
                            <m:scr m:val="double-struck"/>
                            <m:sty m:val="p"/>
                          </m:rPr>
                          <a:rPr lang="en-IN" sz="2400">
                            <a:solidFill>
                              <a:srgbClr val="111827"/>
                            </a:solidFill>
                            <a:latin typeface="Cambria Math" panose="02040503050406030204" pitchFamily="18" charset="0"/>
                          </a:rPr>
                          <m:t>R</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differentiable function satisfying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𝑒</m:t>
                            </m:r>
                          </m:den>
                        </m:f>
                      </m:e>
                    </m:d>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cr m:val="double-struck"/>
                            <m:sty m:val="p"/>
                          </m:rPr>
                          <a:rPr lang="en-IN" sz="2400">
                            <a:solidFill>
                              <a:srgbClr val="111827"/>
                            </a:solidFill>
                            <a:latin typeface="Cambria Math" panose="02040503050406030204" pitchFamily="18" charset="0"/>
                          </a:rPr>
                          <m:t>R</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the definite integral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3098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$f:\mathbb{R}^+\to\mathbb{R}$</a:t>
                </a:r>
                <a:r>
                  <a:rPr sz="2400" b="0">
                    <a:solidFill>
                      <a:srgbClr val="111827"/>
                    </a:solidFill>
                    <a:latin typeface="Arial"/>
                  </a:rPr>
                  <a:t> be a differentiable function satisfying </a:t>
                </a:r>
                <a:r>
                  <a:rPr lang="en-IN" sz="2400">
                    <a:solidFill>
                      <a:srgbClr val="111827"/>
                    </a:solidFill>
                    <a:latin typeface="Cambria Math" panose="02040503050406030204" pitchFamily="18" charset="0"/>
                  </a:rPr>
                  <a:t>$f(x)=e+(1-x)\ln\left(\frac xe\right)+\int_1^xf(t)\,dt$</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the definite integral </a:t>
                </a:r>
                <a:r>
                  <a:rPr lang="en-IN" sz="2400">
                    <a:solidFill>
                      <a:srgbClr val="111827"/>
                    </a:solidFill>
                    <a:latin typeface="Cambria Math" panose="02040503050406030204" pitchFamily="18" charset="0"/>
                  </a:rPr>
                  <a:t>$\int_0^1f(x)\,dx$</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$e$</a:t>
                </a:r>
                <a:r>
                  <a:rPr sz="2400" b="0">
                    <a:solidFill>
                      <a:srgbClr val="111827"/>
                    </a:solidFill>
                    <a:latin typeface="Arial"/>
                  </a:rPr>
                  <a:t>   (B) </a:t>
                </a:r>
                <a:r>
                  <a:rPr lang="en-IN" sz="2400">
                    <a:solidFill>
                      <a:srgbClr val="111827"/>
                    </a:solidFill>
                    <a:latin typeface="Cambria Math" panose="02040503050406030204" pitchFamily="18" charset="0"/>
                  </a:rPr>
                  <a:t>$e-2$</a:t>
                </a:r>
                <a:r>
                  <a:rPr sz="2400" b="0">
                    <a:solidFill>
                      <a:srgbClr val="111827"/>
                    </a:solidFill>
                    <a:latin typeface="Arial"/>
                  </a:rPr>
                  <a:t>   (C) </a:t>
                </a:r>
                <a:r>
                  <a:rPr lang="en-IN" sz="2400">
                    <a:solidFill>
                      <a:srgbClr val="111827"/>
                    </a:solidFill>
                    <a:latin typeface="Cambria Math" panose="02040503050406030204" pitchFamily="18" charset="0"/>
                  </a:rPr>
                  <a:t>$e+1$</a:t>
                </a:r>
                <a:r>
                  <a:rPr sz="2400" b="0">
                    <a:solidFill>
                      <a:srgbClr val="111827"/>
                    </a:solidFill>
                    <a:latin typeface="Arial"/>
                  </a:rPr>
                  <a:t>   (D) </a:t>
                </a:r>
                <a:r>
                  <a:rPr lang="en-IN" sz="2400">
                    <a:solidFill>
                      <a:srgbClr val="111827"/>
                    </a:solidFill>
                    <a:latin typeface="Cambria Math" panose="02040503050406030204" pitchFamily="18" charset="0"/>
                  </a:rPr>
                  <a:t>$\frac{e+1}{2}$</a:t>
                </a:r>
                <a:endParaRPr sz="2400">
                  <a:solidFill>
                    <a:srgbClr val="111827"/>
                  </a:solidFill>
                </a:endParaRPr>
              </a:p>
            </p:txBody>
          </p:sp>
        </mc:Fallback>
      </mc:AlternateContent>
      <p:sp>
        <p:nvSpPr>
          <p:cNvPr id="5" name="Rectangle 4"/>
          <p:cNvSpPr/>
          <p:nvPr/>
        </p:nvSpPr>
        <p:spPr>
          <a:xfrm>
            <a:off x="731520" y="460705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Leibniz rule for differentiation under the integral sign, Linear differential equation, Definite integration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Differentiating the integral equation gives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𝑥</m:t>
                    </m:r>
                  </m:oMath>
                </a14:m>
                <a:r>
                  <a:rPr sz="2400" b="0">
                    <a:solidFill>
                      <a:srgbClr val="78350F"/>
                    </a:solidFill>
                    <a:latin typeface="Arial"/>
                  </a:rPr>
                  <a:t>, a linear equation with solution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Differentiating the integral equation gives </a:t>
                </a:r>
                <a:r>
                  <a:rPr lang="en-IN" sz="2400">
                    <a:solidFill>
                      <a:srgbClr val="78350F"/>
                    </a:solidFill>
                    <a:latin typeface="Cambria Math" panose="02040503050406030204" pitchFamily="18" charset="0"/>
                  </a:rPr>
                  <a:t>$f'-f=\frac1x-\ln x$</a:t>
                </a:r>
                <a:r>
                  <a:rPr sz="2400" b="0">
                    <a:solidFill>
                      <a:srgbClr val="78350F"/>
                    </a:solidFill>
                    <a:latin typeface="Arial"/>
                  </a:rPr>
                  <a:t>, a linear equation with solution </a:t>
                </a:r>
                <a:r>
                  <a:rPr lang="en-IN" sz="2400">
                    <a:solidFill>
                      <a:srgbClr val="78350F"/>
                    </a:solidFill>
                    <a:latin typeface="Cambria Math" panose="02040503050406030204" pitchFamily="18" charset="0"/>
                  </a:rPr>
                  <a:t>$f=\ln x+e^x$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(Newton-Leibniz):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𝑒</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oMath>
                </a14:m>
                <a:r>
                  <a:rPr sz="2400" b="0">
                    <a:solidFill>
                      <a:srgbClr val="111827"/>
                    </a:solidFill>
                    <a:latin typeface="Arial"/>
                  </a:rPr>
                  <a:t> (linear), I.F.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e>
                    </m:d>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e>
                    </m:d>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(Newton-Leibniz): </a:t>
                </a:r>
                <a:r>
                  <a:rPr lang="en-IN" sz="2400">
                    <a:solidFill>
                      <a:srgbClr val="111827"/>
                    </a:solidFill>
                    <a:latin typeface="Cambria Math" panose="02040503050406030204" pitchFamily="18" charset="0"/>
                  </a:rPr>
                  <a:t>$f'(x)=0+(1-x)\frac1x+\ln\left(\frac xe\right)(-1)+f(x)$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$f'(x)=\frac1x-1-(\ln x-1)+f(x)$</a:t>
                </a:r>
                <a:r>
                  <a:rPr sz="2400" b="0">
                    <a:solidFill>
                      <a:srgbClr val="111827"/>
                    </a:solidFill>
                    <a:latin typeface="Arial"/>
                  </a:rPr>
                  <a:t>, so </a:t>
                </a:r>
                <a:r>
                  <a:rPr lang="en-IN" sz="2400">
                    <a:solidFill>
                      <a:srgbClr val="111827"/>
                    </a:solidFill>
                    <a:latin typeface="Cambria Math" panose="02040503050406030204" pitchFamily="18" charset="0"/>
                  </a:rPr>
                  <a:t>$f'(x)=\frac1x-\ln x+f(x)$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$y=f(x)$</a:t>
                </a:r>
                <a:r>
                  <a:rPr sz="2400" b="0">
                    <a:solidFill>
                      <a:srgbClr val="111827"/>
                    </a:solidFill>
                    <a:latin typeface="Arial"/>
                  </a:rPr>
                  <a:t>: </a:t>
                </a:r>
                <a:r>
                  <a:rPr lang="en-IN" sz="2400">
                    <a:solidFill>
                      <a:srgbClr val="111827"/>
                    </a:solidFill>
                    <a:latin typeface="Cambria Math" panose="02040503050406030204" pitchFamily="18" charset="0"/>
                  </a:rPr>
                  <a:t>$\frac{dy}{dx}-y=\frac1x-\ln x$</a:t>
                </a:r>
                <a:r>
                  <a:rPr sz="2400" b="0">
                    <a:solidFill>
                      <a:srgbClr val="111827"/>
                    </a:solidFill>
                    <a:latin typeface="Arial"/>
                  </a:rPr>
                  <a:t> (linear), I.F. </a:t>
                </a:r>
                <a:r>
                  <a:rPr lang="en-IN" sz="2400">
                    <a:solidFill>
                      <a:srgbClr val="111827"/>
                    </a:solidFill>
                    <a:latin typeface="Cambria Math" panose="02040503050406030204" pitchFamily="18" charset="0"/>
                  </a:rPr>
                  <a:t>$=e^{-x}$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$ye^{-x}=\int\left(\frac1x-\ln x\right)e^{-x}dx=e^{-x}\ln x+c$</a:t>
                </a:r>
                <a:r>
                  <a:rPr sz="2400" b="0">
                    <a:solidFill>
                      <a:srgbClr val="111827"/>
                    </a:solidFill>
                    <a:latin typeface="Arial"/>
                  </a:rPr>
                  <a:t> (since </a:t>
                </a:r>
                <a:r>
                  <a:rPr lang="en-IN" sz="2400">
                    <a:solidFill>
                      <a:srgbClr val="111827"/>
                    </a:solidFill>
                    <a:latin typeface="Cambria Math" panose="02040503050406030204" pitchFamily="18" charset="0"/>
                  </a:rPr>
                  <a:t>$\frac{d}{dx}\left(e^{-x}\ln x\right)=\left(\frac1x-\ln x\right)e^{-x}$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given equation gives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𝑦</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e>
                        </m:d>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Answer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the given equation gives </a:t>
                </a:r>
                <a:r>
                  <a:rPr lang="en-IN" sz="2400">
                    <a:solidFill>
                      <a:srgbClr val="111827"/>
                    </a:solidFill>
                    <a:latin typeface="Cambria Math" panose="02040503050406030204" pitchFamily="18" charset="0"/>
                  </a:rPr>
                  <a:t>$f(1)=e$</a:t>
                </a:r>
                <a:r>
                  <a:rPr sz="2400" b="0">
                    <a:solidFill>
                      <a:srgbClr val="111827"/>
                    </a:solidFill>
                    <a:latin typeface="Arial"/>
                  </a:rPr>
                  <a:t>: </a:t>
                </a:r>
                <a:r>
                  <a:rPr lang="en-IN" sz="2400">
                    <a:solidFill>
                      <a:srgbClr val="111827"/>
                    </a:solidFill>
                    <a:latin typeface="Cambria Math" panose="02040503050406030204" pitchFamily="18" charset="0"/>
                  </a:rPr>
                  <a:t>$e\cdot e^{-1}=0+c$</a:t>
                </a:r>
                <a:r>
                  <a:rPr sz="2400" b="0">
                    <a:solidFill>
                      <a:srgbClr val="111827"/>
                    </a:solidFill>
                    <a:latin typeface="Arial"/>
                  </a:rPr>
                  <a:t>, so </a:t>
                </a:r>
                <a:r>
                  <a:rPr lang="en-IN" sz="2400">
                    <a:solidFill>
                      <a:srgbClr val="111827"/>
                    </a:solidFill>
                    <a:latin typeface="Cambria Math" panose="02040503050406030204" pitchFamily="18" charset="0"/>
                  </a:rPr>
                  <a:t>$c=1$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$ye^{-x}=e^{-x}\ln x+1$</a:t>
                </a:r>
                <a:r>
                  <a:rPr sz="2400" b="0">
                    <a:solidFill>
                      <a:srgbClr val="111827"/>
                    </a:solidFill>
                    <a:latin typeface="Arial"/>
                  </a:rPr>
                  <a:t>, i.e. </a:t>
                </a:r>
                <a:r>
                  <a:rPr lang="en-IN" sz="2400">
                    <a:solidFill>
                      <a:srgbClr val="111827"/>
                    </a:solidFill>
                    <a:latin typeface="Cambria Math" panose="02040503050406030204" pitchFamily="18" charset="0"/>
                  </a:rPr>
                  <a:t>$f(x)=\ln x+e^x$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$\int_0^1(\ln x+e^x)\,dx=\left[x(\ln x-1)+e^x\right]_0^1$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$=(-1+e)-(0+1)=e-2$</a:t>
                </a:r>
                <a:r>
                  <a:rPr sz="2400" b="0">
                    <a:solidFill>
                      <a:srgbClr val="111827"/>
                    </a:solidFill>
                    <a:latin typeface="Arial"/>
                  </a:rPr>
                  <a:t>. Answer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𝑒</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$e-2$</a:t>
                </a:r>
                <a:endParaRPr sz="2800">
                  <a:solidFill>
                    <a:srgbClr val="15803D"/>
                  </a:solidFill>
                </a:endParaRPr>
              </a:p>
            </p:txBody>
          </p:sp>
        </mc:Fallback>
      </mc:AlternateContent>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Guess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ln</m:t>
                    </m:r>
                    <m:r>
                      <a:rPr lang="en-IN" sz="2400" i="1">
                        <a:solidFill>
                          <a:srgbClr val="78350F"/>
                        </a:solidFill>
                        <a:latin typeface="Cambria Math" panose="02040503050406030204" pitchFamily="18" charset="0"/>
                      </a:rPr>
                      <m:t>𝑥</m:t>
                    </m:r>
                  </m:oMath>
                </a14:m>
                <a:r>
                  <a:rPr sz="2400" b="0">
                    <a:solidFill>
                      <a:srgbClr val="78350F"/>
                    </a:solidFill>
                    <a:latin typeface="Arial"/>
                  </a:rPr>
                  <a:t>, verify it in the integral equation, and use uniqueness of the linear ODE with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Guess </a:t>
                </a:r>
                <a:r>
                  <a:rPr lang="en-IN" sz="2400">
                    <a:solidFill>
                      <a:srgbClr val="78350F"/>
                    </a:solidFill>
                    <a:latin typeface="Cambria Math" panose="02040503050406030204" pitchFamily="18" charset="0"/>
                  </a:rPr>
                  <a:t>$f=e^x+h(x)$</a:t>
                </a:r>
                <a:r>
                  <a:rPr sz="2400" b="0">
                    <a:solidFill>
                      <a:srgbClr val="78350F"/>
                    </a:solidFill>
                    <a:latin typeface="Arial"/>
                  </a:rPr>
                  <a:t> with </a:t>
                </a:r>
                <a:r>
                  <a:rPr lang="en-IN" sz="2400">
                    <a:solidFill>
                      <a:srgbClr val="78350F"/>
                    </a:solidFill>
                    <a:latin typeface="Cambria Math" panose="02040503050406030204" pitchFamily="18" charset="0"/>
                  </a:rPr>
                  <a:t>$h=\ln x$</a:t>
                </a:r>
                <a:r>
                  <a:rPr sz="2400" b="0">
                    <a:solidFill>
                      <a:srgbClr val="78350F"/>
                    </a:solidFill>
                    <a:latin typeface="Arial"/>
                  </a:rPr>
                  <a:t>, verify it in the integral equation, and use uniqueness of the linear ODE with </a:t>
                </a:r>
                <a:r>
                  <a:rPr lang="en-IN" sz="2400">
                    <a:solidFill>
                      <a:srgbClr val="78350F"/>
                    </a:solidFill>
                    <a:latin typeface="Cambria Math" panose="02040503050406030204" pitchFamily="18" charset="0"/>
                  </a:rPr>
                  <a:t>$f(1)=e$</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the given equation gives a linear first-order equation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its solution is unique.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equation: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𝑡</m:t>
                                </m:r>
                              </m:sup>
                            </m:sSup>
                          </m:e>
                        </m:d>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𝑥</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Differentiating the given equation gives a linear first-order equation </a:t>
                </a:r>
                <a:r>
                  <a:rPr lang="en-IN" sz="2400">
                    <a:solidFill>
                      <a:srgbClr val="111827"/>
                    </a:solidFill>
                    <a:latin typeface="Cambria Math" panose="02040503050406030204" pitchFamily="18" charset="0"/>
                  </a:rPr>
                  <a:t>$f'-f=\frac1x-\ln x$</a:t>
                </a:r>
                <a:r>
                  <a:rPr sz="2400" b="0">
                    <a:solidFill>
                      <a:srgbClr val="111827"/>
                    </a:solidFill>
                    <a:latin typeface="Arial"/>
                  </a:rPr>
                  <a:t> with </a:t>
                </a:r>
                <a:r>
                  <a:rPr lang="en-IN" sz="2400">
                    <a:solidFill>
                      <a:srgbClr val="111827"/>
                    </a:solidFill>
                    <a:latin typeface="Cambria Math" panose="02040503050406030204" pitchFamily="18" charset="0"/>
                  </a:rPr>
                  <a:t>$f(1)=e$</a:t>
                </a:r>
                <a:r>
                  <a:rPr sz="2400" b="0">
                    <a:solidFill>
                      <a:srgbClr val="111827"/>
                    </a:solidFill>
                    <a:latin typeface="Arial"/>
                  </a:rPr>
                  <a:t> (from </a:t>
                </a:r>
                <a:r>
                  <a:rPr lang="en-IN" sz="2400">
                    <a:solidFill>
                      <a:srgbClr val="111827"/>
                    </a:solidFill>
                    <a:latin typeface="Cambria Math" panose="02040503050406030204" pitchFamily="18" charset="0"/>
                  </a:rPr>
                  <a:t>$x=1$</a:t>
                </a:r>
                <a:r>
                  <a:rPr sz="2400" b="0">
                    <a:solidFill>
                      <a:srgbClr val="111827"/>
                    </a:solidFill>
                    <a:latin typeface="Arial"/>
                  </a:rPr>
                  <a:t>), so its solution is unique.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Try </a:t>
                </a:r>
                <a:r>
                  <a:rPr lang="en-IN" sz="2400">
                    <a:solidFill>
                      <a:srgbClr val="111827"/>
                    </a:solidFill>
                    <a:latin typeface="Cambria Math" panose="02040503050406030204" pitchFamily="18" charset="0"/>
                  </a:rPr>
                  <a:t>$f=\ln x+e^x$</a:t>
                </a:r>
                <a:r>
                  <a:rPr sz="2400" b="0">
                    <a:solidFill>
                      <a:srgbClr val="111827"/>
                    </a:solidFill>
                    <a:latin typeface="Arial"/>
                  </a:rPr>
                  <a:t>: </a:t>
                </a:r>
                <a:r>
                  <a:rPr lang="en-IN" sz="2400">
                    <a:solidFill>
                      <a:srgbClr val="111827"/>
                    </a:solidFill>
                    <a:latin typeface="Cambria Math" panose="02040503050406030204" pitchFamily="18" charset="0"/>
                  </a:rPr>
                  <a:t>$f(1)=0+e=e$</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the equation: </a:t>
                </a:r>
                <a:r>
                  <a:rPr lang="en-IN" sz="2400">
                    <a:solidFill>
                      <a:srgbClr val="111827"/>
                    </a:solidFill>
                    <a:latin typeface="Cambria Math" panose="02040503050406030204" pitchFamily="18" charset="0"/>
                  </a:rPr>
                  <a:t>$\int_1^xf(t)\,dt=\left[t\ln t-t+e^t\right]_1^x=x\ln x-x+e^x-e+1$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side: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after expanding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cancelling, which equals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uniqueness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and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sSub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e>
                        </m:d>
                      </m:e>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side: </a:t>
                </a:r>
                <a:r>
                  <a:rPr lang="en-IN" sz="2400">
                    <a:solidFill>
                      <a:srgbClr val="111827"/>
                    </a:solidFill>
                    <a:latin typeface="Cambria Math" panose="02040503050406030204" pitchFamily="18" charset="0"/>
                  </a:rPr>
                  <a:t>$e+(1-x)(\ln x-1)+x\ln x-x+e^x-e+1=\ln x+e^x$</a:t>
                </a:r>
                <a:r>
                  <a:rPr sz="2400" b="0">
                    <a:solidFill>
                      <a:srgbClr val="111827"/>
                    </a:solidFill>
                    <a:latin typeface="Arial"/>
                  </a:rPr>
                  <a:t> after expanding </a:t>
                </a:r>
                <a:r>
                  <a:rPr lang="en-IN" sz="2400">
                    <a:solidFill>
                      <a:srgbClr val="111827"/>
                    </a:solidFill>
                    <a:latin typeface="Cambria Math" panose="02040503050406030204" pitchFamily="18" charset="0"/>
                  </a:rPr>
                  <a:t>$(1-x)(\ln x-1)=\ln x-1-x\ln x+x$</a:t>
                </a:r>
                <a:r>
                  <a:rPr sz="2400" b="0">
                    <a:solidFill>
                      <a:srgbClr val="111827"/>
                    </a:solidFill>
                    <a:latin typeface="Arial"/>
                  </a:rPr>
                  <a:t> and cancelling, which equals </a:t>
                </a:r>
                <a:r>
                  <a:rPr lang="en-IN" sz="2400">
                    <a:solidFill>
                      <a:srgbClr val="111827"/>
                    </a:solidFill>
                    <a:latin typeface="Cambria Math" panose="02040503050406030204" pitchFamily="18" charset="0"/>
                  </a:rPr>
                  <a:t>$f(x)$</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uniqueness </a:t>
                </a:r>
                <a:r>
                  <a:rPr lang="en-IN" sz="2400">
                    <a:solidFill>
                      <a:srgbClr val="111827"/>
                    </a:solidFill>
                    <a:latin typeface="Cambria Math" panose="02040503050406030204" pitchFamily="18" charset="0"/>
                  </a:rPr>
                  <a:t>$f(x)=\ln x+e^x$</a:t>
                </a:r>
                <a:r>
                  <a:rPr sz="2400" b="0">
                    <a:solidFill>
                      <a:srgbClr val="111827"/>
                    </a:solidFill>
                    <a:latin typeface="Arial"/>
                  </a:rPr>
                  <a:t>, and </a:t>
                </a:r>
                <a:r>
                  <a:rPr lang="en-IN" sz="2400">
                    <a:solidFill>
                      <a:srgbClr val="111827"/>
                    </a:solidFill>
                    <a:latin typeface="Cambria Math" panose="02040503050406030204" pitchFamily="18" charset="0"/>
                  </a:rPr>
                  <a:t>$\int_0^1f=\left[x\ln x-x+e^x\right]_0^1=(-1+e)-1=e-2$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𝑒</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$e-2$</a:t>
                </a:r>
                <a:endParaRPr sz="2800">
                  <a:solidFill>
                    <a:srgbClr val="15803D"/>
                  </a:solidFill>
                </a:endParaRPr>
              </a:p>
            </p:txBody>
          </p:sp>
        </mc:Fallback>
      </mc:AlternateContent>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Leibniz: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b>
                      <m:sup>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up>
                      <m:e>
                        <m:r>
                          <a:rPr lang="en-IN" sz="2400" i="1">
                            <a:solidFill>
                              <a:srgbClr val="111827"/>
                            </a:solidFill>
                            <a:latin typeface="Cambria Math" panose="02040503050406030204" pitchFamily="18" charset="0"/>
                          </a:rPr>
                          <m:t>𝐹</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integral equations with variable upper limits become differential equations after one differentiation, with the initial value read from the lower limit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e>
                    </m:d>
                  </m:oMath>
                </a14:m>
                <a:r>
                  <a:rPr sz="2400" b="0">
                    <a:solidFill>
                      <a:srgbClr val="111827"/>
                    </a:solidFill>
                    <a:latin typeface="Arial"/>
                  </a:rPr>
                  <a:t>: spotting such exact forms avoids integrating by parts.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
                          <m:rPr>
                            <m:sty m:val="p"/>
                          </m:rPr>
                          <a:rPr lang="en-IN" sz="2400">
                            <a:solidFill>
                              <a:srgbClr val="111827"/>
                            </a:solidFill>
                            <a:latin typeface="Cambria Math" panose="02040503050406030204" pitchFamily="18" charset="0"/>
                          </a:rPr>
                          <m:t>ln</m:t>
                        </m:r>
                      </m:e>
                    </m:nary>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(convergent improper integral).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Leibniz: </a:t>
                </a:r>
                <a:r>
                  <a:rPr lang="en-IN" sz="2400">
                    <a:solidFill>
                      <a:srgbClr val="111827"/>
                    </a:solidFill>
                    <a:latin typeface="Cambria Math" panose="02040503050406030204" pitchFamily="18" charset="0"/>
                  </a:rPr>
                  <a:t>$\frac{d}{dx}\int_{a}^{x}f(t)\,dt=f(x)$</a:t>
                </a:r>
                <a:r>
                  <a:rPr sz="2400" b="0">
                    <a:solidFill>
                      <a:srgbClr val="111827"/>
                    </a:solidFill>
                    <a:latin typeface="Arial"/>
                  </a:rPr>
                  <a:t> and </a:t>
                </a:r>
                <a:r>
                  <a:rPr lang="en-IN" sz="2400">
                    <a:solidFill>
                      <a:srgbClr val="111827"/>
                    </a:solidFill>
                    <a:latin typeface="Cambria Math" panose="02040503050406030204" pitchFamily="18" charset="0"/>
                  </a:rPr>
                  <a:t>$\frac{d}{dx}\int_{\alpha(x)}^{\beta(x)}F=F(\beta)\beta'-F(\alpha)\alpha'$</a:t>
                </a:r>
                <a:r>
                  <a:rPr sz="2400" b="0">
                    <a:solidFill>
                      <a:srgbClr val="111827"/>
                    </a:solidFill>
                    <a:latin typeface="Arial"/>
                  </a:rPr>
                  <a:t>; integral equations with variable upper limits become differential equations after one differentiation, with the initial value read from the lower limit (</a:t>
                </a:r>
                <a:r>
                  <a:rPr lang="en-IN" sz="2400">
                    <a:solidFill>
                      <a:srgbClr val="111827"/>
                    </a:solidFill>
                    <a:latin typeface="Cambria Math" panose="02040503050406030204" pitchFamily="18" charset="0"/>
                  </a:rPr>
                  <a:t>$x=1$</a:t>
                </a:r>
                <a:r>
                  <a:rPr sz="2400" b="0">
                    <a:solidFill>
                      <a:srgbClr val="111827"/>
                    </a:solidFill>
                    <a:latin typeface="Arial"/>
                  </a:rPr>
                  <a:t> 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$\frac{d}{dx}\left(e^{-x}\ln x\right)=e^{-x}\left(\frac1x-\ln x\right)$</a:t>
                </a:r>
                <a:r>
                  <a:rPr sz="2400" b="0">
                    <a:solidFill>
                      <a:srgbClr val="111827"/>
                    </a:solidFill>
                    <a:latin typeface="Arial"/>
                  </a:rPr>
                  <a:t>: spotting such exact forms avoids integrating by parts.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$\int\ln x\,dx=x\ln x-x+C$</a:t>
                </a:r>
                <a:r>
                  <a:rPr sz="2400" b="0">
                    <a:solidFill>
                      <a:srgbClr val="111827"/>
                    </a:solidFill>
                    <a:latin typeface="Arial"/>
                  </a:rPr>
                  <a:t>, and </a:t>
                </a:r>
                <a:r>
                  <a:rPr lang="en-IN" sz="2400">
                    <a:solidFill>
                      <a:srgbClr val="111827"/>
                    </a:solidFill>
                    <a:latin typeface="Cambria Math" panose="02040503050406030204" pitchFamily="18" charset="0"/>
                  </a:rPr>
                  <a:t>$\lim_{x\to0^+}x\ln x=0$</a:t>
                </a:r>
                <a:r>
                  <a:rPr sz="2400" b="0">
                    <a:solidFill>
                      <a:srgbClr val="111827"/>
                    </a:solidFill>
                    <a:latin typeface="Arial"/>
                  </a:rPr>
                  <a:t> so </a:t>
                </a:r>
                <a:r>
                  <a:rPr lang="en-IN" sz="2400">
                    <a:solidFill>
                      <a:srgbClr val="111827"/>
                    </a:solidFill>
                    <a:latin typeface="Cambria Math" panose="02040503050406030204" pitchFamily="18" charset="0"/>
                  </a:rPr>
                  <a:t>$\int_0^1\ln x\,dx=-1$</a:t>
                </a:r>
                <a:r>
                  <a:rPr sz="2400" b="0">
                    <a:solidFill>
                      <a:srgbClr val="111827"/>
                    </a:solidFill>
                    <a:latin typeface="Arial"/>
                  </a:rPr>
                  <a:t> (convergent improper integral).</a:t>
                </a:r>
                <a:endParaRPr sz="2400">
                  <a:solidFill>
                    <a:srgbClr val="111827"/>
                  </a:solidFill>
                </a:endParaRPr>
              </a:p>
            </p:txBody>
          </p:sp>
        </mc:Fallback>
      </mc:AlternateContent>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264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m:rPr>
                            <m:scr m:val="double-struck"/>
                            <m:sty m:val="p"/>
                          </m:rPr>
                          <a:rPr lang="en-IN" sz="2400">
                            <a:solidFill>
                              <a:srgbClr val="111827"/>
                            </a:solidFill>
                            <a:latin typeface="Cambria Math" panose="02040503050406030204" pitchFamily="18" charset="0"/>
                          </a:rPr>
                          <m:t>R</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differentiable function satisfying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𝑒</m:t>
                            </m:r>
                          </m:den>
                        </m:f>
                      </m:e>
                    </m:d>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cr m:val="double-struck"/>
                            <m:sty m:val="p"/>
                          </m:rPr>
                          <a:rPr lang="en-IN" sz="2400">
                            <a:solidFill>
                              <a:srgbClr val="111827"/>
                            </a:solidFill>
                            <a:latin typeface="Cambria Math" panose="02040503050406030204" pitchFamily="18" charset="0"/>
                          </a:rPr>
                          <m:t>R</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-intercept of the normal drawn to the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the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crosses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27264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$f:\mathbb{R}^+\to\mathbb{R}$</a:t>
                </a:r>
                <a:r>
                  <a:rPr sz="2400" b="0">
                    <a:solidFill>
                      <a:srgbClr val="111827"/>
                    </a:solidFill>
                    <a:latin typeface="Arial"/>
                  </a:rPr>
                  <a:t> be a differentiable function satisfying </a:t>
                </a:r>
                <a:r>
                  <a:rPr lang="en-IN" sz="2400">
                    <a:solidFill>
                      <a:srgbClr val="111827"/>
                    </a:solidFill>
                    <a:latin typeface="Cambria Math" panose="02040503050406030204" pitchFamily="18" charset="0"/>
                  </a:rPr>
                  <a:t>$f(x)=e+(1-x)\ln\left(\frac xe\right)+\int_1^xf(t)\,dt$</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$x$</a:t>
                </a:r>
                <a:r>
                  <a:rPr sz="2400" b="0">
                    <a:solidFill>
                      <a:srgbClr val="111827"/>
                    </a:solidFill>
                    <a:latin typeface="Arial"/>
                  </a:rPr>
                  <a:t>-intercept of the normal drawn to the curve </a:t>
                </a:r>
                <a:r>
                  <a:rPr lang="en-IN" sz="2400">
                    <a:solidFill>
                      <a:srgbClr val="111827"/>
                    </a:solidFill>
                    <a:latin typeface="Cambria Math" panose="02040503050406030204" pitchFamily="18" charset="0"/>
                  </a:rPr>
                  <a:t>$y=f(x)$</a:t>
                </a:r>
                <a:r>
                  <a:rPr sz="2400" b="0">
                    <a:solidFill>
                      <a:srgbClr val="111827"/>
                    </a:solidFill>
                    <a:latin typeface="Arial"/>
                  </a:rPr>
                  <a:t> at the point </a:t>
                </a:r>
                <a:r>
                  <a:rPr lang="en-IN" sz="2400">
                    <a:solidFill>
                      <a:srgbClr val="111827"/>
                    </a:solidFill>
                    <a:latin typeface="Cambria Math" panose="02040503050406030204" pitchFamily="18" charset="0"/>
                  </a:rPr>
                  <a:t>$P$</a:t>
                </a:r>
                <a:r>
                  <a:rPr sz="2400" b="0">
                    <a:solidFill>
                      <a:srgbClr val="111827"/>
                    </a:solidFill>
                    <a:latin typeface="Arial"/>
                  </a:rPr>
                  <a:t> where </a:t>
                </a:r>
                <a:r>
                  <a:rPr lang="en-IN" sz="2400">
                    <a:solidFill>
                      <a:srgbClr val="111827"/>
                    </a:solidFill>
                    <a:latin typeface="Cambria Math" panose="02040503050406030204" pitchFamily="18" charset="0"/>
                  </a:rPr>
                  <a:t>$y=f(x)$</a:t>
                </a:r>
                <a:r>
                  <a:rPr sz="2400" b="0">
                    <a:solidFill>
                      <a:srgbClr val="111827"/>
                    </a:solidFill>
                    <a:latin typeface="Arial"/>
                  </a:rPr>
                  <a:t> crosses the line </a:t>
                </a:r>
                <a:r>
                  <a:rPr lang="en-IN" sz="2400">
                    <a:solidFill>
                      <a:srgbClr val="111827"/>
                    </a:solidFill>
                    <a:latin typeface="Cambria Math" panose="02040503050406030204" pitchFamily="18" charset="0"/>
                  </a:rPr>
                  <a:t>$x=1$</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$e^2+e-1$</a:t>
                </a:r>
                <a:r>
                  <a:rPr sz="2400" b="0">
                    <a:solidFill>
                      <a:srgbClr val="111827"/>
                    </a:solidFill>
                    <a:latin typeface="Arial"/>
                  </a:rPr>
                  <a:t>   (B) </a:t>
                </a:r>
                <a:r>
                  <a:rPr lang="en-IN" sz="2400">
                    <a:solidFill>
                      <a:srgbClr val="111827"/>
                    </a:solidFill>
                    <a:latin typeface="Cambria Math" panose="02040503050406030204" pitchFamily="18" charset="0"/>
                  </a:rPr>
                  <a:t>$\frac{e^2+e+1}{e+1}$</a:t>
                </a:r>
                <a:r>
                  <a:rPr sz="2400" b="0">
                    <a:solidFill>
                      <a:srgbClr val="111827"/>
                    </a:solidFill>
                    <a:latin typeface="Arial"/>
                  </a:rPr>
                  <a:t>   (C) </a:t>
                </a:r>
                <a:r>
                  <a:rPr lang="en-IN" sz="2400">
                    <a:solidFill>
                      <a:srgbClr val="111827"/>
                    </a:solidFill>
                    <a:latin typeface="Cambria Math" panose="02040503050406030204" pitchFamily="18" charset="0"/>
                  </a:rPr>
                  <a:t>$\frac{e^2-e+1}{e+1}$</a:t>
                </a:r>
                <a:r>
                  <a:rPr sz="2400" b="0">
                    <a:solidFill>
                      <a:srgbClr val="111827"/>
                    </a:solidFill>
                    <a:latin typeface="Arial"/>
                  </a:rPr>
                  <a:t>   (D) </a:t>
                </a:r>
                <a:r>
                  <a:rPr lang="en-IN" sz="2400">
                    <a:solidFill>
                      <a:srgbClr val="111827"/>
                    </a:solidFill>
                    <a:latin typeface="Cambria Math" panose="02040503050406030204" pitchFamily="18" charset="0"/>
                  </a:rPr>
                  <a:t>$e^2+e+1$</a:t>
                </a:r>
                <a:endParaRPr sz="2400">
                  <a:solidFill>
                    <a:srgbClr val="111827"/>
                  </a:solidFill>
                </a:endParaRPr>
              </a:p>
            </p:txBody>
          </p:sp>
        </mc:Fallback>
      </mc:AlternateContent>
      <p:sp>
        <p:nvSpPr>
          <p:cNvPr id="5" name="Rectangle 4"/>
          <p:cNvSpPr/>
          <p:nvPr/>
        </p:nvSpPr>
        <p:spPr>
          <a:xfrm>
            <a:off x="731520" y="4235195"/>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and normal to a curve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slope of the tangent is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oMath>
                </a14:m>
                <a:r>
                  <a:rPr sz="2400" b="0">
                    <a:solidFill>
                      <a:srgbClr val="78350F"/>
                    </a:solidFill>
                    <a:latin typeface="Arial"/>
                  </a:rPr>
                  <a:t>, so the normal has slope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𝑒</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a:t>
                </a:r>
                <a:r>
                  <a:rPr lang="en-IN" sz="2400">
                    <a:solidFill>
                      <a:srgbClr val="78350F"/>
                    </a:solidFill>
                    <a:latin typeface="Cambria Math" panose="02040503050406030204" pitchFamily="18" charset="0"/>
                  </a:rPr>
                  <a:t>$P(1,e)$</a:t>
                </a:r>
                <a:r>
                  <a:rPr sz="2400" b="0">
                    <a:solidFill>
                      <a:srgbClr val="78350F"/>
                    </a:solidFill>
                    <a:latin typeface="Arial"/>
                  </a:rPr>
                  <a:t> the slope of the tangent is </a:t>
                </a:r>
                <a:r>
                  <a:rPr lang="en-IN" sz="2400">
                    <a:solidFill>
                      <a:srgbClr val="78350F"/>
                    </a:solidFill>
                    <a:latin typeface="Cambria Math" panose="02040503050406030204" pitchFamily="18" charset="0"/>
                  </a:rPr>
                  <a:t>$f'(1)=1+e$</a:t>
                </a:r>
                <a:r>
                  <a:rPr sz="2400" b="0">
                    <a:solidFill>
                      <a:srgbClr val="78350F"/>
                    </a:solidFill>
                    <a:latin typeface="Arial"/>
                  </a:rPr>
                  <a:t>, so the normal has slope </a:t>
                </a:r>
                <a:r>
                  <a:rPr lang="en-IN" sz="2400">
                    <a:solidFill>
                      <a:srgbClr val="78350F"/>
                    </a:solidFill>
                    <a:latin typeface="Cambria Math" panose="02040503050406030204" pitchFamily="18" charset="0"/>
                  </a:rPr>
                  <a:t>$-\frac{1}{1+e}$</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28,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𝑇</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sSub>
                      <m:e>
                        <m:r>
                          <m:rPr>
                            <m:sty m:val="p"/>
                          </m:rPr>
                          <a:rPr lang="en-IN" sz="2400">
                            <a:solidFill>
                              <a:srgbClr val="111827"/>
                            </a:solidFill>
                            <a:latin typeface="Cambria Math" panose="02040503050406030204" pitchFamily="18" charset="0"/>
                          </a:rPr>
                          <m:t>|</m:t>
                        </m:r>
                      </m:e>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the normal: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𝑁</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28, </a:t>
                </a:r>
                <a:r>
                  <a:rPr lang="en-IN" sz="2400">
                    <a:solidFill>
                      <a:srgbClr val="111827"/>
                    </a:solidFill>
                    <a:latin typeface="Cambria Math" panose="02040503050406030204" pitchFamily="18" charset="0"/>
                  </a:rPr>
                  <a:t>$f(x)=\ln x+e^x$</a:t>
                </a:r>
                <a:r>
                  <a:rPr sz="2400" b="0">
                    <a:solidFill>
                      <a:srgbClr val="111827"/>
                    </a:solidFill>
                    <a:latin typeface="Arial"/>
                  </a:rPr>
                  <a:t>, so </a:t>
                </a:r>
                <a:r>
                  <a:rPr lang="en-IN" sz="2400">
                    <a:solidFill>
                      <a:srgbClr val="111827"/>
                    </a:solidFill>
                    <a:latin typeface="Cambria Math" panose="02040503050406030204" pitchFamily="18" charset="0"/>
                  </a:rPr>
                  <a:t>$f(1)=e$</a:t>
                </a:r>
                <a:r>
                  <a:rPr sz="2400" b="0">
                    <a:solidFill>
                      <a:srgbClr val="111827"/>
                    </a:solidFill>
                    <a:latin typeface="Arial"/>
                  </a:rPr>
                  <a:t> and </a:t>
                </a:r>
                <a:r>
                  <a:rPr lang="en-IN" sz="2400">
                    <a:solidFill>
                      <a:srgbClr val="111827"/>
                    </a:solidFill>
                    <a:latin typeface="Cambria Math" panose="02040503050406030204" pitchFamily="18" charset="0"/>
                  </a:rPr>
                  <a:t>$P=(1,e)$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$\frac{dy}{dx}=\frac1x+e^x$</a:t>
                </a:r>
                <a:r>
                  <a:rPr sz="2400" b="0">
                    <a:solidFill>
                      <a:srgbClr val="111827"/>
                    </a:solidFill>
                    <a:latin typeface="Arial"/>
                  </a:rPr>
                  <a:t>, so </a:t>
                </a:r>
                <a:r>
                  <a:rPr lang="en-IN" sz="2400">
                    <a:solidFill>
                      <a:srgbClr val="111827"/>
                    </a:solidFill>
                    <a:latin typeface="Cambria Math" panose="02040503050406030204" pitchFamily="18" charset="0"/>
                  </a:rPr>
                  <a:t>$m_T=\frac{dy}{dx}\Big|_{(1,e)}=1+e$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the normal: </a:t>
                </a:r>
                <a:r>
                  <a:rPr lang="en-IN" sz="2400">
                    <a:solidFill>
                      <a:srgbClr val="111827"/>
                    </a:solidFill>
                    <a:latin typeface="Cambria Math" panose="02040503050406030204" pitchFamily="18" charset="0"/>
                  </a:rPr>
                  <a:t>$m_N=-\frac{1}{1+e}$</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Equation of the normal: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-intercept put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Answer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Equation of the normal: </a:t>
                </a:r>
                <a:r>
                  <a:rPr lang="en-IN" sz="2400">
                    <a:solidFill>
                      <a:srgbClr val="111827"/>
                    </a:solidFill>
                    <a:latin typeface="Cambria Math" panose="02040503050406030204" pitchFamily="18" charset="0"/>
                  </a:rPr>
                  <a:t>$y-e=-\frac{1}{1+e}(x-1)$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a:t>
                </a:r>
                <a:r>
                  <a:rPr lang="en-IN" sz="2400">
                    <a:solidFill>
                      <a:srgbClr val="111827"/>
                    </a:solidFill>
                    <a:latin typeface="Cambria Math" panose="02040503050406030204" pitchFamily="18" charset="0"/>
                  </a:rPr>
                  <a:t>$x$</a:t>
                </a:r>
                <a:r>
                  <a:rPr sz="2400" b="0">
                    <a:solidFill>
                      <a:srgbClr val="111827"/>
                    </a:solidFill>
                    <a:latin typeface="Arial"/>
                  </a:rPr>
                  <a:t>-intercept put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$-e=-\frac{x-1}{1+e}$</a:t>
                </a:r>
                <a:r>
                  <a:rPr sz="2400" b="0">
                    <a:solidFill>
                      <a:srgbClr val="111827"/>
                    </a:solidFill>
                    <a:latin typeface="Arial"/>
                  </a:rPr>
                  <a:t>, so </a:t>
                </a:r>
                <a:r>
                  <a:rPr lang="en-IN" sz="2400">
                    <a:solidFill>
                      <a:srgbClr val="111827"/>
                    </a:solidFill>
                    <a:latin typeface="Cambria Math" panose="02040503050406030204" pitchFamily="18" charset="0"/>
                  </a:rPr>
                  <a:t>$x-1=e(1+e)$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$x=e^2+e+1$</a:t>
                </a:r>
                <a:r>
                  <a:rPr sz="2400" b="0">
                    <a:solidFill>
                      <a:srgbClr val="111827"/>
                    </a:solidFill>
                    <a:latin typeface="Arial"/>
                  </a:rPr>
                  <a:t>. Answer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𝑒</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$e^2+e+1$</a:t>
                </a:r>
                <a:endParaRPr sz="2800">
                  <a:solidFill>
                    <a:srgbClr val="15803D"/>
                  </a:solidFill>
                </a:endParaRPr>
              </a:p>
            </p:txBody>
          </p:sp>
        </mc:Fallback>
      </mc:AlternateContent>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standard formula: the normal meets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-axis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den>
                    </m:f>
                  </m:oMath>
                </a14:m>
                <a:r>
                  <a:rPr sz="2400" b="0">
                    <a:solidFill>
                      <a:srgbClr val="78350F"/>
                    </a:solidFill>
                    <a:latin typeface="Arial"/>
                  </a:rPr>
                  <a:t> (subnormal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standard formula: the normal meets the </a:t>
                </a:r>
                <a:r>
                  <a:rPr lang="en-IN" sz="2400">
                    <a:solidFill>
                      <a:srgbClr val="78350F"/>
                    </a:solidFill>
                    <a:latin typeface="Cambria Math" panose="02040503050406030204" pitchFamily="18" charset="0"/>
                  </a:rPr>
                  <a:t>$x$</a:t>
                </a:r>
                <a:r>
                  <a:rPr sz="2400" b="0">
                    <a:solidFill>
                      <a:srgbClr val="78350F"/>
                    </a:solidFill>
                    <a:latin typeface="Arial"/>
                  </a:rPr>
                  <a:t>-axis at </a:t>
                </a:r>
                <a:r>
                  <a:rPr lang="en-IN" sz="2400">
                    <a:solidFill>
                      <a:srgbClr val="78350F"/>
                    </a:solidFill>
                    <a:latin typeface="Cambria Math" panose="02040503050406030204" pitchFamily="18" charset="0"/>
                  </a:rPr>
                  <a:t>$x+y\frac{dy}{dx}$</a:t>
                </a:r>
                <a:r>
                  <a:rPr sz="2400" b="0">
                    <a:solidFill>
                      <a:srgbClr val="78350F"/>
                    </a:solidFill>
                    <a:latin typeface="Arial"/>
                  </a:rPr>
                  <a:t> (subnormal </a:t>
                </a:r>
                <a:r>
                  <a:rPr lang="en-IN" sz="2400">
                    <a:solidFill>
                      <a:srgbClr val="78350F"/>
                    </a:solidFill>
                    <a:latin typeface="Cambria Math" panose="02040503050406030204" pitchFamily="18" charset="0"/>
                  </a:rPr>
                  <a:t>$=y\,y'$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curve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normal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subnormal is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intercept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same answer, option (D).</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curve </a:t>
                </a:r>
                <a:r>
                  <a:rPr lang="en-IN" sz="2400">
                    <a:solidFill>
                      <a:srgbClr val="111827"/>
                    </a:solidFill>
                    <a:latin typeface="Cambria Math" panose="02040503050406030204" pitchFamily="18" charset="0"/>
                  </a:rPr>
                  <a:t>$y=f(x)$</a:t>
                </a:r>
                <a:r>
                  <a:rPr sz="2400" b="0">
                    <a:solidFill>
                      <a:srgbClr val="111827"/>
                    </a:solidFill>
                    <a:latin typeface="Arial"/>
                  </a:rPr>
                  <a:t> the normal at </a:t>
                </a:r>
                <a:r>
                  <a:rPr lang="en-IN" sz="2400">
                    <a:solidFill>
                      <a:srgbClr val="111827"/>
                    </a:solidFill>
                    <a:latin typeface="Cambria Math" panose="02040503050406030204" pitchFamily="18" charset="0"/>
                  </a:rPr>
                  <a:t>$(x_0,y_0)$</a:t>
                </a:r>
                <a:r>
                  <a:rPr sz="2400" b="0">
                    <a:solidFill>
                      <a:srgbClr val="111827"/>
                    </a:solidFill>
                    <a:latin typeface="Arial"/>
                  </a:rPr>
                  <a: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$x_0+y_0y'(x_0)$</a:t>
                </a:r>
                <a:r>
                  <a:rPr sz="2400" b="0">
                    <a:solidFill>
                      <a:srgbClr val="111827"/>
                    </a:solidFill>
                    <a:latin typeface="Arial"/>
                  </a:rPr>
                  <a:t> (the subnormal is </a:t>
                </a:r>
                <a:r>
                  <a:rPr lang="en-IN" sz="2400">
                    <a:solidFill>
                      <a:srgbClr val="111827"/>
                    </a:solidFill>
                    <a:latin typeface="Cambria Math" panose="02040503050406030204" pitchFamily="18" charset="0"/>
                  </a:rPr>
                  <a:t>$y\,y'$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$(x_0,y_0)=(1,e)$</a:t>
                </a:r>
                <a:r>
                  <a:rPr sz="2400" b="0">
                    <a:solidFill>
                      <a:srgbClr val="111827"/>
                    </a:solidFill>
                    <a:latin typeface="Arial"/>
                  </a:rPr>
                  <a:t> and </a:t>
                </a:r>
                <a:r>
                  <a:rPr lang="en-IN" sz="2400">
                    <a:solidFill>
                      <a:srgbClr val="111827"/>
                    </a:solidFill>
                    <a:latin typeface="Cambria Math" panose="02040503050406030204" pitchFamily="18" charset="0"/>
                  </a:rPr>
                  <a:t>$y'(1)=1+e$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intercept is </a:t>
                </a:r>
                <a:r>
                  <a:rPr lang="en-IN" sz="2400">
                    <a:solidFill>
                      <a:srgbClr val="111827"/>
                    </a:solidFill>
                    <a:latin typeface="Cambria Math" panose="02040503050406030204" pitchFamily="18" charset="0"/>
                  </a:rPr>
                  <a:t>$1+e(1+e)=1+e+e^2$</a:t>
                </a:r>
                <a:r>
                  <a:rPr sz="2400" b="0">
                    <a:solidFill>
                      <a:srgbClr val="111827"/>
                    </a:solidFill>
                    <a:latin typeface="Arial"/>
                  </a:rPr>
                  <a:t>, the same answer,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sSup>
                      <m:e>
                        <m:r>
                          <a:rPr lang="en-IN" sz="2800" i="1">
                            <a:solidFill>
                              <a:srgbClr val="15803D"/>
                            </a:solidFill>
                            <a:latin typeface="Cambria Math" panose="02040503050406030204" pitchFamily="18" charset="0"/>
                          </a:rPr>
                          <m:t>𝑒</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𝑒</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$e^2+e+1$</a:t>
                </a:r>
                <a:endParaRPr sz="2800">
                  <a:solidFill>
                    <a:srgbClr val="15803D"/>
                  </a:solidFill>
                </a:endParaRPr>
              </a:p>
            </p:txBody>
          </p:sp>
        </mc:Fallback>
      </mc:AlternateContent>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Normal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-axis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tangent meets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at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num>
                      <m:den>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slope is the negative reciprocal of the tangent slope: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𝑁</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𝑇</m:t>
                            </m:r>
                          </m:sub>
                        </m:sSub>
                      </m:den>
                    </m:f>
                  </m:oMath>
                </a14:m>
                <a:r>
                  <a:rPr sz="2400" b="0">
                    <a:solidFill>
                      <a:srgbClr val="111827"/>
                    </a:solidFill>
                    <a:latin typeface="Arial"/>
                  </a:rPr>
                  <a:t> (when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𝑇</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with </a:t>
                </a:r>
                <a14:m>
                  <m:oMath xmlns:m="http://schemas.openxmlformats.org/officeDocument/2006/math">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2.718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11.1</m:t>
                    </m:r>
                  </m:oMath>
                </a14:m>
                <a:r>
                  <a:rPr sz="2400" b="0">
                    <a:solidFill>
                      <a:srgbClr val="111827"/>
                    </a:solidFill>
                    <a:latin typeface="Arial"/>
                  </a:rPr>
                  <a:t>, equal to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Normal at </a:t>
                </a:r>
                <a:r>
                  <a:rPr lang="en-IN" sz="2400">
                    <a:solidFill>
                      <a:srgbClr val="111827"/>
                    </a:solidFill>
                    <a:latin typeface="Cambria Math" panose="02040503050406030204" pitchFamily="18" charset="0"/>
                  </a:rPr>
                  <a:t>$(x_0,y_0)$</a:t>
                </a:r>
                <a:r>
                  <a:rPr sz="2400" b="0">
                    <a:solidFill>
                      <a:srgbClr val="111827"/>
                    </a:solidFill>
                    <a:latin typeface="Arial"/>
                  </a:rPr>
                  <a: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$x_0+y_0y'(x_0)$</a:t>
                </a:r>
                <a:r>
                  <a:rPr sz="2400" b="0">
                    <a:solidFill>
                      <a:srgbClr val="111827"/>
                    </a:solidFill>
                    <a:latin typeface="Arial"/>
                  </a:rPr>
                  <a:t> and the </a:t>
                </a:r>
                <a:r>
                  <a:rPr lang="en-IN" sz="2400">
                    <a:solidFill>
                      <a:srgbClr val="111827"/>
                    </a:solidFill>
                    <a:latin typeface="Cambria Math" panose="02040503050406030204" pitchFamily="18" charset="0"/>
                  </a:rPr>
                  <a:t>$y$</a:t>
                </a:r>
                <a:r>
                  <a:rPr sz="2400" b="0">
                    <a:solidFill>
                      <a:srgbClr val="111827"/>
                    </a:solidFill>
                    <a:latin typeface="Arial"/>
                  </a:rPr>
                  <a:t>-axis at </a:t>
                </a:r>
                <a:r>
                  <a:rPr lang="en-IN" sz="2400">
                    <a:solidFill>
                      <a:srgbClr val="111827"/>
                    </a:solidFill>
                    <a:latin typeface="Cambria Math" panose="02040503050406030204" pitchFamily="18" charset="0"/>
                  </a:rPr>
                  <a:t>$y_0+\frac{x_0}{y'(x_0)}$</a:t>
                </a:r>
                <a:r>
                  <a:rPr sz="2400" b="0">
                    <a:solidFill>
                      <a:srgbClr val="111827"/>
                    </a:solidFill>
                    <a:latin typeface="Arial"/>
                  </a:rPr>
                  <a:t>; tangent meets the </a:t>
                </a:r>
                <a:r>
                  <a:rPr lang="en-IN" sz="2400">
                    <a:solidFill>
                      <a:srgbClr val="111827"/>
                    </a:solidFill>
                    <a:latin typeface="Cambria Math" panose="02040503050406030204" pitchFamily="18" charset="0"/>
                  </a:rPr>
                  <a:t>$x$</a:t>
                </a:r>
                <a:r>
                  <a:rPr sz="2400" b="0">
                    <a:solidFill>
                      <a:srgbClr val="111827"/>
                    </a:solidFill>
                    <a:latin typeface="Arial"/>
                  </a:rPr>
                  <a:t>-axis at </a:t>
                </a:r>
                <a:r>
                  <a:rPr lang="en-IN" sz="2400">
                    <a:solidFill>
                      <a:srgbClr val="111827"/>
                    </a:solidFill>
                    <a:latin typeface="Cambria Math" panose="02040503050406030204" pitchFamily="18" charset="0"/>
                  </a:rPr>
                  <a:t>$x_0-\frac{y_0}{y'(x_0)}$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Normal slope is the negative reciprocal of the tangent slope: </a:t>
                </a:r>
                <a:r>
                  <a:rPr lang="en-IN" sz="2400">
                    <a:solidFill>
                      <a:srgbClr val="111827"/>
                    </a:solidFill>
                    <a:latin typeface="Cambria Math" panose="02040503050406030204" pitchFamily="18" charset="0"/>
                  </a:rPr>
                  <a:t>$m_N=-\frac{1}{m_T}$</a:t>
                </a:r>
                <a:r>
                  <a:rPr sz="2400" b="0">
                    <a:solidFill>
                      <a:srgbClr val="111827"/>
                    </a:solidFill>
                    <a:latin typeface="Arial"/>
                  </a:rPr>
                  <a:t> (when </a:t>
                </a:r>
                <a:r>
                  <a:rPr lang="en-IN" sz="2400">
                    <a:solidFill>
                      <a:srgbClr val="111827"/>
                    </a:solidFill>
                    <a:latin typeface="Cambria Math" panose="02040503050406030204" pitchFamily="18" charset="0"/>
                  </a:rPr>
                  <a:t>$m_T\ne0$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with </a:t>
                </a:r>
                <a:r>
                  <a:rPr lang="en-IN" sz="2400">
                    <a:solidFill>
                      <a:srgbClr val="111827"/>
                    </a:solidFill>
                    <a:latin typeface="Cambria Math" panose="02040503050406030204" pitchFamily="18" charset="0"/>
                  </a:rPr>
                  <a:t>$e\approx2.718$</a:t>
                </a:r>
                <a:r>
                  <a:rPr sz="2400" b="0">
                    <a:solidFill>
                      <a:srgbClr val="111827"/>
                    </a:solidFill>
                    <a:latin typeface="Arial"/>
                  </a:rPr>
                  <a:t>, </a:t>
                </a:r>
                <a:r>
                  <a:rPr lang="en-IN" sz="2400">
                    <a:solidFill>
                      <a:srgbClr val="111827"/>
                    </a:solidFill>
                    <a:latin typeface="Cambria Math" panose="02040503050406030204" pitchFamily="18" charset="0"/>
                  </a:rPr>
                  <a:t>$1+e(1+e)\approx11.1$</a:t>
                </a:r>
                <a:r>
                  <a:rPr sz="2400" b="0">
                    <a:solidFill>
                      <a:srgbClr val="111827"/>
                    </a:solidFill>
                    <a:latin typeface="Arial"/>
                  </a:rPr>
                  <a:t>, equal to </a:t>
                </a:r>
                <a:r>
                  <a:rPr lang="en-IN" sz="2400">
                    <a:solidFill>
                      <a:srgbClr val="111827"/>
                    </a:solidFill>
                    <a:latin typeface="Cambria Math" panose="02040503050406030204" pitchFamily="18" charset="0"/>
                  </a:rPr>
                  <a:t>$e^2+e+1$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92277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p>
                      <m:e>
                        <m:r>
                          <m:rPr>
                            <m:scr m:val="double-struck"/>
                            <m:sty m:val="p"/>
                          </m:rPr>
                          <a:rPr lang="en-IN" sz="2400">
                            <a:solidFill>
                              <a:srgbClr val="111827"/>
                            </a:solidFill>
                            <a:latin typeface="Cambria Math" panose="02040503050406030204" pitchFamily="18" charset="0"/>
                          </a:rPr>
                          <m:t>R</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a differentiable function satisfying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𝑒</m:t>
                            </m:r>
                          </m:den>
                        </m:f>
                      </m:e>
                    </m:d>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𝑥</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𝑡</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m:rPr>
                            <m:scr m:val="double-struck"/>
                            <m:sty m:val="p"/>
                          </m:rPr>
                          <a:rPr lang="en-IN" sz="2400">
                            <a:solidFill>
                              <a:srgbClr val="111827"/>
                            </a:solidFill>
                            <a:latin typeface="Cambria Math" panose="02040503050406030204" pitchFamily="18" charset="0"/>
                          </a:rPr>
                          <m:t>R</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Which one of the following statements is correct for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maxima but no minima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minima but no maxima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neither maxima nor minima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both maxima and minima</a:t>
                </a:r>
                <a:endParaRPr sz="2400">
                  <a:solidFill>
                    <a:srgbClr val="111827"/>
                  </a:solidFill>
                </a:endParaRPr>
              </a:p>
            </p:txBody>
          </p:sp>
        </mc:Choice>
        <mc:Fallback>
          <p:sp>
            <p:nvSpPr>
              <p:cNvPr id="4" name="Rounded Rectangle 3"/>
              <p:cNvSpPr/>
              <p:nvPr/>
            </p:nvSpPr>
            <p:spPr>
              <a:xfrm>
                <a:off x="731520" y="1280160"/>
                <a:ext cx="10725912" cy="392277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$f:\mathbb{R}^+\to\mathbb{R}$</a:t>
                </a:r>
                <a:r>
                  <a:rPr sz="2400" b="0">
                    <a:solidFill>
                      <a:srgbClr val="111827"/>
                    </a:solidFill>
                    <a:latin typeface="Arial"/>
                  </a:rPr>
                  <a:t> be a differentiable function satisfying </a:t>
                </a:r>
                <a:r>
                  <a:rPr lang="en-IN" sz="2400">
                    <a:solidFill>
                      <a:srgbClr val="111827"/>
                    </a:solidFill>
                    <a:latin typeface="Cambria Math" panose="02040503050406030204" pitchFamily="18" charset="0"/>
                  </a:rPr>
                  <a:t>$f(x)=e+(1-x)\ln\left(\frac xe\right)+\int_1^xf(t)\,dt$</a:t>
                </a:r>
                <a:r>
                  <a:rPr sz="2400" b="0">
                    <a:solidFill>
                      <a:srgbClr val="111827"/>
                    </a:solidFill>
                    <a:latin typeface="Arial"/>
                  </a:rPr>
                  <a:t> for all </a:t>
                </a:r>
                <a:r>
                  <a:rPr lang="en-IN" sz="2400">
                    <a:solidFill>
                      <a:srgbClr val="111827"/>
                    </a:solidFill>
                    <a:latin typeface="Cambria Math" panose="02040503050406030204" pitchFamily="18" charset="0"/>
                  </a:rPr>
                  <a:t>$x\in\mathbb{R}^+$</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Which one of the following statements is correct for the function </a:t>
                </a:r>
                <a:r>
                  <a:rPr lang="en-IN" sz="2400">
                    <a:solidFill>
                      <a:srgbClr val="111827"/>
                    </a:solidFill>
                    <a:latin typeface="Cambria Math" panose="02040503050406030204" pitchFamily="18" charset="0"/>
                  </a:rPr>
                  <a:t>$f(x)$</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a:t>
                </a:r>
                <a:r>
                  <a:rPr sz="2400" b="0">
                    <a:solidFill>
                      <a:srgbClr val="111827"/>
                    </a:solidFill>
                    <a:latin typeface="Arial"/>
                  </a:rPr>
                  <a:t> has maxima but no minima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$f$</a:t>
                </a:r>
                <a:r>
                  <a:rPr sz="2400" b="0">
                    <a:solidFill>
                      <a:srgbClr val="111827"/>
                    </a:solidFill>
                    <a:latin typeface="Arial"/>
                  </a:rPr>
                  <a:t> has minima but no maxima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a:t>
                </a:r>
                <a:r>
                  <a:rPr sz="2400" b="0">
                    <a:solidFill>
                      <a:srgbClr val="111827"/>
                    </a:solidFill>
                    <a:latin typeface="Arial"/>
                  </a:rPr>
                  <a:t> has neither maxima nor minima</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a:t>
                </a:r>
                <a:r>
                  <a:rPr sz="2400" b="0">
                    <a:solidFill>
                      <a:srgbClr val="111827"/>
                    </a:solidFill>
                    <a:latin typeface="Arial"/>
                  </a:rPr>
                  <a:t> has both maxima and minima</a:t>
                </a:r>
                <a:endParaRPr sz="2400">
                  <a:solidFill>
                    <a:srgbClr val="111827"/>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Monotonicity and extrema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p>
                      <m:e>
                        <m:r>
                          <a:rPr lang="en-IN" sz="2400" i="1">
                            <a:solidFill>
                              <a:srgbClr val="78350F"/>
                            </a:solidFill>
                            <a:latin typeface="Cambria Math" panose="02040503050406030204" pitchFamily="18" charset="0"/>
                          </a:rPr>
                          <m:t>𝑓</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𝑥</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for every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𝑓</m:t>
                    </m:r>
                  </m:oMath>
                </a14:m>
                <a:r>
                  <a:rPr sz="2400" b="0">
                    <a:solidFill>
                      <a:srgbClr val="78350F"/>
                    </a:solidFill>
                    <a:latin typeface="Arial"/>
                  </a:rPr>
                  <a:t> is strictly increasing on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$f'(x)=\frac1x+e^x&gt;0$</a:t>
                </a:r>
                <a:r>
                  <a:rPr sz="2400" b="0">
                    <a:solidFill>
                      <a:srgbClr val="78350F"/>
                    </a:solidFill>
                    <a:latin typeface="Arial"/>
                  </a:rPr>
                  <a:t> for every </a:t>
                </a:r>
                <a:r>
                  <a:rPr lang="en-IN" sz="2400">
                    <a:solidFill>
                      <a:srgbClr val="78350F"/>
                    </a:solidFill>
                    <a:latin typeface="Cambria Math" panose="02040503050406030204" pitchFamily="18" charset="0"/>
                  </a:rPr>
                  <a:t>$x&gt;0$</a:t>
                </a:r>
                <a:r>
                  <a:rPr sz="2400" b="0">
                    <a:solidFill>
                      <a:srgbClr val="78350F"/>
                    </a:solidFill>
                    <a:latin typeface="Arial"/>
                  </a:rPr>
                  <a:t>, so </a:t>
                </a:r>
                <a:r>
                  <a:rPr lang="en-IN" sz="2400">
                    <a:solidFill>
                      <a:srgbClr val="78350F"/>
                    </a:solidFill>
                    <a:latin typeface="Cambria Math" panose="02040503050406030204" pitchFamily="18" charset="0"/>
                  </a:rPr>
                  <a:t>$f$</a:t>
                </a:r>
                <a:r>
                  <a:rPr sz="2400" b="0">
                    <a:solidFill>
                      <a:srgbClr val="78350F"/>
                    </a:solidFill>
                    <a:latin typeface="Arial"/>
                  </a:rPr>
                  <a:t> is strictly increasing on </a:t>
                </a:r>
                <a:r>
                  <a:rPr lang="en-IN" sz="2400">
                    <a:solidFill>
                      <a:srgbClr val="78350F"/>
                    </a:solidFill>
                    <a:latin typeface="Cambria Math" panose="02040503050406030204" pitchFamily="18" charset="0"/>
                  </a:rPr>
                  <a:t>$(0,\infty)$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422648"/>
                <a:ext cx="10725912" cy="225247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28,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422648"/>
                <a:ext cx="10725912" cy="225247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question 28, </a:t>
                </a:r>
                <a:r>
                  <a:rPr lang="en-IN" sz="2400">
                    <a:solidFill>
                      <a:srgbClr val="111827"/>
                    </a:solidFill>
                    <a:latin typeface="Cambria Math" panose="02040503050406030204" pitchFamily="18" charset="0"/>
                  </a:rPr>
                  <a:t>$f(x)=\ln x+e^x$</a:t>
                </a:r>
                <a:r>
                  <a:rPr sz="2400" b="0">
                    <a:solidFill>
                      <a:srgbClr val="111827"/>
                    </a:solidFill>
                    <a:latin typeface="Arial"/>
                  </a:rPr>
                  <a:t> on </a:t>
                </a:r>
                <a:r>
                  <a:rPr lang="en-IN" sz="2400">
                    <a:solidFill>
                      <a:srgbClr val="111827"/>
                    </a:solidFill>
                    <a:latin typeface="Cambria Math" panose="02040503050406030204" pitchFamily="18" charset="0"/>
                  </a:rPr>
                  <a:t>$x&gt;0$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$f'(x)=\frac1x+e^x$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$x&gt;0$</a:t>
                </a:r>
                <a:r>
                  <a:rPr sz="2400" b="0">
                    <a:solidFill>
                      <a:srgbClr val="111827"/>
                    </a:solidFill>
                    <a:latin typeface="Arial"/>
                  </a:rPr>
                  <a:t>: </a:t>
                </a:r>
                <a:r>
                  <a:rPr lang="en-IN" sz="2400">
                    <a:solidFill>
                      <a:srgbClr val="111827"/>
                    </a:solidFill>
                    <a:latin typeface="Cambria Math" panose="02040503050406030204" pitchFamily="18" charset="0"/>
                  </a:rPr>
                  <a:t>$\frac1x&gt;0$</a:t>
                </a:r>
                <a:r>
                  <a:rPr sz="2400" b="0">
                    <a:solidFill>
                      <a:srgbClr val="111827"/>
                    </a:solidFill>
                    <a:latin typeface="Arial"/>
                  </a:rPr>
                  <a:t> and </a:t>
                </a:r>
                <a:r>
                  <a:rPr lang="en-IN" sz="2400">
                    <a:solidFill>
                      <a:srgbClr val="111827"/>
                    </a:solidFill>
                    <a:latin typeface="Cambria Math" panose="02040503050406030204" pitchFamily="18" charset="0"/>
                  </a:rPr>
                  <a:t>$e^x&gt;0$</a:t>
                </a:r>
                <a:r>
                  <a:rPr sz="2400" b="0">
                    <a:solidFill>
                      <a:srgbClr val="111827"/>
                    </a:solidFill>
                    <a:latin typeface="Arial"/>
                  </a:rPr>
                  <a:t>, so </a:t>
                </a:r>
                <a:r>
                  <a:rPr lang="en-IN" sz="2400">
                    <a:solidFill>
                      <a:srgbClr val="111827"/>
                    </a:solidFill>
                    <a:latin typeface="Cambria Math" panose="02040503050406030204" pitchFamily="18" charset="0"/>
                  </a:rPr>
                  <a:t>$f'(x)&gt;0$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strictly increasing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 open interval with no endpoint attained.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has neither a maximum nor a minimum (no local extrema, and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Answer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a:t>
                </a:r>
                <a:r>
                  <a:rPr sz="2400" b="0">
                    <a:solidFill>
                      <a:srgbClr val="111827"/>
                    </a:solidFill>
                    <a:latin typeface="Arial"/>
                  </a:rPr>
                  <a:t> is strictly increasing on </a:t>
                </a:r>
                <a:r>
                  <a:rPr lang="en-IN" sz="2400">
                    <a:solidFill>
                      <a:srgbClr val="111827"/>
                    </a:solidFill>
                    <a:latin typeface="Cambria Math" panose="02040503050406030204" pitchFamily="18" charset="0"/>
                  </a:rPr>
                  <a:t>$(0,\infty)$</a:t>
                </a:r>
                <a:r>
                  <a:rPr sz="2400" b="0">
                    <a:solidFill>
                      <a:srgbClr val="111827"/>
                    </a:solidFill>
                    <a:latin typeface="Arial"/>
                  </a:rPr>
                  <a:t>, an open interval with no endpoint attained.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a:t>
                </a:r>
                <a:r>
                  <a:rPr sz="2400" b="0">
                    <a:solidFill>
                      <a:srgbClr val="111827"/>
                    </a:solidFill>
                    <a:latin typeface="Arial"/>
                  </a:rPr>
                  <a:t> has neither a maximum nor a minimum (no local extrema, and </a:t>
                </a:r>
                <a:r>
                  <a:rPr lang="en-IN" sz="2400">
                    <a:solidFill>
                      <a:srgbClr val="111827"/>
                    </a:solidFill>
                    <a:latin typeface="Cambria Math" panose="02040503050406030204" pitchFamily="18" charset="0"/>
                  </a:rPr>
                  <a:t>$f\to-\infty$</a:t>
                </a:r>
                <a:r>
                  <a:rPr sz="2400" b="0">
                    <a:solidFill>
                      <a:srgbClr val="111827"/>
                    </a:solidFill>
                    <a:latin typeface="Arial"/>
                  </a:rPr>
                  <a:t> as </a:t>
                </a:r>
                <a:r>
                  <a:rPr lang="en-IN" sz="2400">
                    <a:solidFill>
                      <a:srgbClr val="111827"/>
                    </a:solidFill>
                    <a:latin typeface="Cambria Math" panose="02040503050406030204" pitchFamily="18" charset="0"/>
                  </a:rPr>
                  <a:t>$x\to0^+$</a:t>
                </a:r>
                <a:r>
                  <a:rPr sz="2400" b="0">
                    <a:solidFill>
                      <a:srgbClr val="111827"/>
                    </a:solidFill>
                    <a:latin typeface="Arial"/>
                  </a:rPr>
                  <a:t>, </a:t>
                </a:r>
                <a:r>
                  <a:rPr lang="en-IN" sz="2400">
                    <a:solidFill>
                      <a:srgbClr val="111827"/>
                    </a:solidFill>
                    <a:latin typeface="Cambria Math" panose="02040503050406030204" pitchFamily="18" charset="0"/>
                  </a:rPr>
                  <a:t>$f\to\infty$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Answer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a:t>
            </a:r>
            <a:endParaRPr sz="2800">
              <a:solidFill>
                <a:srgbClr val="15803D"/>
              </a:solidFill>
            </a:endParaRP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strictly monotonic function on an open interval has no local extrema; if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never vanishes there are no stationary points at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increasing functions is increasing: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are both increasing,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global extrema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also check the limits at </a:t>
                </a:r>
                <a14:m>
                  <m:oMath xmlns:m="http://schemas.openxmlformats.org/officeDocument/2006/math">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they are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strictly monotonic function on an open interval has no local extrema; if </a:t>
                </a:r>
                <a:r>
                  <a:rPr lang="en-IN" sz="2400">
                    <a:solidFill>
                      <a:srgbClr val="111827"/>
                    </a:solidFill>
                    <a:latin typeface="Cambria Math" panose="02040503050406030204" pitchFamily="18" charset="0"/>
                  </a:rPr>
                  <a:t>$f'$</a:t>
                </a:r>
                <a:r>
                  <a:rPr sz="2400" b="0">
                    <a:solidFill>
                      <a:srgbClr val="111827"/>
                    </a:solidFill>
                    <a:latin typeface="Arial"/>
                  </a:rPr>
                  <a:t> never vanishes there are no stationary points at all.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sum of increasing functions is increasing: </a:t>
                </a:r>
                <a:r>
                  <a:rPr lang="en-IN" sz="2400">
                    <a:solidFill>
                      <a:srgbClr val="111827"/>
                    </a:solidFill>
                    <a:latin typeface="Cambria Math" panose="02040503050406030204" pitchFamily="18" charset="0"/>
                  </a:rPr>
                  <a:t>$\ln x$</a:t>
                </a:r>
                <a:r>
                  <a:rPr sz="2400" b="0">
                    <a:solidFill>
                      <a:srgbClr val="111827"/>
                    </a:solidFill>
                    <a:latin typeface="Arial"/>
                  </a:rPr>
                  <a:t> and </a:t>
                </a:r>
                <a:r>
                  <a:rPr lang="en-IN" sz="2400">
                    <a:solidFill>
                      <a:srgbClr val="111827"/>
                    </a:solidFill>
                    <a:latin typeface="Cambria Math" panose="02040503050406030204" pitchFamily="18" charset="0"/>
                  </a:rPr>
                  <a:t>$e^x$</a:t>
                </a:r>
                <a:r>
                  <a:rPr sz="2400" b="0">
                    <a:solidFill>
                      <a:srgbClr val="111827"/>
                    </a:solidFill>
                    <a:latin typeface="Arial"/>
                  </a:rPr>
                  <a:t> are both increasing, so </a:t>
                </a:r>
                <a:r>
                  <a:rPr lang="en-IN" sz="2400">
                    <a:solidFill>
                      <a:srgbClr val="111827"/>
                    </a:solidFill>
                    <a:latin typeface="Cambria Math" panose="02040503050406030204" pitchFamily="18" charset="0"/>
                  </a:rPr>
                  <a:t>$f$</a:t>
                </a:r>
                <a:r>
                  <a:rPr sz="2400" b="0">
                    <a:solidFill>
                      <a:srgbClr val="111827"/>
                    </a:solidFill>
                    <a:latin typeface="Arial"/>
                  </a:rPr>
                  <a:t>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global extrema on </a:t>
                </a:r>
                <a:r>
                  <a:rPr lang="en-IN" sz="2400">
                    <a:solidFill>
                      <a:srgbClr val="111827"/>
                    </a:solidFill>
                    <a:latin typeface="Cambria Math" panose="02040503050406030204" pitchFamily="18" charset="0"/>
                  </a:rPr>
                  <a:t>$(0,\infty)$</a:t>
                </a:r>
                <a:r>
                  <a:rPr sz="2400" b="0">
                    <a:solidFill>
                      <a:srgbClr val="111827"/>
                    </a:solidFill>
                    <a:latin typeface="Arial"/>
                  </a:rPr>
                  <a:t> also check the limits at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$\infty$</a:t>
                </a:r>
                <a:r>
                  <a:rPr sz="2400" b="0">
                    <a:solidFill>
                      <a:srgbClr val="111827"/>
                    </a:solidFill>
                    <a:latin typeface="Arial"/>
                  </a:rPr>
                  <a:t>: here they are </a:t>
                </a:r>
                <a:r>
                  <a:rPr lang="en-IN" sz="2400">
                    <a:solidFill>
                      <a:srgbClr val="111827"/>
                    </a:solidFill>
                    <a:latin typeface="Cambria Math" panose="02040503050406030204" pitchFamily="18" charset="0"/>
                  </a:rPr>
                  <a:t>$-\infty$</a:t>
                </a:r>
                <a:r>
                  <a:rPr sz="2400" b="0">
                    <a:solidFill>
                      <a:srgbClr val="111827"/>
                    </a:solidFill>
                    <a:latin typeface="Arial"/>
                  </a:rPr>
                  <a:t> and </a:t>
                </a:r>
                <a:r>
                  <a:rPr lang="en-IN" sz="2400">
                    <a:solidFill>
                      <a:srgbClr val="111827"/>
                    </a:solidFill>
                    <a:latin typeface="Cambria Math" panose="02040503050406030204" pitchFamily="18" charset="0"/>
                  </a:rPr>
                  <a:t>$+\infty$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Matching List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Q31 – Q33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marks each (no marks printed: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Match each item of Column I with Column II</a:t>
            </a:r>
            <a:endParaRPr sz="2800">
              <a:solidFill>
                <a:srgbClr val="FFFFFF"/>
              </a:solidFill>
            </a:endParaRP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26694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Match the following columns.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 (Differential equation):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𝑦</m:t>
                        </m:r>
                      </m:num>
                      <m:den>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𝑥</m:t>
                        </m:r>
                      </m:den>
                    </m:f>
                    <m:r>
                      <m:rPr>
                        <m:sty m:val="p"/>
                      </m:rPr>
                      <a:rPr lang="en-IN" sz="2000">
                        <a:solidFill>
                          <a:srgbClr val="111827"/>
                        </a:solidFill>
                        <a:latin typeface="Cambria Math" panose="02040503050406030204" pitchFamily="18" charset="0"/>
                      </a:rPr>
                      <m:t>=</m:t>
                    </m:r>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2</m:t>
                        </m:r>
                      </m:sup>
                    </m:sSup>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𝑦</m:t>
                        </m:r>
                      </m:num>
                      <m:den>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𝑥</m:t>
                        </m:r>
                      </m:den>
                    </m:f>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t>
                </a:r>
                <a14:m>
                  <m:oMath xmlns:m="http://schemas.openxmlformats.org/officeDocument/2006/math">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10</m:t>
                    </m:r>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3</m:t>
                        </m:r>
                      </m:sup>
                    </m:sSup>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𝑦</m:t>
                        </m:r>
                      </m:num>
                      <m:den>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𝑥</m:t>
                        </m:r>
                      </m:den>
                    </m:f>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t>
                </a:r>
                <a14:m>
                  <m:oMath xmlns:m="http://schemas.openxmlformats.org/officeDocument/2006/math">
                    <m:d>
                      <m:dPr>
                        <m:begChr m:val="("/>
                        <m:sepChr m:val=""/>
                        <m:endChr m:val=")"/>
                        <m:grow/>
                        <m:ctrlPr>
                          <a:rPr lang="en-IN" sz="2000" i="1">
                            <a:solidFill>
                              <a:srgbClr val="111827"/>
                            </a:solidFill>
                            <a:latin typeface="Cambria Math" panose="02040503050406030204" pitchFamily="18" charset="0"/>
                          </a:rPr>
                        </m:ctrlPr>
                      </m:dPr>
                      <m:e>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𝑦</m:t>
                            </m:r>
                          </m:num>
                          <m:den>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𝑥</m:t>
                            </m:r>
                          </m:den>
                        </m:f>
                      </m:e>
                    </m:d>
                    <m:d>
                      <m:dPr>
                        <m:begChr m:val="("/>
                        <m:sepChr m:val=""/>
                        <m:endChr m:val=")"/>
                        <m:grow/>
                        <m:ctrlPr>
                          <a:rPr lang="en-IN" sz="2000" i="1">
                            <a:solidFill>
                              <a:srgbClr val="111827"/>
                            </a:solidFill>
                            <a:latin typeface="Cambria Math" panose="02040503050406030204" pitchFamily="18" charset="0"/>
                          </a:rPr>
                        </m:ctrlPr>
                      </m:dPr>
                      <m:e>
                        <m:f>
                          <m:fPr>
                            <m:type m:val="bar"/>
                            <m:ctrlPr>
                              <a:rPr lang="en-IN" sz="2000" i="1">
                                <a:solidFill>
                                  <a:srgbClr val="111827"/>
                                </a:solidFill>
                                <a:latin typeface="Cambria Math" panose="02040503050406030204" pitchFamily="18" charset="0"/>
                              </a:rPr>
                            </m:ctrlPr>
                          </m:fPr>
                          <m:num>
                            <m:sSup>
                              <m:e>
                                <m:r>
                                  <a:rPr lang="en-IN" sz="2000" i="1">
                                    <a:solidFill>
                                      <a:srgbClr val="111827"/>
                                    </a:solidFill>
                                    <a:latin typeface="Cambria Math" panose="02040503050406030204" pitchFamily="18" charset="0"/>
                                  </a:rPr>
                                  <m:t>𝑑</m:t>
                                </m:r>
                              </m:e>
                              <m:sup>
                                <m:r>
                                  <a:rPr lang="en-IN" sz="2000" i="1">
                                    <a:solidFill>
                                      <a:srgbClr val="111827"/>
                                    </a:solidFill>
                                    <a:latin typeface="Cambria Math" panose="02040503050406030204" pitchFamily="18" charset="0"/>
                                  </a:rPr>
                                  <m:t>3</m:t>
                                </m:r>
                              </m:sup>
                            </m:sSup>
                            <m:r>
                              <a:rPr lang="en-IN" sz="2000" i="1">
                                <a:solidFill>
                                  <a:srgbClr val="111827"/>
                                </a:solidFill>
                                <a:latin typeface="Cambria Math" panose="02040503050406030204" pitchFamily="18" charset="0"/>
                              </a:rPr>
                              <m:t>𝑦</m:t>
                            </m:r>
                          </m:num>
                          <m:den>
                            <m:r>
                              <a:rPr lang="en-IN" sz="2000" i="1">
                                <a:solidFill>
                                  <a:srgbClr val="111827"/>
                                </a:solidFill>
                                <a:latin typeface="Cambria Math" panose="02040503050406030204" pitchFamily="18" charset="0"/>
                              </a:rPr>
                              <m:t>𝑑</m:t>
                            </m:r>
                            <m:sSup>
                              <m:e>
                                <m:r>
                                  <a:rPr lang="en-IN" sz="2000" i="1">
                                    <a:solidFill>
                                      <a:srgbClr val="111827"/>
                                    </a:solidFill>
                                    <a:latin typeface="Cambria Math" panose="02040503050406030204" pitchFamily="18" charset="0"/>
                                  </a:rPr>
                                  <m:t>𝑥</m:t>
                                </m:r>
                              </m:e>
                              <m:sup>
                                <m:r>
                                  <a:rPr lang="en-IN" sz="2000" i="1">
                                    <a:solidFill>
                                      <a:srgbClr val="111827"/>
                                    </a:solidFill>
                                    <a:latin typeface="Cambria Math" panose="02040503050406030204" pitchFamily="18" charset="0"/>
                                  </a:rPr>
                                  <m:t>3</m:t>
                                </m:r>
                              </m:sup>
                            </m:sSup>
                          </m:den>
                        </m:f>
                      </m:e>
                    </m:d>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3</m:t>
                    </m:r>
                    <m:sSup>
                      <m:e>
                        <m:d>
                          <m:dPr>
                            <m:begChr m:val="("/>
                            <m:sepChr m:val=""/>
                            <m:endChr m:val=")"/>
                            <m:grow/>
                            <m:ctrlPr>
                              <a:rPr lang="en-IN" sz="2000" i="1">
                                <a:solidFill>
                                  <a:srgbClr val="111827"/>
                                </a:solidFill>
                                <a:latin typeface="Cambria Math" panose="02040503050406030204" pitchFamily="18" charset="0"/>
                              </a:rPr>
                            </m:ctrlPr>
                          </m:dPr>
                          <m:e>
                            <m:f>
                              <m:fPr>
                                <m:type m:val="bar"/>
                                <m:ctrlPr>
                                  <a:rPr lang="en-IN" sz="2000" i="1">
                                    <a:solidFill>
                                      <a:srgbClr val="111827"/>
                                    </a:solidFill>
                                    <a:latin typeface="Cambria Math" panose="02040503050406030204" pitchFamily="18" charset="0"/>
                                  </a:rPr>
                                </m:ctrlPr>
                              </m:fPr>
                              <m:num>
                                <m:sSup>
                                  <m:e>
                                    <m:r>
                                      <a:rPr lang="en-IN" sz="2000" i="1">
                                        <a:solidFill>
                                          <a:srgbClr val="111827"/>
                                        </a:solidFill>
                                        <a:latin typeface="Cambria Math" panose="02040503050406030204" pitchFamily="18" charset="0"/>
                                      </a:rPr>
                                      <m:t>𝑑</m:t>
                                    </m:r>
                                  </m:e>
                                  <m:sup>
                                    <m:r>
                                      <a:rPr lang="en-IN" sz="2000" i="1">
                                        <a:solidFill>
                                          <a:srgbClr val="111827"/>
                                        </a:solidFill>
                                        <a:latin typeface="Cambria Math" panose="02040503050406030204" pitchFamily="18" charset="0"/>
                                      </a:rPr>
                                      <m:t>2</m:t>
                                    </m:r>
                                  </m:sup>
                                </m:sSup>
                                <m:r>
                                  <a:rPr lang="en-IN" sz="2000" i="1">
                                    <a:solidFill>
                                      <a:srgbClr val="111827"/>
                                    </a:solidFill>
                                    <a:latin typeface="Cambria Math" panose="02040503050406030204" pitchFamily="18" charset="0"/>
                                  </a:rPr>
                                  <m:t>𝑦</m:t>
                                </m:r>
                              </m:num>
                              <m:den>
                                <m:r>
                                  <a:rPr lang="en-IN" sz="2000" i="1">
                                    <a:solidFill>
                                      <a:srgbClr val="111827"/>
                                    </a:solidFill>
                                    <a:latin typeface="Cambria Math" panose="02040503050406030204" pitchFamily="18" charset="0"/>
                                  </a:rPr>
                                  <m:t>𝑑</m:t>
                                </m:r>
                                <m:sSup>
                                  <m:e>
                                    <m:r>
                                      <a:rPr lang="en-IN" sz="2000" i="1">
                                        <a:solidFill>
                                          <a:srgbClr val="111827"/>
                                        </a:solidFill>
                                        <a:latin typeface="Cambria Math" panose="02040503050406030204" pitchFamily="18" charset="0"/>
                                      </a:rPr>
                                      <m:t>𝑥</m:t>
                                    </m:r>
                                  </m:e>
                                  <m:sup>
                                    <m:r>
                                      <a:rPr lang="en-IN" sz="2000" i="1">
                                        <a:solidFill>
                                          <a:srgbClr val="111827"/>
                                        </a:solidFill>
                                        <a:latin typeface="Cambria Math" panose="02040503050406030204" pitchFamily="18" charset="0"/>
                                      </a:rPr>
                                      <m:t>2</m:t>
                                    </m:r>
                                  </m:sup>
                                </m:sSup>
                              </m:den>
                            </m:f>
                          </m:e>
                        </m:d>
                      </m:e>
                      <m:sup>
                        <m:r>
                          <a:rPr lang="en-IN" sz="2000" i="1">
                            <a:solidFill>
                              <a:srgbClr val="111827"/>
                            </a:solidFill>
                            <a:latin typeface="Cambria Math" panose="02040503050406030204" pitchFamily="18" charset="0"/>
                          </a:rPr>
                          <m:t>2</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t>
                </a:r>
                <a14:m>
                  <m:oMath xmlns:m="http://schemas.openxmlformats.org/officeDocument/2006/math">
                    <m:r>
                      <m:rPr>
                        <m:sty m:val="p"/>
                      </m:rPr>
                      <a:rPr lang="en-IN" sz="2000">
                        <a:solidFill>
                          <a:srgbClr val="111827"/>
                        </a:solidFill>
                        <a:latin typeface="Cambria Math" panose="02040503050406030204" pitchFamily="18" charset="0"/>
                      </a:rPr>
                      <m:t>(</m:t>
                    </m:r>
                    <m:sSup>
                      <m:e>
                        <m:r>
                          <a:rPr lang="en-IN" sz="2000" i="1">
                            <a:solidFill>
                              <a:srgbClr val="111827"/>
                            </a:solidFill>
                            <a:latin typeface="Cambria Math" panose="02040503050406030204" pitchFamily="18" charset="0"/>
                          </a:rPr>
                          <m:t>𝑥</m:t>
                        </m:r>
                      </m:e>
                      <m:sup>
                        <m:r>
                          <a:rPr lang="en-IN" sz="2000" i="1">
                            <a:solidFill>
                              <a:srgbClr val="111827"/>
                            </a:solidFill>
                            <a:latin typeface="Cambria Math" panose="02040503050406030204" pitchFamily="18" charset="0"/>
                          </a:rPr>
                          <m:t>2</m:t>
                        </m:r>
                      </m:sup>
                    </m:sSup>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2</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a:rPr lang="en-IN" sz="2000" i="1">
                        <a:solidFill>
                          <a:srgbClr val="111827"/>
                        </a:solidFill>
                        <a:latin typeface="Cambria Math" panose="02040503050406030204" pitchFamily="18" charset="0"/>
                      </a:rPr>
                      <m:t>𝑥</m:t>
                    </m:r>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3</m:t>
                        </m:r>
                      </m:sup>
                    </m:sSup>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 (Integral curves):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𝐴</m:t>
                        </m:r>
                      </m:e>
                      <m:sub>
                        <m:r>
                          <a:rPr lang="en-IN" sz="2000" i="1">
                            <a:solidFill>
                              <a:srgbClr val="111827"/>
                            </a:solidFill>
                            <a:latin typeface="Cambria Math" panose="02040503050406030204" pitchFamily="18" charset="0"/>
                          </a:rPr>
                          <m:t>1</m:t>
                        </m:r>
                      </m:sub>
                    </m:sSub>
                    <m:sSup>
                      <m:e>
                        <m:r>
                          <a:rPr lang="en-IN" sz="2000" i="1">
                            <a:solidFill>
                              <a:srgbClr val="111827"/>
                            </a:solidFill>
                            <a:latin typeface="Cambria Math" panose="02040503050406030204" pitchFamily="18" charset="0"/>
                          </a:rPr>
                          <m:t>𝑥</m:t>
                        </m:r>
                      </m:e>
                      <m:sup>
                        <m:r>
                          <a:rPr lang="en-IN" sz="2000" i="1">
                            <a:solidFill>
                              <a:srgbClr val="111827"/>
                            </a:solidFill>
                            <a:latin typeface="Cambria Math" panose="02040503050406030204" pitchFamily="18" charset="0"/>
                          </a:rPr>
                          <m:t>2</m:t>
                        </m:r>
                      </m:sup>
                    </m:sSup>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𝐴</m:t>
                        </m:r>
                      </m:e>
                      <m:sub>
                        <m:r>
                          <a:rPr lang="en-IN" sz="2000" i="1">
                            <a:solidFill>
                              <a:srgbClr val="111827"/>
                            </a:solidFill>
                            <a:latin typeface="Cambria Math" panose="02040503050406030204" pitchFamily="18" charset="0"/>
                          </a:rPr>
                          <m:t>2</m:t>
                        </m:r>
                      </m:sub>
                    </m:sSub>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𝐴</m:t>
                        </m:r>
                      </m:e>
                      <m:sub>
                        <m:r>
                          <a:rPr lang="en-IN" sz="2000" i="1">
                            <a:solidFill>
                              <a:srgbClr val="111827"/>
                            </a:solidFill>
                            <a:latin typeface="Cambria Math" panose="02040503050406030204" pitchFamily="18" charset="0"/>
                          </a:rPr>
                          <m:t>3</m:t>
                        </m:r>
                      </m:sub>
                    </m:sSub>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14:m>
                  <m:oMath xmlns:m="http://schemas.openxmlformats.org/officeDocument/2006/math">
                    <m:sSup>
                      <m:e>
                        <m:r>
                          <a:rPr lang="en-IN" sz="2000" i="1">
                            <a:solidFill>
                              <a:srgbClr val="111827"/>
                            </a:solidFill>
                            <a:latin typeface="Cambria Math" panose="02040503050406030204" pitchFamily="18" charset="0"/>
                          </a:rPr>
                          <m:t>𝑥</m:t>
                        </m:r>
                      </m:e>
                      <m:sup>
                        <m:r>
                          <a:rPr lang="en-IN" sz="2000" i="1">
                            <a:solidFill>
                              <a:srgbClr val="111827"/>
                            </a:solidFill>
                            <a:latin typeface="Cambria Math" panose="02040503050406030204" pitchFamily="18" charset="0"/>
                          </a:rPr>
                          <m:t>2</m:t>
                        </m:r>
                      </m:sup>
                    </m:sSup>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2</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𝑐</m:t>
                    </m:r>
                    <m:r>
                      <a:rPr lang="en-IN" sz="2000" i="1">
                        <a:solidFill>
                          <a:srgbClr val="111827"/>
                        </a:solidFill>
                        <a:latin typeface="Cambria Math" panose="02040503050406030204" pitchFamily="18" charset="0"/>
                      </a:rPr>
                      <m:t>𝑦</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14:m>
                  <m:oMath xmlns:m="http://schemas.openxmlformats.org/officeDocument/2006/math">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𝑐</m:t>
                    </m:r>
                    <m:r>
                      <a:rPr lang="en-IN" sz="2000" i="1">
                        <a:solidFill>
                          <a:srgbClr val="111827"/>
                        </a:solidFill>
                        <a:latin typeface="Cambria Math" panose="02040503050406030204" pitchFamily="18" charset="0"/>
                      </a:rPr>
                      <m:t>𝑦</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14:m>
                  <m:oMath xmlns:m="http://schemas.openxmlformats.org/officeDocument/2006/math">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𝐴</m:t>
                        </m:r>
                      </m:e>
                      <m:sub>
                        <m:r>
                          <a:rPr lang="en-IN" sz="2000" i="1">
                            <a:solidFill>
                              <a:srgbClr val="111827"/>
                            </a:solidFill>
                            <a:latin typeface="Cambria Math" panose="02040503050406030204" pitchFamily="18" charset="0"/>
                          </a:rPr>
                          <m:t>1</m:t>
                        </m:r>
                      </m:sub>
                    </m:sSub>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2</m:t>
                        </m:r>
                      </m:sup>
                    </m:sSup>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𝐴</m:t>
                        </m:r>
                      </m:e>
                      <m:sub>
                        <m:r>
                          <a:rPr lang="en-IN" sz="2000" i="1">
                            <a:solidFill>
                              <a:srgbClr val="111827"/>
                            </a:solidFill>
                            <a:latin typeface="Cambria Math" panose="02040503050406030204" pitchFamily="18" charset="0"/>
                          </a:rPr>
                          <m:t>2</m:t>
                        </m:r>
                      </m:sub>
                    </m:sSub>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sSub>
                      <m:e>
                        <m:r>
                          <a:rPr lang="en-IN" sz="2000" i="1">
                            <a:solidFill>
                              <a:srgbClr val="111827"/>
                            </a:solidFill>
                            <a:latin typeface="Cambria Math" panose="02040503050406030204" pitchFamily="18" charset="0"/>
                          </a:rPr>
                          <m:t>𝐴</m:t>
                        </m:r>
                      </m:e>
                      <m:sub>
                        <m:r>
                          <a:rPr lang="en-IN" sz="2000" i="1">
                            <a:solidFill>
                              <a:srgbClr val="111827"/>
                            </a:solidFill>
                            <a:latin typeface="Cambria Math" panose="02040503050406030204" pitchFamily="18" charset="0"/>
                          </a:rPr>
                          <m:t>3</m:t>
                        </m:r>
                      </m:sub>
                    </m:sSub>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(T) </a:t>
                </a:r>
                <a14:m>
                  <m:oMath xmlns:m="http://schemas.openxmlformats.org/officeDocument/2006/math">
                    <m:r>
                      <a:rPr lang="en-IN" sz="2000" i="1">
                        <a:solidFill>
                          <a:srgbClr val="111827"/>
                        </a:solidFill>
                        <a:latin typeface="Cambria Math" panose="02040503050406030204" pitchFamily="18" charset="0"/>
                      </a:rPr>
                      <m:t>𝑥</m:t>
                    </m:r>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2</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sSup>
                      <m:e>
                        <m:r>
                          <a:rPr lang="en-IN" sz="2000" i="1">
                            <a:solidFill>
                              <a:srgbClr val="111827"/>
                            </a:solidFill>
                            <a:latin typeface="Cambria Math" panose="02040503050406030204" pitchFamily="18" charset="0"/>
                          </a:rPr>
                          <m:t>𝑦</m:t>
                        </m:r>
                      </m:e>
                      <m:sup>
                        <m:r>
                          <a:rPr lang="en-IN" sz="2000" i="1">
                            <a:solidFill>
                              <a:srgbClr val="111827"/>
                            </a:solidFill>
                            <a:latin typeface="Cambria Math" panose="02040503050406030204" pitchFamily="18" charset="0"/>
                          </a:rPr>
                          <m:t>5</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𝑐</m:t>
                    </m:r>
                  </m:oMath>
                </a14:m>
                <a:endParaRPr sz="2000">
                  <a:solidFill>
                    <a:srgbClr val="111827"/>
                  </a:solidFill>
                </a:endParaRPr>
              </a:p>
            </p:txBody>
          </p:sp>
        </mc:Choice>
        <mc:Fallback>
          <p:sp>
            <p:nvSpPr>
              <p:cNvPr id="4" name="Rounded Rectangle 3"/>
              <p:cNvSpPr/>
              <p:nvPr/>
            </p:nvSpPr>
            <p:spPr>
              <a:xfrm>
                <a:off x="731520" y="1280160"/>
                <a:ext cx="10725912" cy="526694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Match the following columns.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 (Differential equation):</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a:t>
                </a:r>
                <a:r>
                  <a:rPr lang="en-IN" sz="2000">
                    <a:solidFill>
                      <a:srgbClr val="111827"/>
                    </a:solidFill>
                    <a:latin typeface="Cambria Math" panose="02040503050406030204" pitchFamily="18" charset="0"/>
                  </a:rPr>
                  <a:t>$y-x\frac{dy}{dx}=y^2+\frac{dy}{dx}$</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a:t>
                </a:r>
                <a:r>
                  <a:rPr lang="en-IN" sz="2000">
                    <a:solidFill>
                      <a:srgbClr val="111827"/>
                    </a:solidFill>
                    <a:latin typeface="Cambria Math" panose="02040503050406030204" pitchFamily="18" charset="0"/>
                  </a:rPr>
                  <a:t>$(2x-10y^3)\frac{dy}{dx}+y=0$</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a:t>
                </a:r>
                <a:r>
                  <a:rPr lang="en-IN" sz="2000">
                    <a:solidFill>
                      <a:srgbClr val="111827"/>
                    </a:solidFill>
                    <a:latin typeface="Cambria Math" panose="02040503050406030204" pitchFamily="18" charset="0"/>
                  </a:rPr>
                  <a:t>$\left(\frac{dy}{dx}\right)\left(\frac{d^3y}{dx^3}\right)-3\left(\frac{d^2y}{dx^2}\right)^2=0$</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a:t>
                </a:r>
                <a:r>
                  <a:rPr lang="en-IN" sz="2000">
                    <a:solidFill>
                      <a:srgbClr val="111827"/>
                    </a:solidFill>
                    <a:latin typeface="Cambria Math" panose="02040503050406030204" pitchFamily="18" charset="0"/>
                  </a:rPr>
                  <a:t>$(x^2y^2-1)\,dy+2xy^3\,dx=0$</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 (Integral curves):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r>
                  <a:rPr lang="en-IN" sz="2000">
                    <a:solidFill>
                      <a:srgbClr val="111827"/>
                    </a:solidFill>
                    <a:latin typeface="Cambria Math" panose="02040503050406030204" pitchFamily="18" charset="0"/>
                  </a:rPr>
                  <a:t>$y=A_1x^2+A_2x+A_3$</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r>
                  <a:rPr lang="en-IN" sz="2000">
                    <a:solidFill>
                      <a:srgbClr val="111827"/>
                    </a:solidFill>
                    <a:latin typeface="Cambria Math" panose="02040503050406030204" pitchFamily="18" charset="0"/>
                  </a:rPr>
                  <a:t>$x^2y^2+1=cy$</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r>
                  <a:rPr lang="en-IN" sz="2000">
                    <a:solidFill>
                      <a:srgbClr val="111827"/>
                    </a:solidFill>
                    <a:latin typeface="Cambria Math" panose="02040503050406030204" pitchFamily="18" charset="0"/>
                  </a:rPr>
                  <a:t>$(x+1)(1-y)=cy$</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r>
                  <a:rPr lang="en-IN" sz="2000">
                    <a:solidFill>
                      <a:srgbClr val="111827"/>
                    </a:solidFill>
                    <a:latin typeface="Cambria Math" panose="02040503050406030204" pitchFamily="18" charset="0"/>
                  </a:rPr>
                  <a:t>$x=A_1y^2+A_2y+A_3$</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(T) </a:t>
                </a:r>
                <a:r>
                  <a:rPr lang="en-IN" sz="2000">
                    <a:solidFill>
                      <a:srgbClr val="111827"/>
                    </a:solidFill>
                    <a:latin typeface="Cambria Math" panose="02040503050406030204" pitchFamily="18" charset="0"/>
                  </a:rPr>
                  <a:t>$xy^2=2y^5+c$</a:t>
                </a:r>
                <a:endParaRPr sz="2000">
                  <a:solidFill>
                    <a:srgbClr val="111827"/>
                  </a:solidFill>
                </a:endParaRPr>
              </a:p>
            </p:txBody>
          </p:sp>
        </mc:Fallback>
      </mc:AlternateContent>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Solving first-order differential equations, Order and degree; solutions of higher-order equations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Treat (B) as linear in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(D) as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𝑦</m:t>
                        </m:r>
                      </m:num>
                      <m:den>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and (C) by seeing that it is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3</m:t>
                            </m:r>
                          </m:sup>
                        </m:sSup>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𝑑</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 the inverse function.</a:t>
                </a:r>
                <a:endParaRPr sz="2400">
                  <a:solidFill>
                    <a:srgbClr val="78350F"/>
                  </a:solidFill>
                </a:endParaRPr>
              </a:p>
            </p:txBody>
          </p:sp>
        </mc:Choice>
        <mc:Fallback>
          <p:sp>
            <p:nvSpPr>
              <p:cNvPr id="5" name="Rounded Rectangle 4"/>
              <p:cNvSpPr/>
              <p:nvPr/>
            </p:nvSpPr>
            <p:spPr>
              <a:xfrm>
                <a:off x="731520" y="3438144"/>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Treat (B) as linear in </a:t>
                </a:r>
                <a:r>
                  <a:rPr lang="en-IN" sz="2400">
                    <a:solidFill>
                      <a:srgbClr val="78350F"/>
                    </a:solidFill>
                    <a:latin typeface="Cambria Math" panose="02040503050406030204" pitchFamily="18" charset="0"/>
                  </a:rPr>
                  <a:t>$x(y)$</a:t>
                </a:r>
                <a:r>
                  <a:rPr sz="2400" b="0">
                    <a:solidFill>
                      <a:srgbClr val="78350F"/>
                    </a:solidFill>
                    <a:latin typeface="Arial"/>
                  </a:rPr>
                  <a:t>, (D) as </a:t>
                </a:r>
                <a:r>
                  <a:rPr lang="en-IN" sz="2400">
                    <a:solidFill>
                      <a:srgbClr val="78350F"/>
                    </a:solidFill>
                    <a:latin typeface="Cambria Math" panose="02040503050406030204" pitchFamily="18" charset="0"/>
                  </a:rPr>
                  <a:t>$d(x^2y)=\frac{dy}{y^2}$</a:t>
                </a:r>
                <a:r>
                  <a:rPr sz="2400" b="0">
                    <a:solidFill>
                      <a:srgbClr val="78350F"/>
                    </a:solidFill>
                    <a:latin typeface="Arial"/>
                  </a:rPr>
                  <a:t>, and (C) by seeing that it is </a:t>
                </a:r>
                <a:r>
                  <a:rPr lang="en-IN" sz="2400">
                    <a:solidFill>
                      <a:srgbClr val="78350F"/>
                    </a:solidFill>
                    <a:latin typeface="Cambria Math" panose="02040503050406030204" pitchFamily="18" charset="0"/>
                  </a:rPr>
                  <a:t>$\frac{d^3x}{dy^3}=0$</a:t>
                </a:r>
                <a:r>
                  <a:rPr sz="2400" b="0">
                    <a:solidFill>
                      <a:srgbClr val="78350F"/>
                    </a:solidFill>
                    <a:latin typeface="Arial"/>
                  </a:rPr>
                  <a:t> for the inverse function.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$y-x\frac{dy}{dx}=y^2+\frac{dy}{dx}\Rightarrow\frac{dy}{dx}=\frac{y(1-y)}{1+x}\Rightarrow\int\frac{dy}{y(1-y)}=\int\frac{dx}{1+x}$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e>
                    </m:d>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en>
                    </m:f>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after renaming the constant: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linear in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m:rPr>
                        <m:nor/>
                      </m:rPr>
                      <a:rPr lang="en-IN" sz="2400" i="1">
                        <a:solidFill>
                          <a:srgbClr val="111827"/>
                        </a:solidFill>
                        <a:latin typeface="Cambria Math" panose="02040503050406030204" pitchFamily="18" charset="0"/>
                      </a:rPr>
                      <m:t>𝐼.𝐹.</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𝑦</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Let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the equation is </a:t>
                </a:r>
                <a14:m>
                  <m:oMath xmlns:m="http://schemas.openxmlformats.org/officeDocument/2006/math">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𝑣</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Write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as a function of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𝑣</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𝑢</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num>
                      <m:den>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𝑣</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$\int\left(\frac1y-\frac{1}{y-1}\right)dy=\int\frac{dx}{1+x}$</a:t>
                </a:r>
                <a:r>
                  <a:rPr sz="2400" b="0">
                    <a:solidFill>
                      <a:srgbClr val="111827"/>
                    </a:solidFill>
                    <a:latin typeface="Arial"/>
                  </a:rPr>
                  <a:t> gives </a:t>
                </a:r>
                <a:r>
                  <a:rPr lang="en-IN" sz="2400">
                    <a:solidFill>
                      <a:srgbClr val="111827"/>
                    </a:solidFill>
                    <a:latin typeface="Cambria Math" panose="02040503050406030204" pitchFamily="18" charset="0"/>
                  </a:rPr>
                  <a:t>$\ln y-\ln(y-1)=\ln(1+x)+\ln C$</a:t>
                </a:r>
                <a:r>
                  <a:rPr sz="2400" b="0">
                    <a:solidFill>
                      <a:srgbClr val="111827"/>
                    </a:solidFill>
                    <a:latin typeface="Arial"/>
                  </a:rPr>
                  <a:t>, so </a:t>
                </a:r>
                <a:r>
                  <a:rPr lang="en-IN" sz="2400">
                    <a:solidFill>
                      <a:srgbClr val="111827"/>
                    </a:solidFill>
                    <a:latin typeface="Cambria Math" panose="02040503050406030204" pitchFamily="18" charset="0"/>
                  </a:rPr>
                  <a:t>$yc=(1+x)(1-y)$</a:t>
                </a:r>
                <a:r>
                  <a:rPr sz="2400" b="0">
                    <a:solidFill>
                      <a:srgbClr val="111827"/>
                    </a:solidFill>
                    <a:latin typeface="Arial"/>
                  </a:rPr>
                  <a:t> after renaming the constant: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$(2x-10y^3)\frac{dy}{dx}+y=0\Rightarrow\frac{dx}{dy}=\frac{-(2x-10y^3)}{y}$</a:t>
                </a:r>
                <a:r>
                  <a:rPr sz="2400" b="0">
                    <a:solidFill>
                      <a:srgbClr val="111827"/>
                    </a:solidFill>
                    <a:latin typeface="Arial"/>
                  </a:rPr>
                  <a:t>, i.e. </a:t>
                </a:r>
                <a:r>
                  <a:rPr lang="en-IN" sz="2400">
                    <a:solidFill>
                      <a:srgbClr val="111827"/>
                    </a:solidFill>
                    <a:latin typeface="Cambria Math" panose="02040503050406030204" pitchFamily="18" charset="0"/>
                  </a:rPr>
                  <a:t>$\frac{dx}{dy}+\frac{2x}{y}=10y^2$</a:t>
                </a:r>
                <a:r>
                  <a:rPr sz="2400" b="0">
                    <a:solidFill>
                      <a:srgbClr val="111827"/>
                    </a:solidFill>
                    <a:latin typeface="Arial"/>
                  </a:rPr>
                  <a:t>, linear in </a:t>
                </a:r>
                <a:r>
                  <a:rPr lang="en-IN" sz="2400">
                    <a:solidFill>
                      <a:srgbClr val="111827"/>
                    </a:solidFill>
                    <a:latin typeface="Cambria Math" panose="02040503050406030204" pitchFamily="18" charset="0"/>
                  </a:rPr>
                  <a:t>$x$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$\text{I.F.}=e^{\int\frac2ydy}=y^2$</a:t>
                </a:r>
                <a:r>
                  <a:rPr sz="2400" b="0">
                    <a:solidFill>
                      <a:srgbClr val="111827"/>
                    </a:solidFill>
                    <a:latin typeface="Arial"/>
                  </a:rPr>
                  <a:t>, so </a:t>
                </a:r>
                <a:r>
                  <a:rPr lang="en-IN" sz="2400">
                    <a:solidFill>
                      <a:srgbClr val="111827"/>
                    </a:solidFill>
                    <a:latin typeface="Cambria Math" panose="02040503050406030204" pitchFamily="18" charset="0"/>
                  </a:rPr>
                  <a:t>$x\,y^2=\int10y^2\cdot y^2\,dy=2y^5+c$</a:t>
                </a:r>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Let </a:t>
                </a:r>
                <a:r>
                  <a:rPr lang="en-IN" sz="2400">
                    <a:solidFill>
                      <a:srgbClr val="111827"/>
                    </a:solidFill>
                    <a:latin typeface="Cambria Math" panose="02040503050406030204" pitchFamily="18" charset="0"/>
                  </a:rPr>
                  <a:t>$\frac{dy}{dx}=v$</a:t>
                </a:r>
                <a:r>
                  <a:rPr sz="2400" b="0">
                    <a:solidFill>
                      <a:srgbClr val="111827"/>
                    </a:solidFill>
                    <a:latin typeface="Arial"/>
                  </a:rPr>
                  <a:t>: the equation is </a:t>
                </a:r>
                <a:r>
                  <a:rPr lang="en-IN" sz="2400">
                    <a:solidFill>
                      <a:srgbClr val="111827"/>
                    </a:solidFill>
                    <a:latin typeface="Cambria Math" panose="02040503050406030204" pitchFamily="18" charset="0"/>
                  </a:rPr>
                  <a:t>$v\,v''-3(v')^2=0$</a:t>
                </a:r>
                <a:r>
                  <a:rPr sz="2400" b="0">
                    <a:solidFill>
                      <a:srgbClr val="111827"/>
                    </a:solidFill>
                    <a:latin typeface="Arial"/>
                  </a:rPr>
                  <a:t> (</a:t>
                </a:r>
                <a:r>
                  <a:rPr lang="en-IN" sz="2400">
                    <a:solidFill>
                      <a:srgbClr val="111827"/>
                    </a:solidFill>
                    <a:latin typeface="Cambria Math" panose="02040503050406030204" pitchFamily="18" charset="0"/>
                  </a:rPr>
                  <a:t>$v'=\frac{dv}{dx}$</a:t>
                </a:r>
                <a:r>
                  <a:rPr sz="2400" b="0">
                    <a:solidFill>
                      <a:srgbClr val="111827"/>
                    </a:solidFill>
                    <a:latin typeface="Arial"/>
                  </a:rPr>
                  <a:t>, </a:t>
                </a:r>
                <a:r>
                  <a:rPr lang="en-IN" sz="2400">
                    <a:solidFill>
                      <a:srgbClr val="111827"/>
                    </a:solidFill>
                    <a:latin typeface="Cambria Math" panose="02040503050406030204" pitchFamily="18" charset="0"/>
                  </a:rPr>
                  <a:t>$v''=\frac{d^2v}{dx^2}$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Write </a:t>
                </a:r>
                <a:r>
                  <a:rPr lang="en-IN" sz="2400">
                    <a:solidFill>
                      <a:srgbClr val="111827"/>
                    </a:solidFill>
                    <a:latin typeface="Cambria Math" panose="02040503050406030204" pitchFamily="18" charset="0"/>
                  </a:rPr>
                  <a:t>$u=\frac{dv}{dx}$</a:t>
                </a:r>
                <a:r>
                  <a:rPr sz="2400" b="0">
                    <a:solidFill>
                      <a:srgbClr val="111827"/>
                    </a:solidFill>
                    <a:latin typeface="Arial"/>
                  </a:rPr>
                  <a:t> as a function of </a:t>
                </a:r>
                <a:r>
                  <a:rPr lang="en-IN" sz="2400">
                    <a:solidFill>
                      <a:srgbClr val="111827"/>
                    </a:solidFill>
                    <a:latin typeface="Cambria Math" panose="02040503050406030204" pitchFamily="18" charset="0"/>
                  </a:rPr>
                  <a:t>$v$</a:t>
                </a:r>
                <a:r>
                  <a:rPr sz="2400" b="0">
                    <a:solidFill>
                      <a:srgbClr val="111827"/>
                    </a:solidFill>
                    <a:latin typeface="Arial"/>
                  </a:rPr>
                  <a:t>: </a:t>
                </a:r>
                <a:r>
                  <a:rPr lang="en-IN" sz="2400">
                    <a:solidFill>
                      <a:srgbClr val="111827"/>
                    </a:solidFill>
                    <a:latin typeface="Cambria Math" panose="02040503050406030204" pitchFamily="18" charset="0"/>
                  </a:rPr>
                  <a:t>$v\,u\frac{du}{dv}-3u^2=0$</a:t>
                </a:r>
                <a:r>
                  <a:rPr sz="2400" b="0">
                    <a:solidFill>
                      <a:srgbClr val="111827"/>
                    </a:solidFill>
                    <a:latin typeface="Arial"/>
                  </a:rPr>
                  <a:t>, so </a:t>
                </a:r>
                <a:r>
                  <a:rPr lang="en-IN" sz="2400">
                    <a:solidFill>
                      <a:srgbClr val="111827"/>
                    </a:solidFill>
                    <a:latin typeface="Cambria Math" panose="02040503050406030204" pitchFamily="18" charset="0"/>
                  </a:rPr>
                  <a:t>$u=0$</a:t>
                </a:r>
                <a:r>
                  <a:rPr sz="2400" b="0">
                    <a:solidFill>
                      <a:srgbClr val="111827"/>
                    </a:solidFill>
                    <a:latin typeface="Arial"/>
                  </a:rPr>
                  <a:t> or </a:t>
                </a:r>
                <a:r>
                  <a:rPr lang="en-IN" sz="2400">
                    <a:solidFill>
                      <a:srgbClr val="111827"/>
                    </a:solidFill>
                    <a:latin typeface="Cambria Math" panose="02040503050406030204" pitchFamily="18" charset="0"/>
                  </a:rPr>
                  <a:t>$\frac{du}{u}=\frac{3dv}{v}$</a:t>
                </a:r>
                <a:r>
                  <a:rPr sz="2400" b="0">
                    <a:solidFill>
                      <a:srgbClr val="111827"/>
                    </a:solidFill>
                    <a:latin typeface="Arial"/>
                  </a:rPr>
                  <a:t>, i.e. </a:t>
                </a:r>
                <a:r>
                  <a:rPr lang="en-IN" sz="2400">
                    <a:solidFill>
                      <a:srgbClr val="111827"/>
                    </a:solidFill>
                    <a:latin typeface="Cambria Math" panose="02040503050406030204" pitchFamily="18" charset="0"/>
                  </a:rPr>
                  <a:t>$u=cv^3$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Case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 straight line). Case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rad>
                      </m:den>
                    </m:f>
                  </m:oMath>
                </a14:m>
                <a:r>
                  <a:rPr sz="2400" b="0">
                    <a:solidFill>
                      <a:srgbClr val="111827"/>
                    </a:solidFill>
                    <a:latin typeface="Arial"/>
                  </a:rPr>
                  <a:t>, so integrating gives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e>
                        </m:rad>
                      </m:num>
                      <m:den>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um>
                      <m:den>
                        <m:sSubSup>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den>
                    </m:f>
                  </m:oMath>
                </a14:m>
                <a:r>
                  <a:rPr sz="2400" b="0">
                    <a:solidFill>
                      <a:srgbClr val="111827"/>
                    </a:solidFill>
                    <a:latin typeface="Arial"/>
                  </a:rPr>
                  <a:t>, which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Case </a:t>
                </a:r>
                <a:r>
                  <a:rPr lang="en-IN" sz="2400">
                    <a:solidFill>
                      <a:srgbClr val="111827"/>
                    </a:solidFill>
                    <a:latin typeface="Cambria Math" panose="02040503050406030204" pitchFamily="18" charset="0"/>
                  </a:rPr>
                  <a:t>$u=0$</a:t>
                </a:r>
                <a:r>
                  <a:rPr sz="2400" b="0">
                    <a:solidFill>
                      <a:srgbClr val="111827"/>
                    </a:solidFill>
                    <a:latin typeface="Arial"/>
                  </a:rPr>
                  <a:t>: </a:t>
                </a:r>
                <a:r>
                  <a:rPr lang="en-IN" sz="2400">
                    <a:solidFill>
                      <a:srgbClr val="111827"/>
                    </a:solidFill>
                    <a:latin typeface="Cambria Math" panose="02040503050406030204" pitchFamily="18" charset="0"/>
                  </a:rPr>
                  <a:t>$v=c_1$</a:t>
                </a:r>
                <a:r>
                  <a:rPr sz="2400" b="0">
                    <a:solidFill>
                      <a:srgbClr val="111827"/>
                    </a:solidFill>
                    <a:latin typeface="Arial"/>
                  </a:rPr>
                  <a:t>, so </a:t>
                </a:r>
                <a:r>
                  <a:rPr lang="en-IN" sz="2400">
                    <a:solidFill>
                      <a:srgbClr val="111827"/>
                    </a:solidFill>
                    <a:latin typeface="Cambria Math" panose="02040503050406030204" pitchFamily="18" charset="0"/>
                  </a:rPr>
                  <a:t>$y=c_1x+c_2$</a:t>
                </a:r>
                <a:r>
                  <a:rPr sz="2400" b="0">
                    <a:solidFill>
                      <a:srgbClr val="111827"/>
                    </a:solidFill>
                    <a:latin typeface="Arial"/>
                  </a:rPr>
                  <a:t> (a straight line). Case </a:t>
                </a:r>
                <a:r>
                  <a:rPr lang="en-IN" sz="2400">
                    <a:solidFill>
                      <a:srgbClr val="111827"/>
                    </a:solidFill>
                    <a:latin typeface="Cambria Math" panose="02040503050406030204" pitchFamily="18" charset="0"/>
                  </a:rPr>
                  <a:t>$u=c\,v^3$</a:t>
                </a:r>
                <a:r>
                  <a:rPr sz="2400" b="0">
                    <a:solidFill>
                      <a:srgbClr val="111827"/>
                    </a:solidFill>
                    <a:latin typeface="Arial"/>
                  </a:rPr>
                  <a:t>: </a:t>
                </a:r>
                <a:r>
                  <a:rPr lang="en-IN" sz="2400">
                    <a:solidFill>
                      <a:srgbClr val="111827"/>
                    </a:solidFill>
                    <a:latin typeface="Cambria Math" panose="02040503050406030204" pitchFamily="18" charset="0"/>
                  </a:rPr>
                  <a:t>$\frac{dv}{dx}=c_1v^3$</a:t>
                </a:r>
                <a:r>
                  <a:rPr sz="2400" b="0">
                    <a:solidFill>
                      <a:srgbClr val="111827"/>
                    </a:solidFill>
                    <a:latin typeface="Arial"/>
                  </a:rPr>
                  <a:t>, so </a:t>
                </a:r>
                <a:r>
                  <a:rPr lang="en-IN" sz="2400">
                    <a:solidFill>
                      <a:srgbClr val="111827"/>
                    </a:solidFill>
                    <a:latin typeface="Cambria Math" panose="02040503050406030204" pitchFamily="18" charset="0"/>
                  </a:rPr>
                  <a:t>$-\frac{1}{2v^2}=c_1x+c_2$</a:t>
                </a:r>
                <a:r>
                  <a:rPr sz="2400" b="0">
                    <a:solidFill>
                      <a:srgbClr val="111827"/>
                    </a:solidFill>
                    <a:latin typeface="Arial"/>
                  </a:rPr>
                  <a:t> and </a:t>
                </a:r>
                <a:r>
                  <a:rPr lang="en-IN" sz="2400">
                    <a:solidFill>
                      <a:srgbClr val="111827"/>
                    </a:solidFill>
                    <a:latin typeface="Cambria Math" panose="02040503050406030204" pitchFamily="18" charset="0"/>
                  </a:rPr>
                  <a:t>$v=\frac{1}{\sqrt{-2(c_2+c_1x)}}$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Then </a:t>
                </a:r>
                <a:r>
                  <a:rPr lang="en-IN" sz="2400">
                    <a:solidFill>
                      <a:srgbClr val="111827"/>
                    </a:solidFill>
                    <a:latin typeface="Cambria Math" panose="02040503050406030204" pitchFamily="18" charset="0"/>
                  </a:rPr>
                  <a:t>$\frac{dy}{dx}=\frac{1}{\sqrt{-2(c_2+c_1x)}}$</a:t>
                </a:r>
                <a:r>
                  <a:rPr sz="2400" b="0">
                    <a:solidFill>
                      <a:srgbClr val="111827"/>
                    </a:solidFill>
                    <a:latin typeface="Arial"/>
                  </a:rPr>
                  <a:t>, so integrating gives </a:t>
                </a:r>
                <a:r>
                  <a:rPr lang="en-IN" sz="2400">
                    <a:solidFill>
                      <a:srgbClr val="111827"/>
                    </a:solidFill>
                    <a:latin typeface="Cambria Math" panose="02040503050406030204" pitchFamily="18" charset="0"/>
                  </a:rPr>
                  <a:t>$y=c_3-\frac{\sqrt{-2(c_2+c_1x)}}{c_1}$</a:t>
                </a:r>
                <a:r>
                  <a:rPr sz="2400" b="0">
                    <a:solidFill>
                      <a:srgbClr val="111827"/>
                    </a:solidFill>
                    <a:latin typeface="Arial"/>
                  </a:rPr>
                  <a:t>, i.e. </a:t>
                </a:r>
                <a:r>
                  <a:rPr lang="en-IN" sz="2400">
                    <a:solidFill>
                      <a:srgbClr val="111827"/>
                    </a:solidFill>
                    <a:latin typeface="Cambria Math" panose="02040503050406030204" pitchFamily="18" charset="0"/>
                  </a:rPr>
                  <a:t>$(y-c_3)^2=\frac{-2(c_2+c_1x)}{c_1^2}$</a:t>
                </a:r>
                <a:r>
                  <a:rPr sz="2400" b="0">
                    <a:solidFill>
                      <a:srgbClr val="111827"/>
                    </a:solidFill>
                    <a:latin typeface="Arial"/>
                  </a:rPr>
                  <a:t>, which is </a:t>
                </a:r>
                <a:r>
                  <a:rPr lang="en-IN" sz="2400">
                    <a:solidFill>
                      <a:srgbClr val="111827"/>
                    </a:solidFill>
                    <a:latin typeface="Cambria Math" panose="02040503050406030204" pitchFamily="18" charset="0"/>
                  </a:rPr>
                  <a:t>$x=Ay^2+By+C$</a:t>
                </a:r>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$(x^2y^2-1)\,dy+2xy^3\,dx=0\Rightarrow x^2y^2\,dy+2xy^3\,dx=dy$</a:t>
                </a:r>
                <a:r>
                  <a:rPr sz="2400" b="0">
                    <a:solidFill>
                      <a:srgbClr val="111827"/>
                    </a:solidFill>
                    <a:latin typeface="Arial"/>
                  </a:rPr>
                  <a:t>, so </a:t>
                </a:r>
                <a:r>
                  <a:rPr lang="en-IN" sz="2400">
                    <a:solidFill>
                      <a:srgbClr val="111827"/>
                    </a:solidFill>
                    <a:latin typeface="Cambria Math" panose="02040503050406030204" pitchFamily="18" charset="0"/>
                  </a:rPr>
                  <a:t>$x^2\,dy+2xy\,dx=\frac{dy}{y^2}$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e>
                    </m:d>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𝑦</m:t>
                    </m:r>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 – R, B – T, C – S, D – Q.</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$d(x^2y)=d\left(-\frac1y\right)$</a:t>
                </a:r>
                <a:r>
                  <a:rPr sz="2400" b="0">
                    <a:solidFill>
                      <a:srgbClr val="111827"/>
                    </a:solidFill>
                    <a:latin typeface="Arial"/>
                  </a:rPr>
                  <a:t>, so </a:t>
                </a:r>
                <a:r>
                  <a:rPr lang="en-IN" sz="2400">
                    <a:solidFill>
                      <a:srgbClr val="111827"/>
                    </a:solidFill>
                    <a:latin typeface="Cambria Math" panose="02040503050406030204" pitchFamily="18" charset="0"/>
                  </a:rPr>
                  <a:t>$x^2y=-\frac1y+C$</a:t>
                </a:r>
                <a:r>
                  <a:rPr sz="2400" b="0">
                    <a:solidFill>
                      <a:srgbClr val="111827"/>
                    </a:solidFill>
                    <a:latin typeface="Arial"/>
                  </a:rPr>
                  <a:t>, i.e. </a:t>
                </a:r>
                <a:r>
                  <a:rPr lang="en-IN" sz="2400">
                    <a:solidFill>
                      <a:srgbClr val="111827"/>
                    </a:solidFill>
                    <a:latin typeface="Cambria Math" panose="02040503050406030204" pitchFamily="18" charset="0"/>
                  </a:rPr>
                  <a:t>$x^2y^2=-1+Cy$</a:t>
                </a:r>
                <a:r>
                  <a:rPr sz="2400" b="0">
                    <a:solidFill>
                      <a:srgbClr val="111827"/>
                    </a:solidFill>
                    <a:latin typeface="Arial"/>
                  </a:rPr>
                  <a:t> and </a:t>
                </a:r>
                <a:r>
                  <a:rPr lang="en-IN" sz="2400">
                    <a:solidFill>
                      <a:srgbClr val="111827"/>
                    </a:solidFill>
                    <a:latin typeface="Cambria Math" panose="02040503050406030204" pitchFamily="18" charset="0"/>
                  </a:rPr>
                  <a:t>$1+x^2y^2=cy$</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 – R, B – T, C – S, D – Q.</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 R, B – T, C – S, D – Q</a:t>
            </a:r>
            <a:endParaRPr sz="2800">
              <a:solidFill>
                <a:srgbClr val="15803D"/>
              </a:solidFill>
            </a:endParaRP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 (C) by the inverse-function trick: </a:t>
                </a:r>
                <a14:m>
                  <m:oMath xmlns:m="http://schemas.openxmlformats.org/officeDocument/2006/math">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𝑦</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sup>
                        </m:sSup>
                      </m:num>
                      <m:den>
                        <m:sSup>
                          <m:e>
                            <m:r>
                              <a:rPr lang="en-IN" sz="2400" i="1">
                                <a:solidFill>
                                  <a:srgbClr val="78350F"/>
                                </a:solidFill>
                                <a:latin typeface="Cambria Math" panose="02040503050406030204" pitchFamily="18" charset="0"/>
                              </a:rPr>
                              <m:t>𝑥</m:t>
                            </m:r>
                          </m:e>
                          <m:sup>
                            <m:r>
                              <m:rPr>
                                <m:sty m:val="p"/>
                              </m:rPr>
                              <a:rPr lang="en-IN" sz="2400">
                                <a:solidFill>
                                  <a:srgbClr val="78350F"/>
                                </a:solidFill>
                                <a:latin typeface="Cambria Math" panose="02040503050406030204" pitchFamily="18" charset="0"/>
                              </a:rPr>
                              <m:t>′</m:t>
                            </m:r>
                          </m:sup>
                        </m:sSup>
                        <m:sSup>
                          <m:e>
                            <m:r>
                              <a:rPr lang="en-IN" sz="2400" i="1">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5</m:t>
                            </m:r>
                          </m:sup>
                        </m:sSup>
                      </m:den>
                    </m:f>
                  </m:oMath>
                </a14:m>
                <a:r>
                  <a:rPr sz="2400" b="0">
                    <a:solidFill>
                      <a:srgbClr val="78350F"/>
                    </a:solidFill>
                    <a:latin typeface="Arial"/>
                  </a:rPr>
                  <a:t> when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is viewed as a function of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so the equation says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3</m:t>
                            </m:r>
                          </m:sup>
                        </m:sSup>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𝑑</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3</m:t>
                            </m:r>
                          </m:sup>
                        </m:sSup>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 (C) by the inverse-function trick: </a:t>
                </a:r>
                <a:r>
                  <a:rPr lang="en-IN" sz="2400">
                    <a:solidFill>
                      <a:srgbClr val="78350F"/>
                    </a:solidFill>
                    <a:latin typeface="Cambria Math" panose="02040503050406030204" pitchFamily="18" charset="0"/>
                  </a:rPr>
                  <a:t>$y'y'''-3y''^2=-\frac{x'''}{x'^5}$</a:t>
                </a:r>
                <a:r>
                  <a:rPr sz="2400" b="0">
                    <a:solidFill>
                      <a:srgbClr val="78350F"/>
                    </a:solidFill>
                    <a:latin typeface="Arial"/>
                  </a:rPr>
                  <a:t> when </a:t>
                </a:r>
                <a:r>
                  <a:rPr lang="en-IN" sz="2400">
                    <a:solidFill>
                      <a:srgbClr val="78350F"/>
                    </a:solidFill>
                    <a:latin typeface="Cambria Math" panose="02040503050406030204" pitchFamily="18" charset="0"/>
                  </a:rPr>
                  <a:t>$x$</a:t>
                </a:r>
                <a:r>
                  <a:rPr sz="2400" b="0">
                    <a:solidFill>
                      <a:srgbClr val="78350F"/>
                    </a:solidFill>
                    <a:latin typeface="Arial"/>
                  </a:rPr>
                  <a:t> is viewed as a function of </a:t>
                </a:r>
                <a:r>
                  <a:rPr lang="en-IN" sz="2400">
                    <a:solidFill>
                      <a:srgbClr val="78350F"/>
                    </a:solidFill>
                    <a:latin typeface="Cambria Math" panose="02040503050406030204" pitchFamily="18" charset="0"/>
                  </a:rPr>
                  <a:t>$y$</a:t>
                </a:r>
                <a:r>
                  <a:rPr sz="2400" b="0">
                    <a:solidFill>
                      <a:srgbClr val="78350F"/>
                    </a:solidFill>
                    <a:latin typeface="Arial"/>
                  </a:rPr>
                  <a:t>, so the equation says </a:t>
                </a:r>
                <a:r>
                  <a:rPr lang="en-IN" sz="2400">
                    <a:solidFill>
                      <a:srgbClr val="78350F"/>
                    </a:solidFill>
                    <a:latin typeface="Cambria Math" panose="02040503050406030204" pitchFamily="18" charset="0"/>
                  </a:rPr>
                  <a:t>$\frac{d^3x}{dy^3}=0$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inverse function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write </a:t>
                </a:r>
                <a14:m>
                  <m:oMath xmlns:m="http://schemas.openxmlformats.org/officeDocument/2006/math">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oMath>
                </a14:m>
                <a:r>
                  <a:rPr sz="2400" b="0">
                    <a:solidFill>
                      <a:srgbClr val="111827"/>
                    </a:solidFill>
                    <a:latin typeface="Arial"/>
                  </a:rPr>
                  <a:t> etc. Then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6</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inverse function </a:t>
                </a:r>
                <a:r>
                  <a:rPr lang="en-IN" sz="2400">
                    <a:solidFill>
                      <a:srgbClr val="111827"/>
                    </a:solidFill>
                    <a:latin typeface="Cambria Math" panose="02040503050406030204" pitchFamily="18" charset="0"/>
                  </a:rPr>
                  <a:t>$x(y)$</a:t>
                </a:r>
                <a:r>
                  <a:rPr sz="2400" b="0">
                    <a:solidFill>
                      <a:srgbClr val="111827"/>
                    </a:solidFill>
                    <a:latin typeface="Arial"/>
                  </a:rPr>
                  <a:t> write </a:t>
                </a:r>
                <a:r>
                  <a:rPr lang="en-IN" sz="2400">
                    <a:solidFill>
                      <a:srgbClr val="111827"/>
                    </a:solidFill>
                    <a:latin typeface="Cambria Math" panose="02040503050406030204" pitchFamily="18" charset="0"/>
                  </a:rPr>
                  <a:t>$x'=\frac{dx}{dy}$</a:t>
                </a:r>
                <a:r>
                  <a:rPr sz="2400" b="0">
                    <a:solidFill>
                      <a:srgbClr val="111827"/>
                    </a:solidFill>
                    <a:latin typeface="Arial"/>
                  </a:rPr>
                  <a:t> etc. Then </a:t>
                </a:r>
                <a:r>
                  <a:rPr lang="en-IN" sz="2400">
                    <a:solidFill>
                      <a:srgbClr val="111827"/>
                    </a:solidFill>
                    <a:latin typeface="Cambria Math" panose="02040503050406030204" pitchFamily="18" charset="0"/>
                  </a:rPr>
                  <a:t>$y_x=\frac{1}{x'}$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$y_{xx}=-\frac{x''}{x'^3}$</a:t>
                </a:r>
                <a:r>
                  <a:rPr sz="2400" b="0">
                    <a:solidFill>
                      <a:srgbClr val="111827"/>
                    </a:solidFill>
                    <a:latin typeface="Arial"/>
                  </a:rPr>
                  <a:t> and </a:t>
                </a:r>
                <a:r>
                  <a:rPr lang="en-IN" sz="2400">
                    <a:solidFill>
                      <a:srgbClr val="111827"/>
                    </a:solidFill>
                    <a:latin typeface="Cambria Math" panose="02040503050406030204" pitchFamily="18" charset="0"/>
                  </a:rPr>
                  <a:t>$y_{xxx}=\frac{3x''^2-x'x'''}{x'^5}$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$y_xy_{xxx}-3y_{xx}^2=\frac{3x''^2-x'x'''}{x'^6}-\frac{3x''^2}{x'^6}=-\frac{x'''}{x'^5}$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(C) is therefore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whose solution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(P) is not a solution: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bSup>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remaining items, eliminate the constant from each given curve: (R)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and differentiating gives (A); (T)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gives (B); (Q)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gives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(C) is therefore </a:t>
                </a:r>
                <a:r>
                  <a:rPr lang="en-IN" sz="2400">
                    <a:solidFill>
                      <a:srgbClr val="111827"/>
                    </a:solidFill>
                    <a:latin typeface="Cambria Math" panose="02040503050406030204" pitchFamily="18" charset="0"/>
                  </a:rPr>
                  <a:t>$\frac{d^3x}{dy^3}=0$</a:t>
                </a:r>
                <a:r>
                  <a:rPr sz="2400" b="0">
                    <a:solidFill>
                      <a:srgbClr val="111827"/>
                    </a:solidFill>
                    <a:latin typeface="Arial"/>
                  </a:rPr>
                  <a:t>, whose solution is </a:t>
                </a:r>
                <a:r>
                  <a:rPr lang="en-IN" sz="2400">
                    <a:solidFill>
                      <a:srgbClr val="111827"/>
                    </a:solidFill>
                    <a:latin typeface="Cambria Math" panose="02040503050406030204" pitchFamily="18" charset="0"/>
                  </a:rPr>
                  <a:t>$x=A_1y^2+A_2y+A_3$</a:t>
                </a:r>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(P) is not a solution: </a:t>
                </a:r>
                <a:r>
                  <a:rPr lang="en-IN" sz="2400">
                    <a:solidFill>
                      <a:srgbClr val="111827"/>
                    </a:solidFill>
                    <a:latin typeface="Cambria Math" panose="02040503050406030204" pitchFamily="18" charset="0"/>
                  </a:rPr>
                  <a:t>$y=A_1x^2+\dots$</a:t>
                </a:r>
                <a:r>
                  <a:rPr sz="2400" b="0">
                    <a:solidFill>
                      <a:srgbClr val="111827"/>
                    </a:solidFill>
                    <a:latin typeface="Arial"/>
                  </a:rPr>
                  <a:t> has </a:t>
                </a:r>
                <a:r>
                  <a:rPr lang="en-IN" sz="2400">
                    <a:solidFill>
                      <a:srgbClr val="111827"/>
                    </a:solidFill>
                    <a:latin typeface="Cambria Math" panose="02040503050406030204" pitchFamily="18" charset="0"/>
                  </a:rPr>
                  <a:t>$y'''=0$</a:t>
                </a:r>
                <a:r>
                  <a:rPr sz="2400" b="0">
                    <a:solidFill>
                      <a:srgbClr val="111827"/>
                    </a:solidFill>
                    <a:latin typeface="Arial"/>
                  </a:rPr>
                  <a:t> and </a:t>
                </a:r>
                <a:r>
                  <a:rPr lang="en-IN" sz="2400">
                    <a:solidFill>
                      <a:srgbClr val="111827"/>
                    </a:solidFill>
                    <a:latin typeface="Cambria Math" panose="02040503050406030204" pitchFamily="18" charset="0"/>
                  </a:rPr>
                  <a:t>$y''=2A_1\ne0$</a:t>
                </a:r>
                <a:r>
                  <a:rPr sz="2400" b="0">
                    <a:solidFill>
                      <a:srgbClr val="111827"/>
                    </a:solidFill>
                    <a:latin typeface="Arial"/>
                  </a:rPr>
                  <a:t>, so </a:t>
                </a:r>
                <a:r>
                  <a:rPr lang="en-IN" sz="2400">
                    <a:solidFill>
                      <a:srgbClr val="111827"/>
                    </a:solidFill>
                    <a:latin typeface="Cambria Math" panose="02040503050406030204" pitchFamily="18" charset="0"/>
                  </a:rPr>
                  <a:t>$y'y'''-3y''^2=-12A_1^2\ne0$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remaining items, eliminate the constant from each given curve: (R) </a:t>
                </a:r>
                <a:r>
                  <a:rPr lang="en-IN" sz="2400">
                    <a:solidFill>
                      <a:srgbClr val="111827"/>
                    </a:solidFill>
                    <a:latin typeface="Cambria Math" panose="02040503050406030204" pitchFamily="18" charset="0"/>
                  </a:rPr>
                  <a:t>$c=\frac{(x+1)(1-y)}{y}$</a:t>
                </a:r>
                <a:r>
                  <a:rPr sz="2400" b="0">
                    <a:solidFill>
                      <a:srgbClr val="111827"/>
                    </a:solidFill>
                    <a:latin typeface="Arial"/>
                  </a:rPr>
                  <a:t> and differentiating gives (A); (T) </a:t>
                </a:r>
                <a:r>
                  <a:rPr lang="en-IN" sz="2400">
                    <a:solidFill>
                      <a:srgbClr val="111827"/>
                    </a:solidFill>
                    <a:latin typeface="Cambria Math" panose="02040503050406030204" pitchFamily="18" charset="0"/>
                  </a:rPr>
                  <a:t>$c=xy^2-2y^5$</a:t>
                </a:r>
                <a:r>
                  <a:rPr sz="2400" b="0">
                    <a:solidFill>
                      <a:srgbClr val="111827"/>
                    </a:solidFill>
                    <a:latin typeface="Arial"/>
                  </a:rPr>
                  <a:t> gives (B); (Q) </a:t>
                </a:r>
                <a:r>
                  <a:rPr lang="en-IN" sz="2400">
                    <a:solidFill>
                      <a:srgbClr val="111827"/>
                    </a:solidFill>
                    <a:latin typeface="Cambria Math" panose="02040503050406030204" pitchFamily="18" charset="0"/>
                  </a:rPr>
                  <a:t>$c=\frac{x^2y^2+1}{y}$</a:t>
                </a:r>
                <a:r>
                  <a:rPr sz="2400" b="0">
                    <a:solidFill>
                      <a:srgbClr val="111827"/>
                    </a:solidFill>
                    <a:latin typeface="Arial"/>
                  </a:rPr>
                  <a:t> gives (D).</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 R, B – T, C – S, D – Q</a:t>
            </a:r>
            <a:endParaRPr sz="2800">
              <a:solidFill>
                <a:srgbClr val="15803D"/>
              </a:solidFill>
            </a:endParaRP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oMath>
                </a14:m>
                <a:r>
                  <a:rPr sz="2400" b="0">
                    <a:solidFill>
                      <a:srgbClr val="111827"/>
                    </a:solidFill>
                    <a:latin typeface="Arial"/>
                  </a:rPr>
                  <a:t> multiplies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 term in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linear), consider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as the unknown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as the variable: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Inverse-derivative identities: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sub>
                    </m:sSub>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𝑥</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𝑥</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14:m>
                  <m:oMath xmlns:m="http://schemas.openxmlformats.org/officeDocument/2006/math">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sSup>
                      <m:e>
                        <m:r>
                          <a:rPr lang="en-IN" sz="2400" i="1">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has two families of solutions: straight lines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and parabolas with horizontal axis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is the cue in (D);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oMath>
                </a14:m>
                <a:r>
                  <a:rPr sz="2400" b="0">
                    <a:solidFill>
                      <a:srgbClr val="111827"/>
                    </a:solidFill>
                    <a:latin typeface="Arial"/>
                  </a:rPr>
                  <a:t> finishes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$\frac{dy}{dx}$</a:t>
                </a:r>
                <a:r>
                  <a:rPr sz="2400" b="0">
                    <a:solidFill>
                      <a:srgbClr val="111827"/>
                    </a:solidFill>
                    <a:latin typeface="Arial"/>
                  </a:rPr>
                  <a:t> multiplies </a:t>
                </a:r>
                <a:r>
                  <a:rPr lang="en-IN" sz="2400">
                    <a:solidFill>
                      <a:srgbClr val="111827"/>
                    </a:solidFill>
                    <a:latin typeface="Cambria Math" panose="02040503050406030204" pitchFamily="18" charset="0"/>
                  </a:rPr>
                  <a:t>$2x-10y^3$</a:t>
                </a:r>
                <a:r>
                  <a:rPr sz="2400" b="0">
                    <a:solidFill>
                      <a:srgbClr val="111827"/>
                    </a:solidFill>
                    <a:latin typeface="Arial"/>
                  </a:rPr>
                  <a:t> (a term in </a:t>
                </a:r>
                <a:r>
                  <a:rPr lang="en-IN" sz="2400">
                    <a:solidFill>
                      <a:srgbClr val="111827"/>
                    </a:solidFill>
                    <a:latin typeface="Cambria Math" panose="02040503050406030204" pitchFamily="18" charset="0"/>
                  </a:rPr>
                  <a:t>$x$</a:t>
                </a:r>
                <a:r>
                  <a:rPr sz="2400" b="0">
                    <a:solidFill>
                      <a:srgbClr val="111827"/>
                    </a:solidFill>
                    <a:latin typeface="Arial"/>
                  </a:rPr>
                  <a:t> linear), consider </a:t>
                </a:r>
                <a:r>
                  <a:rPr lang="en-IN" sz="2400">
                    <a:solidFill>
                      <a:srgbClr val="111827"/>
                    </a:solidFill>
                    <a:latin typeface="Cambria Math" panose="02040503050406030204" pitchFamily="18" charset="0"/>
                  </a:rPr>
                  <a:t>$x$</a:t>
                </a:r>
                <a:r>
                  <a:rPr sz="2400" b="0">
                    <a:solidFill>
                      <a:srgbClr val="111827"/>
                    </a:solidFill>
                    <a:latin typeface="Arial"/>
                  </a:rPr>
                  <a:t> as the unknown and </a:t>
                </a:r>
                <a:r>
                  <a:rPr lang="en-IN" sz="2400">
                    <a:solidFill>
                      <a:srgbClr val="111827"/>
                    </a:solidFill>
                    <a:latin typeface="Cambria Math" panose="02040503050406030204" pitchFamily="18" charset="0"/>
                  </a:rPr>
                  <a:t>$y$</a:t>
                </a:r>
                <a:r>
                  <a:rPr sz="2400" b="0">
                    <a:solidFill>
                      <a:srgbClr val="111827"/>
                    </a:solidFill>
                    <a:latin typeface="Arial"/>
                  </a:rPr>
                  <a:t> as the variable: </a:t>
                </a:r>
                <a:r>
                  <a:rPr lang="en-IN" sz="2400">
                    <a:solidFill>
                      <a:srgbClr val="111827"/>
                    </a:solidFill>
                    <a:latin typeface="Cambria Math" panose="02040503050406030204" pitchFamily="18" charset="0"/>
                  </a:rPr>
                  <a:t>$\frac{dx}{dy}+P(y)x=Q(y)$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Inverse-derivative identities: </a:t>
                </a:r>
                <a:r>
                  <a:rPr lang="en-IN" sz="2400">
                    <a:solidFill>
                      <a:srgbClr val="111827"/>
                    </a:solidFill>
                    <a:latin typeface="Cambria Math" panose="02040503050406030204" pitchFamily="18" charset="0"/>
                  </a:rPr>
                  <a:t>$y_x=\frac1{x'}$</a:t>
                </a:r>
                <a:r>
                  <a:rPr sz="2400" b="0">
                    <a:solidFill>
                      <a:srgbClr val="111827"/>
                    </a:solidFill>
                    <a:latin typeface="Arial"/>
                  </a:rPr>
                  <a:t>, </a:t>
                </a:r>
                <a:r>
                  <a:rPr lang="en-IN" sz="2400">
                    <a:solidFill>
                      <a:srgbClr val="111827"/>
                    </a:solidFill>
                    <a:latin typeface="Cambria Math" panose="02040503050406030204" pitchFamily="18" charset="0"/>
                  </a:rPr>
                  <a:t>$y_{xx}=-\frac{x''}{x'^3}$</a:t>
                </a:r>
                <a:r>
                  <a:rPr sz="2400" b="0">
                    <a:solidFill>
                      <a:srgbClr val="111827"/>
                    </a:solidFill>
                    <a:latin typeface="Arial"/>
                  </a:rPr>
                  <a:t>, </a:t>
                </a:r>
                <a:r>
                  <a:rPr lang="en-IN" sz="2400">
                    <a:solidFill>
                      <a:srgbClr val="111827"/>
                    </a:solidFill>
                    <a:latin typeface="Cambria Math" panose="02040503050406030204" pitchFamily="18" charset="0"/>
                  </a:rPr>
                  <a:t>$y_{xxx}=\frac{3x''^2-x'x'''}{x'^5}$</a:t>
                </a:r>
                <a:r>
                  <a:rPr sz="2400" b="0">
                    <a:solidFill>
                      <a:srgbClr val="111827"/>
                    </a:solidFill>
                    <a:latin typeface="Arial"/>
                  </a:rPr>
                  <a:t>. Hence </a:t>
                </a:r>
                <a:r>
                  <a:rPr lang="en-IN" sz="2400">
                    <a:solidFill>
                      <a:srgbClr val="111827"/>
                    </a:solidFill>
                    <a:latin typeface="Cambria Math" panose="02040503050406030204" pitchFamily="18" charset="0"/>
                  </a:rPr>
                  <a:t>$3y_{xx}^2-y_xy_{xxx}=\frac{x'''}{x'^5}$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r>
                  <a:rPr lang="en-IN" sz="2400">
                    <a:solidFill>
                      <a:srgbClr val="111827"/>
                    </a:solidFill>
                    <a:latin typeface="Cambria Math" panose="02040503050406030204" pitchFamily="18" charset="0"/>
                  </a:rPr>
                  <a:t>$y'y'''=3y''^2$</a:t>
                </a:r>
                <a:r>
                  <a:rPr sz="2400" b="0">
                    <a:solidFill>
                      <a:srgbClr val="111827"/>
                    </a:solidFill>
                    <a:latin typeface="Arial"/>
                  </a:rPr>
                  <a:t> has two families of solutions: straight lines </a:t>
                </a:r>
                <a:r>
                  <a:rPr lang="en-IN" sz="2400">
                    <a:solidFill>
                      <a:srgbClr val="111827"/>
                    </a:solidFill>
                    <a:latin typeface="Cambria Math" panose="02040503050406030204" pitchFamily="18" charset="0"/>
                  </a:rPr>
                  <a:t>$y=mx+c$</a:t>
                </a:r>
                <a:r>
                  <a:rPr sz="2400" b="0">
                    <a:solidFill>
                      <a:srgbClr val="111827"/>
                    </a:solidFill>
                    <a:latin typeface="Arial"/>
                  </a:rPr>
                  <a:t> and parabolas with horizontal axis </a:t>
                </a:r>
                <a:r>
                  <a:rPr lang="en-IN" sz="2400">
                    <a:solidFill>
                      <a:srgbClr val="111827"/>
                    </a:solidFill>
                    <a:latin typeface="Cambria Math" panose="02040503050406030204" pitchFamily="18" charset="0"/>
                  </a:rPr>
                  <a:t>$x=Ay^2+By+C$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$d(x^2y)=x^2dy+2xy\,dx$</a:t>
                </a:r>
                <a:r>
                  <a:rPr sz="2400" b="0">
                    <a:solidFill>
                      <a:srgbClr val="111827"/>
                    </a:solidFill>
                    <a:latin typeface="Arial"/>
                  </a:rPr>
                  <a:t> is the cue in (D); </a:t>
                </a:r>
                <a:r>
                  <a:rPr lang="en-IN" sz="2400">
                    <a:solidFill>
                      <a:srgbClr val="111827"/>
                    </a:solidFill>
                    <a:latin typeface="Cambria Math" panose="02040503050406030204" pitchFamily="18" charset="0"/>
                  </a:rPr>
                  <a:t>$y^2\cdot d\left(\frac1y\right)=-dy$</a:t>
                </a:r>
                <a:r>
                  <a:rPr sz="2400" b="0">
                    <a:solidFill>
                      <a:srgbClr val="111827"/>
                    </a:solidFill>
                    <a:latin typeface="Arial"/>
                  </a:rPr>
                  <a:t> finishes it.</a:t>
                </a:r>
                <a:endParaRPr sz="2400">
                  <a:solidFill>
                    <a:srgbClr val="111827"/>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[JEE-2009] Match the statements/expressions in Column I with the open intervals in Column 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Interval contained in the domain of definition of non-zero solutions of the differential equation </a:t>
                </a:r>
                <a14:m>
                  <m:oMath xmlns:m="http://schemas.openxmlformats.org/officeDocument/2006/math">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3</m:t>
                    </m:r>
                    <m:sSup>
                      <m:e>
                        <m:r>
                          <m:rPr>
                            <m:sty m:val="p"/>
                          </m:rPr>
                          <a:rPr lang="en-IN" sz="2000">
                            <a:solidFill>
                              <a:srgbClr val="111827"/>
                            </a:solidFill>
                            <a:latin typeface="Cambria Math" panose="02040503050406030204" pitchFamily="18" charset="0"/>
                          </a:rPr>
                          <m:t>)</m:t>
                        </m:r>
                      </m:e>
                      <m:sup>
                        <m:r>
                          <a:rPr lang="en-IN" sz="2000" i="1">
                            <a:solidFill>
                              <a:srgbClr val="111827"/>
                            </a:solidFill>
                            <a:latin typeface="Cambria Math" panose="02040503050406030204" pitchFamily="18" charset="0"/>
                          </a:rPr>
                          <m:t>2</m:t>
                        </m:r>
                      </m:sup>
                    </m:sSup>
                    <m:sSup>
                      <m:e>
                        <m:r>
                          <a:rPr lang="en-IN" sz="2000" i="1">
                            <a:solidFill>
                              <a:srgbClr val="111827"/>
                            </a:solidFill>
                            <a:latin typeface="Cambria Math" panose="02040503050406030204" pitchFamily="18" charset="0"/>
                          </a:rPr>
                          <m:t>𝑦</m:t>
                        </m:r>
                      </m:e>
                      <m:sup>
                        <m:r>
                          <m:rPr>
                            <m:sty m:val="p"/>
                          </m:rPr>
                          <a:rPr lang="en-IN" sz="2000">
                            <a:solidFill>
                              <a:srgbClr val="111827"/>
                            </a:solidFill>
                            <a:latin typeface="Cambria Math" panose="02040503050406030204" pitchFamily="18" charset="0"/>
                          </a:rPr>
                          <m:t>′</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(B) Interval containing the value of the integral </a:t>
                </a:r>
                <a14:m>
                  <m:oMath xmlns:m="http://schemas.openxmlformats.org/officeDocument/2006/math">
                    <m:nary>
                      <m:naryPr>
                        <m:chr m:val="∫"/>
                        <m:limLoc m:val="subSup"/>
                        <m:subHide m:val="off"/>
                        <m:supHide m:val="off"/>
                        <m:ctrlPr>
                          <a:rPr lang="en-IN" sz="2000" i="1">
                            <a:solidFill>
                              <a:srgbClr val="111827"/>
                            </a:solidFill>
                            <a:latin typeface="Cambria Math" panose="02040503050406030204" pitchFamily="18" charset="0"/>
                          </a:rPr>
                        </m:ctrlPr>
                      </m:naryPr>
                      <m:sub>
                        <m:r>
                          <a:rPr lang="en-IN" sz="2000" i="1">
                            <a:solidFill>
                              <a:srgbClr val="111827"/>
                            </a:solidFill>
                            <a:latin typeface="Cambria Math" panose="02040503050406030204" pitchFamily="18" charset="0"/>
                          </a:rPr>
                          <m:t>1</m:t>
                        </m:r>
                      </m:sub>
                      <m:sup>
                        <m:r>
                          <a:rPr lang="en-IN" sz="2000" i="1">
                            <a:solidFill>
                              <a:srgbClr val="111827"/>
                            </a:solidFill>
                            <a:latin typeface="Cambria Math" panose="02040503050406030204" pitchFamily="18" charset="0"/>
                          </a:rPr>
                          <m:t>5</m:t>
                        </m:r>
                      </m:sup>
                      <m:e>
                        <m:r>
                          <m:rPr>
                            <m:sty m:val="p"/>
                          </m:rPr>
                          <a:rPr lang="en-IN" sz="2000">
                            <a:solidFill>
                              <a:srgbClr val="111827"/>
                            </a:solidFill>
                            <a:latin typeface="Cambria Math" panose="02040503050406030204" pitchFamily="18" charset="0"/>
                          </a:rPr>
                          <m:t>(</m:t>
                        </m:r>
                      </m:e>
                    </m:nary>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3</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4</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5</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 </m:t>
                    </m:r>
                    <m:r>
                      <a:rPr lang="en-IN" sz="2000" i="1">
                        <a:solidFill>
                          <a:srgbClr val="111827"/>
                        </a:solidFill>
                        <a:latin typeface="Cambria Math" panose="02040503050406030204" pitchFamily="18" charset="0"/>
                      </a:rPr>
                      <m:t>𝑑</m:t>
                    </m:r>
                    <m:r>
                      <a:rPr lang="en-IN" sz="2000" i="1">
                        <a:solidFill>
                          <a:srgbClr val="111827"/>
                        </a:solidFill>
                        <a:latin typeface="Cambria Math" panose="02040503050406030204" pitchFamily="18" charset="0"/>
                      </a:rPr>
                      <m:t>𝑥</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(C) Interval in which at least one of the points of local maximum of </a:t>
                </a:r>
                <a14:m>
                  <m:oMath xmlns:m="http://schemas.openxmlformats.org/officeDocument/2006/math">
                    <m:sSup>
                      <m:e>
                        <m:r>
                          <m:rPr>
                            <m:sty m:val="p"/>
                          </m:rPr>
                          <a:rPr lang="en-IN" sz="2000">
                            <a:solidFill>
                              <a:srgbClr val="111827"/>
                            </a:solidFill>
                            <a:latin typeface="Cambria Math" panose="02040503050406030204" pitchFamily="18" charset="0"/>
                          </a:rPr>
                          <m:t>cos</m:t>
                        </m:r>
                      </m:e>
                      <m:sup>
                        <m:r>
                          <a:rPr lang="en-IN" sz="2000" i="1">
                            <a:solidFill>
                              <a:srgbClr val="111827"/>
                            </a:solidFill>
                            <a:latin typeface="Cambria Math" panose="02040503050406030204" pitchFamily="18" charset="0"/>
                          </a:rPr>
                          <m:t>2</m:t>
                        </m:r>
                      </m:sup>
                    </m:sSup>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sin</m:t>
                    </m:r>
                    <m:r>
                      <a:rPr lang="en-IN" sz="2000" i="1">
                        <a:solidFill>
                          <a:srgbClr val="111827"/>
                        </a:solidFill>
                        <a:latin typeface="Cambria Math" panose="02040503050406030204" pitchFamily="18" charset="0"/>
                      </a:rPr>
                      <m:t>𝑥</m:t>
                    </m:r>
                  </m:oMath>
                </a14:m>
                <a:r>
                  <a:rPr sz="2000" b="0">
                    <a:solidFill>
                      <a:srgbClr val="111827"/>
                    </a:solidFill>
                    <a:latin typeface="Arial"/>
                  </a:rPr>
                  <a:t> lies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Interval in which </a:t>
                </a:r>
                <a14:m>
                  <m:oMath xmlns:m="http://schemas.openxmlformats.org/officeDocument/2006/math">
                    <m:sSup>
                      <m:e>
                        <m:r>
                          <m:rPr>
                            <m:sty m:val="p"/>
                          </m:rPr>
                          <a:rPr lang="en-IN" sz="2000">
                            <a:solidFill>
                              <a:srgbClr val="111827"/>
                            </a:solidFill>
                            <a:latin typeface="Cambria Math" panose="02040503050406030204" pitchFamily="18" charset="0"/>
                          </a:rPr>
                          <m:t>tan</m:t>
                        </m:r>
                      </m:e>
                      <m: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sup>
                    </m:sSup>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sin</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cos</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oMath>
                </a14:m>
                <a:r>
                  <a:rPr sz="2000" b="0">
                    <a:solidFill>
                      <a:srgbClr val="111827"/>
                    </a:solidFill>
                    <a:latin typeface="Arial"/>
                  </a:rPr>
                  <a:t> is increasing</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14:m>
                  <m:oMath xmlns:m="http://schemas.openxmlformats.org/officeDocument/2006/math">
                    <m:d>
                      <m:dPr>
                        <m:begChr m:val="("/>
                        <m:sepChr m:val=""/>
                        <m:endChr m:val=")"/>
                        <m:grow/>
                        <m:ctrlPr>
                          <a:rPr lang="en-IN" sz="2000" i="1">
                            <a:solidFill>
                              <a:srgbClr val="111827"/>
                            </a:solidFill>
                            <a:latin typeface="Cambria Math" panose="02040503050406030204" pitchFamily="18" charset="0"/>
                          </a:rPr>
                        </m:ctrlPr>
                      </m:dPr>
                      <m:e>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π</m:t>
                            </m:r>
                          </m:num>
                          <m:den>
                            <m:r>
                              <a:rPr lang="en-IN" sz="2000" i="1">
                                <a:solidFill>
                                  <a:srgbClr val="111827"/>
                                </a:solidFill>
                                <a:latin typeface="Cambria Math" panose="02040503050406030204" pitchFamily="18" charset="0"/>
                              </a:rPr>
                              <m:t>2</m:t>
                            </m:r>
                          </m:den>
                        </m:f>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π</m:t>
                            </m:r>
                          </m:num>
                          <m:den>
                            <m:r>
                              <a:rPr lang="en-IN" sz="2000" i="1">
                                <a:solidFill>
                                  <a:srgbClr val="111827"/>
                                </a:solidFill>
                                <a:latin typeface="Cambria Math" panose="02040503050406030204" pitchFamily="18" charset="0"/>
                              </a:rPr>
                              <m:t>2</m:t>
                            </m:r>
                          </m:den>
                        </m:f>
                      </m:e>
                    </m:d>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14:m>
                  <m:oMath xmlns:m="http://schemas.openxmlformats.org/officeDocument/2006/math">
                    <m:d>
                      <m:dPr>
                        <m:begChr m:val="("/>
                        <m:sepChr m:val=""/>
                        <m:endChr m:val=")"/>
                        <m:grow/>
                        <m:ctrlPr>
                          <a:rPr lang="en-IN" sz="2000" i="1">
                            <a:solidFill>
                              <a:srgbClr val="111827"/>
                            </a:solidFill>
                            <a:latin typeface="Cambria Math" panose="02040503050406030204" pitchFamily="18" charset="0"/>
                          </a:rPr>
                        </m:ctrlPr>
                      </m:dPr>
                      <m:e>
                        <m:r>
                          <a:rPr lang="en-IN" sz="2000" i="1">
                            <a:solidFill>
                              <a:srgbClr val="111827"/>
                            </a:solidFill>
                            <a:latin typeface="Cambria Math" panose="02040503050406030204" pitchFamily="18" charset="0"/>
                          </a:rPr>
                          <m:t>0</m:t>
                        </m:r>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π</m:t>
                            </m:r>
                          </m:num>
                          <m:den>
                            <m:r>
                              <a:rPr lang="en-IN" sz="2000" i="1">
                                <a:solidFill>
                                  <a:srgbClr val="111827"/>
                                </a:solidFill>
                                <a:latin typeface="Cambria Math" panose="02040503050406030204" pitchFamily="18" charset="0"/>
                              </a:rPr>
                              <m:t>2</m:t>
                            </m:r>
                          </m:den>
                        </m:f>
                      </m:e>
                    </m:d>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14:m>
                  <m:oMath xmlns:m="http://schemas.openxmlformats.org/officeDocument/2006/math">
                    <m:d>
                      <m:dPr>
                        <m:begChr m:val="("/>
                        <m:sepChr m:val=""/>
                        <m:endChr m:val=")"/>
                        <m:grow/>
                        <m:ctrlPr>
                          <a:rPr lang="en-IN" sz="2000" i="1">
                            <a:solidFill>
                              <a:srgbClr val="111827"/>
                            </a:solidFill>
                            <a:latin typeface="Cambria Math" panose="02040503050406030204" pitchFamily="18" charset="0"/>
                          </a:rPr>
                        </m:ctrlPr>
                      </m:dPr>
                      <m:e>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π</m:t>
                            </m:r>
                          </m:num>
                          <m:den>
                            <m:r>
                              <a:rPr lang="en-IN" sz="2000" i="1">
                                <a:solidFill>
                                  <a:srgbClr val="111827"/>
                                </a:solidFill>
                                <a:latin typeface="Cambria Math" panose="02040503050406030204" pitchFamily="18" charset="0"/>
                              </a:rPr>
                              <m:t>8</m:t>
                            </m:r>
                          </m:den>
                        </m:f>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5</m:t>
                            </m:r>
                            <m:r>
                              <a:rPr lang="en-IN" sz="2000" i="1">
                                <a:solidFill>
                                  <a:srgbClr val="111827"/>
                                </a:solidFill>
                                <a:latin typeface="Cambria Math" panose="02040503050406030204" pitchFamily="18" charset="0"/>
                              </a:rPr>
                              <m:t>π</m:t>
                            </m:r>
                          </m:num>
                          <m:den>
                            <m:r>
                              <a:rPr lang="en-IN" sz="2000" i="1">
                                <a:solidFill>
                                  <a:srgbClr val="111827"/>
                                </a:solidFill>
                                <a:latin typeface="Cambria Math" panose="02040503050406030204" pitchFamily="18" charset="0"/>
                              </a:rPr>
                              <m:t>4</m:t>
                            </m:r>
                          </m:den>
                        </m:f>
                      </m:e>
                    </m:d>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14:m>
                  <m:oMath xmlns:m="http://schemas.openxmlformats.org/officeDocument/2006/math">
                    <m:d>
                      <m:dPr>
                        <m:begChr m:val="("/>
                        <m:sepChr m:val=""/>
                        <m:endChr m:val=")"/>
                        <m:grow/>
                        <m:ctrlPr>
                          <a:rPr lang="en-IN" sz="2000" i="1">
                            <a:solidFill>
                              <a:srgbClr val="111827"/>
                            </a:solidFill>
                            <a:latin typeface="Cambria Math" panose="02040503050406030204" pitchFamily="18" charset="0"/>
                          </a:rPr>
                        </m:ctrlPr>
                      </m:dPr>
                      <m:e>
                        <m:r>
                          <a:rPr lang="en-IN" sz="2000" i="1">
                            <a:solidFill>
                              <a:srgbClr val="111827"/>
                            </a:solidFill>
                            <a:latin typeface="Cambria Math" panose="02040503050406030204" pitchFamily="18" charset="0"/>
                          </a:rPr>
                          <m:t>0</m:t>
                        </m:r>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π</m:t>
                            </m:r>
                          </m:num>
                          <m:den>
                            <m:r>
                              <a:rPr lang="en-IN" sz="2000" i="1">
                                <a:solidFill>
                                  <a:srgbClr val="111827"/>
                                </a:solidFill>
                                <a:latin typeface="Cambria Math" panose="02040503050406030204" pitchFamily="18" charset="0"/>
                              </a:rPr>
                              <m:t>8</m:t>
                            </m:r>
                          </m:den>
                        </m:f>
                      </m:e>
                    </m:d>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(T) </a:t>
                </a:r>
                <a14:m>
                  <m:oMath xmlns:m="http://schemas.openxmlformats.org/officeDocument/2006/math">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π</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π</m:t>
                    </m:r>
                    <m:r>
                      <m:rPr>
                        <m:sty m:val="p"/>
                      </m:rPr>
                      <a:rPr lang="en-IN" sz="2000">
                        <a:solidFill>
                          <a:srgbClr val="111827"/>
                        </a:solidFill>
                        <a:latin typeface="Cambria Math" panose="02040503050406030204" pitchFamily="18" charset="0"/>
                      </a:rPr>
                      <m:t>)</m:t>
                    </m:r>
                  </m:oMath>
                </a14:m>
                <a:endParaRPr sz="2000">
                  <a:solidFill>
                    <a:srgbClr val="111827"/>
                  </a:solidFill>
                </a:endParaRPr>
              </a:p>
            </p:txBody>
          </p:sp>
        </mc:Choice>
        <mc:Fallback>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[JEE-2009] Match the statements/expressions in Column I with the open intervals in Column 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Interval contained in the domain of definition of non-zero solutions of the differential equation </a:t>
                </a:r>
                <a:r>
                  <a:rPr lang="en-IN" sz="2000">
                    <a:solidFill>
                      <a:srgbClr val="111827"/>
                    </a:solidFill>
                    <a:latin typeface="Cambria Math" panose="02040503050406030204" pitchFamily="18" charset="0"/>
                  </a:rPr>
                  <a:t>$(x-3)^2y'+y=0$</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Interval containing the value of the integral </a:t>
                </a:r>
                <a:r>
                  <a:rPr lang="en-IN" sz="2000">
                    <a:solidFill>
                      <a:srgbClr val="111827"/>
                    </a:solidFill>
                    <a:latin typeface="Cambria Math" panose="02040503050406030204" pitchFamily="18" charset="0"/>
                  </a:rPr>
                  <a:t>$\int_1^5(x-1)(x-2)(x-3)(x-4)(x-5)\,dx$</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Interval in which at least one of the points of local maximum of </a:t>
                </a:r>
                <a:r>
                  <a:rPr lang="en-IN" sz="2000">
                    <a:solidFill>
                      <a:srgbClr val="111827"/>
                    </a:solidFill>
                    <a:latin typeface="Cambria Math" panose="02040503050406030204" pitchFamily="18" charset="0"/>
                  </a:rPr>
                  <a:t>$\cos^2x+\sin x$</a:t>
                </a:r>
                <a:r>
                  <a:rPr sz="2000" b="0">
                    <a:solidFill>
                      <a:srgbClr val="111827"/>
                    </a:solidFill>
                    <a:latin typeface="Arial"/>
                  </a:rPr>
                  <a:t> lies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Interval in which </a:t>
                </a:r>
                <a:r>
                  <a:rPr lang="en-IN" sz="2000">
                    <a:solidFill>
                      <a:srgbClr val="111827"/>
                    </a:solidFill>
                    <a:latin typeface="Cambria Math" panose="02040503050406030204" pitchFamily="18" charset="0"/>
                  </a:rPr>
                  <a:t>$\tan^{-1}(\sin x+\cos x)$</a:t>
                </a:r>
                <a:r>
                  <a:rPr sz="2000" b="0">
                    <a:solidFill>
                      <a:srgbClr val="111827"/>
                    </a:solidFill>
                    <a:latin typeface="Arial"/>
                  </a:rPr>
                  <a:t> is increasing</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r>
                  <a:rPr lang="en-IN" sz="2000">
                    <a:solidFill>
                      <a:srgbClr val="111827"/>
                    </a:solidFill>
                    <a:latin typeface="Cambria Math" panose="02040503050406030204" pitchFamily="18" charset="0"/>
                  </a:rPr>
                  <a:t>$\left(-\frac\pi2,\frac\pi2\right)$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r>
                  <a:rPr lang="en-IN" sz="2000">
                    <a:solidFill>
                      <a:srgbClr val="111827"/>
                    </a:solidFill>
                    <a:latin typeface="Cambria Math" panose="02040503050406030204" pitchFamily="18" charset="0"/>
                  </a:rPr>
                  <a:t>$\left(0,\frac\pi2\right)$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r>
                  <a:rPr lang="en-IN" sz="2000">
                    <a:solidFill>
                      <a:srgbClr val="111827"/>
                    </a:solidFill>
                    <a:latin typeface="Cambria Math" panose="02040503050406030204" pitchFamily="18" charset="0"/>
                  </a:rPr>
                  <a:t>$\left(\frac\pi8,\frac{5\pi}{4}\right)$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r>
                  <a:rPr lang="en-IN" sz="2000">
                    <a:solidFill>
                      <a:srgbClr val="111827"/>
                    </a:solidFill>
                    <a:latin typeface="Cambria Math" panose="02040503050406030204" pitchFamily="18" charset="0"/>
                  </a:rPr>
                  <a:t>$\left(0,\frac\pi8\right)$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(T) </a:t>
                </a:r>
                <a:r>
                  <a:rPr lang="en-IN" sz="2000">
                    <a:solidFill>
                      <a:srgbClr val="111827"/>
                    </a:solidFill>
                    <a:latin typeface="Cambria Math" panose="02040503050406030204" pitchFamily="18" charset="0"/>
                  </a:rPr>
                  <a:t>$(-\pi,\pi)$</a:t>
                </a:r>
                <a:endParaRPr sz="2000">
                  <a:solidFill>
                    <a:srgbClr val="111827"/>
                  </a:solidFill>
                </a:endParaRPr>
              </a:p>
            </p:txBody>
          </p:sp>
        </mc:Fallback>
      </mc:AlternateContent>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Domain of a solution of a differential equation, Definite integral (symmetry), Maxima and minima, Monotonicity of inverse trigonometric functions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Reduce each statement to a clean condition: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integral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local maxima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6</m:t>
                        </m:r>
                      </m:den>
                    </m:f>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&gt;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Reduce each statement to a clean condition: </a:t>
                </a:r>
                <a:r>
                  <a:rPr lang="en-IN" sz="2400">
                    <a:solidFill>
                      <a:srgbClr val="78350F"/>
                    </a:solidFill>
                    <a:latin typeface="Cambria Math" panose="02040503050406030204" pitchFamily="18" charset="0"/>
                  </a:rPr>
                  <a:t>$x\ne3$</a:t>
                </a:r>
                <a:r>
                  <a:rPr sz="2400" b="0">
                    <a:solidFill>
                      <a:srgbClr val="78350F"/>
                    </a:solidFill>
                    <a:latin typeface="Arial"/>
                  </a:rPr>
                  <a:t>, integral </a:t>
                </a:r>
                <a:r>
                  <a:rPr lang="en-IN" sz="2400">
                    <a:solidFill>
                      <a:srgbClr val="78350F"/>
                    </a:solidFill>
                    <a:latin typeface="Cambria Math" panose="02040503050406030204" pitchFamily="18" charset="0"/>
                  </a:rPr>
                  <a:t>$=0$</a:t>
                </a:r>
                <a:r>
                  <a:rPr sz="2400" b="0">
                    <a:solidFill>
                      <a:srgbClr val="78350F"/>
                    </a:solidFill>
                    <a:latin typeface="Arial"/>
                  </a:rPr>
                  <a:t>, local maxima at </a:t>
                </a:r>
                <a:r>
                  <a:rPr lang="en-IN" sz="2400">
                    <a:solidFill>
                      <a:srgbClr val="78350F"/>
                    </a:solidFill>
                    <a:latin typeface="Cambria Math" panose="02040503050406030204" pitchFamily="18" charset="0"/>
                  </a:rPr>
                  <a:t>$x=\frac\pi6,\frac{5\pi}6$</a:t>
                </a:r>
                <a:r>
                  <a:rPr sz="2400" b="0">
                    <a:solidFill>
                      <a:srgbClr val="78350F"/>
                    </a:solidFill>
                    <a:latin typeface="Arial"/>
                  </a:rPr>
                  <a:t>, and </a:t>
                </a:r>
                <a:r>
                  <a:rPr lang="en-IN" sz="2400">
                    <a:solidFill>
                      <a:srgbClr val="78350F"/>
                    </a:solidFill>
                    <a:latin typeface="Cambria Math" panose="02040503050406030204" pitchFamily="18" charset="0"/>
                  </a:rPr>
                  <a:t>$\cos x&gt;\sin 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$\frac{dy}{dx}=-\frac{y}{(x-3)^2}\Rightarrow\ln y=\frac{1}{x-3}+c$</a:t>
                </a:r>
                <a:r>
                  <a:rPr sz="2400" b="0">
                    <a:solidFill>
                      <a:srgbClr val="111827"/>
                    </a:solidFill>
                    <a:latin typeface="Arial"/>
                  </a:rPr>
                  <a:t>, so </a:t>
                </a:r>
                <a:r>
                  <a:rPr lang="en-IN" sz="2400">
                    <a:solidFill>
                      <a:srgbClr val="111827"/>
                    </a:solidFill>
                    <a:latin typeface="Cambria Math" panose="02040503050406030204" pitchFamily="18" charset="0"/>
                  </a:rPr>
                  <a:t>$y=e^{\frac{1}{x-3}+c}$</a:t>
                </a:r>
                <a:r>
                  <a:rPr sz="2400" b="0">
                    <a:solidFill>
                      <a:srgbClr val="111827"/>
                    </a:solidFill>
                    <a:latin typeface="Arial"/>
                  </a:rPr>
                  <a:t>, </a:t>
                </a:r>
                <a:r>
                  <a:rPr lang="en-IN" sz="2400">
                    <a:solidFill>
                      <a:srgbClr val="111827"/>
                    </a:solidFill>
                    <a:latin typeface="Cambria Math" panose="02040503050406030204" pitchFamily="18" charset="0"/>
                  </a:rPr>
                  <a:t>$x\ne3$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The domain excludes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an interval is contained in it iff it does not contain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1.57</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 so (P), (Q), (S) qualify; (R)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contain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5</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Applying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5</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value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lies in the open intervals (P)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and (T)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not in (Q), (R), (S) (their left end is positive).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The domain excludes </a:t>
                </a:r>
                <a:r>
                  <a:rPr lang="en-IN" sz="2400">
                    <a:solidFill>
                      <a:srgbClr val="111827"/>
                    </a:solidFill>
                    <a:latin typeface="Cambria Math" panose="02040503050406030204" pitchFamily="18" charset="0"/>
                  </a:rPr>
                  <a:t>$x=3$</a:t>
                </a:r>
                <a:r>
                  <a:rPr sz="2400" b="0">
                    <a:solidFill>
                      <a:srgbClr val="111827"/>
                    </a:solidFill>
                    <a:latin typeface="Arial"/>
                  </a:rPr>
                  <a:t>, so an interval is contained in it iff it does not contain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$\frac\pi2\approx1.57&lt;3$</a:t>
                </a:r>
                <a:r>
                  <a:rPr sz="2400" b="0">
                    <a:solidFill>
                      <a:srgbClr val="111827"/>
                    </a:solidFill>
                    <a:latin typeface="Arial"/>
                  </a:rPr>
                  <a:t> so (P), (Q), (S) qualify; (R) </a:t>
                </a:r>
                <a:r>
                  <a:rPr lang="en-IN" sz="2400">
                    <a:solidFill>
                      <a:srgbClr val="111827"/>
                    </a:solidFill>
                    <a:latin typeface="Cambria Math" panose="02040503050406030204" pitchFamily="18" charset="0"/>
                  </a:rPr>
                  <a:t>$=(0.39,3.93)$</a:t>
                </a:r>
                <a:r>
                  <a:rPr sz="2400" b="0">
                    <a:solidFill>
                      <a:srgbClr val="111827"/>
                    </a:solidFill>
                    <a:latin typeface="Arial"/>
                  </a:rPr>
                  <a:t> and (T) </a:t>
                </a:r>
                <a:r>
                  <a:rPr lang="en-IN" sz="2400">
                    <a:solidFill>
                      <a:srgbClr val="111827"/>
                    </a:solidFill>
                    <a:latin typeface="Cambria Math" panose="02040503050406030204" pitchFamily="18" charset="0"/>
                  </a:rPr>
                  <a:t>$=(-3.14,3.14)$</a:t>
                </a:r>
                <a:r>
                  <a:rPr sz="2400" b="0">
                    <a:solidFill>
                      <a:srgbClr val="111827"/>
                    </a:solidFill>
                    <a:latin typeface="Arial"/>
                  </a:rPr>
                  <a:t> both contain </a:t>
                </a:r>
                <a:r>
                  <a:rPr lang="en-IN" sz="2400">
                    <a:solidFill>
                      <a:srgbClr val="111827"/>
                    </a:solidFill>
                    <a:latin typeface="Cambria Math" panose="02040503050406030204" pitchFamily="18" charset="0"/>
                  </a:rPr>
                  <a:t>$3$</a:t>
                </a:r>
                <a:r>
                  <a:rPr sz="2400" b="0">
                    <a:solidFill>
                      <a:srgbClr val="111827"/>
                    </a:solidFill>
                    <a:latin typeface="Arial"/>
                  </a:rPr>
                  <a:t>. So (A) </a:t>
                </a:r>
                <a:r>
                  <a:rPr lang="en-IN" sz="2400">
                    <a:solidFill>
                      <a:srgbClr val="111827"/>
                    </a:solidFill>
                    <a:latin typeface="Cambria Math" panose="02040503050406030204" pitchFamily="18" charset="0"/>
                  </a:rPr>
                  <a:t>$\to$</a:t>
                </a:r>
                <a:r>
                  <a:rPr sz="2400" b="0">
                    <a:solidFill>
                      <a:srgbClr val="111827"/>
                    </a:solidFill>
                    <a:latin typeface="Arial"/>
                  </a:rPr>
                  <a:t> P,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$I=\int_1^5(x-1)(x-2)(x-3)(x-4)(x-5)\,dx$</a:t>
                </a:r>
                <a:r>
                  <a:rPr sz="2400" b="0">
                    <a:solidFill>
                      <a:srgbClr val="111827"/>
                    </a:solidFill>
                    <a:latin typeface="Arial"/>
                  </a:rPr>
                  <a:t>. Applying </a:t>
                </a:r>
                <a:r>
                  <a:rPr lang="en-IN" sz="2400">
                    <a:solidFill>
                      <a:srgbClr val="111827"/>
                    </a:solidFill>
                    <a:latin typeface="Cambria Math" panose="02040503050406030204" pitchFamily="18" charset="0"/>
                  </a:rPr>
                  <a:t>$x\to6-x$</a:t>
                </a:r>
                <a:r>
                  <a:rPr sz="2400" b="0">
                    <a:solidFill>
                      <a:srgbClr val="111827"/>
                    </a:solidFill>
                    <a:latin typeface="Arial"/>
                  </a:rPr>
                  <a:t>: </a:t>
                </a:r>
                <a:r>
                  <a:rPr lang="en-IN" sz="2400">
                    <a:solidFill>
                      <a:srgbClr val="111827"/>
                    </a:solidFill>
                    <a:latin typeface="Cambria Math" panose="02040503050406030204" pitchFamily="18" charset="0"/>
                  </a:rPr>
                  <a:t>$I=\int_1^5(5-x)(4-x)(3-x)(2-x)(1-x)\,dx=-I$</a:t>
                </a:r>
                <a:r>
                  <a:rPr sz="2400" b="0">
                    <a:solidFill>
                      <a:srgbClr val="111827"/>
                    </a:solidFill>
                    <a:latin typeface="Arial"/>
                  </a:rPr>
                  <a:t>, so </a:t>
                </a:r>
                <a:r>
                  <a:rPr lang="en-IN" sz="2400">
                    <a:solidFill>
                      <a:srgbClr val="111827"/>
                    </a:solidFill>
                    <a:latin typeface="Cambria Math" panose="02040503050406030204" pitchFamily="18" charset="0"/>
                  </a:rPr>
                  <a:t>$I=0$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value </a:t>
                </a:r>
                <a:r>
                  <a:rPr lang="en-IN" sz="2400">
                    <a:solidFill>
                      <a:srgbClr val="111827"/>
                    </a:solidFill>
                    <a:latin typeface="Cambria Math" panose="02040503050406030204" pitchFamily="18" charset="0"/>
                  </a:rPr>
                  <a:t>$0$</a:t>
                </a:r>
                <a:r>
                  <a:rPr sz="2400" b="0">
                    <a:solidFill>
                      <a:srgbClr val="111827"/>
                    </a:solidFill>
                    <a:latin typeface="Arial"/>
                  </a:rPr>
                  <a:t> lies in the open intervals (P) </a:t>
                </a:r>
                <a:r>
                  <a:rPr lang="en-IN" sz="2400">
                    <a:solidFill>
                      <a:srgbClr val="111827"/>
                    </a:solidFill>
                    <a:latin typeface="Cambria Math" panose="02040503050406030204" pitchFamily="18" charset="0"/>
                  </a:rPr>
                  <a:t>$\left(-\frac\pi2,\frac\pi2\right)$</a:t>
                </a:r>
                <a:r>
                  <a:rPr sz="2400" b="0">
                    <a:solidFill>
                      <a:srgbClr val="111827"/>
                    </a:solidFill>
                    <a:latin typeface="Arial"/>
                  </a:rPr>
                  <a:t> and (T) </a:t>
                </a:r>
                <a:r>
                  <a:rPr lang="en-IN" sz="2400">
                    <a:solidFill>
                      <a:srgbClr val="111827"/>
                    </a:solidFill>
                    <a:latin typeface="Cambria Math" panose="02040503050406030204" pitchFamily="18" charset="0"/>
                  </a:rPr>
                  <a:t>$(-\pi,\pi)$</a:t>
                </a:r>
                <a:r>
                  <a:rPr sz="2400" b="0">
                    <a:solidFill>
                      <a:srgbClr val="111827"/>
                    </a:solidFill>
                    <a:latin typeface="Arial"/>
                  </a:rPr>
                  <a:t> but not in (Q), (R), (S) (their left end is positive). So (B) </a:t>
                </a:r>
                <a:r>
                  <a:rPr lang="en-IN" sz="2400">
                    <a:solidFill>
                      <a:srgbClr val="111827"/>
                    </a:solidFill>
                    <a:latin typeface="Cambria Math" panose="02040503050406030204" pitchFamily="18" charset="0"/>
                  </a:rPr>
                  <a:t>$\to$</a:t>
                </a:r>
                <a:r>
                  <a:rPr sz="2400" b="0">
                    <a:solidFill>
                      <a:srgbClr val="111827"/>
                    </a:solidFill>
                    <a:latin typeface="Arial"/>
                  </a:rPr>
                  <a:t> P,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$f(x)=\cos^2x+\sin x$</a:t>
                </a:r>
                <a:r>
                  <a:rPr sz="2400" b="0">
                    <a:solidFill>
                      <a:srgbClr val="111827"/>
                    </a:solidFill>
                    <a:latin typeface="Arial"/>
                  </a:rPr>
                  <a:t>, </a:t>
                </a:r>
                <a:r>
                  <a:rPr lang="en-IN" sz="2400">
                    <a:solidFill>
                      <a:srgbClr val="111827"/>
                    </a:solidFill>
                    <a:latin typeface="Cambria Math" panose="02040503050406030204" pitchFamily="18" charset="0"/>
                  </a:rPr>
                  <a:t>$f'(x)=-2\cos x\sin x+\cos x=\cos x(1-2\sin x)$</a:t>
                </a:r>
                <a:r>
                  <a:rPr sz="2400" b="0">
                    <a:solidFill>
                      <a:srgbClr val="111827"/>
                    </a:solidFill>
                    <a:latin typeface="Arial"/>
                  </a:rPr>
                  <a:t>. So </a:t>
                </a:r>
                <a:r>
                  <a:rPr lang="en-IN" sz="2400">
                    <a:solidFill>
                      <a:srgbClr val="111827"/>
                    </a:solidFill>
                    <a:latin typeface="Cambria Math" panose="02040503050406030204" pitchFamily="18" charset="0"/>
                  </a:rPr>
                  <a:t>$f'(x)=0$</a:t>
                </a:r>
                <a:r>
                  <a:rPr sz="2400" b="0">
                    <a:solidFill>
                      <a:srgbClr val="111827"/>
                    </a:solidFill>
                    <a:latin typeface="Arial"/>
                  </a:rPr>
                  <a:t> for </a:t>
                </a:r>
                <a:r>
                  <a:rPr lang="en-IN" sz="2400">
                    <a:solidFill>
                      <a:srgbClr val="111827"/>
                    </a:solidFill>
                    <a:latin typeface="Cambria Math" panose="02040503050406030204" pitchFamily="18" charset="0"/>
                  </a:rPr>
                  <a:t>$\cos x=0$</a:t>
                </a:r>
                <a:r>
                  <a:rPr sz="2400" b="0">
                    <a:solidFill>
                      <a:srgbClr val="111827"/>
                    </a:solidFill>
                    <a:latin typeface="Arial"/>
                  </a:rPr>
                  <a:t> or </a:t>
                </a:r>
                <a:r>
                  <a:rPr lang="en-IN" sz="2400">
                    <a:solidFill>
                      <a:srgbClr val="111827"/>
                    </a:solidFill>
                    <a:latin typeface="Cambria Math" panose="02040503050406030204" pitchFamily="18" charset="0"/>
                  </a:rPr>
                  <a:t>$\sin x=\frac12$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the sign of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ve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ve, so these are the points of local maximum (and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it changes from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ve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ve: a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maximum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0.52</m:t>
                    </m:r>
                  </m:oMath>
                </a14:m>
                <a:r>
                  <a:rPr sz="2400" b="0">
                    <a:solidFill>
                      <a:srgbClr val="111827"/>
                    </a:solidFill>
                    <a:latin typeface="Arial"/>
                  </a:rPr>
                  <a:t> lies in (P), (Q), (R), (T); it is not in (S)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2.62</m:t>
                    </m:r>
                  </m:oMath>
                </a14:m>
                <a:r>
                  <a:rPr sz="2400" b="0">
                    <a:solidFill>
                      <a:srgbClr val="111827"/>
                    </a:solidFill>
                    <a:latin typeface="Arial"/>
                  </a:rPr>
                  <a:t> is not in (S) either. So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Q, R,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t>
                </a:r>
                <a:r>
                  <a:rPr lang="en-IN" sz="2400">
                    <a:solidFill>
                      <a:srgbClr val="111827"/>
                    </a:solidFill>
                    <a:latin typeface="Cambria Math" panose="02040503050406030204" pitchFamily="18" charset="0"/>
                  </a:rPr>
                  <a:t>$x=\frac\pi6$</a:t>
                </a:r>
                <a:r>
                  <a:rPr sz="2400" b="0">
                    <a:solidFill>
                      <a:srgbClr val="111827"/>
                    </a:solidFill>
                    <a:latin typeface="Arial"/>
                  </a:rPr>
                  <a:t> and </a:t>
                </a:r>
                <a:r>
                  <a:rPr lang="en-IN" sz="2400">
                    <a:solidFill>
                      <a:srgbClr val="111827"/>
                    </a:solidFill>
                    <a:latin typeface="Cambria Math" panose="02040503050406030204" pitchFamily="18" charset="0"/>
                  </a:rPr>
                  <a:t>$x=\frac{5\pi}6$</a:t>
                </a:r>
                <a:r>
                  <a:rPr sz="2400" b="0">
                    <a:solidFill>
                      <a:srgbClr val="111827"/>
                    </a:solidFill>
                    <a:latin typeface="Arial"/>
                  </a:rPr>
                  <a:t> the sign of </a:t>
                </a:r>
                <a:r>
                  <a:rPr lang="en-IN" sz="2400">
                    <a:solidFill>
                      <a:srgbClr val="111827"/>
                    </a:solidFill>
                    <a:latin typeface="Cambria Math" panose="02040503050406030204" pitchFamily="18" charset="0"/>
                  </a:rPr>
                  <a:t>$f'$</a:t>
                </a:r>
                <a:r>
                  <a:rPr sz="2400" b="0">
                    <a:solidFill>
                      <a:srgbClr val="111827"/>
                    </a:solidFill>
                    <a:latin typeface="Arial"/>
                  </a:rPr>
                  <a:t> changes from </a:t>
                </a:r>
                <a:r>
                  <a:rPr lang="en-IN" sz="2400">
                    <a:solidFill>
                      <a:srgbClr val="111827"/>
                    </a:solidFill>
                    <a:latin typeface="Cambria Math" panose="02040503050406030204" pitchFamily="18" charset="0"/>
                  </a:rPr>
                  <a:t>$+$</a:t>
                </a:r>
                <a:r>
                  <a:rPr sz="2400" b="0">
                    <a:solidFill>
                      <a:srgbClr val="111827"/>
                    </a:solidFill>
                    <a:latin typeface="Arial"/>
                  </a:rPr>
                  <a:t>ve to </a:t>
                </a:r>
                <a:r>
                  <a:rPr lang="en-IN" sz="2400">
                    <a:solidFill>
                      <a:srgbClr val="111827"/>
                    </a:solidFill>
                    <a:latin typeface="Cambria Math" panose="02040503050406030204" pitchFamily="18" charset="0"/>
                  </a:rPr>
                  <a:t>$-$</a:t>
                </a:r>
                <a:r>
                  <a:rPr sz="2400" b="0">
                    <a:solidFill>
                      <a:srgbClr val="111827"/>
                    </a:solidFill>
                    <a:latin typeface="Arial"/>
                  </a:rPr>
                  <a:t>ve, so these are the points of local maximum (and at </a:t>
                </a:r>
                <a:r>
                  <a:rPr lang="en-IN" sz="2400">
                    <a:solidFill>
                      <a:srgbClr val="111827"/>
                    </a:solidFill>
                    <a:latin typeface="Cambria Math" panose="02040503050406030204" pitchFamily="18" charset="0"/>
                  </a:rPr>
                  <a:t>$x=\frac\pi2$</a:t>
                </a:r>
                <a:r>
                  <a:rPr sz="2400" b="0">
                    <a:solidFill>
                      <a:srgbClr val="111827"/>
                    </a:solidFill>
                    <a:latin typeface="Arial"/>
                  </a:rPr>
                  <a:t> it changes from </a:t>
                </a:r>
                <a:r>
                  <a:rPr lang="en-IN" sz="2400">
                    <a:solidFill>
                      <a:srgbClr val="111827"/>
                    </a:solidFill>
                    <a:latin typeface="Cambria Math" panose="02040503050406030204" pitchFamily="18" charset="0"/>
                  </a:rPr>
                  <a:t>$-$</a:t>
                </a:r>
                <a:r>
                  <a:rPr sz="2400" b="0">
                    <a:solidFill>
                      <a:srgbClr val="111827"/>
                    </a:solidFill>
                    <a:latin typeface="Arial"/>
                  </a:rPr>
                  <a:t>ve to </a:t>
                </a:r>
                <a:r>
                  <a:rPr lang="en-IN" sz="2400">
                    <a:solidFill>
                      <a:srgbClr val="111827"/>
                    </a:solidFill>
                    <a:latin typeface="Cambria Math" panose="02040503050406030204" pitchFamily="18" charset="0"/>
                  </a:rPr>
                  <a:t>$+$</a:t>
                </a:r>
                <a:r>
                  <a:rPr sz="2400" b="0">
                    <a:solidFill>
                      <a:srgbClr val="111827"/>
                    </a:solidFill>
                    <a:latin typeface="Arial"/>
                  </a:rPr>
                  <a:t>ve: a local minimum).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maximum </a:t>
                </a:r>
                <a:r>
                  <a:rPr lang="en-IN" sz="2400">
                    <a:solidFill>
                      <a:srgbClr val="111827"/>
                    </a:solidFill>
                    <a:latin typeface="Cambria Math" panose="02040503050406030204" pitchFamily="18" charset="0"/>
                  </a:rPr>
                  <a:t>$\frac\pi6\approx0.52$</a:t>
                </a:r>
                <a:r>
                  <a:rPr sz="2400" b="0">
                    <a:solidFill>
                      <a:srgbClr val="111827"/>
                    </a:solidFill>
                    <a:latin typeface="Arial"/>
                  </a:rPr>
                  <a:t> lies in (P), (Q), (R), (T); it is not in (S) </a:t>
                </a:r>
                <a:r>
                  <a:rPr lang="en-IN" sz="2400">
                    <a:solidFill>
                      <a:srgbClr val="111827"/>
                    </a:solidFill>
                    <a:latin typeface="Cambria Math" panose="02040503050406030204" pitchFamily="18" charset="0"/>
                  </a:rPr>
                  <a:t>$=(0,0.39)$</a:t>
                </a:r>
                <a:r>
                  <a:rPr sz="2400" b="0">
                    <a:solidFill>
                      <a:srgbClr val="111827"/>
                    </a:solidFill>
                    <a:latin typeface="Arial"/>
                  </a:rPr>
                  <a:t>, and </a:t>
                </a:r>
                <a:r>
                  <a:rPr lang="en-IN" sz="2400">
                    <a:solidFill>
                      <a:srgbClr val="111827"/>
                    </a:solidFill>
                    <a:latin typeface="Cambria Math" panose="02040503050406030204" pitchFamily="18" charset="0"/>
                  </a:rPr>
                  <a:t>$\frac{5\pi}6\approx2.62$</a:t>
                </a:r>
                <a:r>
                  <a:rPr sz="2400" b="0">
                    <a:solidFill>
                      <a:srgbClr val="111827"/>
                    </a:solidFill>
                    <a:latin typeface="Arial"/>
                  </a:rPr>
                  <a:t> is not in (S) either. So (C) </a:t>
                </a:r>
                <a:r>
                  <a:rPr lang="en-IN" sz="2400">
                    <a:solidFill>
                      <a:srgbClr val="111827"/>
                    </a:solidFill>
                    <a:latin typeface="Cambria Math" panose="02040503050406030204" pitchFamily="18" charset="0"/>
                  </a:rPr>
                  <a:t>$\to$</a:t>
                </a:r>
                <a:r>
                  <a:rPr sz="2400" b="0">
                    <a:solidFill>
                      <a:srgbClr val="111827"/>
                    </a:solidFill>
                    <a:latin typeface="Arial"/>
                  </a:rPr>
                  <a:t> P, Q, R,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$f(x)=\tan^{-1}(\sin x+\cos x)$</a:t>
                </a:r>
                <a:r>
                  <a:rPr sz="2400" b="0">
                    <a:solidFill>
                      <a:srgbClr val="111827"/>
                    </a:solidFill>
                    <a:latin typeface="Arial"/>
                  </a:rPr>
                  <a:t>: </a:t>
                </a:r>
                <a:r>
                  <a:rPr lang="en-IN" sz="2400">
                    <a:solidFill>
                      <a:srgbClr val="111827"/>
                    </a:solidFill>
                    <a:latin typeface="Cambria Math" panose="02040503050406030204" pitchFamily="18" charset="0"/>
                  </a:rPr>
                  <a:t>$f'(x)=\frac{\cos x-\sin x}{1+(\sin x+\cos x)^2}&gt;0\iff\cos x&gt;\sin x\iff x\in\left(-\frac{3\pi}4,\frac\pi4\right)$</a:t>
                </a:r>
                <a:r>
                  <a:rPr sz="2400" b="0">
                    <a:solidFill>
                      <a:srgbClr val="111827"/>
                    </a:solidFill>
                    <a:latin typeface="Arial"/>
                  </a:rPr>
                  <a:t> (mod </a:t>
                </a:r>
                <a:r>
                  <a:rPr lang="en-IN" sz="2400">
                    <a:solidFill>
                      <a:srgbClr val="111827"/>
                    </a:solidFill>
                    <a:latin typeface="Cambria Math" panose="02040503050406030204" pitchFamily="18" charset="0"/>
                  </a:rPr>
                  <a:t>$2\pi$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An interval on which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increasing must lie inside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only (S)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 does ((P), (Q) extend beyond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An interval on which </a:t>
                </a:r>
                <a:r>
                  <a:rPr lang="en-IN" sz="2400">
                    <a:solidFill>
                      <a:srgbClr val="111827"/>
                    </a:solidFill>
                    <a:latin typeface="Cambria Math" panose="02040503050406030204" pitchFamily="18" charset="0"/>
                  </a:rPr>
                  <a:t>$f$</a:t>
                </a:r>
                <a:r>
                  <a:rPr sz="2400" b="0">
                    <a:solidFill>
                      <a:srgbClr val="111827"/>
                    </a:solidFill>
                    <a:latin typeface="Arial"/>
                  </a:rPr>
                  <a:t> is increasing must lie inside </a:t>
                </a:r>
                <a:r>
                  <a:rPr lang="en-IN" sz="2400">
                    <a:solidFill>
                      <a:srgbClr val="111827"/>
                    </a:solidFill>
                    <a:latin typeface="Cambria Math" panose="02040503050406030204" pitchFamily="18" charset="0"/>
                  </a:rPr>
                  <a:t>$\left(-\frac{3\pi}4,\frac\pi4\right)$</a:t>
                </a:r>
                <a:r>
                  <a:rPr sz="2400" b="0">
                    <a:solidFill>
                      <a:srgbClr val="111827"/>
                    </a:solidFill>
                    <a:latin typeface="Arial"/>
                  </a:rPr>
                  <a:t>: only (S) </a:t>
                </a:r>
                <a:r>
                  <a:rPr lang="en-IN" sz="2400">
                    <a:solidFill>
                      <a:srgbClr val="111827"/>
                    </a:solidFill>
                    <a:latin typeface="Cambria Math" panose="02040503050406030204" pitchFamily="18" charset="0"/>
                  </a:rPr>
                  <a:t>$=\left(0,\frac\pi8\right)$</a:t>
                </a:r>
                <a:r>
                  <a:rPr sz="2400" b="0">
                    <a:solidFill>
                      <a:srgbClr val="111827"/>
                    </a:solidFill>
                    <a:latin typeface="Arial"/>
                  </a:rPr>
                  <a:t> does ((P), (Q) extend beyond </a:t>
                </a:r>
                <a:r>
                  <a:rPr lang="en-IN" sz="2400">
                    <a:solidFill>
                      <a:srgbClr val="111827"/>
                    </a:solidFill>
                    <a:latin typeface="Cambria Math" panose="02040503050406030204" pitchFamily="18" charset="0"/>
                  </a:rPr>
                  <a:t>$\frac\pi4$</a:t>
                </a:r>
                <a:r>
                  <a:rPr sz="2400" b="0">
                    <a:solidFill>
                      <a:srgbClr val="111827"/>
                    </a:solidFill>
                    <a:latin typeface="Arial"/>
                  </a:rPr>
                  <a:t>). So (D) </a:t>
                </a:r>
                <a:r>
                  <a:rPr lang="en-IN" sz="2400">
                    <a:solidFill>
                      <a:srgbClr val="111827"/>
                    </a:solidFill>
                    <a:latin typeface="Cambria Math" panose="02040503050406030204" pitchFamily="18" charset="0"/>
                  </a:rPr>
                  <a:t>$\to$</a:t>
                </a:r>
                <a:r>
                  <a:rPr sz="2400" b="0">
                    <a:solidFill>
                      <a:srgbClr val="111827"/>
                    </a:solidFill>
                    <a:latin typeface="Arial"/>
                  </a:rPr>
                  <a:t> 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P, Q, S; (B) P, T; (C) P, Q, R, T; (D) S</a:t>
            </a:r>
            <a:endParaRPr sz="2800">
              <a:solidFill>
                <a:srgbClr val="15803D"/>
              </a:solidFill>
            </a:endParaRP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 (C) by rewriting in </a:t>
                </a:r>
                <a14:m>
                  <m:oMath xmlns:m="http://schemas.openxmlformats.org/officeDocument/2006/math">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𝑠</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oMath>
                </a14:m>
                <a:r>
                  <a:rPr sz="2400" b="0">
                    <a:solidFill>
                      <a:srgbClr val="78350F"/>
                    </a:solidFill>
                    <a:latin typeface="Arial"/>
                  </a:rPr>
                  <a:t> is a downward parabola in </a:t>
                </a:r>
                <a14:m>
                  <m:oMath xmlns:m="http://schemas.openxmlformats.org/officeDocument/2006/math">
                    <m:r>
                      <a:rPr lang="en-IN" sz="2400" i="1">
                        <a:solidFill>
                          <a:srgbClr val="78350F"/>
                        </a:solidFill>
                        <a:latin typeface="Cambria Math" panose="02040503050406030204" pitchFamily="18" charset="0"/>
                      </a:rPr>
                      <m:t>𝑠</m:t>
                    </m:r>
                  </m:oMath>
                </a14:m>
                <a:r>
                  <a:rPr sz="2400" b="0">
                    <a:solidFill>
                      <a:srgbClr val="78350F"/>
                    </a:solidFill>
                    <a:latin typeface="Arial"/>
                  </a:rPr>
                  <a:t> with maximum at </a:t>
                </a:r>
                <a14:m>
                  <m:oMath xmlns:m="http://schemas.openxmlformats.org/officeDocument/2006/math">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parts (B), (D) by symmetry and by the amplitude form.</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 (C) by rewriting in </a:t>
                </a:r>
                <a:r>
                  <a:rPr lang="en-IN" sz="2400">
                    <a:solidFill>
                      <a:srgbClr val="78350F"/>
                    </a:solidFill>
                    <a:latin typeface="Cambria Math" panose="02040503050406030204" pitchFamily="18" charset="0"/>
                  </a:rPr>
                  <a:t>$s=\sin x$</a:t>
                </a:r>
                <a:r>
                  <a:rPr sz="2400" b="0">
                    <a:solidFill>
                      <a:srgbClr val="78350F"/>
                    </a:solidFill>
                    <a:latin typeface="Arial"/>
                  </a:rPr>
                  <a:t>: </a:t>
                </a:r>
                <a:r>
                  <a:rPr lang="en-IN" sz="2400">
                    <a:solidFill>
                      <a:srgbClr val="78350F"/>
                    </a:solidFill>
                    <a:latin typeface="Cambria Math" panose="02040503050406030204" pitchFamily="18" charset="0"/>
                  </a:rPr>
                  <a:t>$f=1-s^2+s$</a:t>
                </a:r>
                <a:r>
                  <a:rPr sz="2400" b="0">
                    <a:solidFill>
                      <a:srgbClr val="78350F"/>
                    </a:solidFill>
                    <a:latin typeface="Arial"/>
                  </a:rPr>
                  <a:t> is a downward parabola in </a:t>
                </a:r>
                <a:r>
                  <a:rPr lang="en-IN" sz="2400">
                    <a:solidFill>
                      <a:srgbClr val="78350F"/>
                    </a:solidFill>
                    <a:latin typeface="Cambria Math" panose="02040503050406030204" pitchFamily="18" charset="0"/>
                  </a:rPr>
                  <a:t>$s$</a:t>
                </a:r>
                <a:r>
                  <a:rPr sz="2400" b="0">
                    <a:solidFill>
                      <a:srgbClr val="78350F"/>
                    </a:solidFill>
                    <a:latin typeface="Arial"/>
                  </a:rPr>
                  <a:t> with maximum at </a:t>
                </a:r>
                <a:r>
                  <a:rPr lang="en-IN" sz="2400">
                    <a:solidFill>
                      <a:srgbClr val="78350F"/>
                    </a:solidFill>
                    <a:latin typeface="Cambria Math" panose="02040503050406030204" pitchFamily="18" charset="0"/>
                  </a:rPr>
                  <a:t>$s=\frac12$</a:t>
                </a:r>
                <a:r>
                  <a:rPr sz="2400" b="0">
                    <a:solidFill>
                      <a:srgbClr val="78350F"/>
                    </a:solidFill>
                    <a:latin typeface="Arial"/>
                  </a:rPr>
                  <a:t>; parts (B), (D) by symmetry and by the amplitude form.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With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This is largest exactly when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the local maxima are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(Q), (R), (T) but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0.52</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0.39</m:t>
                    </m:r>
                  </m:oMath>
                </a14:m>
                <a:r>
                  <a:rPr sz="2400" b="0">
                    <a:solidFill>
                      <a:srgbClr val="111827"/>
                    </a:solidFill>
                    <a:latin typeface="Arial"/>
                  </a:rPr>
                  <a:t>, so not in (S):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Q, R, 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With </a:t>
                </a:r>
                <a:r>
                  <a:rPr lang="en-IN" sz="2400">
                    <a:solidFill>
                      <a:srgbClr val="111827"/>
                    </a:solidFill>
                    <a:latin typeface="Cambria Math" panose="02040503050406030204" pitchFamily="18" charset="0"/>
                  </a:rPr>
                  <a:t>$s=\sin x$</a:t>
                </a:r>
                <a:r>
                  <a:rPr sz="2400" b="0">
                    <a:solidFill>
                      <a:srgbClr val="111827"/>
                    </a:solidFill>
                    <a:latin typeface="Arial"/>
                  </a:rPr>
                  <a:t>: </a:t>
                </a:r>
                <a:r>
                  <a:rPr lang="en-IN" sz="2400">
                    <a:solidFill>
                      <a:srgbClr val="111827"/>
                    </a:solidFill>
                    <a:latin typeface="Cambria Math" panose="02040503050406030204" pitchFamily="18" charset="0"/>
                  </a:rPr>
                  <a:t>$\cos^2x+\sin x=1-s^2+s=\frac54-\left(s-\frac12\right)^2$</a:t>
                </a:r>
                <a:r>
                  <a:rPr sz="2400" b="0">
                    <a:solidFill>
                      <a:srgbClr val="111827"/>
                    </a:solidFill>
                    <a:latin typeface="Arial"/>
                  </a:rPr>
                  <a:t>. This is largest exactly when </a:t>
                </a:r>
                <a:r>
                  <a:rPr lang="en-IN" sz="2400">
                    <a:solidFill>
                      <a:srgbClr val="111827"/>
                    </a:solidFill>
                    <a:latin typeface="Cambria Math" panose="02040503050406030204" pitchFamily="18" charset="0"/>
                  </a:rPr>
                  <a:t>$\sin x=\frac12$</a:t>
                </a:r>
                <a:r>
                  <a:rPr sz="2400" b="0">
                    <a:solidFill>
                      <a:srgbClr val="111827"/>
                    </a:solidFill>
                    <a:latin typeface="Arial"/>
                  </a:rPr>
                  <a:t>, so the local maxima are at </a:t>
                </a:r>
                <a:r>
                  <a:rPr lang="en-IN" sz="2400">
                    <a:solidFill>
                      <a:srgbClr val="111827"/>
                    </a:solidFill>
                    <a:latin typeface="Cambria Math" panose="02040503050406030204" pitchFamily="18" charset="0"/>
                  </a:rPr>
                  <a:t>$x=\frac\pi6,\frac{5\pi}6$</a:t>
                </a:r>
                <a:r>
                  <a:rPr sz="2400" b="0">
                    <a:solidFill>
                      <a:srgbClr val="111827"/>
                    </a:solidFill>
                    <a:latin typeface="Arial"/>
                  </a:rPr>
                  <a:t> (mod </a:t>
                </a:r>
                <a:r>
                  <a:rPr lang="en-IN" sz="2400">
                    <a:solidFill>
                      <a:srgbClr val="111827"/>
                    </a:solidFill>
                    <a:latin typeface="Cambria Math" panose="02040503050406030204" pitchFamily="18" charset="0"/>
                  </a:rPr>
                  <a:t>$2\pi$</a:t>
                </a:r>
                <a:r>
                  <a:rPr sz="2400" b="0">
                    <a:solidFill>
                      <a:srgbClr val="111827"/>
                    </a:solidFill>
                    <a:latin typeface="Arial"/>
                  </a:rPr>
                  <a:t>), where </a:t>
                </a:r>
                <a:r>
                  <a:rPr lang="en-IN" sz="2400">
                    <a:solidFill>
                      <a:srgbClr val="111827"/>
                    </a:solidFill>
                    <a:latin typeface="Cambria Math" panose="02040503050406030204" pitchFamily="18" charset="0"/>
                  </a:rPr>
                  <a:t>$f=\frac54$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$\frac\pi6\in$</a:t>
                </a:r>
                <a:r>
                  <a:rPr sz="2400" b="0">
                    <a:solidFill>
                      <a:srgbClr val="111827"/>
                    </a:solidFill>
                    <a:latin typeface="Arial"/>
                  </a:rPr>
                  <a:t> (P), (Q), (R), (T) but </a:t>
                </a:r>
                <a:r>
                  <a:rPr lang="en-IN" sz="2400">
                    <a:solidFill>
                      <a:srgbClr val="111827"/>
                    </a:solidFill>
                    <a:latin typeface="Cambria Math" panose="02040503050406030204" pitchFamily="18" charset="0"/>
                  </a:rPr>
                  <a:t>$\frac\pi6=0.52&gt;\frac\pi8=0.39$</a:t>
                </a:r>
                <a:r>
                  <a:rPr sz="2400" b="0">
                    <a:solidFill>
                      <a:srgbClr val="111827"/>
                    </a:solidFill>
                    <a:latin typeface="Arial"/>
                  </a:rPr>
                  <a:t>, so not in (S): (C) </a:t>
                </a:r>
                <a:r>
                  <a:rPr lang="en-IN" sz="2400">
                    <a:solidFill>
                      <a:srgbClr val="111827"/>
                    </a:solidFill>
                    <a:latin typeface="Cambria Math" panose="02040503050406030204" pitchFamily="18" charset="0"/>
                  </a:rPr>
                  <a:t>$\to$</a:t>
                </a:r>
                <a:r>
                  <a:rPr sz="2400" b="0">
                    <a:solidFill>
                      <a:srgbClr val="111827"/>
                    </a:solidFill>
                    <a:latin typeface="Arial"/>
                  </a:rPr>
                  <a:t> P, Q, R, T.</a:t>
                </a:r>
                <a:endParaRPr sz="2400">
                  <a:solidFill>
                    <a:srgbClr val="111827"/>
                  </a:solidFill>
                </a:endParaRPr>
              </a:p>
            </p:txBody>
          </p:sp>
        </mc:Fallback>
      </mc:AlternateContent>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The integrand is an odd function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five factors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the range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symmetric about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without any substitution.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increasing,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increases exactly where </a:t>
                </a:r>
                <a14:m>
                  <m:oMath xmlns:m="http://schemas.openxmlformats.org/officeDocument/2006/math">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increases: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only (S) fits.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𝑦</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𝑒</m:t>
                        </m:r>
                      </m:e>
                      <m: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sup>
                    </m:sSup>
                  </m:oMath>
                </a14:m>
                <a:r>
                  <a:rPr sz="2400" b="0">
                    <a:solidFill>
                      <a:srgbClr val="111827"/>
                    </a:solidFill>
                    <a:latin typeface="Arial"/>
                  </a:rPr>
                  <a:t> is defined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an essential singularity); this gives P, Q, S as before.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The integrand is an odd function of </a:t>
                </a:r>
                <a:r>
                  <a:rPr lang="en-IN" sz="2400">
                    <a:solidFill>
                      <a:srgbClr val="111827"/>
                    </a:solidFill>
                    <a:latin typeface="Cambria Math" panose="02040503050406030204" pitchFamily="18" charset="0"/>
                  </a:rPr>
                  <a:t>$(x-3)$</a:t>
                </a:r>
                <a:r>
                  <a:rPr sz="2400" b="0">
                    <a:solidFill>
                      <a:srgbClr val="111827"/>
                    </a:solidFill>
                    <a:latin typeface="Arial"/>
                  </a:rPr>
                  <a:t> (the five factors are </a:t>
                </a:r>
                <a:r>
                  <a:rPr lang="en-IN" sz="2400">
                    <a:solidFill>
                      <a:srgbClr val="111827"/>
                    </a:solidFill>
                    <a:latin typeface="Cambria Math" panose="02040503050406030204" pitchFamily="18" charset="0"/>
                  </a:rPr>
                  <a:t>$(t+2),(t+1),t,(t-1),(t-2)$</a:t>
                </a:r>
                <a:r>
                  <a:rPr sz="2400" b="0">
                    <a:solidFill>
                      <a:srgbClr val="111827"/>
                    </a:solidFill>
                    <a:latin typeface="Arial"/>
                  </a:rPr>
                  <a:t> with </a:t>
                </a:r>
                <a:r>
                  <a:rPr lang="en-IN" sz="2400">
                    <a:solidFill>
                      <a:srgbClr val="111827"/>
                    </a:solidFill>
                    <a:latin typeface="Cambria Math" panose="02040503050406030204" pitchFamily="18" charset="0"/>
                  </a:rPr>
                  <a:t>$t=x-3$</a:t>
                </a:r>
                <a:r>
                  <a:rPr sz="2400" b="0">
                    <a:solidFill>
                      <a:srgbClr val="111827"/>
                    </a:solidFill>
                    <a:latin typeface="Arial"/>
                  </a:rPr>
                  <a:t>) and the range </a:t>
                </a:r>
                <a:r>
                  <a:rPr lang="en-IN" sz="2400">
                    <a:solidFill>
                      <a:srgbClr val="111827"/>
                    </a:solidFill>
                    <a:latin typeface="Cambria Math" panose="02040503050406030204" pitchFamily="18" charset="0"/>
                  </a:rPr>
                  <a:t>$[1,5]$</a:t>
                </a:r>
                <a:r>
                  <a:rPr sz="2400" b="0">
                    <a:solidFill>
                      <a:srgbClr val="111827"/>
                    </a:solidFill>
                    <a:latin typeface="Arial"/>
                  </a:rPr>
                  <a:t> is symmetric about </a:t>
                </a:r>
                <a:r>
                  <a:rPr lang="en-IN" sz="2400">
                    <a:solidFill>
                      <a:srgbClr val="111827"/>
                    </a:solidFill>
                    <a:latin typeface="Cambria Math" panose="02040503050406030204" pitchFamily="18" charset="0"/>
                  </a:rPr>
                  <a:t>$3$</a:t>
                </a:r>
                <a:r>
                  <a:rPr sz="2400" b="0">
                    <a:solidFill>
                      <a:srgbClr val="111827"/>
                    </a:solidFill>
                    <a:latin typeface="Arial"/>
                  </a:rPr>
                  <a:t>, so </a:t>
                </a:r>
                <a:r>
                  <a:rPr lang="en-IN" sz="2400">
                    <a:solidFill>
                      <a:srgbClr val="111827"/>
                    </a:solidFill>
                    <a:latin typeface="Cambria Math" panose="02040503050406030204" pitchFamily="18" charset="0"/>
                  </a:rPr>
                  <a:t>$I=0$</a:t>
                </a:r>
                <a:r>
                  <a:rPr sz="2400" b="0">
                    <a:solidFill>
                      <a:srgbClr val="111827"/>
                    </a:solidFill>
                    <a:latin typeface="Arial"/>
                  </a:rPr>
                  <a:t> without any substitution.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$\sin x+\cos x=\sqrt2\sin\left(x+\frac\pi4\right)$</a:t>
                </a:r>
                <a:r>
                  <a:rPr sz="2400" b="0">
                    <a:solidFill>
                      <a:srgbClr val="111827"/>
                    </a:solidFill>
                    <a:latin typeface="Arial"/>
                  </a:rPr>
                  <a:t> and </a:t>
                </a:r>
                <a:r>
                  <a:rPr lang="en-IN" sz="2400">
                    <a:solidFill>
                      <a:srgbClr val="111827"/>
                    </a:solidFill>
                    <a:latin typeface="Cambria Math" panose="02040503050406030204" pitchFamily="18" charset="0"/>
                  </a:rPr>
                  <a:t>$\tan^{-1}$</a:t>
                </a:r>
                <a:r>
                  <a:rPr sz="2400" b="0">
                    <a:solidFill>
                      <a:srgbClr val="111827"/>
                    </a:solidFill>
                    <a:latin typeface="Arial"/>
                  </a:rPr>
                  <a:t> is increasing, so </a:t>
                </a:r>
                <a:r>
                  <a:rPr lang="en-IN" sz="2400">
                    <a:solidFill>
                      <a:srgbClr val="111827"/>
                    </a:solidFill>
                    <a:latin typeface="Cambria Math" panose="02040503050406030204" pitchFamily="18" charset="0"/>
                  </a:rPr>
                  <a:t>$f$</a:t>
                </a:r>
                <a:r>
                  <a:rPr sz="2400" b="0">
                    <a:solidFill>
                      <a:srgbClr val="111827"/>
                    </a:solidFill>
                    <a:latin typeface="Arial"/>
                  </a:rPr>
                  <a:t> increases exactly where </a:t>
                </a:r>
                <a:r>
                  <a:rPr lang="en-IN" sz="2400">
                    <a:solidFill>
                      <a:srgbClr val="111827"/>
                    </a:solidFill>
                    <a:latin typeface="Cambria Math" panose="02040503050406030204" pitchFamily="18" charset="0"/>
                  </a:rPr>
                  <a:t>$\sin\left(x+\frac\pi4\right)$</a:t>
                </a:r>
                <a:r>
                  <a:rPr sz="2400" b="0">
                    <a:solidFill>
                      <a:srgbClr val="111827"/>
                    </a:solidFill>
                    <a:latin typeface="Arial"/>
                  </a:rPr>
                  <a:t> increases: </a:t>
                </a:r>
                <a:r>
                  <a:rPr lang="en-IN" sz="2400">
                    <a:solidFill>
                      <a:srgbClr val="111827"/>
                    </a:solidFill>
                    <a:latin typeface="Cambria Math" panose="02040503050406030204" pitchFamily="18" charset="0"/>
                  </a:rPr>
                  <a:t>$x+\frac\pi4\in\left(-\frac\pi2,\frac\pi2\right)$</a:t>
                </a:r>
                <a:r>
                  <a:rPr sz="2400" b="0">
                    <a:solidFill>
                      <a:srgbClr val="111827"/>
                    </a:solidFill>
                    <a:latin typeface="Arial"/>
                  </a:rPr>
                  <a:t>, i.e. </a:t>
                </a:r>
                <a:r>
                  <a:rPr lang="en-IN" sz="2400">
                    <a:solidFill>
                      <a:srgbClr val="111827"/>
                    </a:solidFill>
                    <a:latin typeface="Cambria Math" panose="02040503050406030204" pitchFamily="18" charset="0"/>
                  </a:rPr>
                  <a:t>$x\in\left(-\frac{3\pi}4,\frac\pi4\right)$</a:t>
                </a:r>
                <a:r>
                  <a:rPr sz="2400" b="0">
                    <a:solidFill>
                      <a:srgbClr val="111827"/>
                    </a:solidFill>
                    <a:latin typeface="Arial"/>
                  </a:rPr>
                  <a:t>; only (S) fits.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For </a:t>
                </a:r>
                <a:r>
                  <a:rPr lang="en-IN" sz="2400">
                    <a:solidFill>
                      <a:srgbClr val="111827"/>
                    </a:solidFill>
                    <a:latin typeface="Cambria Math" panose="02040503050406030204" pitchFamily="18" charset="0"/>
                  </a:rPr>
                  <a:t>$(x-3)^2y'+y=0$</a:t>
                </a:r>
                <a:r>
                  <a:rPr sz="2400" b="0">
                    <a:solidFill>
                      <a:srgbClr val="111827"/>
                    </a:solidFill>
                    <a:latin typeface="Arial"/>
                  </a:rPr>
                  <a:t>, </a:t>
                </a:r>
                <a:r>
                  <a:rPr lang="en-IN" sz="2400">
                    <a:solidFill>
                      <a:srgbClr val="111827"/>
                    </a:solidFill>
                    <a:latin typeface="Cambria Math" panose="02040503050406030204" pitchFamily="18" charset="0"/>
                  </a:rPr>
                  <a:t>$y=Ce^{\frac1{x-3}}$</a:t>
                </a:r>
                <a:r>
                  <a:rPr sz="2400" b="0">
                    <a:solidFill>
                      <a:srgbClr val="111827"/>
                    </a:solidFill>
                    <a:latin typeface="Arial"/>
                  </a:rPr>
                  <a:t> is defined for </a:t>
                </a:r>
                <a:r>
                  <a:rPr lang="en-IN" sz="2400">
                    <a:solidFill>
                      <a:srgbClr val="111827"/>
                    </a:solidFill>
                    <a:latin typeface="Cambria Math" panose="02040503050406030204" pitchFamily="18" charset="0"/>
                  </a:rPr>
                  <a:t>$x\ne3$</a:t>
                </a:r>
                <a:r>
                  <a:rPr sz="2400" b="0">
                    <a:solidFill>
                      <a:srgbClr val="111827"/>
                    </a:solidFill>
                    <a:latin typeface="Arial"/>
                  </a:rPr>
                  <a:t> (the point </a:t>
                </a:r>
                <a:r>
                  <a:rPr lang="en-IN" sz="2400">
                    <a:solidFill>
                      <a:srgbClr val="111827"/>
                    </a:solidFill>
                    <a:latin typeface="Cambria Math" panose="02040503050406030204" pitchFamily="18" charset="0"/>
                  </a:rPr>
                  <a:t>$x=3$</a:t>
                </a:r>
                <a:r>
                  <a:rPr sz="2400" b="0">
                    <a:solidFill>
                      <a:srgbClr val="111827"/>
                    </a:solidFill>
                    <a:latin typeface="Arial"/>
                  </a:rPr>
                  <a:t> is an essential singularity); this gives P, Q, S as before.</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P, Q, S; (B) P, T; (C) P, Q, R, T; (D) S</a:t>
            </a:r>
            <a:endParaRPr sz="2800">
              <a:solidFill>
                <a:srgbClr val="15803D"/>
              </a:solidFill>
            </a:endParaRP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(odd about the midpoint) then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 the product of five equally spaced factors about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odd about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increasing exactly where </a:t>
                </a:r>
                <a14:m>
                  <m:oMath xmlns:m="http://schemas.openxmlformats.org/officeDocument/2006/math">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function in a trigonometric quadratic like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is best studied through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stationary points occur where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𝑠</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where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domain of a solution of a first-order equation may exclude singular points of the coefficient (here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 solution interval must not contain them.</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$\int_a^bf(x)\,dx=\int_a^bf(a+b-x)\,dx$</a:t>
                </a:r>
                <a:r>
                  <a:rPr sz="2400" b="0">
                    <a:solidFill>
                      <a:srgbClr val="111827"/>
                    </a:solidFill>
                    <a:latin typeface="Arial"/>
                  </a:rPr>
                  <a:t>; if </a:t>
                </a:r>
                <a:r>
                  <a:rPr lang="en-IN" sz="2400">
                    <a:solidFill>
                      <a:srgbClr val="111827"/>
                    </a:solidFill>
                    <a:latin typeface="Cambria Math" panose="02040503050406030204" pitchFamily="18" charset="0"/>
                  </a:rPr>
                  <a:t>$f(a+b-x)=-f(x)$</a:t>
                </a:r>
                <a:r>
                  <a:rPr sz="2400" b="0">
                    <a:solidFill>
                      <a:srgbClr val="111827"/>
                    </a:solidFill>
                    <a:latin typeface="Arial"/>
                  </a:rPr>
                  <a:t> (odd about the midpoint) then </a:t>
                </a:r>
                <a:r>
                  <a:rPr lang="en-IN" sz="2400">
                    <a:solidFill>
                      <a:srgbClr val="111827"/>
                    </a:solidFill>
                    <a:latin typeface="Cambria Math" panose="02040503050406030204" pitchFamily="18" charset="0"/>
                  </a:rPr>
                  <a:t>$\int_a^bf=0$</a:t>
                </a:r>
                <a:r>
                  <a:rPr sz="2400" b="0">
                    <a:solidFill>
                      <a:srgbClr val="111827"/>
                    </a:solidFill>
                    <a:latin typeface="Arial"/>
                  </a:rPr>
                  <a:t>. Here the product of five equally spaced factors about </a:t>
                </a:r>
                <a:r>
                  <a:rPr lang="en-IN" sz="2400">
                    <a:solidFill>
                      <a:srgbClr val="111827"/>
                    </a:solidFill>
                    <a:latin typeface="Cambria Math" panose="02040503050406030204" pitchFamily="18" charset="0"/>
                  </a:rPr>
                  <a:t>$x=3$</a:t>
                </a:r>
                <a:r>
                  <a:rPr sz="2400" b="0">
                    <a:solidFill>
                      <a:srgbClr val="111827"/>
                    </a:solidFill>
                    <a:latin typeface="Arial"/>
                  </a:rPr>
                  <a:t> is odd about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$a\sin x+b\cos x=\sqrt{a^2+b^2}\sin(x+\varphi)$</a:t>
                </a:r>
                <a:r>
                  <a:rPr sz="2400" b="0">
                    <a:solidFill>
                      <a:srgbClr val="111827"/>
                    </a:solidFill>
                    <a:latin typeface="Arial"/>
                  </a:rPr>
                  <a:t>; so </a:t>
                </a:r>
                <a:r>
                  <a:rPr lang="en-IN" sz="2400">
                    <a:solidFill>
                      <a:srgbClr val="111827"/>
                    </a:solidFill>
                    <a:latin typeface="Cambria Math" panose="02040503050406030204" pitchFamily="18" charset="0"/>
                  </a:rPr>
                  <a:t>$\tan^{-1}(\sin x+\cos x)$</a:t>
                </a:r>
                <a:r>
                  <a:rPr sz="2400" b="0">
                    <a:solidFill>
                      <a:srgbClr val="111827"/>
                    </a:solidFill>
                    <a:latin typeface="Arial"/>
                  </a:rPr>
                  <a:t> is increasing exactly where </a:t>
                </a:r>
                <a:r>
                  <a:rPr lang="en-IN" sz="2400">
                    <a:solidFill>
                      <a:srgbClr val="111827"/>
                    </a:solidFill>
                    <a:latin typeface="Cambria Math" panose="02040503050406030204" pitchFamily="18" charset="0"/>
                  </a:rPr>
                  <a:t>$\sin\left(x+\frac\pi4\right)$</a:t>
                </a:r>
                <a:r>
                  <a:rPr sz="2400" b="0">
                    <a:solidFill>
                      <a:srgbClr val="111827"/>
                    </a:solidFill>
                    <a:latin typeface="Arial"/>
                  </a:rPr>
                  <a:t>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function in a trigonometric quadratic like </a:t>
                </a:r>
                <a:r>
                  <a:rPr lang="en-IN" sz="2400">
                    <a:solidFill>
                      <a:srgbClr val="111827"/>
                    </a:solidFill>
                    <a:latin typeface="Cambria Math" panose="02040503050406030204" pitchFamily="18" charset="0"/>
                  </a:rPr>
                  <a:t>$\cos^2x+\sin x$</a:t>
                </a:r>
                <a:r>
                  <a:rPr sz="2400" b="0">
                    <a:solidFill>
                      <a:srgbClr val="111827"/>
                    </a:solidFill>
                    <a:latin typeface="Arial"/>
                  </a:rPr>
                  <a:t> is best studied through </a:t>
                </a:r>
                <a:r>
                  <a:rPr lang="en-IN" sz="2400">
                    <a:solidFill>
                      <a:srgbClr val="111827"/>
                    </a:solidFill>
                    <a:latin typeface="Cambria Math" panose="02040503050406030204" pitchFamily="18" charset="0"/>
                  </a:rPr>
                  <a:t>$s=\sin x$</a:t>
                </a:r>
                <a:r>
                  <a:rPr sz="2400" b="0">
                    <a:solidFill>
                      <a:srgbClr val="111827"/>
                    </a:solidFill>
                    <a:latin typeface="Arial"/>
                  </a:rPr>
                  <a:t>: stationary points occur where </a:t>
                </a:r>
                <a:r>
                  <a:rPr lang="en-IN" sz="2400">
                    <a:solidFill>
                      <a:srgbClr val="111827"/>
                    </a:solidFill>
                    <a:latin typeface="Cambria Math" panose="02040503050406030204" pitchFamily="18" charset="0"/>
                  </a:rPr>
                  <a:t>$f_s=0$</a:t>
                </a:r>
                <a:r>
                  <a:rPr sz="2400" b="0">
                    <a:solidFill>
                      <a:srgbClr val="111827"/>
                    </a:solidFill>
                    <a:latin typeface="Arial"/>
                  </a:rPr>
                  <a:t> (here </a:t>
                </a:r>
                <a:r>
                  <a:rPr lang="en-IN" sz="2400">
                    <a:solidFill>
                      <a:srgbClr val="111827"/>
                    </a:solidFill>
                    <a:latin typeface="Cambria Math" panose="02040503050406030204" pitchFamily="18" charset="0"/>
                  </a:rPr>
                  <a:t>$s=\frac12$</a:t>
                </a:r>
                <a:r>
                  <a:rPr sz="2400" b="0">
                    <a:solidFill>
                      <a:srgbClr val="111827"/>
                    </a:solidFill>
                    <a:latin typeface="Arial"/>
                  </a:rPr>
                  <a:t>) and where </a:t>
                </a:r>
                <a:r>
                  <a:rPr lang="en-IN" sz="2400">
                    <a:solidFill>
                      <a:srgbClr val="111827"/>
                    </a:solidFill>
                    <a:latin typeface="Cambria Math" panose="02040503050406030204" pitchFamily="18" charset="0"/>
                  </a:rPr>
                  <a:t>$\cos x=0$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domain of a solution of a first-order equation may exclude singular points of the coefficient (here </a:t>
                </a:r>
                <a:r>
                  <a:rPr lang="en-IN" sz="2400">
                    <a:solidFill>
                      <a:srgbClr val="111827"/>
                    </a:solidFill>
                    <a:latin typeface="Cambria Math" panose="02040503050406030204" pitchFamily="18" charset="0"/>
                  </a:rPr>
                  <a:t>$x=3$</a:t>
                </a:r>
                <a:r>
                  <a:rPr sz="2400" b="0">
                    <a:solidFill>
                      <a:srgbClr val="111827"/>
                    </a:solidFill>
                    <a:latin typeface="Arial"/>
                  </a:rPr>
                  <a:t>): a solution interval must not contain them.</a:t>
                </a:r>
                <a:endParaRPr sz="2400">
                  <a:solidFill>
                    <a:srgbClr val="111827"/>
                  </a:solidFill>
                </a:endParaRPr>
              </a:p>
            </p:txBody>
          </p:sp>
        </mc:Fallback>
      </mc:AlternateContent>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[JEE-2009] Match the statements/expressions given in Column I with the values given in Column 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The number of solutions of the equation </a:t>
                </a:r>
                <a14:m>
                  <m:oMath xmlns:m="http://schemas.openxmlformats.org/officeDocument/2006/math">
                    <m:r>
                      <a:rPr lang="en-IN" sz="2000" i="1">
                        <a:solidFill>
                          <a:srgbClr val="111827"/>
                        </a:solidFill>
                        <a:latin typeface="Cambria Math" panose="02040503050406030204" pitchFamily="18" charset="0"/>
                      </a:rPr>
                      <m:t>𝑥</m:t>
                    </m:r>
                    <m:sSup>
                      <m:e>
                        <m:r>
                          <a:rPr lang="en-IN" sz="2000" i="1">
                            <a:solidFill>
                              <a:srgbClr val="111827"/>
                            </a:solidFill>
                            <a:latin typeface="Cambria Math" panose="02040503050406030204" pitchFamily="18" charset="0"/>
                          </a:rPr>
                          <m:t>𝑒</m:t>
                        </m:r>
                      </m:e>
                      <m:sup>
                        <m:r>
                          <m:rPr>
                            <m:sty m:val="p"/>
                          </m:rPr>
                          <a:rPr lang="en-IN" sz="2000">
                            <a:solidFill>
                              <a:srgbClr val="111827"/>
                            </a:solidFill>
                            <a:latin typeface="Cambria Math" panose="02040503050406030204" pitchFamily="18" charset="0"/>
                          </a:rPr>
                          <m:t>sin</m:t>
                        </m:r>
                        <m:r>
                          <a:rPr lang="en-IN" sz="2000" i="1">
                            <a:solidFill>
                              <a:srgbClr val="111827"/>
                            </a:solidFill>
                            <a:latin typeface="Cambria Math" panose="02040503050406030204" pitchFamily="18" charset="0"/>
                          </a:rPr>
                          <m:t>𝑥</m:t>
                        </m:r>
                      </m:sup>
                    </m:sSup>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cos</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in the interval </a:t>
                </a:r>
                <a14:m>
                  <m:oMath xmlns:m="http://schemas.openxmlformats.org/officeDocument/2006/math">
                    <m:d>
                      <m:dPr>
                        <m:begChr m:val="("/>
                        <m:sepChr m:val=""/>
                        <m:endChr m:val=")"/>
                        <m:grow/>
                        <m:ctrlPr>
                          <a:rPr lang="en-IN" sz="2000" i="1">
                            <a:solidFill>
                              <a:srgbClr val="111827"/>
                            </a:solidFill>
                            <a:latin typeface="Cambria Math" panose="02040503050406030204" pitchFamily="18" charset="0"/>
                          </a:rPr>
                        </m:ctrlPr>
                      </m:dPr>
                      <m:e>
                        <m:r>
                          <a:rPr lang="en-IN" sz="2000" i="1">
                            <a:solidFill>
                              <a:srgbClr val="111827"/>
                            </a:solidFill>
                            <a:latin typeface="Cambria Math" panose="02040503050406030204" pitchFamily="18" charset="0"/>
                          </a:rPr>
                          <m:t>0</m:t>
                        </m:r>
                        <m:r>
                          <m:rPr>
                            <m:sty m:val="p"/>
                          </m:rPr>
                          <a:rPr lang="en-IN" sz="2000">
                            <a:solidFill>
                              <a:srgbClr val="111827"/>
                            </a:solidFill>
                            <a:latin typeface="Cambria Math" panose="02040503050406030204" pitchFamily="18" charset="0"/>
                          </a:rPr>
                          <m:t>,</m:t>
                        </m:r>
                        <m:f>
                          <m:fPr>
                            <m:type m:val="bar"/>
                            <m:ctrlPr>
                              <a:rPr lang="en-IN" sz="2000" i="1">
                                <a:solidFill>
                                  <a:srgbClr val="111827"/>
                                </a:solidFill>
                                <a:latin typeface="Cambria Math" panose="02040503050406030204" pitchFamily="18" charset="0"/>
                              </a:rPr>
                            </m:ctrlPr>
                          </m:fPr>
                          <m:num>
                            <m:r>
                              <a:rPr lang="en-IN" sz="2000" i="1">
                                <a:solidFill>
                                  <a:srgbClr val="111827"/>
                                </a:solidFill>
                                <a:latin typeface="Cambria Math" panose="02040503050406030204" pitchFamily="18" charset="0"/>
                              </a:rPr>
                              <m:t>π</m:t>
                            </m:r>
                          </m:num>
                          <m:den>
                            <m:r>
                              <a:rPr lang="en-IN" sz="2000" i="1">
                                <a:solidFill>
                                  <a:srgbClr val="111827"/>
                                </a:solidFill>
                                <a:latin typeface="Cambria Math" panose="02040503050406030204" pitchFamily="18" charset="0"/>
                              </a:rPr>
                              <m:t>2</m:t>
                            </m:r>
                          </m:den>
                        </m:f>
                      </m:e>
                    </m:d>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(B) Value(s) of </a:t>
                </a:r>
                <a14:m>
                  <m:oMath xmlns:m="http://schemas.openxmlformats.org/officeDocument/2006/math">
                    <m:r>
                      <a:rPr lang="en-IN" sz="2000" i="1">
                        <a:solidFill>
                          <a:srgbClr val="111827"/>
                        </a:solidFill>
                        <a:latin typeface="Cambria Math" panose="02040503050406030204" pitchFamily="18" charset="0"/>
                      </a:rPr>
                      <m:t>𝑘</m:t>
                    </m:r>
                  </m:oMath>
                </a14:m>
                <a:r>
                  <a:rPr sz="2000" b="0">
                    <a:solidFill>
                      <a:srgbClr val="111827"/>
                    </a:solidFill>
                    <a:latin typeface="Arial"/>
                  </a:rPr>
                  <a:t> for which the planes </a:t>
                </a:r>
                <a14:m>
                  <m:oMath xmlns:m="http://schemas.openxmlformats.org/officeDocument/2006/math">
                    <m:r>
                      <a:rPr lang="en-IN" sz="2000" i="1">
                        <a:solidFill>
                          <a:srgbClr val="111827"/>
                        </a:solidFill>
                        <a:latin typeface="Cambria Math" panose="02040503050406030204" pitchFamily="18" charset="0"/>
                      </a:rPr>
                      <m:t>𝑘</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4</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𝑧</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a:t>
                </a:r>
                <a14:m>
                  <m:oMath xmlns:m="http://schemas.openxmlformats.org/officeDocument/2006/math">
                    <m:r>
                      <a:rPr lang="en-IN" sz="2000" i="1">
                        <a:solidFill>
                          <a:srgbClr val="111827"/>
                        </a:solidFill>
                        <a:latin typeface="Cambria Math" panose="02040503050406030204" pitchFamily="18" charset="0"/>
                      </a:rPr>
                      <m:t>4</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𝑘</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a:rPr lang="en-IN" sz="2000" i="1">
                        <a:solidFill>
                          <a:srgbClr val="111827"/>
                        </a:solidFill>
                        <a:latin typeface="Cambria Math" panose="02040503050406030204" pitchFamily="18" charset="0"/>
                      </a:rPr>
                      <m:t>𝑧</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2</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𝑧</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oMath>
                </a14:m>
                <a:r>
                  <a:rPr sz="2000" b="0">
                    <a:solidFill>
                      <a:srgbClr val="111827"/>
                    </a:solidFill>
                    <a:latin typeface="Arial"/>
                  </a:rPr>
                  <a:t> intersect in a straight line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Value(s) of </a:t>
                </a:r>
                <a14:m>
                  <m:oMath xmlns:m="http://schemas.openxmlformats.org/officeDocument/2006/math">
                    <m:r>
                      <a:rPr lang="en-IN" sz="2000" i="1">
                        <a:solidFill>
                          <a:srgbClr val="111827"/>
                        </a:solidFill>
                        <a:latin typeface="Cambria Math" panose="02040503050406030204" pitchFamily="18" charset="0"/>
                      </a:rPr>
                      <m:t>𝑘</m:t>
                    </m:r>
                  </m:oMath>
                </a14:m>
                <a:r>
                  <a:rPr sz="2000" b="0">
                    <a:solidFill>
                      <a:srgbClr val="111827"/>
                    </a:solidFill>
                    <a:latin typeface="Arial"/>
                  </a:rPr>
                  <a:t> for which </a:t>
                </a:r>
                <a14:m>
                  <m:oMath xmlns:m="http://schemas.openxmlformats.org/officeDocument/2006/math">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𝑥</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2</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4</m:t>
                    </m:r>
                    <m:r>
                      <a:rPr lang="en-IN" sz="2000" i="1">
                        <a:solidFill>
                          <a:srgbClr val="111827"/>
                        </a:solidFill>
                        <a:latin typeface="Cambria Math" panose="02040503050406030204" pitchFamily="18" charset="0"/>
                      </a:rPr>
                      <m:t>𝑘</m:t>
                    </m:r>
                  </m:oMath>
                </a14:m>
                <a:r>
                  <a:rPr sz="2000" b="0">
                    <a:solidFill>
                      <a:srgbClr val="111827"/>
                    </a:solidFill>
                    <a:latin typeface="Arial"/>
                  </a:rPr>
                  <a:t> has integer solution(s)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If </a:t>
                </a:r>
                <a14:m>
                  <m:oMath xmlns:m="http://schemas.openxmlformats.org/officeDocument/2006/math">
                    <m:sSup>
                      <m:e>
                        <m:r>
                          <a:rPr lang="en-IN" sz="2000" i="1">
                            <a:solidFill>
                              <a:srgbClr val="111827"/>
                            </a:solidFill>
                            <a:latin typeface="Cambria Math" panose="02040503050406030204" pitchFamily="18" charset="0"/>
                          </a:rPr>
                          <m:t>𝑦</m:t>
                        </m:r>
                      </m:e>
                      <m:sup>
                        <m:r>
                          <m:rPr>
                            <m:sty m:val="p"/>
                          </m:rPr>
                          <a:rPr lang="en-IN" sz="2000">
                            <a:solidFill>
                              <a:srgbClr val="111827"/>
                            </a:solidFill>
                            <a:latin typeface="Cambria Math" panose="02040503050406030204" pitchFamily="18" charset="0"/>
                          </a:rPr>
                          <m:t>′</m:t>
                        </m:r>
                      </m:sup>
                    </m:sSup>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oMath>
                </a14:m>
                <a:r>
                  <a:rPr sz="2000" b="0">
                    <a:solidFill>
                      <a:srgbClr val="111827"/>
                    </a:solidFill>
                    <a:latin typeface="Arial"/>
                  </a:rPr>
                  <a:t> and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0</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m:t>
                    </m:r>
                    <m:r>
                      <a:rPr lang="en-IN" sz="2000" i="1">
                        <a:solidFill>
                          <a:srgbClr val="111827"/>
                        </a:solidFill>
                        <a:latin typeface="Cambria Math" panose="02040503050406030204" pitchFamily="18" charset="0"/>
                      </a:rPr>
                      <m:t>1</m:t>
                    </m:r>
                  </m:oMath>
                </a14:m>
                <a:r>
                  <a:rPr sz="2000" b="0">
                    <a:solidFill>
                      <a:srgbClr val="111827"/>
                    </a:solidFill>
                    <a:latin typeface="Arial"/>
                  </a:rPr>
                  <a:t>, then value(s) of </a:t>
                </a:r>
                <a14:m>
                  <m:oMath xmlns:m="http://schemas.openxmlformats.org/officeDocument/2006/math">
                    <m:r>
                      <a:rPr lang="en-IN" sz="2000" i="1">
                        <a:solidFill>
                          <a:srgbClr val="111827"/>
                        </a:solidFill>
                        <a:latin typeface="Cambria Math" panose="02040503050406030204" pitchFamily="18" charset="0"/>
                      </a:rPr>
                      <m:t>𝑦</m:t>
                    </m:r>
                    <m:r>
                      <m:rPr>
                        <m:sty m:val="p"/>
                      </m:rPr>
                      <a:rPr lang="en-IN" sz="2000">
                        <a:solidFill>
                          <a:srgbClr val="111827"/>
                        </a:solidFill>
                        <a:latin typeface="Cambria Math" panose="02040503050406030204" pitchFamily="18" charset="0"/>
                      </a:rPr>
                      <m:t>(</m:t>
                    </m:r>
                    <m:r>
                      <m:rPr>
                        <m:sty m:val="p"/>
                      </m:rPr>
                      <a:rPr lang="en-IN" sz="2000">
                        <a:solidFill>
                          <a:srgbClr val="111827"/>
                        </a:solidFill>
                        <a:latin typeface="Cambria Math" panose="02040503050406030204" pitchFamily="18" charset="0"/>
                      </a:rPr>
                      <m:t>ln</m:t>
                    </m:r>
                    <m:r>
                      <a:rPr lang="en-IN" sz="2000" i="1">
                        <a:solidFill>
                          <a:srgbClr val="111827"/>
                        </a:solidFill>
                        <a:latin typeface="Cambria Math" panose="02040503050406030204" pitchFamily="18" charset="0"/>
                      </a:rPr>
                      <m:t>2</m:t>
                    </m:r>
                    <m:r>
                      <m:rPr>
                        <m:sty m:val="p"/>
                      </m:rPr>
                      <a:rPr lang="en-IN" sz="2000">
                        <a:solidFill>
                          <a:srgbClr val="111827"/>
                        </a:solidFill>
                        <a:latin typeface="Cambria Math" panose="02040503050406030204" pitchFamily="18" charset="0"/>
                      </a:rPr>
                      <m:t>)</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14:m>
                  <m:oMath xmlns:m="http://schemas.openxmlformats.org/officeDocument/2006/math">
                    <m:r>
                      <a:rPr lang="en-IN" sz="2000" i="1">
                        <a:solidFill>
                          <a:srgbClr val="111827"/>
                        </a:solidFill>
                        <a:latin typeface="Cambria Math" panose="02040503050406030204" pitchFamily="18" charset="0"/>
                      </a:rPr>
                      <m:t>1</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14:m>
                  <m:oMath xmlns:m="http://schemas.openxmlformats.org/officeDocument/2006/math">
                    <m:r>
                      <a:rPr lang="en-IN" sz="2000" i="1">
                        <a:solidFill>
                          <a:srgbClr val="111827"/>
                        </a:solidFill>
                        <a:latin typeface="Cambria Math" panose="02040503050406030204" pitchFamily="18" charset="0"/>
                      </a:rPr>
                      <m:t>2</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14:m>
                  <m:oMath xmlns:m="http://schemas.openxmlformats.org/officeDocument/2006/math">
                    <m:r>
                      <a:rPr lang="en-IN" sz="2000" i="1">
                        <a:solidFill>
                          <a:srgbClr val="111827"/>
                        </a:solidFill>
                        <a:latin typeface="Cambria Math" panose="02040503050406030204" pitchFamily="18" charset="0"/>
                      </a:rPr>
                      <m:t>3</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14:m>
                  <m:oMath xmlns:m="http://schemas.openxmlformats.org/officeDocument/2006/math">
                    <m:r>
                      <a:rPr lang="en-IN" sz="2000" i="1">
                        <a:solidFill>
                          <a:srgbClr val="111827"/>
                        </a:solidFill>
                        <a:latin typeface="Cambria Math" panose="02040503050406030204" pitchFamily="18" charset="0"/>
                      </a:rPr>
                      <m:t>4</m:t>
                    </m:r>
                  </m:oMath>
                </a14:m>
                <a:endParaRPr sz="2000">
                  <a:solidFill>
                    <a:srgbClr val="111827"/>
                  </a:solidFill>
                </a:endParaRPr>
              </a:p>
              <a:p>
                <a:pPr algn="l">
                  <a:spcAft>
                    <a:spcPts val="500"/>
                  </a:spcAft>
                  <a:defRPr sz="2000">
                    <a:solidFill>
                      <a:srgbClr val="111827"/>
                    </a:solidFill>
                  </a:defRPr>
                </a:pPr>
                <a:r>
                  <a:rPr sz="2000" b="0">
                    <a:solidFill>
                      <a:srgbClr val="111827"/>
                    </a:solidFill>
                    <a:latin typeface="Arial"/>
                  </a:rPr>
                  <a:t>(T) </a:t>
                </a:r>
                <a14:m>
                  <m:oMath xmlns:m="http://schemas.openxmlformats.org/officeDocument/2006/math">
                    <m:r>
                      <a:rPr lang="en-IN" sz="2000" i="1">
                        <a:solidFill>
                          <a:srgbClr val="111827"/>
                        </a:solidFill>
                        <a:latin typeface="Cambria Math" panose="02040503050406030204" pitchFamily="18" charset="0"/>
                      </a:rPr>
                      <m:t>5</m:t>
                    </m:r>
                  </m:oMath>
                </a14:m>
                <a:endParaRPr sz="2000">
                  <a:solidFill>
                    <a:srgbClr val="111827"/>
                  </a:solidFill>
                </a:endParaRPr>
              </a:p>
            </p:txBody>
          </p:sp>
        </mc:Choice>
        <mc:Fallback>
          <p:sp>
            <p:nvSpPr>
              <p:cNvPr id="4" name="Rounded Rectangle 3"/>
              <p:cNvSpPr/>
              <p:nvPr/>
            </p:nvSpPr>
            <p:spPr>
              <a:xfrm>
                <a:off x="731520" y="1280160"/>
                <a:ext cx="10725912" cy="53949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000">
                    <a:solidFill>
                      <a:srgbClr val="111827"/>
                    </a:solidFill>
                  </a:defRPr>
                </a:lvl1pPr>
              </a:lstStyle>
              <a:p>
                <a:pPr algn="l">
                  <a:spcAft>
                    <a:spcPts val="500"/>
                  </a:spcAft>
                  <a:defRPr sz="2000">
                    <a:solidFill>
                      <a:srgbClr val="111827"/>
                    </a:solidFill>
                  </a:defRPr>
                </a:pPr>
                <a:r>
                  <a:rPr sz="2000" b="0">
                    <a:solidFill>
                      <a:srgbClr val="111827"/>
                    </a:solidFill>
                    <a:latin typeface="Arial"/>
                  </a:rPr>
                  <a:t>[JEE-2009] Match the statements/expressions given in Column I with the values given in Column 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(A) The number of solutions of the equation </a:t>
                </a:r>
                <a:r>
                  <a:rPr lang="en-IN" sz="2000">
                    <a:solidFill>
                      <a:srgbClr val="111827"/>
                    </a:solidFill>
                    <a:latin typeface="Cambria Math" panose="02040503050406030204" pitchFamily="18" charset="0"/>
                  </a:rPr>
                  <a:t>$xe^{\sin x}-\cos x=0$</a:t>
                </a:r>
                <a:r>
                  <a:rPr sz="2000" b="0">
                    <a:solidFill>
                      <a:srgbClr val="111827"/>
                    </a:solidFill>
                    <a:latin typeface="Arial"/>
                  </a:rPr>
                  <a:t> in the interval </a:t>
                </a:r>
                <a:r>
                  <a:rPr lang="en-IN" sz="2000">
                    <a:solidFill>
                      <a:srgbClr val="111827"/>
                    </a:solidFill>
                    <a:latin typeface="Cambria Math" panose="02040503050406030204" pitchFamily="18" charset="0"/>
                  </a:rPr>
                  <a:t>$\left(0,\frac\pi2\right)$</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(B) Value(s) of </a:t>
                </a:r>
                <a:r>
                  <a:rPr lang="en-IN" sz="2000">
                    <a:solidFill>
                      <a:srgbClr val="111827"/>
                    </a:solidFill>
                    <a:latin typeface="Cambria Math" panose="02040503050406030204" pitchFamily="18" charset="0"/>
                  </a:rPr>
                  <a:t>$k$</a:t>
                </a:r>
                <a:r>
                  <a:rPr sz="2000" b="0">
                    <a:solidFill>
                      <a:srgbClr val="111827"/>
                    </a:solidFill>
                    <a:latin typeface="Arial"/>
                  </a:rPr>
                  <a:t> for which the planes </a:t>
                </a:r>
                <a:r>
                  <a:rPr lang="en-IN" sz="2000">
                    <a:solidFill>
                      <a:srgbClr val="111827"/>
                    </a:solidFill>
                    <a:latin typeface="Cambria Math" panose="02040503050406030204" pitchFamily="18" charset="0"/>
                  </a:rPr>
                  <a:t>$kx+4y+z=0$</a:t>
                </a:r>
                <a:r>
                  <a:rPr sz="2000" b="0">
                    <a:solidFill>
                      <a:srgbClr val="111827"/>
                    </a:solidFill>
                    <a:latin typeface="Arial"/>
                  </a:rPr>
                  <a:t>, </a:t>
                </a:r>
                <a:r>
                  <a:rPr lang="en-IN" sz="2000">
                    <a:solidFill>
                      <a:srgbClr val="111827"/>
                    </a:solidFill>
                    <a:latin typeface="Cambria Math" panose="02040503050406030204" pitchFamily="18" charset="0"/>
                  </a:rPr>
                  <a:t>$4x+ky+2z=0$</a:t>
                </a:r>
                <a:r>
                  <a:rPr sz="2000" b="0">
                    <a:solidFill>
                      <a:srgbClr val="111827"/>
                    </a:solidFill>
                    <a:latin typeface="Arial"/>
                  </a:rPr>
                  <a:t> and </a:t>
                </a:r>
                <a:r>
                  <a:rPr lang="en-IN" sz="2000">
                    <a:solidFill>
                      <a:srgbClr val="111827"/>
                    </a:solidFill>
                    <a:latin typeface="Cambria Math" panose="02040503050406030204" pitchFamily="18" charset="0"/>
                  </a:rPr>
                  <a:t>$2x+2y+z=0$</a:t>
                </a:r>
                <a:r>
                  <a:rPr sz="2000" b="0">
                    <a:solidFill>
                      <a:srgbClr val="111827"/>
                    </a:solidFill>
                    <a:latin typeface="Arial"/>
                  </a:rPr>
                  <a:t> intersect in a straight line</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 Value(s) of </a:t>
                </a:r>
                <a:r>
                  <a:rPr lang="en-IN" sz="2000">
                    <a:solidFill>
                      <a:srgbClr val="111827"/>
                    </a:solidFill>
                    <a:latin typeface="Cambria Math" panose="02040503050406030204" pitchFamily="18" charset="0"/>
                  </a:rPr>
                  <a:t>$k$</a:t>
                </a:r>
                <a:r>
                  <a:rPr sz="2000" b="0">
                    <a:solidFill>
                      <a:srgbClr val="111827"/>
                    </a:solidFill>
                    <a:latin typeface="Arial"/>
                  </a:rPr>
                  <a:t> for which </a:t>
                </a:r>
                <a:r>
                  <a:rPr lang="en-IN" sz="2000">
                    <a:solidFill>
                      <a:srgbClr val="111827"/>
                    </a:solidFill>
                    <a:latin typeface="Cambria Math" panose="02040503050406030204" pitchFamily="18" charset="0"/>
                  </a:rPr>
                  <a:t>$|x-1|+|x-2|+|x+1|+|x+2|=4k$</a:t>
                </a:r>
                <a:r>
                  <a:rPr sz="2000" b="0">
                    <a:solidFill>
                      <a:srgbClr val="111827"/>
                    </a:solidFill>
                    <a:latin typeface="Arial"/>
                  </a:rPr>
                  <a:t> has integer solution(s)</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(D) If </a:t>
                </a:r>
                <a:r>
                  <a:rPr lang="en-IN" sz="2000">
                    <a:solidFill>
                      <a:srgbClr val="111827"/>
                    </a:solidFill>
                    <a:latin typeface="Cambria Math" panose="02040503050406030204" pitchFamily="18" charset="0"/>
                  </a:rPr>
                  <a:t>$y'=y+1$</a:t>
                </a:r>
                <a:r>
                  <a:rPr sz="2000" b="0">
                    <a:solidFill>
                      <a:srgbClr val="111827"/>
                    </a:solidFill>
                    <a:latin typeface="Arial"/>
                  </a:rPr>
                  <a:t> and </a:t>
                </a:r>
                <a:r>
                  <a:rPr lang="en-IN" sz="2000">
                    <a:solidFill>
                      <a:srgbClr val="111827"/>
                    </a:solidFill>
                    <a:latin typeface="Cambria Math" panose="02040503050406030204" pitchFamily="18" charset="0"/>
                  </a:rPr>
                  <a:t>$y(0)=1$</a:t>
                </a:r>
                <a:r>
                  <a:rPr sz="2000" b="0">
                    <a:solidFill>
                      <a:srgbClr val="111827"/>
                    </a:solidFill>
                    <a:latin typeface="Arial"/>
                  </a:rPr>
                  <a:t>, then value(s) of </a:t>
                </a:r>
                <a:r>
                  <a:rPr lang="en-IN" sz="2000">
                    <a:solidFill>
                      <a:srgbClr val="111827"/>
                    </a:solidFill>
                    <a:latin typeface="Cambria Math" panose="02040503050406030204" pitchFamily="18" charset="0"/>
                  </a:rPr>
                  <a:t>$y(\ln2)$</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Column-II:</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(P) </a:t>
                </a:r>
                <a:r>
                  <a:rPr lang="en-IN" sz="2000">
                    <a:solidFill>
                      <a:srgbClr val="111827"/>
                    </a:solidFill>
                    <a:latin typeface="Cambria Math" panose="02040503050406030204" pitchFamily="18" charset="0"/>
                  </a:rPr>
                  <a:t>$1$</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(Q) </a:t>
                </a:r>
                <a:r>
                  <a:rPr lang="en-IN" sz="2000">
                    <a:solidFill>
                      <a:srgbClr val="111827"/>
                    </a:solidFill>
                    <a:latin typeface="Cambria Math" panose="02040503050406030204" pitchFamily="18" charset="0"/>
                  </a:rPr>
                  <a:t>$2$</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(R) </a:t>
                </a:r>
                <a:r>
                  <a:rPr lang="en-IN" sz="2000">
                    <a:solidFill>
                      <a:srgbClr val="111827"/>
                    </a:solidFill>
                    <a:latin typeface="Cambria Math" panose="02040503050406030204" pitchFamily="18" charset="0"/>
                  </a:rPr>
                  <a:t>$3$</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(S) </a:t>
                </a:r>
                <a:r>
                  <a:rPr lang="en-IN" sz="2000">
                    <a:solidFill>
                      <a:srgbClr val="111827"/>
                    </a:solidFill>
                    <a:latin typeface="Cambria Math" panose="02040503050406030204" pitchFamily="18" charset="0"/>
                  </a:rPr>
                  <a:t>$4$</a:t>
                </a:r>
                <a:endParaRPr sz="2000">
                  <a:solidFill>
                    <a:srgbClr val="111827"/>
                  </a:solidFill>
                </a:endParaRPr>
              </a:p>
              <a:p>
                <a:pPr algn="l">
                  <a:spcAft>
                    <a:spcPts val="500"/>
                  </a:spcAft>
                  <a:defRPr sz="2000">
                    <a:solidFill>
                      <a:srgbClr val="111827"/>
                    </a:solidFill>
                  </a:defRPr>
                </a:pPr>
                <a:r>
                  <a:rPr sz="2000" b="0">
                    <a:solidFill>
                      <a:srgbClr val="111827"/>
                    </a:solidFill>
                    <a:latin typeface="Arial"/>
                  </a:rPr>
                  <a:t>(T) </a:t>
                </a:r>
                <a:r>
                  <a:rPr lang="en-IN" sz="2000">
                    <a:solidFill>
                      <a:srgbClr val="111827"/>
                    </a:solidFill>
                    <a:latin typeface="Cambria Math" panose="02040503050406030204" pitchFamily="18" charset="0"/>
                  </a:rPr>
                  <a:t>$5$</a:t>
                </a:r>
                <a:endParaRPr sz="2000">
                  <a:solidFill>
                    <a:srgbClr val="111827"/>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solutions of equations (monotonicity), Planes in 3D (line of intersection), Modulus equations, Linear differential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𝑥</m:t>
                        </m:r>
                      </m:den>
                    </m:f>
                  </m:oMath>
                </a14:m>
                <a:r>
                  <a:rPr sz="2400" b="0">
                    <a:solidFill>
                      <a:srgbClr val="78350F"/>
                    </a:solidFill>
                    <a:latin typeface="Arial"/>
                  </a:rPr>
                  <a:t> decreases while </a:t>
                </a:r>
                <a14:m>
                  <m:oMath xmlns:m="http://schemas.openxmlformats.org/officeDocument/2006/math">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sup>
                    </m:sSup>
                  </m:oMath>
                </a14:m>
                <a:r>
                  <a:rPr sz="2400" b="0">
                    <a:solidFill>
                      <a:srgbClr val="78350F"/>
                    </a:solidFill>
                    <a:latin typeface="Arial"/>
                  </a:rPr>
                  <a:t> increases; (B) determinant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(C) tabulate </a:t>
                </a:r>
                <a14:m>
                  <m:oMath xmlns:m="http://schemas.openxmlformats.org/officeDocument/2006/math">
                    <m:r>
                      <a:rPr lang="en-IN" sz="2400" i="1">
                        <a:solidFill>
                          <a:srgbClr val="78350F"/>
                        </a:solidFill>
                        <a:latin typeface="Cambria Math" panose="02040503050406030204" pitchFamily="18" charset="0"/>
                      </a:rPr>
                      <m:t>𝑆</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integers; (D)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𝑒</m:t>
                        </m:r>
                      </m:e>
                      <m:sup>
                        <m:r>
                          <a:rPr lang="en-IN" sz="2400" i="1">
                            <a:solidFill>
                              <a:srgbClr val="78350F"/>
                            </a:solidFill>
                            <a:latin typeface="Cambria Math" panose="02040503050406030204" pitchFamily="18" charset="0"/>
                          </a:rPr>
                          <m:t>𝑥</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a:t>
                </a:r>
                <a:r>
                  <a:rPr lang="en-IN" sz="2400">
                    <a:solidFill>
                      <a:srgbClr val="78350F"/>
                    </a:solidFill>
                    <a:latin typeface="Cambria Math" panose="02040503050406030204" pitchFamily="18" charset="0"/>
                  </a:rPr>
                  <a:t>$\frac{\cos x}{x}$</a:t>
                </a:r>
                <a:r>
                  <a:rPr sz="2400" b="0">
                    <a:solidFill>
                      <a:srgbClr val="78350F"/>
                    </a:solidFill>
                    <a:latin typeface="Arial"/>
                  </a:rPr>
                  <a:t> decreases while </a:t>
                </a:r>
                <a:r>
                  <a:rPr lang="en-IN" sz="2400">
                    <a:solidFill>
                      <a:srgbClr val="78350F"/>
                    </a:solidFill>
                    <a:latin typeface="Cambria Math" panose="02040503050406030204" pitchFamily="18" charset="0"/>
                  </a:rPr>
                  <a:t>$e^{\sin x}$</a:t>
                </a:r>
                <a:r>
                  <a:rPr sz="2400" b="0">
                    <a:solidFill>
                      <a:srgbClr val="78350F"/>
                    </a:solidFill>
                    <a:latin typeface="Arial"/>
                  </a:rPr>
                  <a:t> increases; (B) determinant </a:t>
                </a:r>
                <a:r>
                  <a:rPr lang="en-IN" sz="2400">
                    <a:solidFill>
                      <a:srgbClr val="78350F"/>
                    </a:solidFill>
                    <a:latin typeface="Cambria Math" panose="02040503050406030204" pitchFamily="18" charset="0"/>
                  </a:rPr>
                  <a:t>$=0$</a:t>
                </a:r>
                <a:r>
                  <a:rPr sz="2400" b="0">
                    <a:solidFill>
                      <a:srgbClr val="78350F"/>
                    </a:solidFill>
                    <a:latin typeface="Arial"/>
                  </a:rPr>
                  <a:t>; (C) tabulate </a:t>
                </a:r>
                <a:r>
                  <a:rPr lang="en-IN" sz="2400">
                    <a:solidFill>
                      <a:srgbClr val="78350F"/>
                    </a:solidFill>
                    <a:latin typeface="Cambria Math" panose="02040503050406030204" pitchFamily="18" charset="0"/>
                  </a:rPr>
                  <a:t>$S(x)$</a:t>
                </a:r>
                <a:r>
                  <a:rPr sz="2400" b="0">
                    <a:solidFill>
                      <a:srgbClr val="78350F"/>
                    </a:solidFill>
                    <a:latin typeface="Arial"/>
                  </a:rPr>
                  <a:t> at integers; (D) </a:t>
                </a:r>
                <a:r>
                  <a:rPr lang="en-IN" sz="2400">
                    <a:solidFill>
                      <a:srgbClr val="78350F"/>
                    </a:solidFill>
                    <a:latin typeface="Cambria Math" panose="02040503050406030204" pitchFamily="18" charset="0"/>
                  </a:rPr>
                  <a:t>$y+1=2e^x$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oMath>
                </a14:m>
                <a:r>
                  <a:rPr sz="2400" b="0">
                    <a:solidFill>
                      <a:srgbClr val="111827"/>
                    </a:solidFill>
                    <a:latin typeface="Arial"/>
                  </a:rPr>
                  <a:t>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$xe^{\sin x}-\cos x=0\iff e^{\sin x}=\frac{\cos x}{x}$</a:t>
                </a:r>
                <a:r>
                  <a:rPr sz="2400" b="0">
                    <a:solidFill>
                      <a:srgbClr val="111827"/>
                    </a:solidFill>
                    <a:latin typeface="Arial"/>
                  </a:rPr>
                  <a:t>. Let </a:t>
                </a:r>
                <a:r>
                  <a:rPr lang="en-IN" sz="2400">
                    <a:solidFill>
                      <a:srgbClr val="111827"/>
                    </a:solidFill>
                    <a:latin typeface="Cambria Math" panose="02040503050406030204" pitchFamily="18" charset="0"/>
                  </a:rPr>
                  <a:t>$f(x)=\frac{\cos x}{x}$</a:t>
                </a:r>
                <a:r>
                  <a:rPr sz="2400" b="0">
                    <a:solidFill>
                      <a:srgbClr val="111827"/>
                    </a:solidFill>
                    <a:latin typeface="Arial"/>
                  </a:rPr>
                  <a:t> and </a:t>
                </a:r>
                <a:r>
                  <a:rPr lang="en-IN" sz="2400">
                    <a:solidFill>
                      <a:srgbClr val="111827"/>
                    </a:solidFill>
                    <a:latin typeface="Cambria Math" panose="02040503050406030204" pitchFamily="18" charset="0"/>
                  </a:rPr>
                  <a:t>$g(x)=e^{\sin x}$</a:t>
                </a:r>
                <a:r>
                  <a:rPr sz="2400" b="0">
                    <a:solidFill>
                      <a:srgbClr val="111827"/>
                    </a:solidFill>
                    <a:latin typeface="Arial"/>
                  </a:rPr>
                  <a:t> on </a:t>
                </a:r>
                <a:r>
                  <a:rPr lang="en-IN" sz="2400">
                    <a:solidFill>
                      <a:srgbClr val="111827"/>
                    </a:solidFill>
                    <a:latin typeface="Cambria Math" panose="02040503050406030204" pitchFamily="18" charset="0"/>
                  </a:rPr>
                  <a:t>$\left(0,\frac\pi2\right)$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from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sSup>
                      <m:e>
                        <m:r>
                          <a:rPr lang="en-IN" sz="2400" i="1">
                            <a:solidFill>
                              <a:srgbClr val="111827"/>
                            </a:solidFill>
                            <a:latin typeface="Cambria Math" panose="02040503050406030204" pitchFamily="18" charset="0"/>
                          </a:rPr>
                          <m:t>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while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increases from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𝑒</m:t>
                    </m:r>
                  </m:oMath>
                </a14:m>
                <a:r>
                  <a:rPr sz="2400" b="0">
                    <a:solidFill>
                      <a:srgbClr val="111827"/>
                    </a:solidFill>
                    <a:latin typeface="Arial"/>
                  </a:rPr>
                  <a:t>, so the graphs meet exactly once. Number of solutions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Three planes through the origin meet in a line iff the determinant of coefficients vanishes: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𝑘</m:t>
                              </m:r>
                            </m:e>
                            <m:e>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𝑘</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Expanding,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(rank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in both cases, so a line, not a plane):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takes the values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everywhere).</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a:t>
                </a:r>
                <a:r>
                  <a:rPr sz="2400" b="0">
                    <a:solidFill>
                      <a:srgbClr val="111827"/>
                    </a:solidFill>
                    <a:latin typeface="Arial"/>
                  </a:rPr>
                  <a:t> decreases from </a:t>
                </a:r>
                <a:r>
                  <a:rPr lang="en-IN" sz="2400">
                    <a:solidFill>
                      <a:srgbClr val="111827"/>
                    </a:solidFill>
                    <a:latin typeface="Cambria Math" panose="02040503050406030204" pitchFamily="18" charset="0"/>
                  </a:rPr>
                  <a:t>$+\infty$</a:t>
                </a:r>
                <a:r>
                  <a:rPr sz="2400" b="0">
                    <a:solidFill>
                      <a:srgbClr val="111827"/>
                    </a:solidFill>
                    <a:latin typeface="Arial"/>
                  </a:rPr>
                  <a:t> (at </a:t>
                </a:r>
                <a:r>
                  <a:rPr lang="en-IN" sz="2400">
                    <a:solidFill>
                      <a:srgbClr val="111827"/>
                    </a:solidFill>
                    <a:latin typeface="Cambria Math" panose="02040503050406030204" pitchFamily="18" charset="0"/>
                  </a:rPr>
                  <a:t>$0^+$</a:t>
                </a:r>
                <a:r>
                  <a:rPr sz="2400" b="0">
                    <a:solidFill>
                      <a:srgbClr val="111827"/>
                    </a:solidFill>
                    <a:latin typeface="Arial"/>
                  </a:rPr>
                  <a:t>) to </a:t>
                </a:r>
                <a:r>
                  <a:rPr lang="en-IN" sz="2400">
                    <a:solidFill>
                      <a:srgbClr val="111827"/>
                    </a:solidFill>
                    <a:latin typeface="Cambria Math" panose="02040503050406030204" pitchFamily="18" charset="0"/>
                  </a:rPr>
                  <a:t>$0$</a:t>
                </a:r>
                <a:r>
                  <a:rPr sz="2400" b="0">
                    <a:solidFill>
                      <a:srgbClr val="111827"/>
                    </a:solidFill>
                    <a:latin typeface="Arial"/>
                  </a:rPr>
                  <a:t> (at </a:t>
                </a:r>
                <a:r>
                  <a:rPr lang="en-IN" sz="2400">
                    <a:solidFill>
                      <a:srgbClr val="111827"/>
                    </a:solidFill>
                    <a:latin typeface="Cambria Math" panose="02040503050406030204" pitchFamily="18" charset="0"/>
                  </a:rPr>
                  <a:t>$\frac\pi2$</a:t>
                </a:r>
                <a:r>
                  <a:rPr sz="2400" b="0">
                    <a:solidFill>
                      <a:srgbClr val="111827"/>
                    </a:solidFill>
                    <a:latin typeface="Arial"/>
                  </a:rPr>
                  <a:t>), while </a:t>
                </a:r>
                <a:r>
                  <a:rPr lang="en-IN" sz="2400">
                    <a:solidFill>
                      <a:srgbClr val="111827"/>
                    </a:solidFill>
                    <a:latin typeface="Cambria Math" panose="02040503050406030204" pitchFamily="18" charset="0"/>
                  </a:rPr>
                  <a:t>$g$</a:t>
                </a:r>
                <a:r>
                  <a:rPr sz="2400" b="0">
                    <a:solidFill>
                      <a:srgbClr val="111827"/>
                    </a:solidFill>
                    <a:latin typeface="Arial"/>
                  </a:rPr>
                  <a:t> increases from </a:t>
                </a:r>
                <a:r>
                  <a:rPr lang="en-IN" sz="2400">
                    <a:solidFill>
                      <a:srgbClr val="111827"/>
                    </a:solidFill>
                    <a:latin typeface="Cambria Math" panose="02040503050406030204" pitchFamily="18" charset="0"/>
                  </a:rPr>
                  <a:t>$1$</a:t>
                </a:r>
                <a:r>
                  <a:rPr sz="2400" b="0">
                    <a:solidFill>
                      <a:srgbClr val="111827"/>
                    </a:solidFill>
                    <a:latin typeface="Arial"/>
                  </a:rPr>
                  <a:t> to </a:t>
                </a:r>
                <a:r>
                  <a:rPr lang="en-IN" sz="2400">
                    <a:solidFill>
                      <a:srgbClr val="111827"/>
                    </a:solidFill>
                    <a:latin typeface="Cambria Math" panose="02040503050406030204" pitchFamily="18" charset="0"/>
                  </a:rPr>
                  <a:t>$e$</a:t>
                </a:r>
                <a:r>
                  <a:rPr sz="2400" b="0">
                    <a:solidFill>
                      <a:srgbClr val="111827"/>
                    </a:solidFill>
                    <a:latin typeface="Arial"/>
                  </a:rPr>
                  <a:t>, so the graphs meet exactly once. Number of solutions </a:t>
                </a:r>
                <a:r>
                  <a:rPr lang="en-IN" sz="2400">
                    <a:solidFill>
                      <a:srgbClr val="111827"/>
                    </a:solidFill>
                    <a:latin typeface="Cambria Math" panose="02040503050406030204" pitchFamily="18" charset="0"/>
                  </a:rPr>
                  <a:t>$=1$</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Three planes through the origin meet in a line iff the determinant of coefficients vanishes: </a:t>
                </a:r>
                <a:r>
                  <a:rPr lang="en-IN" sz="2400">
                    <a:solidFill>
                      <a:srgbClr val="111827"/>
                    </a:solidFill>
                    <a:latin typeface="Cambria Math" panose="02040503050406030204" pitchFamily="18" charset="0"/>
                  </a:rPr>
                  <a:t>$\left|\begin{matrix}k&amp;4&amp;1\\4&amp;k&amp;2\\2&amp;2&amp;1\end{matrix}\right|=0$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Expanding, </a:t>
                </a:r>
                <a:r>
                  <a:rPr lang="en-IN" sz="2400">
                    <a:solidFill>
                      <a:srgbClr val="111827"/>
                    </a:solidFill>
                    <a:latin typeface="Cambria Math" panose="02040503050406030204" pitchFamily="18" charset="0"/>
                  </a:rPr>
                  <a:t>$k(k-4)-4(4-4)+1(8-2k)=k^2-6k+8=0$</a:t>
                </a:r>
                <a:r>
                  <a:rPr sz="2400" b="0">
                    <a:solidFill>
                      <a:srgbClr val="111827"/>
                    </a:solidFill>
                    <a:latin typeface="Arial"/>
                  </a:rPr>
                  <a:t>, so </a:t>
                </a:r>
                <a:r>
                  <a:rPr lang="en-IN" sz="2400">
                    <a:solidFill>
                      <a:srgbClr val="111827"/>
                    </a:solidFill>
                    <a:latin typeface="Cambria Math" panose="02040503050406030204" pitchFamily="18" charset="0"/>
                  </a:rPr>
                  <a:t>$k=2$</a:t>
                </a:r>
                <a:r>
                  <a:rPr sz="2400" b="0">
                    <a:solidFill>
                      <a:srgbClr val="111827"/>
                    </a:solidFill>
                    <a:latin typeface="Arial"/>
                  </a:rPr>
                  <a:t> or </a:t>
                </a:r>
                <a:r>
                  <a:rPr lang="en-IN" sz="2400">
                    <a:solidFill>
                      <a:srgbClr val="111827"/>
                    </a:solidFill>
                    <a:latin typeface="Cambria Math" panose="02040503050406030204" pitchFamily="18" charset="0"/>
                  </a:rPr>
                  <a:t>$k=4$</a:t>
                </a:r>
                <a:r>
                  <a:rPr sz="2400" b="0">
                    <a:solidFill>
                      <a:srgbClr val="111827"/>
                    </a:solidFill>
                    <a:latin typeface="Arial"/>
                  </a:rPr>
                  <a:t> (rank </a:t>
                </a:r>
                <a:r>
                  <a:rPr lang="en-IN" sz="2400">
                    <a:solidFill>
                      <a:srgbClr val="111827"/>
                    </a:solidFill>
                    <a:latin typeface="Cambria Math" panose="02040503050406030204" pitchFamily="18" charset="0"/>
                  </a:rPr>
                  <a:t>$2$</a:t>
                </a:r>
                <a:r>
                  <a:rPr sz="2400" b="0">
                    <a:solidFill>
                      <a:srgbClr val="111827"/>
                    </a:solidFill>
                    <a:latin typeface="Arial"/>
                  </a:rPr>
                  <a:t> in both cases, so a line, not a plane):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$S(x)=|x-1|+|x-2|+|x+1|+|x+2|$</a:t>
                </a:r>
                <a:r>
                  <a:rPr sz="2400" b="0">
                    <a:solidFill>
                      <a:srgbClr val="111827"/>
                    </a:solidFill>
                    <a:latin typeface="Arial"/>
                  </a:rPr>
                  <a:t> takes the values </a:t>
                </a:r>
                <a:r>
                  <a:rPr lang="en-IN" sz="2400">
                    <a:solidFill>
                      <a:srgbClr val="111827"/>
                    </a:solidFill>
                    <a:latin typeface="Cambria Math" panose="02040503050406030204" pitchFamily="18" charset="0"/>
                  </a:rPr>
                  <a:t>$6$</a:t>
                </a:r>
                <a:r>
                  <a:rPr sz="2400" b="0">
                    <a:solidFill>
                      <a:srgbClr val="111827"/>
                    </a:solidFill>
                    <a:latin typeface="Arial"/>
                  </a:rPr>
                  <a:t> for </a:t>
                </a:r>
                <a:r>
                  <a:rPr lang="en-IN" sz="2400">
                    <a:solidFill>
                      <a:srgbClr val="111827"/>
                    </a:solidFill>
                    <a:latin typeface="Cambria Math" panose="02040503050406030204" pitchFamily="18" charset="0"/>
                  </a:rPr>
                  <a:t>$x=-1,0,1$</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for </a:t>
                </a:r>
                <a:r>
                  <a:rPr lang="en-IN" sz="2400">
                    <a:solidFill>
                      <a:srgbClr val="111827"/>
                    </a:solidFill>
                    <a:latin typeface="Cambria Math" panose="02040503050406030204" pitchFamily="18" charset="0"/>
                  </a:rPr>
                  <a:t>$x=\pm2$</a:t>
                </a:r>
                <a:r>
                  <a:rPr sz="2400" b="0">
                    <a:solidFill>
                      <a:srgbClr val="111827"/>
                    </a:solidFill>
                    <a:latin typeface="Arial"/>
                  </a:rPr>
                  <a:t>; </a:t>
                </a:r>
                <a:r>
                  <a:rPr lang="en-IN" sz="2400">
                    <a:solidFill>
                      <a:srgbClr val="111827"/>
                    </a:solidFill>
                    <a:latin typeface="Cambria Math" panose="02040503050406030204" pitchFamily="18" charset="0"/>
                  </a:rPr>
                  <a:t>$12$</a:t>
                </a:r>
                <a:r>
                  <a:rPr sz="2400" b="0">
                    <a:solidFill>
                      <a:srgbClr val="111827"/>
                    </a:solidFill>
                    <a:latin typeface="Arial"/>
                  </a:rPr>
                  <a:t> for </a:t>
                </a:r>
                <a:r>
                  <a:rPr lang="en-IN" sz="2400">
                    <a:solidFill>
                      <a:srgbClr val="111827"/>
                    </a:solidFill>
                    <a:latin typeface="Cambria Math" panose="02040503050406030204" pitchFamily="18" charset="0"/>
                  </a:rPr>
                  <a:t>$x=\pm3$</a:t>
                </a:r>
                <a:r>
                  <a:rPr sz="2400" b="0">
                    <a:solidFill>
                      <a:srgbClr val="111827"/>
                    </a:solidFill>
                    <a:latin typeface="Arial"/>
                  </a:rPr>
                  <a:t>; </a:t>
                </a:r>
                <a:r>
                  <a:rPr lang="en-IN" sz="2400">
                    <a:solidFill>
                      <a:srgbClr val="111827"/>
                    </a:solidFill>
                    <a:latin typeface="Cambria Math" panose="02040503050406030204" pitchFamily="18" charset="0"/>
                  </a:rPr>
                  <a:t>$16$</a:t>
                </a:r>
                <a:r>
                  <a:rPr sz="2400" b="0">
                    <a:solidFill>
                      <a:srgbClr val="111827"/>
                    </a:solidFill>
                    <a:latin typeface="Arial"/>
                  </a:rPr>
                  <a:t> for </a:t>
                </a:r>
                <a:r>
                  <a:rPr lang="en-IN" sz="2400">
                    <a:solidFill>
                      <a:srgbClr val="111827"/>
                    </a:solidFill>
                    <a:latin typeface="Cambria Math" panose="02040503050406030204" pitchFamily="18" charset="0"/>
                  </a:rPr>
                  <a:t>$x=\pm4$</a:t>
                </a:r>
                <a:r>
                  <a:rPr sz="2400" b="0">
                    <a:solidFill>
                      <a:srgbClr val="111827"/>
                    </a:solidFill>
                    <a:latin typeface="Arial"/>
                  </a:rPr>
                  <a:t>; </a:t>
                </a:r>
                <a:r>
                  <a:rPr lang="en-IN" sz="2400">
                    <a:solidFill>
                      <a:srgbClr val="111827"/>
                    </a:solidFill>
                    <a:latin typeface="Cambria Math" panose="02040503050406030204" pitchFamily="18" charset="0"/>
                  </a:rPr>
                  <a:t>$20$</a:t>
                </a:r>
                <a:r>
                  <a:rPr sz="2400" b="0">
                    <a:solidFill>
                      <a:srgbClr val="111827"/>
                    </a:solidFill>
                    <a:latin typeface="Arial"/>
                  </a:rPr>
                  <a:t> for </a:t>
                </a:r>
                <a:r>
                  <a:rPr lang="en-IN" sz="2400">
                    <a:solidFill>
                      <a:srgbClr val="111827"/>
                    </a:solidFill>
                    <a:latin typeface="Cambria Math" panose="02040503050406030204" pitchFamily="18" charset="0"/>
                  </a:rPr>
                  <a:t>$x=\pm5$</a:t>
                </a:r>
                <a:r>
                  <a:rPr sz="2400" b="0">
                    <a:solidFill>
                      <a:srgbClr val="111827"/>
                    </a:solidFill>
                    <a:latin typeface="Arial"/>
                  </a:rPr>
                  <a:t> (and is </a:t>
                </a:r>
                <a:r>
                  <a:rPr lang="en-IN" sz="2400">
                    <a:solidFill>
                      <a:srgbClr val="111827"/>
                    </a:solidFill>
                    <a:latin typeface="Cambria Math" panose="02040503050406030204" pitchFamily="18" charset="0"/>
                  </a:rPr>
                  <a:t>$\ge6$</a:t>
                </a:r>
                <a:r>
                  <a:rPr sz="2400" b="0">
                    <a:solidFill>
                      <a:srgbClr val="111827"/>
                    </a:solidFill>
                    <a:latin typeface="Arial"/>
                  </a:rPr>
                  <a:t> everywhere).</a:t>
                </a:r>
                <a:endParaRPr sz="2400">
                  <a:solidFill>
                    <a:srgbClr val="111827"/>
                  </a:solidFill>
                </a:endParaRPr>
              </a:p>
            </p:txBody>
          </p:sp>
        </mc:Fallback>
      </mc:AlternateContent>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oMath>
                </a14:m>
                <a:r>
                  <a:rPr sz="2400" b="0">
                    <a:solidFill>
                      <a:srgbClr val="111827"/>
                    </a:solidFill>
                    <a:latin typeface="Arial"/>
                  </a:rPr>
                  <a:t> equals one of these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20</m:t>
                    </m:r>
                  </m:oMath>
                </a14:m>
                <a:r>
                  <a:rPr sz="2400" b="0">
                    <a:solidFill>
                      <a:srgbClr val="111827"/>
                    </a:solidFill>
                    <a:latin typeface="Arial"/>
                  </a:rPr>
                  <a:t>), but not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Q, R, S,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𝐶</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R.</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$4k$</a:t>
                </a:r>
                <a:r>
                  <a:rPr sz="2400" b="0">
                    <a:solidFill>
                      <a:srgbClr val="111827"/>
                    </a:solidFill>
                    <a:latin typeface="Arial"/>
                  </a:rPr>
                  <a:t> equals one of these for </a:t>
                </a:r>
                <a:r>
                  <a:rPr lang="en-IN" sz="2400">
                    <a:solidFill>
                      <a:srgbClr val="111827"/>
                    </a:solidFill>
                    <a:latin typeface="Cambria Math" panose="02040503050406030204" pitchFamily="18" charset="0"/>
                  </a:rPr>
                  <a:t>$k=2$</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$k=3$</a:t>
                </a:r>
                <a:r>
                  <a:rPr sz="2400" b="0">
                    <a:solidFill>
                      <a:srgbClr val="111827"/>
                    </a:solidFill>
                    <a:latin typeface="Arial"/>
                  </a:rPr>
                  <a:t> (</a:t>
                </a:r>
                <a:r>
                  <a:rPr lang="en-IN" sz="2400">
                    <a:solidFill>
                      <a:srgbClr val="111827"/>
                    </a:solidFill>
                    <a:latin typeface="Cambria Math" panose="02040503050406030204" pitchFamily="18" charset="0"/>
                  </a:rPr>
                  <a:t>$12$</a:t>
                </a:r>
                <a:r>
                  <a:rPr sz="2400" b="0">
                    <a:solidFill>
                      <a:srgbClr val="111827"/>
                    </a:solidFill>
                    <a:latin typeface="Arial"/>
                  </a:rPr>
                  <a:t>), </a:t>
                </a:r>
                <a:r>
                  <a:rPr lang="en-IN" sz="2400">
                    <a:solidFill>
                      <a:srgbClr val="111827"/>
                    </a:solidFill>
                    <a:latin typeface="Cambria Math" panose="02040503050406030204" pitchFamily="18" charset="0"/>
                  </a:rPr>
                  <a:t>$k=4$</a:t>
                </a:r>
                <a:r>
                  <a:rPr sz="2400" b="0">
                    <a:solidFill>
                      <a:srgbClr val="111827"/>
                    </a:solidFill>
                    <a:latin typeface="Arial"/>
                  </a:rPr>
                  <a:t> (</a:t>
                </a:r>
                <a:r>
                  <a:rPr lang="en-IN" sz="2400">
                    <a:solidFill>
                      <a:srgbClr val="111827"/>
                    </a:solidFill>
                    <a:latin typeface="Cambria Math" panose="02040503050406030204" pitchFamily="18" charset="0"/>
                  </a:rPr>
                  <a:t>$16$</a:t>
                </a:r>
                <a:r>
                  <a:rPr sz="2400" b="0">
                    <a:solidFill>
                      <a:srgbClr val="111827"/>
                    </a:solidFill>
                    <a:latin typeface="Arial"/>
                  </a:rPr>
                  <a:t>), </a:t>
                </a:r>
                <a:r>
                  <a:rPr lang="en-IN" sz="2400">
                    <a:solidFill>
                      <a:srgbClr val="111827"/>
                    </a:solidFill>
                    <a:latin typeface="Cambria Math" panose="02040503050406030204" pitchFamily="18" charset="0"/>
                  </a:rPr>
                  <a:t>$k=5$</a:t>
                </a:r>
                <a:r>
                  <a:rPr sz="2400" b="0">
                    <a:solidFill>
                      <a:srgbClr val="111827"/>
                    </a:solidFill>
                    <a:latin typeface="Arial"/>
                  </a:rPr>
                  <a:t> (</a:t>
                </a:r>
                <a:r>
                  <a:rPr lang="en-IN" sz="2400">
                    <a:solidFill>
                      <a:srgbClr val="111827"/>
                    </a:solidFill>
                    <a:latin typeface="Cambria Math" panose="02040503050406030204" pitchFamily="18" charset="0"/>
                  </a:rPr>
                  <a:t>$20$</a:t>
                </a:r>
                <a:r>
                  <a:rPr sz="2400" b="0">
                    <a:solidFill>
                      <a:srgbClr val="111827"/>
                    </a:solidFill>
                    <a:latin typeface="Arial"/>
                  </a:rPr>
                  <a:t>), but not for </a:t>
                </a:r>
                <a:r>
                  <a:rPr lang="en-IN" sz="2400">
                    <a:solidFill>
                      <a:srgbClr val="111827"/>
                    </a:solidFill>
                    <a:latin typeface="Cambria Math" panose="02040503050406030204" pitchFamily="18" charset="0"/>
                  </a:rPr>
                  <a:t>$k=1$</a:t>
                </a:r>
                <a:r>
                  <a:rPr sz="2400" b="0">
                    <a:solidFill>
                      <a:srgbClr val="111827"/>
                    </a:solidFill>
                    <a:latin typeface="Arial"/>
                  </a:rPr>
                  <a:t> (</a:t>
                </a:r>
                <a:r>
                  <a:rPr lang="en-IN" sz="2400">
                    <a:solidFill>
                      <a:srgbClr val="111827"/>
                    </a:solidFill>
                    <a:latin typeface="Cambria Math" panose="02040503050406030204" pitchFamily="18" charset="0"/>
                  </a:rPr>
                  <a:t>$4&lt;6$</a:t>
                </a:r>
                <a:r>
                  <a:rPr sz="2400" b="0">
                    <a:solidFill>
                      <a:srgbClr val="111827"/>
                    </a:solidFill>
                    <a:latin typeface="Arial"/>
                  </a:rPr>
                  <a:t>). So </a:t>
                </a:r>
                <a:r>
                  <a:rPr lang="en-IN" sz="2400">
                    <a:solidFill>
                      <a:srgbClr val="111827"/>
                    </a:solidFill>
                    <a:latin typeface="Cambria Math" panose="02040503050406030204" pitchFamily="18" charset="0"/>
                  </a:rPr>
                  <a:t>$k=2,3,4,5$</a:t>
                </a:r>
                <a:r>
                  <a:rPr sz="2400" b="0">
                    <a:solidFill>
                      <a:srgbClr val="111827"/>
                    </a:solidFill>
                    <a:latin typeface="Arial"/>
                  </a:rPr>
                  <a:t>: Q, R, S,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$\frac{dy}{dx}=y+1\Rightarrow\frac{dy}{y+1}=dx\Rightarrow\ln(y+1)=x+C\Rightarrow y+1=e^{x+C}$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$y(0)=1$</a:t>
                </a:r>
                <a:r>
                  <a:rPr sz="2400" b="0">
                    <a:solidFill>
                      <a:srgbClr val="111827"/>
                    </a:solidFill>
                    <a:latin typeface="Arial"/>
                  </a:rPr>
                  <a:t>: </a:t>
                </a:r>
                <a:r>
                  <a:rPr lang="en-IN" sz="2400">
                    <a:solidFill>
                      <a:srgbClr val="111827"/>
                    </a:solidFill>
                    <a:latin typeface="Cambria Math" panose="02040503050406030204" pitchFamily="18" charset="0"/>
                  </a:rPr>
                  <a:t>$2=e^{C}$</a:t>
                </a:r>
                <a:r>
                  <a:rPr sz="2400" b="0">
                    <a:solidFill>
                      <a:srgbClr val="111827"/>
                    </a:solidFill>
                    <a:latin typeface="Arial"/>
                  </a:rPr>
                  <a:t>, so </a:t>
                </a:r>
                <a:r>
                  <a:rPr lang="en-IN" sz="2400">
                    <a:solidFill>
                      <a:srgbClr val="111827"/>
                    </a:solidFill>
                    <a:latin typeface="Cambria Math" panose="02040503050406030204" pitchFamily="18" charset="0"/>
                  </a:rPr>
                  <a:t>$C=\ln2$</a:t>
                </a:r>
                <a:r>
                  <a:rPr sz="2400" b="0">
                    <a:solidFill>
                      <a:srgbClr val="111827"/>
                    </a:solidFill>
                    <a:latin typeface="Arial"/>
                  </a:rPr>
                  <a:t> and </a:t>
                </a:r>
                <a:r>
                  <a:rPr lang="en-IN" sz="2400">
                    <a:solidFill>
                      <a:srgbClr val="111827"/>
                    </a:solidFill>
                    <a:latin typeface="Cambria Math" panose="02040503050406030204" pitchFamily="18" charset="0"/>
                  </a:rPr>
                  <a:t>$y=e^{x+\ln2}-1=2e^x-1$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t>
                </a:r>
                <a:r>
                  <a:rPr lang="en-IN" sz="2400">
                    <a:solidFill>
                      <a:srgbClr val="111827"/>
                    </a:solidFill>
                    <a:latin typeface="Cambria Math" panose="02040503050406030204" pitchFamily="18" charset="0"/>
                  </a:rPr>
                  <a:t>$x=\ln2$</a:t>
                </a:r>
                <a:r>
                  <a:rPr sz="2400" b="0">
                    <a:solidFill>
                      <a:srgbClr val="111827"/>
                    </a:solidFill>
                    <a:latin typeface="Arial"/>
                  </a:rPr>
                  <a:t>: </a:t>
                </a:r>
                <a:r>
                  <a:rPr lang="en-IN" sz="2400">
                    <a:solidFill>
                      <a:srgbClr val="111827"/>
                    </a:solidFill>
                    <a:latin typeface="Cambria Math" panose="02040503050406030204" pitchFamily="18" charset="0"/>
                  </a:rPr>
                  <a:t>$y=2\cdot2-1=3$</a:t>
                </a:r>
                <a:r>
                  <a:rPr sz="2400" b="0">
                    <a:solidFill>
                      <a:srgbClr val="111827"/>
                    </a:solidFill>
                    <a:latin typeface="Arial"/>
                  </a:rPr>
                  <a:t>: R.</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P; (B) Q, S; (C) Q, R, S, T; (D) R</a:t>
            </a:r>
            <a:endParaRPr sz="2800">
              <a:solidFill>
                <a:srgbClr val="15803D"/>
              </a:solidFill>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 (A): the derivative of </a:t>
                </a:r>
                <a14:m>
                  <m:oMath xmlns:m="http://schemas.openxmlformats.org/officeDocument/2006/math">
                    <m:r>
                      <a:rPr lang="en-IN" sz="2400" i="1">
                        <a:solidFill>
                          <a:srgbClr val="78350F"/>
                        </a:solidFill>
                        <a:latin typeface="Cambria Math" panose="02040503050406030204" pitchFamily="18" charset="0"/>
                      </a:rPr>
                      <m:t>𝑥</m:t>
                    </m:r>
                    <m:sSup>
                      <m:e>
                        <m:r>
                          <a:rPr lang="en-IN" sz="2400" i="1">
                            <a:solidFill>
                              <a:srgbClr val="78350F"/>
                            </a:solidFill>
                            <a:latin typeface="Cambria Math" panose="02040503050406030204" pitchFamily="18" charset="0"/>
                          </a:rPr>
                          <m:t>𝑒</m:t>
                        </m:r>
                      </m:e>
                      <m:sup>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𝑥</m:t>
                    </m:r>
                  </m:oMath>
                </a14:m>
                <a:r>
                  <a:rPr sz="2400" b="0">
                    <a:solidFill>
                      <a:srgbClr val="78350F"/>
                    </a:solidFill>
                    <a:latin typeface="Arial"/>
                  </a:rPr>
                  <a:t> is positive (strictly increasing, then IVT); part (B): eliminate </a:t>
                </a:r>
                <a14:m>
                  <m:oMath xmlns:m="http://schemas.openxmlformats.org/officeDocument/2006/math">
                    <m:r>
                      <a:rPr lang="en-IN" sz="2400" i="1">
                        <a:solidFill>
                          <a:srgbClr val="78350F"/>
                        </a:solidFill>
                        <a:latin typeface="Cambria Math" panose="02040503050406030204" pitchFamily="18" charset="0"/>
                      </a:rPr>
                      <m:t>𝑧</m:t>
                    </m:r>
                  </m:oMath>
                </a14:m>
                <a:r>
                  <a:rPr sz="2400" b="0">
                    <a:solidFill>
                      <a:srgbClr val="78350F"/>
                    </a:solidFill>
                    <a:latin typeface="Arial"/>
                  </a:rPr>
                  <a:t> and read off the cases.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Part (A): the derivative of </a:t>
                </a:r>
                <a:r>
                  <a:rPr lang="en-IN" sz="2400">
                    <a:solidFill>
                      <a:srgbClr val="78350F"/>
                    </a:solidFill>
                    <a:latin typeface="Cambria Math" panose="02040503050406030204" pitchFamily="18" charset="0"/>
                  </a:rPr>
                  <a:t>$xe^{\sin x}-\cos x$</a:t>
                </a:r>
                <a:r>
                  <a:rPr sz="2400" b="0">
                    <a:solidFill>
                      <a:srgbClr val="78350F"/>
                    </a:solidFill>
                    <a:latin typeface="Arial"/>
                  </a:rPr>
                  <a:t> is positive (strictly increasing, then IVT); part (B): eliminate </a:t>
                </a:r>
                <a:r>
                  <a:rPr lang="en-IN" sz="2400">
                    <a:solidFill>
                      <a:srgbClr val="78350F"/>
                    </a:solidFill>
                    <a:latin typeface="Cambria Math" panose="02040503050406030204" pitchFamily="18" charset="0"/>
                  </a:rPr>
                  <a:t>$z$</a:t>
                </a:r>
                <a:r>
                  <a:rPr sz="2400" b="0">
                    <a:solidFill>
                      <a:srgbClr val="78350F"/>
                    </a:solidFill>
                    <a:latin typeface="Arial"/>
                  </a:rPr>
                  <a:t> and read off the cases.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𝑒</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by strict monotonicity and IVT there is exactly one root: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From the third plane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oMath>
                </a14:m>
                <a:r>
                  <a:rPr sz="2400" b="0">
                    <a:solidFill>
                      <a:srgbClr val="111827"/>
                    </a:solidFill>
                    <a:latin typeface="Arial"/>
                  </a:rPr>
                  <a:t>. Substituting in the first: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in the second: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$h(x)=xe^{\sin x}-\cos x$</a:t>
                </a:r>
                <a:r>
                  <a:rPr sz="2400" b="0">
                    <a:solidFill>
                      <a:srgbClr val="111827"/>
                    </a:solidFill>
                    <a:latin typeface="Arial"/>
                  </a:rPr>
                  <a:t> has </a:t>
                </a:r>
                <a:r>
                  <a:rPr lang="en-IN" sz="2400">
                    <a:solidFill>
                      <a:srgbClr val="111827"/>
                    </a:solidFill>
                    <a:latin typeface="Cambria Math" panose="02040503050406030204" pitchFamily="18" charset="0"/>
                  </a:rPr>
                  <a:t>$h'(x)=e^{\sin x}(1+x\cos x)+\sin x&gt;0$</a:t>
                </a:r>
                <a:r>
                  <a:rPr sz="2400" b="0">
                    <a:solidFill>
                      <a:srgbClr val="111827"/>
                    </a:solidFill>
                    <a:latin typeface="Arial"/>
                  </a:rPr>
                  <a:t> on </a:t>
                </a:r>
                <a:r>
                  <a:rPr lang="en-IN" sz="2400">
                    <a:solidFill>
                      <a:srgbClr val="111827"/>
                    </a:solidFill>
                    <a:latin typeface="Cambria Math" panose="02040503050406030204" pitchFamily="18" charset="0"/>
                  </a:rPr>
                  <a:t>$\left(0,\frac\pi2\right)$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$h(0)=-1&lt;0$</a:t>
                </a:r>
                <a:r>
                  <a:rPr sz="2400" b="0">
                    <a:solidFill>
                      <a:srgbClr val="111827"/>
                    </a:solidFill>
                    <a:latin typeface="Arial"/>
                  </a:rPr>
                  <a:t> and </a:t>
                </a:r>
                <a:r>
                  <a:rPr lang="en-IN" sz="2400">
                    <a:solidFill>
                      <a:srgbClr val="111827"/>
                    </a:solidFill>
                    <a:latin typeface="Cambria Math" panose="02040503050406030204" pitchFamily="18" charset="0"/>
                  </a:rPr>
                  <a:t>$h\left(\frac\pi2\right)=\frac\pi2e&gt;0$</a:t>
                </a:r>
                <a:r>
                  <a:rPr sz="2400" b="0">
                    <a:solidFill>
                      <a:srgbClr val="111827"/>
                    </a:solidFill>
                    <a:latin typeface="Arial"/>
                  </a:rPr>
                  <a:t>, so by strict monotonicity and IVT there is exactly one root: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From the third plane </a:t>
                </a:r>
                <a:r>
                  <a:rPr lang="en-IN" sz="2400">
                    <a:solidFill>
                      <a:srgbClr val="111827"/>
                    </a:solidFill>
                    <a:latin typeface="Cambria Math" panose="02040503050406030204" pitchFamily="18" charset="0"/>
                  </a:rPr>
                  <a:t>$z=-2x-2y$</a:t>
                </a:r>
                <a:r>
                  <a:rPr sz="2400" b="0">
                    <a:solidFill>
                      <a:srgbClr val="111827"/>
                    </a:solidFill>
                    <a:latin typeface="Arial"/>
                  </a:rPr>
                  <a:t>. Substituting in the first: </a:t>
                </a:r>
                <a:r>
                  <a:rPr lang="en-IN" sz="2400">
                    <a:solidFill>
                      <a:srgbClr val="111827"/>
                    </a:solidFill>
                    <a:latin typeface="Cambria Math" panose="02040503050406030204" pitchFamily="18" charset="0"/>
                  </a:rPr>
                  <a:t>$(k-2)x+2y=0$</a:t>
                </a:r>
                <a:r>
                  <a:rPr sz="2400" b="0">
                    <a:solidFill>
                      <a:srgbClr val="111827"/>
                    </a:solidFill>
                    <a:latin typeface="Arial"/>
                  </a:rPr>
                  <a:t>; in the second: </a:t>
                </a:r>
                <a:r>
                  <a:rPr lang="en-IN" sz="2400">
                    <a:solidFill>
                      <a:srgbClr val="111827"/>
                    </a:solidFill>
                    <a:latin typeface="Cambria Math" panose="02040503050406030204" pitchFamily="18" charset="0"/>
                  </a:rPr>
                  <a:t>$(4-4)x+(k-4)y=0$</a:t>
                </a:r>
                <a:r>
                  <a:rPr sz="2400" b="0">
                    <a:solidFill>
                      <a:srgbClr val="111827"/>
                    </a:solidFill>
                    <a:latin typeface="Arial"/>
                  </a:rPr>
                  <a:t>, i.e. </a:t>
                </a:r>
                <a:r>
                  <a:rPr lang="en-IN" sz="2400">
                    <a:solidFill>
                      <a:srgbClr val="111827"/>
                    </a:solidFill>
                    <a:latin typeface="Cambria Math" panose="02040503050406030204" pitchFamily="18" charset="0"/>
                  </a:rPr>
                  <a:t>$(k-4)y=0$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If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second equation vanishes and the first gives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line. If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which has non-zero solutions only if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free: a line). For other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sum of the distances from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it equals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equals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If </a:t>
                </a:r>
                <a:r>
                  <a:rPr lang="en-IN" sz="2400">
                    <a:solidFill>
                      <a:srgbClr val="111827"/>
                    </a:solidFill>
                    <a:latin typeface="Cambria Math" panose="02040503050406030204" pitchFamily="18" charset="0"/>
                  </a:rPr>
                  <a:t>$k=4$</a:t>
                </a:r>
                <a:r>
                  <a:rPr sz="2400" b="0">
                    <a:solidFill>
                      <a:srgbClr val="111827"/>
                    </a:solidFill>
                    <a:latin typeface="Arial"/>
                  </a:rPr>
                  <a:t>: the second equation vanishes and the first gives </a:t>
                </a:r>
                <a:r>
                  <a:rPr lang="en-IN" sz="2400">
                    <a:solidFill>
                      <a:srgbClr val="111827"/>
                    </a:solidFill>
                    <a:latin typeface="Cambria Math" panose="02040503050406030204" pitchFamily="18" charset="0"/>
                  </a:rPr>
                  <a:t>$2x+2y=0$</a:t>
                </a:r>
                <a:r>
                  <a:rPr sz="2400" b="0">
                    <a:solidFill>
                      <a:srgbClr val="111827"/>
                    </a:solidFill>
                    <a:latin typeface="Arial"/>
                  </a:rPr>
                  <a:t>, a line. If </a:t>
                </a:r>
                <a:r>
                  <a:rPr lang="en-IN" sz="2400">
                    <a:solidFill>
                      <a:srgbClr val="111827"/>
                    </a:solidFill>
                    <a:latin typeface="Cambria Math" panose="02040503050406030204" pitchFamily="18" charset="0"/>
                  </a:rPr>
                  <a:t>$k\ne4$</a:t>
                </a:r>
                <a:r>
                  <a:rPr sz="2400" b="0">
                    <a:solidFill>
                      <a:srgbClr val="111827"/>
                    </a:solidFill>
                    <a:latin typeface="Arial"/>
                  </a:rPr>
                  <a:t>: </a:t>
                </a:r>
                <a:r>
                  <a:rPr lang="en-IN" sz="2400">
                    <a:solidFill>
                      <a:srgbClr val="111827"/>
                    </a:solidFill>
                    <a:latin typeface="Cambria Math" panose="02040503050406030204" pitchFamily="18" charset="0"/>
                  </a:rPr>
                  <a:t>$y=0$</a:t>
                </a:r>
                <a:r>
                  <a:rPr sz="2400" b="0">
                    <a:solidFill>
                      <a:srgbClr val="111827"/>
                    </a:solidFill>
                    <a:latin typeface="Arial"/>
                  </a:rPr>
                  <a:t>, then </a:t>
                </a:r>
                <a:r>
                  <a:rPr lang="en-IN" sz="2400">
                    <a:solidFill>
                      <a:srgbClr val="111827"/>
                    </a:solidFill>
                    <a:latin typeface="Cambria Math" panose="02040503050406030204" pitchFamily="18" charset="0"/>
                  </a:rPr>
                  <a:t>$(k-2)x=0$</a:t>
                </a:r>
                <a:r>
                  <a:rPr sz="2400" b="0">
                    <a:solidFill>
                      <a:srgbClr val="111827"/>
                    </a:solidFill>
                    <a:latin typeface="Arial"/>
                  </a:rPr>
                  <a:t>, which has non-zero solutions only if </a:t>
                </a:r>
                <a:r>
                  <a:rPr lang="en-IN" sz="2400">
                    <a:solidFill>
                      <a:srgbClr val="111827"/>
                    </a:solidFill>
                    <a:latin typeface="Cambria Math" panose="02040503050406030204" pitchFamily="18" charset="0"/>
                  </a:rPr>
                  <a:t>$k=2$</a:t>
                </a:r>
                <a:r>
                  <a:rPr sz="2400" b="0">
                    <a:solidFill>
                      <a:srgbClr val="111827"/>
                    </a:solidFill>
                    <a:latin typeface="Arial"/>
                  </a:rPr>
                  <a:t> (then </a:t>
                </a:r>
                <a:r>
                  <a:rPr lang="en-IN" sz="2400">
                    <a:solidFill>
                      <a:srgbClr val="111827"/>
                    </a:solidFill>
                    <a:latin typeface="Cambria Math" panose="02040503050406030204" pitchFamily="18" charset="0"/>
                  </a:rPr>
                  <a:t>$x$</a:t>
                </a:r>
                <a:r>
                  <a:rPr sz="2400" b="0">
                    <a:solidFill>
                      <a:srgbClr val="111827"/>
                    </a:solidFill>
                    <a:latin typeface="Arial"/>
                  </a:rPr>
                  <a:t> is free: a line). For other </a:t>
                </a:r>
                <a:r>
                  <a:rPr lang="en-IN" sz="2400">
                    <a:solidFill>
                      <a:srgbClr val="111827"/>
                    </a:solidFill>
                    <a:latin typeface="Cambria Math" panose="02040503050406030204" pitchFamily="18" charset="0"/>
                  </a:rPr>
                  <a:t>$k$</a:t>
                </a:r>
                <a:r>
                  <a:rPr sz="2400" b="0">
                    <a:solidFill>
                      <a:srgbClr val="111827"/>
                    </a:solidFill>
                    <a:latin typeface="Arial"/>
                  </a:rPr>
                  <a:t> only </a:t>
                </a:r>
                <a:r>
                  <a:rPr lang="en-IN" sz="2400">
                    <a:solidFill>
                      <a:srgbClr val="111827"/>
                    </a:solidFill>
                    <a:latin typeface="Cambria Math" panose="02040503050406030204" pitchFamily="18" charset="0"/>
                  </a:rPr>
                  <a:t>$x=y=z=0$</a:t>
                </a:r>
                <a:r>
                  <a:rPr sz="2400" b="0">
                    <a:solidFill>
                      <a:srgbClr val="111827"/>
                    </a:solidFill>
                    <a:latin typeface="Arial"/>
                  </a:rPr>
                  <a:t>. So </a:t>
                </a:r>
                <a:r>
                  <a:rPr lang="en-IN" sz="2400">
                    <a:solidFill>
                      <a:srgbClr val="111827"/>
                    </a:solidFill>
                    <a:latin typeface="Cambria Math" panose="02040503050406030204" pitchFamily="18" charset="0"/>
                  </a:rPr>
                  <a:t>$k=2,4$</a:t>
                </a:r>
                <a:r>
                  <a:rPr sz="2400" b="0">
                    <a:solidFill>
                      <a:srgbClr val="111827"/>
                    </a:solidFill>
                    <a:latin typeface="Arial"/>
                  </a:rPr>
                  <a:t>: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$S(x)$</a:t>
                </a:r>
                <a:r>
                  <a:rPr sz="2400" b="0">
                    <a:solidFill>
                      <a:srgbClr val="111827"/>
                    </a:solidFill>
                    <a:latin typeface="Arial"/>
                  </a:rPr>
                  <a:t> is the sum of the distances from </a:t>
                </a:r>
                <a:r>
                  <a:rPr lang="en-IN" sz="2400">
                    <a:solidFill>
                      <a:srgbClr val="111827"/>
                    </a:solidFill>
                    <a:latin typeface="Cambria Math" panose="02040503050406030204" pitchFamily="18" charset="0"/>
                  </a:rPr>
                  <a:t>$x$</a:t>
                </a:r>
                <a:r>
                  <a:rPr sz="2400" b="0">
                    <a:solidFill>
                      <a:srgbClr val="111827"/>
                    </a:solidFill>
                    <a:latin typeface="Arial"/>
                  </a:rPr>
                  <a:t> to </a:t>
                </a:r>
                <a:r>
                  <a:rPr lang="en-IN" sz="2400">
                    <a:solidFill>
                      <a:srgbClr val="111827"/>
                    </a:solidFill>
                    <a:latin typeface="Cambria Math" panose="02040503050406030204" pitchFamily="18" charset="0"/>
                  </a:rPr>
                  <a:t>$-2,-1,1,2$</a:t>
                </a:r>
                <a:r>
                  <a:rPr sz="2400" b="0">
                    <a:solidFill>
                      <a:srgbClr val="111827"/>
                    </a:solidFill>
                    <a:latin typeface="Arial"/>
                  </a:rPr>
                  <a:t>: it equals </a:t>
                </a:r>
                <a:r>
                  <a:rPr lang="en-IN" sz="2400">
                    <a:solidFill>
                      <a:srgbClr val="111827"/>
                    </a:solidFill>
                    <a:latin typeface="Cambria Math" panose="02040503050406030204" pitchFamily="18" charset="0"/>
                  </a:rPr>
                  <a:t>$6$</a:t>
                </a:r>
                <a:r>
                  <a:rPr sz="2400" b="0">
                    <a:solidFill>
                      <a:srgbClr val="111827"/>
                    </a:solidFill>
                    <a:latin typeface="Arial"/>
                  </a:rPr>
                  <a:t> on </a:t>
                </a:r>
                <a:r>
                  <a:rPr lang="en-IN" sz="2400">
                    <a:solidFill>
                      <a:srgbClr val="111827"/>
                    </a:solidFill>
                    <a:latin typeface="Cambria Math" panose="02040503050406030204" pitchFamily="18" charset="0"/>
                  </a:rPr>
                  <a:t>$[-1,1]$</a:t>
                </a:r>
                <a:r>
                  <a:rPr sz="2400" b="0">
                    <a:solidFill>
                      <a:srgbClr val="111827"/>
                    </a:solidFill>
                    <a:latin typeface="Arial"/>
                  </a:rPr>
                  <a:t>, equals </a:t>
                </a:r>
                <a:r>
                  <a:rPr lang="en-IN" sz="2400">
                    <a:solidFill>
                      <a:srgbClr val="111827"/>
                    </a:solidFill>
                    <a:latin typeface="Cambria Math" panose="02040503050406030204" pitchFamily="18" charset="0"/>
                  </a:rPr>
                  <a:t>$2|x|+4$</a:t>
                </a:r>
                <a:r>
                  <a:rPr sz="2400" b="0">
                    <a:solidFill>
                      <a:srgbClr val="111827"/>
                    </a:solidFill>
                    <a:latin typeface="Arial"/>
                  </a:rPr>
                  <a:t> for </a:t>
                </a:r>
                <a:r>
                  <a:rPr lang="en-IN" sz="2400">
                    <a:solidFill>
                      <a:srgbClr val="111827"/>
                    </a:solidFill>
                    <a:latin typeface="Cambria Math" panose="02040503050406030204" pitchFamily="18" charset="0"/>
                  </a:rPr>
                  <a:t>$1\le|x|\le2$</a:t>
                </a:r>
                <a:r>
                  <a:rPr sz="2400" b="0">
                    <a:solidFill>
                      <a:srgbClr val="111827"/>
                    </a:solidFill>
                    <a:latin typeface="Arial"/>
                  </a:rPr>
                  <a:t>, and equals </a:t>
                </a:r>
                <a:r>
                  <a:rPr lang="en-IN" sz="2400">
                    <a:solidFill>
                      <a:srgbClr val="111827"/>
                    </a:solidFill>
                    <a:latin typeface="Cambria Math" panose="02040503050406030204" pitchFamily="18" charset="0"/>
                  </a:rPr>
                  <a:t>$4|x|$</a:t>
                </a:r>
                <a:r>
                  <a:rPr sz="2400" b="0">
                    <a:solidFill>
                      <a:srgbClr val="111827"/>
                    </a:solidFill>
                    <a:latin typeface="Arial"/>
                  </a:rPr>
                  <a:t> for </a:t>
                </a:r>
                <a:r>
                  <a:rPr lang="en-IN" sz="2400">
                    <a:solidFill>
                      <a:srgbClr val="111827"/>
                    </a:solidFill>
                    <a:latin typeface="Cambria Math" panose="02040503050406030204" pitchFamily="18" charset="0"/>
                  </a:rPr>
                  <a:t>$|x|\ge2$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So the integer values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solvable in integers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not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Q, R, S,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satisfies </a:t>
                </a:r>
                <a14:m>
                  <m:oMath xmlns:m="http://schemas.openxmlformats.org/officeDocument/2006/math">
                    <m:sSup>
                      <m:e>
                        <m:r>
                          <a:rPr lang="en-IN" sz="2400" i="1">
                            <a:solidFill>
                              <a:srgbClr val="111827"/>
                            </a:solidFill>
                            <a:latin typeface="Cambria Math" panose="02040503050406030204" pitchFamily="18" charset="0"/>
                          </a:rPr>
                          <m:t>𝑧</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ln</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So the integer values of </a:t>
                </a:r>
                <a:r>
                  <a:rPr lang="en-IN" sz="2400">
                    <a:solidFill>
                      <a:srgbClr val="111827"/>
                    </a:solidFill>
                    <a:latin typeface="Cambria Math" panose="02040503050406030204" pitchFamily="18" charset="0"/>
                  </a:rPr>
                  <a:t>$S$</a:t>
                </a:r>
                <a:r>
                  <a:rPr sz="2400" b="0">
                    <a:solidFill>
                      <a:srgbClr val="111827"/>
                    </a:solidFill>
                    <a:latin typeface="Arial"/>
                  </a:rPr>
                  <a:t> are </a:t>
                </a:r>
                <a:r>
                  <a:rPr lang="en-IN" sz="2400">
                    <a:solidFill>
                      <a:srgbClr val="111827"/>
                    </a:solidFill>
                    <a:latin typeface="Cambria Math" panose="02040503050406030204" pitchFamily="18" charset="0"/>
                  </a:rPr>
                  <a:t>$6,8,12,16,20,\dots$</a:t>
                </a:r>
                <a:r>
                  <a:rPr sz="2400" b="0">
                    <a:solidFill>
                      <a:srgbClr val="111827"/>
                    </a:solidFill>
                    <a:latin typeface="Arial"/>
                  </a:rPr>
                  <a:t> at </a:t>
                </a:r>
                <a:r>
                  <a:rPr lang="en-IN" sz="2400">
                    <a:solidFill>
                      <a:srgbClr val="111827"/>
                    </a:solidFill>
                    <a:latin typeface="Cambria Math" panose="02040503050406030204" pitchFamily="18" charset="0"/>
                  </a:rPr>
                  <a:t>$|x|=0\text{ or }1,2,3,4,5$</a:t>
                </a:r>
                <a:r>
                  <a:rPr sz="2400" b="0">
                    <a:solidFill>
                      <a:srgbClr val="111827"/>
                    </a:solidFill>
                    <a:latin typeface="Arial"/>
                  </a:rPr>
                  <a:t>; </a:t>
                </a:r>
                <a:r>
                  <a:rPr lang="en-IN" sz="2400">
                    <a:solidFill>
                      <a:srgbClr val="111827"/>
                    </a:solidFill>
                    <a:latin typeface="Cambria Math" panose="02040503050406030204" pitchFamily="18" charset="0"/>
                  </a:rPr>
                  <a:t>$4k=S(x)$</a:t>
                </a:r>
                <a:r>
                  <a:rPr sz="2400" b="0">
                    <a:solidFill>
                      <a:srgbClr val="111827"/>
                    </a:solidFill>
                    <a:latin typeface="Arial"/>
                  </a:rPr>
                  <a:t> is solvable in integers for </a:t>
                </a:r>
                <a:r>
                  <a:rPr lang="en-IN" sz="2400">
                    <a:solidFill>
                      <a:srgbClr val="111827"/>
                    </a:solidFill>
                    <a:latin typeface="Cambria Math" panose="02040503050406030204" pitchFamily="18" charset="0"/>
                  </a:rPr>
                  <a:t>$k=2,3,4,5$</a:t>
                </a:r>
                <a:r>
                  <a:rPr sz="2400" b="0">
                    <a:solidFill>
                      <a:srgbClr val="111827"/>
                    </a:solidFill>
                    <a:latin typeface="Arial"/>
                  </a:rPr>
                  <a:t> and not for </a:t>
                </a:r>
                <a:r>
                  <a:rPr lang="en-IN" sz="2400">
                    <a:solidFill>
                      <a:srgbClr val="111827"/>
                    </a:solidFill>
                    <a:latin typeface="Cambria Math" panose="02040503050406030204" pitchFamily="18" charset="0"/>
                  </a:rPr>
                  <a:t>$k=1$</a:t>
                </a:r>
                <a:r>
                  <a:rPr sz="2400" b="0">
                    <a:solidFill>
                      <a:srgbClr val="111827"/>
                    </a:solidFill>
                    <a:latin typeface="Arial"/>
                  </a:rPr>
                  <a:t>: Q, R, S,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$y+1$</a:t>
                </a:r>
                <a:r>
                  <a:rPr sz="2400" b="0">
                    <a:solidFill>
                      <a:srgbClr val="111827"/>
                    </a:solidFill>
                    <a:latin typeface="Arial"/>
                  </a:rPr>
                  <a:t> satisfies </a:t>
                </a:r>
                <a:r>
                  <a:rPr lang="en-IN" sz="2400">
                    <a:solidFill>
                      <a:srgbClr val="111827"/>
                    </a:solidFill>
                    <a:latin typeface="Cambria Math" panose="02040503050406030204" pitchFamily="18" charset="0"/>
                  </a:rPr>
                  <a:t>$z'=z$</a:t>
                </a:r>
                <a:r>
                  <a:rPr sz="2400" b="0">
                    <a:solidFill>
                      <a:srgbClr val="111827"/>
                    </a:solidFill>
                    <a:latin typeface="Arial"/>
                  </a:rPr>
                  <a:t>, so </a:t>
                </a:r>
                <a:r>
                  <a:rPr lang="en-IN" sz="2400">
                    <a:solidFill>
                      <a:srgbClr val="111827"/>
                    </a:solidFill>
                    <a:latin typeface="Cambria Math" panose="02040503050406030204" pitchFamily="18" charset="0"/>
                  </a:rPr>
                  <a:t>$z=z(0)e^x=2e^x$</a:t>
                </a:r>
                <a:r>
                  <a:rPr sz="2400" b="0">
                    <a:solidFill>
                      <a:srgbClr val="111827"/>
                    </a:solidFill>
                    <a:latin typeface="Arial"/>
                  </a:rPr>
                  <a:t> and </a:t>
                </a:r>
                <a:r>
                  <a:rPr lang="en-IN" sz="2400">
                    <a:solidFill>
                      <a:srgbClr val="111827"/>
                    </a:solidFill>
                    <a:latin typeface="Cambria Math" panose="02040503050406030204" pitchFamily="18" charset="0"/>
                  </a:rPr>
                  <a:t>$y(\ln2)=2\cdot2-1=3$</a:t>
                </a:r>
                <a:r>
                  <a:rPr sz="2400" b="0">
                    <a:solidFill>
                      <a:srgbClr val="111827"/>
                    </a:solidFill>
                    <a:latin typeface="Arial"/>
                  </a:rPr>
                  <a:t>: R.</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P; (B) Q, S; (C) Q, R, S, T; (D) R</a:t>
            </a:r>
            <a:endParaRPr sz="2800">
              <a:solidFill>
                <a:srgbClr val="15803D"/>
              </a:solidFill>
            </a:endParaRP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oMath>
                </a14:m>
                <a:r>
                  <a:rPr sz="2400" b="0">
                    <a:solidFill>
                      <a:srgbClr val="111827"/>
                    </a:solidFill>
                    <a:latin typeface="Arial"/>
                  </a:rPr>
                  <a:t>: the solution is the shifted exponential,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𝑒</m:t>
                        </m:r>
                      </m:e>
                      <m:sup>
                        <m:r>
                          <a:rPr lang="en-IN" sz="2400" i="1">
                            <a:solidFill>
                              <a:srgbClr val="111827"/>
                            </a:solidFill>
                            <a:latin typeface="Cambria Math" panose="02040503050406030204" pitchFamily="18" charset="0"/>
                          </a:rPr>
                          <m:t>𝑥</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homogeneous planes meet in a line iff the determinant of the coefficients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the rank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(rank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means all three planes coincide).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piecewise linear and convex, with its minimum on the median interval; its values at integers are quickly tabulated.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count roots of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an interval: show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is monotonic (via </a:t>
                </a:r>
                <a14:m>
                  <m:oMath xmlns:m="http://schemas.openxmlformats.org/officeDocument/2006/math">
                    <m:sSup>
                      <m:e>
                        <m:r>
                          <a:rPr lang="en-IN" sz="2400" i="1">
                            <a:solidFill>
                              <a:srgbClr val="111827"/>
                            </a:solidFill>
                            <a:latin typeface="Cambria Math" panose="02040503050406030204" pitchFamily="18" charset="0"/>
                          </a:rPr>
                          <m:t>𝐹</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of fixed sign) and apply the Intermediate Value Theorem for existence.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$\frac{dy}{dx}=y+k\Rightarrow y+k=(y_0+k)e^{x}$</a:t>
                </a:r>
                <a:r>
                  <a:rPr sz="2400" b="0">
                    <a:solidFill>
                      <a:srgbClr val="111827"/>
                    </a:solidFill>
                    <a:latin typeface="Arial"/>
                  </a:rPr>
                  <a:t>: the solution is the shifted exponential, so </a:t>
                </a:r>
                <a:r>
                  <a:rPr lang="en-IN" sz="2400">
                    <a:solidFill>
                      <a:srgbClr val="111827"/>
                    </a:solidFill>
                    <a:latin typeface="Cambria Math" panose="02040503050406030204" pitchFamily="18" charset="0"/>
                  </a:rPr>
                  <a:t>$y(x)=(y_0+k)e^x-k$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homogeneous planes meet in a line iff the determinant of the coefficients is </a:t>
                </a:r>
                <a:r>
                  <a:rPr lang="en-IN" sz="2400">
                    <a:solidFill>
                      <a:srgbClr val="111827"/>
                    </a:solidFill>
                    <a:latin typeface="Cambria Math" panose="02040503050406030204" pitchFamily="18" charset="0"/>
                  </a:rPr>
                  <a:t>$0$</a:t>
                </a:r>
                <a:r>
                  <a:rPr sz="2400" b="0">
                    <a:solidFill>
                      <a:srgbClr val="111827"/>
                    </a:solidFill>
                    <a:latin typeface="Arial"/>
                  </a:rPr>
                  <a:t> and the rank is </a:t>
                </a:r>
                <a:r>
                  <a:rPr lang="en-IN" sz="2400">
                    <a:solidFill>
                      <a:srgbClr val="111827"/>
                    </a:solidFill>
                    <a:latin typeface="Cambria Math" panose="02040503050406030204" pitchFamily="18" charset="0"/>
                  </a:rPr>
                  <a:t>$2$</a:t>
                </a:r>
                <a:r>
                  <a:rPr sz="2400" b="0">
                    <a:solidFill>
                      <a:srgbClr val="111827"/>
                    </a:solidFill>
                    <a:latin typeface="Arial"/>
                  </a:rPr>
                  <a:t> (rank </a:t>
                </a:r>
                <a:r>
                  <a:rPr lang="en-IN" sz="2400">
                    <a:solidFill>
                      <a:srgbClr val="111827"/>
                    </a:solidFill>
                    <a:latin typeface="Cambria Math" panose="02040503050406030204" pitchFamily="18" charset="0"/>
                  </a:rPr>
                  <a:t>$1$</a:t>
                </a:r>
                <a:r>
                  <a:rPr sz="2400" b="0">
                    <a:solidFill>
                      <a:srgbClr val="111827"/>
                    </a:solidFill>
                    <a:latin typeface="Arial"/>
                  </a:rPr>
                  <a:t> means all three planes coincide).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$\sum_{i}|x-a_i|$</a:t>
                </a:r>
                <a:r>
                  <a:rPr sz="2400" b="0">
                    <a:solidFill>
                      <a:srgbClr val="111827"/>
                    </a:solidFill>
                    <a:latin typeface="Arial"/>
                  </a:rPr>
                  <a:t> is piecewise linear and convex, with its minimum on the median interval; its values at integers are quickly tabulated.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count roots of </a:t>
                </a:r>
                <a:r>
                  <a:rPr lang="en-IN" sz="2400">
                    <a:solidFill>
                      <a:srgbClr val="111827"/>
                    </a:solidFill>
                    <a:latin typeface="Cambria Math" panose="02040503050406030204" pitchFamily="18" charset="0"/>
                  </a:rPr>
                  <a:t>$F(x)=0$</a:t>
                </a:r>
                <a:r>
                  <a:rPr sz="2400" b="0">
                    <a:solidFill>
                      <a:srgbClr val="111827"/>
                    </a:solidFill>
                    <a:latin typeface="Arial"/>
                  </a:rPr>
                  <a:t> on an interval: show </a:t>
                </a:r>
                <a:r>
                  <a:rPr lang="en-IN" sz="2400">
                    <a:solidFill>
                      <a:srgbClr val="111827"/>
                    </a:solidFill>
                    <a:latin typeface="Cambria Math" panose="02040503050406030204" pitchFamily="18" charset="0"/>
                  </a:rPr>
                  <a:t>$F$</a:t>
                </a:r>
                <a:r>
                  <a:rPr sz="2400" b="0">
                    <a:solidFill>
                      <a:srgbClr val="111827"/>
                    </a:solidFill>
                    <a:latin typeface="Arial"/>
                  </a:rPr>
                  <a:t> is monotonic (via </a:t>
                </a:r>
                <a:r>
                  <a:rPr lang="en-IN" sz="2400">
                    <a:solidFill>
                      <a:srgbClr val="111827"/>
                    </a:solidFill>
                    <a:latin typeface="Cambria Math" panose="02040503050406030204" pitchFamily="18" charset="0"/>
                  </a:rPr>
                  <a:t>$F'$</a:t>
                </a:r>
                <a:r>
                  <a:rPr sz="2400" b="0">
                    <a:solidFill>
                      <a:srgbClr val="111827"/>
                    </a:solidFill>
                    <a:latin typeface="Arial"/>
                  </a:rPr>
                  <a:t> of fixed sign) and apply the Intermediate Value Theorem for existence.</a:t>
                </a:r>
                <a:endParaRPr sz="2400">
                  <a:solidFill>
                    <a:srgbClr val="111827"/>
                  </a:solidFill>
                </a:endParaRPr>
              </a:p>
            </p:txBody>
          </p:sp>
        </mc:Fallback>
      </mc:AlternateContent>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Integer (0-9)</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2.31</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4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15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14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0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33 questions, 123 marks.  Index = Σ(marks × level) ÷ Σ marks, on the 0-5 scale.</a:t>
            </a:r>
            <a:endParaRPr sz="2400">
              <a:solidFill>
                <a:srgbClr val="111827"/>
              </a:solidFill>
            </a:endParaRP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DE Sheet C2</a:t>
                      </a:r>
                    </a:p>
                  </a:txBody>
                  <a:tcPr anchor="ctr" marL="137160" marR="137160">
                    <a:solidFill>
                      <a:srgbClr val="E0ECFF"/>
                    </a:solidFill>
                  </a:tcPr>
                </a:tc>
                <a:tc>
                  <a:txBody>
                    <a:bodyPr/>
                    <a:lstStyle/>
                    <a:p>
                      <a:pPr algn="ctr"/>
                      <a:r>
                        <a:rPr sz="2600" b="1">
                          <a:solidFill>
                            <a:srgbClr val="0B1F3A"/>
                          </a:solidFill>
                          <a:latin typeface="Arial"/>
                        </a:rPr>
                        <a:t>2.31</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