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  <p:sldId id="550" r:id="rId302"/>
    <p:sldId id="551" r:id="rId303"/>
    <p:sldId id="552" r:id="rId304"/>
    <p:sldId id="553" r:id="rId305"/>
    <p:sldId id="554" r:id="rId306"/>
    <p:sldId id="555" r:id="rId307"/>
    <p:sldId id="556" r:id="rId308"/>
    <p:sldId id="557" r:id="rId309"/>
    <p:sldId id="558" r:id="rId310"/>
    <p:sldId id="559" r:id="rId311"/>
    <p:sldId id="560" r:id="rId312"/>
    <p:sldId id="561" r:id="rId313"/>
    <p:sldId id="562" r:id="rId314"/>
    <p:sldId id="563" r:id="rId315"/>
    <p:sldId id="564" r:id="rId316"/>
    <p:sldId id="565" r:id="rId317"/>
    <p:sldId id="566" r:id="rId318"/>
    <p:sldId id="567" r:id="rId319"/>
    <p:sldId id="568" r:id="rId320"/>
    <p:sldId id="569" r:id="rId321"/>
    <p:sldId id="570" r:id="rId322"/>
    <p:sldId id="571" r:id="rId323"/>
    <p:sldId id="572" r:id="rId324"/>
    <p:sldId id="573" r:id="rId325"/>
    <p:sldId id="574" r:id="rId326"/>
    <p:sldId id="575" r:id="rId327"/>
    <p:sldId id="576" r:id="rId328"/>
    <p:sldId id="577" r:id="rId329"/>
    <p:sldId id="578" r:id="rId330"/>
    <p:sldId id="579" r:id="rId331"/>
    <p:sldId id="580" r:id="rId332"/>
    <p:sldId id="581" r:id="rId333"/>
    <p:sldId id="582" r:id="rId334"/>
    <p:sldId id="583" r:id="rId335"/>
    <p:sldId id="584" r:id="rId336"/>
    <p:sldId id="585" r:id="rId337"/>
    <p:sldId id="586" r:id="rId338"/>
    <p:sldId id="587" r:id="rId339"/>
    <p:sldId id="588" r:id="rId340"/>
    <p:sldId id="589" r:id="rId341"/>
    <p:sldId id="590" r:id="rId342"/>
    <p:sldId id="591" r:id="rId343"/>
    <p:sldId id="592" r:id="rId344"/>
    <p:sldId id="593" r:id="rId345"/>
    <p:sldId id="594" r:id="rId346"/>
    <p:sldId id="595" r:id="rId347"/>
    <p:sldId id="596" r:id="rId348"/>
    <p:sldId id="597" r:id="rId349"/>
    <p:sldId id="598" r:id="rId350"/>
    <p:sldId id="599" r:id="rId351"/>
    <p:sldId id="600" r:id="rId352"/>
    <p:sldId id="601" r:id="rId353"/>
    <p:sldId id="602" r:id="rId354"/>
    <p:sldId id="603" r:id="rId355"/>
    <p:sldId id="604" r:id="rId356"/>
    <p:sldId id="605" r:id="rId357"/>
    <p:sldId id="606" r:id="rId358"/>
    <p:sldId id="607" r:id="rId359"/>
    <p:sldId id="608" r:id="rId360"/>
    <p:sldId id="609" r:id="rId361"/>
    <p:sldId id="610" r:id="rId362"/>
    <p:sldId id="611" r:id="rId363"/>
    <p:sldId id="612" r:id="rId364"/>
    <p:sldId id="613" r:id="rId365"/>
    <p:sldId id="614" r:id="rId366"/>
    <p:sldId id="615" r:id="rId367"/>
    <p:sldId id="616" r:id="rId368"/>
    <p:sldId id="617" r:id="rId369"/>
    <p:sldId id="618" r:id="rId370"/>
    <p:sldId id="619" r:id="rId371"/>
    <p:sldId id="620" r:id="rId372"/>
    <p:sldId id="621" r:id="rId373"/>
    <p:sldId id="622" r:id="rId374"/>
    <p:sldId id="623" r:id="rId375"/>
    <p:sldId id="624" r:id="rId376"/>
    <p:sldId id="625" r:id="rId377"/>
    <p:sldId id="626" r:id="rId378"/>
    <p:sldId id="627" r:id="rId379"/>
    <p:sldId id="628" r:id="rId380"/>
    <p:sldId id="629" r:id="rId381"/>
    <p:sldId id="630" r:id="rId382"/>
    <p:sldId id="631" r:id="rId3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Relationship Id="rId302" Type="http://schemas.openxmlformats.org/officeDocument/2006/relationships/slide" Target="slides/slide295.xml"/><Relationship Id="rId303" Type="http://schemas.openxmlformats.org/officeDocument/2006/relationships/slide" Target="slides/slide296.xml"/><Relationship Id="rId304" Type="http://schemas.openxmlformats.org/officeDocument/2006/relationships/slide" Target="slides/slide297.xml"/><Relationship Id="rId305" Type="http://schemas.openxmlformats.org/officeDocument/2006/relationships/slide" Target="slides/slide298.xml"/><Relationship Id="rId306" Type="http://schemas.openxmlformats.org/officeDocument/2006/relationships/slide" Target="slides/slide299.xml"/><Relationship Id="rId307" Type="http://schemas.openxmlformats.org/officeDocument/2006/relationships/slide" Target="slides/slide300.xml"/><Relationship Id="rId308" Type="http://schemas.openxmlformats.org/officeDocument/2006/relationships/slide" Target="slides/slide301.xml"/><Relationship Id="rId309" Type="http://schemas.openxmlformats.org/officeDocument/2006/relationships/slide" Target="slides/slide302.xml"/><Relationship Id="rId310" Type="http://schemas.openxmlformats.org/officeDocument/2006/relationships/slide" Target="slides/slide303.xml"/><Relationship Id="rId311" Type="http://schemas.openxmlformats.org/officeDocument/2006/relationships/slide" Target="slides/slide304.xml"/><Relationship Id="rId312" Type="http://schemas.openxmlformats.org/officeDocument/2006/relationships/slide" Target="slides/slide305.xml"/><Relationship Id="rId313" Type="http://schemas.openxmlformats.org/officeDocument/2006/relationships/slide" Target="slides/slide306.xml"/><Relationship Id="rId314" Type="http://schemas.openxmlformats.org/officeDocument/2006/relationships/slide" Target="slides/slide307.xml"/><Relationship Id="rId315" Type="http://schemas.openxmlformats.org/officeDocument/2006/relationships/slide" Target="slides/slide308.xml"/><Relationship Id="rId316" Type="http://schemas.openxmlformats.org/officeDocument/2006/relationships/slide" Target="slides/slide309.xml"/><Relationship Id="rId317" Type="http://schemas.openxmlformats.org/officeDocument/2006/relationships/slide" Target="slides/slide310.xml"/><Relationship Id="rId318" Type="http://schemas.openxmlformats.org/officeDocument/2006/relationships/slide" Target="slides/slide311.xml"/><Relationship Id="rId319" Type="http://schemas.openxmlformats.org/officeDocument/2006/relationships/slide" Target="slides/slide312.xml"/><Relationship Id="rId320" Type="http://schemas.openxmlformats.org/officeDocument/2006/relationships/slide" Target="slides/slide313.xml"/><Relationship Id="rId321" Type="http://schemas.openxmlformats.org/officeDocument/2006/relationships/slide" Target="slides/slide314.xml"/><Relationship Id="rId322" Type="http://schemas.openxmlformats.org/officeDocument/2006/relationships/slide" Target="slides/slide315.xml"/><Relationship Id="rId323" Type="http://schemas.openxmlformats.org/officeDocument/2006/relationships/slide" Target="slides/slide316.xml"/><Relationship Id="rId324" Type="http://schemas.openxmlformats.org/officeDocument/2006/relationships/slide" Target="slides/slide317.xml"/><Relationship Id="rId325" Type="http://schemas.openxmlformats.org/officeDocument/2006/relationships/slide" Target="slides/slide318.xml"/><Relationship Id="rId326" Type="http://schemas.openxmlformats.org/officeDocument/2006/relationships/slide" Target="slides/slide319.xml"/><Relationship Id="rId327" Type="http://schemas.openxmlformats.org/officeDocument/2006/relationships/slide" Target="slides/slide320.xml"/><Relationship Id="rId328" Type="http://schemas.openxmlformats.org/officeDocument/2006/relationships/slide" Target="slides/slide321.xml"/><Relationship Id="rId329" Type="http://schemas.openxmlformats.org/officeDocument/2006/relationships/slide" Target="slides/slide322.xml"/><Relationship Id="rId330" Type="http://schemas.openxmlformats.org/officeDocument/2006/relationships/slide" Target="slides/slide323.xml"/><Relationship Id="rId331" Type="http://schemas.openxmlformats.org/officeDocument/2006/relationships/slide" Target="slides/slide324.xml"/><Relationship Id="rId332" Type="http://schemas.openxmlformats.org/officeDocument/2006/relationships/slide" Target="slides/slide325.xml"/><Relationship Id="rId333" Type="http://schemas.openxmlformats.org/officeDocument/2006/relationships/slide" Target="slides/slide326.xml"/><Relationship Id="rId334" Type="http://schemas.openxmlformats.org/officeDocument/2006/relationships/slide" Target="slides/slide327.xml"/><Relationship Id="rId335" Type="http://schemas.openxmlformats.org/officeDocument/2006/relationships/slide" Target="slides/slide328.xml"/><Relationship Id="rId336" Type="http://schemas.openxmlformats.org/officeDocument/2006/relationships/slide" Target="slides/slide329.xml"/><Relationship Id="rId337" Type="http://schemas.openxmlformats.org/officeDocument/2006/relationships/slide" Target="slides/slide330.xml"/><Relationship Id="rId338" Type="http://schemas.openxmlformats.org/officeDocument/2006/relationships/slide" Target="slides/slide331.xml"/><Relationship Id="rId339" Type="http://schemas.openxmlformats.org/officeDocument/2006/relationships/slide" Target="slides/slide332.xml"/><Relationship Id="rId340" Type="http://schemas.openxmlformats.org/officeDocument/2006/relationships/slide" Target="slides/slide333.xml"/><Relationship Id="rId341" Type="http://schemas.openxmlformats.org/officeDocument/2006/relationships/slide" Target="slides/slide334.xml"/><Relationship Id="rId342" Type="http://schemas.openxmlformats.org/officeDocument/2006/relationships/slide" Target="slides/slide335.xml"/><Relationship Id="rId343" Type="http://schemas.openxmlformats.org/officeDocument/2006/relationships/slide" Target="slides/slide336.xml"/><Relationship Id="rId344" Type="http://schemas.openxmlformats.org/officeDocument/2006/relationships/slide" Target="slides/slide337.xml"/><Relationship Id="rId345" Type="http://schemas.openxmlformats.org/officeDocument/2006/relationships/slide" Target="slides/slide338.xml"/><Relationship Id="rId346" Type="http://schemas.openxmlformats.org/officeDocument/2006/relationships/slide" Target="slides/slide339.xml"/><Relationship Id="rId347" Type="http://schemas.openxmlformats.org/officeDocument/2006/relationships/slide" Target="slides/slide340.xml"/><Relationship Id="rId348" Type="http://schemas.openxmlformats.org/officeDocument/2006/relationships/slide" Target="slides/slide341.xml"/><Relationship Id="rId349" Type="http://schemas.openxmlformats.org/officeDocument/2006/relationships/slide" Target="slides/slide342.xml"/><Relationship Id="rId350" Type="http://schemas.openxmlformats.org/officeDocument/2006/relationships/slide" Target="slides/slide343.xml"/><Relationship Id="rId351" Type="http://schemas.openxmlformats.org/officeDocument/2006/relationships/slide" Target="slides/slide344.xml"/><Relationship Id="rId352" Type="http://schemas.openxmlformats.org/officeDocument/2006/relationships/slide" Target="slides/slide345.xml"/><Relationship Id="rId353" Type="http://schemas.openxmlformats.org/officeDocument/2006/relationships/slide" Target="slides/slide346.xml"/><Relationship Id="rId354" Type="http://schemas.openxmlformats.org/officeDocument/2006/relationships/slide" Target="slides/slide347.xml"/><Relationship Id="rId355" Type="http://schemas.openxmlformats.org/officeDocument/2006/relationships/slide" Target="slides/slide348.xml"/><Relationship Id="rId356" Type="http://schemas.openxmlformats.org/officeDocument/2006/relationships/slide" Target="slides/slide349.xml"/><Relationship Id="rId357" Type="http://schemas.openxmlformats.org/officeDocument/2006/relationships/slide" Target="slides/slide350.xml"/><Relationship Id="rId358" Type="http://schemas.openxmlformats.org/officeDocument/2006/relationships/slide" Target="slides/slide351.xml"/><Relationship Id="rId359" Type="http://schemas.openxmlformats.org/officeDocument/2006/relationships/slide" Target="slides/slide352.xml"/><Relationship Id="rId360" Type="http://schemas.openxmlformats.org/officeDocument/2006/relationships/slide" Target="slides/slide353.xml"/><Relationship Id="rId361" Type="http://schemas.openxmlformats.org/officeDocument/2006/relationships/slide" Target="slides/slide354.xml"/><Relationship Id="rId362" Type="http://schemas.openxmlformats.org/officeDocument/2006/relationships/slide" Target="slides/slide355.xml"/><Relationship Id="rId363" Type="http://schemas.openxmlformats.org/officeDocument/2006/relationships/slide" Target="slides/slide356.xml"/><Relationship Id="rId364" Type="http://schemas.openxmlformats.org/officeDocument/2006/relationships/slide" Target="slides/slide357.xml"/><Relationship Id="rId365" Type="http://schemas.openxmlformats.org/officeDocument/2006/relationships/slide" Target="slides/slide358.xml"/><Relationship Id="rId366" Type="http://schemas.openxmlformats.org/officeDocument/2006/relationships/slide" Target="slides/slide359.xml"/><Relationship Id="rId367" Type="http://schemas.openxmlformats.org/officeDocument/2006/relationships/slide" Target="slides/slide360.xml"/><Relationship Id="rId368" Type="http://schemas.openxmlformats.org/officeDocument/2006/relationships/slide" Target="slides/slide361.xml"/><Relationship Id="rId369" Type="http://schemas.openxmlformats.org/officeDocument/2006/relationships/slide" Target="slides/slide362.xml"/><Relationship Id="rId370" Type="http://schemas.openxmlformats.org/officeDocument/2006/relationships/slide" Target="slides/slide363.xml"/><Relationship Id="rId371" Type="http://schemas.openxmlformats.org/officeDocument/2006/relationships/slide" Target="slides/slide364.xml"/><Relationship Id="rId372" Type="http://schemas.openxmlformats.org/officeDocument/2006/relationships/slide" Target="slides/slide365.xml"/><Relationship Id="rId373" Type="http://schemas.openxmlformats.org/officeDocument/2006/relationships/slide" Target="slides/slide366.xml"/><Relationship Id="rId374" Type="http://schemas.openxmlformats.org/officeDocument/2006/relationships/slide" Target="slides/slide367.xml"/><Relationship Id="rId375" Type="http://schemas.openxmlformats.org/officeDocument/2006/relationships/slide" Target="slides/slide368.xml"/><Relationship Id="rId376" Type="http://schemas.openxmlformats.org/officeDocument/2006/relationships/slide" Target="slides/slide369.xml"/><Relationship Id="rId377" Type="http://schemas.openxmlformats.org/officeDocument/2006/relationships/slide" Target="slides/slide370.xml"/><Relationship Id="rId378" Type="http://schemas.openxmlformats.org/officeDocument/2006/relationships/slide" Target="slides/slide371.xml"/><Relationship Id="rId379" Type="http://schemas.openxmlformats.org/officeDocument/2006/relationships/slide" Target="slides/slide372.xml"/><Relationship Id="rId380" Type="http://schemas.openxmlformats.org/officeDocument/2006/relationships/slide" Target="slides/slide373.xml"/><Relationship Id="rId381" Type="http://schemas.openxmlformats.org/officeDocument/2006/relationships/slide" Target="slides/slide374.xml"/><Relationship Id="rId382" Type="http://schemas.openxmlformats.org/officeDocument/2006/relationships/slide" Target="slides/slide375.xml"/><Relationship Id="rId383" Type="http://schemas.openxmlformats.org/officeDocument/2006/relationships/slide" Target="slides/slide37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5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5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Sheet1!$A$2:$A$65</c:f>
              <c:strCache>
                <c:ptCount val="6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  <c:pt idx="33">
                  <c:v>Q34</c:v>
                </c:pt>
                <c:pt idx="34">
                  <c:v>Q35</c:v>
                </c:pt>
                <c:pt idx="35">
                  <c:v>Q36</c:v>
                </c:pt>
                <c:pt idx="36">
                  <c:v>Q37</c:v>
                </c:pt>
                <c:pt idx="37">
                  <c:v>Q38</c:v>
                </c:pt>
                <c:pt idx="38">
                  <c:v>Q39</c:v>
                </c:pt>
                <c:pt idx="39">
                  <c:v>Q40</c:v>
                </c:pt>
                <c:pt idx="40">
                  <c:v>Q41</c:v>
                </c:pt>
                <c:pt idx="41">
                  <c:v>Q42</c:v>
                </c:pt>
                <c:pt idx="42">
                  <c:v>Q43</c:v>
                </c:pt>
                <c:pt idx="43">
                  <c:v>Q44</c:v>
                </c:pt>
                <c:pt idx="44">
                  <c:v>Q45</c:v>
                </c:pt>
                <c:pt idx="45">
                  <c:v>Q46</c:v>
                </c:pt>
                <c:pt idx="46">
                  <c:v>Q47</c:v>
                </c:pt>
                <c:pt idx="47">
                  <c:v>Q48</c:v>
                </c:pt>
                <c:pt idx="48">
                  <c:v>Q49</c:v>
                </c:pt>
                <c:pt idx="49">
                  <c:v>Q50</c:v>
                </c:pt>
                <c:pt idx="50">
                  <c:v>Q51</c:v>
                </c:pt>
                <c:pt idx="51">
                  <c:v>Q52</c:v>
                </c:pt>
                <c:pt idx="52">
                  <c:v>Q53</c:v>
                </c:pt>
                <c:pt idx="53">
                  <c:v>Q54</c:v>
                </c:pt>
                <c:pt idx="54">
                  <c:v>Q55</c:v>
                </c:pt>
                <c:pt idx="55">
                  <c:v>Q56</c:v>
                </c:pt>
                <c:pt idx="56">
                  <c:v>Q57</c:v>
                </c:pt>
                <c:pt idx="57">
                  <c:v>Q58</c:v>
                </c:pt>
                <c:pt idx="58">
                  <c:v>Q59</c:v>
                </c:pt>
                <c:pt idx="59">
                  <c:v>Q60</c:v>
                </c:pt>
                <c:pt idx="60">
                  <c:v>Q61</c:v>
                </c:pt>
                <c:pt idx="61">
                  <c:v>Q62</c:v>
                </c:pt>
                <c:pt idx="62">
                  <c:v>Q63</c:v>
                </c:pt>
                <c:pt idx="63">
                  <c:v>Q64</c:v>
                </c:pt>
              </c:strCache>
            </c:strRef>
          </c:cat>
          <c:val>
            <c:numRef>
              <c:f>Sheet1!$B$2:$B$65</c:f>
              <c:numCache>
                <c:formatCode>General</c:formatCode>
                <c:ptCount val="64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3.0</c:v>
                </c:pt>
                <c:pt idx="7">
                  <c:v>2.0</c:v>
                </c:pt>
                <c:pt idx="8">
                  <c:v>3.0</c:v>
                </c:pt>
                <c:pt idx="9">
                  <c:v>3.0</c:v>
                </c:pt>
                <c:pt idx="10">
                  <c:v>3.0</c:v>
                </c:pt>
                <c:pt idx="11">
                  <c:v>3.0</c:v>
                </c:pt>
                <c:pt idx="12">
                  <c:v>2.0</c:v>
                </c:pt>
                <c:pt idx="13">
                  <c:v>1.0</c:v>
                </c:pt>
                <c:pt idx="14">
                  <c:v>3.0</c:v>
                </c:pt>
                <c:pt idx="15">
                  <c:v>2.0</c:v>
                </c:pt>
                <c:pt idx="16">
                  <c:v>3.0</c:v>
                </c:pt>
                <c:pt idx="17">
                  <c:v>3.0</c:v>
                </c:pt>
                <c:pt idx="18">
                  <c:v>2.0</c:v>
                </c:pt>
                <c:pt idx="19">
                  <c:v>2.0</c:v>
                </c:pt>
                <c:pt idx="20">
                  <c:v>3.0</c:v>
                </c:pt>
                <c:pt idx="21">
                  <c:v>2.0</c:v>
                </c:pt>
                <c:pt idx="22">
                  <c:v>2.0</c:v>
                </c:pt>
                <c:pt idx="23">
                  <c:v>2.0</c:v>
                </c:pt>
                <c:pt idx="24">
                  <c:v>2.0</c:v>
                </c:pt>
                <c:pt idx="25">
                  <c:v>3.0</c:v>
                </c:pt>
                <c:pt idx="26">
                  <c:v>2.0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2.0</c:v>
                </c:pt>
                <c:pt idx="32">
                  <c:v>3.0</c:v>
                </c:pt>
                <c:pt idx="33">
                  <c:v>2.0</c:v>
                </c:pt>
                <c:pt idx="34">
                  <c:v>2.0</c:v>
                </c:pt>
                <c:pt idx="35">
                  <c:v>2.0</c:v>
                </c:pt>
                <c:pt idx="36">
                  <c:v>3.0</c:v>
                </c:pt>
                <c:pt idx="37">
                  <c:v>3.0</c:v>
                </c:pt>
                <c:pt idx="38">
                  <c:v>1.0</c:v>
                </c:pt>
                <c:pt idx="39">
                  <c:v>2.0</c:v>
                </c:pt>
                <c:pt idx="40">
                  <c:v>3.0</c:v>
                </c:pt>
                <c:pt idx="41">
                  <c:v>2.0</c:v>
                </c:pt>
                <c:pt idx="42">
                  <c:v>2.0</c:v>
                </c:pt>
                <c:pt idx="43">
                  <c:v>2.0</c:v>
                </c:pt>
                <c:pt idx="44">
                  <c:v>2.0</c:v>
                </c:pt>
                <c:pt idx="45">
                  <c:v>3.0</c:v>
                </c:pt>
                <c:pt idx="46">
                  <c:v>1.0</c:v>
                </c:pt>
                <c:pt idx="47">
                  <c:v>2.0</c:v>
                </c:pt>
                <c:pt idx="48">
                  <c:v>3.0</c:v>
                </c:pt>
                <c:pt idx="49">
                  <c:v>3.0</c:v>
                </c:pt>
                <c:pt idx="50">
                  <c:v>1.0</c:v>
                </c:pt>
                <c:pt idx="51">
                  <c:v>3.0</c:v>
                </c:pt>
                <c:pt idx="52">
                  <c:v>3.0</c:v>
                </c:pt>
                <c:pt idx="53">
                  <c:v>2.0</c:v>
                </c:pt>
                <c:pt idx="54">
                  <c:v>3.0</c:v>
                </c:pt>
                <c:pt idx="55">
                  <c:v>4.0</c:v>
                </c:pt>
                <c:pt idx="56">
                  <c:v>3.0</c:v>
                </c:pt>
                <c:pt idx="57">
                  <c:v>2.0</c:v>
                </c:pt>
                <c:pt idx="58">
                  <c:v>2.0</c:v>
                </c:pt>
                <c:pt idx="59">
                  <c:v>3.0</c:v>
                </c:pt>
                <c:pt idx="60">
                  <c:v>3.0</c:v>
                </c:pt>
                <c:pt idx="61">
                  <c:v>2.0</c:v>
                </c:pt>
                <c:pt idx="62">
                  <c:v>3.0</c:v>
                </c:pt>
                <c:pt idx="63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$-8k\cdot4k^2=-32k^2$ and gets $32k^2+k-33=0$ with roots $k=1,-\frac{33}{32}$. The correct product is $-32k^3$, giving $32k^3+k-33=0$, which factors as $(k-1)(32k^2+32k+33)$ with the single real root $k=1$. The PDF's $k=1$ and $P(4,1)$ are right; the second root $-\frac{33}{32}$ does not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$Q\left(\frac4{\sqrt3},\frac1{\sqrt5}\right)$; the abscissa is $\frac4{\sqrt5}$ (contact point of $y=-x+\sqrt5$ is $\left(\frac{a^2m}{-c},\frac{b^2}c\right)\to\left(\frac4{\sqrt5},\frac1{\sqrt5}\right)$). Its determinant already uses $\frac4{\sqrt5}$, so the answer $3\sqrt5$ is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tangent as $\frac x4\cdot\frac{\sqrt{13}}2+\ldots$; the factor $\cos30^\circ$ is $\frac{\sqrt3}2$, not $\frac{\sqrt{13}}2$ (the next line, $\frac{\sqrt3x}{8}+\frac{y}{4\sqrt3}=1$, is correct and is used).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$2ae=\left|\left(1+\sqrt2\right)-\left(1+\sqrt2\right)\right|=2\sqrt2$; the second focus is $1-\sqrt2$ (a sign typo; as printed the difference is $0$). The corrected difference gives $2\sqrt2$ as the PDF uses.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$\frac1{OP^2}=\frac1{48}$ in one line (it should be $\frac1{48/7}=\frac7{48}$; $OP^2=\frac{48}7$) and then correctly uses $\frac7{48}$ in the next line. Corrected the printed line; the final $\frac{13}{144}$ and $p+q=157$ are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simplified chord as $\frac x5+\frac y4=\frac14$ (i.e. $4x+5y=5$). That is wrong: $T=S_1$ gives $\frac x{25}+\frac y{40}=\frac1{20}$, i.e. $8x+5y=10$. The PDF's next line $y=2-\frac{8x}5$ and everything after it use the correct line, so the answer is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first line reads “Putting $y^2=2x^2$ in both the conics”; the curve is $y^2=3x^2$. With $y^2=3x^2$ the circle gives $x^2=b$ and the ellipse gives $\frac b{16}+\frac3b=1$, which is exactly what the PDF goes on to use (with $y^2=2x^2$ the circle would give $3x^2=4b$). So the $2$ is a typo; all later steps and the answer 432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area equation as $\pi a^2(e-1)^2=4\pi\Rightarrow a(e-1)^2=2$. The right consequence is $a(e-1)=2$ (taking the square root of $a^2(e-1)^2=4$); with $a=6$ this gives $e-1=\frac13$, which is what the PDF uses next. Everything after that line and the answer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statement prints $\alpha^2+\beta^2$; with $\beta=105$ that would be $11091$, which is not among the options. The key (C) 171 and the PDF's own last line ($66+105=171$) correspond to $\alpha^2+\beta$ (as in the original JEE question), so the question is quoted with $\alpha^2+\beta$ and the last line of the working is written $\alpha^2+\beta$. Also the PDF writes “$a=6$” for $a^2=6$.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finds $a=2$, $b^2=9$ and then substitutes into the directrix condition $\frac ae=\frac4{\sqrt3}$ to get $e=\frac{\sqrt3}2&lt;1$, concluding the question is 'bonus'. The directrix datum is inconsistent with the latus rectum and tangency data (for $a=2$, $b^2=9$ the directrices are $x=\pm\frac4{\sqrt{13}}$), but the printed key 61 is exactly what the latus rectum and tangency data give ($4e^2=13$, $m=48$). The deck finishes the working with that data and keeps the key's answer 61.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Conic Sections (Exercise J-M)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JM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Exercise J-M: JEE Main previous-year questions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Q64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for every question (single-correct and numerical), JEE Advanced defaults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of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common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$\left(6,-2\sqrt2\right)$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common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tangent to two parabolas,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tangent to the first parabola in slope form and impose a zero discriminant with the second curve to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tangent to the first parabola in slope form and impose a zero discriminant with the second curve to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equal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$T: y=mx+\frac{1}{8m}$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$y^2+1=x$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$\left(mx+\frac1{8m}\right)^2+1=x$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equal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$D=0\Rightarrow m=\frac{1}{2\sqrt2}$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$\therefore T: x-2\sqrt2\,y+1=0$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$\left(6,-2\sqrt2\right)$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$d=\left|\frac{6+8+1}{\sqrt9}\right|=5$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Parametrise the tangent to each parabola by its point of contact; two forms of the same line must have proportional coefficients.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line, both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$(2t^2,t)$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$x-4ty+2t^2=0$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$(1+s^2,s)$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$x-2sy+s^2-1=0$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line, both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$4t=2s$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$2t^2=s^2-1$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$2t^2=4t^2-1$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$m=\frac{1}{4t}&gt;0$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$x-2\sqrt2\,y+1=0$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$\left(6,-2\sqrt2\right)$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$=\frac{|6+8+1|}{3}=5$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Parametric 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matching two such parametric tangents is a quick way to find common tangents.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$y=mx+\frac am$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$x^2=4ay$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$y=mx-am^2$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Parametric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$(at^2,2at)$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$ty=x+at^2$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matching two such parametric tangents is a quick way to find common tangents.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$\frac{|ax_1+by_1+c|}{\sqrt{a^2+b^2}}$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of two sides of a variable triangle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third side is a tangent to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locus of its circumcentre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of two sides of a variable triangle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third side is a tangent to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locus of its circumcentre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$4y^2-18y-3x+18=0$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$4y^2+18y+3x+18=0$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$4y^2-18y-3x-18=0$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$4y^2-18y+3x+18=0$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parabola (slope form), Locus of the circumcentre of a right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perpendicular, so the circumcentre is the midpoint of the hypotenuse (the tangent's chord).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perpendicular, so the circumcentre is the midpoint of the hypotenuse (the tangent's chord).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angle 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circumcentre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these two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substituting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$y=mx+\frac{3}{2m}$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$\left(0,\frac{3}{2m}\right)$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$\left(\frac{6m-3}{2m^2},3\right)$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angle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circumcentre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these two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$h=\frac{6m-3}{4m^2},\; k=\frac{6m+3}{4m}$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$m=\frac{3}{4k-6}$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substituting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$3h=2(-2k^2+9k-9)$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$4y^2-18y+3x+18=0$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$4y^2-18y+3x+18=0$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tangent by its point of contact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avoids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gives the midpoint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tangent by its point of contact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$(\frac32t^2,3t)$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avoids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gives the midpoint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$\left(\frac32t^2,3t\right)$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$ty=x+\frac32t^2$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$y=\frac{3t}{2}$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$x=3t-\frac{3t^2}{2}$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$\left(0,\frac{3t}{2}\right)$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$\left(3t-\frac{3t^2}2,3\right)$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$h=\frac{3t}{2}-\frac{3t^2}{4},\;k=\frac{3t}{4}+\frac32$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$t=\frac{4k-6}{3}$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$h=2k-3-\frac{(4k-6)^2}{12}$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$3h=6k-9-(4k^2-12k+9)$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$4k^2-18k+3h+18=0$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$4y^2-18y+3x+18=0$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$4y^2-18y+3x+18=0$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right-angled triangle the circumcentre is the midpoint of the hypotenuse and the circumradius is half of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locus, express the moving point in terms of one parameter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eliminate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of the intercept of a tangent between two perpendicular lines is a standard locus-of-midpoint setting.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right-angled triangle the circumcentre is the midpoint of the hypotenuse and the circumradius is half of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locus, express the moving point in terms of one parameter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eliminate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of the intercept of a tangent between two perpendicular lines is a standard locus-of-midpoint setting.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nearest to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directrix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6   (C) 2   (D) 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nearest to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$Q(0,33)$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directrix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6   (C) 2   (D) 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Normal to a parabola and nearest point, Directrix of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the nearest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normal, so the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normal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the nearest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normal, so the slope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normal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$-8k$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quadratic has no real root (discriminant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$x=4y^2\Rightarrow 8y\frac{dy}{dx}=1$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$\frac{dy}{dx}=\frac{1}{8y}$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$m_n=-8k$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$\frac{k-33}{h}$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$h=4k^2$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$-8k=\frac{k-33}{4k^2}\Rightarrow -32k^3=k-33$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$32k^3+k-33=0$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$(k-1)(32k^2+32k+33)=0$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quadratic has no real root (discriminant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directrix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$y^2-4y=4x$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$(y-2)^2=4(x+1)$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directrix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$=|4+2|=6$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Minimise the squared distance directly: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Minimise the squared distance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$P=(4t^2,t)$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only root and it gives the minimum;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$P=(4t^2,t)$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$PQ^2=16t^4+(t-33)^2$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$\frac{d}{dt}PQ^2=64t^3+2(t-33)=0\Rightarrow 32t^3+t-33=0$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$32t^3+t-33$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only root and it gives the minimum;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Directrix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$(y-2)^2=4(x+1)$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$|4+2|=6$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Nearest point of a curve to an outside point: the line joining them is the normal at that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normals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nearest point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axis side follows from the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to read off the vertex and directrix of a shifted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Nearest point of a curve to an outside point: the line joining them is the normal at that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normals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$y=mx-2am-am^3$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nearest point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axis side follows from the cubic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to read off the vertex and directrix of a shifted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$(y-k)^2=4a(x-h)$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Common tangents are drawn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curves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one of these tangents touches the two curves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81   (B) 72   (C) 64   (D) 76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Common tangents are drawn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one of these tangents touches the two curves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$(QR)^2$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81   (B) 72   (C) 64   (D) 76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tangents to a circle and a parabola, Length of a chord between points of contact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make it touch the circle by the distance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tangent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$y^2=16x$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$y=mx+\frac4m$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make it touch the circle by the distance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touches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tangents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the tangent meets the 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$y=mx+\frac4m$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touches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$\frac{\left|\frac4m\right|}{\sqrt{1+m^2}}=2\sqrt2$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tangents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 x\pm4$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the tangent meets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contact on the parabola: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contact on the circle (foot of the perpendicular from the centre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contact on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a{m^2},\frac{2a}m\right)$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$R=(4,8)$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contact on the circle (foot of the perpendicular from the centre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$(QR)^2=6^2+6^2=72$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tangent-length formula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 on the same line,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tangent-length formula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 on the same line,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$QR=AR-AQ$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must also touch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length to the circle: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$(4t^2,8t)$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$ty=x+4t^2$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$A=(-4t^2,0)$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must also touch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$x-ty+4t^2=0$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$\frac{4t^2}{\sqrt{1+t^2}}=2\sqrt2$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$2t^4-t^2-1=0$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$A=(-4,0)$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$R=(4,8)$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length to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$AQ^2=OA^2-8=16-8=8$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$AQ=2\sqrt2$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$AR=\sqrt{8^2+8^2}=8\sqrt2$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$QR=8\sqrt2-2\sqrt2=6\sqrt2$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$(QR)^2=72$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length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equating gives the common tangents.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Contact point on a circle is the foot of the perpendicular from the centre;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length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$\sqrt{OA^2-r^2}$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$c^2=r^2(1+m^2)$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 am$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equating gives the common tangents.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Contact point on a circle is the foot of the perpendicular from the centre;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a{m^2},\frac{2a}m\right)$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real numbers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$ax^2+2bx+cy=0$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$dx^2+2ex+fy=0$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$a,b,c,d,e,f$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real numbers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da,\frac eb,\frac fc$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da,\frac eb,\frac fc$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$d,e,f$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$d,e,f$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Parabolas meeting on a line, Geometric progression and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first quadratic a perfect square, so the common point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first quadratic a perfect square, so the common point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$x=-\sqrt{c/a}$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parabola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parabola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$ax^2+2\sqrt{ac}\,x+c=0$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$\left(x\sqrt a+\sqrt c\right)^2=0$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common point's abscissa).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parabola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$x=-\frac{\sqrt c}{\sqrt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 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common point's abscissa).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parabola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$dx^2+2ex+f=0$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$d\cdot\frac ca+2e\left(-\frac{\sqrt c}{\sqrt a}\right)+f=0$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$\frac{dc}{a}+f=2e\sqrt{\frac ca}$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da+\frac fc=2e\sqrt{\frac{1}{ac}}$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da+\frac fc=\frac{2e}{b}$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da,\frac eb,\frac fc$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in A.P.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 da,\frac eb,\frac fc$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in A.P.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with explicit numbers: pick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second parabola through the forced common point; only one option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with explicit numbers: pick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$a,b,c=1,2,4$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second parabola through the forced common point; only one option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(G.P.,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common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parabola must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these are in A.P., not G.P. (so (A) fails).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$a,b,c=1,2,4$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common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parabola must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$4d-4e+f=0$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$d=1,e=3$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da,\frac eb,\frac fc=1,\frac32,2$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these are in A.P., not G.P. (so (A) fails).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neither in A.P. nor in G.P., so (C) and (D) fail.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is consistent with the data.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$d,e,f=1,3,8$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neither in A.P. nor in G.P., so (C) and (D) fail.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is consistent with the data.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in A.P.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 da,\frac eb,\frac fc$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in A.P.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 is repeated and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option-based \"which relation always holds\" question, a single well-chosen numerical example removes the wrong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quantities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$a\left(x+\frac ba\right)^2$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 is repeated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option-based \"which relation always holds\" question, a single well-chosen numerical example removes the wrong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quantities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$p+r=2q$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is formed by the tangents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radius of its circumcircle,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is formed by the tangents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radius of its circumcircle,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to a parabola and a circle at a common point, Circumradius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three vertices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three vertices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$R=\frac{abc}{4\Delta}$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both curves.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Vertices: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both curves.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$T_1: x-2y+2=0$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$2x+2y=2(x+2)$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$T_2: 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$L_3: x+y+2=0$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Vertices: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$Q=T_1\cap L_3=(-2,0)$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$R=T_2\cap L_3=(-4,2)$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$QR=\sqrt8$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$RP=6$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$\Delta=\frac12\times6\times2=6$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$RP=6$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$r=\frac{abc}{4\Delta}=\frac{\sqrt{20}\cdot\sqrt8\cdot6}{24}=\frac{\sqrt{160}}{4}=\sqrt{10}$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law of sines: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read directly from the slopes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law of sines: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$R=\frac{QR}{2\sin P}$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the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read directly from the slopes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 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P=\frac12$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P=\frac1{\sqrt5}$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 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$R(-4,2)$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$QR=\sqrt8$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$2r=\frac{QR}{\sin P}=\sqrt8\cdot\sqrt5=\sqrt{40}$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Circumradius: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lines of slopes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$yy_1=x+x_1$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$xx_1+yy_1=2(x+x_1)$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Circumradius: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$R=\frac{abc}{4\Delta}=\frac{a}{2\sin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lines of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$m_1,m_2$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$\tan\theta=\left|\frac{m_1-m_2}{1+m_1m_2}\right|$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area of the triangle formed by the tangent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area of the triangle formed by the tangent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$b,c\in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$\sum_{a\in S}a$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parabola and subtangent, Natural-number solutions of a Diophantine condition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(subtangent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integrality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sorts the cases.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meets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$(-b,0)$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(subtangent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$bc=16$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integrality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$a=\frac{c^2}{2b}$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sorts the cases.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parabola: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has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Natural-number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$c^2=2ab$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$yc=a(x+b)$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$B(-b,0)$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has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$B(-b,0)$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$A(b,0)$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$=\frac12\times AB\times AP=\frac12\times2b\times c=16$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Natural-number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$(1,16),(2,8),(4,4),(8,2),(16,1)$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must be a natural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$a=\frac{c^2}{2b}$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must be a natural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$(16,1)$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$S=\{128,16,2\}$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a=146$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divisibility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to be checked.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$bc=16$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$c^2=2ab$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$a=\frac{c^3}{32}$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divisibility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to be checked.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(divisors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natural).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$b=\frac{16}{c}$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$c\in\{1,2,4,8,16\}$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(divisors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$c^2=2ab=\frac{32a}{c}$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$a=\frac{c^3}{32}$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$32\mid c^3$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$2^5\mid c^3$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$4\mid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$c=4,8,16$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$c=4,8,16$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$a=2,16,128$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$b=4,2,1$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natural).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a=2+16+128=146$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subtangent (projection of the tangent segment on the axis)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tangent meets the 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distance from the vertex as the point's abscissa.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power of 2 in a divisibility condition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subtangent: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subtangent (projection of the tangent segment on the axis)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tangent meets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$(-x_1,0)$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distance from the vertex as the point's abscissa.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power of 2 in a divisibility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$2^k\mid c^3$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$3j\ge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subtangent: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$\frac12\cdot2x_1\cdot y_1=x_1y_1$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a focal chord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this chord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a focal chord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$y^2=8x+4y+4$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this chord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chord of a parabola, Shifted parabola (translation of axes)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chord through the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$(y-2)^2=8(x+1)$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chord through the focus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passes through the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$y^2=8x+4y+4\Rightarrow (y-2)^2=8(x+1)$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passes through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axis, so its length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$m=\frac{0-2}{3-1}=-1$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$y-2=-(x-1)$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axis, so its length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$\frac{4a}{\sin^2\theta}=\frac{8}{1/2}=16$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end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shifted frame and 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focal chord; compute the distance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end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$(2t^2,4t)$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shifted frame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$t_1t_2=-1$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focal chord; compute the distance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focal chord means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line through the focus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$P(2t_1^2,4t_1)$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$Q(2t_2^2,4t_2)$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focal chord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$=\frac{2}{t_1+t_2}=-1$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line through the focus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$(X,Y)=(4,-2)$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$t_1+t_2=-2$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$(t_1-t_2)^2=(t_1+t_2)^2-4t_1t_2=4+4=8$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$PQ^2=4(t_1-t_2)^2\left[(t_1+t_2)^2+4\right]=4\cdot8\cdot8=256$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a focal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axis: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latus rectum is 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focal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end parameters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Focal-chord length also equals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(here, in the shifted frame,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a focal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$\frac{4a}{\sin^2\theta}$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latus rectum is 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focal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end parameters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Focal-chord length also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$x_1+x_2+2a$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(here, in the shifted frame,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tangent at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tangents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tangent at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tangents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$\frac{x^2}4+\frac{y^2}1=1$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$\frac{9}{\sqrt5}$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to a parabola and an ellipse (slope form), Area of a triangle by coordinates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parallel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ends of a diameter of the ellipse.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tangents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parallel (slope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$Q,R$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ends of a diameter of the ellipse.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 it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to the ellipse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$2y\frac{dy}{dx}=3$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$\frac{3}{2y_1}$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 it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$P=(3,-3)$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to the ellipse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$y=-x\pm\sqrt{4\cdot1+1}=-x\pm\sqrt5$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contact: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contact: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$Q\left(\frac4{\sqrt5},\frac1{\sqrt5}\right)$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$R\left(-\frac4{\sqrt5},-\frac1{\sqrt5}\right)$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PQR=\frac12\left|\begin{matrix}3&amp;-3&amp;1\\\frac4{\sqrt5}&amp;\frac1{\sqrt5}&amp;1\\-\frac4{\sqrt5}&amp;-\frac1{\sqrt5}&amp;1\end{matrix}\right|$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$=\frac12\left[3\cdot\frac2{\sqrt5}+3\cdot\frac8{\sqrt5}+0\right]=\frac{30}{2\sqrt5}=3\sqrt5$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$3\sqrt5$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ends of a diameter (parallel tangents),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ends of a diameter (parallel tangents),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$\frac12\,QR\cdot d(P,QR)$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 tangents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touch the ellipse at the ends of a diameter,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 tangents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touch the ellipse at the ends of a diameter,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$Q=\left(\frac4{\sqrt5},\frac1{\sqrt5}\right)$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$QR=2\sqrt{\frac{16+1}{5}}=2\sqrt{\frac{17}5}$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$P(3,-3)$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$\frac{|3+12|}{\sqrt{17}}=\frac{15}{\sqrt{17}}$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$=\frac12\cdot2\sqrt{\frac{17}5}\cdot\frac{15}{\sqrt{17}}=\frac{15}{\sqrt5}=3\sqrt5$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$3\sqrt5$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touching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∓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 tangents to a central conic touch it at points symmetric about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with a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two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𝑙𝑖𝑛𝑒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(cross product).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$y=mx\pm\sqrt{a^2m^2+b^2}$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touching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$\left(\frac{\mp a^2m}{\sqrt{a^2m^2+b^2}},\pm\frac{b^2}{\sqrt{a^2m^2+b^2}}\right)$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 tangents to a central conic touch it at points symmetric about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with a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two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$\frac12\cdot|2Q|\cdot d(P,\text{line }OQ)=|P\times Q|$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(cross product).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maximum distance of normal to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the origin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eccentricity of the ellipse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maximum distance of normal to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$\frac{x^2}4+\frac{y^2}{b^2}=1$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eccentricity of the ellipse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Normal to an ellipse, Maximum distance of a normal from the centre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distance of the normal from the origin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cosec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is largest when the denominator is smallest.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distance of the normal from the origin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$\frac{4-b^2}{\sqrt{4\sec^2\theta+b^2\operatorname{cosec}^2\theta}}$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is largest when the denominator is smallest.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is maximum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minimum occurs 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$(2\cos\theta,b\sin\theta)$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$2x\sec\theta-by\operatorname{cosec}\theta=4-b^2$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$\frac{4-b^2}{\sqrt{4\sec^2\theta+b^2\operatorname{cosec}^2\theta}}$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is maximum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$4\sec^2\theta+b^2\operatorname{cosec}^2\theta$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minimum occurs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$\tan^2\theta=\frac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$\frac{4-b^2}{\sqrt{4\cdot\frac{b+2}{2}+b^2\cdot\frac{b+2}{b}}}=\frac{4-b^2}{b+2}=1$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$4-b^2=b+2\Rightarrow b^2+b-2=0\Rightarrow 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$e=\sqrt{1-\frac{b^2}{4}}=\frac{\sqrt3}2$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$\frac{\sqrt3}2$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Cauchy-Schwarz to the denominator: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maximum distance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Cauchy-Schwarz to the denominator: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$(a^2\sec^2\theta+b^2\operatorname{cosec}^2\theta)(\cos^2\theta+\sin^2\theta)\ge(a+b)^2$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maximum distance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Cauchy-Schwarz,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square root is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distance is at most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$=\frac{a^2-b^2}{\sqrt{a^2\sec^2\theta+b^2\operatorname{cosec}^2\theta}}$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Cauchy-Schwarz,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$(a^2\sec^2\theta+b^2\operatorname{cosec}^2\theta)(\cos^2\theta+\sin^2\theta)\ge(a+b)^2$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square root is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distance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$\frac{a^2-b^2}{a+b}=a-b$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$\tan^2\theta=\frac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maximum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$e=\sqrt{1-\frac14}=\frac{\sqrt3}2$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$\frac{\sqrt3}2$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maximum distance of a normal from the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(attained 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(Cauchy-Schwarz) - a clean way to minimise such sums.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maximum distance of a normal from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$\tan^2\theta=\frac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$(a\cos\theta,b\sin\theta)$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$ax\sec\theta-by\operatorname{cosec}\theta=a^2-b^2$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$(p^2\sec^2\theta+q^2\operatorname{cosec}^2\theta)\ge(p+q)^2$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(Cauchy-Schwarz) - a clean way to minimise such sums.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directrix of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corresponding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passes through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intersects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directrix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corresponding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$\left(0,4\sqrt3\right)$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intersects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$(3PQ)^2$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Ellipse from focus and directrix, Tangent to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Focus and directrix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tangent condition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Focus and directrix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$ae=2$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ae=8$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tangent condition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ae=8$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$b^2=a^2(1-e^2)=16\left(1-\frac14\right)=12$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$\frac{x^2}{16}+\frac{y^2}{12}=1$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$P(4\cos\theta,2\sqrt3\sin\theta)$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$\frac{x\cos\theta}{4}+\frac{y\sin\theta}{2\sqrt3}=1$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$\left(0,4\sqrt3\right)$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$\frac{4\sqrt3\sin\theta}{2\sqrt3}=1$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$P=\left(4\cos30^\circ,2\sqrt3\sin30^\circ\right)=\left(2\sqrt3,\sqrt3\right)$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$\frac{\sqrt3x}{8}+\frac{y}{4\sqrt3}=1$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$x=\frac8{\sqrt3}$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$Q=\left(\frac8{\sqrt3},0\right)$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$PQ=\sqrt{\left(\frac8{\sqrt3}-2\sqrt3\right)^2+3}=\sqrt{\frac43+3}=\sqrt{\frac{13}3}$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$(3PQ)^2=9\cdot\frac{13}3=39$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(chord of contact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polar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$T(0,4\sqrt3)$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(chord of contact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the tangent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$\left(\frac{a^2}{x_P},0\right)$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$T(0,4\sqrt3)$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$\frac{x\cdot0}{16}+\frac{y\cdot4\sqrt3}{12}=1$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$\frac{x_P^2}{16}=1-\frac{3}{12}=\frac34\Rightarrow x_P=2\sqrt3$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$\frac{xx_P}{16}=1$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$x_Q=\frac{16}{2\sqrt3}=\frac8{\sqrt3}$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$PQ^2=\left(\frac{8}{\sqrt3}-2\sqrt3\right)^2+3=\frac43+3=\frac{13}{3}$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$(3PQ)^2=39$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product of focal distance and directrix distance.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an ellipse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polar of an external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ellipse at the two points of contact of the tangents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$(ae,0)$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$a^2=(ae)\cdot\frac 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product of focal distance and directrix distance.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an ellipse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$\left(\frac{a^2}{x_1},0\right)$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$\left(0,\frac{b^2}{y_1}\right)$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polar of an external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ellipse at the two points of contact of the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tangent to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mid points of such line segments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parabola with the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length of 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length of latus rectum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tangent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mid points of such line segments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parabola with the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length of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$4x=-3$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length of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parabola, Locus of midpoint of a chord of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midpoint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impose tangency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midpoint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impose tangency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$y^2=24x$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midpoint of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midpoint of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$\frac{xy_1+yx_1}2-2=x_1y_1-2$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$xy_1+yx_1=2x_1y_1$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$y=-\frac{y_1}{x_1}x+2y_1$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line is 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locus of the midpoint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latus rectum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directrix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line is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 am$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$2y_1=\frac{6}{-y_1/x_1}=-\frac{6x_1}{y_1}$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$y_1^2=-3x_1$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locus of the midpoint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latus 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$4a'=3$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directrix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directrix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directrix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$4x=3$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tangent by its point of contact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sum of roots of the intersection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tangent by its point of contact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$(6s^2,12s)$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sum of roots of the intersection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roots are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locus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$(6s^2,12s)$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$sy=x+6s^2$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$y=\frac{x+6s^2}{s}$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$x(x+6s^2)=2s$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$x^2+6s^2x-2s=0$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roots are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$x_m=\frac{x_A+x_B}{2}=-3s^2$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$y_m=\frac{x_m+6s^2}{s}=\frac{3s^2}{s}=3s$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$y_m^2=9s^2=-3x_m$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directrix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directrix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$4x=3$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a conic with given midpoint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midpoints of chords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a chord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hyperbola, the midpoint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a conic with given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midpoints of chords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a chord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hyperbola, the midpoint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$\left(-\frac{k}{2m},\frac k2\right)$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$y^2=-4a'x$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on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nearest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-9   (C) -3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on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$3x^2-4y^2=36$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nearest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$\sqrt2\left(y_0-x_0\right)$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-9   (C) -3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parallel to a given line on a hyperbola, Nearest point of a hyperbola to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nearest point is where the tangent is parallel to the given line, so the tangent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nearest point is where the tangent is parallel to the given line, so the tangent slope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hyperbola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slope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this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hyperbola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$\frac{x^2}{12}-\frac{y^2}{9}=1$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$(\sqrt{12}\sec\theta,3\tan\theta)$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$\frac{3\sec\theta}{\sqrt{12}\tan\theta}=\frac{3}{\sqrt{12}\sin\theta}$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this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$\frac3{\sqrt{12}}\times\frac1{\sin\theta}=-\frac32$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$\sin\theta=-\frac1{\sqrt3}$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point on the nearer branch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point on the nearer branch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$\sec\theta=\frac{\sqrt3}{\sqrt2}$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$P=\left(\sqrt{12}\cdot\frac{\sqrt3}{\sqrt2},-3\times\frac1{\sqrt2}\right)=\left(\frac6{\sqrt2},\frac{-3}{\sqrt2}\right)$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$\sqrt2\left(y_0-x_0\right)=\sqrt2\left(\frac{-3}{\sqrt2}-\frac6{\sqrt2}\right)=\frac{\sqrt2}{\sqrt2}(-9)=-9$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-9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slope-form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point of contact from the standard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slope-form tangent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$y=mx\pm\sqrt{a^2m^2-b^2}$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$m=-\frac32$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point of contact from the standard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parallel tangents have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contact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the negative of this.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$\frac{x^2}{12}-\frac{y^2}{9}=1$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parallel tangents have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$c^2=a^2m^2-b^2=27-9=18$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$y=-\frac32x\pm3\sqrt2$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contact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$\left(-\frac{a^2m}{c},-\frac{b^2}{c}\right)$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$\left(\frac{18}{3\sqrt2},-\frac{9}{3\sqrt2}\right)=\left(\frac6{\sqrt2},-\frac3{\sqrt2}\right)$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the negative of this.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point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point is nearer.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point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$\frac{12}{\sqrt2}-1=6\sqrt2-1$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$|6\sqrt2-1|&lt;6\sqrt2+1$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point is nearer.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$P=\left(\frac6{\sqrt2},-\frac3{\sqrt2}\right)$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$\sqrt2(y_0-x_0)=-9$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-9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a curve nearest to (or farthest from) a line is where the tangent is parallel to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touching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parallel tangents touch at points symmetric about the centre; check which is nearer to the given line by evaluating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a curve nearest to (or farthest from) a line is where the tangent is parallel to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$y=mx\pm\sqrt{a^2m^2-b^2}$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touching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$\left(-\frac{a^2m}{c},-\frac{b^2}{c}\right)$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parallel tangents touch at points symmetric about the centre; check which is nearer to the given line by evaluating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$|Ax+By+C|$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hyperbola, whose foci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eccentricity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length of its latus rectum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3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hyperbola, whose foci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$\left(1\pm\sqrt2,0\right)$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eccentricity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length of its latus rectum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3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Hyperbola from foci and eccentricity, Latus rectum of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distance between the foci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hyperbola rectangular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distance between the foci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$e=\sqrt2$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hyperbola rectangular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rectangular hyperbola).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$2ae=\left|\left(1+\sqrt2\right)-\left(1-\sqrt2\right)\right|=2\sqrt2$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$b^2=a^2(e^2-1)=1$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$e=\sqrt2\Rightarrow$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rectangular hyperbola).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$=\frac{2b^2}{a}=2$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focus-directrix definition: the semi-latus rectum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distance from the focus to its directrix.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focus-directrix definition: the semi-latus rectum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distance from the focus to its directrix.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directrices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its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directrices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$x=1\pm\frac ae=1\pm\frac1{\sqrt2}$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$(1+\sqrt2,0)$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its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$\sqrt2-\frac1{\sqrt2}=\frac1{\sqrt2}$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Semi-latus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Semi-latus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$=e\times\frac1{\sqrt2}=\sqrt2\times\frac1{\sqrt2}=1$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$=2\times1=2$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the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of a hyperbola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rectangular hyperbola.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the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$x^2/a^2-y^2/b^2=1$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$b^2=a^2(e^2-1)$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of a hyperbola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$\frac{2b^2}{a}=2a(e^2-1)$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$e=\sqrt2\iff b=a$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rectangular hyperbola.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of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eccentricity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normal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in the first quadrant and parallel to the line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length of the line segment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of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eccentricity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in the first quadrant and parallel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$\sqrt2x+y=2\sqrt2$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length of the line segment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Normal to a hyperbola, Length of a normal segment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normal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of the normal.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normal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$-2\sin\theta=-\sqrt2$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of the normal.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setting it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$b^2=a^2(e^2-1)=36\cdot\frac14=9$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$H:\frac{x^2}{36}-\frac{y^2}9=1$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$(a\sec\theta,b\tan\theta)$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$6x\cos\theta+3y\cot\theta=45$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setting it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$\sqrt2x+y=15$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$P=(6\sec\frac\pi4,3\tan\frac\pi4)=\left(6\sqrt2,3\right)$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$K(0,15)$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$d^2=PK^2=\left(6\sqrt2\right)^2+(15-3)^2=72+144=216$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implicit slope of the normal and read the segment length from the horizontal run: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implicit slope of the normal and read the segment length from the horizontal run: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$d=x_P\sqrt{1+m^2}$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 it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$\frac{x^2}{36}-\frac{y^2}{9}=1$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$-\frac{a^2y_1}{b^2x_1}=-\frac{4y_1}{x_1}$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 it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$y_1=\frac{\sqrt2}{4}x_1$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$\frac{x_1^2}{36}-\frac{2x_1^2/16}{9}=1$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$\frac{x_1^2}{72}=1$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segment of the line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horizontal run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segment of the line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horizontal run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$d=x_1\sqrt{1+(\sqrt2)^2}=6\sqrt2\cdot\sqrt3=6\sqrt6$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slope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a segment of a line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horizontal extent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$(a\sec\theta,b\tan\theta)$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$ax\cos\theta+by\cot\theta=a^2+b^2$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$-\frac{b}{a}\sin\theta$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$-\frac{a^2y_1}{b^2x_1}$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$\frac{b^2x_1}{a^2y_1}$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a segment of a line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horizontal extent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$|\Delta x|\sqrt{1+m^2}$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focus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parabola at two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centroid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325   (B) 346   (C) 296   (D) 317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focus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parabola at two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$G(10,10)$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centroid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$c-m=6$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325   (B) 346   (C) 296   (D) 317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a parabola and centroid, Sum and product of ordinates of intersection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centroid fixes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centroid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$y_1+y_2$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$x=\frac{y-c}{m}$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$y^2-\frac{20}{m}y+\frac{20c}{m}=0$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$\frac{y_1+y_2+0}{3}=10$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$\frac{20}m=30$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$c-m=6\Rightarrow c=\frac23+6=\frac{20}3$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$y^2-30y+\frac{20\times\frac{20}3}{\frac23}=y^2-30y+200=0$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$P(5,10)$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$Q(20,20)$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$PQ^2=15^2+10^2=225+100=325$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325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both centroid coordinates: they give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line is not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both centroid coordinates: they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$y_1+y_2=30$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$x_1+x_2=25$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line is not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$G=(10,10)$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$x_1+x_2+5=30$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$x_1+x_2=\frac{y_1^2+y_2^2}{20}=25$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$y_1^2+y_2^2=500$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$(y_1-y_2)^2=2(y_1^2+y_2^2)-(y_1+y_2)^2=1000-900=100$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$|y_1-y_2|=10$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indeed the line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$|x_1-x_2|=\frac{|y_1^2-y_2^2|}{20}=\frac{30\times10}{20}=15$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$PQ^2=15^2+10^2=325$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indeed the line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$c=\frac{20}3$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$c-m=6$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325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two equations in the unknown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points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$my^2-4ay+4ac=0$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$y_1+y_2=\frac{4a}m$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$y_1y_2=\frac{4ac}m$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$\left(\frac{x_1+x_2+x_R}{3},\frac{y_1+y_2+y_R}3\right)$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two equations in the unknown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points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$x_1-x_2=\frac{(y_1-y_2)(y_1+y_2)}{4a}$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mid-points of the sides of a triangle with incentre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focus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rational numbers,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12   (C) 6   (D) 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mid-points of the sides of a triangle with incentre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focus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$\left(\alpha+\beta\sqrt2,0\right)$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rational numbers,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$\frac{\alpha}{\beta^2}$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12   (C) 6   (D) 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Medial triangle and incentre, Focus of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Recover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its mid-points, then use the incentre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Recover the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$P(0,2),Q(0,0),R(2,0)$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its mid-points, then use the incentre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with these mid-points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the mid-points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with these mid-points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the mid-points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$(0,1),(1,1),(1,0)$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$D=\left(\frac{0+4+0}{4+2\sqrt2},\frac4{4+2\sqrt2}\right)=\left(\frac2{2+\sqrt2},\frac2{2+\sqrt2}\right)=\left(2-\sqrt2,2-\sqrt2\right)$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$\left(2-\sqrt2\right)^2=4a\left(2-\sqrt2\right)$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$a=\frac{2-\sqrt2}4$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$(a,0)=\left(\frac12-\frac14\sqrt2,0\right)$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$\frac{\alpha}{\beta^2}=\frac{1/2}{1/16}=8$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triangle is right-angled and isosceles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triangle is right-angled and isosceles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incentre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$r=\frac{a+b-c}2$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recovered from the mid-points has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right angle at the origin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of a right triangle: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𝑙𝑒𝑔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𝑙𝑒𝑔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ℎ𝑦𝑝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incentre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legs,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recovered from the mid-points has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$(0,2),(0,0),(2,0)$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right angle at the origin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of a right 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$r=\frac{\text{leg}_1+\text{leg}_2-\text{hyp}}2=\frac{4-2\sqrt2}2=2-\sqrt2$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incentre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legs,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$D=(2-\sqrt2,2-\sqrt2)$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focus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$a=\frac{(2-\sqrt2)^2}{4(2-\sqrt2)}=\frac{2-\sqrt2}4$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$\left(\frac12-\frac{\sqrt2}4,0\right)$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$\alpha=\frac12,\ \beta=-\frac14$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$\frac{\alpha}{\beta^2}=8$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medial triangle (mid-points of the sides) determines the triangle: its vertices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 for mid-points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taken as opposite mid-points.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(weights are the side lengths opposite each vertex).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right triangle the inradius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right-angle corner.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medial triangle (mid-points of the sides) determines the triangle: its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 for mid-points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taken as opposite mid-points.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$=\frac{aA+bB+cC}{a+b+c}$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(weights are the side lengths opposite each vertex).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right triangle the inradius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$\frac{a+b-c}2$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right-angle corner.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focal chord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making an acute angle with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Let the ordinate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on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points does NOT lie on the line passing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perpendicular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(3,33)   (B) (-3,43)   (C) (6,29)   (D) (-6,45)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focal chord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making an acute angle with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Let the ordinate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on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$PM:MQ=3:1$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points does NOT lie on the line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perpendicular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(3,33)   (B) (-3,43)   (C) (6,29)   (D) (-6,45)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chord of a parabola, Section formula and line perpendicular to a chord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ends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focal chord,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$\left(9t^2,18t\right)$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$\left(\frac9{t^2},-\frac{18}t\right)$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focal chord,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$=9\left(t+\frac1t\right)^2=100$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focal chord has ends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with an acute angle and positive ordinate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focal chord has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$P(9t^2,18t)$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$Q\left(\frac9{t^2},-\frac{18}t\right)$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$9\left(t+\frac1t\right)^2$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$9\left(t+\frac1t\right)^2=100\Rightarrow 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with an acute angle and positive ordinate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$P=(81,54)$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$Q=(1,-6)$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$PQ=\frac{60}{80}=\frac34&gt;0$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options: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lie on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$M=\left(\frac{3\cdot1+81}4,\frac{3(-6)+54}4\right)=(21,9)$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$y-9=-\frac43(x-21)$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$3y-27=-4x+84$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$4x+3y=111$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options: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$12+99=111$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$(-3,43)$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$-12+129=117\ne111$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$(6,29)$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$(-6,45)$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$(-3,43)$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lie on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(-3, 43)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focal-chord property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two focal distances without parameters.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focal-chord property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$\frac1{PF}+\frac1{QF}=\frac1a$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two focal distances without parameters.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larger focal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ordinate);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$PF=p$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$QF=q$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$\frac1p+\frac1q=\frac1a=\frac19$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$pq=9\cdot100=900$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$z^2-100z+900=0$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larger focal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$90=x_P+9$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$x_P=81$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ordinate);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$10=x_Q+9$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$y_Q=-6$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normal-direction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$M=\frac{3Q+P}4=(21,9)$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normal-direction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$4x+3y=111$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$(-3,43)$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$4x+3y=111$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(-3, 43)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parameters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(latus rectum).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 property: for a focal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harmonic mean of the focal distances is the semi-latus rectum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Section formula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point nearer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weight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parameters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$t,-\frac1t$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$=a\left(t+\frac1t\right)^2$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(latus rectum).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 property: for a focal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$\frac1{PF}+\frac1{QF}=\frac1a$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harmonic mean of the focal distances is the semi-latus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Section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$\frac{mQ+nP}{m+n}$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point nearer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weight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to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 meet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passing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$x^2+2x-4y+9=0$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 meet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conic and a parabola intersection, Distance between two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keep the intersection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also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tangent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keep the intersection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also lies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$2x-3y=8$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$x^2+2x-4y+9=0$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$x+(x+1)-2(y+3)+9=0$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$x-3y=-8$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$(16,8)$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$B=(16,8)$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$32-24=8$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$(AB)^2=16^2+6^2=256+36=292$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292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 as the intersection of the parabola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check it on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 as the intersection of the parabola and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$2x-3y=8$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check it on the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slope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$(x+1)^2=4(y-2)$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slope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$\frac{x+1}2=1$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$y-3=x-1$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$x=\frac{8+3y}2$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$y^2=16+6y$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$y^2-6y-16=0$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Candidates: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(yes),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Candidates: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$(16,8)$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$x-3y=-8$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$(16,8)$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(yes),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$B=(16,8)$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$(AB)^2=16^2+6^2=292$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292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second-degree curve: replace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conditions on one unknown point (here: on a line and on a parabola) can be applied in either order - pick the one that makes the quadratic simplest.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second-degree curve: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$x^2\to xx_1$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$2x\to x+x_1$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$y\to\frac{y+y_1}{2}$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conditions on one unknown point (here: on a line and on a parabola) can be applied in either order - pick the one that makes the quadratic simplest.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$x-3y=\text{const}$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ordinates of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 with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intersection of the tangents to the parabola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ordinates of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 with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intersection of the tangents to the parabola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$\frac{\beta^2}{\alpha}$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at two points of a parabola, Parametric form of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tangents meet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$P(at_1^2,2at_1)$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$Q(at_2^2,2at_2)$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tangents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$\left(at_1t_2,a(t_1+t_2)\right)$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$t_2=3t_1$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$P(at_1^2,2at_1)$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$Q(at_2^2,2at_2)$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tangents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$\alpha=at_1t_2$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$\beta=a(t_1+t_2)$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ordinates are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ordinates are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$2at_2=3\cdot2at_1$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$t_2=3t_1$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$\frac{\beta^2}{\alpha}=\frac{a^2(t_1+t_2)^2}{at_1t_2}=\frac{a\left(16t_1^2\right)}{3t_1^2}=\frac{3\cdot16}3=16$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is a constant, so one convenient pair with ordinates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already gives it; the tangents are found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is a constant, so one convenient pair with ordinates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already gives it; the tangents are found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the problem asks for a single value, take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the problem asks for a single value,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$y_P=6,\ y_Q=2$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$Q=\left(\frac13,2\right)$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$6y=6(x+3)$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$2y=6\left(x+\frac13\right)$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(this agrees with the general computation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$x+3=3x+1$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$\frac{\beta^2}{\alpha}=\frac{16}1=16$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(this agrees with the general computation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$\frac{3(y_1+y_2)^2}{y_1y_2}=\frac{3\cdot64}{12}=16$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parameters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terms of ordinates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intersection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ordinates are in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independent of the actual points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parameters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$\left(at_1t_2,\ a(t_1+t_2)\right)$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terms of ordinates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$y_1,y_2$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intersection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$\left(\frac{y_1y_2}{4a},\frac{y_1+y_2}{2}\right)$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$\frac{\beta^2}{\alpha}=\frac{a(y_1+y_2)^2}{y_1y_2}$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ordinates are in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$\frac{\beta^2}{\alpha}=\frac{a(k+1)^2}{k}$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independent of the actual points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$\frac{3\cdot16}3=16$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common tangent to the curves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curves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common tangent to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$(x-4)^2+y^2=16$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curves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tangent to a parabola and a circle, Length of a tangent / foot of the perpendicular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touches the circle when its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$y=mx+\frac1m$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touches the circle when its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$m^2=\frac18$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touches the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touches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$\frac{\left|4m+\frac1m\right|}{\sqrt{m^2+1}}=4$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$16m^2+\frac1{m^2}+8=16m^2+16$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tangent: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 a{m^2},\frac{2a}m\right)=\left(8,4\sqrt2\right)$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tangent: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$Q=\left(\frac83,\frac{8\sqrt2}3\right)$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$(PQ)^2=\left(\frac{16}3\right)^2+\left(\frac{4\sqrt2}3\right)^2=\frac{256+32}9=32$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tangent segment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circle,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the circle - no foot of the perpendicular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tangent segment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circle,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the circle - no foot of the perpendicular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$P(t^2,2t)$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$ty=x+t^2$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$\frac{4+t^2}{\sqrt{1+t^2}}=4$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$(4+t^2)^2=16(1+t^2)$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$t^4=8t^2$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$P=(8,4\sqrt2)$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tangent to the circle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tangent to the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$(8-4)^2+(4\sqrt2)^2-16$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$PQ^2=16+32-16=32$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tangent to a circle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of the tangent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tangent touches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distance condition from the circle's centre then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distance (tangent length) property: both contact points of a common tangent are the feet of perpendiculars from the respective centre/focus.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tangent to a circle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of the tangent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$\sqrt{CP^2-r^2}$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tangent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$(at^2,2at)$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$ty=x+at^2$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distance condition from the circle's centre then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distance (tangent length) property: both contact points of a common tangent are the feet of perpendiculars from the respective centre/focus.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group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persons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speak English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speak Hindi. Each person speaks at least one of the two languages. If the number of persons, who speak only English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number of persons who speak only Hindi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eccentricity of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group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persons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speak English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speak Hindi. Each person speaks at least one of the two languages. If the number of persons, who speak only English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number of persons who speak only Hindi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eccentricity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$25\left(\beta^2x^2+\alpha^2y^2\right)=\alpha^2\beta^2$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$\frac{3\sqrt{15}}{12}$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$\frac{\sqrt{117}}{12}$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$\frac{\sqrt{129}}{12}$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$\frac{\sqrt{119}}{12}$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Inclusion-exclusion for two sets, Eccentricity of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Inclusion-exclusion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write the ellipse in standard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Inclusion-exclusion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$\alpha=60$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$\beta=25$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write the ellipse in standard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English: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Hindi: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$n(A\cup B)=n(A)+n(B)-n(A\cap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$n(A\cap B)=75+40-100=15$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English: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$\alpha=75-15=60$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Hindi: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$\beta=40-15=25$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$\frac{25x^2}{\alpha^2}+\frac{25y^2}{\beta^2}=1$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$\frac{25x^2}{60^2}+\frac{25y^2}{25^2}=1$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$a^2=\frac{60^2}{25}=144$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$b^2=\frac{25^2}{25}=25$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$e^2=1-\frac{b^2}{a^2}=1-\frac{25}{144}=\frac{60^2-25^2}{60^2}=\frac{35\times85}{60\times60}=\frac{119}{144}$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$e=\frac{\sqrt{119}}{12}$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119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$\frac{\sqrt{119}}{12}$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Use complements: everyone speaks at least one language, so those who speak only English are exactly those who do not speak Hindi.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Everyone speaks at least one of the two languages,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𝐻𝑖𝑛𝑑𝑖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𝐸𝑛𝑔𝑙𝑖𝑠ℎ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inclusion-exclusion needed).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Everyone speaks at least one of the two languages,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$\alpha=100-n(\text{Hindi})=100-40=60$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$\beta=100-n(\text{English})=100-75=25$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inclusion-exclusion needed).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$\frac{x^2}{\alpha^2/25}+\frac{y^2}{\beta^2/25}=1$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$\frac{x^2}{144}+\frac{y^2}{25}=1$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$c^2=a^2-b^2=144-25=119$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$e=\frac{c}{a}=\frac{\sqrt{119}}{12}$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119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$\frac{\sqrt{119}}{12}$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element is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𝑜𝑛𝑙𝑦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𝑜𝑛𝑙𝑦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the denominators to decide which is the major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denominators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element is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$n(A\text{ only})=n(U)-n(B)$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$n(B\text{ only})=n(U)-n(A)$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$e=\frac{\sqrt{a^2-b^2}}{a}$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the denominators to decide which is the major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reduce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$px^2+qy^2=r$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denominators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-axes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the major axis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diameter of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passing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triangle with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   (B) 16   (C) 17   (D) 15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$E:x^2+9y^2=9$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-axes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the major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diameter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   (B) 16   (C) 17   (D) 15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 meeting a circle (area of a triangle), Ellipse intercepts and auxiliary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major axis is the diameter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intersect it with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major axis is the diameter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intersect it with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$AB: x+3y=3$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major axis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this diameter: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$E:\frac{x^2}9+y^2=1$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major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$[-3,3]$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this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$x=3-3y$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$(3-3y)^2+y^2=9\Rightarrow10y^2-18y=0$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$x_P=3-\frac{27}5=-\frac{12}5$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OAP=\frac12\times OA\times y_P=\frac12\times3\times\frac95=\frac{27}{10}$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Thales' theorem: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diameter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Thales' theorem: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$AA'$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diameter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$A'=(-3,0)$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$\angle APA'=90^\circ$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has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 and on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has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$A'=(-3,0)$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 and on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APA'=90^\circ$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$(-3,0)-\frac{(-3)-3}{1^2+3^2}(1,3)=(-3,0)+\frac35(1,3)=\left(-\frac{12}5,\frac95\right)$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OAP=\frac12\times3\times\frac95=\frac{27}{10}$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$m-n=27-10=17$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angle inscribed in a semicircle is a right angle: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with a vertex at the origin and a base on an axis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𝑏𝑎𝑠𝑒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angle inscribed in a semicircle is a right angle: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circle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APA'=90^\circ$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$(x_0,y_0)-\frac{ax_0+by_0+c}{a^2+b^2}(a,b)$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with a vertex at the origin and a base on an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$\frac12\times\text{base}\times|\text{height}|$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concentric to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common tangents are inclined to the minor axis of the ellipse at the angle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concentric to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$15x^2+19y^2=285$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common tangents are inclined to the minor axis of the ellipse at the angle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tangents to a circle and an ellipse, Tangent in slope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Equate the distance of the ellipse's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origin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Equate the distance of the ellipse's tangent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$y=mx\pm\sqrt{19m^2+15}$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origin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(major axis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minor axis is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distance from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$\frac{x^2}{19}+\frac{y^2}{15}=1$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(major axis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minor axis is 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$y=mx\pm\sqrt{19m^2+15}$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$mx-y\pm\sqrt{19m^2+15}=0$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distance from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$\frac{\sqrt{19m^2+15}}{\sqrt{m^2+1}}=4$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make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(major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angle with the minor axis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$19m^2+15=16m^2+16\Rightarrow3m^2=1\Rightarrow m=\pm\frac1{\sqrt3}$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(major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angle with the minor 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$\frac\pi2-\frac\pi6=\frac\pi3$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ellipse's tangent in the normal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ellipse's tangent in the normal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$x\cos\varphi+y\sin\varphi=p$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$p^2=a^2\cos^2\varphi+b^2\sin^2\varphi$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tangent to the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origin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$\frac{x^2}{19}+\frac{y^2}{15}=1$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$x\cos\varphi+y\sin\varphi=p$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$p^2=19\cos^2\varphi+15\sin^2\varphi=15+4\cos^2\varphi$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tangent to the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origin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$15+4\cos^2\varphi=16$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$\cos^2\varphi=\frac14$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normal to the tangent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tangent itself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which is the minor axis: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normal to the tangent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tangent itself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which is the minor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touches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Concentric ellipse and circle: common tangents come in a symmetric set of four lines (slopes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forming a rectangle.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support function of an ellipse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$c^2=a^2m^2+b^2$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$c^2=r^2(1+m^2)$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Concentric ellipse and circle: common tangents come in a symmetric set of four lines (slopes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forming a rectangle.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support function of an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$p(\varphi)=\sqrt{a^2\cos^2\varphi+b^2\sin^2\varphi}$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$x\cos\varphi+y\sin\varphi=p$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ellipses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which touches the four chords joining the end points (one on minor axis and another on major axis) of the ellipse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radius of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3320   (B) 2870   (C) 3210   (D) 3080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ellipses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$E_k:kx^2+k^2y^2=1$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$k=1,2,\ldots,20$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which touches the four chords joining the end points (one on minor axis and another on major axis)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radius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$\sum_{k=1}^{20}\frac1{r_k^2}$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3320   (B) 2870   (C) 3210   (D) 3080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joining the ends of the axes of an ellipse, Sum of natural numbers and of their squares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touching the four chords is the incircle of a rhombus centred at the origin;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distance of the chord from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 touching the four chords is the incircle of a rhombus centred at the origin;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distance of the chord from the origin.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axis ends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joining one end of each axis: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distance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$E_k:\frac{x^2}{\left(\frac1{\sqrt k}\right)^2}+\frac{y^2}{\left(\frac1k\right)^2}=1$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axis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$\left(\pm\frac1{\sqrt k},0\right)$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$\left(0,\pm\frac1k\right)$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joining one end of each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$L_k:\frac{x}{1/\sqrt k}+\frac{y}{1/k}=1$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k\,x+ky-1=0$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$r_k=\left|\frac{-1}{\sqrt{k+k^2}}\right|$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$r_k^2=\frac1{k+k^2}$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$\sum_{k=1}^{20}\frac1{r_k^2}=\sum_{k=1}^{20}\left(k+k^2\right)=\frac{20\times21}2+\frac{20\times21\times41}6$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$=210+2870=3080$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3080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and the two semi-axes form a right triangle at the origin;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altitude from the right angle,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and the two semi-axes form a right triangle at the origin;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altitude from the right angle,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$\frac1{h^2}=\frac1{p^2}+\frac1{q^2}$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with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touching the four chords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hypotenuse.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$\left(\frac1{\sqrt k},0\right)$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$p=\frac1{\sqrt 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$q=\frac1k$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touching the four chords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hypotenuse.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triangle,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triangle,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$\frac1{h^2}=\frac1{p^2}+\frac1{q^2}$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$\frac1{r_k^2}=k+k^2$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$\sum_{k=1}^{20}(k+k^2)=210+2870=3080$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3080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triangle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altitude to the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chord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triangle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altitude to the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$\frac1{h^2}=\frac1{p^2}+\frac1{q^2}$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xp+\frac yq=1$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$\frac{pq}{\sqrt{p^2+q^2}}$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$\sum_{k=1}^{n}k=\frac{n(n+1)}2$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radius of the largest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inscribed in the ellipse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115   (B) 72   (C) 92   (D) 69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radius of the largest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inscribed in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$x^2+4y^2=36$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115   (B) 72   (C) 92   (D) 69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Normal to an ellipse, Largest circle inside an ellipse (shortest distance from a point)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largest circle touches the ellipse at the nearest point, where the line to the centre is the normal.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$\frac{x^2}{36}+\frac{y^2}9=1$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$P(6\cos\theta,3\sin\theta)$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$6\sec\theta\,x-3\operatorname{cosec}\theta\,y=27$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$12\sec\theta=27$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$\sin\theta=\frac{\sqrt{65}}9$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$P=\left(\frac83,\frac{\sqrt{65}}3\right)$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65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$r=\sqrt{\left(\frac83-2\right)^2+\left(\frac{\sqrt{65}}3\right)^2}=\frac{\sqrt{69}}3$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$12r^2=12\times\frac{69}9=92$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92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squared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point of the ellipse as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minimise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squared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point of the ellipse as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minimise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minimum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$(6\cos\theta,3\sin\theta)$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$d^2=(6\cos\theta-2)^2+9\sin^2\theta=27\cos^2\theta-24\cos\theta+13$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$27\left(\cos\theta-\frac49\right)^2+13-\frac{16}3=27\left(\cos\theta-\frac49\right)^2+\frac{23}3$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$\frac49\in[-1,1]$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$r^2=\frac{23}3=\frac{69}9$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$12r^2=12\times\frac{69}9=92$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92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inscribed in a conic touches it at the point nearest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minimum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conic.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on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minimised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this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vertex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minimum is at the end of the major 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inscribed in a conic touches it at the point nearest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minimum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conic.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on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$d^2=(a^2-b^2)\cos^2\theta-2ah\cos\theta+b^2+h^2$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minimised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$\cos\theta=\frac{ah}{a^2-b^2}$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this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$\frac{6\cdot2}{27}=\frac49$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$\frac{ah}{a^2-b^2}$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minimum is at the end of the major 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four points on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mutually perpendicular and pass through the origin.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143   (B) 147   (C) 157   (D) 137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$P\left(\frac{2\sqrt3}{\sqrt7},\frac6{\sqrt7}\right)$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four points on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$9x^2+4y^2=36$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mutually perpendicular and pass through the origin.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$\frac1{(PQ)^2}+\frac1{(RS)^2}=\frac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143   (B) 147   (C) 157   (D) 137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Perpendicular central chords of an ellipse, Parametric form of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central chords,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central chords,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$PQ=2\,OP$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$RS=2\,OR$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$OP\perp OR$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$\frac{x^2}4+\frac{y^2}9=1$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$R(2\cos\theta,3\sin\theta)$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$OP\perp 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$\frac{3\sin\theta}{2\cos\theta}\times\frac{6/\sqrt7}{2\sqrt3/\sqrt7}=-1$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$\tan\theta=\frac{-2}{3\sqrt3}$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$R=\left(\frac{-6\sqrt3}{\sqrt{31}},\frac{6}{\sqrt{31}}\right)$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$\left(\frac{6\sqrt3}{\sqrt{31}},\frac{-6}{\sqrt{31}}\right)$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$PQ=2\,OP$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$RS=2\,OR$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$\frac1{PQ^2}+\frac1{RS^2}=\frac14\left(\frac1{OP^2}+\frac1{OR^2}\right)$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$OP^2=\frac{12}7+\frac{36}7=\frac{48}7$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$OR^2=\frac{108}{31}+\frac{36}{31}=\frac{144}{31}$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$\frac14\left(\frac7{48}+\frac{31}{144}\right)=\frac14\cdot\frac{21+31}{144}=\frac14\cdot\frac{13}{36}=\frac{13}{144}$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$p+q=13+144=157$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157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perpendicular radii of an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independent of the position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perpendicular radii of an ellipse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$\frac1{OP^2}+\frac1{OR^2}=\frac1{a^2}+\frac1{b^2}$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independent of the position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$OR=r_2$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$\varphi+90^\circ$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$\frac1{r_1^2}=\frac{\cos^2\varphi}{a^2}+\frac{\sin^2\varphi}{b^2}$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$\frac1{r_2^2}=\frac{\sin^2\varphi}{a^2}+\frac{\cos^2\varphi}{b^2}$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needed).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$\frac1{r_1^2}+\frac1{r_2^2}=\frac1{a^2}+\frac1{b^2}=\frac14+\frac19=\frac{13}{36}$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$\frac1{PQ^2}+\frac1{RS^2}=\frac14\cdot\frac{13}{36}=\frac{13}{144}$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$p+q=157$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coordinates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needed).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157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perpendicular lines through the centre meet a central conic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(ellipse) - a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Polar form of an ellipse: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through the centre is bisected by it, so its length is twice the radius vector.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perpendicular lines through the centre meet a central conic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$\frac1{OP^2}+\frac1{OR^2}=\frac1{a^2}+\frac1{b^2}$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(ellipse) - a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Polar form of an 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$\frac1{r^2}=\frac{\cos^2\varphi}{a^2}+\frac{\sin^2\varphi}{b^2}$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through the centre is bisected by it, so its length is twice the radius vector.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163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and normal at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drawn 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diameter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intersect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61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13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163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and normal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$\left(3\sqrt3,1\right)$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$\frac{x^2}{36}+\frac{y^2}4=1$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drawn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diameter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tangents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intersect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$\frac{314}5$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61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$\frac{304}5$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13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and normal to an ellipse, Tangents at the ends of a chord of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intersect the two tangents.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circle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$x=2\sqrt5$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intersect the two tangents.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$\left(3\sqrt3,1\right)$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$\frac{3\sqrt3x}{36}+\frac y4=1$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$\frac{\sqrt3x}{12}+\frac y4=1$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(i),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$\frac{x-3\sqrt3}{3\sqrt3/36}=\frac{y-1}{1/4}$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$3x-\sqrt3\,y=8\sqrt3$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$x^2+(y-4)(y+8)=0$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$x^2+y^2+4y-32=0$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$20+y^2+4y-32=0$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$y^2+4y-12=0$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$P\left(2\sqrt5,-6\right)$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$Q\left(2\sqrt5,2\right)$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$xx_1+yy_1+2(y+y_1)-32=0$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$2\sqrt5x-6y+2y-12-32=0$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$\sqrt5x-2y=22$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$2\sqrt5x+2y+2y+4-32=0$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$\sqrt5x+2y=14$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(i),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$2\sqrt5x=36$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$\alpha=\frac{18}{\sqrt5}$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$\alpha^2-\beta^2=\frac{324}5-4=\frac{304}5$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304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$\frac{304}5$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pole of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with respect to the circle, and a pole lies on the perpendicular from the centre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pole of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$x=2\sqrt5$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with respect to the circle, and a pole lies on the perpendicular from the centre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$\frac{r^2}{d}$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centre; the 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the pole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$x^2+(y+2)^2=36$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centre; the 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the pole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pole lies on the perpendicular from the centre to the chord (the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pole lies on the perpendicular from the centre to the chord (the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$\frac{r^2}{d}=\frac{36}{2\sqrt5}=\frac{18}{\sqrt5}$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$(\alpha,\beta)=\left(\frac{18}{\sqrt5},-2\right)$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$\alpha^2-\beta^2=\frac{324}5-4=\frac{304}5$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304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$\frac{304}5$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at the ends of a chord meet at the pole of the chord; its distance from the centre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the chord from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normal slope is the negative reciprocal.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at the ends of a chord meet at the pole of the chord; its distance from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the chord from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$xx_1+yy_1+g(x+x_1)+f(y+y_1)+c=0$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$\frac{xx_1}{a^2}+\frac{yy_1}{b^2}=1$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normal slope is the negative reciprocal.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an ellipse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rectum of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its major axis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its minor axis subtends an 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foci, then the square of the sum of the lengths of its minor and major axes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an ellipse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rectum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its major axis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its minor axis subtends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foci, then the square of the sum of the lengths of its minor and major axes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Latus rectum of an ellipse, Angle subtended by the minor axis at a focus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minor axis seen from a focus subtends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minor axis seen from a focus subtends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$\tan30^\circ=\frac b{ae}$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$a^2=4b^2$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ends of the minor axis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focus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minor axis subtends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focus,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$4b^2=a$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$\frac{(x-1)^2}{a^2}+\frac{y^2}{b^2}=1$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ends of the minor axis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$B_1(1,b)$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$A_1(1,-b)$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focus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$F_1(1+ae,0)$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minor axis subtends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focus,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B_1F_1O=30^\circ$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b{ae}=\frac1{\sqrt3}$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 and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$3b^2=a^2e^2=a^2-b^2$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$4b^2=a^2$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 and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$(2a+2b)^2=(2+1)^2=9$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distance from a focus to an end of the minor 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angle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equilateral,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distance from a focus to an end of the minor axis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angle the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$FB_1A_1$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equilateral,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(focus to an end of the minor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 with side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$FB_1=FA_1=a$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(focus to an end of the minor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B_1FA_1=60^\circ$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$FB_1=FA_1$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FB_1A_1$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 with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$B_1A_1=2b$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$\frac{2b^2}a=\frac{2b^2}{2b}=b=\frac12$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$(2a+2b)^2=(2+1)^2=9$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ellipse, the distance from a focus to an end of the minor axis equals the semi-major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minor axis subtends an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focus,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of an ellipse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shifts the ellipse, so lengths are unaffected.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ellipse, the distance from a focus to an end of the minor axis equals the semi-major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minor axis subtends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focus,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$\sin\alpha=\frac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$FB_1=a$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of an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shifts the ellipse, so lengths are unaffected.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eccentricity of an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reciprocal to that of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ellipse intersects the hyperbola at right angles, then square of length of the latus-rectum of the ellipse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eccentricity of an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reciprocal to that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$2x^2-2y^2=1$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ellipse intersects the hyperbola at right angles, then square of length of the latus-rectum of the ellipse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Orthogonal intersection of an ellipse and a hyperbola (confocal conics), Latus rectum of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Conics that intersect at right angles are confocal, so the ellipse has the hyperbola's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Conics that intersect at right angles are confocal, so the ellipse has the hyperbola's foci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$(\pm1,0)$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foci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Conics that cut orthogonally are confocal,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square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$2x^2-2y^2=1$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$e_H=\sqrt2$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$e_e=\frac1{\sqrt2}$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foci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Conics that cut orthogonally are confocal,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$ae_e=1$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$=\frac{2b^2}{a}=2a\left(1-e_e^2\right)=2\sqrt2\cdot\frac12=\sqrt2$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Impose orthogonality directly: the normals' gradients are perpendicular at an intersection point, which yields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quoting the confocal theorem.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Impose orthogonality directly: the normals' gradients are perpendicular at an intersection point, which yields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$a^2-b^2=1$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quoting the confocal theorem.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common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gradients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this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common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gradients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x{a^2},\frac y{b^2}\right)$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$(4x,-4y)$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this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$x^2=\frac{a^2}2$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$y^2=\frac{b^2}2$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$2x^2-2y^2=1$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$e^2=1-\frac{b^2}{a^2}=\frac12$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$b^2=\frac{a^2}2$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central conics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foci (confocal) intersect at right 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condition for an ellipse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hyperbola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orthogonal: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rectangular hyperbola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central conics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$\frac{x^2}{a^2}\pm\frac{y^2}{b^2}=1$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foci (confocal) intersect at right 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condition for an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$(a',b')$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orthogonal: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$a^2-b^2=a'^2+b'^2$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$2x^2-2y^2=1$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$a'^2=b'^2=\frac12$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rectangular hyperbola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smallest even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eccentricity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rational number.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length of the latus rectum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$H_n:\frac{x^2}{1+n}-\frac{y^2}{3+n}=1$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smallest even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eccentricity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rational number.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length of the latus rectum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Eccentricity and latus rectum of a hyperbola, Rational eccentricity (perfect-square condition)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so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$e^2=\frac{2(n+2)}{n+1}$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even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so test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$n+1=9,25,49,\ldots$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coprime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$b^2=a^2\left(e^2-1\right)$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$3+n=(1+n)\left(e^2-1\right)$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$e^2=\frac{2n+4}{n+1}=\frac{2(n+2)}{n+1}$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coprime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$2(n+2)$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$n+1=9,25,49,\ldots$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 square).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 square).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(rational).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$e^2=\frac{20}9$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 square).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$e^2=\frac{52}{25}$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 square).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$e^2=\frac{100}{49}$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$e=\frac{10}7$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(rational).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$21l=21\times\frac{2b^2}{a}=42\times\frac{n+3}{\sqrt{n+1}}=\frac{42\times51}7=306$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306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the rationality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Pell-type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the rationality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Pell-type equation: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$n+1=m^2$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$m^2+1=2s^2$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fraction is in lowest terms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reduced fraction is a rational square only if numerator and denominator are both squares: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$e^2=2+\frac{2}{n+1}=\frac{2(n+2)}{n+1}$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fraction is in lowest terms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$\gcd(n+1,n+2)=1$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reduced fraction is a rational square only if numerator and denominator are both squares: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$n+1=m^2$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$2(n+2)=2\left(m^2+1\right)=(2s)^2$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$m^2+1=2s^2$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$m^2-2s^2=-1$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$m=1,7,41,\ldots$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$n=0\notin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$l=\frac{2\cdot51}{7}=\frac{102}7$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$21l=306$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306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latus rectum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fraction in lowest terms is a perfect square of a rational iff numerator and denominator are both perfect squares.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Pell equation with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those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latus 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fraction in lowest terms is a perfect square of a rational iff numerator and denominator are both perfect squares.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$m^2-2s^2=\pm1$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Pell equation with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$(m,s)=(1,1),(3,2),(7,5),(17,12),\ldots$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those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$m^2-2s^2=-1$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$(1,1),(7,5),(41,29),\ldots$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to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perpendicular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square of distance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normal to the hyperbola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its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to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perpendicular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square of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normal to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$\alpha^2x^2-9y^2=9\alpha^2$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its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$(\alpha-1,\alpha+2)$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parabola and normal to a hyperbola,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take the normal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$\frac6\alpha$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take the normal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$\frac{x^2}9-\frac{y^2}{36}=1$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$(5,8)$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hyperbola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hyperbola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$36x^2-9y^2=324$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$\frac{x^2}9-\frac{y^2}{36}=1$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$\frac{5x}9-\frac{8y}{36}=1$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$5x-2y=9$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normal: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29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square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29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normal: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$y-8=-\frac25(x-5)$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$5y-40=-2x+10$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$2x+5y=50$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$\left|\frac{12-20-50}{\sqrt{29}}\right|=\frac{58}{\sqrt{29}}=2\sqrt{29}$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$\left(2\sqrt{29}\right)^2=116$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normal's direct form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normal's direct form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$\frac{a^2x}{x_1}+\frac{b^2y}{y_1}=a^2+b^2$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hyperbola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satisfies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Squared 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hyperbola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$\frac{x^2}9-\frac{y^2}{36}=1$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$\frac{25}9-\frac{64}{36}=1$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$\frac{a^2x}{x_1}+\frac{b^2y}{y_1}=a^2+b^2$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$\frac{9x}5+\frac{36y}8=45$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$72x+180y=1800$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$2x+5y=50$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Squared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$\frac{(12-20-50)^2}{4+25}=\frac{58^2}{29}=116$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Squared 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avoids carrying a square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$yy_1=2a(x+x_1)$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$\frac{2a}{y_1}$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$\frac{a^2x}{x_1}+\frac{b^2y}{y_1}=a^2+b^2$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Squared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$\frac{(Ap+Bq+C)^2}{A^2+B^2}$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avoids carrying a square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81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slopes of the tangents drawn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from which the tangents drawn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they make positive intercepts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81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slopes of the tangents drawn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$H:\frac{y^2}{25}-\frac{x^2}{16}=1$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from which the tangents drawn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$|m_1|$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they make positive 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$\frac{(PQ)^2}{\alpha\beta}$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897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to a hyperbola from a point (slope form), Intercepts on the axes and distance between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Slope-form tangents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tangents of 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Slope-form tangents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$m=1,-\frac34$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tangents of slopes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positive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-intercepts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with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$\frac{y^2}{a^2}-\frac{x^2}{b^2}=1$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$y=mx\pm\sqrt{a^2-b^2m^2}$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$y=mx\pm\sqrt{25-16m^2}$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$1=4m\pm\sqrt{25-16m^2}\Rightarrow4m^2-m-3=0\Rightarrow m=1,-\frac34$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with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$y=\frac34x\pm4$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Those with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Those with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$4y=3x-16$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$x-3=\frac{3x-16}4$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$Q(-4,-7)$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$PQ^2=(4+4)^2+(1+7)^2=128$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$\alpha\beta=\frac{16}3\cdot3=16$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$\frac{PQ^2}{\alpha\beta}=8$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swapped because the transverse axis is vertical).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tangents from an external point have slopes that are the roots of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(obtained by substituting the point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squaring).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positive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opposite signs.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$\frac{y^2}{a^2}-\frac{x^2}{b^2}=1$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$y=mx\pm\sqrt{a^2-b^2m^2}$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swapped because the transverse axis is vertical).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tangents from an external point have slopes that are the roots of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(obtained by substituting the point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$y=mx\pm\sqrt{\cdot}$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squaring).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cm$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positive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opposite signs.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foci of a hyperbola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eccentricity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tangent, perpendicular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drawn at a point in the first quadrant on the hyperbola. If the intercepts made by the tangent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foci of a hyperbola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eccentricity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tangent, perpendicular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drawn at a point in the first quadrant on the hyperbola. If the intercepts made by the tangent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$|6a|+|5b|$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hyperbola perpendicular to a line, Intercepts of a tangent on the axes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both intercepts.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has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$y=mx\pm\sqrt{a^2m^2-b^2}$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both intercepts.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its slope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$2ae=4$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$e^2=1+\frac{b^2}{a^2}\Rightarrow\frac94=1+b^2\cdot\frac9{16}\Rightarrow b^2=\frac{20}9$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its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$y=mx\pm\sqrt{a^2m^2-b^2}=\frac32x\pm\sqrt{\frac{16}9\cdot\frac94-\frac{20}9}=\frac{3x}2\pm\frac43$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$y=0\Rightarrow a=\pm\frac89$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$x=0\Rightarrow b=\pm\frac43$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$|6a|+|5b|=\frac{16}3+\frac{20}3=12$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point of contact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intercepts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point of contact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$\frac{x\sec\theta}{a}-\frac{y\tan\theta}{b}=1$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intercepts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$-b\cot\theta$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 it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intercepts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$b=\frac{\sqrt{20}}3$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$(a\sec\theta,b\tan\theta)$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ba\cdot\frac1{\sin\theta}=\frac{\sqrt5}{2\sin\theta}$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 it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$\sin\theta=\frac{\sqrt5}3$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$\frac{x\sec\theta}{a}-\frac{y\tan\theta}{b}=1$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$a\cos\theta=\frac43\cdot\frac23=\frac89$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$-b\cot\theta=-\frac{\sqrt{20}}3\cdot\frac{2}{\sqrt5}=-\frac43$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$|6a|+|5b|=6\cdot\frac89+5\cdot\frac43=\frac{16}3+\frac{20}3=12$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intercepts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the foci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$(a\sec\theta,b\tan\theta)$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$\frac{x\sec\theta}a-\frac{y\tan\theta}b=1$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$-b\cot\theta$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$y=mx\pm\sqrt{a^2m^2-b^2}$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$a^2m^2&gt;b^2$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the foci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$b^2=a^2(e^2-1)$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shortest distance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16   (B) 20   (C) 36   (D) 24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shortest distance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$x^2+y^2-4x-16y+64=0$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16   (B) 20   (C) 36   (D) 24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Normal to a parabola and shortest distance, Centre of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shortest distance from the centre to the parabola is along a normal through that centre.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the circle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$y=mx-2m-m^3$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$8=2m-2m-m^3$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$m^3=-8$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$\left(am^2,-2am\right)=(4,4)$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$PC=\sqrt{(4-2)^2+(4-8)^2}=\sqrt{4+16}=\sqrt{20}$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Minimise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derivative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Minimise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$P=(t^2,2t)$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$d^2=t^4-32t+68$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derivative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real root) and it gives the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$P=(t^2,2t)$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$d^2=(t^2-2)^2+(2t-8)^2=t^4-4t^2+4+4t^2-32t+64=t^4-32t+68$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$\frac{d}{dt}d^2=4t^3-32=0$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real root) and it gives the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$d^2=16-64+68=20$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it, giving the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shortest distance from a point to a curve is along a normal.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squares: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$y=mx-2am-am^3$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it, giving the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$am^3+(2a-h)m+k=0$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shortest distance from a point to a curve is along a normal.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squares: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$x^2+y^2-4x-16y+64=0$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lies on the chord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mid point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lies on the chord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$x^2=8y$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mid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$\left(1,\frac54\right)$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$(\alpha-28)(\beta-8)$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a parabola with a given mid-point, Intersection of a line and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Chord with a given midpoint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intersect it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Chord with a given midpoint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intersect it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with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(i) and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(ii),(iii):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$x^2=8y$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with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$xx_1-4(y+y_1)=x_1^2-8y_1$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$(x_1,y_1)=\left(1,\frac54\right)$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$x-4\left(y+\frac54\right)=1-8\times\frac54=-9$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(i)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$\alpha-4\beta+4=0$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$\beta^2=4\alpha$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(ii),(iii):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$\beta^2=4(4\beta-4)$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$\beta^2-16\beta+16=0$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 cases.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$\beta=8\pm4\sqrt3$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$\alpha=4\beta-4=28\pm16\sqrt3$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$(\alpha,\beta)=\left(28+16\sqrt3,8+4\sqrt3\right)$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$\left(28-16\sqrt3,8-4\sqrt3\right)$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$(\alpha-28)(\beta-8)=\left(16\sqrt3\right)\left(4\sqrt3\right)=192$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 cases.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192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required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quadratic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(i)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$\beta-8=\frac{\alpha-28}4$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required expression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$\frac{(\alpha-28)^2}4$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quadratic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$(\alpha-28)^2$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$\beta=\frac{\alpha+4}4$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$\beta-8=\frac{\alpha+4-32}4=\frac{\alpha-28}4$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$(\alpha-28)(\beta-8)=\frac{(\alpha-28)^2}4$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768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$\left(\frac{\alpha+4}4\right)^2=4\alpha$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$\alpha^2-56\alpha+16=0$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$(\alpha-28)^2=784-16=768$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$\frac{768}4=192$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192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midpoint).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with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conic: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exists only if the mid-point is inside the conic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form),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in the quadratic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instead of the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$x^2=4ay$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$\frac{x_1}{2a}$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$x_1^2-x_2^2=4a(y_1-y_2)$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$x_1+x_2=2x_1$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midpoint).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with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conic: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exists only if the mid-point is inside the conic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form),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$1&lt;8\cdot\frac54$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in the quadratic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$(\alpha-28)^2$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instead of the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 of the intersection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the first quadrant)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two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equal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centres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the square of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$L:\sqrt2x+y=\alpha$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 of the intersection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the first quadrant)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two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equal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centres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the square of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$PQ_1Q_2$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324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a circle and a parabola, Circles of given radius touching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circles touch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centres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two centres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apart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that 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circles touch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centres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two centres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apart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that 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(rejected,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centre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$y^2+2y-3=0$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$P=\left(\sqrt2,1\right)$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$\alpha=\sqrt2\cdot\sqrt2+1=3$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centre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$L:\sqrt2x+y-3=0$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$\left|\frac{\beta-3}{\sqrt{2+1}}\right|=2\sqrt3$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$|\beta-3|=6$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$Q_1(0,9)$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$Q_2(0,-3)$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PQ_1Q_2=\frac12\times\sqrt2\times|\beta_1-\beta_2|=\frac12\sqrt2\times12=6\sqrt2$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$=\left(6\sqrt2\right)^2=72$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centres are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equal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they are symmetric about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the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axis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trigonometry.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centres are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equal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they are symmetric about 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the angle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axis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trigonometry.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distance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setting it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$P=(\sqrt2,1)$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$\cos\varphi=\frac{\sqrt2}{\sqrt3}$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has distance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$TQ\sin\varphi$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setting it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$TQ=2\sqrt3\cdot\sqrt3=6$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centres lie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and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square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centres lie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and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$Q_1Q_2=12$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$=\frac12\cdot12\cdot\sqrt2=6\sqrt2$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a triangle with a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base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of equal radius tangent to a line, with centres on a second line, have centres symmetric about the point where the two lines meet.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$\sqrt2x+y-\alpha=0$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$\frac{|\beta-\alpha|}{\sqrt3}$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$\beta=\alpha\pm r\sqrt3$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a triangle with a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$Q_1Q_2$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$\frac12\cdot|Q_1Q_2|\cdot|x_P|$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Circles of equal radius tangent to a line, with centres on a second line, have centres symmetric about the point where the two lines meet.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chord of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mid point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1691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1541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1741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chord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$\frac{x^2}{25}+\frac{y^2}{16}=1$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mid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$\left(1,\frac25\right)$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$\frac{\sqrt{1691}}5$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$\frac{\sqrt{2009}}5$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$\frac{\sqrt{1541}}5$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$\frac{\sqrt{1741}}5$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an ellipse with a given mid-point, Length of a chord of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with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intersect it with the ellipse and use the difference of the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with mid-point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intersect it with the ellipse and use the difference of the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Simplifying,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(equation of chord).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meets the ellipse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$\frac{x\cdot1}{25}+\frac{y\cdot\frac25}{16}=\frac1{25}+\frac{4}{16\times25}$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x{25}+\frac y{40}=\frac1{20}$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$8x+5y=10$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(equation of chord).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meets the ellipse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$P\left(x_1,2-\frac{8x_1}5\right)$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$Q\left(x_2,2-\frac{8x_2}5\right)$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$\frac{x^2}{25}+\frac1{16}\left(2-\frac{8x}5\right)^2=1$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1691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$4x^2-8x-15=0$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$|x_1-x_2|=\frac{\sqrt{64+240}}4=\sqrt{19}$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$PQ=\sqrt{(x_1-x_2)^2+\frac{64}{25}(x_1-x_2)^2}=|x_1-x_2|\sqrt{\frac{89}{25}}$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$PQ=\sqrt{19}\times\sqrt{\frac{89}{25}}=\frac{\sqrt{1691}}5$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1691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$\frac{\sqrt{1691}}5$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Walk along the chord from its mid-point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direction of the chord: the linear terms cancel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midpoint, leaving a one-line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Walk along the chord from its mid-point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direction of the chord: the linear terms cancel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midpoint, leaving a one-line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chord with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unit direction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89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the chord: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89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the signed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linear terms cancel.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chord with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$-\frac{b^2x_0}{a^2y_0}=-\frac{16\cdot1}{25\cdot\frac25}=-\frac85$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unit direction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$\frac{(5,-8)}{\sqrt{89}}$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the chord: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$\left(1+5u,\ \frac25-8u\right)$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 s{\sqrt{89}}$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the signed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$\frac{(1+5u)^2}{25}+\frac{\left(\frac25-8u\right)^2}{16}=1$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$\frac1{25}+\frac{2u}5+u^2+\frac1{100}-\frac{2u}5+4u^2=1$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linear terms cancel.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1691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$5u^2=\frac{19}{20}$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$u^2=\frac{19}{100}$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$u=\pm\frac{\sqrt{19}}{10}$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$=2|s|=2\sqrt{89}\cdot\frac{\sqrt{19}}{10}=\frac{\sqrt{1691}}5$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1691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$\frac{\sqrt{1691}}5$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Walking from the midpoint along the chord in both directions, linear terms cancel, so the two intersection parameters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chord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$-\frac{b^2x_0}{a^2y_0}$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Walking from the midpoint along the chord in both directions, linear terms cancel, so the two intersection parameters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$|x_1-x_2|=\frac{\sqrt{B^2-4AC}}{|A|}$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chord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$|x_1-x_2|\sqrt{1+m^2}$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length of the minor axis of an ellipse is equal to half of the distance between the foci, then eccentricity of the ellipse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length of the minor axis of an ellipse is equal to half of the distance between the foci, then eccentricity of the ellipse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$\frac2{\sqrt5}$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 between axes and foci of an ellipse, Eccentricity of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Minor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Minor axis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$2b=\frac12(2ae)$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ba=\frac 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$b^2=a^2(1-e^2)$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$2b=\frac12(2ae)$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$b=\frac{ae}2$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ba=\frac e2\Rightarrow\frac{b^2}{a^2}=\frac{e^2}4$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$1-e^2=\frac{e^2}4\Rightarrow e^2\left(\frac54\right)=1$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$e=\frac2{\sqrt5}$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$\frac2{\sqrt5}$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right triangle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right triangle with sides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$c=ae$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hypotenuse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$c=2b$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$a=\sqrt5\,b$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Minor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half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Pythagoras for the semi-axes and the focal distance,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Minor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half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Pythagoras for the semi-axes and the focal distance,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$a^2=b^2+c^2=b^2+4b^2=5b^2$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 ca=\frac{2b}{\sqrt5\,b}=\frac2{\sqrt5}$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$\frac2{\sqrt5}$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end of the minor axis, the centre and a focus form a right triangle with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the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minor axis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$a^2=b^2+c^2$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end of the minor axis, the centre and a focus form a right triangle with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between the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minor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$c=kb$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$e=\frac{k}{\sqrt{1+k^2}}$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163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directrix of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corresponding focus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perpendicular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latus rectum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163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$5x+7y=50$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directrix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corresponding focus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perpendicular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latus rectum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Section formula (internal division), Focus and directrix of an ellipse; latus rectum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perpendicular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$S=(x_P,0)$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$ae=x_P$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$5x+7y=50$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$x=0\Rightarrow y=\frac{50}7$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$B\left(0,\frac{50}7\right)$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$y=0\Rightarrow x=10$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vertical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$P=\left(\frac{0+3\times10}{10},\frac{7\times\frac{50}7+0}{10}\right)=(3,5)$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vertical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$x=\frac{25}3$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ae=\frac{25}3$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$=\frac{2b^2}a=\frac{32}5$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$\frac{32}5$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focus-directrix definition: the semi-latus rectum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distance from the focus to its directrix.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focus-directrix definition: the semi-latus rectum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distance from the focus to its directrix.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directrix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distance from the focus to the directrix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Semi-latus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directrix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$x=\frac{25}3$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distance from the focus to the directrix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$\frac{25}3-3=\frac{16}3$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ae=\frac{25}3$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Semi-latus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$=e\times\frac{16}3=\frac35\times\frac{16}3=\frac{16}5$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$=\frac{32}5$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$\frac{32}5$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ellipse,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product of the two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Semi-latus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from the focus to its directrix)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division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nearer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ellipse,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$(ae,0)$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$a^2=(ae)\cdot\frac 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product of the two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Semi-latus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from the focus to its directrix)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$=a(1-e^2)=\frac{b^2}a$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division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$P=\frac{nA+mB}{m+n}$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nearer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parabola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an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eccentricity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focus of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square of the length of the latus rectum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parabola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an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focus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square of the length of the latus rectum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$\frac{656}{25}$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$\frac{374}8$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$\frac{385}8$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$\frac{512}{25}$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Focus of a parabola from its vertex and directrix, Ellipse of given eccentricity through a point; latus rectum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focus is the reflection of the foot of the perpendicular from the vertex to the directrix, through the vertex.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axis of the parabola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the vertex: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directrix meets the 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this point and the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axis of the parabola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the vertex: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$y-3=\frac12(x-2)$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directrix meets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$(1.6,2.8)$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$2\cdot1.6+2.8=6$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this point and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$\alpha+1.6=4\Rightarrow\alpha=2.4$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$\beta+2.8=6\Rightarrow\beta=3.2$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in (1):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$(2.4,3.2)$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$\frac{(24/10)^2}{a^2}+\frac{(32/10)^2}{b^2}=1$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$1-\frac{b^2}{a^2}=\frac12$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$b^2=\frac{328}{25}$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$\left(\frac{2b^2}{a}\right)^2=\frac{4b^4}{a^2}=\frac{4b^4}{2b^2}=2b^2=\frac{656}{25}$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656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$\frac{656}{25}$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focus from the unit normal: it lies at distance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vertex away from the directrix;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𝐿𝑅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focus from the unit normal: it lies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vertex away from the directrix;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$\left(\text{LR}\right)^2=2b^2=x_F^2+2y_F^2$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parabola's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(vertex-to-focus distance).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focus lies on the vertex's side away from the directrix: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$\frac{|4+3-6|}{\sqrt5}=\frac1{\sqrt5}$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parabola's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(vertex-to-focus distance).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focus lies on the vertex's side away from the directrix: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$F=(2,3)+\frac1{\sqrt5}\cdot\frac{(2,1)}{\sqrt5}=(2.4,3.2)$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2.4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20.48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26.24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$E:x^2+2y^2=2b^2$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$2b^2=2.4^2+2(3.2)^2=5.76+20.48=26.24=\frac{656}{25}$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$(\text{LR})^2=\frac{4b^4}{a^2}=\frac{4b^4}{2b^2}=2b^2=\frac{656}{25}$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656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$\frac{656}{25}$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of a parabola = reflection of the foot of the perpendicular from the vertex to the directrix, through the vertex (the vertex bisects the foot-to-focus segment).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𝐿𝑅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of a parabola = reflection of the foot of the perpendicular from the vertex to the directrix, through the vertex (the vertex bisects the foot-to-focus segment).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$\left(\text{LR}\right)^2=\frac{4b^4}{a^2}=2b^2$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$\frac{|Ax_1+By_1+C|}{\sqrt{A^2+B^2}}$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passing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meet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same side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Then, the eccentricity of the locus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the ellipse,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$\frac{x^2}9+\frac{y^2}4=1$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line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meet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same side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Then, the eccentricity of the locus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$PR:RQ=4:3$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the ellipse,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$\frac{\sqrt{139}}{23}$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$\frac{\sqrt{13}}7$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a point dividing a segment in a given ratio, Eccentricity of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ordinate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$P(3\cos\theta,2\sin\theta)$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$Q(3\cos\theta,3\sin\theta)$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ordinate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$\frac{18}7\sin\theta$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the ellipse)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the circle, same side).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$P=(3\cos\theta,2\sin\theta)$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the ellipse)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$Q=(3\cos\theta,3\sin\theta)$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the circle, same side).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an ellipse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$PR:RQ=4:3$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$h=\frac{12\cos\theta+9\cos\theta}7=3\cos\theta$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$k=\frac{12\sin\theta+6\sin\theta}7=\frac{18}7\sin\theta$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$\left(\frac{h}3\right)^2+\left(\frac{7k}{18}\right)^2=1$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an ellipse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$b=\frac{18}7$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$e^2=1-\frac{18^2}{21^2}=\frac{21^2-18^2}{21^2}=\frac{117}{21^2}$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$e=\frac{\sqrt{117}}{21}=\frac{\sqrt{13}}7$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$\frac{\sqrt{13}}7$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in the fixed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ordinate is a fixed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's; the locus is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scaled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ordinates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in the fixed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$2:3$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ordinate is a fixed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's; the locus is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$x^2+y_Q^2=9$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scaled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ordinate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ordinate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$y_P=\frac23y_Q$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$PR:RQ=4:3$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$y_R=\frac{3y_P+4y_Q}7=\frac{2y_Q+4y_Q}7=\frac67y_Q$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$x_R=x$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$x^2+y_Q^2=9$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$y_Q=\frac76y_R$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$x^2+\frac{49}{36}y_R^2=9$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$\frac{x^2}9+\frac{49y^2}{324}=1$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$b^2=\frac{324}{49}$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$e^2=1-\frac{36}{49}=\frac{13}{49}$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$e=\frac{\sqrt{13}}7$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$\frac{\sqrt{13}}7$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an ellipse and its auxiliary circle with the same abscissa have ordinates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a vertical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fixed ratio is an affine map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locus is again an ellipse with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rescaled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an ellipse and its auxiliary circle with the same abscissa have ordinates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$b:a$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a vertical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fixed ratio is an affine map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locus is again an ellipse with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rescaled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$e=\sqrt{1-\frac{b^2}{a^2}}$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points of intersection of two distinct conics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area of the rectangle formed by the intersection points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points of intersection of two distinct conics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area of the rectangle formed by the intersection points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a circle and an ellipse on a pair of lines, Area of a rectangle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both conics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a quadratic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$y^2=3x^2$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both conics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a quadratic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it in the ellipse: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rejected, because then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circle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conics must be distinct).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$4x^2=4b$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it in the 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b{16}+\frac3b=1$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$b^2-16b+48=0$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rejected, because then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$\frac{x^2}{16}+\frac{y^2}{16}=1$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circle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conics must be distinct).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points of intersection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rectangle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points of intersection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$\left(\pm\sqrt{12},\pm6\right)$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$=12\times2\sqrt{12}=48\sqrt3$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$=3\sqrt3\times48\sqrt3=432$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conics meet at points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pair of lines through the origin), the four intersection points form a rectangle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(symmetric about both axes).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rectangle has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parameter makes two conics coincide, that value must be rejected if the problem says they are distinct.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conics meet at points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$y^2=m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pair of lines through the origin), the four intersection points form a rectangle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(symmetric about both axes).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rectangle has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$2\sqrt{3b}$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$4\sqrt3\,b$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$3\sqrt3\cdot4\sqrt3\,b=36b$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$36\times12=432$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parameter makes two conics coincide, that value must be rejected if the problem says they are distinct.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39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eccentricity of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eccentricity of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passes through the foci of the hyperbola.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length of the chord of the ellipse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passing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39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eccentricity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$\frac{x^2}{16}-\frac{y^2}9=1$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eccentricity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passes through the foci of the hyperbola.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$e_1e_2=1$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length of the chord of the ellipse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$\frac{10\sqrt5}3$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$\frac{8\sqrt5}3$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Eccentricity of a hyperbola and of an ellipse through its foci, Chord of an ellipse parallel to an axis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ellipse passes through the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ellipse passes through the foci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$(\pm5,0)$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$e_2=\frac45$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foci of the hyperbola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passes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$e_1=\sqrt{1+\frac9{16}}=\frac54$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foci of the hyperbola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$\frac{25}{a^2}=1$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$e_1e_2=1\Rightarrow e_2=\frac45=\sqrt{1-\frac{b^2}{25}}$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$\frac{16}{25}=\frac{25-b^2}{25}$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$\frac{x^2}{25}+\frac{y^2}9=1$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$\frac{x^2}{25}=1-\frac49=\frac59$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$x=\pm\frac{5\sqrt5}3$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$=\frac{10\sqrt5}3$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$\frac{10\sqrt5}3$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foci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an ellipse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height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it must be a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$e=\sqrt{1+\frac{b^2}{a^2}}$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foci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ae,0)$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an ellipse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$2a\sqrt{1-\frac{y_0^2}{b^2}}$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it must be a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first quadrant such that the area of triangle formed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two foci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square of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   (B) 22   (C) 26   (D) 20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$H:\frac{x^2}9-\frac{y^2}4=1$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first quadrant such that the area of triangle formed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two foci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square of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   (B) 22   (C) 26   (D) 20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the focal triangle of a hyperbola, Point on a hyperbola and its distance from the origin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base is the focal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fixes the ordinate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base is the focal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fixes the ordinate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$e^2=1+\frac{b^2}{a^2}=\frac{13}9$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$e=\frac{\sqrt{13}}3$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$S_1S_2=2ae=2\times3\times\frac{\sqrt{13}}3=2\sqrt{13}$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PS_1S_2=\frac12\times\beta\times S_1S_2=2\sqrt{13}$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square of the distance from the origin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$\frac{\alpha^2}9-\frac{\beta^2}4=1\Rightarrow\frac{\alpha^2}9-1=1\Rightarrow\alpha^2=18$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$\sqrt{\alpha^2+\beta^2}=\sqrt{18+4}=\sqrt{22}$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square of the distance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focal-triangle area formula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 cosine rule and the median formula, without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coordinates.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focal-triangle area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$b^2\cot\frac\theta2$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 cosine rule and the median formula, without finding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coordinates.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hyperbola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hyperbola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S_1PS_2=\theta$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PS_1S_2$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$\cot\frac\theta2=\frac{2\sqrt{13}}4=\frac{\sqrt{13}}2$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$\tan\frac\theta2=\frac2{\sqrt{13}}$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$\cos\theta=\frac{1-\frac4{13}}{1+\frac4{13}}=\frac9{17}$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$PS_1=r_1$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$PS_2=r_2$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$r_1-r_2=2a=6$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$(2c)^2=52=r_1^2+r_2^2-2r_1r_2\cos\theta=(r_1-r_2)^2+2r_1r_2(1-\cos\theta)=36+\frac{16}{17}r_1r_2$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formula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$r_1r_2=17$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$r_1^2+r_2^2=36+2\cdot17=70$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PS_1S_2$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$PO^2=\frac{r_1^2+r_2^2}2-c^2=35-13=22$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hyperbola,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focal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hyperbola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ellipse),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formula (Apollonius):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hyperbola,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$\left|PS_1-PS_2\right|=2a$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$S_1S_2=2ae$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focal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$=b^2\cot\frac\theta2$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hyperbola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$b^2\tan\frac\theta2$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ellipse),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$\theta=\angle S_1PS_2$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$c\,|y_P|$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formula (Apollonius):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$PO^2=\frac{PS_1^2+PS_2^2}2-OS_1^2$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552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foci of a hyperbola are same as that of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eccentricity of the hyperbola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eccentricity of the ellipse, then the smaller focal distance of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hyperbola,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552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foci of a hyperbola are same as that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$\frac{x^2}9+\frac{y^2}{25}=1$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eccentricity of the hyperbola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eccentricity of the ellipse, then the smaller focal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$\left(\sqrt2,\frac{14}3\sqrt{\frac25}\right)$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hyperbola,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$7\sqrt{\frac25}+\frac83$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$7\sqrt{\frac25}-\frac83$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$14\sqrt{\frac25}-\frac43$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$14\sqrt{\frac25}-\frac{16}3$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Hyperbola with the foci of an ellipse (conjugate orientation), Focal distance via the focus-directrix property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foci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hyperbola has its transverse axis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focal distance.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foci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$(0,\pm4)$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$e_H=\frac32$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hyperbola has its transverse axis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$PS=e\cdot PM$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focal distance.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$\frac{x^2}9+\frac{y^2}{25}=1$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$e=\sqrt{1-\frac9{25}}=\frac45$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 be)=(0,\pm4)$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eccentricity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hyperbola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foci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hyperbola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$e_H=\frac45\times\frac{15}8=\frac32$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hyperbola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foci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 Be_H)$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$Be_H=4$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$A^2=B^2\left(e_H^2-1\right)=\frac{64}9\left(\frac94-1\right)=\frac{80}9$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hyperbola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$\frac{x^2}{80/9}-\frac{y^2}{64/9}=-1$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Directrices: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nearer focus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Directrices: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$y=\pm\frac B{e_H}=\pm\frac{16}9$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nearer focus and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$y=\frac{16}9$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$PS=e_H\cdot PM=\frac32\left|\frac{14}3\sqrt{\frac25}-\frac{16}9\right|=7\sqrt{\frac25}-\frac83$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$7\sqrt{\frac25}-\frac83$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two defining relations of a hyperbola for focal distances: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two defining relations of a hyperbola for focal distances: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$|PS_1-PS_2|=2B$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$PS_1^2+PS_2^2=2\left(x^2+y^2+16\right)$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before),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392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2404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before),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$|PS_1-PS_2|=2B=\frac{16}3$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$P=\left(\sqrt2,\frac{14}3\sqrt{\frac25}\right)$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$y^2=\frac{196}9\cdot\frac25=\frac{392}{45}$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$PS_1^2+PS_2^2=2\left(x^2+y^2+16\right)=2\left(2+\frac{392}{45}+16\right)=\frac{2404}{45}$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4808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Smaller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$(PS_1+PS_2)^2=2\left(PS_1^2+PS_2^2\right)-(PS_1-PS_2)^2=\frac{4808}{45}-\frac{256}9=\frac{3528}{45}=\frac{392}5$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$PS_1+PS_2=14\sqrt{\frac25}$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Smaller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$=\frac12\left(14\sqrt{\frac25}-\frac{16}3\right)=7\sqrt{\frac25}-\frac83$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$7\sqrt{\frac25}-\frac83$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hyperbola with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(transverse axis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semi-transverse length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distance from the corresponding directrix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(parallelogram law).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hyperbola with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(transverse axis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$|PS_1-PS_2|=2B$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semi-transverse length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$c=Be$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distance from the corresponding directrix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$PS=e\cdot 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$PS_1^2+PS_2^2=2\left(x^2+y^2+c^2\right)$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(parallelogram law).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ellipse, whose eccentricity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the latus rectum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square of the eccentricity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3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ellipse, whose eccentricity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the latus 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square of the eccentricity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3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50087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Eccentricity and latus rectum of an ellipse, Eccentricity of the hyperbola with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50087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Eccentricity and latus rectum of an ellipse, Eccentricity of the hyperbola with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latus rectum fixes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$e=\frac1{\sqrt2}$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$b^2=\frac{a^2}2$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latus rectum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from (1),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(1)).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$\frac{2b^2}a=\sqrt{14}$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$e^2=1-\frac{b^2}{a^2}=\frac12$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from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$\frac{\sqrt{14}}{2a}=\frac12$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$a=\sqrt{14}$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(1)).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Eccentricity of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square of the eccentricity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Eccentricity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$e=\sqrt{1+\frac{b^2}{a^2}}=\sqrt{\frac32}$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square of the eccentricity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ellipse and the hyperbola share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𝑒𝑙𝑙𝑖𝑝𝑠𝑒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ℎ𝑦𝑝𝑒𝑟𝑏𝑜𝑙𝑎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latus rectum is not even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ellipse and the hyperbola share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$e_{\text{ellipse}}^2+e_{\text{hyperbola}}^2=\left(1-\frac{b^2}{a^2}\right)+\left(1+\frac{b^2}{a^2}\right)=2$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latus rectum is not even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ellipse,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hyperbola with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ellipse,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$e_1^2=1-\frac{b^2}{a^2}$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hyperbola with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$e_2^2=1+\frac{b^2}{a^2}$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$e_1^2+e_2^2=2$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latus rectum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fixes the actual size,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$e_2^2=2-\frac12=\frac32$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fixes the actual size,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𝑒𝑙𝑙𝑖𝑝𝑠𝑒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ℎ𝑦𝑝𝑒𝑟𝑏𝑜𝑙𝑎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ellipse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question's latus-rectum data is redundant for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extra data can be used only as a consistency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$\frac{x^2}{a^2}\pm\frac{y^2}{b^2}=1$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$e_{\text{ellipse}}^2+e_{\text{hyperbola}}^2=2$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ellipse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$b^2=\frac{a^2}2$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$\frac{2b^2}a=a$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question's latus-rectum data is redundant for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extra data can be used only as a consistency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the eccentricity of the hyperbola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eccentricity of the ellipse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the eccentricity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$x^2-y^2\operatorname{cosec}^2\theta=5$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eccentricity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$x^2\operatorname{cosec}^2\theta+y^2=5$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Eccentricity of a hyperbola and an ellipse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Trigonometric equation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Eccentricity of a hyperbola and an ellipse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Trigonometric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hyperbola has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ellipse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hyperbola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$e_2^2=1+\sin^2\theta$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ellipse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$e_1^2=1-\sin^2\theta=\cos^2\theta$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eccentricity of the ellipse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of the hyperbola.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major axis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eccentricity of the ellipse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of the hyperbola.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$\frac{x^2}{5\sin^2\theta}+\frac{y^2}5=1$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major axis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$e_1=\sqrt{1-\sin^2\theta}=\cos\theta$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$\frac{x^2}5-\frac{y^2}{5\sin^2\theta}=1$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$e_2=\sqrt{1+\sin^2\theta}$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$e_2=\sqrt7e_1$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$\sqrt{1+\sin^2\theta}=\sqrt7\cos\theta$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$1+\sin^2\theta=7\cos^2\theta$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$2=8\cos^2\theta$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curves have the same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(in opposite roles),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curves have the same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$b^2=5\sin^2\theta$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(in opposite roles),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$e_1^2+e_2^2=2$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$e_2^2=7e_1^2$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$e_1^2$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hyperbola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𝑠𝑚𝑎𝑙𝑙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𝑙𝑎𝑟𝑔𝑒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squared semi-axes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$\frac{x^2}{5s}+\frac{y^2}5=1$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hyperbola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$\frac{x^2}5-\frac{y^2}{5s}=1$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$\frac{\text{small}}{\text{large}}$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squared semi-axes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$e_1^2=1-s$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$e_2^2=1+s$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$e_1^2+e_2^2=2$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$e_2^2=7e_1^2$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$8e_1^2=2$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$e_1^2=\frac14=\cos^2\theta$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𝑒𝑙𝑙𝑖𝑝𝑠𝑒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ℎ𝑦𝑝𝑒𝑟𝑏𝑜𝑙𝑎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major axis along the axis with the larger denominator;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decides which denominator is larger.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$\frac{x^2}{p}+\frac{y^2}{q}=1$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$\frac{x^2}{p}-\frac{y^2}{q}=1$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$e_{\text{ellipse}}^2+e_{\text{hyperbola}}^2=2$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$\frac{x^2}{p}+\frac{y^2}{q}=1$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major axis along the axis with the larger denominator;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$\operatorname{cosec}^2\theta=1+\cot^2\theta&gt;1$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decides which denominator is larger.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latus rectum of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 an angle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of the hyperbola.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co-prime numbers,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latus rectum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$\frac{x^2}9-\frac{y^2}{b^2}=1$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 an angle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of the hyperbola.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$\frac\ell m\left(1+\sqrt 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co-prime numbers,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$\ell^2+m^2+n^2$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76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Latus rectum of a hyperbola subtending an angle at the centre, Eccentricity of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end of the latus rectum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from the centre to it makes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end of the latus rectum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$\left(ae,\frac{b^2}a\right)$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from the centre to it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end of the latus rectum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subtends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end of the latus 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$\left(ae,\frac{b^2}a\right)$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subtends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$\tan\frac\pi6=\frac{b^2/a}{ae}=\frac{b^2}{a^2e}$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$\frac{b^2}{a^2}=e^2-1$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$\frac1{\sqrt3}=\frac{e^2-1}e$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$\sqrt3e^2-e-\sqrt3=0$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$e=\frac{1\pm\sqrt{1+12}}{2\sqrt3}$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$e=\frac{\sqrt{13}+1}{2\sqrt3}$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$b^2=9\left(e^2-1\right)=9\left(\frac{13+1+2\sqrt{13}}{12}-1\right)=9\cdot\frac{2+2\sqrt{13}}{12}$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$b^2=9\cdot\frac{1+\sqrt{13}}6=\frac32\left(1+\sqrt{13}\right)$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$\ell^2+m^2+n^2=9+4+169=182$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182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$ae=\sqrt{9+B}$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$\tan\frac\pi6=\frac{B}{3\sqrt{9+B}}$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 end of the latus rectum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$c=ae=\sqrt{9+B}$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 end of the latus 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$\left(\sqrt{9+B},\frac B3\right)$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$\tan\frac\pi6=\frac{B/3}{\sqrt{9+B}}=\frac1{\sqrt3}$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$\sqrt3\,B=3\sqrt{9+B}$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$B=\sqrt3\sqrt{9+B}$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$B^2=3(9+B)$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$B^2-3B-27=0$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root).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$B=\frac{3+\sqrt{9+108}}2=\frac{3+3\sqrt{13}}2=\frac32\left(1+\sqrt{13}\right)$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root).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$\ell^2+m^2+n^2=182$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182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Ends of the latus rectum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latus rectum subtends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unknown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awkward: it turns the condition into a polynomial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Ends of the latus rectum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$\left(\pm ae,\pm\frac{b^2}a\right)$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latus rectum subtends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$\tan\theta=\frac{b^2}{a\cdot ae}=\frac{e^2-1}{e}$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unknown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awkward: it turns the condition into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foci and length of latus rectum of an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Then, the square of the eccentricity of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foci and length of latus rectum of an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Then, the square of the eccentricity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$\frac{x^2}{b^2}-\frac{y^2}{a^2b^2}=1$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Ellipse from foci and latus rectum, Eccentricity of a hyperbola with given axes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ellipse, then read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𝑐𝑜𝑛𝑗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𝑡𝑟𝑎𝑛𝑠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hyperbola.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$ae=5$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$\frac{2b^2}a=\sqrt{50}$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ellipse, then 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$e^2=1+\frac{\text{conj}^2}{\text{trans}^2}$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hyperbola.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Latus rectum: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Latus rectum: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$\frac{2b^2}a=\sqrt{50}$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$b^2=\frac{5\sqrt2\,a}{2}$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$b^2=a^2\left(1-e^2\right)$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$a\left(1-e^2\right)=\frac{5\sqrt2}2$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$a=\frac5e$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$\frac5e\left(1-e^2\right)=\frac{5\sqrt2}2$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$\sqrt2-\sqrt2e^2=e$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$\sqrt2e^2+e-\sqrt2=0$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$\sqrt2e^2+2e-e-\sqrt2=0\Rightarrow\sqrt2e\left(e+\sqrt2\right)-1\left(e+\sqrt2\right)=0\Rightarrow\left(e+\sqrt2\right)\left(\sqrt2e-1\right)=0$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$e\ne-\sqrt2$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$a=\frac5e=5\sqrt2$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$b^2=a^2\left(1-e^2\right)=25$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$\frac{x^2}{b^2}-\frac{y^2}{a^2b^2}=1$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$a^2b^2=b^2\left(e_1^2-1\right)$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$e_1^2=1+a^2=1+50=51$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$a^2-b^2=25$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$\frac{2b^2}a=5\sqrt2$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Latus rectum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Latus rectum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$b^2=\frac{5\sqrt2}{2}a$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$a^2-\frac{5\sqrt2}2a-25=0$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$a=\frac{\frac{5\sqrt2}2+\sqrt{\frac{25}2+100}}2=\frac{\frac{5\sqrt2}2+\frac{15\sqrt2}2}2=5\sqrt2$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$b^2=\frac{5\sqrt2}2\cdot5\sqrt2=25$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$\frac{x^2}{b^2}-\frac{y^2}{a^2b^2}=1$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$e^2=1+\frac{a^2b^2}{b^2}=1+a^2=51$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focal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Factorisation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a quadratic has surd coefficients, look for a root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focal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$\sqrt2e^2+e-\sqrt2=\left(e+\sqrt2\right)\left(\sqrt2e-1\right)$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a quadratic has surd coefficients, look for a root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chord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of the following points lies on the line passing through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chord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of the following points lies on the line passing through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$\left(\frac32,-16\right)$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$\left(\frac12,-20\right)$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$(2,-9)$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of a parabola with a given mid-point, Point on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with a given midpoint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with a given midpoint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chord with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options: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(C) satisfies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$y^2-12x=0$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chord with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$y\cdot1-6(x+4)=1-48$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$y-6x-24=-47$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$y-6x=-23$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$6x-y-23=0$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options: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$18+3-23=-2$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$\left(\frac32,-16\right)$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$9+16-23=2$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$\left(\frac12,-20\right)$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$3+20-23=0$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$12+9-23=-2$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(C) satisfies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$\left(\frac12,-20\right)$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midpoint slope formula: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chord with mid-point ordinate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midpoint slope formula: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chord with mid-point ordinate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$\frac{2a}{y_m}$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ordinate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slope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$y_1^2-y_2^2=12(x_1-x_2)$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$=\frac{12}{y_1+y_2}$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ordinate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$y-1=6(x-4)$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$6x-y-23=0$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$\left(\frac12,-20\right)$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$\left(\frac12,-20\right)$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with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conic; a real chord exists only if the mid-point lies inside the conic.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test which option lies on a line, substitute each point into the line's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$\frac{2a}{y_1}$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$y_1^2-y_2^2=4a(x_1-x_2)$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with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conic; a real chord exists only if the mid-point lies inside the conic.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test which option lies on a line, substitute each point into the line's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length of the focal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 If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length of the focal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 If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chord of a parabola (length and distance from the origin), Parametric form of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ends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length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chord's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$\left(3t^2,6t\right)$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$\left(\frac3{t^2},-\frac6t\right)$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length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$3\left(t+\frac1t\right)^2=15$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chord's slope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 focal chord has ends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 focal chord has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$A(3t^2,6t)$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$B\left(\frac3{t^2},-\frac6t\right)$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$\left(3\left(t^2-\frac1{t^2}\right)\right)^2+\left(6\left(t+\frac1t\right)\right)^2=225$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$9\left(t^2-\frac1{t^2}\right)^2+36\left(t+\frac1t\right)^2=225\Rightarrow\left(t+\frac1t\right)^2\left[\left(t-\frac1t\right)^2+4\right]=25$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origin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$\left(t-\frac1t\right)^2+4=\left(t+\frac1t\right)^2$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$\left(t+\frac1t\right)^4=25$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$t+\frac1t=\pm\sqrt5$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$t-\frac1t=\pm1$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$y-6t=\frac{2t}{t^2-1}\left(x-3t^2\right)$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$m=\frac{2t}{t^2-1}=\frac2{t-\frac1t}=\pm2$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origin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$y-6t=mx-3mt^2$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$p=\frac{\left|3mt^2-6t\right|}{\sqrt{1+m^2}}=\frac{\left|\frac{6t}{t^2-1}\right|}{\sqrt5}=\frac6{\sqrt5}$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$10p^2=10\times\frac{36}5=72$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passes through the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 inclination), and its length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passes through the focus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$p=3\sin\varphi$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 inclination), and its length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$\frac{4a}{\sin^2\varphi}=\frac{12}{\sin^2\varphi}$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focal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axis has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passes through the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distance from the origin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focal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axis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$\frac{4a}{\sin^2\varphi}$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$\frac{12}{\sin^2\varphi}=15$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$\sin^2\varphi=\frac45$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passes through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distance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$p=OF\sin\varphi=3\sin\varphi$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$p^2=9\cdot\frac45=\frac{36}5$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$10p^2=72$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axis: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distance from the vertex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(length)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(distance from the vertex)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focal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Ends of a focal chord: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origin of a line through the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inclination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axis: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$\frac{4a}{\sin^2\varphi}$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distance from the vertex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(length)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(distance from the vertex)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$^2=4a^3$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focal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Ends of a focal chord: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$\left(at^2,2at\right)$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a{t^2},-\frac{2a}t\right)$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$a\left(t+\frac1t\right)^2$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origin of a line through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inclination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focal chord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distance of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focal chord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distance of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chord of a parabola (length and distance from the origin), Parametric form of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ends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ends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$\left(3t^2,6t\right)$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$\left(\frac3{t^2},-\frac6t\right)$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$l=3\left(t+\frac1t\right)^2$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$d=\frac6{t+\frac1t}$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Ends of the focal chord: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through the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Ends of the focal chord: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$\left(3t^2,6t\right)$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$\left(\frac3{t^2},-\frac6t\right)$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through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$2x-\left(t-\frac1t\right)y-6=0$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$l=\sqrt{36\left(t+\frac1t\right)^2+9\left(t^2-\frac1{t^2}\right)^2}=3\left(t+\frac1t\right)\sqrt{4+\left(t-\frac1t\right)^2}$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$4+\left(t-\frac1t\right)^2=\left(t+\frac1t\right)^2$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$l=3\left(t+\frac1t\right)^2$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origin: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does not matter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$d=\frac{6}{\sqrt{4+\left(t-\frac1t\right)^2}}=\frac6{t+\frac1t}$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does not matter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$ld^2=3\left(t+\frac1t\right)^2\times\frac{36}{\left(t+\frac1t\right)^2}=108$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the inclination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chord: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whatever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the inclination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chord: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$l=\frac{4a}{\sin^2\varphi}$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$d=a\sin\varphi$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$ld^2=4a^3$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whatever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focal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inclination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axis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the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distance from the origin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focal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inclination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axis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$l=\frac{4a}{\sin^2\varphi}$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distance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the slope (the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needed).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$ld^2=\frac{4a}{\sin^2\varphi}\cdot a^2\sin^2\varphi=4a^3$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the slope (the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needed).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$ld^2=4\times27=108$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focal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length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distance from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the answer is independent of the chord, any convenient chord works, e.g. the latus rectum: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ends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focal chord: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focal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$l\,d^2=4a^3$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length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distance from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the answer is independent of the chord, any convenient chord works, e.g. the latus rectum: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$ld^2=108$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$t_1,t_2=-\frac1{t_1}$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focal chord: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$l=a\left(t_1+\frac1{t_1}\right)^2$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line perpendicular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distance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line perpendicular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$y^2=4(x-9)$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$x^2+y^2-14x-8y+56=0$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parabola with a given slope, Distance between two points; circle centre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that slope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slope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tangent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$y^2=4(x-9)$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that slope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$y=m(x-9)+\frac1m$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$y^2=4(x-9)$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$y=m(x-9)+\frac1m$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$y=-\frac{x-9}2-2$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$2y=-x+9-4$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with the parabola: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circle's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with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$\left(\frac{5-x}2\right)^2=4(x-9)\Rightarrow x^2-10x+25=16x-144\Rightarrow x^2-26x+169=0\Rightarrow(x-13)^2=0$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$P=(13,-4)$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circle's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$=\sqrt{(13-7)^2+(-4-4)^2}=\sqrt{36+64}=10$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point-of-contact formula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point-of-contact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 a{m^2},\frac{2a}m\right)$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$X=x-9$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 of contact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 of contact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a{m^2},\frac{2a}m\right)=(4,-4)$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$P=(4+9,-4)=(13,-4)$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$x^2+y^2-14x-8y+56=0$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$CP=\sqrt{6^2+8^2}=10$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it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directly, no discriminant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shifted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shift the origin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lines have slopes with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a{m^2},\frac{2a}m\right)$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read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directly, no discriminant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shifted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$(y-k)^2=4a(x-h)$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shift the origin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lines have slopes with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lines passing through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on the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isosceles triangle with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slopes of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lines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$9x^2+12x+18y-14=0$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on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isosceles triangle with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slopes of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$16\left(m_1^2+m_2^2\right)$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to a parabola from an external point, Isosceles triangle and angle bisectors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an isosceles triangle with apex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parallel to a bisector of the angle between the two 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an isosceles triangle with apex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parallel to a bisector of the angle between the two tangents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$(3x+2)^2=-18y+14+4$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$\left(x+\frac23\right)^2=-2(y-1)$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$\left(x+\frac23\right)^2=-2(mx+1-1)$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$x^2+x\left(\frac43+2m\right)+\frac49=0$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$D=0\Rightarrow\left(\frac43+2m\right)^2-\frac{16}9=0$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$y=-\frac{4x}3+1$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isosceles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apex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two tangents,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bisector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parallel to the other bisector of the pair of tangents; so the slopes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slopes of the angle bisectors.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bisectors: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slopes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isosceles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apex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two tangents,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QPR$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parallel to the other bisector of the pair of tangents; so the slopes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slopes of the angle bisectors.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bisectors: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$\frac{4x+3y-3}5=\pm(y-1)$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$16\left(m_1^2+m_2^2\right)=16\left(4+\frac14\right)=68$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tangents are inclined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bisectors have inclinations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tangents are inclined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$\tan\theta=-\frac43$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bisectors have inclinations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$\frac\theta2+90^\circ$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$m_1m_2=-1$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$m_1=\tan\frac\theta2$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inclinations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bisector of the pair has inclination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bisector is perpendicular: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inclinations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bisector of the pair has inclination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$\tan\frac\theta2=\frac{\sin\theta}{1+\cos\theta}=\frac{4/5}{2/5}=2$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bisector is perpendicular: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one of the bisectors in each of the two isosceles configurations,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one of the bisectors in each of the two isosceles configurations,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$\{m_1,m_2\}=\{2,-\frac12\}$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$16\left(m_1^2+m_2^2\right)=16\left(4+\frac14\right)=68$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parabola: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set the discriminant to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isosceles triangle with apex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base is perpendicular to the internal bisector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bisectors of a pair of lines are perpendicular, so the base is parallel to the other bisector.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bisectors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(normalised):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parabola: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$y-y_1=m(x-x_1)$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set the discriminant to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isosceles triangle with apex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base is perpendicular to the internal bisector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bisectors of a pair of lines are perpendicular, so the base is parallel to the other bisector.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bisectors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(normalised):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$\frac{L_1}{\sqrt{A_1^2+B_1^2}}=\pm\frac{L_2}{\sqrt{A_2^2+B_2^2}}$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three chords of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three distinct lines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bisected by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$P:y^2=8x$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three chords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three distinct lines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bisected by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$(2q-p)^2$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Chords of a circle bisected by a parabola, Counting solutions via a parameter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chord of the circle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put it on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mid-point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chord of the circle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 x_1=x_1^2+y_1^2$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put it on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mid-point of a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lies on the parabola: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mid-points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two chords. (The mid-point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origin, gives the third chord - the diameter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mid-point of a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$xx_1+yy_1=x_1^2+y_1^2$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x_1=x_1^2+y_1^2$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lies on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$(x_1,y_1)=\left(2t^2,4t\right)$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$\alpha\cdot2t^2=4t^4+16t^2$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$\alpha=2t^2+8$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$t^2=\frac{\alpha-8}2$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mid-points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two chords. (The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origin, gives the third chord - the diameter 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mid-point must lie inside the circle: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mid-point must lie inside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$x_1^2+y_1^2&lt;4$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$4t^4+16t^2-4&lt;0$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$t^2&lt;-2+\sqrt5$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$\alpha=2t^2+8\in\left(8,\,4+2\sqrt5\right)$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$q=4+2\sqrt5$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$(2q-p)^2=\left(8+4\sqrt5-8\right)^2=80$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mid-point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chord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radius to the mid-point is perpendicular to the chord),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(Thales).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mid-point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chord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$OM\perp 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radius to the mid-point is perpendicular to the chord),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circle with diameter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(Thales).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the chord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mid-point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lies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chord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points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Three chords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the chord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$OM\perp AM$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$x^2+y^2=\alpha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lies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$x^2+8x=\alpha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chord 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$x=\alpha-8&gt;0$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$\left(\alpha-8,\pm\sqrt{8(\alpha-8)}\right)$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Three chords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inside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inside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$(\alpha-8)^2+8(\alpha-8)&lt;4$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$\alpha-8&lt;-4+2\sqrt5$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$\alpha&lt;4+2\sqrt5$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$(p,q)=\left(8,4+2\sqrt5\right)$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$(2q-p)^2=\left(4\sqrt5\right)^2=80$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of a chord of a circle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through a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locus of mid-points of chords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is the mid-point of a (real) chord of a circle iff it lies inside the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mid-point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of a chord of a circle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through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locus of mid-points of chords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is the mid-point of a (real) chord of a circle iff it lies inside the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mid-point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$xx_1+yy_1=x_1^2+y_1^2$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points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feet of the perpendiculars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points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feet of the perpendiculars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$\left(\frac{AM\cdot BN}{CD}\right)^2$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Parametric chord of a parabola and lengths along the axes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parameters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all lengths factor as products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parameters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$t_1,t_2,t_3$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$y=2at_3$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all lengths factor as products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$(t_3-t_i)$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(vertical distances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abscissa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$A(at_1^2,2at_1)$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$B(at_2^2,2at_2)$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$C(at_3^2,2at_3)$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$y=2at_3$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$AM=2a(t_3-t_1)$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$BN=2a(t_3-t_2)$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(vertical distances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$y=\frac2{t_1+t_2}x+a\cdot\frac{2t_1t_2}{t_1+t_2}$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$y=2at_3$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$2at_3=\frac2{t_1+t_2}\alpha+a\cdot\frac{2t_1t_2}{t_1+t_2}$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$\alpha=a\left(t_3t_1+t_3t_2-t_1t_2\right)$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abscissa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$CD=at_3^2-\alpha=a\left\{t_3\left(t_3-t_1\right)-t_2\left(t_3-t_1\right)\right\}=a\left(t_3-t_1\right)\left(t_3-t_2\right)$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$\frac{AM\cdot BN}{CD}=\frac{4a^2\left(t_3-t_1\right)\left(t_3-t_2\right)}{a\left(t_3-t_1\right)\left(t_3-t_2\right)}=4a=6$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$\left(\frac{AM\cdot BN}{CD}\right)^2=6^2=36$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function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evaluating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step (a power-of-a-point argument).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$y^2-4ax$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$(y-y_1)(y-y_2)$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evaluating 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step (a power-of-a-point argument).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 the parabola,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 to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linear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monic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vanishing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$f(P)=y_P^2-4ax_P$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 the parabola,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$y_C=y_D$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$f(D)=4a\left(x_C-x_D\right)=4a\cdot 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 to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linear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monic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$f=(y-y_1)(y-y_2)$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required square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$y_D=y_C=y_3$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$f(D)=\left(y_3-y_1\right)\left(y_3-y_2\right)=AM\cdot BN$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$AM\cdot BN=4a\cdot 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$\frac{AM\cdot BN}{CD}=4a=6$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required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any line,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restricted to that line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ordinates of its intersections.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for a horizontal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parabola analogue of power of a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any line,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$f=y^2-4ax$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restricted to that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$(y-y_1)(y-y_2)$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$y_1,y_2$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ordinates of its intersections.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for a horizontal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$4a\cdot CD=AM\cdot BN$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parabola analogue of power of a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$2x-(t_1+t_2)y+2at_1t_2=0$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the equation of the circle having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diameter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the latus rectum of the ellipse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12   (B) 13   (C) 11   (D) 10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$2x+3y-k=0$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the equation of the circle having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diameter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$x^2+y^2-3x-2y=0$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the latus rectum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$x^2+9y^2=k^2$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12   (B) 13   (C) 11   (D) 10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on a diameter and intercepts of a line, Latus rectum of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diameter form of the 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compared with the given circle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diameter form of the circle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compared with the given circle to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 k2,0\right)$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$B\left(0,\frac k3\right)$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$\left(x-\frac k2\right)(x-0)+(y-0)\left(y-\frac k3\right)=0$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$x^2+y^2-\frac k2x-\frac k3y=0$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$x^2+y^2-3x-2y=0$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$x^2+9y^2=k^2$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$\frac{x^2}{k^2}+\frac{y^2}{k^2/9}=1$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$b^2=\frac{k^2}9$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$=\frac{2b^2}a=\frac{2\left(k^2/9\right)}k=\frac{2k}9=\frac43$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$2m+n=11$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the segment joining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semi-axes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axes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the segment joining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$(x-x_1)(x-x_2)+(y-y_1)(y-y_2)=0$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$x^2+9y^2=k^2$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semi-axes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$\frac{2b^2}a=\frac{2k}9$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$px+qy=k$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axes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square units) of the region enclosed by the ellipse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below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square units) of the region enclosed by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$x^2+3y^2=18$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below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$\sqrt3\pi-\frac34$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$\sqrt3\pi+\frac34$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$\sqrt3\pi+1$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bounded by an ellipse and a line, Definite integral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bounded by an ellipse and a line, Definite integral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$\sqrt{a^2-y^2}$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runs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ellipse.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$y\in\left[0,\frac3{\sqrt2}\right]$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runs from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ellipse.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$\frac{x^2}{18}+\frac{y^2}6=1$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$x=y=\pm\frac3{\sqrt2}$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$=\int_0^{3/\sqrt2}\sqrt{18\left(1-\frac{y^2}6\right)}\,dy-\int_0^{3/\sqrt2}y\,dy$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$=\int_0^{3/\sqrt2}\sqrt{18-3y^2}\,dy-\frac12\times\frac92$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$\int_0^{3/\sqrt2}\sqrt{18-3y^2}\,dy=\sqrt3\left[\frac y2\sqrt{6-y^2}+3\sin^{-1}\frac y{\sqrt6}\right]_0^{3/\sqrt2}=\sqrt3\left(\frac{3\sqrt3}4+\pi\right)=\frac94+\sqrt3\pi$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$=\frac94+\sqrt3\pi-\frac94=\sqrt3\pi$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$\sqrt3\pi$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Scale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ellipse becomes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areas shrink by the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becomes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Scale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ellipse becomes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$x^2+y'^2=18$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areas shrink by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$\frac1{\sqrt3}$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becomes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areas are multiplied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$y'=\sqrt3y$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$x^2+3y^2=18$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$x^2+y'^2=18$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areas are multiplied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$y'=\sqrt3x$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(first quadrant, below the line) becomes the sector of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original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(first quadrant, below the line) becomes the sector of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$=\frac12\cdot18\cdot\frac\pi3=3\pi$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original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$\frac{3\pi}{\sqrt3}=\sqrt3\pi$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$\sqrt3\pi$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scaling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areas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turns an ellipse into its auxiliary circle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sector of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angle of the image line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𝑠𝑙𝑜𝑝𝑒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scaling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$(x,y)\to(x,ky)$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areas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turns an ellipse into its auxiliary circle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sector of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$\frac12r^2\theta$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angle of the image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$\tan^{-1}(k\cdot\text{slope})$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$\int\sqrt{a^2-y^2}\,dy=\frac y2\sqrt{a^2-y^2}+\frac{a^2}2\sin^{-1}\frac ya$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87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centre at the origin and foci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touching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having the centre at the origin.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touching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its vertex and having the centre at one of its foci. If areas (in sq units)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then the length (in units) of latus rectum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87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centre at the origin and foci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touching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having the centre at the origin.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touching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its vertex and having the centre at one of its foci. If areas (in sq units)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then the length (in units) of latus rectum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$\frac{28}3$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Circles touching a hyperbola at a vertex and with centre at a focus, Latus rectum of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(distance from the focus to the vertex).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$ae-a$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(distance from the focus to the vertex).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touches at the vertices).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$C_1:x^2+y^2=a^2$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touches at the vertices).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at the focus, touching at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$C_2:(x-ae)^2+y^2=(ae-a)^2$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at the focus, touching at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$C_1=\pi a^2=36\pi$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$C_2=\pi a^2(e-1)^2=4\pi$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$a(e-1)=2$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$e-1=\frac13$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$=\frac{2b^2}a=2a\left(e^2-1\right)=12\times\frac79=\frac{28}3$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$e^2-1=\frac{16}9-1=\frac79$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$\frac{28}3$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radius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focus-to-vertex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ever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radius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focus-to-vertex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$c-a=2$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$b^2=c^2-a^2$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ever finding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its vertices, so its 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centred at the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its vertices, so its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a^2=36\pi$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centred at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$\pi(c-a)^2=4\pi$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$b^2=c^2-a^2=64-36=28$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$=\frac{2b^2}a=\frac{56}6=\frac{28}3$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$\frac{28}3$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centred at the centre of a hyperbola and touching it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to the vertex, the nearest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a focus to the nearer vertex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centred at the centre of a hyperbola and touching it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to the vertex, the nearest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a focus to the nearer vertex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$c-a=a(e-1)$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$\frac{2b^2}a=\frac{2\left(c^2-a^2\right)}a$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hyperbola, whose eccentricity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the latus rectum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product of the focal distances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172   (B) 170   (C) 171   (D) 169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$H:\frac{-x^2}{a^2}+\frac{y^2}{b^2}=1$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hyperbola, whose eccentricity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the latus 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Suppose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product of the focal distances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172   (B) 170   (C) 171   (D) 169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Hyperbola with transverse axis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eccentricity and latus rectum, Product of the focal distances of a point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Hyperbola with transverse axis 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eccentricity and latus rectum, Product of the focal distances of a point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Here the transverse axis is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focal distances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Here the transverse axis is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$e^2=1+\frac{a^2}{b^2}$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focal distances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$ey_1\mp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transverse axis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$H:\frac{-x^2}{a^2}+\frac{y^2}{b^2}=1$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transverse axis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$e=\sqrt{1+\frac{a^2}{b^2}}=\sqrt3$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$=\frac{2a^2}b=4\sqrt3$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$a^2=2\sqrt3b$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$2b^2=2\sqrt3b\Rightarrow b=\sqrt3$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$H:-\frac{x^2}6+\frac{y^2}3=1$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the focal distances: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$-\frac{\alpha^2}6+\frac{36}3=1$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the focal distances: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$\beta=(ey_1-b)(ey_1+b)=e^2y_1^2-b^2=3\times36-3=105$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$\alpha^2+\beta=66+105=171$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171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𝑐𝑜𝑛𝑗𝑢𝑔𝑎𝑡𝑒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𝑡𝑟𝑎𝑛𝑠𝑣𝑒𝑟𝑠𝑒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finding the foci.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$PF_1\cdot PF_2=OP^2+\left(\text{conjugate}^2-\text{transverse}^2\right)$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$\beta=\alpha^2+36+a^2-b^2$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finding the foci.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(conjugate semi-axis squared),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(transverse),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of a hyperbola,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𝑐𝑜𝑛𝑗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𝑡𝑟𝑎𝑛𝑠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(conjugate semi-axis squared),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(transverse),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of a hyperbola,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$PF_1\cdot PF_2=OP^2+\left(\text{conj}^2-\text{trans}^2\right)$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$PF_1\cdot PF_2=e^2y^2-b^2=y^2+\frac{a^2}{b^2}y^2-b^2$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$\frac{a^2y^2}{b^2}=a^2+x^2$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$OP^2=\alpha^2+36=102$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$\beta=102+(6-3)=105$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$\alpha^2+\beta=66+105=171$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171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transverse):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focal distances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focal distances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hyperbola: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𝑐𝑜𝑛𝑗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𝑡𝑟𝑎𝑛𝑠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at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focal distances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ellipse with major axis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$\frac{y^2}{b^2}-\frac{x^2}{a^2}=1$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transverse):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 be)$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$e^2=1+\frac{a^2}{b^2}$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$\frac{2a^2}b$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focal distances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$ey_1\mp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focal distances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$PF_1\cdot PF_2=OP^2+\text{conj}^2-\text{trans}^2$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at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$b^2+a^2-b^2=a^2=(be-b)(be+b)$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focal distances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ellipse with major axis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$(a-ex)(a+ex)=a^2-e^2x^2$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foci of a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 with the foci of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eccentricity of the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reciprocal of the eccentricity of the ellipse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length of the transverse axis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its cojugate 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225   (B) 237   (C) 205   (D) 242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foci of a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 with the foci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$E:\frac{(x-1)^2}{100}+\frac{(y-1)^2}{75}=1$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eccentricity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reciprocal of the eccentricity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length of the transverse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its cojugate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$3\alpha^2+2\beta^2$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225   (B) 237   (C) 205   (D) 242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Foci of a shifted ellipse and a hyperbola with reciprocal eccentricity, Transverse and conjugate axes of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foci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transverse axis,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foci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$(1\pm5,1)$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$e_2=2$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$ae_2=5$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transverse axis,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$b^2=3a^2$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hyperbola has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of the ellipse (centre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$e_1=\sqrt{1-\frac{75}{100}}=\frac12$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hyperbola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of the ellipse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$ae_1=5$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$F_1(6,1)$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$F_2(-4,1)$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between foci),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$2ae_2=10$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between foci),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$e_2^2=1+\frac{b^2}{a^2}$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$4=1+\frac{b^2}{a^2}$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$b^2=3a^2$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$b=\sqrt3\cdot\frac52$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$\beta=2b=5\sqrt3$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$3\alpha^2+2\beta^2=3\times25+2\times25\times3=225$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225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 centred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major axis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hyperbola with the same foci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hyperbola's transverse 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ellipse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major axis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$(h\pm ae,k)$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$e=\sqrt{1-\frac{b^2}{a^2}}$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hyperbola with the same foci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$c=a_He_H$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$a_H=\frac c{e_H}$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$b_H^2=c^2-a_H^2$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$e_H=\frac1{e_E}$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hyperbola's transverse 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$2ce_E$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latus rectum and directrices of a hyperbola with eccentricity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this hyperbola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product of the focal distances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latus rectum and directrices of a hyperbola with 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$x=\pm\frac4{\sqrt3}$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$y-\sqrt3x+\sqrt3=0$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this hyperbola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product of the focal distances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$4e^2+m$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Hyperbola from latus rectum and a tangent line, Product of the focal distances of a point of contact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latus rectum and the tangency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latus rectum and the tangency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$y=\sqrt3x-\sqrt3$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$e^2=\frac{13}4$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$m=e^2x_0^2-a^2$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hyperbola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Latus rectum: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Condition of tangency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hyperbola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Latus rectum: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$b^2=\frac{9a}2$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$y=\sqrt3x-\sqrt3$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Condition of tangency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$c^2=a^2m^2-b^2$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$3=3a^2-b^2$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$3a^2-\frac{9a}2=3\Rightarrow2a^2-3a-2=0\Rightarrow(a-2)(2a+1)=0$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$e^2=1+\frac{b^2}{a^2}=\frac{13}4$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contact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$\left(-\frac{a^2m}c,-\frac{b^2}c\right)=\left(4,3\sqrt3\right)$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$\frac{16}4-\frac{27}9=1$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$3\sqrt3=\sqrt3\cdot4-\sqrt3$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$ex_0\mp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$m=e^2x_0^2-a^2=\frac{13}4\times16-4=48$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$4e^2+m=13+48=61$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obtain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identity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the foci.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finding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obtain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$PF_1\cdot PF_2=OP^2+b^2-a^2$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the foci.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tangency and the latus rectum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contact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of a hyperbola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tangency and the latus rectum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$e^2=\frac{13}4$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contact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$OP^2=16+27=43$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of a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$x^2/a^2-y^2/b^2=1$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$PF_1\cdot PF_2=e^2x^2-a^2=OP^2+b^2-a^2=43+9-4=48$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$4e^2+m=13+48=61$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contact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focal distances of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problem gives more data than needed, check consistency: here the directrix datum contradicts the rest, so rely on the data that determine the curve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key.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Tangency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$c^2=a^2m^2-b^2$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contact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$\left(-\frac{a^2m}c,-\frac{b^2}c\right)$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focal distances of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$PF_1\cdot PF_2=(ex-a)(ex+a)=e^2x^2-a^2=OP^2+b^2-a^2$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problem gives more data than needed, check consistency: here the directrix datum contradicts the rest, so rely on the data that determine the curve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key.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focus of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with its centre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passing through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square of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focus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$\frac{x^2}3-\frac{y^2}5=1$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with its centre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$A\left(\sqrt6,\sqrt5\right)$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square of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$OSB$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800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Foci of a hyperbola, Circle with a given diameter and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area is half 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$B=2A-S$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area is half the base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$|y_B|$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focus on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$5=3\left(e^2-1\right)$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$e=\sqrt{\frac83}$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focus on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$S=\left(ae,0\right)=\left(2\sqrt2,0\right)$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$B=\left(2\sqrt6-2\sqrt2,\,2\sqrt5\right)$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square of the area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OSB=\frac12\left|\begin{matrix}0&amp;0&amp;1\\2\sqrt2&amp;0&amp;1\\2\sqrt6-2\sqrt2&amp;2\sqrt5&amp;1\end{matrix}\right|=2\sqrt{10}$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square of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$(2\sqrt{10})^2=40$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median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it into two equal areas,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median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OSB$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it into two equal areas,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$[OSB]=2[OSA]$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median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square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$S=(2\sqrt2,0)$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$c^2=3+5=8$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median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OSB$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$[OSB]=2[OSA]$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$[OSA]=\frac12\cdot OS\cdot y_A=\frac12\cdot2\sqrt2\cdot\sqrt5=\sqrt{10}$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$[OSB]=2\sqrt{10}$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foci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median of a triangle divides it into two triangles of equal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foci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c,0)$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median of a triangle divides it into two triangles of equal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mid-point: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$B=2A-S$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(8/13)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(9/13)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(10/13)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(11/13)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(12/13)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(13/13)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2.41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31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28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64 questions, 256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Conic Sections JM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2.41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